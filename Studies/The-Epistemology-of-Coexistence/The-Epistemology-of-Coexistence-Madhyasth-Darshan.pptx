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009293f72b4a00" /><Relationship Type="http://schemas.openxmlformats.org/officeDocument/2006/relationships/extended-properties" Target="/docProps/app.xml" Id="R9c24013b859844d7" /><Relationship Type="http://schemas.openxmlformats.org/officeDocument/2006/relationships/officeDocument" Target="/ppt/presentation.xml" Id="Rbdf5af8aba054cf1" /></Relationships>
</file>

<file path=ppt/presentation.xml><?xml version="1.0" encoding="utf-8"?>
<p:presentation xmlns:p="http://schemas.openxmlformats.org/presentationml/2006/main">
  <p:sldMasterIdLst>
    <p:sldMasterId xmlns:r="http://schemas.openxmlformats.org/officeDocument/2006/relationships" id="2147483648" r:id="R541ceaf52d1b472c"/>
  </p:sldMasterIdLst>
  <p:notesMasterIdLst>
    <p:notesMasterId xmlns:r="http://schemas.openxmlformats.org/officeDocument/2006/relationships" r:id="Rd374ef5a2b824d5a"/>
  </p:notesMasterIdLst>
  <p:sldIdLst>
    <p:sldId xmlns:r="http://schemas.openxmlformats.org/officeDocument/2006/relationships" id="256" r:id="R2a6cf1f8a4074907"/>
    <p:sldId xmlns:r="http://schemas.openxmlformats.org/officeDocument/2006/relationships" id="257" r:id="R29864c073bcd4050"/>
    <p:sldId xmlns:r="http://schemas.openxmlformats.org/officeDocument/2006/relationships" id="258" r:id="Ree94d8b62b37434b"/>
    <p:sldId xmlns:r="http://schemas.openxmlformats.org/officeDocument/2006/relationships" id="259" r:id="R0b2ba395ef7f4f25"/>
    <p:sldId xmlns:r="http://schemas.openxmlformats.org/officeDocument/2006/relationships" id="260" r:id="Re69f9d8926d94f60"/>
    <p:sldId xmlns:r="http://schemas.openxmlformats.org/officeDocument/2006/relationships" id="261" r:id="Re5ce5c965dd74d33"/>
    <p:sldId xmlns:r="http://schemas.openxmlformats.org/officeDocument/2006/relationships" id="262" r:id="Rc9768d01a2a149ce"/>
    <p:sldId xmlns:r="http://schemas.openxmlformats.org/officeDocument/2006/relationships" id="263" r:id="R6174f2f0b62e4a15"/>
    <p:sldId xmlns:r="http://schemas.openxmlformats.org/officeDocument/2006/relationships" id="264" r:id="R13e5df2f647743fa"/>
    <p:sldId xmlns:r="http://schemas.openxmlformats.org/officeDocument/2006/relationships" id="265" r:id="R6edb164a250444ce"/>
    <p:sldId xmlns:r="http://schemas.openxmlformats.org/officeDocument/2006/relationships" id="266" r:id="Rbf922ed355004a9e"/>
    <p:sldId xmlns:r="http://schemas.openxmlformats.org/officeDocument/2006/relationships" id="267" r:id="R2e1a4bfda364413d"/>
    <p:sldId xmlns:r="http://schemas.openxmlformats.org/officeDocument/2006/relationships" id="268" r:id="R994358a1cfc94b48"/>
    <p:sldId xmlns:r="http://schemas.openxmlformats.org/officeDocument/2006/relationships" id="269" r:id="Rc16b9ce612fb4916"/>
    <p:sldId xmlns:r="http://schemas.openxmlformats.org/officeDocument/2006/relationships" id="270" r:id="R454c2e961b6d4d3d"/>
    <p:sldId xmlns:r="http://schemas.openxmlformats.org/officeDocument/2006/relationships" id="271" r:id="Ra125b6e81ed340ab"/>
    <p:sldId xmlns:r="http://schemas.openxmlformats.org/officeDocument/2006/relationships" id="272" r:id="R76135fc0d8aa416a"/>
    <p:sldId xmlns:r="http://schemas.openxmlformats.org/officeDocument/2006/relationships" id="273" r:id="R00c43452ae3649f8"/>
    <p:sldId xmlns:r="http://schemas.openxmlformats.org/officeDocument/2006/relationships" id="274" r:id="Rc0381648e87b4b2f"/>
    <p:sldId xmlns:r="http://schemas.openxmlformats.org/officeDocument/2006/relationships" id="275" r:id="Rab0ef6842cea454a"/>
    <p:sldId xmlns:r="http://schemas.openxmlformats.org/officeDocument/2006/relationships" id="276" r:id="R82a41633dac54a55"/>
    <p:sldId xmlns:r="http://schemas.openxmlformats.org/officeDocument/2006/relationships" id="277" r:id="R219c89aaaf394eb7"/>
    <p:sldId xmlns:r="http://schemas.openxmlformats.org/officeDocument/2006/relationships" id="278" r:id="R264d69953d864ad3"/>
    <p:sldId xmlns:r="http://schemas.openxmlformats.org/officeDocument/2006/relationships" id="279" r:id="R27fed5ec4ebb4da9"/>
    <p:sldId xmlns:r="http://schemas.openxmlformats.org/officeDocument/2006/relationships" id="280" r:id="R5caa7bda4c284946"/>
    <p:sldId xmlns:r="http://schemas.openxmlformats.org/officeDocument/2006/relationships" id="281" r:id="R373e9ee01d294d64"/>
    <p:sldId xmlns:r="http://schemas.openxmlformats.org/officeDocument/2006/relationships" id="282" r:id="Rbc14f265e4634f3f"/>
    <p:sldId xmlns:r="http://schemas.openxmlformats.org/officeDocument/2006/relationships" id="283" r:id="R1aef62bf779841f3"/>
    <p:sldId xmlns:r="http://schemas.openxmlformats.org/officeDocument/2006/relationships" id="284" r:id="Rd193f808bb3542c9"/>
    <p:sldId xmlns:r="http://schemas.openxmlformats.org/officeDocument/2006/relationships" id="285" r:id="R06360c20ea2c4f85"/>
    <p:sldId xmlns:r="http://schemas.openxmlformats.org/officeDocument/2006/relationships" id="286" r:id="R626fd4fa200b45d9"/>
    <p:sldId xmlns:r="http://schemas.openxmlformats.org/officeDocument/2006/relationships" id="287" r:id="Rb854e314199440b5"/>
    <p:sldId xmlns:r="http://schemas.openxmlformats.org/officeDocument/2006/relationships" id="288" r:id="Rce272f02355f4f14"/>
    <p:sldId xmlns:r="http://schemas.openxmlformats.org/officeDocument/2006/relationships" id="289" r:id="Rc9e1b7ff22ed439e"/>
    <p:sldId xmlns:r="http://schemas.openxmlformats.org/officeDocument/2006/relationships" id="290" r:id="Rc3392cf340f24308"/>
    <p:sldId xmlns:r="http://schemas.openxmlformats.org/officeDocument/2006/relationships" id="291" r:id="R1e85733b1bfb467e"/>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6C92A692-798E-4634-90B1-36CD3966BFCB}">
  <a:tblStyle styleId="{6C92A692-798E-4634-90B1-36CD3966BFC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dc6b099a2ad46e2" /><Relationship Type="http://schemas.openxmlformats.org/officeDocument/2006/relationships/slideMaster" Target="/ppt/slideMasters/slideMaster1.xml" Id="R541ceaf52d1b472c" /><Relationship Type="http://schemas.openxmlformats.org/officeDocument/2006/relationships/notesMaster" Target="/ppt/notesMasters/notesMaster1.xml" Id="Rd374ef5a2b824d5a" /><Relationship Type="http://schemas.openxmlformats.org/officeDocument/2006/relationships/presProps" Target="/ppt/presProps.xml" Id="Rd31d3b048bac4d28" /><Relationship Type="http://schemas.openxmlformats.org/officeDocument/2006/relationships/viewProps" Target="/ppt/viewProps.xml" Id="R5951421c24674660" /><Relationship Type="http://schemas.openxmlformats.org/officeDocument/2006/relationships/tableStyles" Target="/ppt/tableStyles.xml" Id="Rf26c2bb1714344cb" /><Relationship Type="http://schemas.openxmlformats.org/officeDocument/2006/relationships/slide" Target="/ppt/slides/slide1.xml" Id="R2a6cf1f8a4074907" /><Relationship Type="http://schemas.openxmlformats.org/officeDocument/2006/relationships/slide" Target="/ppt/slides/slide2.xml" Id="R29864c073bcd4050" /><Relationship Type="http://schemas.openxmlformats.org/officeDocument/2006/relationships/slide" Target="/ppt/slides/slide3.xml" Id="Ree94d8b62b37434b" /><Relationship Type="http://schemas.openxmlformats.org/officeDocument/2006/relationships/slide" Target="/ppt/slides/slide4.xml" Id="R0b2ba395ef7f4f25" /><Relationship Type="http://schemas.openxmlformats.org/officeDocument/2006/relationships/slide" Target="/ppt/slides/slide5.xml" Id="Re69f9d8926d94f60" /><Relationship Type="http://schemas.openxmlformats.org/officeDocument/2006/relationships/slide" Target="/ppt/slides/slide6.xml" Id="Re5ce5c965dd74d33" /><Relationship Type="http://schemas.openxmlformats.org/officeDocument/2006/relationships/slide" Target="/ppt/slides/slide7.xml" Id="Rc9768d01a2a149ce" /><Relationship Type="http://schemas.openxmlformats.org/officeDocument/2006/relationships/slide" Target="/ppt/slides/slide8.xml" Id="R6174f2f0b62e4a15" /><Relationship Type="http://schemas.openxmlformats.org/officeDocument/2006/relationships/slide" Target="/ppt/slides/slide9.xml" Id="R13e5df2f647743fa" /><Relationship Type="http://schemas.openxmlformats.org/officeDocument/2006/relationships/slide" Target="/ppt/slides/slide10.xml" Id="R6edb164a250444ce" /><Relationship Type="http://schemas.openxmlformats.org/officeDocument/2006/relationships/slide" Target="/ppt/slides/slide11.xml" Id="Rbf922ed355004a9e" /><Relationship Type="http://schemas.openxmlformats.org/officeDocument/2006/relationships/slide" Target="/ppt/slides/slide12.xml" Id="R2e1a4bfda364413d" /><Relationship Type="http://schemas.openxmlformats.org/officeDocument/2006/relationships/slide" Target="/ppt/slides/slide13.xml" Id="R994358a1cfc94b48" /><Relationship Type="http://schemas.openxmlformats.org/officeDocument/2006/relationships/slide" Target="/ppt/slides/slide14.xml" Id="Rc16b9ce612fb4916" /><Relationship Type="http://schemas.openxmlformats.org/officeDocument/2006/relationships/slide" Target="/ppt/slides/slide15.xml" Id="R454c2e961b6d4d3d" /><Relationship Type="http://schemas.openxmlformats.org/officeDocument/2006/relationships/slide" Target="/ppt/slides/slide16.xml" Id="Ra125b6e81ed340ab" /><Relationship Type="http://schemas.openxmlformats.org/officeDocument/2006/relationships/slide" Target="/ppt/slides/slide17.xml" Id="R76135fc0d8aa416a" /><Relationship Type="http://schemas.openxmlformats.org/officeDocument/2006/relationships/slide" Target="/ppt/slides/slide18.xml" Id="R00c43452ae3649f8" /><Relationship Type="http://schemas.openxmlformats.org/officeDocument/2006/relationships/slide" Target="/ppt/slides/slide19.xml" Id="Rc0381648e87b4b2f" /><Relationship Type="http://schemas.openxmlformats.org/officeDocument/2006/relationships/slide" Target="/ppt/slides/slide20.xml" Id="Rab0ef6842cea454a" /><Relationship Type="http://schemas.openxmlformats.org/officeDocument/2006/relationships/slide" Target="/ppt/slides/slide21.xml" Id="R82a41633dac54a55" /><Relationship Type="http://schemas.openxmlformats.org/officeDocument/2006/relationships/slide" Target="/ppt/slides/slide22.xml" Id="R219c89aaaf394eb7" /><Relationship Type="http://schemas.openxmlformats.org/officeDocument/2006/relationships/slide" Target="/ppt/slides/slide23.xml" Id="R264d69953d864ad3" /><Relationship Type="http://schemas.openxmlformats.org/officeDocument/2006/relationships/slide" Target="/ppt/slides/slide24.xml" Id="R27fed5ec4ebb4da9" /><Relationship Type="http://schemas.openxmlformats.org/officeDocument/2006/relationships/slide" Target="/ppt/slides/slide25.xml" Id="R5caa7bda4c284946" /><Relationship Type="http://schemas.openxmlformats.org/officeDocument/2006/relationships/slide" Target="/ppt/slides/slide26.xml" Id="R373e9ee01d294d64" /><Relationship Type="http://schemas.openxmlformats.org/officeDocument/2006/relationships/slide" Target="/ppt/slides/slide27.xml" Id="Rbc14f265e4634f3f" /><Relationship Type="http://schemas.openxmlformats.org/officeDocument/2006/relationships/slide" Target="/ppt/slides/slide28.xml" Id="R1aef62bf779841f3" /><Relationship Type="http://schemas.openxmlformats.org/officeDocument/2006/relationships/slide" Target="/ppt/slides/slide29.xml" Id="Rd193f808bb3542c9" /><Relationship Type="http://schemas.openxmlformats.org/officeDocument/2006/relationships/slide" Target="/ppt/slides/slide30.xml" Id="R06360c20ea2c4f85" /><Relationship Type="http://schemas.openxmlformats.org/officeDocument/2006/relationships/slide" Target="/ppt/slides/slide31.xml" Id="R626fd4fa200b45d9" /><Relationship Type="http://schemas.openxmlformats.org/officeDocument/2006/relationships/slide" Target="/ppt/slides/slide32.xml" Id="Rb854e314199440b5" /><Relationship Type="http://schemas.openxmlformats.org/officeDocument/2006/relationships/slide" Target="/ppt/slides/slide33.xml" Id="Rce272f02355f4f14" /><Relationship Type="http://schemas.openxmlformats.org/officeDocument/2006/relationships/slide" Target="/ppt/slides/slide34.xml" Id="Rc9e1b7ff22ed439e" /><Relationship Type="http://schemas.openxmlformats.org/officeDocument/2006/relationships/slide" Target="/ppt/slides/slide35.xml" Id="Rc3392cf340f24308" /><Relationship Type="http://schemas.openxmlformats.org/officeDocument/2006/relationships/slide" Target="/ppt/slides/slide36.xml" Id="R1e85733b1bfb46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5d00938ed34a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e719f9fae74222" /><Relationship Type="http://schemas.openxmlformats.org/officeDocument/2006/relationships/notesMaster" Target="/ppt/notesMasters/notesMaster1.xml" Id="Rc773718888df48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fb1166af7349eb" /><Relationship Type="http://schemas.openxmlformats.org/officeDocument/2006/relationships/notesMaster" Target="/ppt/notesMasters/notesMaster1.xml" Id="Rf172ae55d5c442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62125e1e8c40b8" /><Relationship Type="http://schemas.openxmlformats.org/officeDocument/2006/relationships/notesMaster" Target="/ppt/notesMasters/notesMaster1.xml" Id="R9dd377740d5148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459aedaff74922" /><Relationship Type="http://schemas.openxmlformats.org/officeDocument/2006/relationships/notesMaster" Target="/ppt/notesMasters/notesMaster1.xml" Id="R4dfd04d51bc945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ff1fe865dd4a06" /><Relationship Type="http://schemas.openxmlformats.org/officeDocument/2006/relationships/notesMaster" Target="/ppt/notesMasters/notesMaster1.xml" Id="Ra676f013779e43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86953833d64600" /><Relationship Type="http://schemas.openxmlformats.org/officeDocument/2006/relationships/notesMaster" Target="/ppt/notesMasters/notesMaster1.xml" Id="Rca42d97e06be44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4bfdb763d54e3d" /><Relationship Type="http://schemas.openxmlformats.org/officeDocument/2006/relationships/notesMaster" Target="/ppt/notesMasters/notesMaster1.xml" Id="Rd5c880f9d5cf45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048961d9b94a04" /><Relationship Type="http://schemas.openxmlformats.org/officeDocument/2006/relationships/notesMaster" Target="/ppt/notesMasters/notesMaster1.xml" Id="R5c9b8cf967bd47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d683e85a994778" /><Relationship Type="http://schemas.openxmlformats.org/officeDocument/2006/relationships/notesMaster" Target="/ppt/notesMasters/notesMaster1.xml" Id="R85a3d9123e1e4f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1ce9d7b90c4a90" /><Relationship Type="http://schemas.openxmlformats.org/officeDocument/2006/relationships/notesMaster" Target="/ppt/notesMasters/notesMaster1.xml" Id="R9fb806966d944f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8359488d0f4c0a" /><Relationship Type="http://schemas.openxmlformats.org/officeDocument/2006/relationships/notesMaster" Target="/ppt/notesMasters/notesMaster1.xml" Id="R55eefae83bd34e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a5ef2572934fce" /><Relationship Type="http://schemas.openxmlformats.org/officeDocument/2006/relationships/notesMaster" Target="/ppt/notesMasters/notesMaster1.xml" Id="Ra5d2e9eb1b7d42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222efed8de4acb" /><Relationship Type="http://schemas.openxmlformats.org/officeDocument/2006/relationships/notesMaster" Target="/ppt/notesMasters/notesMaster1.xml" Id="R3911dcaa604445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6e12af63e449ba" /><Relationship Type="http://schemas.openxmlformats.org/officeDocument/2006/relationships/notesMaster" Target="/ppt/notesMasters/notesMaster1.xml" Id="Rc6cd89b2b2f94b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a93784403bb4d31" /><Relationship Type="http://schemas.openxmlformats.org/officeDocument/2006/relationships/notesMaster" Target="/ppt/notesMasters/notesMaster1.xml" Id="R19fbec01faf94e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4d674055b74e08" /><Relationship Type="http://schemas.openxmlformats.org/officeDocument/2006/relationships/notesMaster" Target="/ppt/notesMasters/notesMaster1.xml" Id="R0998b4e16c854e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32192f84a94a50" /><Relationship Type="http://schemas.openxmlformats.org/officeDocument/2006/relationships/notesMaster" Target="/ppt/notesMasters/notesMaster1.xml" Id="R318e7273833a45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dc79d0cac0146f6" /><Relationship Type="http://schemas.openxmlformats.org/officeDocument/2006/relationships/notesMaster" Target="/ppt/notesMasters/notesMaster1.xml" Id="Ra609ffef42924a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601d21ea1364d0e" /><Relationship Type="http://schemas.openxmlformats.org/officeDocument/2006/relationships/notesMaster" Target="/ppt/notesMasters/notesMaster1.xml" Id="R6817757c400048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3454deb8a94b44" /><Relationship Type="http://schemas.openxmlformats.org/officeDocument/2006/relationships/notesMaster" Target="/ppt/notesMasters/notesMaster1.xml" Id="R2847ee0f97a949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20461185f274c2c" /><Relationship Type="http://schemas.openxmlformats.org/officeDocument/2006/relationships/notesMaster" Target="/ppt/notesMasters/notesMaster1.xml" Id="Rb316b7936be84b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a6c85e029944622" /><Relationship Type="http://schemas.openxmlformats.org/officeDocument/2006/relationships/notesMaster" Target="/ppt/notesMasters/notesMaster1.xml" Id="Rc436a76d2cfa423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5fccb8995604128" /><Relationship Type="http://schemas.openxmlformats.org/officeDocument/2006/relationships/notesMaster" Target="/ppt/notesMasters/notesMaster1.xml" Id="Radab69fe8aeb4d8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0792b116dc438d" /><Relationship Type="http://schemas.openxmlformats.org/officeDocument/2006/relationships/notesMaster" Target="/ppt/notesMasters/notesMaster1.xml" Id="R3be2ea4407f54b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5d8a36d769c4a92" /><Relationship Type="http://schemas.openxmlformats.org/officeDocument/2006/relationships/notesMaster" Target="/ppt/notesMasters/notesMaster1.xml" Id="Ra15eba44e264420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1efa41717fe417d" /><Relationship Type="http://schemas.openxmlformats.org/officeDocument/2006/relationships/notesMaster" Target="/ppt/notesMasters/notesMaster1.xml" Id="R25b9a692a25c4fc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2f541d2c6ba4ac0" /><Relationship Type="http://schemas.openxmlformats.org/officeDocument/2006/relationships/notesMaster" Target="/ppt/notesMasters/notesMaster1.xml" Id="Re69c290f3bec4b1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3ae98417ab34a11" /><Relationship Type="http://schemas.openxmlformats.org/officeDocument/2006/relationships/notesMaster" Target="/ppt/notesMasters/notesMaster1.xml" Id="R152a36d523c84c6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863c54218d54478" /><Relationship Type="http://schemas.openxmlformats.org/officeDocument/2006/relationships/notesMaster" Target="/ppt/notesMasters/notesMaster1.xml" Id="R546e732908c14fc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be10a1479846f1" /><Relationship Type="http://schemas.openxmlformats.org/officeDocument/2006/relationships/notesMaster" Target="/ppt/notesMasters/notesMaster1.xml" Id="Ra15d32639ff445a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382e1bd1a5f49a1" /><Relationship Type="http://schemas.openxmlformats.org/officeDocument/2006/relationships/notesMaster" Target="/ppt/notesMasters/notesMaster1.xml" Id="Rc9226a27b319459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b09472f1c4a46fe" /><Relationship Type="http://schemas.openxmlformats.org/officeDocument/2006/relationships/notesMaster" Target="/ppt/notesMasters/notesMaster1.xml" Id="R9bf5756371944bb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6704ee063b49df" /><Relationship Type="http://schemas.openxmlformats.org/officeDocument/2006/relationships/notesMaster" Target="/ppt/notesMasters/notesMaster1.xml" Id="Re394eb6de38c4d3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4556e4930b14c53" /><Relationship Type="http://schemas.openxmlformats.org/officeDocument/2006/relationships/notesMaster" Target="/ppt/notesMasters/notesMaster1.xml" Id="R588eb54c127f484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c38737ef1044260" /><Relationship Type="http://schemas.openxmlformats.org/officeDocument/2006/relationships/notesMaster" Target="/ppt/notesMasters/notesMaster1.xml" Id="R1d5d7f0c48834e0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5a8487c9f2c42be" /><Relationship Type="http://schemas.openxmlformats.org/officeDocument/2006/relationships/notesMaster" Target="/ppt/notesMasters/notesMaster1.xml" Id="R206de76e634548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Open by distinguishing information from realised understanding. The deck follows Madhyasth Darshan on its own terms and asks how knowledge becomes resolution, right conduct, and the happiness sought by the human being.</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 and translation attribution: MVD, SB, and JV are consulted in Rakesh Gupta's English translations. KD is consulted through the Hindi original and this repository's machine-assisted working English translation. That KD text is a working aid, not a published translation by Rakesh Gupta. Hindi formulations remain the reference when a translation or interpretation is disputed.</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The Epistemology of Coexistence, §§1.1–1.6 and bibliography</a:t>
            </a:r>
          </a:p>
          <a:p xmlns:a="http://schemas.openxmlformats.org/drawingml/2006/main">
            <a:pPr marL="0" indent="0" algn="l">
              <a:spcBef>
                <a:spcPts val="0"/>
              </a:spcBef>
              <a:spcAft>
                <a:spcPts val="0"/>
              </a:spcAft>
              <a:buNone/>
            </a:pPr>
            <a:r>
              <a:t>- MVD; KD; SB; JV</a:t>
            </a:r>
          </a:p>
          <a:p xmlns:a="http://schemas.openxmlformats.org/drawingml/2006/main">
            <a:pPr marL="0" indent="0" algn="l">
              <a:spcBef>
                <a:spcPts val="0"/>
              </a:spcBef>
              <a:spcAft>
                <a:spcPts val="0"/>
              </a:spcAft>
              <a:buNone/>
            </a:pPr>
            <a:r>
              <a:t>- KD-Karm-Darshan-English/README.md: translation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Keep these questions open and accessible. They ask what knowledge is, who knows, what is known, how understanding develops, how error enters, and how knowledge is tested in life. The technical vocabulary appears only when the deck reaches the relevant answer.</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The Epistemology of Coexistence, §§1.1–1.6</a:t>
            </a:r>
          </a:p>
          <a:p xmlns:a="http://schemas.openxmlformats.org/drawingml/2006/main">
            <a:pPr marL="0" indent="0" algn="l">
              <a:spcBef>
                <a:spcPts val="0"/>
              </a:spcBef>
              <a:spcAft>
                <a:spcPts val="0"/>
              </a:spcAft>
              <a:buNone/>
            </a:pPr>
            <a:r>
              <a:t>- MVD; KD; SB; JV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human predicament. The human being belongs to the knowledge order, whose dharma is happiness, yet has imagination and freedom of action without automatically having the understanding needed to direct them. Resolution means understanding the relevant realities and answering the why and how of activity. This prepares the question of what complete knowledge must include.</a:t>
            </a:r>
          </a:p>
          <a:p xmlns:a="http://schemas.openxmlformats.org/drawingml/2006/main">
            <a:r>
              <a:t>[Sources]</a:t>
            </a:r>
          </a:p>
          <a:p xmlns:a="http://schemas.openxmlformats.org/drawingml/2006/main">
            <a:r>
              <a:t>- The Epistemology of Coexistence, §§1.1–1.2</a:t>
            </a:r>
          </a:p>
          <a:p xmlns:a="http://schemas.openxmlformats.org/drawingml/2006/main">
            <a:r>
              <a:t>- MVD pp. 34, 115, 312</a:t>
            </a:r>
          </a:p>
          <a:p xmlns:a="http://schemas.openxmlformats.org/drawingml/2006/main">
            <a:r>
              <a:t>- KD §3.17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happiness is an enduring aspiration. Madhyasth Darshan explains why imagination and freedom alone cannot fulfil it: a person can act from mistaken assumptions. The specific delusion discussed here identifies jeevan with the body and expects sensory gratification to supply continuous happiness.</a:t>
            </a:r>
          </a:p>
          <a:p xmlns:a="http://schemas.openxmlformats.org/drawingml/2006/main">
            <a:r>
              <a:t/>
            </a:r>
          </a:p>
          <a:p xmlns:a="http://schemas.openxmlformats.org/drawingml/2006/main">
            <a:r>
              <a:t>Every human jeevan shares the same conscious constitution and capacity for understanding and realisation. Differences in present understanding reflect education, environment, and prior impressions. Human conduct therefore develops through understanding and culture; it is not fixed by bodily constitution.</a:t>
            </a:r>
          </a:p>
          <a:p xmlns:a="http://schemas.openxmlformats.org/drawingml/2006/main">
            <a:r>
              <a:t/>
            </a:r>
          </a:p>
          <a:p xmlns:a="http://schemas.openxmlformats.org/drawingml/2006/main">
            <a:r>
              <a:t>Introduce a shared meal as a teaching example to revisit later. Hunger calls for food, and eating can bring sensory satisfaction. Preparing and sharing the meal also raises questions about people's needs, fairness, resources, and relationships. Feeding the body matters; understanding how to fulfil those relationships calls for more than taste. This example illustrates the account and is not a primary-text quotation or a claim that one meal demonstrates awakening.</a:t>
            </a:r>
          </a:p>
          <a:p xmlns:a="http://schemas.openxmlformats.org/drawingml/2006/main">
            <a:r>
              <a:t/>
            </a:r>
          </a:p>
          <a:p xmlns:a="http://schemas.openxmlformats.org/drawingml/2006/main">
            <a:r>
              <a:t>Resolution is the understanding of relevant reality together with adequate answers to why and how in activity. It is more than temporary calm.</a:t>
            </a:r>
          </a:p>
          <a:p xmlns:a="http://schemas.openxmlformats.org/drawingml/2006/main">
            <a:r>
              <a:t>[Sources]</a:t>
            </a:r>
          </a:p>
          <a:p xmlns:a="http://schemas.openxmlformats.org/drawingml/2006/main">
            <a:r>
              <a:t>- The Epistemology of Coexistence, §§1.1–1.2</a:t>
            </a:r>
          </a:p>
          <a:p xmlns:a="http://schemas.openxmlformats.org/drawingml/2006/main">
            <a:r>
              <a:t>- MVD pp. 34, 115, 312</a:t>
            </a:r>
          </a:p>
          <a:p xmlns:a="http://schemas.openxmlformats.org/drawingml/2006/main">
            <a:r>
              <a:t>- JV pp. 33–34, 44</a:t>
            </a:r>
          </a:p>
          <a:p xmlns:a="http://schemas.openxmlformats.org/drawingml/2006/main">
            <a:r>
              <a:t>- KD §3.17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the four goals together. Resolution is comprehensive clarity free from delusion. Prosperity means assured availability of physical means beyond properly assessed family need, with right use rather than limitless accumulation. Fearlessness rests on trust and justice. Coexistence includes participation in an undivided human society and the wider natural order.</a:t>
            </a:r>
          </a:p>
          <a:p xmlns:a="http://schemas.openxmlformats.org/drawingml/2006/main">
            <a:r>
              <a:t/>
            </a:r>
          </a:p>
          <a:p xmlns:a="http://schemas.openxmlformats.org/drawingml/2006/main">
            <a:r>
              <a:t>Each goal needs the others. Material sufficiency does not remove unresolved understanding; a calm individual may still participate in unjust relationships. The relation to happiness, peace, contentment, and bliss is cumulative. Slide 16 explains the internal faculty harmonies; slide 36 returns to the cumulative relation between human goals and jeevan values.</a:t>
            </a:r>
          </a:p>
          <a:p xmlns:a="http://schemas.openxmlformats.org/drawingml/2006/main">
            <a:r>
              <a:t>[Sources]</a:t>
            </a:r>
          </a:p>
          <a:p xmlns:a="http://schemas.openxmlformats.org/drawingml/2006/main">
            <a:r>
              <a:t>- The Epistemology of Coexistence, §1.2</a:t>
            </a:r>
          </a:p>
          <a:p xmlns:a="http://schemas.openxmlformats.org/drawingml/2006/main">
            <a:r>
              <a:t>- KD §3.17, p. 150; p. 112</a:t>
            </a:r>
          </a:p>
          <a:p xmlns:a="http://schemas.openxmlformats.org/drawingml/2006/main">
            <a:r>
              <a:t>- JV pp. 60, 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Gyan, vivek, and vigyan distinguish connected functions of understanding. Gyan here is realised understanding of coexistence, jeevan, and humane conduct. Vivek recognises the human goal: resolution, prosperity, fearlessness, and coexistence. Vigyan determines direction for accomplishing material prosperity together with the human and jeevan goals.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Do not restrict vigyan to useful technology or physical production. MVD also connects complete understanding with the law and process of activity and with the cause and law of thought. Science is therefore considered in relation to wisdom and the whole human purpose. Slide 8 introduces the additional foundational sense of gyan as Omnipresence.</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MVD p. 170; pp. 208–209</a:t>
            </a:r>
          </a:p>
          <a:p xmlns:a="http://schemas.openxmlformats.org/drawingml/2006/main">
            <a:pPr marL="0" indent="0" algn="l">
              <a:spcBef>
                <a:spcPts val="0"/>
              </a:spcBef>
              <a:spcAft>
                <a:spcPts val="0"/>
              </a:spcAft>
              <a:buNone/>
            </a:pPr>
            <a:r>
              <a:t>- The Epistemology of Coexistence,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knowledge has three inseparable contents: coexistence, jeevan, and humane conduct. The first concerns reality and its order; the second concerns the conscious knower; the third concerns the values, character, and ethics of awakened participation. Humane conduct is one of the things to be understood, and living it provides evidence of understanding.</a:t>
            </a:r>
          </a:p>
          <a:p xmlns:a="http://schemas.openxmlformats.org/drawingml/2006/main">
            <a:r>
              <a:t/>
            </a:r>
          </a:p>
          <a:p xmlns:a="http://schemas.openxmlformats.org/drawingml/2006/main">
            <a:r>
              <a:t>KD p. 67 explains the three aspects of humane conduct. Values concern recognising relationships, fulfilling and evaluating their values, and mutual satisfaction. Character includes rightful wealth, fidelity to one's spouse, and kindness in work and behaviour. Ethics concerns protection and right use of body, mind, and wealth, together with production beyond family needs. The policy terms are rajya neeti, dharma neeti, and artha neeti, respectively.</a:t>
            </a:r>
          </a:p>
          <a:p xmlns:a="http://schemas.openxmlformats.org/drawingml/2006/main">
            <a:r>
              <a:t/>
            </a:r>
          </a:p>
          <a:p xmlns:a="http://schemas.openxmlformats.org/drawingml/2006/main">
            <a:r>
              <a:t>Return briefly to the shared meal. Values ask how people's needs and relationships are recognised and fulfilled. Character concerns the integrity and care with which the food and shared resources are obtained and used. Ethics asks how those resources are protected, rightly used, and made adequately available. These are illustrations of connected concerns; a single meal does not contain the full scope of any of the three.</a:t>
            </a:r>
          </a:p>
          <a:p xmlns:a="http://schemas.openxmlformats.org/drawingml/2006/main">
            <a:r>
              <a:t>[Sources]</a:t>
            </a:r>
          </a:p>
          <a:p xmlns:a="http://schemas.openxmlformats.org/drawingml/2006/main">
            <a:r>
              <a:t>- KD p. 67; §3.17, pp. 145–150</a:t>
            </a:r>
          </a:p>
          <a:p xmlns:a="http://schemas.openxmlformats.org/drawingml/2006/main">
            <a:r>
              <a:t>- SB p. 116</a:t>
            </a:r>
          </a:p>
          <a:p xmlns:a="http://schemas.openxmlformats.org/drawingml/2006/main">
            <a:r>
              <a:t>- The Epistemology of Coexistence, §§1.1,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Gyan carries two related senses in this account. In its foundational sense it names Omnipresence or Space: actionless, non-transforming, and neither an activity nor an agent performing activity. All active units are saturated in this ground. Omnipresence is not a perceiving subject; jeevan is the knower, and existence as coexistence is what is known.</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Realisation in coexistence is the unfolding of knowledge in jeevan. Atma realises; buddhi comprehends through bodh; understanding becomes evident in expression and living. MVD describes the awakened human's experience of the ground as law in work, resolution in thought, bliss in realisation, and justice in behaviour.</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Samadhan is understanding of the relevant realities together with the right answers to why and how in activity. Happiness, peace, contentment, and bliss describe harmonies within jeevan. Justice in relationships includes recognition, value-fulfilment, evaluation, and mutual satisfaction. Knowledge of humane conduct belongs to complete knowledge; living that conduct evidences understanding.</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MVD pp. 11, 34–35, 115–116, 207–208, 289, 311–312</a:t>
            </a:r>
          </a:p>
          <a:p xmlns:a="http://schemas.openxmlformats.org/drawingml/2006/main">
            <a:pPr marL="0" indent="0" algn="l">
              <a:spcBef>
                <a:spcPts val="0"/>
              </a:spcBef>
              <a:spcAft>
                <a:spcPts val="0"/>
              </a:spcAft>
              <a:buNone/>
            </a:pPr>
            <a:r>
              <a:t>- KD pp. 66, 134</a:t>
            </a:r>
          </a:p>
          <a:p xmlns:a="http://schemas.openxmlformats.org/drawingml/2006/main">
            <a:pPr marL="0" indent="0" algn="l">
              <a:spcBef>
                <a:spcPts val="0"/>
              </a:spcBef>
              <a:spcAft>
                <a:spcPts val="0"/>
              </a:spcAft>
              <a:buNone/>
            </a:pPr>
            <a:r>
              <a:t>- The Epistemology of Coexistence,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roles clear. Jeevan knows; existence as coexistence is known; realised understanding becomes evident through an embodied human being's explanation, work, behaviour, and participation. Realisation does not dissolve the reality of the knower or the world known.</a:t>
            </a:r>
          </a:p>
          <a:p xmlns:a="http://schemas.openxmlformats.org/drawingml/2006/main">
            <a:r>
              <a:t/>
            </a:r>
          </a:p>
          <a:p xmlns:a="http://schemas.openxmlformats.org/drawingml/2006/main">
            <a:r>
              <a:t>MVD's formulation is Brahma satya, jagat shashwat: the ground is truth and the world is perpetual. This should not be substituted with a formula in which the world becomes unreal when understood. The study uses coherence without merger to explain that distinction.</a:t>
            </a:r>
          </a:p>
          <a:p xmlns:a="http://schemas.openxmlformats.org/drawingml/2006/main">
            <a:r>
              <a:t/>
            </a:r>
          </a:p>
          <a:p xmlns:a="http://schemas.openxmlformats.org/drawingml/2006/main">
            <a:r>
              <a:t>KD connects the meaningfulness of the known with awakening, the human goal, and universal participation. Resolution, prosperity, fearlessness, and coexistence make understanding meaningful in living; awakened tradition carries it forward.</a:t>
            </a:r>
          </a:p>
          <a:p xmlns:a="http://schemas.openxmlformats.org/drawingml/2006/main">
            <a:r>
              <a:t>[Sources]</a:t>
            </a:r>
          </a:p>
          <a:p xmlns:a="http://schemas.openxmlformats.org/drawingml/2006/main">
            <a:r>
              <a:t>- MVD pp. 12–13, 84, 115–116</a:t>
            </a:r>
          </a:p>
          <a:p xmlns:a="http://schemas.openxmlformats.org/drawingml/2006/main">
            <a:r>
              <a:t>- KD §3.17, pp. 145–150</a:t>
            </a:r>
          </a:p>
          <a:p xmlns:a="http://schemas.openxmlformats.org/drawingml/2006/main">
            <a:r>
              <a:t>- SB p. 81</a:t>
            </a:r>
          </a:p>
          <a:p xmlns:a="http://schemas.openxmlformats.org/drawingml/2006/main">
            <a:r>
              <a:t>- The Epistemology of Coexistence,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truths describe aspects of reality, rather than three separate worlds. Vastugat satya concerns every unit's form, properties, essential nature, and dharma. It applies to sentient as well as insentient units. Vastu-sthiti satya concerns direction, time, and place: the unit's situation in relation to others. Sthiti satya is existence unaffected by time, with insentient and sentient nature saturated in Omnipresence. This is existence as coexistence.</a:t>
            </a:r>
          </a:p>
          <a:p xmlns:a="http://schemas.openxmlformats.org/drawingml/2006/main">
            <a:r>
              <a:t/>
            </a:r>
          </a:p>
          <a:p xmlns:a="http://schemas.openxmlformats.org/drawingml/2006/main">
            <a:r>
              <a:t>Keep a second classification distinct. KD body pp. 3–4 describes physical, intellectual, and spiritual or coexistential forms of knowledge, manifested in skill, proficiency, and scholarliness. It distinguishes external and internal means. It does not equate each domain with one of the three truths. Knowing physical things also concerns their situation and coexistence; inherent truth also applies to jeevan.</a:t>
            </a:r>
          </a:p>
          <a:p xmlns:a="http://schemas.openxmlformats.org/drawingml/2006/main">
            <a:r>
              <a:t/>
            </a:r>
          </a:p>
          <a:p xmlns:a="http://schemas.openxmlformats.org/drawingml/2006/main">
            <a:r>
              <a:t>YAT is the official Hindi webpage compilation titled Yatharthata, Vastavikta, Satyata, published on originals.madhyasth.org. The page credits Paribhasha Sanhita and other writings. Cite it as an excerpt compilation; it supplies no book page or edition for these definitions.</a:t>
            </a:r>
          </a:p>
          <a:p xmlns:a="http://schemas.openxmlformats.org/drawingml/2006/main">
            <a:r>
              <a:t>[Sources]</a:t>
            </a:r>
          </a:p>
          <a:p xmlns:a="http://schemas.openxmlformats.org/drawingml/2006/main">
            <a:r>
              <a:t>- YAT: Yatharthata, Vastavikta, Satyata, official Hindi excerpt compilation; source credit Paribhasha Sanhita and other writings: https://originals.madhyasth.org/avdharna/yatharth</a:t>
            </a:r>
          </a:p>
          <a:p xmlns:a="http://schemas.openxmlformats.org/drawingml/2006/main">
            <a:r>
              <a:t>- KD, body pp. 3–4</a:t>
            </a:r>
          </a:p>
          <a:p xmlns:a="http://schemas.openxmlformats.org/drawingml/2006/main">
            <a:r>
              <a:t>- MVD pp. 88, 97</a:t>
            </a:r>
          </a:p>
          <a:p xmlns:a="http://schemas.openxmlformats.org/drawingml/2006/main">
            <a:r>
              <a:t>- The Epistemology of Coexistence,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KD uses cause, doer, and effect in two related contexts. On p. 145, karan is gyan avastha, the knowledge state or order; karta is the human being; karya concerns wholeness in universal participation. On p. 148, coexistence is the ever-present cause, jeevan is the doer, and human, deific, or divine status is the effect according to awakening. The two formulations should be explained in context, without replacing one with the other.</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Seeking adds a different relation. Sadhya is the aim of awakening and established seer-status: freedom from delusion and the capacity to understand and participate. Sadhak is the human seeker. Sadhan is the joint form of jeevan and body as the means, with imagination, freedom of action, education, and tradition supporting the journey.</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The slide's two headings identify the contexts for teaching; they are not an additional canonical taxonomy. The point is to keep knowledge, agency, means, and the outcome of awakening intelligibly related.</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KD §3.17, pp. 145–150, especially pp. 145, 148</a:t>
            </a:r>
          </a:p>
          <a:p xmlns:a="http://schemas.openxmlformats.org/drawingml/2006/main">
            <a:pPr marL="0" indent="0" algn="l">
              <a:spcBef>
                <a:spcPts val="0"/>
              </a:spcBef>
              <a:spcAft>
                <a:spcPts val="0"/>
              </a:spcAft>
              <a:buNone/>
            </a:pPr>
            <a:r>
              <a:t>- The Epistemology of Coexistence,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Seer here means established awakened seer-status, rather than simply a person who sees. Understanding, embodied doing, and the experienced result belong together in one human joint form. The seer understands; the doer acts through work and behaviour; the enjoyer receives the fruition of action.</a:t>
            </a:r>
          </a:p>
          <a:p xmlns:a="http://schemas.openxmlformats.org/drawingml/2006/main">
            <a:r>
              <a:t/>
            </a:r>
          </a:p>
          <a:p xmlns:a="http://schemas.openxmlformats.org/drawingml/2006/main">
            <a:r>
              <a:t>Enjoyer-status names experienced fruition. In awakened participation, that fruition supports fulfilment and mutual satisfaction. This should not be reduced to sensory pleasure or used as a synonym for mutual satisfaction in every context. The shared meal can provide a modest illustration of action and its experienced result, but it does not by itself establish awakened seer-status.</a:t>
            </a:r>
          </a:p>
          <a:p xmlns:a="http://schemas.openxmlformats.org/drawingml/2006/main">
            <a:r>
              <a:t>[Sources]</a:t>
            </a:r>
          </a:p>
          <a:p xmlns:a="http://schemas.openxmlformats.org/drawingml/2006/main">
            <a:r>
              <a:t>- KD §3.18, pp. 151–153</a:t>
            </a:r>
          </a:p>
          <a:p xmlns:a="http://schemas.openxmlformats.org/drawingml/2006/main">
            <a:r>
              <a:t>- The Epistemology of Coexistence,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examine the knower and how understanding guides living. Madhyasth Darshan describes five faculties with ten activities. Their inward and outward directions connect understanding with its expression through the body. We will then follow this understanding into bodily needs, social motives, and practical judgment.</a:t>
            </a:r>
          </a:p>
          <a:p xmlns:a="http://schemas.openxmlformats.org/drawingml/2006/main">
            <a:r>
              <a:t>[Sources]</a:t>
            </a:r>
          </a:p>
          <a:p xmlns:a="http://schemas.openxmlformats.org/drawingml/2006/main">
            <a:r>
              <a:t>- The Epistemology of Coexistence, §§1.3–1.4</a:t>
            </a:r>
          </a:p>
          <a:p xmlns:a="http://schemas.openxmlformats.org/drawingml/2006/main">
            <a:r>
              <a:t>- JV pp. 92–93</a:t>
            </a:r>
          </a:p>
          <a:p xmlns:a="http://schemas.openxmlformats.org/drawingml/2006/main">
            <a:r>
              <a:t>- KD §§3.12, 3.16–3.17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faculties each have two activities, giving ten in all. Five are inward activities of reflection and five are outward activities of projection. Atma realises and expresses authenticity. Buddhi comprehends and forms resolve. Chitta contemplates and visualises. Vritti deliberates and analyses. Mun tastes and selects.</a:t>
            </a:r>
          </a:p>
          <a:p xmlns:a="http://schemas.openxmlformats.org/drawingml/2006/main">
            <a:r>
              <a:t/>
            </a:r>
          </a:p>
          <a:p xmlns:a="http://schemas.openxmlformats.org/drawingml/2006/main">
            <a:r>
              <a:t>Jeevan already possesses constitutional completeness: its atom neither gains nor loses constituent particles. The human journey concerns awakening these activities fully and expressing that understanding in complete conduct.</a:t>
            </a:r>
          </a:p>
          <a:p xmlns:a="http://schemas.openxmlformats.org/drawingml/2006/main">
            <a:r>
              <a:t/>
            </a:r>
          </a:p>
          <a:p xmlns:a="http://schemas.openxmlformats.org/drawingml/2006/main">
            <a:r>
              <a:t>Madhyasth means mediative. The source places atma at the centre and describes it as free from one-sided attractions and repulsions. Its mediativeness becomes evident through agreement between thought and behaviour. This is a definite understanding of reality expressed consistently in living.</a:t>
            </a:r>
          </a:p>
          <a:p xmlns:a="http://schemas.openxmlformats.org/drawingml/2006/main">
            <a:r>
              <a:t>[Sources]</a:t>
            </a:r>
          </a:p>
          <a:p xmlns:a="http://schemas.openxmlformats.org/drawingml/2006/main">
            <a:r>
              <a:t>- The Epistemology of Coexistence, §1.3</a:t>
            </a:r>
          </a:p>
          <a:p xmlns:a="http://schemas.openxmlformats.org/drawingml/2006/main">
            <a:r>
              <a:t>- JV pp. 36, 72–73, 92–93</a:t>
            </a:r>
          </a:p>
          <a:p xmlns:a="http://schemas.openxmlformats.org/drawingml/2006/main">
            <a:r>
              <a:t>- MVD p. 211</a:t>
            </a:r>
          </a:p>
          <a:p xmlns:a="http://schemas.openxmlformats.org/drawingml/2006/main">
            <a:r>
              <a:t>- KD §3.12</a:t>
            </a:r>
          </a:p>
          <a:p xmlns:a="http://schemas.openxmlformats.org/drawingml/2006/main">
            <a:r>
              <a:t>- SB p. 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Knowing and doing belong to one continuing activity of jeevan. Reflection develops understanding, while projection expresses it in living. What we do and the results we observe give us further material for attention and evaluation.</a:t>
            </a:r>
          </a:p>
          <a:p xmlns:a="http://schemas.openxmlformats.org/drawingml/2006/main">
            <a:r>
              <a:t/>
            </a:r>
          </a:p>
          <a:p xmlns:a="http://schemas.openxmlformats.org/drawingml/2006/main">
            <a:r>
              <a:t>In the inward direction, chitta directly apprehends meaning, buddhi comprehends, and atma realises. Comprehension is bodh. Resolve, or sankalpa, belongs to buddhi's outward expression. Realisation guides that resolve, which takes form through visualisation, analysis, selection, and bodily action.</a:t>
            </a:r>
          </a:p>
          <a:p xmlns:a="http://schemas.openxmlformats.org/drawingml/2006/main">
            <a:r>
              <a:t/>
            </a:r>
          </a:p>
          <a:p xmlns:a="http://schemas.openxmlformats.org/drawingml/2006/main">
            <a:r>
              <a:t>The four-part diagram is a teaching synthesis of the source account. KD describes understanding and making understood, learning and teaching, and the growth of demonstrated understanding through reflection and projection. The recurrence matters: understanding is expressed and its expression remains open to evaluation.</a:t>
            </a:r>
          </a:p>
          <a:p xmlns:a="http://schemas.openxmlformats.org/drawingml/2006/main">
            <a:r>
              <a:t>[Sources]</a:t>
            </a:r>
          </a:p>
          <a:p xmlns:a="http://schemas.openxmlformats.org/drawingml/2006/main">
            <a:r>
              <a:t>- The Epistemology of Coexistence, §1.3</a:t>
            </a:r>
          </a:p>
          <a:p xmlns:a="http://schemas.openxmlformats.org/drawingml/2006/main">
            <a:r>
              <a:t>- KD §§3.12, 3.16–3.17, especially pp. 111–113</a:t>
            </a:r>
          </a:p>
          <a:p xmlns:a="http://schemas.openxmlformats.org/drawingml/2006/main">
            <a:r>
              <a:t>- MVD p. 290</a:t>
            </a:r>
          </a:p>
          <a:p xmlns:a="http://schemas.openxmlformats.org/drawingml/2006/main">
            <a:r>
              <a:t>- JV pp. 92–93</a:t>
            </a:r>
          </a:p>
          <a:p xmlns:a="http://schemas.openxmlformats.org/drawingml/2006/main">
            <a:r>
              <a:t>- SB p. 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Madhyasth Darshan connects the four jeevan values with harmony among neighbouring faculties, under the guidance of the higher faculties. Happiness arises when mun accords with vritti. Peace arises when vritti accords with chitta. Contentment arises when chitta accords with buddhi. Bliss arises when buddhi accords with realisation in atma.</a:t>
            </a:r>
          </a:p>
          <a:p xmlns:a="http://schemas.openxmlformats.org/drawingml/2006/main">
            <a:r>
              <a:t/>
            </a:r>
          </a:p>
          <a:p xmlns:a="http://schemas.openxmlformats.org/drawingml/2006/main">
            <a:r>
              <a:t>Buddhi's comprehension is the inward activity relevant here. Its resolve expresses that comprehension outwardly. Keeping these words distinct helps us follow the same faculties across the previous and next slides.</a:t>
            </a:r>
          </a:p>
          <a:p xmlns:a="http://schemas.openxmlformats.org/drawingml/2006/main">
            <a:r>
              <a:t/>
            </a:r>
          </a:p>
          <a:p xmlns:a="http://schemas.openxmlformats.org/drawingml/2006/main">
            <a:r>
              <a:t>Paramanand, or supreme bliss, is distinguished from these four relationships. It concerns atma's concurrence with all-pervasive Omnipresence in realisation. Material success cannot compensate for unresolved understanding, and private calm cannot replace just relationships. Slide 36 connects the four values with the human goals.</a:t>
            </a:r>
          </a:p>
          <a:p xmlns:a="http://schemas.openxmlformats.org/drawingml/2006/main">
            <a:r>
              <a:t>[Sources]</a:t>
            </a:r>
          </a:p>
          <a:p xmlns:a="http://schemas.openxmlformats.org/drawingml/2006/main">
            <a:r>
              <a:t>- The Epistemology of Coexistence, §§1.2–1.3</a:t>
            </a:r>
          </a:p>
          <a:p xmlns:a="http://schemas.openxmlformats.org/drawingml/2006/main">
            <a:r>
              <a:t>- MVD pp. 207–208, 327</a:t>
            </a:r>
          </a:p>
          <a:p xmlns:a="http://schemas.openxmlformats.org/drawingml/2006/main">
            <a:r>
              <a:t>- JV p. 137</a:t>
            </a:r>
          </a:p>
          <a:p xmlns:a="http://schemas.openxmlformats.org/drawingml/2006/main">
            <a:r>
              <a:t>- KD p. 112</a:t>
            </a:r>
          </a:p>
          <a:p xmlns:a="http://schemas.openxmlformats.org/drawingml/2006/main">
            <a:r>
              <a:t>- SB p. 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ten activities can be understood as five activities of state, expressed as force, and five activities of motion, expressed as power. This adds a functional distinction to the faculty account without adding more activities.</a:t>
            </a:r>
          </a:p>
          <a:p xmlns:a="http://schemas.openxmlformats.org/drawingml/2006/main">
            <a:r>
              <a:t/>
            </a:r>
          </a:p>
          <a:p xmlns:a="http://schemas.openxmlformats.org/drawingml/2006/main">
            <a:r>
              <a:t>In human living, hope, thought, desire, truth-resolve, and evidence name the characteristic powers of the five faculties. Their outward activities are selection, analysis, visualisation, resolve, and authenticity, as shown in the right-hand column. Their expression gives conduct evidential significance. A declared hope or a firm intention alone does not establish understanding. What the person chooses, how they fulfil relationships, what follows from their action, and whether they can convey understanding make these claims assessable.</a:t>
            </a:r>
          </a:p>
          <a:p xmlns:a="http://schemas.openxmlformats.org/drawingml/2006/main">
            <a:r>
              <a:t/>
            </a:r>
          </a:p>
          <a:p xmlns:a="http://schemas.openxmlformats.org/drawingml/2006/main">
            <a:r>
              <a:t>KD links reflection and projection with understanding and making understood, work, behaviour, and evaluation. That is the connection between the faculties and living evidence.</a:t>
            </a:r>
          </a:p>
          <a:p xmlns:a="http://schemas.openxmlformats.org/drawingml/2006/main">
            <a:r>
              <a:t>[Sources]</a:t>
            </a:r>
          </a:p>
          <a:p xmlns:a="http://schemas.openxmlformats.org/drawingml/2006/main">
            <a:r>
              <a:t>- The Epistemology of Coexistence, §1.3</a:t>
            </a:r>
          </a:p>
          <a:p xmlns:a="http://schemas.openxmlformats.org/drawingml/2006/main">
            <a:r>
              <a:t>- KD §3.6, pp. 70–71</a:t>
            </a:r>
          </a:p>
          <a:p xmlns:a="http://schemas.openxmlformats.org/drawingml/2006/main">
            <a:r>
              <a:t>- KD §3.12, pp. 111–113</a:t>
            </a:r>
          </a:p>
          <a:p xmlns:a="http://schemas.openxmlformats.org/drawingml/2006/main">
            <a:r>
              <a:t>- KD §3.16, p. 145</a:t>
            </a:r>
          </a:p>
          <a:p xmlns:a="http://schemas.openxmlformats.org/drawingml/2006/main">
            <a:r>
              <a:t>- SB p. 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human being is the joint form of jeevan and body. Madhyasth Darshan places knowing and evaluation in jeevan. The body provides sensory contact and the means to speak, move, work, and participate with other people.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The source describes signals between jeevan, the brain, and the bodily organs. This is its functional account of how understanding becomes expressed through an embodied person. A precise account of the interaction between jeevan and measured brain activity remains an open question.</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The Epistemology of Coexistence, §1.3</a:t>
            </a:r>
          </a:p>
          <a:p xmlns:a="http://schemas.openxmlformats.org/drawingml/2006/main">
            <a:pPr marL="0" indent="0" algn="l">
              <a:spcBef>
                <a:spcPts val="0"/>
              </a:spcBef>
              <a:spcAft>
                <a:spcPts val="0"/>
              </a:spcAft>
              <a:buNone/>
            </a:pPr>
            <a:r>
              <a:t>- MVD pp. 83–84, 200</a:t>
            </a:r>
          </a:p>
          <a:p xmlns:a="http://schemas.openxmlformats.org/drawingml/2006/main">
            <a:pPr marL="0" indent="0" algn="l">
              <a:spcBef>
                <a:spcPts val="0"/>
              </a:spcBef>
              <a:spcAft>
                <a:spcPts val="0"/>
              </a:spcAft>
              <a:buNone/>
            </a:pPr>
            <a:r>
              <a:t>- KD §3.16, pp. 141, 143</a:t>
            </a:r>
          </a:p>
          <a:p xmlns:a="http://schemas.openxmlformats.org/drawingml/2006/main">
            <a:pPr marL="0" indent="0" algn="l">
              <a:spcBef>
                <a:spcPts val="0"/>
              </a:spcBef>
              <a:spcAft>
                <a:spcPts val="0"/>
              </a:spcAft>
              <a:buNone/>
            </a:pPr>
            <a:r>
              <a:t>- JV pp. 59, 139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Cognisance is jeevan's capacity for knowing and accepting. It concerns relationships, values, purpose, and orderliness. Sensitivity is responsiveness through the body and senses.</a:t>
            </a:r>
          </a:p>
          <a:p xmlns:a="http://schemas.openxmlformats.org/drawingml/2006/main">
            <a:r>
              <a:t/>
            </a:r>
          </a:p>
          <a:p xmlns:a="http://schemas.openxmlformats.org/drawingml/2006/main">
            <a:r>
              <a:t>The primary texts recognise temporary sensory satisfaction. Eating something pleasant, for example, can satisfy a bodily or sensory need. The distinction concerns the continuous happiness jeevan seeks: repeated pleasant contact cannot provide that on its own.</a:t>
            </a:r>
          </a:p>
          <a:p xmlns:a="http://schemas.openxmlformats.org/drawingml/2006/main">
            <a:r>
              <a:t/>
            </a:r>
          </a:p>
          <a:p xmlns:a="http://schemas.openxmlformats.org/drawingml/2006/main">
            <a:r>
              <a:t>SB connects recognising and fulfilling with the balance of cognisance and sensitivity. Awakened understanding therefore guides the senses while retaining their necessary role in bodily life and action. We can now ask what governs a person's selection: pressure from sensations or understanding of purpose.</a:t>
            </a:r>
          </a:p>
          <a:p xmlns:a="http://schemas.openxmlformats.org/drawingml/2006/main">
            <a:r>
              <a:t>[Sources]</a:t>
            </a:r>
          </a:p>
          <a:p xmlns:a="http://schemas.openxmlformats.org/drawingml/2006/main">
            <a:r>
              <a:t>- The Epistemology of Coexistence, §1.3</a:t>
            </a:r>
          </a:p>
          <a:p xmlns:a="http://schemas.openxmlformats.org/drawingml/2006/main">
            <a:r>
              <a:t>- SB pp. 63–64</a:t>
            </a:r>
          </a:p>
          <a:p xmlns:a="http://schemas.openxmlformats.org/drawingml/2006/main">
            <a:r>
              <a:t>- MVD pp. 65–67</a:t>
            </a:r>
          </a:p>
          <a:p xmlns:a="http://schemas.openxmlformats.org/drawingml/2006/main">
            <a:r>
              <a:t>- KD pp. 66–67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Delusion concerns how an active jeevan understands itself and directs its activities. When the body is taken as the self, judgment remains governed by pleasure, bodily health, and material gain.</a:t>
            </a:r>
          </a:p>
          <a:p xmlns:a="http://schemas.openxmlformats.org/drawingml/2006/main">
            <a:r>
              <a:t/>
            </a:r>
          </a:p>
          <a:p xmlns:a="http://schemas.openxmlformats.org/drawingml/2006/main">
            <a:r>
              <a:t>The four-and-a-half activities are taste and selection in mun, analysis in vritti, visualisation in chitta, and the restricted half of deliberation in vritti. The half refers to the criteria that govern comparison. Justice, dharma, and truth have not yet become its guiding standards.</a:t>
            </a:r>
          </a:p>
          <a:p xmlns:a="http://schemas.openxmlformats.org/drawingml/2006/main">
            <a:r>
              <a:t/>
            </a:r>
          </a:p>
          <a:p xmlns:a="http://schemas.openxmlformats.org/drawingml/2006/main">
            <a:r>
              <a:t>MVD calls pressure on mun from bodily and sensory activity paranukram, or lower-conformance. In purvanukram, or higher-conformance, realisation in atma guides buddhi, chitta, vritti, and mun. Comprehension guides contemplation, contemplation guides deliberation, and deliberation guides selection. The source explicitly includes all four faculties antecedent to mun.</a:t>
            </a:r>
          </a:p>
          <a:p xmlns:a="http://schemas.openxmlformats.org/drawingml/2006/main">
            <a:r>
              <a:t/>
            </a:r>
          </a:p>
          <a:p xmlns:a="http://schemas.openxmlformats.org/drawingml/2006/main">
            <a:r>
              <a:t>In awakening, the person retains bodily needs and practical information about pleasure, health, and gain. Understanding places them under the guidance of justice, dharma, and truth.</a:t>
            </a:r>
          </a:p>
          <a:p xmlns:a="http://schemas.openxmlformats.org/drawingml/2006/main">
            <a:r>
              <a:t>[Sources]</a:t>
            </a:r>
          </a:p>
          <a:p xmlns:a="http://schemas.openxmlformats.org/drawingml/2006/main">
            <a:r>
              <a:t>- The Epistemology of Coexistence, §1.3</a:t>
            </a:r>
          </a:p>
          <a:p xmlns:a="http://schemas.openxmlformats.org/drawingml/2006/main">
            <a:r>
              <a:t>- JV pp. 72–74, 92–93</a:t>
            </a:r>
          </a:p>
          <a:p xmlns:a="http://schemas.openxmlformats.org/drawingml/2006/main">
            <a:r>
              <a:t>- KD §3.17, p. 147</a:t>
            </a:r>
          </a:p>
          <a:p xmlns:a="http://schemas.openxmlformats.org/drawingml/2006/main">
            <a:r>
              <a:t>- MVD pp. 207–208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vishayas concern eating, sleeping, protection, and mating. The five sensory modalities concern sound, touch, visible form, taste, and smell. The propensities are engaged through these channels. Human bodily life continues to require nourishment, rest, protection, and continuity.</a:t>
            </a:r>
          </a:p>
          <a:p xmlns:a="http://schemas.openxmlformats.org/drawingml/2006/main">
            <a:r>
              <a:t/>
            </a:r>
          </a:p>
          <a:p xmlns:a="http://schemas.openxmlformats.org/drawingml/2006/main">
            <a:r>
              <a:t>Consider a family planning a shared meal. They choose a tasty, affordable dinner without checking each person's food needs, who has agreed to cook and clean, or how much food is needed. One family member's needs are overlooked. Another faces unexpected work. Too much food is prepared, and some is wasted.</a:t>
            </a:r>
          </a:p>
          <a:p xmlns:a="http://schemas.openxmlformats.org/drawingml/2006/main">
            <a:r>
              <a:t/>
            </a:r>
          </a:p>
          <a:p xmlns:a="http://schemas.openxmlformats.org/drawingml/2006/main">
            <a:r>
              <a:t>The example begins with a legitimate bodily need and ordinary sensory enjoyment. It also involves relationships, the allocation of work, and the use of resources. On slide 24 we will use the six evaluative perspectives to examine the same decision. Later slides follow the action into its results and correction.</a:t>
            </a:r>
          </a:p>
          <a:p xmlns:a="http://schemas.openxmlformats.org/drawingml/2006/main">
            <a:r>
              <a:t/>
            </a:r>
          </a:p>
          <a:p xmlns:a="http://schemas.openxmlformats.org/drawingml/2006/main">
            <a:r>
              <a:t>This family meal is our illustration of the framework, not an example quoted from Nagraj.</a:t>
            </a:r>
          </a:p>
          <a:p xmlns:a="http://schemas.openxmlformats.org/drawingml/2006/main">
            <a:r>
              <a:t>[Sources]</a:t>
            </a:r>
          </a:p>
          <a:p xmlns:a="http://schemas.openxmlformats.org/drawingml/2006/main">
            <a:r>
              <a:t>- The Epistemology of Coexistence, §1.4</a:t>
            </a:r>
          </a:p>
          <a:p xmlns:a="http://schemas.openxmlformats.org/drawingml/2006/main">
            <a:r>
              <a:t>- MVD pp. 58, 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three eshanas already have humane purposes in Nagraj's definitions. Putreshana concerns family and social continuity. Vitteshana concerns wealth acquired with justice for right use. Lokeshana concerns recognition through justice, dharma, and participation in undivided society.</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These definitions connect the motives with responsibility. Education of the next generation is an application of the progeny motive. Providing enough for the family through productive work expresses the wealth motive. Contributing to society and earning recognition through that contribution expresses the reputation motive.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MVD distinguishes the longer-lasting intellectual satisfaction associated with resolution and these motives from temporary sensory satisfaction. It separately identifies lasting satisfaction in realisation. The distinctions explain how bodily, social, and conscious purposes belong together in human living.</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The Epistemology of Coexistence, §1.4</a:t>
            </a:r>
          </a:p>
          <a:p xmlns:a="http://schemas.openxmlformats.org/drawingml/2006/main">
            <a:pPr marL="0" indent="0" algn="l">
              <a:spcBef>
                <a:spcPts val="0"/>
              </a:spcBef>
              <a:spcAft>
                <a:spcPts val="0"/>
              </a:spcAft>
              <a:buNone/>
            </a:pPr>
            <a:r>
              <a:t>- MVD pp. 64–66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MVD defines upakar as help and inspiration for another person's prosperity and awakening. It is a higher-human activity, distinct from the bodily propensities and the three eshanas.</a:t>
            </a:r>
          </a:p>
          <a:p xmlns:a="http://schemas.openxmlformats.org/drawingml/2006/main">
            <a:r>
              <a:t/>
            </a:r>
          </a:p>
          <a:p xmlns:a="http://schemas.openxmlformats.org/drawingml/2006/main">
            <a:r>
              <a:t>KD connects beneficence with making understood what one understands, teaching what one has learned, and enabling others to do what one can do. It also connects social contribution with a family that has resolution and prosperity. The giver shares an already-developed capability so that the recipient can develop understanding and practical ability.</a:t>
            </a:r>
          </a:p>
          <a:p xmlns:a="http://schemas.openxmlformats.org/drawingml/2006/main">
            <a:r>
              <a:t/>
            </a:r>
          </a:p>
          <a:p xmlns:a="http://schemas.openxmlformats.org/drawingml/2006/main">
            <a:r>
              <a:t>This gives help a clear purpose: another person's growing ability to understand and participate, with mutual respect. Upakar belongs within the wider evidence of understanding. One helpful act alone cannot establish the whole of a person's knowledge.</a:t>
            </a:r>
          </a:p>
          <a:p xmlns:a="http://schemas.openxmlformats.org/drawingml/2006/main">
            <a:r>
              <a:t>[Sources]</a:t>
            </a:r>
          </a:p>
          <a:p xmlns:a="http://schemas.openxmlformats.org/drawingml/2006/main">
            <a:r>
              <a:t>- The Epistemology of Coexistence, §1.4</a:t>
            </a:r>
          </a:p>
          <a:p xmlns:a="http://schemas.openxmlformats.org/drawingml/2006/main">
            <a:r>
              <a:t>- MVD p. 73</a:t>
            </a:r>
          </a:p>
          <a:p xmlns:a="http://schemas.openxmlformats.org/drawingml/2006/main">
            <a:r>
              <a:t>- KD p. 87; §3.12, pp. 116–117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family meal. The family chose a dinner for its taste and price before checking food needs, shared work, or quantity. The six perspectives help us examine what their judgment included and what it missed.</a:t>
            </a:r>
          </a:p>
          <a:p xmlns:a="http://schemas.openxmlformats.org/drawingml/2006/main">
            <a:r>
              <a:t/>
            </a:r>
          </a:p>
          <a:p xmlns:a="http://schemas.openxmlformats.org/drawingml/2006/main">
            <a:r>
              <a:t>Priya–apriya asks about sensory pleasure: will the meal be enjoyable? Hita–ahita asks about bodily well-being: does the food meet each person's needs? Labha–alabha asks about goods, services, and material result: are the cost, quantity, and use of food sensible?</a:t>
            </a:r>
          </a:p>
          <a:p xmlns:a="http://schemas.openxmlformats.org/drawingml/2006/main">
            <a:r>
              <a:t/>
            </a:r>
          </a:p>
          <a:p xmlns:a="http://schemas.openxmlformats.org/drawingml/2006/main">
            <a:r>
              <a:t>Nyaya–anyaya concerns the relationships. Was each person recognised and heard? Was cooking and cleaning discussed, and did those involved agree to their responsibilities? Agreement matters, together with the fulfilment of relationship values and actual needs.</a:t>
            </a:r>
          </a:p>
          <a:p xmlns:a="http://schemas.openxmlformats.org/drawingml/2006/main">
            <a:r>
              <a:t/>
            </a:r>
          </a:p>
          <a:p xmlns:a="http://schemas.openxmlformats.org/drawingml/2006/main">
            <a:r>
              <a:t>Dharma–adharma concerns resolution and orderly participation. Does the plan allow everyone to contribute and be nourished without leaving avoidable conflict or waste? This applies the wider aim of all-round resolution to a particular household decision.</a:t>
            </a:r>
          </a:p>
          <a:p xmlns:a="http://schemas.openxmlformats.org/drawingml/2006/main">
            <a:r>
              <a:t/>
            </a:r>
          </a:p>
          <a:p xmlns:a="http://schemas.openxmlformats.org/drawingml/2006/main">
            <a:r>
              <a:t>Satya–asatya asks whether judgment accords with understood reality. In the source account its reference is realisation in existence. Here the family examines whether its judgment follows what it understands about persons, bodily needs, relationships, and mutual dependence. A successful meal illustrates the application of understanding. It does not establish the ontology of jeevan or coexistence.</a:t>
            </a:r>
          </a:p>
          <a:p xmlns:a="http://schemas.openxmlformats.org/drawingml/2006/main">
            <a:r>
              <a:t/>
            </a:r>
          </a:p>
          <a:p xmlns:a="http://schemas.openxmlformats.org/drawingml/2006/main">
            <a:r>
              <a:t>The first three perspectives provide useful information. Justice, dharma, and truth govern its use. In the later action and evaluation slides, we will return to the overlooked family member, unexpected work, and wasted food to see how the family can correct its decision.</a:t>
            </a:r>
          </a:p>
          <a:p xmlns:a="http://schemas.openxmlformats.org/drawingml/2006/main">
            <a:r>
              <a:t/>
            </a:r>
          </a:p>
          <a:p xmlns:a="http://schemas.openxmlformats.org/drawingml/2006/main">
            <a:r>
              <a:t>These perspectives support humane conduct through values in relationships, character, and ethics. Character includes righteous wealth, marital faithfulness, and compassionate conduct. Ethics concerns the protection and right use of body, mind, and wealth through dharma, artha, and rajya neeti.</a:t>
            </a:r>
          </a:p>
          <a:p xmlns:a="http://schemas.openxmlformats.org/drawingml/2006/main">
            <a:r>
              <a:t>[Sources]</a:t>
            </a:r>
          </a:p>
          <a:p xmlns:a="http://schemas.openxmlformats.org/drawingml/2006/main">
            <a:r>
              <a:t>- The Epistemology of Coexistence, §§1.4–1.5</a:t>
            </a:r>
          </a:p>
          <a:p xmlns:a="http://schemas.openxmlformats.org/drawingml/2006/main">
            <a:r>
              <a:t>- MVD pp. 66–67, 126–127</a:t>
            </a:r>
          </a:p>
          <a:p xmlns:a="http://schemas.openxmlformats.org/drawingml/2006/main">
            <a:r>
              <a:t>- KD §3.4, p. 67</a:t>
            </a:r>
          </a:p>
          <a:p xmlns:a="http://schemas.openxmlformats.org/drawingml/2006/main">
            <a:r>
              <a:t>- Shared meal: illustrative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MVD defines niyam, or law, as the way activity is protected and disciplined. Niyantran is regulation according to law. Santulan is the balance sustained through that regulation in mutual relationships. These describe the general order of activity.</a:t>
            </a:r>
          </a:p>
          <a:p xmlns:a="http://schemas.openxmlformats.org/drawingml/2006/main">
            <a:r>
              <a:t/>
            </a:r>
          </a:p>
          <a:p xmlns:a="http://schemas.openxmlformats.org/drawingml/2006/main">
            <a:r>
              <a:t>Page 174 then connects this order with human living. Balanced living is justice. Living justly within universal order is dharma, or resolution. Realisation in coexistence is dharma and truth. Page 137 separately connects justice with behaviour, dharma with thought, and truth with realisation. The sequence supports these relationships without making law equal justice, regulation equal dharma, and balance equal truth.</a:t>
            </a:r>
          </a:p>
          <a:p xmlns:a="http://schemas.openxmlformats.org/drawingml/2006/main">
            <a:r>
              <a:t/>
            </a:r>
          </a:p>
          <a:p xmlns:a="http://schemas.openxmlformats.org/drawingml/2006/main">
            <a:r>
              <a:t>In the meal example, the family applies understanding through a practical plan: it checks needs, agrees responsibilities, and prepares a suitable quantity. These are human applications of informed regulation and participation. They help us discuss order in living without making a household agreement the definition of natural law.</a:t>
            </a:r>
          </a:p>
          <a:p xmlns:a="http://schemas.openxmlformats.org/drawingml/2006/main">
            <a:r>
              <a:t>[Sources]</a:t>
            </a:r>
          </a:p>
          <a:p xmlns:a="http://schemas.openxmlformats.org/drawingml/2006/main">
            <a:r>
              <a:t>- The Epistemology of Coexistence, §1.4 and Editorial Notes</a:t>
            </a:r>
          </a:p>
          <a:p xmlns:a="http://schemas.openxmlformats.org/drawingml/2006/main">
            <a:r>
              <a:t>- MVD pp. 70, 137, 174</a:t>
            </a:r>
          </a:p>
          <a:p xmlns:a="http://schemas.openxmlformats.org/drawingml/2006/main">
            <a:r>
              <a:t>- Shared meal: illustrative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closing movement follows understanding into relationship, karma, result, evaluation, and transmission. It then introduces the study's critical questions about Madhyasth Darshan: what does conduct show, and which claims need further kinds of evidence? Section 7 belongs to this study's analysis; these questions should not be attributed to Nagraj as his own list of limitations.</a:t>
            </a:r>
          </a:p>
          <a:p xmlns:a="http://schemas.openxmlformats.org/drawingml/2006/main">
            <a:r>
              <a:t/>
            </a:r>
          </a:p>
          <a:p xmlns:a="http://schemas.openxmlformats.org/drawingml/2006/main">
            <a:r>
              <a:t>[Sources]</a:t>
            </a:r>
          </a:p>
          <a:p xmlns:a="http://schemas.openxmlformats.org/drawingml/2006/main">
            <a:r>
              <a:t>- The Epistemology of Coexistence, §§1.5–1.6 and §7</a:t>
            </a:r>
          </a:p>
          <a:p xmlns:a="http://schemas.openxmlformats.org/drawingml/2006/main">
            <a:r>
              <a:t>- MVD p.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MVD p. 12 formulation: “Realisation – Behaviour – Experiment. Realisation itself is the ultimate evidence, Evidence itself is the understanding or knowledge, Understanding itself is manifest, The manifest itself is resolution, work and behaviour, Work and behaviour itself is evidence, Evidence itself is awakened tradition, Awakened tradition itself is coexistence.”</a:t>
            </a:r>
          </a:p>
          <a:p xmlns:a="http://schemas.openxmlformats.org/drawingml/2006/main">
            <a:r>
              <a:t/>
            </a:r>
          </a:p>
          <a:p xmlns:a="http://schemas.openxmlformats.org/drawingml/2006/main">
            <a:r>
              <a:t>The slide condenses this chain. Realisation names inward understanding; behaviour makes its relational meaning evident; experiment and work place it in contact with material conditions and results. Experiment includes productive and lived participation, as well as controlled procedures. First-person understanding, relationships with others, and publicly observable results must cohere. These perspectives help explain the evidence account; they do not make success in one domain establish every claim in another. The study returns to that limit on slide 34.</a:t>
            </a:r>
          </a:p>
          <a:p xmlns:a="http://schemas.openxmlformats.org/drawingml/2006/main">
            <a:r>
              <a:t/>
            </a:r>
          </a:p>
          <a:p xmlns:a="http://schemas.openxmlformats.org/drawingml/2006/main">
            <a:r>
              <a:t>[Sources]</a:t>
            </a:r>
          </a:p>
          <a:p xmlns:a="http://schemas.openxmlformats.org/drawingml/2006/main">
            <a:r>
              <a:t>- MVD p. 12</a:t>
            </a:r>
          </a:p>
          <a:p xmlns:a="http://schemas.openxmlformats.org/drawingml/2006/main">
            <a:r>
              <a:t>- SB pp. 44, 111, 121, 149</a:t>
            </a:r>
          </a:p>
          <a:p xmlns:a="http://schemas.openxmlformats.org/drawingml/2006/main">
            <a:r>
              <a:t>- The Epistemology of Coexistence, §1.6 and §7.6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fulfilment must be evaluated. Knowing, accepting, recognising, and fulfilling form the account of human activity discussed here; adding evaluation to the teaching diagram does not introduce a new canonical five-activity taxonomy. Acceptance can begin in inherited belief or an individually formed assumption. The task is to understand what is accepted and let that understanding guide living.</a:t>
            </a:r>
          </a:p>
          <a:p xmlns:a="http://schemas.openxmlformats.org/drawingml/2006/main">
            <a:r>
              <a:t/>
            </a:r>
          </a:p>
          <a:p xmlns:a="http://schemas.openxmlformats.org/drawingml/2006/main">
            <a:r>
              <a:t>Return to the shared family meal. The organiser chooses a tasty, affordable dinner and assumes it will suit everyone. No one checks dietary needs, agrees who will prepare and clean up, or estimates the quantity. A good intention therefore starts with incomplete recognition of the people, their needs, and the work involved. Justice requires recognising the relationship, fulfilling its values, evaluating what happened, and arriving at mutual satisfaction. Mutual satisfaction is the relational outcome, not an additional internal jeevan value.</a:t>
            </a:r>
          </a:p>
          <a:p xmlns:a="http://schemas.openxmlformats.org/drawingml/2006/main">
            <a:r>
              <a:t/>
            </a:r>
          </a:p>
          <a:p xmlns:a="http://schemas.openxmlformats.org/drawingml/2006/main">
            <a:r>
              <a:t>Ask what each person needs and what each has agreed and is able to do. Fulfilment also depends on skills, resources, other people, and conditions. Do not infer either complete understanding or its absence solely from the organiser's intention; examine the action and result on the next two slides.</a:t>
            </a:r>
          </a:p>
          <a:p xmlns:a="http://schemas.openxmlformats.org/drawingml/2006/main">
            <a:r>
              <a:t/>
            </a:r>
          </a:p>
          <a:p xmlns:a="http://schemas.openxmlformats.org/drawingml/2006/main">
            <a:r>
              <a:t>[Sources]</a:t>
            </a:r>
          </a:p>
          <a:p xmlns:a="http://schemas.openxmlformats.org/drawingml/2006/main">
            <a:r>
              <a:t>- MVD pp. 12, 310–311</a:t>
            </a:r>
          </a:p>
          <a:p xmlns:a="http://schemas.openxmlformats.org/drawingml/2006/main">
            <a:r>
              <a:t>- JV p. 54</a:t>
            </a:r>
          </a:p>
          <a:p xmlns:a="http://schemas.openxmlformats.org/drawingml/2006/main">
            <a:r>
              <a:t>- SB p. 64</a:t>
            </a:r>
          </a:p>
          <a:p xmlns:a="http://schemas.openxmlformats.org/drawingml/2006/main">
            <a:r>
              <a:t>- The Epistemology of Coexistence, §1.5</a:t>
            </a:r>
          </a:p>
          <a:p xmlns:a="http://schemas.openxmlformats.org/drawingml/2006/main">
            <a:r>
              <a:t>- Shared-family-meal case: teaching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KD describes karma as activity animated by aspiration and identifies five components: doer, cause, objective, result, and effect. The three main cards make the movement easy to follow; the side list retains the fuller account.</a:t>
            </a:r>
          </a:p>
          <a:p xmlns:a="http://schemas.openxmlformats.org/drawingml/2006/main">
            <a:r>
              <a:t/>
            </a:r>
          </a:p>
          <a:p xmlns:a="http://schemas.openxmlformats.org/drawingml/2006/main">
            <a:r>
              <a:t>In the meal case, the doers are the family members who plan, prepare, and share the meal. The need for nourishment and shared living occasions the action. The objective is a satisfying meal that meets everyone's needs through agreed work. Choosing ingredients, preparing food, serving, and cleaning up are the activities and means. The result includes whether people could eat adequately and whether the work was completed. Its wider effects include trust or frustration, the burden on particular family members, and food waste.</a:t>
            </a:r>
          </a:p>
          <a:p xmlns:a="http://schemas.openxmlformats.org/drawingml/2006/main">
            <a:r>
              <a:t/>
            </a:r>
          </a:p>
          <a:p xmlns:a="http://schemas.openxmlformats.org/drawingml/2006/main">
            <a:r>
              <a:t>The original tasty, affordable choice did not check needs, agree responsibilities, or assess quantities. Someone's dietary need is overlooked, another person takes on unexpected work, and excess food is wasted. The accepted aim therefore cannot stand in for evidence of its fulfilment. Capacity, means, other people, and circumstances mediate what happens. This case illustrates how to examine action and consequence; it is not evidence for the proposed constitution of jeevan.</a:t>
            </a:r>
          </a:p>
          <a:p xmlns:a="http://schemas.openxmlformats.org/drawingml/2006/main">
            <a:r>
              <a:t/>
            </a:r>
          </a:p>
          <a:p xmlns:a="http://schemas.openxmlformats.org/drawingml/2006/main">
            <a:r>
              <a:t>[Sources]</a:t>
            </a:r>
          </a:p>
          <a:p xmlns:a="http://schemas.openxmlformats.org/drawingml/2006/main">
            <a:r>
              <a:t>- KD Ch. 1, pp. 1–2</a:t>
            </a:r>
          </a:p>
          <a:p xmlns:a="http://schemas.openxmlformats.org/drawingml/2006/main">
            <a:r>
              <a:t>- The Epistemology of Coexistence, §1.5</a:t>
            </a:r>
          </a:p>
          <a:p xmlns:a="http://schemas.openxmlformats.org/drawingml/2006/main">
            <a:r>
              <a:t>- Shared-family-meal case: teaching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Continue the same meal rather than introducing a new example. Evaluation asks whose needs were missed, who carried work they had not agreed to, and why food remained unused. Praise for taste and low cost does not answer these questions. Over-evaluation would rate the whole meal as successful because it was tasty. Under-evaluation would dismiss useful work that was actually done. Mis-evaluation would judge success only by low spending while overlooking nourishment, agreed responsibilities, and waste.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Revise the plan together: ask about dietary needs, agree tasks in light of people's time and ability, estimate portions, and plan how remaining food will be used. Try the revised plan and check again whether people ate adequately, the agreed work was manageable, and waste decreased. Invite each person's account; apparent agreement alone does not settle mutual satisfaction.</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Repeated reflection and practice cultivate sanskar: acceptances, understanding, tendencies, and actions directed toward completeness. Family, teachers, education, and social conditions help form these dispositions; sanskar is not only a private memory of one corrected decision. MVD links its development with environment, study, and endeavour, and distinguishes cultivation toward awakening (susanskar) from delusion-shaped tendencies (kusanskar). The meal illustrates this learning process, without proving a metaphysical account of the knower.</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MVD pp. 90, 263–264, 290, 315</a:t>
            </a:r>
          </a:p>
          <a:p xmlns:a="http://schemas.openxmlformats.org/drawingml/2006/main">
            <a:pPr marL="0" indent="0" algn="l">
              <a:spcBef>
                <a:spcPts val="0"/>
              </a:spcBef>
              <a:spcAft>
                <a:spcPts val="0"/>
              </a:spcAft>
              <a:buNone/>
            </a:pPr>
            <a:r>
              <a:t>- KD Ch. 1</a:t>
            </a:r>
          </a:p>
          <a:p xmlns:a="http://schemas.openxmlformats.org/drawingml/2006/main">
            <a:pPr marL="0" indent="0" algn="l">
              <a:spcBef>
                <a:spcPts val="0"/>
              </a:spcBef>
              <a:spcAft>
                <a:spcPts val="0"/>
              </a:spcAft>
              <a:buNone/>
            </a:pPr>
            <a:r>
              <a:t>- The Epistemology of Coexistence, §1.5</a:t>
            </a:r>
          </a:p>
          <a:p xmlns:a="http://schemas.openxmlformats.org/drawingml/2006/main">
            <a:pPr marL="0" indent="0" algn="l">
              <a:spcBef>
                <a:spcPts val="0"/>
              </a:spcBef>
              <a:spcAft>
                <a:spcPts val="0"/>
              </a:spcAft>
              <a:buNone/>
            </a:pPr>
            <a:r>
              <a:t>- Shared-family-meal case: teaching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brings together three related problems for teaching; it does not introduce a new canonical list. Delusion identifies jeevan with the body and makes sensory satisfaction the governing aim. False learning misconceives the object or meaning being studied and can sustain errors in evaluation. Doubt can prompt inquiry; the diagram shows a possible course of error and correction, not a claim that every doubt is itself a failure.</a:t>
            </a:r>
          </a:p>
          <a:p xmlns:a="http://schemas.openxmlformats.org/drawingml/2006/main">
            <a:r>
              <a:t/>
            </a:r>
          </a:p>
          <a:p xmlns:a="http://schemas.openxmlformats.org/drawingml/2006/main">
            <a:r>
              <a:t>MVD defines intellectual mystery through contradiction between faculties: mun does not find guidance in vritti, vritti in chitta, and chitta in buddhi. In plain language, selection is not guided by considered judgment, judgment by contemplated meaning, and contemplation by comprehension. This is more precise than defining the term simply as an absence of outward evidence.</a:t>
            </a:r>
          </a:p>
          <a:p xmlns:a="http://schemas.openxmlformats.org/drawingml/2006/main">
            <a:r>
              <a:t/>
            </a:r>
          </a:p>
          <a:p xmlns:a="http://schemas.openxmlformats.org/drawingml/2006/main">
            <a:r>
              <a:t>MVD pp. 280–282 describes exploration and the path of following, emulation, and study, accomplished through practice and behaviour. Following just conduct and sustaining resolved thought belong to this learning process. Correction therefore involves attention, understanding, practice, and evaluation of actual living. The family-meal case supplies one modest example of examining an assumption and changing conduct.</a:t>
            </a:r>
          </a:p>
          <a:p xmlns:a="http://schemas.openxmlformats.org/drawingml/2006/main">
            <a:r>
              <a:t/>
            </a:r>
          </a:p>
          <a:p xmlns:a="http://schemas.openxmlformats.org/drawingml/2006/main">
            <a:r>
              <a:t>[Sources]</a:t>
            </a:r>
          </a:p>
          <a:p xmlns:a="http://schemas.openxmlformats.org/drawingml/2006/main">
            <a:r>
              <a:t>- JV p. 93</a:t>
            </a:r>
          </a:p>
          <a:p xmlns:a="http://schemas.openxmlformats.org/drawingml/2006/main">
            <a:r>
              <a:t>- MVD pp. 184, 209, 263–264, 279–282, 317</a:t>
            </a:r>
          </a:p>
          <a:p xmlns:a="http://schemas.openxmlformats.org/drawingml/2006/main">
            <a:r>
              <a:t>- The Epistemology of Coexistence, §§1.5–1.6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KD printed p. 20 distinguishes methods of apprehension from its levels. Pratyaksha, direct perception, is the realisation of continuous proximity. Anuman, inference, recognises the possibility of such continuity. Agama-kriya, testimony-activity, concerns existence beyond what immediate proximity alone establishes. It should not be silently equated with contemplation leading to realisation.</a:t>
            </a:r>
          </a:p>
          <a:p xmlns:a="http://schemas.openxmlformats.org/drawingml/2006/main">
            <a:r>
              <a:t/>
            </a:r>
          </a:p>
          <a:p xmlns:a="http://schemas.openxmlformats.org/drawingml/2006/main">
            <a:r>
              <a:t>Direct perception operates at gross, subtle, and causal levels; inference and testimony-activity likewise have all three forms. Gross apprehension concerns form and properties (roop and guna); subtle apprehension, properties and essential nature (guna and swabhav); causal apprehension, essential nature and dharma (swabhav and dharma). KD relates these levels to ordinary, special, and particular intellectual capacities. It does not assign one method exclusively to one level.</a:t>
            </a:r>
          </a:p>
          <a:p xmlns:a="http://schemas.openxmlformats.org/drawingml/2006/main">
            <a:r>
              <a:t/>
            </a:r>
          </a:p>
          <a:p xmlns:a="http://schemas.openxmlformats.org/drawingml/2006/main">
            <a:r>
              <a:t>Sensory contact, indriya-sannikarsha, is bodily contact through the senses discussed on slide 21. It provides an occasion for cognition but is not the whole meaning of pratyaksha or complete knowledge. Sakshatkar is direct apprehension of meaning in chitta. Bodh is comprehension in buddhi: in the learner, apprehension is followed by acceptance of justice, dharma, and truth. Resolve is buddhi's outward expression, rather than a substitute definition for comprehension. Anubhav is realisation in atma; this understanding becomes evident in thought, conduct, work, and transmission.</a:t>
            </a:r>
          </a:p>
          <a:p xmlns:a="http://schemas.openxmlformats.org/drawingml/2006/main">
            <a:r>
              <a:t/>
            </a:r>
          </a:p>
          <a:p xmlns:a="http://schemas.openxmlformats.org/drawingml/2006/main">
            <a:r>
              <a:t>[Sources]</a:t>
            </a:r>
          </a:p>
          <a:p xmlns:a="http://schemas.openxmlformats.org/drawingml/2006/main">
            <a:r>
              <a:t>- KD pp. 20–21</a:t>
            </a:r>
          </a:p>
          <a:p xmlns:a="http://schemas.openxmlformats.org/drawingml/2006/main">
            <a:r>
              <a:t>- MVD pp. 35, 98–99</a:t>
            </a:r>
          </a:p>
          <a:p xmlns:a="http://schemas.openxmlformats.org/drawingml/2006/main">
            <a:r>
              <a:t>- SB p. 63</a:t>
            </a:r>
          </a:p>
          <a:p xmlns:a="http://schemas.openxmlformats.org/drawingml/2006/main">
            <a:r>
              <a:t>- The Epistemology of Coexistence, §§1.3 and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MVD p. 88 gives three broad phases: study (adhyayan); experiment and practice (prayog and abhyas); and realisation with evidence (anubhav-praman). The four boxes expand that account for teaching by making apprehension and comprehension visible. They are not a separate canonical ladder, and hearing correct words does not guarantee completed understanding.</a:t>
            </a:r>
          </a:p>
          <a:p xmlns:a="http://schemas.openxmlformats.org/drawingml/2006/main">
            <a:r>
              <a:t/>
            </a:r>
          </a:p>
          <a:p xmlns:a="http://schemas.openxmlformats.org/drawingml/2006/main">
            <a:r>
              <a:t>The learner receives a proposal (prastav) through attentive listening and reading (shravan), then reflects on its meaning (manan). The human thirst for understanding motivates this inquiry. Natural Acceptance (sahaj swikriti), as used in this study, names the aspiration to understand and live harmoniously. It is not an additional proof or an independent test of a proposition's truth. Reasoning, experiment, practice, and verification in living examine the proposal.</a:t>
            </a:r>
          </a:p>
          <a:p xmlns:a="http://schemas.openxmlformats.org/drawingml/2006/main">
            <a:r>
              <a:t/>
            </a:r>
          </a:p>
          <a:p xmlns:a="http://schemas.openxmlformats.org/drawingml/2006/main">
            <a:r>
              <a:t>Three forms of practice support this process: literature-practice (shastra-abhyas), behavioural practice (vyavahara-abhyas), and work practice (karma-abhyas). These are fields of practice, distinct from the three broad phases. Study clarifies meanings; relationships test recognition and fulfilment of values; productive work tests understanding in material conditions.</a:t>
            </a:r>
          </a:p>
          <a:p xmlns:a="http://schemas.openxmlformats.org/drawingml/2006/main">
            <a:r>
              <a:t/>
            </a:r>
          </a:p>
          <a:p xmlns:a="http://schemas.openxmlformats.org/drawingml/2006/main">
            <a:r>
              <a:t>In realization-oriented comprehension (anubhav-gami bodh), the teacher's expression guides the learner toward direct apprehension in chitta and acceptance of justice, dharma, and truth in buddhi. In realization-based comprehension (anubhav-mulak bodh), realisation in atma grounds continuing comprehension, resolve, contemplation, thought, conduct, and teaching. Understanding must become independently explainable and liveable. The study also asks how a learner can question a teacher and correct failed transmission; the next slide keeps that question open.</a:t>
            </a:r>
          </a:p>
          <a:p xmlns:a="http://schemas.openxmlformats.org/drawingml/2006/main">
            <a:r>
              <a:t/>
            </a:r>
          </a:p>
          <a:p xmlns:a="http://schemas.openxmlformats.org/drawingml/2006/main">
            <a:r>
              <a:t>[Sources]</a:t>
            </a:r>
          </a:p>
          <a:p xmlns:a="http://schemas.openxmlformats.org/drawingml/2006/main">
            <a:r>
              <a:t>- MVD pp. 88, 98–99, 143–144</a:t>
            </a:r>
          </a:p>
          <a:p xmlns:a="http://schemas.openxmlformats.org/drawingml/2006/main">
            <a:r>
              <a:t>- KD pp. 112–113</a:t>
            </a:r>
          </a:p>
          <a:p xmlns:a="http://schemas.openxmlformats.org/drawingml/2006/main">
            <a:r>
              <a:t>- JV p. 25</a:t>
            </a:r>
          </a:p>
          <a:p xmlns:a="http://schemas.openxmlformats.org/drawingml/2006/main">
            <a:r>
              <a:t>- The Epistemology of Coexistence, §1.6 and §7.5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study's critical questions about Madhyasth Darshan. They are not a list of limitations stated by Nagraj in the primary texts. The study takes the evidence account seriously and asks how its claims can be assessed across different domains.</a:t>
            </a:r>
          </a:p>
          <a:p xmlns:a="http://schemas.openxmlformats.org/drawingml/2006/main">
            <a:r>
              <a:t/>
            </a:r>
          </a:p>
          <a:p xmlns:a="http://schemas.openxmlformats.org/drawingml/2006/main">
            <a:r>
              <a:t>Conduct can provide evidence about relationships, resolution, and humane participation. Claims about physical processes, neural causation, or post-death continuity need independent criteria and public tests suited to those claims. Success in one domain cannot replace missing evidence in another. Mixed cases include sound conduct with disputed metaphysics, contemplative certainty with failed prediction, and successful production with unjust relationships.</a:t>
            </a:r>
          </a:p>
          <a:p xmlns:a="http://schemas.openxmlformats.org/drawingml/2006/main">
            <a:r>
              <a:t/>
            </a:r>
          </a:p>
          <a:p xmlns:a="http://schemas.openxmlformats.org/drawingml/2006/main">
            <a:r>
              <a:t>The study also asks how to distinguish restraint from repression, prosperity from accumulation, beneficence from dependency, mutual satisfaction from mere agreement, and stable faculty harmony from temporary positive feeling. Illness, scarcity, refusal, and circumstances outside one person's control complicate evaluation.</a:t>
            </a:r>
          </a:p>
          <a:p xmlns:a="http://schemas.openxmlformats.org/drawingml/2006/main">
            <a:r>
              <a:t/>
            </a:r>
          </a:p>
          <a:p xmlns:a="http://schemas.openxmlformats.org/drawingml/2006/main">
            <a:r>
              <a:t>Transmission raises a further question: how can learners challenge a respected teacher, identify failed transmission, and correct error without assuming the teacher is already right? Safeguards for disagreement and authority error remain necessary. The shared meal illustrates a small practice of correction: hear each participant, compare intention with result, revise the plan, and check again. Its success would not settle the philosophy's claims about jeevan.</a:t>
            </a:r>
          </a:p>
          <a:p xmlns:a="http://schemas.openxmlformats.org/drawingml/2006/main">
            <a:r>
              <a:t/>
            </a:r>
          </a:p>
          <a:p xmlns:a="http://schemas.openxmlformats.org/drawingml/2006/main">
            <a:r>
              <a:t>[Sources]</a:t>
            </a:r>
          </a:p>
          <a:p xmlns:a="http://schemas.openxmlformats.org/drawingml/2006/main">
            <a:r>
              <a:t>- The Epistemology of Coexistence, §§7.1–7.7: the study's critical assessment</a:t>
            </a:r>
          </a:p>
          <a:p xmlns:a="http://schemas.openxmlformats.org/drawingml/2006/main">
            <a:r>
              <a:t>- The Epistemology of Coexistence, §1.6: the evidence and transmission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Return to the six opening questions as Madhyasth Darshan's answers. Knowledge concerns coexistence, jeevan, and humane conduct; jeevan is the active knower; understanding guides embodied life and becomes evident in conduct, work, results, and transmission.</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The shared meal has illustrated one part of that practical account: assumptions become visible through action, consequences invite evaluation, and learning changes the next plan. It does not establish the ontology of jeevan or the full claim of awakening. The study's questions about public testability, disagreement, and correction remain open. An awakened tradition is the primary-text ideal; procedures for publicly assessing it still need clarification.</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The Epistemology of Coexistence, §§1, 7, and 8</a:t>
            </a:r>
          </a:p>
          <a:p xmlns:a="http://schemas.openxmlformats.org/drawingml/2006/main">
            <a:pPr marL="0" indent="0" algn="l">
              <a:spcBef>
                <a:spcPts val="0"/>
              </a:spcBef>
              <a:spcAft>
                <a:spcPts val="0"/>
              </a:spcAft>
              <a:buNone/>
            </a:pPr>
            <a:r>
              <a:t>- MVD; KD; SB; JV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relation between the four human goals and the four internal jeevan values, retaining its cumulative character. Resolution bears happiness; with prosperity comes peace; with fearlessness, contentment; and participation in coexistence bears bliss. These are not isolated exchanges in which one outward achievement mechanically produces one inner state.</a:t>
            </a:r>
          </a:p>
          <a:p xmlns:a="http://schemas.openxmlformats.org/drawingml/2006/main">
            <a:r>
              <a:t/>
            </a:r>
          </a:p>
          <a:p xmlns:a="http://schemas.openxmlformats.org/drawingml/2006/main">
            <a:r>
              <a:t>The meal case showed a modest application: understanding needs, agreeing the work, assessing quantities, and evaluating results can improve family participation. The wider account asks for coherence across the person, family, society, and natural order, expressed in an awakened tradition.</a:t>
            </a:r>
          </a:p>
          <a:p xmlns:a="http://schemas.openxmlformats.org/drawingml/2006/main">
            <a:r>
              <a:t/>
            </a:r>
          </a:p>
          <a:p xmlns:a="http://schemas.openxmlformats.org/drawingml/2006/main">
            <a:r>
              <a:t>[Sources]</a:t>
            </a:r>
          </a:p>
          <a:p xmlns:a="http://schemas.openxmlformats.org/drawingml/2006/main">
            <a:r>
              <a:t>- KD p. 112</a:t>
            </a:r>
          </a:p>
          <a:p xmlns:a="http://schemas.openxmlformats.org/drawingml/2006/main">
            <a:r>
              <a:t>- MVD pp. 207–208</a:t>
            </a:r>
          </a:p>
          <a:p xmlns:a="http://schemas.openxmlformats.org/drawingml/2006/main">
            <a:r>
              <a:t>- JV pp. 60, 137, 165</a:t>
            </a:r>
          </a:p>
          <a:p xmlns:a="http://schemas.openxmlformats.org/drawingml/2006/main">
            <a:r>
              <a:t>- The Epistemology of Coexistence,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50c9507be94b51"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c7b25492fb47ca" /><Relationship Type="http://schemas.openxmlformats.org/officeDocument/2006/relationships/slideLayout" Target="/ppt/slideLayouts/slideLayout1.xml" Id="R5d6a54d8bf25480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d6a54d8bf25480f"/>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c752944ee741b9" /><Relationship Type="http://schemas.openxmlformats.org/officeDocument/2006/relationships/notesSlide" Target="/ppt/notesSlides/notesSlide1.xml" Id="R17dd82de02714d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c923140ce34c5e" /><Relationship Type="http://schemas.openxmlformats.org/officeDocument/2006/relationships/image" Target="/ppt/media/image.png" Id="Rb856d4bb0bf44e1a" /><Relationship Type="http://schemas.openxmlformats.org/officeDocument/2006/relationships/notesSlide" Target="/ppt/notesSlides/notesSlide2.xml" Id="R6795e24e127144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92e5f0a5714a2f" /><Relationship Type="http://schemas.openxmlformats.org/officeDocument/2006/relationships/notesSlide" Target="/ppt/notesSlides/notesSlide3.xml" Id="R43bc6237319d4b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a72016f7054396" /><Relationship Type="http://schemas.openxmlformats.org/officeDocument/2006/relationships/notesSlide" Target="/ppt/notesSlides/notesSlide4.xml" Id="Reb5d748d7cf04c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b4477c9c204b5a" /><Relationship Type="http://schemas.openxmlformats.org/officeDocument/2006/relationships/notesSlide" Target="/ppt/notesSlides/notesSlide5.xml" Id="R84dd23c6e1a440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2951ce33664a8c" /><Relationship Type="http://schemas.openxmlformats.org/officeDocument/2006/relationships/image" Target="/ppt/media/image2.png" Id="Rc5eb9fa1deda4a8d" /><Relationship Type="http://schemas.openxmlformats.org/officeDocument/2006/relationships/image" Target="/ppt/media/image3.png" Id="R0a35c59bfe86443e" /><Relationship Type="http://schemas.openxmlformats.org/officeDocument/2006/relationships/image" Target="/ppt/media/image4.png" Id="R2a2a102846894c48" /><Relationship Type="http://schemas.openxmlformats.org/officeDocument/2006/relationships/notesSlide" Target="/ppt/notesSlides/notesSlide6.xml" Id="R8d9a9102a9e041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1a1e3557de45e7" /><Relationship Type="http://schemas.openxmlformats.org/officeDocument/2006/relationships/image" Target="/ppt/media/image2.png" Id="R6d9f8460608b4614" /><Relationship Type="http://schemas.openxmlformats.org/officeDocument/2006/relationships/image" Target="/ppt/media/image3.png" Id="R3e7de84193fc4aa8" /><Relationship Type="http://schemas.openxmlformats.org/officeDocument/2006/relationships/image" Target="/ppt/media/image4.png" Id="R7ad9f0d706c84e84" /><Relationship Type="http://schemas.openxmlformats.org/officeDocument/2006/relationships/notesSlide" Target="/ppt/notesSlides/notesSlide7.xml" Id="Rfe28def9ca9844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0415afefaa416e" /><Relationship Type="http://schemas.openxmlformats.org/officeDocument/2006/relationships/notesSlide" Target="/ppt/notesSlides/notesSlide8.xml" Id="R0e8cd485df6047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6c6fc176604cf6" /><Relationship Type="http://schemas.openxmlformats.org/officeDocument/2006/relationships/notesSlide" Target="/ppt/notesSlides/notesSlide9.xml" Id="R407b9a79fed74a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2ea78d4c9e4732" /><Relationship Type="http://schemas.openxmlformats.org/officeDocument/2006/relationships/image" Target="/ppt/media/image2.png" Id="Rfd8bbde1c23d4261" /><Relationship Type="http://schemas.openxmlformats.org/officeDocument/2006/relationships/image" Target="/ppt/media/image3.png" Id="R7d32d9dc83e94726" /><Relationship Type="http://schemas.openxmlformats.org/officeDocument/2006/relationships/image" Target="/ppt/media/image4.png" Id="R1541fa807403426b" /><Relationship Type="http://schemas.openxmlformats.org/officeDocument/2006/relationships/notesSlide" Target="/ppt/notesSlides/notesSlide10.xml" Id="R886c5d8e9ac94b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100c377ab6145ae" /><Relationship Type="http://schemas.openxmlformats.org/officeDocument/2006/relationships/notesSlide" Target="/ppt/notesSlides/notesSlide11.xml" Id="Rde60c70bd44b4f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b94b7eef744009" /><Relationship Type="http://schemas.openxmlformats.org/officeDocument/2006/relationships/notesSlide" Target="/ppt/notesSlides/notesSlide12.xml" Id="Rfdc4de82181e41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ea2a957609045fc" /><Relationship Type="http://schemas.openxmlformats.org/officeDocument/2006/relationships/notesSlide" Target="/ppt/notesSlides/notesSlide13.xml" Id="Ra0ae7a2c44f143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9e68eaef64a44b8" /><Relationship Type="http://schemas.openxmlformats.org/officeDocument/2006/relationships/notesSlide" Target="/ppt/notesSlides/notesSlide14.xml" Id="R888857bac0004d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5c6773d3872430e" /><Relationship Type="http://schemas.openxmlformats.org/officeDocument/2006/relationships/notesSlide" Target="/ppt/notesSlides/notesSlide15.xml" Id="R884d3e77c433447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32a08c27c254dc8" /><Relationship Type="http://schemas.openxmlformats.org/officeDocument/2006/relationships/notesSlide" Target="/ppt/notesSlides/notesSlide16.xml" Id="Rcec172a91c4a40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e468faf6c22418e" /><Relationship Type="http://schemas.openxmlformats.org/officeDocument/2006/relationships/notesSlide" Target="/ppt/notesSlides/notesSlide17.xml" Id="Rece3beed312345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53e19cfc784bb1" /><Relationship Type="http://schemas.openxmlformats.org/officeDocument/2006/relationships/notesSlide" Target="/ppt/notesSlides/notesSlide18.xml" Id="R41699e0eaa0c43a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83b41882dd5488c" /><Relationship Type="http://schemas.openxmlformats.org/officeDocument/2006/relationships/notesSlide" Target="/ppt/notesSlides/notesSlide19.xml" Id="R9c0b8dd941f64f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307c71ad38f4e19" /><Relationship Type="http://schemas.openxmlformats.org/officeDocument/2006/relationships/notesSlide" Target="/ppt/notesSlides/notesSlide20.xml" Id="Ra0a53956328641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74cb1eab2814f2c" /><Relationship Type="http://schemas.openxmlformats.org/officeDocument/2006/relationships/notesSlide" Target="/ppt/notesSlides/notesSlide21.xml" Id="Rd544fdc5c74e45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1b50f04607346fa" /><Relationship Type="http://schemas.openxmlformats.org/officeDocument/2006/relationships/image" Target="/ppt/media/image2.png" Id="R0a5e4283650d4d61" /><Relationship Type="http://schemas.openxmlformats.org/officeDocument/2006/relationships/image" Target="/ppt/media/image3.png" Id="R9d98124ba0524fb9" /><Relationship Type="http://schemas.openxmlformats.org/officeDocument/2006/relationships/image" Target="/ppt/media/image4.png" Id="R825069425e4148d2" /><Relationship Type="http://schemas.openxmlformats.org/officeDocument/2006/relationships/notesSlide" Target="/ppt/notesSlides/notesSlide22.xml" Id="Re7992b139ee8484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35df46b5ac04636" /><Relationship Type="http://schemas.openxmlformats.org/officeDocument/2006/relationships/notesSlide" Target="/ppt/notesSlides/notesSlide23.xml" Id="R678eeaf2d1634d9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cb40ef1e26241f2" /><Relationship Type="http://schemas.openxmlformats.org/officeDocument/2006/relationships/image" Target="/ppt/media/image.png" Id="Rcba2847d71314a27" /><Relationship Type="http://schemas.openxmlformats.org/officeDocument/2006/relationships/notesSlide" Target="/ppt/notesSlides/notesSlide24.xml" Id="R045e2aa48f8341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c05bf7ca8bc401f" /><Relationship Type="http://schemas.openxmlformats.org/officeDocument/2006/relationships/notesSlide" Target="/ppt/notesSlides/notesSlide25.xml" Id="R324975dbd9d141d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16aed1744284615" /><Relationship Type="http://schemas.openxmlformats.org/officeDocument/2006/relationships/notesSlide" Target="/ppt/notesSlides/notesSlide26.xml" Id="R209fe8ccb4894bf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9ad91faf00e4295" /><Relationship Type="http://schemas.openxmlformats.org/officeDocument/2006/relationships/notesSlide" Target="/ppt/notesSlides/notesSlide27.xml" Id="R998408e766e041b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29c298380cf4c95" /><Relationship Type="http://schemas.openxmlformats.org/officeDocument/2006/relationships/notesSlide" Target="/ppt/notesSlides/notesSlide28.xml" Id="R0df39b117ec4477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22f65a86d1740bf" /><Relationship Type="http://schemas.openxmlformats.org/officeDocument/2006/relationships/notesSlide" Target="/ppt/notesSlides/notesSlide29.xml" Id="R10d207a748ea4d7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877ca3bbe4b44bc" /><Relationship Type="http://schemas.openxmlformats.org/officeDocument/2006/relationships/notesSlide" Target="/ppt/notesSlides/notesSlide30.xml" Id="R57a4db143900418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748b5bf1c784ce7" /><Relationship Type="http://schemas.openxmlformats.org/officeDocument/2006/relationships/notesSlide" Target="/ppt/notesSlides/notesSlide31.xml" Id="R0b2d1e792477492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5d209c5f4a542c6" /><Relationship Type="http://schemas.openxmlformats.org/officeDocument/2006/relationships/notesSlide" Target="/ppt/notesSlides/notesSlide32.xml" Id="Rd65f4476b9404b2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9f804b6a6ce4f21" /><Relationship Type="http://schemas.openxmlformats.org/officeDocument/2006/relationships/notesSlide" Target="/ppt/notesSlides/notesSlide33.xml" Id="R2afe4a361c0c4a8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2f69eed39d34518" /><Relationship Type="http://schemas.openxmlformats.org/officeDocument/2006/relationships/notesSlide" Target="/ppt/notesSlides/notesSlide34.xml" Id="R5d4ae8202dda422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a6710cfe09a4798" /><Relationship Type="http://schemas.openxmlformats.org/officeDocument/2006/relationships/image" Target="/ppt/media/image.png" Id="R7fe5e5a192d74ee7" /><Relationship Type="http://schemas.openxmlformats.org/officeDocument/2006/relationships/notesSlide" Target="/ppt/notesSlides/notesSlide35.xml" Id="R5e471341505646a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10c1fcf359b4806" /><Relationship Type="http://schemas.openxmlformats.org/officeDocument/2006/relationships/notesSlide" Target="/ppt/notesSlides/notesSlide36.xml" Id="R7f2ebc71fb644b2d" /></Relationships>
</file>

<file path=ppt/slides/slide1.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75FE6B61-565A-45A6-9540-7722013F560A}"/>
              </a:ext>
            </a:extLst>
          </p:cNvPr>
          <p:cNvSpPr>
            <a:spLocks xmlns:a="http://schemas.openxmlformats.org/drawingml/2006/main" noGrp="1"/>
          </p:cNvSpPr>
          <p:nvPr/>
        </p:nvSpPr>
        <p:spPr>
          <a:xfrm xmlns:a="http://schemas.openxmlformats.org/drawingml/2006/main">
            <a:off x="5852160" y="822960"/>
            <a:ext cx="3291840" cy="3291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 name="Google Shape;17;p3">
            <a:extLst xmlns:a="http://schemas.openxmlformats.org/drawingml/2006/main">
              <a:ext uri="{FF2B5EF4-FFF2-40B4-BE49-F238E27FC236}">
                <a16:creationId xmlns:a16="http://schemas.microsoft.com/office/drawing/2014/main" id="{21A78B37-5288-4B37-8F01-A4632A2A24F3}"/>
              </a:ext>
            </a:extLst>
          </p:cNvPr>
          <p:cNvSpPr>
            <a:spLocks xmlns:a="http://schemas.openxmlformats.org/drawingml/2006/main" noGrp="1"/>
          </p:cNvSpPr>
          <p:nvPr/>
        </p:nvSpPr>
        <p:spPr>
          <a:xfrm xmlns:a="http://schemas.openxmlformats.org/drawingml/2006/main">
            <a:off x="6510528" y="1481328"/>
            <a:ext cx="1975104" cy="19751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 name="Google Shape;18;p3">
            <a:extLst xmlns:a="http://schemas.openxmlformats.org/drawingml/2006/main">
              <a:ext uri="{FF2B5EF4-FFF2-40B4-BE49-F238E27FC236}">
                <a16:creationId xmlns:a16="http://schemas.microsoft.com/office/drawing/2014/main" id="{35274BF8-B136-4D9F-A722-CB80B18EB261}"/>
              </a:ext>
            </a:extLst>
          </p:cNvPr>
          <p:cNvSpPr>
            <a:spLocks xmlns:a="http://schemas.openxmlformats.org/drawingml/2006/main" noGrp="1"/>
          </p:cNvSpPr>
          <p:nvPr/>
        </p:nvSpPr>
        <p:spPr>
          <a:xfrm xmlns:a="http://schemas.openxmlformats.org/drawingml/2006/main">
            <a:off x="7070141" y="2040941"/>
            <a:ext cx="855878" cy="85587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 name="Google Shape;19;p3">
            <a:extLst xmlns:a="http://schemas.openxmlformats.org/drawingml/2006/main">
              <a:ext uri="{FF2B5EF4-FFF2-40B4-BE49-F238E27FC236}">
                <a16:creationId xmlns:a16="http://schemas.microsoft.com/office/drawing/2014/main" id="{08D5B1CE-A9B3-4D60-8397-374BC198E328}"/>
              </a:ext>
            </a:extLst>
          </p:cNvPr>
          <p:cNvSpPr>
            <a:spLocks xmlns:a="http://schemas.openxmlformats.org/drawingml/2006/main" noGrp="1"/>
          </p:cNvSpPr>
          <p:nvPr/>
        </p:nvSpPr>
        <p:spPr>
          <a:xfrm xmlns:a="http://schemas.openxmlformats.org/drawingml/2006/main">
            <a:off x="5394960" y="3566160"/>
            <a:ext cx="1097280" cy="109728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 name="Google Shape;20;p3">
            <a:extLst xmlns:a="http://schemas.openxmlformats.org/drawingml/2006/main">
              <a:ext uri="{FF2B5EF4-FFF2-40B4-BE49-F238E27FC236}">
                <a16:creationId xmlns:a16="http://schemas.microsoft.com/office/drawing/2014/main" id="{2F9A6F27-EBE0-4C3A-BD5B-51E23FBCB488}"/>
              </a:ext>
            </a:extLst>
          </p:cNvPr>
          <p:cNvSpPr>
            <a:spLocks xmlns:a="http://schemas.openxmlformats.org/drawingml/2006/main" noGrp="1"/>
          </p:cNvSpPr>
          <p:nvPr/>
        </p:nvSpPr>
        <p:spPr>
          <a:xfrm xmlns:a="http://schemas.openxmlformats.org/drawingml/2006/main">
            <a:off x="5614416" y="3785616"/>
            <a:ext cx="658368" cy="658368"/>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 name="Google Shape;21;p3">
            <a:extLst xmlns:a="http://schemas.openxmlformats.org/drawingml/2006/main">
              <a:ext uri="{FF2B5EF4-FFF2-40B4-BE49-F238E27FC236}">
                <a16:creationId xmlns:a16="http://schemas.microsoft.com/office/drawing/2014/main" id="{6F589193-5AE3-467F-9960-71BEAF1122F0}"/>
              </a:ext>
            </a:extLst>
          </p:cNvPr>
          <p:cNvSpPr>
            <a:spLocks xmlns:a="http://schemas.openxmlformats.org/drawingml/2006/main" noGrp="1"/>
          </p:cNvSpPr>
          <p:nvPr/>
        </p:nvSpPr>
        <p:spPr>
          <a:xfrm xmlns:a="http://schemas.openxmlformats.org/drawingml/2006/main">
            <a:off x="5800954" y="3972154"/>
            <a:ext cx="285293" cy="285293"/>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2" name="Google Shape;22;p3">
            <a:extLst xmlns:a="http://schemas.openxmlformats.org/drawingml/2006/main">
              <a:ext uri="{FF2B5EF4-FFF2-40B4-BE49-F238E27FC236}">
                <a16:creationId xmlns:a16="http://schemas.microsoft.com/office/drawing/2014/main" id="{47EB0975-A9FD-4414-A496-C262C8303A61}"/>
              </a:ext>
            </a:extLst>
          </p:cNvPr>
          <p:cNvSpPr>
            <a:spLocks xmlns:a="http://schemas.openxmlformats.org/drawingml/2006/main" noGrp="1"/>
          </p:cNvSpPr>
          <p:nvPr/>
        </p:nvSpPr>
        <p:spPr>
          <a:xfrm xmlns:a="http://schemas.openxmlformats.org/drawingml/2006/main">
            <a:off x="8138160" y="4023360"/>
            <a:ext cx="731520" cy="73152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3" name="Google Shape;23;p3">
            <a:extLst xmlns:a="http://schemas.openxmlformats.org/drawingml/2006/main">
              <a:ext uri="{FF2B5EF4-FFF2-40B4-BE49-F238E27FC236}">
                <a16:creationId xmlns:a16="http://schemas.microsoft.com/office/drawing/2014/main" id="{EBFFAFDE-264C-438B-A02F-85F9E50F7A9E}"/>
              </a:ext>
            </a:extLst>
          </p:cNvPr>
          <p:cNvSpPr>
            <a:spLocks xmlns:a="http://schemas.openxmlformats.org/drawingml/2006/main" noGrp="1"/>
          </p:cNvSpPr>
          <p:nvPr/>
        </p:nvSpPr>
        <p:spPr>
          <a:xfrm xmlns:a="http://schemas.openxmlformats.org/drawingml/2006/main">
            <a:off x="8284464" y="4169664"/>
            <a:ext cx="438912" cy="438912"/>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 name="Google Shape;24;p3">
            <a:extLst xmlns:a="http://schemas.openxmlformats.org/drawingml/2006/main">
              <a:ext uri="{FF2B5EF4-FFF2-40B4-BE49-F238E27FC236}">
                <a16:creationId xmlns:a16="http://schemas.microsoft.com/office/drawing/2014/main" id="{52047E37-4816-41A7-B1A8-5ED7B16CE4CB}"/>
              </a:ext>
            </a:extLst>
          </p:cNvPr>
          <p:cNvSpPr>
            <a:spLocks xmlns:a="http://schemas.openxmlformats.org/drawingml/2006/main" noGrp="1"/>
          </p:cNvSpPr>
          <p:nvPr/>
        </p:nvSpPr>
        <p:spPr>
          <a:xfrm xmlns:a="http://schemas.openxmlformats.org/drawingml/2006/main">
            <a:off x="8408822" y="4294022"/>
            <a:ext cx="190195" cy="190195"/>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5" name="Google Shape;25;p3">
            <a:extLst xmlns:a="http://schemas.openxmlformats.org/drawingml/2006/main">
              <a:ext uri="{FF2B5EF4-FFF2-40B4-BE49-F238E27FC236}">
                <a16:creationId xmlns:a16="http://schemas.microsoft.com/office/drawing/2014/main" id="{6BC522C1-F2B8-42B0-BD23-EBBB4C5CE598}"/>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MADHYASTH DARSHAN  ·  CO-EXISTENTIALISM</a:t>
            </a:r>
          </a:p>
        </p:txBody>
      </p:sp>
      <p:sp>
        <p:nvSpPr>
          <p:cNvPr id="26" name="Google Shape;26;p3">
            <a:extLst xmlns:a="http://schemas.openxmlformats.org/drawingml/2006/main">
              <a:ext uri="{FF2B5EF4-FFF2-40B4-BE49-F238E27FC236}">
                <a16:creationId xmlns:a16="http://schemas.microsoft.com/office/drawing/2014/main" id="{47A64A12-D1A5-441F-AA82-AF514D30EB90}"/>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4400" b="1" i="0" u="none" cap="none">
                <a:solidFill>
                  <a:srgbClr val="FFFFFF"/>
                </a:solidFill>
                <a:latin typeface="Cambria"/>
                <a:ea typeface="Cambria"/>
                <a:cs typeface="Cambria"/>
              </a:rPr>
              <a:t>The Epistemology of Coexistence</a:t>
            </a:r>
          </a:p>
        </p:txBody>
      </p:sp>
      <p:sp>
        <p:nvSpPr>
          <p:cNvPr id="27" name="Google Shape;27;p3">
            <a:extLst xmlns:a="http://schemas.openxmlformats.org/drawingml/2006/main">
              <a:ext uri="{FF2B5EF4-FFF2-40B4-BE49-F238E27FC236}">
                <a16:creationId xmlns:a16="http://schemas.microsoft.com/office/drawing/2014/main" id="{E7C7DAAD-F163-4083-A316-3C74C158297F}"/>
              </a:ext>
            </a:extLst>
          </p:cNvPr>
          <p:cNvSpPr>
            <a:spLocks xmlns:a="http://schemas.openxmlformats.org/drawingml/2006/main" noGrp="1"/>
          </p:cNvSpPr>
          <p:nvPr/>
        </p:nvSpPr>
        <p:spPr>
          <a:xfrm xmlns:a="http://schemas.openxmlformats.org/drawingml/2006/main">
            <a:off x="640080" y="2880360"/>
            <a:ext cx="484632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b="0" i="1" u="none" cap="none">
                <a:solidFill>
                  <a:srgbClr val="C9D4EF"/>
                </a:solidFill>
                <a:latin typeface="Calibri"/>
                <a:ea typeface="Calibri"/>
                <a:cs typeface="Calibri"/>
              </a:rPr>
              <a:t>Knowledge, resolution, and happiness — understanding evidenced in humane conduct</a:t>
            </a:r>
          </a:p>
        </p:txBody>
      </p:sp>
      <p:sp>
        <p:nvSpPr>
          <p:cNvPr id="28" name="Google Shape;28;p3">
            <a:extLst xmlns:a="http://schemas.openxmlformats.org/drawingml/2006/main">
              <a:ext uri="{FF2B5EF4-FFF2-40B4-BE49-F238E27FC236}">
                <a16:creationId xmlns:a16="http://schemas.microsoft.com/office/drawing/2014/main" id="{458FAD9F-55D3-4855-B3DD-E51566B8BF19}"/>
              </a:ext>
            </a:extLst>
          </p:cNvPr>
          <p:cNvSpPr>
            <a:spLocks xmlns:a="http://schemas.openxmlformats.org/drawingml/2006/main" noGrp="1"/>
          </p:cNvSpPr>
          <p:nvPr/>
        </p:nvSpPr>
        <p:spPr>
          <a:xfrm xmlns:a="http://schemas.openxmlformats.org/drawingml/2006/main">
            <a:off x="640080" y="416052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8E9BC4"/>
                </a:solidFill>
                <a:latin typeface="Calibri"/>
                <a:ea typeface="Calibri"/>
                <a:cs typeface="Calibri"/>
              </a:rPr>
              <a:t>Based on the revised study (AnalyticMadhyasthDarshan.org)</a:t>
            </a:r>
          </a:p>
        </p:txBody>
      </p:sp>
      <p:sp>
        <p:nvSpPr>
          <p:cNvPr id="29" name="Google Shape;29;p3">
            <a:extLst xmlns:a="http://schemas.openxmlformats.org/drawingml/2006/main">
              <a:ext uri="{FF2B5EF4-FFF2-40B4-BE49-F238E27FC236}">
                <a16:creationId xmlns:a16="http://schemas.microsoft.com/office/drawing/2014/main" id="{DB10076E-E334-428A-B2C0-66347245EC4C}"/>
              </a:ext>
            </a:extLst>
          </p:cNvPr>
          <p:cNvSpPr>
            <a:spLocks xmlns:a="http://schemas.openxmlformats.org/drawingml/2006/main" noGrp="1"/>
          </p:cNvSpPr>
          <p:nvPr/>
        </p:nvSpPr>
        <p:spPr>
          <a:xfrm xmlns:a="http://schemas.openxmlformats.org/drawingml/2006/main">
            <a:off x="640080" y="443484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Shri A. Nagraj · MVD · KD · SB · JV · Sources and translations in notes · 1 / 36</a:t>
            </a:r>
          </a:p>
        </p:txBody>
      </p:sp>
    </p:spTree>
    <p:extLst>
      <p:ext uri="{BB962C8B-B14F-4D97-AF65-F5344CB8AC3E}">
        <p14:creationId xmlns:p14="http://schemas.microsoft.com/office/powerpoint/2010/main" val="988898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3B402E-185B-4C4D-A4E6-72A03529B78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F3D08866-7E78-40FF-A350-E3B8685BC5B5}"/>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49647318-3FE3-4554-B311-76A3824F44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60EB398F-2D64-4689-80C8-FFAD943A9DF8}"/>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FRAMING</a:t>
            </a:r>
          </a:p>
        </p:txBody>
      </p:sp>
      <p:sp>
        <p:nvSpPr>
          <p:cNvPr id="39" name="Google Shape;39;p4">
            <a:extLst xmlns:a="http://schemas.openxmlformats.org/drawingml/2006/main">
              <a:ext uri="{FF2B5EF4-FFF2-40B4-BE49-F238E27FC236}">
                <a16:creationId xmlns:a16="http://schemas.microsoft.com/office/drawing/2014/main" id="{2C1BECA4-232C-44E0-ADD0-ED7D91B92711}"/>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Questions Epistemology Must Answer</a:t>
            </a:r>
          </a:p>
        </p:txBody>
      </p:sp>
      <p:sp>
        <p:nvSpPr>
          <p:cNvPr id="40" name="Google Shape;40;p4">
            <a:extLst xmlns:a="http://schemas.openxmlformats.org/drawingml/2006/main">
              <a:ext uri="{FF2B5EF4-FFF2-40B4-BE49-F238E27FC236}">
                <a16:creationId xmlns:a16="http://schemas.microsoft.com/office/drawing/2014/main" id="{4960A84B-3100-434B-B8D0-2A9D70A48B93}"/>
              </a:ext>
            </a:extLst>
          </p:cNvPr>
          <p:cNvSpPr>
            <a:spLocks xmlns:a="http://schemas.openxmlformats.org/drawingml/2006/main" noGrp="1"/>
          </p:cNvSpPr>
          <p:nvPr/>
        </p:nvSpPr>
        <p:spPr>
          <a:xfrm xmlns:a="http://schemas.openxmlformats.org/drawingml/2006/main">
            <a:off x="640080" y="122529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1" name="Google Shape;41;p4"/>
          <p:cNvPicPr>
            <a:picLocks xmlns:a="http://schemas.openxmlformats.org/drawingml/2006/main" noChangeAspect="1"/>
          </p:cNvPicPr>
          <p:nvPr/>
        </p:nvPicPr>
        <p:blipFill rotWithShape="1">
          <a:blip xmlns:r="http://schemas.openxmlformats.org/officeDocument/2006/relationships" xmlns:a="http://schemas.openxmlformats.org/drawingml/2006/main" r:embed="Rb856d4bb0bf44e1a">
            <a:alphaModFix/>
          </a:blip>
          <a:srcRect xmlns:a="http://schemas.openxmlformats.org/drawingml/2006/main" l="0" t="0" r="0" b="0"/>
          <a:stretch xmlns:a="http://schemas.openxmlformats.org/drawingml/2006/main"/>
        </p:blipFill>
        <p:spPr>
          <a:xfrm xmlns:a="http://schemas.openxmlformats.org/drawingml/2006/main">
            <a:off x="735178" y="1320394"/>
            <a:ext cx="175565" cy="175565"/>
          </a:xfrm>
          <a:prstGeom xmlns:a="http://schemas.openxmlformats.org/drawingml/2006/main" prst="rect">
            <a:avLst/>
          </a:prstGeom>
          <a:ln xmlns:a="http://schemas.openxmlformats.org/drawingml/2006/main">
            <a:noFill/>
          </a:ln>
        </p:spPr>
      </p:pic>
      <p:sp>
        <p:nvSpPr>
          <p:cNvPr id="42" name="Google Shape;42;p4">
            <a:extLst xmlns:a="http://schemas.openxmlformats.org/drawingml/2006/main">
              <a:ext uri="{FF2B5EF4-FFF2-40B4-BE49-F238E27FC236}">
                <a16:creationId xmlns:a16="http://schemas.microsoft.com/office/drawing/2014/main" id="{C5183355-C64A-436B-9092-2356796F7CCA}"/>
              </a:ext>
            </a:extLst>
          </p:cNvPr>
          <p:cNvSpPr>
            <a:spLocks xmlns:a="http://schemas.openxmlformats.org/drawingml/2006/main" noGrp="1"/>
          </p:cNvSpPr>
          <p:nvPr/>
        </p:nvSpPr>
        <p:spPr>
          <a:xfrm xmlns:a="http://schemas.openxmlformats.org/drawingml/2006/main">
            <a:off x="1188720" y="118872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knowledge?  —  What makes understanding more than information or belief?</a:t>
            </a:r>
          </a:p>
        </p:txBody>
      </p:sp>
      <p:sp>
        <p:nvSpPr>
          <p:cNvPr id="43" name="Google Shape;43;p4">
            <a:extLst xmlns:a="http://schemas.openxmlformats.org/drawingml/2006/main">
              <a:ext uri="{FF2B5EF4-FFF2-40B4-BE49-F238E27FC236}">
                <a16:creationId xmlns:a16="http://schemas.microsoft.com/office/drawing/2014/main" id="{A1DDA8B7-E5B2-41B4-A0A6-6CA140FF2382}"/>
              </a:ext>
            </a:extLst>
          </p:cNvPr>
          <p:cNvSpPr>
            <a:spLocks xmlns:a="http://schemas.openxmlformats.org/drawingml/2006/main" noGrp="1"/>
          </p:cNvSpPr>
          <p:nvPr/>
        </p:nvSpPr>
        <p:spPr>
          <a:xfrm xmlns:a="http://schemas.openxmlformats.org/drawingml/2006/main">
            <a:off x="640080" y="1792224"/>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4" name="Google Shape;44;p4"/>
          <p:cNvPicPr>
            <a:picLocks xmlns:a="http://schemas.openxmlformats.org/drawingml/2006/main" noChangeAspect="1"/>
          </p:cNvPicPr>
          <p:nvPr/>
        </p:nvPicPr>
        <p:blipFill rotWithShape="1">
          <a:blip xmlns:r="http://schemas.openxmlformats.org/officeDocument/2006/relationships" xmlns:a="http://schemas.openxmlformats.org/drawingml/2006/main" r:embed="Rb856d4bb0bf44e1a">
            <a:alphaModFix/>
          </a:blip>
          <a:srcRect xmlns:a="http://schemas.openxmlformats.org/drawingml/2006/main" l="0" t="0" r="0" b="0"/>
          <a:stretch xmlns:a="http://schemas.openxmlformats.org/drawingml/2006/main"/>
        </p:blipFill>
        <p:spPr>
          <a:xfrm xmlns:a="http://schemas.openxmlformats.org/drawingml/2006/main">
            <a:off x="735178" y="1887322"/>
            <a:ext cx="175565" cy="175565"/>
          </a:xfrm>
          <a:prstGeom xmlns:a="http://schemas.openxmlformats.org/drawingml/2006/main" prst="rect">
            <a:avLst/>
          </a:prstGeom>
          <a:ln xmlns:a="http://schemas.openxmlformats.org/drawingml/2006/main">
            <a:noFill/>
          </a:ln>
        </p:spPr>
      </p:pic>
      <p:sp>
        <p:nvSpPr>
          <p:cNvPr id="45" name="Google Shape;45;p4">
            <a:extLst xmlns:a="http://schemas.openxmlformats.org/drawingml/2006/main">
              <a:ext uri="{FF2B5EF4-FFF2-40B4-BE49-F238E27FC236}">
                <a16:creationId xmlns:a16="http://schemas.microsoft.com/office/drawing/2014/main" id="{B75C9CE6-CD3C-43FD-83E0-886C1478F0BA}"/>
              </a:ext>
            </a:extLst>
          </p:cNvPr>
          <p:cNvSpPr>
            <a:spLocks xmlns:a="http://schemas.openxmlformats.org/drawingml/2006/main" noGrp="1"/>
          </p:cNvSpPr>
          <p:nvPr/>
        </p:nvSpPr>
        <p:spPr>
          <a:xfrm xmlns:a="http://schemas.openxmlformats.org/drawingml/2006/main">
            <a:off x="1188720" y="1755648"/>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Who is the knower?  —  What in the human being understands, chooses, and evaluates?</a:t>
            </a:r>
          </a:p>
        </p:txBody>
      </p:sp>
      <p:sp>
        <p:nvSpPr>
          <p:cNvPr id="46" name="Google Shape;46;p4">
            <a:extLst xmlns:a="http://schemas.openxmlformats.org/drawingml/2006/main">
              <a:ext uri="{FF2B5EF4-FFF2-40B4-BE49-F238E27FC236}">
                <a16:creationId xmlns:a16="http://schemas.microsoft.com/office/drawing/2014/main" id="{EDD1C9F9-79A8-4EDE-B88A-91BA496FCFD1}"/>
              </a:ext>
            </a:extLst>
          </p:cNvPr>
          <p:cNvSpPr>
            <a:spLocks xmlns:a="http://schemas.openxmlformats.org/drawingml/2006/main" noGrp="1"/>
          </p:cNvSpPr>
          <p:nvPr/>
        </p:nvSpPr>
        <p:spPr>
          <a:xfrm xmlns:a="http://schemas.openxmlformats.org/drawingml/2006/main">
            <a:off x="640080" y="2359152"/>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7" name="Google Shape;47;p4"/>
          <p:cNvPicPr>
            <a:picLocks xmlns:a="http://schemas.openxmlformats.org/drawingml/2006/main" noChangeAspect="1"/>
          </p:cNvPicPr>
          <p:nvPr/>
        </p:nvPicPr>
        <p:blipFill rotWithShape="1">
          <a:blip xmlns:r="http://schemas.openxmlformats.org/officeDocument/2006/relationships" xmlns:a="http://schemas.openxmlformats.org/drawingml/2006/main" r:embed="Rb856d4bb0bf44e1a">
            <a:alphaModFix/>
          </a:blip>
          <a:srcRect xmlns:a="http://schemas.openxmlformats.org/drawingml/2006/main" l="0" t="0" r="0" b="0"/>
          <a:stretch xmlns:a="http://schemas.openxmlformats.org/drawingml/2006/main"/>
        </p:blipFill>
        <p:spPr>
          <a:xfrm xmlns:a="http://schemas.openxmlformats.org/drawingml/2006/main">
            <a:off x="735178" y="2454250"/>
            <a:ext cx="175565" cy="175565"/>
          </a:xfrm>
          <a:prstGeom xmlns:a="http://schemas.openxmlformats.org/drawingml/2006/main" prst="rect">
            <a:avLst/>
          </a:prstGeom>
          <a:ln xmlns:a="http://schemas.openxmlformats.org/drawingml/2006/main">
            <a:noFill/>
          </a:ln>
        </p:spPr>
      </p:pic>
      <p:sp>
        <p:nvSpPr>
          <p:cNvPr id="48" name="Google Shape;48;p4">
            <a:extLst xmlns:a="http://schemas.openxmlformats.org/drawingml/2006/main">
              <a:ext uri="{FF2B5EF4-FFF2-40B4-BE49-F238E27FC236}">
                <a16:creationId xmlns:a16="http://schemas.microsoft.com/office/drawing/2014/main" id="{96389C9D-9FE0-4778-A3DB-FE60F90117C6}"/>
              </a:ext>
            </a:extLst>
          </p:cNvPr>
          <p:cNvSpPr>
            <a:spLocks xmlns:a="http://schemas.openxmlformats.org/drawingml/2006/main" noGrp="1"/>
          </p:cNvSpPr>
          <p:nvPr/>
        </p:nvSpPr>
        <p:spPr>
          <a:xfrm xmlns:a="http://schemas.openxmlformats.org/drawingml/2006/main">
            <a:off x="1188720" y="2322576"/>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known?  —  What reality, self, relationship, and conduct must be understood?</a:t>
            </a:r>
          </a:p>
        </p:txBody>
      </p:sp>
      <p:sp>
        <p:nvSpPr>
          <p:cNvPr id="49" name="Google Shape;49;p4">
            <a:extLst xmlns:a="http://schemas.openxmlformats.org/drawingml/2006/main">
              <a:ext uri="{FF2B5EF4-FFF2-40B4-BE49-F238E27FC236}">
                <a16:creationId xmlns:a16="http://schemas.microsoft.com/office/drawing/2014/main" id="{8E5D7A1C-B4D5-4C25-AEC3-0809D732B6EE}"/>
              </a:ext>
            </a:extLst>
          </p:cNvPr>
          <p:cNvSpPr>
            <a:spLocks xmlns:a="http://schemas.openxmlformats.org/drawingml/2006/main" noGrp="1"/>
          </p:cNvSpPr>
          <p:nvPr/>
        </p:nvSpPr>
        <p:spPr>
          <a:xfrm xmlns:a="http://schemas.openxmlformats.org/drawingml/2006/main">
            <a:off x="640080" y="292608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0" name="Google Shape;50;p4"/>
          <p:cNvPicPr>
            <a:picLocks xmlns:a="http://schemas.openxmlformats.org/drawingml/2006/main" noChangeAspect="1"/>
          </p:cNvPicPr>
          <p:nvPr/>
        </p:nvPicPr>
        <p:blipFill rotWithShape="1">
          <a:blip xmlns:r="http://schemas.openxmlformats.org/officeDocument/2006/relationships" xmlns:a="http://schemas.openxmlformats.org/drawingml/2006/main" r:embed="Rb856d4bb0bf44e1a">
            <a:alphaModFix/>
          </a:blip>
          <a:srcRect xmlns:a="http://schemas.openxmlformats.org/drawingml/2006/main" l="0" t="0" r="0" b="0"/>
          <a:stretch xmlns:a="http://schemas.openxmlformats.org/drawingml/2006/main"/>
        </p:blipFill>
        <p:spPr>
          <a:xfrm xmlns:a="http://schemas.openxmlformats.org/drawingml/2006/main">
            <a:off x="735178" y="3021178"/>
            <a:ext cx="175565" cy="175565"/>
          </a:xfrm>
          <a:prstGeom xmlns:a="http://schemas.openxmlformats.org/drawingml/2006/main" prst="rect">
            <a:avLst/>
          </a:prstGeom>
          <a:ln xmlns:a="http://schemas.openxmlformats.org/drawingml/2006/main">
            <a:noFill/>
          </a:ln>
        </p:spPr>
      </p:pic>
      <p:sp>
        <p:nvSpPr>
          <p:cNvPr id="51" name="Google Shape;51;p4">
            <a:extLst xmlns:a="http://schemas.openxmlformats.org/drawingml/2006/main">
              <a:ext uri="{FF2B5EF4-FFF2-40B4-BE49-F238E27FC236}">
                <a16:creationId xmlns:a16="http://schemas.microsoft.com/office/drawing/2014/main" id="{B1591BAD-E6A7-457C-A811-88AF0B5BA2D9}"/>
              </a:ext>
            </a:extLst>
          </p:cNvPr>
          <p:cNvSpPr>
            <a:spLocks xmlns:a="http://schemas.openxmlformats.org/drawingml/2006/main" noGrp="1"/>
          </p:cNvSpPr>
          <p:nvPr/>
        </p:nvSpPr>
        <p:spPr>
          <a:xfrm xmlns:a="http://schemas.openxmlformats.org/drawingml/2006/main">
            <a:off x="1188720" y="2889504"/>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does knowing develop?  —  How does experience mature into understanding?</a:t>
            </a:r>
          </a:p>
        </p:txBody>
      </p:sp>
      <p:sp>
        <p:nvSpPr>
          <p:cNvPr id="52" name="Google Shape;52;p4">
            <a:extLst xmlns:a="http://schemas.openxmlformats.org/drawingml/2006/main">
              <a:ext uri="{FF2B5EF4-FFF2-40B4-BE49-F238E27FC236}">
                <a16:creationId xmlns:a16="http://schemas.microsoft.com/office/drawing/2014/main" id="{FAC8FF81-4EF9-4BA4-B8E6-1B994F766A13}"/>
              </a:ext>
            </a:extLst>
          </p:cNvPr>
          <p:cNvSpPr>
            <a:spLocks xmlns:a="http://schemas.openxmlformats.org/drawingml/2006/main" noGrp="1"/>
          </p:cNvSpPr>
          <p:nvPr/>
        </p:nvSpPr>
        <p:spPr>
          <a:xfrm xmlns:a="http://schemas.openxmlformats.org/drawingml/2006/main">
            <a:off x="640080" y="3493008"/>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3" name="Google Shape;53;p4"/>
          <p:cNvPicPr>
            <a:picLocks xmlns:a="http://schemas.openxmlformats.org/drawingml/2006/main" noChangeAspect="1"/>
          </p:cNvPicPr>
          <p:nvPr/>
        </p:nvPicPr>
        <p:blipFill rotWithShape="1">
          <a:blip xmlns:r="http://schemas.openxmlformats.org/officeDocument/2006/relationships" xmlns:a="http://schemas.openxmlformats.org/drawingml/2006/main" r:embed="Rb856d4bb0bf44e1a">
            <a:alphaModFix/>
          </a:blip>
          <a:srcRect xmlns:a="http://schemas.openxmlformats.org/drawingml/2006/main" l="0" t="0" r="0" b="0"/>
          <a:stretch xmlns:a="http://schemas.openxmlformats.org/drawingml/2006/main"/>
        </p:blipFill>
        <p:spPr>
          <a:xfrm xmlns:a="http://schemas.openxmlformats.org/drawingml/2006/main">
            <a:off x="735178" y="3588106"/>
            <a:ext cx="175565" cy="175565"/>
          </a:xfrm>
          <a:prstGeom xmlns:a="http://schemas.openxmlformats.org/drawingml/2006/main" prst="rect">
            <a:avLst/>
          </a:prstGeom>
          <a:ln xmlns:a="http://schemas.openxmlformats.org/drawingml/2006/main">
            <a:noFill/>
          </a:ln>
        </p:spPr>
      </p:pic>
      <p:sp>
        <p:nvSpPr>
          <p:cNvPr id="54" name="Google Shape;54;p4">
            <a:extLst xmlns:a="http://schemas.openxmlformats.org/drawingml/2006/main">
              <a:ext uri="{FF2B5EF4-FFF2-40B4-BE49-F238E27FC236}">
                <a16:creationId xmlns:a16="http://schemas.microsoft.com/office/drawing/2014/main" id="{88A8438F-C330-4A48-9673-52C9074A68EC}"/>
              </a:ext>
            </a:extLst>
          </p:cNvPr>
          <p:cNvSpPr>
            <a:spLocks xmlns:a="http://schemas.openxmlformats.org/drawingml/2006/main" noGrp="1"/>
          </p:cNvSpPr>
          <p:nvPr/>
        </p:nvSpPr>
        <p:spPr>
          <a:xfrm xmlns:a="http://schemas.openxmlformats.org/drawingml/2006/main">
            <a:off x="1188720" y="3456432"/>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does error arise?  —  Why do belief, action, and result sometimes conflict?</a:t>
            </a:r>
          </a:p>
        </p:txBody>
      </p:sp>
      <p:sp>
        <p:nvSpPr>
          <p:cNvPr id="55" name="Google Shape;55;p4">
            <a:extLst xmlns:a="http://schemas.openxmlformats.org/drawingml/2006/main">
              <a:ext uri="{FF2B5EF4-FFF2-40B4-BE49-F238E27FC236}">
                <a16:creationId xmlns:a16="http://schemas.microsoft.com/office/drawing/2014/main" id="{8CF393A7-5751-428A-9C15-0EBA54A20BF2}"/>
              </a:ext>
            </a:extLst>
          </p:cNvPr>
          <p:cNvSpPr>
            <a:spLocks xmlns:a="http://schemas.openxmlformats.org/drawingml/2006/main" noGrp="1"/>
          </p:cNvSpPr>
          <p:nvPr/>
        </p:nvSpPr>
        <p:spPr>
          <a:xfrm xmlns:a="http://schemas.openxmlformats.org/drawingml/2006/main">
            <a:off x="640080" y="405993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6" name="Google Shape;56;p4"/>
          <p:cNvPicPr>
            <a:picLocks xmlns:a="http://schemas.openxmlformats.org/drawingml/2006/main" noChangeAspect="1"/>
          </p:cNvPicPr>
          <p:nvPr/>
        </p:nvPicPr>
        <p:blipFill rotWithShape="1">
          <a:blip xmlns:r="http://schemas.openxmlformats.org/officeDocument/2006/relationships" xmlns:a="http://schemas.openxmlformats.org/drawingml/2006/main" r:embed="Rb856d4bb0bf44e1a">
            <a:alphaModFix/>
          </a:blip>
          <a:srcRect xmlns:a="http://schemas.openxmlformats.org/drawingml/2006/main" l="0" t="0" r="0" b="0"/>
          <a:stretch xmlns:a="http://schemas.openxmlformats.org/drawingml/2006/main"/>
        </p:blipFill>
        <p:spPr>
          <a:xfrm xmlns:a="http://schemas.openxmlformats.org/drawingml/2006/main">
            <a:off x="735178" y="4155034"/>
            <a:ext cx="175565" cy="175565"/>
          </a:xfrm>
          <a:prstGeom xmlns:a="http://schemas.openxmlformats.org/drawingml/2006/main" prst="rect">
            <a:avLst/>
          </a:prstGeom>
          <a:ln xmlns:a="http://schemas.openxmlformats.org/drawingml/2006/main">
            <a:noFill/>
          </a:ln>
        </p:spPr>
      </p:pic>
      <p:sp>
        <p:nvSpPr>
          <p:cNvPr id="57" name="Google Shape;57;p4">
            <a:extLst xmlns:a="http://schemas.openxmlformats.org/drawingml/2006/main">
              <a:ext uri="{FF2B5EF4-FFF2-40B4-BE49-F238E27FC236}">
                <a16:creationId xmlns:a16="http://schemas.microsoft.com/office/drawing/2014/main" id="{69FE7F80-11B5-4B7E-A5BC-C73663BD6F41}"/>
              </a:ext>
            </a:extLst>
          </p:cNvPr>
          <p:cNvSpPr>
            <a:spLocks xmlns:a="http://schemas.openxmlformats.org/drawingml/2006/main" noGrp="1"/>
          </p:cNvSpPr>
          <p:nvPr/>
        </p:nvSpPr>
        <p:spPr>
          <a:xfrm xmlns:a="http://schemas.openxmlformats.org/drawingml/2006/main">
            <a:off x="1188720" y="402336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counts as evidence?  —  How is understanding tested in life?</a:t>
            </a:r>
          </a:p>
        </p:txBody>
      </p:sp>
      <p:sp>
        <p:nvSpPr>
          <p:cNvPr id="58" name="Google Shape;58;p4">
            <a:extLst xmlns:a="http://schemas.openxmlformats.org/drawingml/2006/main">
              <a:ext uri="{FF2B5EF4-FFF2-40B4-BE49-F238E27FC236}">
                <a16:creationId xmlns:a16="http://schemas.microsoft.com/office/drawing/2014/main" id="{79C1811C-EDE3-41ED-8DB3-4090B52ECFBC}"/>
              </a:ext>
            </a:extLst>
          </p:cNvPr>
          <p:cNvSpPr>
            <a:spLocks xmlns:a="http://schemas.openxmlformats.org/drawingml/2006/main" noGrp="1"/>
          </p:cNvSpPr>
          <p:nvPr/>
        </p:nvSpPr>
        <p:spPr>
          <a:xfrm xmlns:a="http://schemas.openxmlformats.org/drawingml/2006/main">
            <a:off x="1188720" y="4645152"/>
            <a:ext cx="74066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These questions guide the deck from definition to lived evidence.  ·  AnalyticMadhyasthDarshan.org  ·  2 / 36</a:t>
            </a:r>
          </a:p>
        </p:txBody>
      </p:sp>
    </p:spTree>
    <p:extLst>
      <p:ext uri="{BB962C8B-B14F-4D97-AF65-F5344CB8AC3E}">
        <p14:creationId xmlns:p14="http://schemas.microsoft.com/office/powerpoint/2010/main" val="1531490578"/>
      </p:ext>
    </p:extLst>
  </p:cSld>
</p:sld>
</file>

<file path=ppt/slides/slide3.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75FE6B61-565A-45A6-9540-7722013F560A}"/>
              </a:ext>
            </a:extLst>
          </p:cNvPr>
          <p:cNvSpPr>
            <a:spLocks xmlns:a="http://schemas.openxmlformats.org/drawingml/2006/main" noGrp="1"/>
          </p:cNvSpPr>
          <p:nvPr/>
        </p:nvSpPr>
        <p:spPr>
          <a:xfrm xmlns:a="http://schemas.openxmlformats.org/drawingml/2006/main">
            <a:off x="5852160" y="822960"/>
            <a:ext cx="3291840" cy="3291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 name="Google Shape;17;p3">
            <a:extLst xmlns:a="http://schemas.openxmlformats.org/drawingml/2006/main">
              <a:ext uri="{FF2B5EF4-FFF2-40B4-BE49-F238E27FC236}">
                <a16:creationId xmlns:a16="http://schemas.microsoft.com/office/drawing/2014/main" id="{21A78B37-5288-4B37-8F01-A4632A2A24F3}"/>
              </a:ext>
            </a:extLst>
          </p:cNvPr>
          <p:cNvSpPr>
            <a:spLocks xmlns:a="http://schemas.openxmlformats.org/drawingml/2006/main" noGrp="1"/>
          </p:cNvSpPr>
          <p:nvPr/>
        </p:nvSpPr>
        <p:spPr>
          <a:xfrm xmlns:a="http://schemas.openxmlformats.org/drawingml/2006/main">
            <a:off x="6510528" y="1481328"/>
            <a:ext cx="1975104" cy="19751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 name="Google Shape;18;p3">
            <a:extLst xmlns:a="http://schemas.openxmlformats.org/drawingml/2006/main">
              <a:ext uri="{FF2B5EF4-FFF2-40B4-BE49-F238E27FC236}">
                <a16:creationId xmlns:a16="http://schemas.microsoft.com/office/drawing/2014/main" id="{35274BF8-B136-4D9F-A722-CB80B18EB261}"/>
              </a:ext>
            </a:extLst>
          </p:cNvPr>
          <p:cNvSpPr>
            <a:spLocks xmlns:a="http://schemas.openxmlformats.org/drawingml/2006/main" noGrp="1"/>
          </p:cNvSpPr>
          <p:nvPr/>
        </p:nvSpPr>
        <p:spPr>
          <a:xfrm xmlns:a="http://schemas.openxmlformats.org/drawingml/2006/main">
            <a:off x="7070141" y="2040941"/>
            <a:ext cx="855878" cy="85587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 name="Google Shape;19;p3">
            <a:extLst xmlns:a="http://schemas.openxmlformats.org/drawingml/2006/main">
              <a:ext uri="{FF2B5EF4-FFF2-40B4-BE49-F238E27FC236}">
                <a16:creationId xmlns:a16="http://schemas.microsoft.com/office/drawing/2014/main" id="{08D5B1CE-A9B3-4D60-8397-374BC198E328}"/>
              </a:ext>
            </a:extLst>
          </p:cNvPr>
          <p:cNvSpPr>
            <a:spLocks xmlns:a="http://schemas.openxmlformats.org/drawingml/2006/main" noGrp="1"/>
          </p:cNvSpPr>
          <p:nvPr/>
        </p:nvSpPr>
        <p:spPr>
          <a:xfrm xmlns:a="http://schemas.openxmlformats.org/drawingml/2006/main">
            <a:off x="5394960" y="3566160"/>
            <a:ext cx="1097280" cy="109728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 name="Google Shape;20;p3">
            <a:extLst xmlns:a="http://schemas.openxmlformats.org/drawingml/2006/main">
              <a:ext uri="{FF2B5EF4-FFF2-40B4-BE49-F238E27FC236}">
                <a16:creationId xmlns:a16="http://schemas.microsoft.com/office/drawing/2014/main" id="{2F9A6F27-EBE0-4C3A-BD5B-51E23FBCB488}"/>
              </a:ext>
            </a:extLst>
          </p:cNvPr>
          <p:cNvSpPr>
            <a:spLocks xmlns:a="http://schemas.openxmlformats.org/drawingml/2006/main" noGrp="1"/>
          </p:cNvSpPr>
          <p:nvPr/>
        </p:nvSpPr>
        <p:spPr>
          <a:xfrm xmlns:a="http://schemas.openxmlformats.org/drawingml/2006/main">
            <a:off x="5614416" y="3785616"/>
            <a:ext cx="658368" cy="658368"/>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 name="Google Shape;21;p3">
            <a:extLst xmlns:a="http://schemas.openxmlformats.org/drawingml/2006/main">
              <a:ext uri="{FF2B5EF4-FFF2-40B4-BE49-F238E27FC236}">
                <a16:creationId xmlns:a16="http://schemas.microsoft.com/office/drawing/2014/main" id="{6F589193-5AE3-467F-9960-71BEAF1122F0}"/>
              </a:ext>
            </a:extLst>
          </p:cNvPr>
          <p:cNvSpPr>
            <a:spLocks xmlns:a="http://schemas.openxmlformats.org/drawingml/2006/main" noGrp="1"/>
          </p:cNvSpPr>
          <p:nvPr/>
        </p:nvSpPr>
        <p:spPr>
          <a:xfrm xmlns:a="http://schemas.openxmlformats.org/drawingml/2006/main">
            <a:off x="5800954" y="3972154"/>
            <a:ext cx="285293" cy="285293"/>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2" name="Google Shape;22;p3">
            <a:extLst xmlns:a="http://schemas.openxmlformats.org/drawingml/2006/main">
              <a:ext uri="{FF2B5EF4-FFF2-40B4-BE49-F238E27FC236}">
                <a16:creationId xmlns:a16="http://schemas.microsoft.com/office/drawing/2014/main" id="{47EB0975-A9FD-4414-A496-C262C8303A61}"/>
              </a:ext>
            </a:extLst>
          </p:cNvPr>
          <p:cNvSpPr>
            <a:spLocks xmlns:a="http://schemas.openxmlformats.org/drawingml/2006/main" noGrp="1"/>
          </p:cNvSpPr>
          <p:nvPr/>
        </p:nvSpPr>
        <p:spPr>
          <a:xfrm xmlns:a="http://schemas.openxmlformats.org/drawingml/2006/main">
            <a:off x="8138160" y="4023360"/>
            <a:ext cx="731520" cy="73152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3" name="Google Shape;23;p3">
            <a:extLst xmlns:a="http://schemas.openxmlformats.org/drawingml/2006/main">
              <a:ext uri="{FF2B5EF4-FFF2-40B4-BE49-F238E27FC236}">
                <a16:creationId xmlns:a16="http://schemas.microsoft.com/office/drawing/2014/main" id="{EBFFAFDE-264C-438B-A02F-85F9E50F7A9E}"/>
              </a:ext>
            </a:extLst>
          </p:cNvPr>
          <p:cNvSpPr>
            <a:spLocks xmlns:a="http://schemas.openxmlformats.org/drawingml/2006/main" noGrp="1"/>
          </p:cNvSpPr>
          <p:nvPr/>
        </p:nvSpPr>
        <p:spPr>
          <a:xfrm xmlns:a="http://schemas.openxmlformats.org/drawingml/2006/main">
            <a:off x="8284464" y="4169664"/>
            <a:ext cx="438912" cy="438912"/>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 name="Google Shape;24;p3">
            <a:extLst xmlns:a="http://schemas.openxmlformats.org/drawingml/2006/main">
              <a:ext uri="{FF2B5EF4-FFF2-40B4-BE49-F238E27FC236}">
                <a16:creationId xmlns:a16="http://schemas.microsoft.com/office/drawing/2014/main" id="{52047E37-4816-41A7-B1A8-5ED7B16CE4CB}"/>
              </a:ext>
            </a:extLst>
          </p:cNvPr>
          <p:cNvSpPr>
            <a:spLocks xmlns:a="http://schemas.openxmlformats.org/drawingml/2006/main" noGrp="1"/>
          </p:cNvSpPr>
          <p:nvPr/>
        </p:nvSpPr>
        <p:spPr>
          <a:xfrm xmlns:a="http://schemas.openxmlformats.org/drawingml/2006/main">
            <a:off x="8408822" y="4294022"/>
            <a:ext cx="190195" cy="190195"/>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5" name="Google Shape;25;p3">
            <a:extLst xmlns:a="http://schemas.openxmlformats.org/drawingml/2006/main">
              <a:ext uri="{FF2B5EF4-FFF2-40B4-BE49-F238E27FC236}">
                <a16:creationId xmlns:a16="http://schemas.microsoft.com/office/drawing/2014/main" id="{6BC522C1-F2B8-42B0-BD23-EBBB4C5CE598}"/>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MOVEMENT ONE  ·  §§1.2 → 1.1</a:t>
            </a:r>
          </a:p>
        </p:txBody>
      </p:sp>
      <p:sp>
        <p:nvSpPr>
          <p:cNvPr id="26" name="Google Shape;26;p3">
            <a:extLst xmlns:a="http://schemas.openxmlformats.org/drawingml/2006/main">
              <a:ext uri="{FF2B5EF4-FFF2-40B4-BE49-F238E27FC236}">
                <a16:creationId xmlns:a16="http://schemas.microsoft.com/office/drawing/2014/main" id="{47A64A12-D1A5-441F-AA82-AF514D30EB90}"/>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4400" b="1" i="0" u="none" cap="none">
                <a:solidFill>
                  <a:srgbClr val="FFFFFF"/>
                </a:solidFill>
                <a:latin typeface="Cambria"/>
                <a:ea typeface="Cambria"/>
                <a:cs typeface="Cambria"/>
              </a:rPr>
              <a:t>What Knowledge Is, and Why It Is Needed</a:t>
            </a:r>
          </a:p>
        </p:txBody>
      </p:sp>
      <p:sp>
        <p:nvSpPr>
          <p:cNvPr id="27" name="Google Shape;27;p3">
            <a:extLst xmlns:a="http://schemas.openxmlformats.org/drawingml/2006/main">
              <a:ext uri="{FF2B5EF4-FFF2-40B4-BE49-F238E27FC236}">
                <a16:creationId xmlns:a16="http://schemas.microsoft.com/office/drawing/2014/main" id="{E7C7DAAD-F163-4083-A316-3C74C158297F}"/>
              </a:ext>
            </a:extLst>
          </p:cNvPr>
          <p:cNvSpPr>
            <a:spLocks xmlns:a="http://schemas.openxmlformats.org/drawingml/2006/main" noGrp="1"/>
          </p:cNvSpPr>
          <p:nvPr/>
        </p:nvSpPr>
        <p:spPr>
          <a:xfrm xmlns:a="http://schemas.openxmlformats.org/drawingml/2006/main">
            <a:off x="640080" y="3035808"/>
            <a:ext cx="484632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b="0" i="1" u="none" cap="none">
                <a:solidFill>
                  <a:srgbClr val="C9D4EF"/>
                </a:solidFill>
                <a:latin typeface="Calibri"/>
                <a:ea typeface="Calibri"/>
                <a:cs typeface="Calibri"/>
              </a:rPr>
              <a:t>Knowledge is realised understanding of coexistence, jeevan, and humane conduct — and freedom without it cannot reach the happiness sought.</a:t>
            </a:r>
          </a:p>
        </p:txBody>
      </p:sp>
      <p:sp>
        <p:nvSpPr>
          <p:cNvPr id="28" name="Google Shape;28;p3">
            <a:extLst xmlns:a="http://schemas.openxmlformats.org/drawingml/2006/main">
              <a:ext uri="{FF2B5EF4-FFF2-40B4-BE49-F238E27FC236}">
                <a16:creationId xmlns:a16="http://schemas.microsoft.com/office/drawing/2014/main" id="{458FAD9F-55D3-4855-B3DD-E51566B8BF19}"/>
              </a:ext>
            </a:extLst>
          </p:cNvPr>
          <p:cNvSpPr>
            <a:spLocks xmlns:a="http://schemas.openxmlformats.org/drawingml/2006/main" noGrp="1"/>
          </p:cNvSpPr>
          <p:nvPr/>
        </p:nvSpPr>
        <p:spPr>
          <a:xfrm xmlns:a="http://schemas.openxmlformats.org/drawingml/2006/main">
            <a:off x="640080" y="4370832"/>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Answers  ·  What is knowledge?  ·  Who is the knower?  ·  What is known?</a:t>
            </a:r>
          </a:p>
        </p:txBody>
      </p:sp>
      <p:sp>
        <p:nvSpPr>
          <p:cNvPr id="29" name="Google Shape;29;p3">
            <a:extLst xmlns:a="http://schemas.openxmlformats.org/drawingml/2006/main">
              <a:ext uri="{FF2B5EF4-FFF2-40B4-BE49-F238E27FC236}">
                <a16:creationId xmlns:a16="http://schemas.microsoft.com/office/drawing/2014/main" id="{DB10076E-E334-428A-B2C0-66347245EC4C}"/>
              </a:ext>
            </a:extLst>
          </p:cNvPr>
          <p:cNvSpPr>
            <a:spLocks xmlns:a="http://schemas.openxmlformats.org/drawingml/2006/main" noGrp="1"/>
          </p:cNvSpPr>
          <p:nvPr/>
        </p:nvSpPr>
        <p:spPr>
          <a:xfrm xmlns:a="http://schemas.openxmlformats.org/drawingml/2006/main">
            <a:off x="640080" y="466344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Stakes first, then the claim  ·  AnalyticMadhyasthDarshan.org  ·  3 / 36</a:t>
            </a:r>
          </a:p>
        </p:txBody>
      </p:sp>
    </p:spTree>
    <p:extLst>
      <p:ext uri="{BB962C8B-B14F-4D97-AF65-F5344CB8AC3E}">
        <p14:creationId xmlns:p14="http://schemas.microsoft.com/office/powerpoint/2010/main" val="9888984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5" name="Google Shape;455;p19">
            <a:extLst xmlns:a="http://schemas.openxmlformats.org/drawingml/2006/main">
              <a:ext uri="{FF2B5EF4-FFF2-40B4-BE49-F238E27FC236}">
                <a16:creationId xmlns:a16="http://schemas.microsoft.com/office/drawing/2014/main" id="{6442EB82-1422-4108-B116-5784404DFC1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6" name="Google Shape;456;p19">
            <a:extLst xmlns:a="http://schemas.openxmlformats.org/drawingml/2006/main">
              <a:ext uri="{FF2B5EF4-FFF2-40B4-BE49-F238E27FC236}">
                <a16:creationId xmlns:a16="http://schemas.microsoft.com/office/drawing/2014/main" id="{1F0C3D57-24D6-4278-93D2-E9A79C39BC4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7" name="Google Shape;457;p19">
            <a:extLst xmlns:a="http://schemas.openxmlformats.org/drawingml/2006/main">
              <a:ext uri="{FF2B5EF4-FFF2-40B4-BE49-F238E27FC236}">
                <a16:creationId xmlns:a16="http://schemas.microsoft.com/office/drawing/2014/main" id="{57899CEF-CD7B-402E-AC4C-5575832C085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8" name="Google Shape;458;p19">
            <a:extLst xmlns:a="http://schemas.openxmlformats.org/drawingml/2006/main">
              <a:ext uri="{FF2B5EF4-FFF2-40B4-BE49-F238E27FC236}">
                <a16:creationId xmlns:a16="http://schemas.microsoft.com/office/drawing/2014/main" id="{51335767-D53D-43F6-8B5A-91B90B7B9FBD}"/>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ONE · §1.2 · THE HUMAN PREDICAMENT</a:t>
            </a:r>
          </a:p>
        </p:txBody>
      </p:sp>
      <p:sp>
        <p:nvSpPr>
          <p:cNvPr id="459" name="Google Shape;459;p19">
            <a:extLst xmlns:a="http://schemas.openxmlformats.org/drawingml/2006/main">
              <a:ext uri="{FF2B5EF4-FFF2-40B4-BE49-F238E27FC236}">
                <a16:creationId xmlns:a16="http://schemas.microsoft.com/office/drawing/2014/main" id="{22BD32C7-ACF1-4879-B3CF-EBE1894B6E8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Why Knowledge Matters</a:t>
            </a:r>
          </a:p>
        </p:txBody>
      </p:sp>
      <p:sp>
        <p:nvSpPr>
          <p:cNvPr id="460" name="Google Shape;460;p19">
            <a:extLst xmlns:a="http://schemas.openxmlformats.org/drawingml/2006/main">
              <a:ext uri="{FF2B5EF4-FFF2-40B4-BE49-F238E27FC236}">
                <a16:creationId xmlns:a16="http://schemas.microsoft.com/office/drawing/2014/main" id="{A6AFFC79-45A0-4C47-99DD-D0052E75031A}"/>
              </a:ext>
            </a:extLst>
          </p:cNvPr>
          <p:cNvSpPr>
            <a:spLocks xmlns:a="http://schemas.openxmlformats.org/drawingml/2006/main" noGrp="1"/>
          </p:cNvSpPr>
          <p:nvPr/>
        </p:nvSpPr>
        <p:spPr>
          <a:xfrm xmlns:a="http://schemas.openxmlformats.org/drawingml/2006/main">
            <a:off x="640080" y="1207008"/>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Human beings seek happiness and can imagine and choose. Understanding is needed to give that freedom a clear direction.</a:t>
            </a:r>
          </a:p>
        </p:txBody>
      </p:sp>
      <p:sp>
        <p:nvSpPr>
          <p:cNvPr id="461" name="Google Shape;461;p19">
            <a:extLst xmlns:a="http://schemas.openxmlformats.org/drawingml/2006/main">
              <a:ext uri="{FF2B5EF4-FFF2-40B4-BE49-F238E27FC236}">
                <a16:creationId xmlns:a16="http://schemas.microsoft.com/office/drawing/2014/main" id="{2652AEEC-F12F-4C4F-AB0C-A68340BFA079}"/>
              </a:ext>
            </a:extLst>
          </p:cNvPr>
          <p:cNvSpPr>
            <a:spLocks xmlns:a="http://schemas.openxmlformats.org/drawingml/2006/main" noGrp="1"/>
          </p:cNvSpPr>
          <p:nvPr/>
        </p:nvSpPr>
        <p:spPr>
          <a:xfrm xmlns:a="http://schemas.openxmlformats.org/drawingml/2006/main">
            <a:off x="64008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2" name="Google Shape;462;p19">
            <a:extLst xmlns:a="http://schemas.openxmlformats.org/drawingml/2006/main">
              <a:ext uri="{FF2B5EF4-FFF2-40B4-BE49-F238E27FC236}">
                <a16:creationId xmlns:a16="http://schemas.microsoft.com/office/drawing/2014/main" id="{C2119089-8239-455F-ACE5-D83BCA57FA3A}"/>
              </a:ext>
            </a:extLst>
          </p:cNvPr>
          <p:cNvSpPr>
            <a:spLocks xmlns:a="http://schemas.openxmlformats.org/drawingml/2006/main" noGrp="1"/>
          </p:cNvSpPr>
          <p:nvPr/>
        </p:nvSpPr>
        <p:spPr>
          <a:xfrm xmlns:a="http://schemas.openxmlformats.org/drawingml/2006/main">
            <a:off x="84124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The aspiration — happiness</a:t>
            </a:r>
          </a:p>
        </p:txBody>
      </p:sp>
      <p:sp>
        <p:nvSpPr>
          <p:cNvPr id="463" name="Google Shape;463;p19">
            <a:extLst xmlns:a="http://schemas.openxmlformats.org/drawingml/2006/main">
              <a:ext uri="{FF2B5EF4-FFF2-40B4-BE49-F238E27FC236}">
                <a16:creationId xmlns:a16="http://schemas.microsoft.com/office/drawing/2014/main" id="{E3878145-1C26-491C-8870-38029F2261D6}"/>
              </a:ext>
            </a:extLst>
          </p:cNvPr>
          <p:cNvSpPr>
            <a:spLocks xmlns:a="http://schemas.openxmlformats.org/drawingml/2006/main" noGrp="1"/>
          </p:cNvSpPr>
          <p:nvPr/>
        </p:nvSpPr>
        <p:spPr>
          <a:xfrm xmlns:a="http://schemas.openxmlformats.org/drawingml/2006/main">
            <a:off x="84124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Happiness is the dharma of the human knowledge order: its enduring aspiration.</a:t>
            </a:r>
          </a:p>
        </p:txBody>
      </p:sp>
      <p:sp>
        <p:nvSpPr>
          <p:cNvPr id="464" name="Google Shape;464;p19">
            <a:extLst xmlns:a="http://schemas.openxmlformats.org/drawingml/2006/main">
              <a:ext uri="{FF2B5EF4-FFF2-40B4-BE49-F238E27FC236}">
                <a16:creationId xmlns:a16="http://schemas.microsoft.com/office/drawing/2014/main" id="{24A87DF5-703F-4D5A-A446-D9BDB327476A}"/>
              </a:ext>
            </a:extLst>
          </p:cNvPr>
          <p:cNvSpPr>
            <a:spLocks xmlns:a="http://schemas.openxmlformats.org/drawingml/2006/main" noGrp="1"/>
          </p:cNvSpPr>
          <p:nvPr/>
        </p:nvSpPr>
        <p:spPr>
          <a:xfrm xmlns:a="http://schemas.openxmlformats.org/drawingml/2006/main">
            <a:off x="470916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5" name="Google Shape;465;p19">
            <a:extLst xmlns:a="http://schemas.openxmlformats.org/drawingml/2006/main">
              <a:ext uri="{FF2B5EF4-FFF2-40B4-BE49-F238E27FC236}">
                <a16:creationId xmlns:a16="http://schemas.microsoft.com/office/drawing/2014/main" id="{587D34E1-5825-4E1C-A3BC-28850A83F548}"/>
              </a:ext>
            </a:extLst>
          </p:cNvPr>
          <p:cNvSpPr>
            <a:spLocks xmlns:a="http://schemas.openxmlformats.org/drawingml/2006/main" noGrp="1"/>
          </p:cNvSpPr>
          <p:nvPr/>
        </p:nvSpPr>
        <p:spPr>
          <a:xfrm xmlns:a="http://schemas.openxmlformats.org/drawingml/2006/main">
            <a:off x="491032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The gift — imagination and freedom</a:t>
            </a:r>
          </a:p>
        </p:txBody>
      </p:sp>
      <p:sp>
        <p:nvSpPr>
          <p:cNvPr id="466" name="Google Shape;466;p19">
            <a:extLst xmlns:a="http://schemas.openxmlformats.org/drawingml/2006/main">
              <a:ext uri="{FF2B5EF4-FFF2-40B4-BE49-F238E27FC236}">
                <a16:creationId xmlns:a16="http://schemas.microsoft.com/office/drawing/2014/main" id="{1A09B0C6-2C25-443F-8E8B-359D54B9D3D5}"/>
              </a:ext>
            </a:extLst>
          </p:cNvPr>
          <p:cNvSpPr>
            <a:spLocks xmlns:a="http://schemas.openxmlformats.org/drawingml/2006/main" noGrp="1"/>
          </p:cNvSpPr>
          <p:nvPr/>
        </p:nvSpPr>
        <p:spPr>
          <a:xfrm xmlns:a="http://schemas.openxmlformats.org/drawingml/2006/main">
            <a:off x="491032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Human conduct develops through understanding and culture. Every jeevan has equal capacity to realise coexistence.</a:t>
            </a:r>
          </a:p>
        </p:txBody>
      </p:sp>
      <p:sp>
        <p:nvSpPr>
          <p:cNvPr id="467" name="Google Shape;467;p19">
            <a:extLst xmlns:a="http://schemas.openxmlformats.org/drawingml/2006/main">
              <a:ext uri="{FF2B5EF4-FFF2-40B4-BE49-F238E27FC236}">
                <a16:creationId xmlns:a16="http://schemas.microsoft.com/office/drawing/2014/main" id="{A9D98D41-5749-4CA8-9AB6-3C4331B1F4B2}"/>
              </a:ext>
            </a:extLst>
          </p:cNvPr>
          <p:cNvSpPr>
            <a:spLocks xmlns:a="http://schemas.openxmlformats.org/drawingml/2006/main" noGrp="1"/>
          </p:cNvSpPr>
          <p:nvPr/>
        </p:nvSpPr>
        <p:spPr>
          <a:xfrm xmlns:a="http://schemas.openxmlformats.org/drawingml/2006/main">
            <a:off x="640080" y="324612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8" name="Google Shape;468;p19">
            <a:extLst xmlns:a="http://schemas.openxmlformats.org/drawingml/2006/main">
              <a:ext uri="{FF2B5EF4-FFF2-40B4-BE49-F238E27FC236}">
                <a16:creationId xmlns:a16="http://schemas.microsoft.com/office/drawing/2014/main" id="{3E75C652-C505-4E6A-BFF1-3F16ED86EB2E}"/>
              </a:ext>
            </a:extLst>
          </p:cNvPr>
          <p:cNvSpPr>
            <a:spLocks xmlns:a="http://schemas.openxmlformats.org/drawingml/2006/main" noGrp="1"/>
          </p:cNvSpPr>
          <p:nvPr/>
        </p:nvSpPr>
        <p:spPr>
          <a:xfrm xmlns:a="http://schemas.openxmlformats.org/drawingml/2006/main">
            <a:off x="84124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The failure — delusion</a:t>
            </a:r>
          </a:p>
        </p:txBody>
      </p:sp>
      <p:sp>
        <p:nvSpPr>
          <p:cNvPr id="469" name="Google Shape;469;p19">
            <a:extLst xmlns:a="http://schemas.openxmlformats.org/drawingml/2006/main">
              <a:ext uri="{FF2B5EF4-FFF2-40B4-BE49-F238E27FC236}">
                <a16:creationId xmlns:a16="http://schemas.microsoft.com/office/drawing/2014/main" id="{37640E8C-9898-450C-9F07-A3CB1B5FBB51}"/>
              </a:ext>
            </a:extLst>
          </p:cNvPr>
          <p:cNvSpPr>
            <a:spLocks xmlns:a="http://schemas.openxmlformats.org/drawingml/2006/main" noGrp="1"/>
          </p:cNvSpPr>
          <p:nvPr/>
        </p:nvSpPr>
        <p:spPr>
          <a:xfrm xmlns:a="http://schemas.openxmlformats.org/drawingml/2006/main">
            <a:off x="84124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body is mistaken for the self, and passing sensory pleasure is expected to provide lasting happiness.</a:t>
            </a:r>
          </a:p>
        </p:txBody>
      </p:sp>
      <p:sp>
        <p:nvSpPr>
          <p:cNvPr id="470" name="Google Shape;470;p19">
            <a:extLst xmlns:a="http://schemas.openxmlformats.org/drawingml/2006/main">
              <a:ext uri="{FF2B5EF4-FFF2-40B4-BE49-F238E27FC236}">
                <a16:creationId xmlns:a16="http://schemas.microsoft.com/office/drawing/2014/main" id="{D1BF83F1-7747-433B-A60C-B6BE509139A7}"/>
              </a:ext>
            </a:extLst>
          </p:cNvPr>
          <p:cNvSpPr>
            <a:spLocks xmlns:a="http://schemas.openxmlformats.org/drawingml/2006/main" noGrp="1"/>
          </p:cNvSpPr>
          <p:nvPr/>
        </p:nvSpPr>
        <p:spPr>
          <a:xfrm xmlns:a="http://schemas.openxmlformats.org/drawingml/2006/main">
            <a:off x="4709160" y="3246120"/>
            <a:ext cx="3794760" cy="1280160"/>
          </a:xfrm>
          <a:prstGeom xmlns:a="http://schemas.openxmlformats.org/drawingml/2006/main" prst="roundRect">
            <a:avLst>
              <a:gd name="adj" fmla="val 6429"/>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71" name="Google Shape;471;p19">
            <a:extLst xmlns:a="http://schemas.openxmlformats.org/drawingml/2006/main">
              <a:ext uri="{FF2B5EF4-FFF2-40B4-BE49-F238E27FC236}">
                <a16:creationId xmlns:a16="http://schemas.microsoft.com/office/drawing/2014/main" id="{3C6187CA-DB80-4E68-B45B-CBADC961F742}"/>
              </a:ext>
            </a:extLst>
          </p:cNvPr>
          <p:cNvSpPr>
            <a:spLocks xmlns:a="http://schemas.openxmlformats.org/drawingml/2006/main" noGrp="1"/>
          </p:cNvSpPr>
          <p:nvPr/>
        </p:nvSpPr>
        <p:spPr>
          <a:xfrm xmlns:a="http://schemas.openxmlformats.org/drawingml/2006/main">
            <a:off x="491032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9A6414"/>
                </a:solidFill>
                <a:latin typeface="Cambria"/>
                <a:ea typeface="Cambria"/>
                <a:cs typeface="Cambria"/>
              </a:rPr>
              <a:t>The remedy — resolution</a:t>
            </a:r>
          </a:p>
        </p:txBody>
      </p:sp>
      <p:sp>
        <p:nvSpPr>
          <p:cNvPr id="472" name="Google Shape;472;p19">
            <a:extLst xmlns:a="http://schemas.openxmlformats.org/drawingml/2006/main">
              <a:ext uri="{FF2B5EF4-FFF2-40B4-BE49-F238E27FC236}">
                <a16:creationId xmlns:a16="http://schemas.microsoft.com/office/drawing/2014/main" id="{43B6A619-54E0-43CE-9B72-C41E5A13C880}"/>
              </a:ext>
            </a:extLst>
          </p:cNvPr>
          <p:cNvSpPr>
            <a:spLocks xmlns:a="http://schemas.openxmlformats.org/drawingml/2006/main" noGrp="1"/>
          </p:cNvSpPr>
          <p:nvPr/>
        </p:nvSpPr>
        <p:spPr>
          <a:xfrm xmlns:a="http://schemas.openxmlformats.org/drawingml/2006/main">
            <a:off x="491032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Resolution means understanding what happens, why it happens, and how to act coherently.</a:t>
            </a:r>
          </a:p>
        </p:txBody>
      </p:sp>
      <p:sp>
        <p:nvSpPr>
          <p:cNvPr id="473" name="Google Shape;473;p19">
            <a:extLst xmlns:a="http://schemas.openxmlformats.org/drawingml/2006/main">
              <a:ext uri="{FF2B5EF4-FFF2-40B4-BE49-F238E27FC236}">
                <a16:creationId xmlns:a16="http://schemas.microsoft.com/office/drawing/2014/main" id="{14D9C93B-C570-40AD-A8BE-2A6E2FF4D82B}"/>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Knowledge gives human freedom a coherent direction. · AnalyticMadhyasthDarshan.org · 4 / 36</a:t>
            </a:r>
          </a:p>
        </p:txBody>
      </p:sp>
    </p:spTree>
    <p:extLst>
      <p:ext uri="{BB962C8B-B14F-4D97-AF65-F5344CB8AC3E}">
        <p14:creationId xmlns:p14="http://schemas.microsoft.com/office/powerpoint/2010/main" val="16278645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5" name="Google Shape;455;p19">
            <a:extLst xmlns:a="http://schemas.openxmlformats.org/drawingml/2006/main">
              <a:ext uri="{FF2B5EF4-FFF2-40B4-BE49-F238E27FC236}">
                <a16:creationId xmlns:a16="http://schemas.microsoft.com/office/drawing/2014/main" id="{6442EB82-1422-4108-B116-5784404DFC1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6" name="Google Shape;456;p19">
            <a:extLst xmlns:a="http://schemas.openxmlformats.org/drawingml/2006/main">
              <a:ext uri="{FF2B5EF4-FFF2-40B4-BE49-F238E27FC236}">
                <a16:creationId xmlns:a16="http://schemas.microsoft.com/office/drawing/2014/main" id="{1F0C3D57-24D6-4278-93D2-E9A79C39BC4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7" name="Google Shape;457;p19">
            <a:extLst xmlns:a="http://schemas.openxmlformats.org/drawingml/2006/main">
              <a:ext uri="{FF2B5EF4-FFF2-40B4-BE49-F238E27FC236}">
                <a16:creationId xmlns:a16="http://schemas.microsoft.com/office/drawing/2014/main" id="{57899CEF-CD7B-402E-AC4C-5575832C085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8" name="Google Shape;458;p19">
            <a:extLst xmlns:a="http://schemas.openxmlformats.org/drawingml/2006/main">
              <a:ext uri="{FF2B5EF4-FFF2-40B4-BE49-F238E27FC236}">
                <a16:creationId xmlns:a16="http://schemas.microsoft.com/office/drawing/2014/main" id="{51335767-D53D-43F6-8B5A-91B90B7B9FBD}"/>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ONE · §1.2 · THE HUMAN GOAL</a:t>
            </a:r>
          </a:p>
        </p:txBody>
      </p:sp>
      <p:sp>
        <p:nvSpPr>
          <p:cNvPr id="459" name="Google Shape;459;p19">
            <a:extLst xmlns:a="http://schemas.openxmlformats.org/drawingml/2006/main">
              <a:ext uri="{FF2B5EF4-FFF2-40B4-BE49-F238E27FC236}">
                <a16:creationId xmlns:a16="http://schemas.microsoft.com/office/drawing/2014/main" id="{22BD32C7-ACF1-4879-B3CF-EBE1894B6E8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Human Goal Sets the Stakes</a:t>
            </a:r>
          </a:p>
        </p:txBody>
      </p:sp>
      <p:sp>
        <p:nvSpPr>
          <p:cNvPr id="460" name="Google Shape;460;p19">
            <a:extLst xmlns:a="http://schemas.openxmlformats.org/drawingml/2006/main">
              <a:ext uri="{FF2B5EF4-FFF2-40B4-BE49-F238E27FC236}">
                <a16:creationId xmlns:a16="http://schemas.microsoft.com/office/drawing/2014/main" id="{A6AFFC79-45A0-4C47-99DD-D0052E75031A}"/>
              </a:ext>
            </a:extLst>
          </p:cNvPr>
          <p:cNvSpPr>
            <a:spLocks xmlns:a="http://schemas.openxmlformats.org/drawingml/2006/main" noGrp="1"/>
          </p:cNvSpPr>
          <p:nvPr/>
        </p:nvSpPr>
        <p:spPr>
          <a:xfrm xmlns:a="http://schemas.openxmlformats.org/drawingml/2006/main">
            <a:off x="640080" y="1207008"/>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Knowledge is needed for a definite goal. Madhyasth Darshan states it at four scales that must hold together, none substituting for another.</a:t>
            </a:r>
          </a:p>
        </p:txBody>
      </p:sp>
      <p:sp>
        <p:nvSpPr>
          <p:cNvPr id="461" name="Google Shape;461;p19">
            <a:extLst xmlns:a="http://schemas.openxmlformats.org/drawingml/2006/main">
              <a:ext uri="{FF2B5EF4-FFF2-40B4-BE49-F238E27FC236}">
                <a16:creationId xmlns:a16="http://schemas.microsoft.com/office/drawing/2014/main" id="{2652AEEC-F12F-4C4F-AB0C-A68340BFA079}"/>
              </a:ext>
            </a:extLst>
          </p:cNvPr>
          <p:cNvSpPr>
            <a:spLocks xmlns:a="http://schemas.openxmlformats.org/drawingml/2006/main" noGrp="1"/>
          </p:cNvSpPr>
          <p:nvPr/>
        </p:nvSpPr>
        <p:spPr>
          <a:xfrm xmlns:a="http://schemas.openxmlformats.org/drawingml/2006/main">
            <a:off x="64008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2" name="Google Shape;462;p19">
            <a:extLst xmlns:a="http://schemas.openxmlformats.org/drawingml/2006/main">
              <a:ext uri="{FF2B5EF4-FFF2-40B4-BE49-F238E27FC236}">
                <a16:creationId xmlns:a16="http://schemas.microsoft.com/office/drawing/2014/main" id="{C2119089-8239-455F-ACE5-D83BCA57FA3A}"/>
              </a:ext>
            </a:extLst>
          </p:cNvPr>
          <p:cNvSpPr>
            <a:spLocks xmlns:a="http://schemas.openxmlformats.org/drawingml/2006/main" noGrp="1"/>
          </p:cNvSpPr>
          <p:nvPr/>
        </p:nvSpPr>
        <p:spPr>
          <a:xfrm xmlns:a="http://schemas.openxmlformats.org/drawingml/2006/main">
            <a:off x="84124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Resolution — in the person</a:t>
            </a:r>
          </a:p>
        </p:txBody>
      </p:sp>
      <p:sp>
        <p:nvSpPr>
          <p:cNvPr id="463" name="Google Shape;463;p19">
            <a:extLst xmlns:a="http://schemas.openxmlformats.org/drawingml/2006/main">
              <a:ext uri="{FF2B5EF4-FFF2-40B4-BE49-F238E27FC236}">
                <a16:creationId xmlns:a16="http://schemas.microsoft.com/office/drawing/2014/main" id="{E3878145-1C26-491C-8870-38029F2261D6}"/>
              </a:ext>
            </a:extLst>
          </p:cNvPr>
          <p:cNvSpPr>
            <a:spLocks xmlns:a="http://schemas.openxmlformats.org/drawingml/2006/main" noGrp="1"/>
          </p:cNvSpPr>
          <p:nvPr/>
        </p:nvSpPr>
        <p:spPr>
          <a:xfrm xmlns:a="http://schemas.openxmlformats.org/drawingml/2006/main">
            <a:off x="84124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Freedom from delusion and comprehensive resolution: the why and how of activity become clear.</a:t>
            </a:r>
          </a:p>
        </p:txBody>
      </p:sp>
      <p:sp>
        <p:nvSpPr>
          <p:cNvPr id="464" name="Google Shape;464;p19">
            <a:extLst xmlns:a="http://schemas.openxmlformats.org/drawingml/2006/main">
              <a:ext uri="{FF2B5EF4-FFF2-40B4-BE49-F238E27FC236}">
                <a16:creationId xmlns:a16="http://schemas.microsoft.com/office/drawing/2014/main" id="{24A87DF5-703F-4D5A-A446-D9BDB327476A}"/>
              </a:ext>
            </a:extLst>
          </p:cNvPr>
          <p:cNvSpPr>
            <a:spLocks xmlns:a="http://schemas.openxmlformats.org/drawingml/2006/main" noGrp="1"/>
          </p:cNvSpPr>
          <p:nvPr/>
        </p:nvSpPr>
        <p:spPr>
          <a:xfrm xmlns:a="http://schemas.openxmlformats.org/drawingml/2006/main">
            <a:off x="470916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5" name="Google Shape;465;p19">
            <a:extLst xmlns:a="http://schemas.openxmlformats.org/drawingml/2006/main">
              <a:ext uri="{FF2B5EF4-FFF2-40B4-BE49-F238E27FC236}">
                <a16:creationId xmlns:a16="http://schemas.microsoft.com/office/drawing/2014/main" id="{587D34E1-5825-4E1C-A3BC-28850A83F548}"/>
              </a:ext>
            </a:extLst>
          </p:cNvPr>
          <p:cNvSpPr>
            <a:spLocks xmlns:a="http://schemas.openxmlformats.org/drawingml/2006/main" noGrp="1"/>
          </p:cNvSpPr>
          <p:nvPr/>
        </p:nvSpPr>
        <p:spPr>
          <a:xfrm xmlns:a="http://schemas.openxmlformats.org/drawingml/2006/main">
            <a:off x="491032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Prosperity — in the family</a:t>
            </a:r>
          </a:p>
        </p:txBody>
      </p:sp>
      <p:sp>
        <p:nvSpPr>
          <p:cNvPr id="466" name="Google Shape;466;p19">
            <a:extLst xmlns:a="http://schemas.openxmlformats.org/drawingml/2006/main">
              <a:ext uri="{FF2B5EF4-FFF2-40B4-BE49-F238E27FC236}">
                <a16:creationId xmlns:a16="http://schemas.microsoft.com/office/drawing/2014/main" id="{1A09B0C6-2C25-443F-8E8B-359D54B9D3D5}"/>
              </a:ext>
            </a:extLst>
          </p:cNvPr>
          <p:cNvSpPr>
            <a:spLocks xmlns:a="http://schemas.openxmlformats.org/drawingml/2006/main" noGrp="1"/>
          </p:cNvSpPr>
          <p:nvPr/>
        </p:nvSpPr>
        <p:spPr>
          <a:xfrm xmlns:a="http://schemas.openxmlformats.org/drawingml/2006/main">
            <a:off x="491032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Assured availability of physical means in excess of properly assessed need, not unlimited accumulation.</a:t>
            </a:r>
          </a:p>
        </p:txBody>
      </p:sp>
      <p:sp>
        <p:nvSpPr>
          <p:cNvPr id="467" name="Google Shape;467;p19">
            <a:extLst xmlns:a="http://schemas.openxmlformats.org/drawingml/2006/main">
              <a:ext uri="{FF2B5EF4-FFF2-40B4-BE49-F238E27FC236}">
                <a16:creationId xmlns:a16="http://schemas.microsoft.com/office/drawing/2014/main" id="{A9D98D41-5749-4CA8-9AB6-3C4331B1F4B2}"/>
              </a:ext>
            </a:extLst>
          </p:cNvPr>
          <p:cNvSpPr>
            <a:spLocks xmlns:a="http://schemas.openxmlformats.org/drawingml/2006/main" noGrp="1"/>
          </p:cNvSpPr>
          <p:nvPr/>
        </p:nvSpPr>
        <p:spPr>
          <a:xfrm xmlns:a="http://schemas.openxmlformats.org/drawingml/2006/main">
            <a:off x="640080" y="324612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8" name="Google Shape;468;p19">
            <a:extLst xmlns:a="http://schemas.openxmlformats.org/drawingml/2006/main">
              <a:ext uri="{FF2B5EF4-FFF2-40B4-BE49-F238E27FC236}">
                <a16:creationId xmlns:a16="http://schemas.microsoft.com/office/drawing/2014/main" id="{3E75C652-C505-4E6A-BFF1-3F16ED86EB2E}"/>
              </a:ext>
            </a:extLst>
          </p:cNvPr>
          <p:cNvSpPr>
            <a:spLocks xmlns:a="http://schemas.openxmlformats.org/drawingml/2006/main" noGrp="1"/>
          </p:cNvSpPr>
          <p:nvPr/>
        </p:nvSpPr>
        <p:spPr>
          <a:xfrm xmlns:a="http://schemas.openxmlformats.org/drawingml/2006/main">
            <a:off x="84124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Fearlessness — in society</a:t>
            </a:r>
          </a:p>
        </p:txBody>
      </p:sp>
      <p:sp>
        <p:nvSpPr>
          <p:cNvPr id="469" name="Google Shape;469;p19">
            <a:extLst xmlns:a="http://schemas.openxmlformats.org/drawingml/2006/main">
              <a:ext uri="{FF2B5EF4-FFF2-40B4-BE49-F238E27FC236}">
                <a16:creationId xmlns:a16="http://schemas.microsoft.com/office/drawing/2014/main" id="{37640E8C-9898-450C-9F07-A3CB1B5FBB51}"/>
              </a:ext>
            </a:extLst>
          </p:cNvPr>
          <p:cNvSpPr>
            <a:spLocks xmlns:a="http://schemas.openxmlformats.org/drawingml/2006/main" noGrp="1"/>
          </p:cNvSpPr>
          <p:nvPr/>
        </p:nvSpPr>
        <p:spPr>
          <a:xfrm xmlns:a="http://schemas.openxmlformats.org/drawingml/2006/main">
            <a:off x="84124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Rests on trust, justice, and freedom from exploitation, not on protection through domination.</a:t>
            </a:r>
          </a:p>
        </p:txBody>
      </p:sp>
      <p:sp>
        <p:nvSpPr>
          <p:cNvPr id="470" name="Google Shape;470;p19">
            <a:extLst xmlns:a="http://schemas.openxmlformats.org/drawingml/2006/main">
              <a:ext uri="{FF2B5EF4-FFF2-40B4-BE49-F238E27FC236}">
                <a16:creationId xmlns:a16="http://schemas.microsoft.com/office/drawing/2014/main" id="{D1BF83F1-7747-433B-A60C-B6BE509139A7}"/>
              </a:ext>
            </a:extLst>
          </p:cNvPr>
          <p:cNvSpPr>
            <a:spLocks xmlns:a="http://schemas.openxmlformats.org/drawingml/2006/main" noGrp="1"/>
          </p:cNvSpPr>
          <p:nvPr/>
        </p:nvSpPr>
        <p:spPr>
          <a:xfrm xmlns:a="http://schemas.openxmlformats.org/drawingml/2006/main">
            <a:off x="4709160" y="3246120"/>
            <a:ext cx="3794760" cy="1280160"/>
          </a:xfrm>
          <a:prstGeom xmlns:a="http://schemas.openxmlformats.org/drawingml/2006/main" prst="roundRect">
            <a:avLst>
              <a:gd name="adj" fmla="val 6429"/>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71" name="Google Shape;471;p19">
            <a:extLst xmlns:a="http://schemas.openxmlformats.org/drawingml/2006/main">
              <a:ext uri="{FF2B5EF4-FFF2-40B4-BE49-F238E27FC236}">
                <a16:creationId xmlns:a16="http://schemas.microsoft.com/office/drawing/2014/main" id="{3C6187CA-DB80-4E68-B45B-CBADC961F742}"/>
              </a:ext>
            </a:extLst>
          </p:cNvPr>
          <p:cNvSpPr>
            <a:spLocks xmlns:a="http://schemas.openxmlformats.org/drawingml/2006/main" noGrp="1"/>
          </p:cNvSpPr>
          <p:nvPr/>
        </p:nvSpPr>
        <p:spPr>
          <a:xfrm xmlns:a="http://schemas.openxmlformats.org/drawingml/2006/main">
            <a:off x="491032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9A6414"/>
                </a:solidFill>
                <a:latin typeface="Cambria"/>
                <a:ea typeface="Cambria"/>
                <a:cs typeface="Cambria"/>
              </a:rPr>
              <a:t>Coexistence — in orderliness</a:t>
            </a:r>
          </a:p>
        </p:txBody>
      </p:sp>
      <p:sp>
        <p:nvSpPr>
          <p:cNvPr id="472" name="Google Shape;472;p19">
            <a:extLst xmlns:a="http://schemas.openxmlformats.org/drawingml/2006/main">
              <a:ext uri="{FF2B5EF4-FFF2-40B4-BE49-F238E27FC236}">
                <a16:creationId xmlns:a16="http://schemas.microsoft.com/office/drawing/2014/main" id="{43B6A619-54E0-43CE-9B72-C41E5A13C880}"/>
              </a:ext>
            </a:extLst>
          </p:cNvPr>
          <p:cNvSpPr>
            <a:spLocks xmlns:a="http://schemas.openxmlformats.org/drawingml/2006/main" noGrp="1"/>
          </p:cNvSpPr>
          <p:nvPr/>
        </p:nvSpPr>
        <p:spPr>
          <a:xfrm xmlns:a="http://schemas.openxmlformats.org/drawingml/2006/main">
            <a:off x="491032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Participation without contradiction in an undivided society and the wider natural order.</a:t>
            </a:r>
          </a:p>
        </p:txBody>
      </p:sp>
      <p:sp>
        <p:nvSpPr>
          <p:cNvPr id="473" name="Google Shape;473;p19">
            <a:extLst xmlns:a="http://schemas.openxmlformats.org/drawingml/2006/main">
              <a:ext uri="{FF2B5EF4-FFF2-40B4-BE49-F238E27FC236}">
                <a16:creationId xmlns:a16="http://schemas.microsoft.com/office/drawing/2014/main" id="{14D9C93B-C570-40AD-A8BE-2A6E2FF4D82B}"/>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Human goals and jeevan values develop together — see slide 16. · AnalyticMadhyasthDarshan.org · 5 / 36</a:t>
            </a:r>
          </a:p>
        </p:txBody>
      </p:sp>
    </p:spTree>
    <p:extLst>
      <p:ext uri="{BB962C8B-B14F-4D97-AF65-F5344CB8AC3E}">
        <p14:creationId xmlns:p14="http://schemas.microsoft.com/office/powerpoint/2010/main" val="16278645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Google Shape;94;p6">
            <a:extLst xmlns:a="http://schemas.openxmlformats.org/drawingml/2006/main">
              <a:ext uri="{FF2B5EF4-FFF2-40B4-BE49-F238E27FC236}">
                <a16:creationId xmlns:a16="http://schemas.microsoft.com/office/drawing/2014/main" id="{EBEF7F00-6B49-4A97-A2C9-3872E7D6570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5" name="Google Shape;95;p6">
            <a:extLst xmlns:a="http://schemas.openxmlformats.org/drawingml/2006/main">
              <a:ext uri="{FF2B5EF4-FFF2-40B4-BE49-F238E27FC236}">
                <a16:creationId xmlns:a16="http://schemas.microsoft.com/office/drawing/2014/main" id="{C70F0F84-9DBC-4050-9671-0D5C5FC1E52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6" name="Google Shape;96;p6">
            <a:extLst xmlns:a="http://schemas.openxmlformats.org/drawingml/2006/main">
              <a:ext uri="{FF2B5EF4-FFF2-40B4-BE49-F238E27FC236}">
                <a16:creationId xmlns:a16="http://schemas.microsoft.com/office/drawing/2014/main" id="{C80D0AF3-2895-41D8-92FE-B1605469D17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7" name="Google Shape;97;p6">
            <a:extLst xmlns:a="http://schemas.openxmlformats.org/drawingml/2006/main">
              <a:ext uri="{FF2B5EF4-FFF2-40B4-BE49-F238E27FC236}">
                <a16:creationId xmlns:a16="http://schemas.microsoft.com/office/drawing/2014/main" id="{1B657EC0-01A7-4BB0-9C90-17C378E295E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ONE · §1.2 · GYAN · VIVEK · VIGYAN</a:t>
            </a:r>
          </a:p>
        </p:txBody>
      </p:sp>
      <p:sp>
        <p:nvSpPr>
          <p:cNvPr id="98" name="Google Shape;98;p6">
            <a:extLst xmlns:a="http://schemas.openxmlformats.org/drawingml/2006/main">
              <a:ext uri="{FF2B5EF4-FFF2-40B4-BE49-F238E27FC236}">
                <a16:creationId xmlns:a16="http://schemas.microsoft.com/office/drawing/2014/main" id="{4ECCC323-9F8F-4642-988C-7822F9C0A396}"/>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Knowledge, Wisdom, and Science Differ</a:t>
            </a:r>
          </a:p>
        </p:txBody>
      </p:sp>
      <p:sp>
        <p:nvSpPr>
          <p:cNvPr id="99" name="Google Shape;99;p6">
            <a:extLst xmlns:a="http://schemas.openxmlformats.org/drawingml/2006/main">
              <a:ext uri="{FF2B5EF4-FFF2-40B4-BE49-F238E27FC236}">
                <a16:creationId xmlns:a16="http://schemas.microsoft.com/office/drawing/2014/main" id="{DF6B4B7B-D28E-4416-8924-A7383F929BB2}"/>
              </a:ext>
            </a:extLst>
          </p:cNvPr>
          <p:cNvSpPr>
            <a:spLocks xmlns:a="http://schemas.openxmlformats.org/drawingml/2006/main" noGrp="1"/>
          </p:cNvSpPr>
          <p:nvPr/>
        </p:nvSpPr>
        <p:spPr>
          <a:xfrm xmlns:a="http://schemas.openxmlformats.org/drawingml/2006/main">
            <a:off x="640080" y="1207008"/>
            <a:ext cx="7955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Understanding must recognise reality, clarify the human goal, and determine how to fulfil it.</a:t>
            </a:r>
          </a:p>
        </p:txBody>
      </p:sp>
      <p:sp>
        <p:nvSpPr>
          <p:cNvPr id="100" name="Google Shape;100;p6">
            <a:extLst xmlns:a="http://schemas.openxmlformats.org/drawingml/2006/main">
              <a:ext uri="{FF2B5EF4-FFF2-40B4-BE49-F238E27FC236}">
                <a16:creationId xmlns:a16="http://schemas.microsoft.com/office/drawing/2014/main" id="{DACC0896-F0C0-40F4-B10C-573B8F396051}"/>
              </a:ext>
            </a:extLst>
          </p:cNvPr>
          <p:cNvSpPr>
            <a:spLocks xmlns:a="http://schemas.openxmlformats.org/drawingml/2006/main" noGrp="1"/>
          </p:cNvSpPr>
          <p:nvPr/>
        </p:nvSpPr>
        <p:spPr>
          <a:xfrm xmlns:a="http://schemas.openxmlformats.org/drawingml/2006/main">
            <a:off x="640080"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1" name="Google Shape;101;p6">
            <a:extLst xmlns:a="http://schemas.openxmlformats.org/drawingml/2006/main">
              <a:ext uri="{FF2B5EF4-FFF2-40B4-BE49-F238E27FC236}">
                <a16:creationId xmlns:a16="http://schemas.microsoft.com/office/drawing/2014/main" id="{322BBC30-630B-42E3-9DD2-412D0D9AEC97}"/>
              </a:ext>
            </a:extLst>
          </p:cNvPr>
          <p:cNvSpPr>
            <a:spLocks xmlns:a="http://schemas.openxmlformats.org/drawingml/2006/main" noGrp="1"/>
          </p:cNvSpPr>
          <p:nvPr/>
        </p:nvSpPr>
        <p:spPr>
          <a:xfrm xmlns:a="http://schemas.openxmlformats.org/drawingml/2006/main">
            <a:off x="841248"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27" name="Google Shape;102;p6"/>
          <p:cNvPicPr>
            <a:picLocks xmlns:a="http://schemas.openxmlformats.org/drawingml/2006/main" noChangeAspect="1"/>
          </p:cNvPicPr>
          <p:nvPr/>
        </p:nvPicPr>
        <p:blipFill rotWithShape="1">
          <a:blip xmlns:r="http://schemas.openxmlformats.org/officeDocument/2006/relationships" xmlns:a="http://schemas.openxmlformats.org/drawingml/2006/main" r:embed="Rc5eb9fa1deda4a8d">
            <a:alphaModFix/>
          </a:blip>
          <a:srcRect xmlns:a="http://schemas.openxmlformats.org/drawingml/2006/main" l="0" t="0" r="0" b="0"/>
          <a:stretch xmlns:a="http://schemas.openxmlformats.org/drawingml/2006/main"/>
        </p:blipFill>
        <p:spPr>
          <a:xfrm xmlns:a="http://schemas.openxmlformats.org/drawingml/2006/main">
            <a:off x="960120" y="2331720"/>
            <a:ext cx="219456" cy="219456"/>
          </a:xfrm>
          <a:prstGeom xmlns:a="http://schemas.openxmlformats.org/drawingml/2006/main" prst="rect">
            <a:avLst/>
          </a:prstGeom>
          <a:ln xmlns:a="http://schemas.openxmlformats.org/drawingml/2006/main">
            <a:noFill/>
          </a:ln>
        </p:spPr>
      </p:pic>
      <p:sp>
        <p:nvSpPr>
          <p:cNvPr id="103" name="Google Shape;103;p6">
            <a:extLst xmlns:a="http://schemas.openxmlformats.org/drawingml/2006/main">
              <a:ext uri="{FF2B5EF4-FFF2-40B4-BE49-F238E27FC236}">
                <a16:creationId xmlns:a16="http://schemas.microsoft.com/office/drawing/2014/main" id="{4B81C68F-F7F1-4BFA-948A-90AE27C808EF}"/>
              </a:ext>
            </a:extLst>
          </p:cNvPr>
          <p:cNvSpPr>
            <a:spLocks xmlns:a="http://schemas.openxmlformats.org/drawingml/2006/main" noGrp="1"/>
          </p:cNvSpPr>
          <p:nvPr/>
        </p:nvSpPr>
        <p:spPr>
          <a:xfrm xmlns:a="http://schemas.openxmlformats.org/drawingml/2006/main">
            <a:off x="841248"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Gyan — knowledge</a:t>
            </a:r>
          </a:p>
        </p:txBody>
      </p:sp>
      <p:sp>
        <p:nvSpPr>
          <p:cNvPr id="104" name="Google Shape;104;p6">
            <a:extLst xmlns:a="http://schemas.openxmlformats.org/drawingml/2006/main">
              <a:ext uri="{FF2B5EF4-FFF2-40B4-BE49-F238E27FC236}">
                <a16:creationId xmlns:a16="http://schemas.microsoft.com/office/drawing/2014/main" id="{91E8706C-5C84-49C2-950C-C985E9B97FEE}"/>
              </a:ext>
            </a:extLst>
          </p:cNvPr>
          <p:cNvSpPr>
            <a:spLocks xmlns:a="http://schemas.openxmlformats.org/drawingml/2006/main" noGrp="1"/>
          </p:cNvSpPr>
          <p:nvPr/>
        </p:nvSpPr>
        <p:spPr>
          <a:xfrm xmlns:a="http://schemas.openxmlformats.org/drawingml/2006/main">
            <a:off x="841248"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Realised understanding of coexistence, jeevan, and humane conduct.</a:t>
            </a:r>
          </a:p>
        </p:txBody>
      </p:sp>
      <p:sp>
        <p:nvSpPr>
          <p:cNvPr id="105" name="Google Shape;105;p6">
            <a:extLst xmlns:a="http://schemas.openxmlformats.org/drawingml/2006/main">
              <a:ext uri="{FF2B5EF4-FFF2-40B4-BE49-F238E27FC236}">
                <a16:creationId xmlns:a16="http://schemas.microsoft.com/office/drawing/2014/main" id="{7F5058FF-1BB9-4921-BA6D-F70E2BC028FE}"/>
              </a:ext>
            </a:extLst>
          </p:cNvPr>
          <p:cNvSpPr>
            <a:spLocks xmlns:a="http://schemas.openxmlformats.org/drawingml/2006/main" noGrp="1"/>
          </p:cNvSpPr>
          <p:nvPr/>
        </p:nvSpPr>
        <p:spPr>
          <a:xfrm xmlns:a="http://schemas.openxmlformats.org/drawingml/2006/main">
            <a:off x="3392424"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6" name="Google Shape;106;p6">
            <a:extLst xmlns:a="http://schemas.openxmlformats.org/drawingml/2006/main">
              <a:ext uri="{FF2B5EF4-FFF2-40B4-BE49-F238E27FC236}">
                <a16:creationId xmlns:a16="http://schemas.microsoft.com/office/drawing/2014/main" id="{9B5AA159-1A21-4A1E-BAC5-D38FC94CAF8E}"/>
              </a:ext>
            </a:extLst>
          </p:cNvPr>
          <p:cNvSpPr>
            <a:spLocks xmlns:a="http://schemas.openxmlformats.org/drawingml/2006/main" noGrp="1"/>
          </p:cNvSpPr>
          <p:nvPr/>
        </p:nvSpPr>
        <p:spPr>
          <a:xfrm xmlns:a="http://schemas.openxmlformats.org/drawingml/2006/main">
            <a:off x="3593592"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2" name="Google Shape;107;p6"/>
          <p:cNvPicPr>
            <a:picLocks xmlns:a="http://schemas.openxmlformats.org/drawingml/2006/main" noChangeAspect="1"/>
          </p:cNvPicPr>
          <p:nvPr/>
        </p:nvPicPr>
        <p:blipFill rotWithShape="1">
          <a:blip xmlns:r="http://schemas.openxmlformats.org/officeDocument/2006/relationships" xmlns:a="http://schemas.openxmlformats.org/drawingml/2006/main" r:embed="R0a35c59bfe86443e">
            <a:alphaModFix/>
          </a:blip>
          <a:srcRect xmlns:a="http://schemas.openxmlformats.org/drawingml/2006/main" l="0" t="0" r="0" b="0"/>
          <a:stretch xmlns:a="http://schemas.openxmlformats.org/drawingml/2006/main"/>
        </p:blipFill>
        <p:spPr>
          <a:xfrm xmlns:a="http://schemas.openxmlformats.org/drawingml/2006/main">
            <a:off x="3712464" y="2331720"/>
            <a:ext cx="219456" cy="219456"/>
          </a:xfrm>
          <a:prstGeom xmlns:a="http://schemas.openxmlformats.org/drawingml/2006/main" prst="rect">
            <a:avLst/>
          </a:prstGeom>
          <a:ln xmlns:a="http://schemas.openxmlformats.org/drawingml/2006/main">
            <a:noFill/>
          </a:ln>
        </p:spPr>
      </p:pic>
      <p:sp>
        <p:nvSpPr>
          <p:cNvPr id="108" name="Google Shape;108;p6">
            <a:extLst xmlns:a="http://schemas.openxmlformats.org/drawingml/2006/main">
              <a:ext uri="{FF2B5EF4-FFF2-40B4-BE49-F238E27FC236}">
                <a16:creationId xmlns:a16="http://schemas.microsoft.com/office/drawing/2014/main" id="{D94D8FC0-69AE-44E1-9D58-6DE6FF8D0264}"/>
              </a:ext>
            </a:extLst>
          </p:cNvPr>
          <p:cNvSpPr>
            <a:spLocks xmlns:a="http://schemas.openxmlformats.org/drawingml/2006/main" noGrp="1"/>
          </p:cNvSpPr>
          <p:nvPr/>
        </p:nvSpPr>
        <p:spPr>
          <a:xfrm xmlns:a="http://schemas.openxmlformats.org/drawingml/2006/main">
            <a:off x="3593592"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Vivek — wisdom</a:t>
            </a:r>
          </a:p>
        </p:txBody>
      </p:sp>
      <p:sp>
        <p:nvSpPr>
          <p:cNvPr id="109" name="Google Shape;109;p6">
            <a:extLst xmlns:a="http://schemas.openxmlformats.org/drawingml/2006/main">
              <a:ext uri="{FF2B5EF4-FFF2-40B4-BE49-F238E27FC236}">
                <a16:creationId xmlns:a16="http://schemas.microsoft.com/office/drawing/2014/main" id="{B8609BF1-AD34-4D40-9A8A-24A8BC3D1E84}"/>
              </a:ext>
            </a:extLst>
          </p:cNvPr>
          <p:cNvSpPr>
            <a:spLocks xmlns:a="http://schemas.openxmlformats.org/drawingml/2006/main" noGrp="1"/>
          </p:cNvSpPr>
          <p:nvPr/>
        </p:nvSpPr>
        <p:spPr>
          <a:xfrm xmlns:a="http://schemas.openxmlformats.org/drawingml/2006/main">
            <a:off x="3593592"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Discernment of the human goal: resolution, prosperity, fearlessness, and coexistence.</a:t>
            </a:r>
          </a:p>
        </p:txBody>
      </p:sp>
      <p:sp>
        <p:nvSpPr>
          <p:cNvPr id="110" name="Google Shape;110;p6">
            <a:extLst xmlns:a="http://schemas.openxmlformats.org/drawingml/2006/main">
              <a:ext uri="{FF2B5EF4-FFF2-40B4-BE49-F238E27FC236}">
                <a16:creationId xmlns:a16="http://schemas.microsoft.com/office/drawing/2014/main" id="{897E6910-9F9B-41AB-900E-EC71D5726F41}"/>
              </a:ext>
            </a:extLst>
          </p:cNvPr>
          <p:cNvSpPr>
            <a:spLocks xmlns:a="http://schemas.openxmlformats.org/drawingml/2006/main" noGrp="1"/>
          </p:cNvSpPr>
          <p:nvPr/>
        </p:nvSpPr>
        <p:spPr>
          <a:xfrm xmlns:a="http://schemas.openxmlformats.org/drawingml/2006/main">
            <a:off x="6144768"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11" name="Google Shape;111;p6">
            <a:extLst xmlns:a="http://schemas.openxmlformats.org/drawingml/2006/main">
              <a:ext uri="{FF2B5EF4-FFF2-40B4-BE49-F238E27FC236}">
                <a16:creationId xmlns:a16="http://schemas.microsoft.com/office/drawing/2014/main" id="{E67C106F-BE83-49E5-B07F-FBF8361D1E0D}"/>
              </a:ext>
            </a:extLst>
          </p:cNvPr>
          <p:cNvSpPr>
            <a:spLocks xmlns:a="http://schemas.openxmlformats.org/drawingml/2006/main" noGrp="1"/>
          </p:cNvSpPr>
          <p:nvPr/>
        </p:nvSpPr>
        <p:spPr>
          <a:xfrm xmlns:a="http://schemas.openxmlformats.org/drawingml/2006/main">
            <a:off x="6345936"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7" name="Google Shape;112;p6"/>
          <p:cNvPicPr>
            <a:picLocks xmlns:a="http://schemas.openxmlformats.org/drawingml/2006/main" noChangeAspect="1"/>
          </p:cNvPicPr>
          <p:nvPr/>
        </p:nvPicPr>
        <p:blipFill rotWithShape="1">
          <a:blip xmlns:r="http://schemas.openxmlformats.org/officeDocument/2006/relationships" xmlns:a="http://schemas.openxmlformats.org/drawingml/2006/main" r:embed="R2a2a102846894c48">
            <a:alphaModFix/>
          </a:blip>
          <a:srcRect xmlns:a="http://schemas.openxmlformats.org/drawingml/2006/main" l="0" t="0" r="0" b="0"/>
          <a:stretch xmlns:a="http://schemas.openxmlformats.org/drawingml/2006/main"/>
        </p:blipFill>
        <p:spPr>
          <a:xfrm xmlns:a="http://schemas.openxmlformats.org/drawingml/2006/main">
            <a:off x="6464808" y="2331720"/>
            <a:ext cx="219456" cy="219456"/>
          </a:xfrm>
          <a:prstGeom xmlns:a="http://schemas.openxmlformats.org/drawingml/2006/main" prst="rect">
            <a:avLst/>
          </a:prstGeom>
          <a:ln xmlns:a="http://schemas.openxmlformats.org/drawingml/2006/main">
            <a:noFill/>
          </a:ln>
        </p:spPr>
      </p:pic>
      <p:sp>
        <p:nvSpPr>
          <p:cNvPr id="113" name="Google Shape;113;p6">
            <a:extLst xmlns:a="http://schemas.openxmlformats.org/drawingml/2006/main">
              <a:ext uri="{FF2B5EF4-FFF2-40B4-BE49-F238E27FC236}">
                <a16:creationId xmlns:a16="http://schemas.microsoft.com/office/drawing/2014/main" id="{7C0E46DA-89DB-4129-A5C8-58FA26CE9D20}"/>
              </a:ext>
            </a:extLst>
          </p:cNvPr>
          <p:cNvSpPr>
            <a:spLocks xmlns:a="http://schemas.openxmlformats.org/drawingml/2006/main" noGrp="1"/>
          </p:cNvSpPr>
          <p:nvPr/>
        </p:nvSpPr>
        <p:spPr>
          <a:xfrm xmlns:a="http://schemas.openxmlformats.org/drawingml/2006/main">
            <a:off x="6345936"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Vigyan — science</a:t>
            </a:r>
          </a:p>
        </p:txBody>
      </p:sp>
      <p:sp>
        <p:nvSpPr>
          <p:cNvPr id="114" name="Google Shape;114;p6">
            <a:extLst xmlns:a="http://schemas.openxmlformats.org/drawingml/2006/main">
              <a:ext uri="{FF2B5EF4-FFF2-40B4-BE49-F238E27FC236}">
                <a16:creationId xmlns:a16="http://schemas.microsoft.com/office/drawing/2014/main" id="{120B2FB7-86A5-48D0-85A7-8E8241896571}"/>
              </a:ext>
            </a:extLst>
          </p:cNvPr>
          <p:cNvSpPr>
            <a:spLocks xmlns:a="http://schemas.openxmlformats.org/drawingml/2006/main" noGrp="1"/>
          </p:cNvSpPr>
          <p:nvPr/>
        </p:nvSpPr>
        <p:spPr>
          <a:xfrm xmlns:a="http://schemas.openxmlformats.org/drawingml/2006/main">
            <a:off x="6345936"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Knowledge that determines how to achieve material prosperity together with the human and jeevan goals.</a:t>
            </a:r>
          </a:p>
        </p:txBody>
      </p:sp>
      <p:sp>
        <p:nvSpPr>
          <p:cNvPr id="115" name="Google Shape;115;p6">
            <a:extLst xmlns:a="http://schemas.openxmlformats.org/drawingml/2006/main">
              <a:ext uri="{FF2B5EF4-FFF2-40B4-BE49-F238E27FC236}">
                <a16:creationId xmlns:a16="http://schemas.microsoft.com/office/drawing/2014/main" id="{3FFA5695-FD1E-4119-B4FC-199120FA7B5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Gyan understands reality; vivek recognises the goal; vigyan determines direction. · AnalyticMadhyasthDarshan.org · 6 / 36</a:t>
            </a:r>
          </a:p>
        </p:txBody>
      </p:sp>
    </p:spTree>
    <p:extLst>
      <p:ext uri="{BB962C8B-B14F-4D97-AF65-F5344CB8AC3E}">
        <p14:creationId xmlns:p14="http://schemas.microsoft.com/office/powerpoint/2010/main" val="14662190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Google Shape;94;p6">
            <a:extLst xmlns:a="http://schemas.openxmlformats.org/drawingml/2006/main">
              <a:ext uri="{FF2B5EF4-FFF2-40B4-BE49-F238E27FC236}">
                <a16:creationId xmlns:a16="http://schemas.microsoft.com/office/drawing/2014/main" id="{EBEF7F00-6B49-4A97-A2C9-3872E7D6570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5" name="Google Shape;95;p6">
            <a:extLst xmlns:a="http://schemas.openxmlformats.org/drawingml/2006/main">
              <a:ext uri="{FF2B5EF4-FFF2-40B4-BE49-F238E27FC236}">
                <a16:creationId xmlns:a16="http://schemas.microsoft.com/office/drawing/2014/main" id="{C70F0F84-9DBC-4050-9671-0D5C5FC1E52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6" name="Google Shape;96;p6">
            <a:extLst xmlns:a="http://schemas.openxmlformats.org/drawingml/2006/main">
              <a:ext uri="{FF2B5EF4-FFF2-40B4-BE49-F238E27FC236}">
                <a16:creationId xmlns:a16="http://schemas.microsoft.com/office/drawing/2014/main" id="{C80D0AF3-2895-41D8-92FE-B1605469D17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7" name="Google Shape;97;p6">
            <a:extLst xmlns:a="http://schemas.openxmlformats.org/drawingml/2006/main">
              <a:ext uri="{FF2B5EF4-FFF2-40B4-BE49-F238E27FC236}">
                <a16:creationId xmlns:a16="http://schemas.microsoft.com/office/drawing/2014/main" id="{1B657EC0-01A7-4BB0-9C90-17C378E295E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ONE · §1.1 · THREE INSEPARABLE CONTENTS</a:t>
            </a:r>
          </a:p>
        </p:txBody>
      </p:sp>
      <p:sp>
        <p:nvSpPr>
          <p:cNvPr id="98" name="Google Shape;98;p6">
            <a:extLst xmlns:a="http://schemas.openxmlformats.org/drawingml/2006/main">
              <a:ext uri="{FF2B5EF4-FFF2-40B4-BE49-F238E27FC236}">
                <a16:creationId xmlns:a16="http://schemas.microsoft.com/office/drawing/2014/main" id="{4ECCC323-9F8F-4642-988C-7822F9C0A396}"/>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What Knowledge Must Include</a:t>
            </a:r>
          </a:p>
        </p:txBody>
      </p:sp>
      <p:sp>
        <p:nvSpPr>
          <p:cNvPr id="99" name="Google Shape;99;p6">
            <a:extLst xmlns:a="http://schemas.openxmlformats.org/drawingml/2006/main">
              <a:ext uri="{FF2B5EF4-FFF2-40B4-BE49-F238E27FC236}">
                <a16:creationId xmlns:a16="http://schemas.microsoft.com/office/drawing/2014/main" id="{DF6B4B7B-D28E-4416-8924-A7383F929BB2}"/>
              </a:ext>
            </a:extLst>
          </p:cNvPr>
          <p:cNvSpPr>
            <a:spLocks xmlns:a="http://schemas.openxmlformats.org/drawingml/2006/main" noGrp="1"/>
          </p:cNvSpPr>
          <p:nvPr/>
        </p:nvSpPr>
        <p:spPr>
          <a:xfrm xmlns:a="http://schemas.openxmlformats.org/drawingml/2006/main">
            <a:off x="640080" y="1207008"/>
            <a:ext cx="7955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Complete knowledge brings together the reality we know, the self that knows, and the conduct through which understanding is lived.</a:t>
            </a:r>
          </a:p>
        </p:txBody>
      </p:sp>
      <p:sp>
        <p:nvSpPr>
          <p:cNvPr id="100" name="Google Shape;100;p6">
            <a:extLst xmlns:a="http://schemas.openxmlformats.org/drawingml/2006/main">
              <a:ext uri="{FF2B5EF4-FFF2-40B4-BE49-F238E27FC236}">
                <a16:creationId xmlns:a16="http://schemas.microsoft.com/office/drawing/2014/main" id="{DACC0896-F0C0-40F4-B10C-573B8F396051}"/>
              </a:ext>
            </a:extLst>
          </p:cNvPr>
          <p:cNvSpPr>
            <a:spLocks xmlns:a="http://schemas.openxmlformats.org/drawingml/2006/main" noGrp="1"/>
          </p:cNvSpPr>
          <p:nvPr/>
        </p:nvSpPr>
        <p:spPr>
          <a:xfrm xmlns:a="http://schemas.openxmlformats.org/drawingml/2006/main">
            <a:off x="640080"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1" name="Google Shape;101;p6">
            <a:extLst xmlns:a="http://schemas.openxmlformats.org/drawingml/2006/main">
              <a:ext uri="{FF2B5EF4-FFF2-40B4-BE49-F238E27FC236}">
                <a16:creationId xmlns:a16="http://schemas.microsoft.com/office/drawing/2014/main" id="{322BBC30-630B-42E3-9DD2-412D0D9AEC97}"/>
              </a:ext>
            </a:extLst>
          </p:cNvPr>
          <p:cNvSpPr>
            <a:spLocks xmlns:a="http://schemas.openxmlformats.org/drawingml/2006/main" noGrp="1"/>
          </p:cNvSpPr>
          <p:nvPr/>
        </p:nvSpPr>
        <p:spPr>
          <a:xfrm xmlns:a="http://schemas.openxmlformats.org/drawingml/2006/main">
            <a:off x="841248"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27" name="Google Shape;102;p6"/>
          <p:cNvPicPr>
            <a:picLocks xmlns:a="http://schemas.openxmlformats.org/drawingml/2006/main" noChangeAspect="1"/>
          </p:cNvPicPr>
          <p:nvPr/>
        </p:nvPicPr>
        <p:blipFill rotWithShape="1">
          <a:blip xmlns:r="http://schemas.openxmlformats.org/officeDocument/2006/relationships" xmlns:a="http://schemas.openxmlformats.org/drawingml/2006/main" r:embed="R6d9f8460608b4614">
            <a:alphaModFix/>
          </a:blip>
          <a:srcRect xmlns:a="http://schemas.openxmlformats.org/drawingml/2006/main" l="0" t="0" r="0" b="0"/>
          <a:stretch xmlns:a="http://schemas.openxmlformats.org/drawingml/2006/main"/>
        </p:blipFill>
        <p:spPr>
          <a:xfrm xmlns:a="http://schemas.openxmlformats.org/drawingml/2006/main">
            <a:off x="960120" y="2331720"/>
            <a:ext cx="219456" cy="219456"/>
          </a:xfrm>
          <a:prstGeom xmlns:a="http://schemas.openxmlformats.org/drawingml/2006/main" prst="rect">
            <a:avLst/>
          </a:prstGeom>
          <a:ln xmlns:a="http://schemas.openxmlformats.org/drawingml/2006/main">
            <a:noFill/>
          </a:ln>
        </p:spPr>
      </p:pic>
      <p:sp>
        <p:nvSpPr>
          <p:cNvPr id="103" name="Google Shape;103;p6">
            <a:extLst xmlns:a="http://schemas.openxmlformats.org/drawingml/2006/main">
              <a:ext uri="{FF2B5EF4-FFF2-40B4-BE49-F238E27FC236}">
                <a16:creationId xmlns:a16="http://schemas.microsoft.com/office/drawing/2014/main" id="{4B81C68F-F7F1-4BFA-948A-90AE27C808EF}"/>
              </a:ext>
            </a:extLst>
          </p:cNvPr>
          <p:cNvSpPr>
            <a:spLocks xmlns:a="http://schemas.openxmlformats.org/drawingml/2006/main" noGrp="1"/>
          </p:cNvSpPr>
          <p:nvPr/>
        </p:nvSpPr>
        <p:spPr>
          <a:xfrm xmlns:a="http://schemas.openxmlformats.org/drawingml/2006/main">
            <a:off x="841248"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Existence as coexistence</a:t>
            </a:r>
          </a:p>
        </p:txBody>
      </p:sp>
      <p:sp>
        <p:nvSpPr>
          <p:cNvPr id="104" name="Google Shape;104;p6">
            <a:extLst xmlns:a="http://schemas.openxmlformats.org/drawingml/2006/main">
              <a:ext uri="{FF2B5EF4-FFF2-40B4-BE49-F238E27FC236}">
                <a16:creationId xmlns:a16="http://schemas.microsoft.com/office/drawing/2014/main" id="{91E8706C-5C84-49C2-950C-C985E9B97FEE}"/>
              </a:ext>
            </a:extLst>
          </p:cNvPr>
          <p:cNvSpPr>
            <a:spLocks xmlns:a="http://schemas.openxmlformats.org/drawingml/2006/main" noGrp="1"/>
          </p:cNvSpPr>
          <p:nvPr/>
        </p:nvSpPr>
        <p:spPr>
          <a:xfrm xmlns:a="http://schemas.openxmlformats.org/drawingml/2006/main">
            <a:off x="841248"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Omnipresence and all units: their form, properties, essential nature, dharma, and relationships.</a:t>
            </a:r>
          </a:p>
        </p:txBody>
      </p:sp>
      <p:sp>
        <p:nvSpPr>
          <p:cNvPr id="105" name="Google Shape;105;p6">
            <a:extLst xmlns:a="http://schemas.openxmlformats.org/drawingml/2006/main">
              <a:ext uri="{FF2B5EF4-FFF2-40B4-BE49-F238E27FC236}">
                <a16:creationId xmlns:a16="http://schemas.microsoft.com/office/drawing/2014/main" id="{7F5058FF-1BB9-4921-BA6D-F70E2BC028FE}"/>
              </a:ext>
            </a:extLst>
          </p:cNvPr>
          <p:cNvSpPr>
            <a:spLocks xmlns:a="http://schemas.openxmlformats.org/drawingml/2006/main" noGrp="1"/>
          </p:cNvSpPr>
          <p:nvPr/>
        </p:nvSpPr>
        <p:spPr>
          <a:xfrm xmlns:a="http://schemas.openxmlformats.org/drawingml/2006/main">
            <a:off x="3392424"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6" name="Google Shape;106;p6">
            <a:extLst xmlns:a="http://schemas.openxmlformats.org/drawingml/2006/main">
              <a:ext uri="{FF2B5EF4-FFF2-40B4-BE49-F238E27FC236}">
                <a16:creationId xmlns:a16="http://schemas.microsoft.com/office/drawing/2014/main" id="{9B5AA159-1A21-4A1E-BAC5-D38FC94CAF8E}"/>
              </a:ext>
            </a:extLst>
          </p:cNvPr>
          <p:cNvSpPr>
            <a:spLocks xmlns:a="http://schemas.openxmlformats.org/drawingml/2006/main" noGrp="1"/>
          </p:cNvSpPr>
          <p:nvPr/>
        </p:nvSpPr>
        <p:spPr>
          <a:xfrm xmlns:a="http://schemas.openxmlformats.org/drawingml/2006/main">
            <a:off x="3593592"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2" name="Google Shape;107;p6"/>
          <p:cNvPicPr>
            <a:picLocks xmlns:a="http://schemas.openxmlformats.org/drawingml/2006/main" noChangeAspect="1"/>
          </p:cNvPicPr>
          <p:nvPr/>
        </p:nvPicPr>
        <p:blipFill rotWithShape="1">
          <a:blip xmlns:r="http://schemas.openxmlformats.org/officeDocument/2006/relationships" xmlns:a="http://schemas.openxmlformats.org/drawingml/2006/main" r:embed="R3e7de84193fc4aa8">
            <a:alphaModFix/>
          </a:blip>
          <a:srcRect xmlns:a="http://schemas.openxmlformats.org/drawingml/2006/main" l="0" t="0" r="0" b="0"/>
          <a:stretch xmlns:a="http://schemas.openxmlformats.org/drawingml/2006/main"/>
        </p:blipFill>
        <p:spPr>
          <a:xfrm xmlns:a="http://schemas.openxmlformats.org/drawingml/2006/main">
            <a:off x="3712464" y="2331720"/>
            <a:ext cx="219456" cy="219456"/>
          </a:xfrm>
          <a:prstGeom xmlns:a="http://schemas.openxmlformats.org/drawingml/2006/main" prst="rect">
            <a:avLst/>
          </a:prstGeom>
          <a:ln xmlns:a="http://schemas.openxmlformats.org/drawingml/2006/main">
            <a:noFill/>
          </a:ln>
        </p:spPr>
      </p:pic>
      <p:sp>
        <p:nvSpPr>
          <p:cNvPr id="108" name="Google Shape;108;p6">
            <a:extLst xmlns:a="http://schemas.openxmlformats.org/drawingml/2006/main">
              <a:ext uri="{FF2B5EF4-FFF2-40B4-BE49-F238E27FC236}">
                <a16:creationId xmlns:a16="http://schemas.microsoft.com/office/drawing/2014/main" id="{D94D8FC0-69AE-44E1-9D58-6DE6FF8D0264}"/>
              </a:ext>
            </a:extLst>
          </p:cNvPr>
          <p:cNvSpPr>
            <a:spLocks xmlns:a="http://schemas.openxmlformats.org/drawingml/2006/main" noGrp="1"/>
          </p:cNvSpPr>
          <p:nvPr/>
        </p:nvSpPr>
        <p:spPr>
          <a:xfrm xmlns:a="http://schemas.openxmlformats.org/drawingml/2006/main">
            <a:off x="3593592"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Jeevan</a:t>
            </a:r>
          </a:p>
        </p:txBody>
      </p:sp>
      <p:sp>
        <p:nvSpPr>
          <p:cNvPr id="109" name="Google Shape;109;p6">
            <a:extLst xmlns:a="http://schemas.openxmlformats.org/drawingml/2006/main">
              <a:ext uri="{FF2B5EF4-FFF2-40B4-BE49-F238E27FC236}">
                <a16:creationId xmlns:a16="http://schemas.microsoft.com/office/drawing/2014/main" id="{B8609BF1-AD34-4D40-9A8A-24A8BC3D1E84}"/>
              </a:ext>
            </a:extLst>
          </p:cNvPr>
          <p:cNvSpPr>
            <a:spLocks xmlns:a="http://schemas.openxmlformats.org/drawingml/2006/main" noGrp="1"/>
          </p:cNvSpPr>
          <p:nvPr/>
        </p:nvSpPr>
        <p:spPr>
          <a:xfrm xmlns:a="http://schemas.openxmlformats.org/drawingml/2006/main">
            <a:off x="3593592"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sentient self: its constitution, activities of knowing, and capacity for awakening.</a:t>
            </a:r>
          </a:p>
        </p:txBody>
      </p:sp>
      <p:sp>
        <p:nvSpPr>
          <p:cNvPr id="110" name="Google Shape;110;p6">
            <a:extLst xmlns:a="http://schemas.openxmlformats.org/drawingml/2006/main">
              <a:ext uri="{FF2B5EF4-FFF2-40B4-BE49-F238E27FC236}">
                <a16:creationId xmlns:a16="http://schemas.microsoft.com/office/drawing/2014/main" id="{897E6910-9F9B-41AB-900E-EC71D5726F41}"/>
              </a:ext>
            </a:extLst>
          </p:cNvPr>
          <p:cNvSpPr>
            <a:spLocks xmlns:a="http://schemas.openxmlformats.org/drawingml/2006/main" noGrp="1"/>
          </p:cNvSpPr>
          <p:nvPr/>
        </p:nvSpPr>
        <p:spPr>
          <a:xfrm xmlns:a="http://schemas.openxmlformats.org/drawingml/2006/main">
            <a:off x="6144768"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11" name="Google Shape;111;p6">
            <a:extLst xmlns:a="http://schemas.openxmlformats.org/drawingml/2006/main">
              <a:ext uri="{FF2B5EF4-FFF2-40B4-BE49-F238E27FC236}">
                <a16:creationId xmlns:a16="http://schemas.microsoft.com/office/drawing/2014/main" id="{E67C106F-BE83-49E5-B07F-FBF8361D1E0D}"/>
              </a:ext>
            </a:extLst>
          </p:cNvPr>
          <p:cNvSpPr>
            <a:spLocks xmlns:a="http://schemas.openxmlformats.org/drawingml/2006/main" noGrp="1"/>
          </p:cNvSpPr>
          <p:nvPr/>
        </p:nvSpPr>
        <p:spPr>
          <a:xfrm xmlns:a="http://schemas.openxmlformats.org/drawingml/2006/main">
            <a:off x="6345936"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7" name="Google Shape;112;p6"/>
          <p:cNvPicPr>
            <a:picLocks xmlns:a="http://schemas.openxmlformats.org/drawingml/2006/main" noChangeAspect="1"/>
          </p:cNvPicPr>
          <p:nvPr/>
        </p:nvPicPr>
        <p:blipFill rotWithShape="1">
          <a:blip xmlns:r="http://schemas.openxmlformats.org/officeDocument/2006/relationships" xmlns:a="http://schemas.openxmlformats.org/drawingml/2006/main" r:embed="R7ad9f0d706c84e84">
            <a:alphaModFix/>
          </a:blip>
          <a:srcRect xmlns:a="http://schemas.openxmlformats.org/drawingml/2006/main" l="0" t="0" r="0" b="0"/>
          <a:stretch xmlns:a="http://schemas.openxmlformats.org/drawingml/2006/main"/>
        </p:blipFill>
        <p:spPr>
          <a:xfrm xmlns:a="http://schemas.openxmlformats.org/drawingml/2006/main">
            <a:off x="6464808" y="2331720"/>
            <a:ext cx="219456" cy="219456"/>
          </a:xfrm>
          <a:prstGeom xmlns:a="http://schemas.openxmlformats.org/drawingml/2006/main" prst="rect">
            <a:avLst/>
          </a:prstGeom>
          <a:ln xmlns:a="http://schemas.openxmlformats.org/drawingml/2006/main">
            <a:noFill/>
          </a:ln>
        </p:spPr>
      </p:pic>
      <p:sp>
        <p:nvSpPr>
          <p:cNvPr id="113" name="Google Shape;113;p6">
            <a:extLst xmlns:a="http://schemas.openxmlformats.org/drawingml/2006/main">
              <a:ext uri="{FF2B5EF4-FFF2-40B4-BE49-F238E27FC236}">
                <a16:creationId xmlns:a16="http://schemas.microsoft.com/office/drawing/2014/main" id="{7C0E46DA-89DB-4129-A5C8-58FA26CE9D20}"/>
              </a:ext>
            </a:extLst>
          </p:cNvPr>
          <p:cNvSpPr>
            <a:spLocks xmlns:a="http://schemas.openxmlformats.org/drawingml/2006/main" noGrp="1"/>
          </p:cNvSpPr>
          <p:nvPr/>
        </p:nvSpPr>
        <p:spPr>
          <a:xfrm xmlns:a="http://schemas.openxmlformats.org/drawingml/2006/main">
            <a:off x="6345936"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Humane conduct</a:t>
            </a:r>
          </a:p>
        </p:txBody>
      </p:sp>
      <p:sp>
        <p:nvSpPr>
          <p:cNvPr id="114" name="Google Shape;114;p6">
            <a:extLst xmlns:a="http://schemas.openxmlformats.org/drawingml/2006/main">
              <a:ext uri="{FF2B5EF4-FFF2-40B4-BE49-F238E27FC236}">
                <a16:creationId xmlns:a16="http://schemas.microsoft.com/office/drawing/2014/main" id="{120B2FB7-86A5-48D0-85A7-8E8241896571}"/>
              </a:ext>
            </a:extLst>
          </p:cNvPr>
          <p:cNvSpPr>
            <a:spLocks xmlns:a="http://schemas.openxmlformats.org/drawingml/2006/main" noGrp="1"/>
          </p:cNvSpPr>
          <p:nvPr/>
        </p:nvSpPr>
        <p:spPr>
          <a:xfrm xmlns:a="http://schemas.openxmlformats.org/drawingml/2006/main">
            <a:off x="6345936"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Values — fulfil relationships.
Character — live with integrity.
Ethics — protect and rightly use resources.</a:t>
            </a:r>
          </a:p>
        </p:txBody>
      </p:sp>
      <p:sp>
        <p:nvSpPr>
          <p:cNvPr id="115" name="Google Shape;115;p6">
            <a:extLst xmlns:a="http://schemas.openxmlformats.org/drawingml/2006/main">
              <a:ext uri="{FF2B5EF4-FFF2-40B4-BE49-F238E27FC236}">
                <a16:creationId xmlns:a16="http://schemas.microsoft.com/office/drawing/2014/main" id="{3FFA5695-FD1E-4119-B4FC-199120FA7B5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Coexistence, jeevan, and humane conduct must be understood together. · AnalyticMadhyasthDarshan.org · 7 / 36</a:t>
            </a:r>
          </a:p>
        </p:txBody>
      </p:sp>
    </p:spTree>
    <p:extLst>
      <p:ext uri="{BB962C8B-B14F-4D97-AF65-F5344CB8AC3E}">
        <p14:creationId xmlns:p14="http://schemas.microsoft.com/office/powerpoint/2010/main" val="14662190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Google Shape;64;p5">
            <a:extLst xmlns:a="http://schemas.openxmlformats.org/drawingml/2006/main">
              <a:ext uri="{FF2B5EF4-FFF2-40B4-BE49-F238E27FC236}">
                <a16:creationId xmlns:a16="http://schemas.microsoft.com/office/drawing/2014/main" id="{620A3F0D-015F-48E9-A9C2-57629DC870E5}"/>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5" name="Google Shape;65;p5">
            <a:extLst xmlns:a="http://schemas.openxmlformats.org/drawingml/2006/main">
              <a:ext uri="{FF2B5EF4-FFF2-40B4-BE49-F238E27FC236}">
                <a16:creationId xmlns:a16="http://schemas.microsoft.com/office/drawing/2014/main" id="{271F7A08-310C-4AD5-BECC-525C35D239E7}"/>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6" name="Google Shape;66;p5">
            <a:extLst xmlns:a="http://schemas.openxmlformats.org/drawingml/2006/main">
              <a:ext uri="{FF2B5EF4-FFF2-40B4-BE49-F238E27FC236}">
                <a16:creationId xmlns:a16="http://schemas.microsoft.com/office/drawing/2014/main" id="{57C6BE5D-A6F5-46FE-8EFC-70C7CEF0BE95}"/>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7" name="Google Shape;67;p5">
            <a:extLst xmlns:a="http://schemas.openxmlformats.org/drawingml/2006/main">
              <a:ext uri="{FF2B5EF4-FFF2-40B4-BE49-F238E27FC236}">
                <a16:creationId xmlns:a16="http://schemas.microsoft.com/office/drawing/2014/main" id="{49BA7092-6215-4D55-B630-440D9EB3375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ONE · §1.1 · KNOWLEDGE AS GROUND AND UNDERSTANDING</a:t>
            </a:r>
          </a:p>
        </p:txBody>
      </p:sp>
      <p:sp>
        <p:nvSpPr>
          <p:cNvPr id="68" name="Google Shape;68;p5">
            <a:extLst xmlns:a="http://schemas.openxmlformats.org/drawingml/2006/main">
              <a:ext uri="{FF2B5EF4-FFF2-40B4-BE49-F238E27FC236}">
                <a16:creationId xmlns:a16="http://schemas.microsoft.com/office/drawing/2014/main" id="{5528EFA1-C751-481C-95A7-342329DFDBDC}"/>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Knowledge Is Realised in Jeevan</a:t>
            </a:r>
          </a:p>
        </p:txBody>
      </p:sp>
      <p:sp>
        <p:nvSpPr>
          <p:cNvPr id="69" name="Google Shape;69;p5">
            <a:extLst xmlns:a="http://schemas.openxmlformats.org/drawingml/2006/main">
              <a:ext uri="{FF2B5EF4-FFF2-40B4-BE49-F238E27FC236}">
                <a16:creationId xmlns:a16="http://schemas.microsoft.com/office/drawing/2014/main" id="{7081440E-2C7A-4D94-8652-308B49F58F4C}"/>
              </a:ext>
            </a:extLst>
          </p:cNvPr>
          <p:cNvSpPr>
            <a:spLocks xmlns:a="http://schemas.openxmlformats.org/drawingml/2006/main" noGrp="1"/>
          </p:cNvSpPr>
          <p:nvPr/>
        </p:nvSpPr>
        <p:spPr>
          <a:xfrm xmlns:a="http://schemas.openxmlformats.org/drawingml/2006/main">
            <a:off x="640080" y="1280160"/>
            <a:ext cx="41605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500" b="1" i="0" u="none" cap="none">
                <a:solidFill>
                  <a:srgbClr val="1E2447"/>
                </a:solidFill>
                <a:latin typeface="Calibri"/>
                <a:ea typeface="Calibri"/>
                <a:cs typeface="Calibri"/>
              </a:rPr>
              <a:t>Knowledge as ground</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In its foundational sense, gyan names actionless, non-transforming Omnipresence or Space.</a:t>
            </a:r>
          </a:p>
          <a:p xmlns:a="http://schemas.openxmlformats.org/drawingml/2006/main">
            <a:pPr marL="0" indent="0" algn="l">
              <a:spcBef>
                <a:spcPts val="1000"/>
              </a:spcBef>
              <a:spcAft>
                <a:spcPts val="0"/>
              </a:spcAft>
              <a:buNone/>
            </a:pPr>
            <a:r>
              <a:rPr sz="1500" b="1" i="0" u="none" cap="none">
                <a:solidFill>
                  <a:srgbClr val="1E2447"/>
                </a:solidFill>
                <a:latin typeface="Calibri"/>
                <a:ea typeface="Calibri"/>
                <a:cs typeface="Calibri"/>
              </a:rPr>
              <a:t/>
            </a:r>
          </a:p>
          <a:p xmlns:a="http://schemas.openxmlformats.org/drawingml/2006/main">
            <a:pPr marL="0" indent="0" algn="l">
              <a:spcBef>
                <a:spcPts val="0"/>
              </a:spcBef>
              <a:spcAft>
                <a:spcPts val="0"/>
              </a:spcAft>
              <a:buNone/>
            </a:pPr>
            <a:r>
              <a:rPr sz="1500" b="1" i="0" u="none" cap="none">
                <a:solidFill>
                  <a:srgbClr val="1E2447"/>
                </a:solidFill>
                <a:latin typeface="Calibri"/>
                <a:ea typeface="Calibri"/>
                <a:cs typeface="Calibri"/>
              </a:rPr>
              <a:t>Realisation in jeevan</a:t>
            </a:r>
          </a:p>
          <a:p xmlns:a="http://schemas.openxmlformats.org/drawingml/2006/main">
            <a:pPr marL="0" indent="0" algn="l">
              <a:spcBef>
                <a:spcPts val="1000"/>
              </a:spcBef>
              <a:spcAft>
                <a:spcPts val="0"/>
              </a:spcAft>
              <a:buNone/>
            </a:pPr>
            <a:r>
              <a:rPr sz="1250" b="0" i="0" u="none" cap="none">
                <a:solidFill>
                  <a:srgbClr val="5A6377"/>
                </a:solidFill>
                <a:latin typeface="Calibri"/>
                <a:ea typeface="Calibri"/>
                <a:cs typeface="Calibri"/>
              </a:rPr>
              <a:t>Jeevan is the knower. Atma realises coexistence; buddhi comprehends its meaning.</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
            </a:r>
          </a:p>
          <a:p xmlns:a="http://schemas.openxmlformats.org/drawingml/2006/main">
            <a:pPr marL="0" indent="0" algn="l">
              <a:spcBef>
                <a:spcPts val="0"/>
              </a:spcBef>
              <a:spcAft>
                <a:spcPts val="0"/>
              </a:spcAft>
              <a:buNone/>
            </a:pPr>
            <a:r>
              <a:rPr sz="1500" b="1" i="0" u="none" cap="none">
                <a:solidFill>
                  <a:srgbClr val="1E2447"/>
                </a:solidFill>
                <a:latin typeface="Calibri"/>
                <a:ea typeface="Calibri"/>
                <a:cs typeface="Calibri"/>
              </a:rPr>
              <a:t>Resolution and evidence</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Understanding clarifies the why and how of activity. It becomes evident through inner harmony, just relationships, and humane work.</a:t>
            </a:r>
          </a:p>
        </p:txBody>
      </p:sp>
      <p:sp>
        <p:nvSpPr>
          <p:cNvPr id="70" name="Google Shape;70;p5">
            <a:extLst xmlns:a="http://schemas.openxmlformats.org/drawingml/2006/main">
              <a:ext uri="{FF2B5EF4-FFF2-40B4-BE49-F238E27FC236}">
                <a16:creationId xmlns:a16="http://schemas.microsoft.com/office/drawing/2014/main" id="{D3B9C202-8127-4641-B67E-E8B81D9011A4}"/>
              </a:ext>
            </a:extLst>
          </p:cNvPr>
          <p:cNvSpPr>
            <a:spLocks xmlns:a="http://schemas.openxmlformats.org/drawingml/2006/main" noGrp="1"/>
          </p:cNvSpPr>
          <p:nvPr/>
        </p:nvSpPr>
        <p:spPr>
          <a:xfrm xmlns:a="http://schemas.openxmlformats.org/drawingml/2006/main">
            <a:off x="5074920" y="1280160"/>
            <a:ext cx="3566160" cy="3246120"/>
          </a:xfrm>
          <a:prstGeom xmlns:a="http://schemas.openxmlformats.org/drawingml/2006/main" prst="roundRect">
            <a:avLst>
              <a:gd name="adj" fmla="val 3380"/>
            </a:avLst>
          </a:prstGeom>
          <a:solidFill xmlns:a="http://schemas.openxmlformats.org/drawingml/2006/main">
            <a:srgbClr val="1E2447"/>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1" name="Google Shape;71;p5">
            <a:extLst xmlns:a="http://schemas.openxmlformats.org/drawingml/2006/main">
              <a:ext uri="{FF2B5EF4-FFF2-40B4-BE49-F238E27FC236}">
                <a16:creationId xmlns:a16="http://schemas.microsoft.com/office/drawing/2014/main" id="{41A2BB60-5764-487C-835E-60A45280CC12}"/>
              </a:ext>
            </a:extLst>
          </p:cNvPr>
          <p:cNvSpPr>
            <a:spLocks xmlns:a="http://schemas.openxmlformats.org/drawingml/2006/main" noGrp="1"/>
          </p:cNvSpPr>
          <p:nvPr/>
        </p:nvSpPr>
        <p:spPr>
          <a:xfrm xmlns:a="http://schemas.openxmlformats.org/drawingml/2006/main">
            <a:off x="5074920" y="1417320"/>
            <a:ext cx="3566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00" b="1" i="0" u="none" cap="none">
                <a:solidFill>
                  <a:srgbClr val="C9D4EF"/>
                </a:solidFill>
                <a:latin typeface="Calibri"/>
                <a:ea typeface="Calibri"/>
                <a:cs typeface="Calibri"/>
              </a:rPr>
              <a:t>GROUND · KNOWER · UNDERSTANDING · EVIDENCE</a:t>
            </a:r>
          </a:p>
        </p:txBody>
      </p:sp>
      <p:sp>
        <p:nvSpPr>
          <p:cNvPr id="72" name="Google Shape;72;p5">
            <a:extLst xmlns:a="http://schemas.openxmlformats.org/drawingml/2006/main">
              <a:ext uri="{FF2B5EF4-FFF2-40B4-BE49-F238E27FC236}">
                <a16:creationId xmlns:a16="http://schemas.microsoft.com/office/drawing/2014/main" id="{E8130BA5-50DA-47D7-B519-A60CBC449773}"/>
              </a:ext>
            </a:extLst>
          </p:cNvPr>
          <p:cNvSpPr>
            <a:spLocks xmlns:a="http://schemas.openxmlformats.org/drawingml/2006/main" noGrp="1"/>
          </p:cNvSpPr>
          <p:nvPr/>
        </p:nvSpPr>
        <p:spPr>
          <a:xfrm xmlns:a="http://schemas.openxmlformats.org/drawingml/2006/main">
            <a:off x="5440680" y="1965960"/>
            <a:ext cx="1051560" cy="1051560"/>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3" name="Google Shape;73;p5">
            <a:extLst xmlns:a="http://schemas.openxmlformats.org/drawingml/2006/main">
              <a:ext uri="{FF2B5EF4-FFF2-40B4-BE49-F238E27FC236}">
                <a16:creationId xmlns:a16="http://schemas.microsoft.com/office/drawing/2014/main" id="{105E6401-F458-4935-9F23-C1578F306209}"/>
              </a:ext>
            </a:extLst>
          </p:cNvPr>
          <p:cNvSpPr>
            <a:spLocks xmlns:a="http://schemas.openxmlformats.org/drawingml/2006/main" noGrp="1"/>
          </p:cNvSpPr>
          <p:nvPr/>
        </p:nvSpPr>
        <p:spPr>
          <a:xfrm xmlns:a="http://schemas.openxmlformats.org/drawingml/2006/main">
            <a:off x="5650992" y="2176272"/>
            <a:ext cx="630936" cy="630936"/>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4" name="Google Shape;74;p5">
            <a:extLst xmlns:a="http://schemas.openxmlformats.org/drawingml/2006/main">
              <a:ext uri="{FF2B5EF4-FFF2-40B4-BE49-F238E27FC236}">
                <a16:creationId xmlns:a16="http://schemas.microsoft.com/office/drawing/2014/main" id="{0CBBC975-6450-4784-82AA-2F3F9EFA5ECB}"/>
              </a:ext>
            </a:extLst>
          </p:cNvPr>
          <p:cNvSpPr>
            <a:spLocks xmlns:a="http://schemas.openxmlformats.org/drawingml/2006/main" noGrp="1"/>
          </p:cNvSpPr>
          <p:nvPr/>
        </p:nvSpPr>
        <p:spPr>
          <a:xfrm xmlns:a="http://schemas.openxmlformats.org/drawingml/2006/main">
            <a:off x="5829757" y="2355037"/>
            <a:ext cx="273406" cy="27340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5" name="Google Shape;75;p5">
            <a:extLst xmlns:a="http://schemas.openxmlformats.org/drawingml/2006/main">
              <a:ext uri="{FF2B5EF4-FFF2-40B4-BE49-F238E27FC236}">
                <a16:creationId xmlns:a16="http://schemas.microsoft.com/office/drawing/2014/main" id="{BDCA68E4-4180-484D-BDA3-28BD349AECBA}"/>
              </a:ext>
            </a:extLst>
          </p:cNvPr>
          <p:cNvSpPr>
            <a:spLocks xmlns:a="http://schemas.openxmlformats.org/drawingml/2006/main" noGrp="1"/>
          </p:cNvSpPr>
          <p:nvPr/>
        </p:nvSpPr>
        <p:spPr>
          <a:xfrm xmlns:a="http://schemas.openxmlformats.org/drawingml/2006/main">
            <a:off x="6812280" y="2240280"/>
            <a:ext cx="777240" cy="777240"/>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6" name="Google Shape;76;p5">
            <a:extLst xmlns:a="http://schemas.openxmlformats.org/drawingml/2006/main">
              <a:ext uri="{FF2B5EF4-FFF2-40B4-BE49-F238E27FC236}">
                <a16:creationId xmlns:a16="http://schemas.microsoft.com/office/drawing/2014/main" id="{DCDF7540-3A46-4AC9-BA63-9A6A421E2272}"/>
              </a:ext>
            </a:extLst>
          </p:cNvPr>
          <p:cNvSpPr>
            <a:spLocks xmlns:a="http://schemas.openxmlformats.org/drawingml/2006/main" noGrp="1"/>
          </p:cNvSpPr>
          <p:nvPr/>
        </p:nvSpPr>
        <p:spPr>
          <a:xfrm xmlns:a="http://schemas.openxmlformats.org/drawingml/2006/main">
            <a:off x="6967728" y="2395728"/>
            <a:ext cx="466344" cy="466344"/>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7" name="Google Shape;77;p5">
            <a:extLst xmlns:a="http://schemas.openxmlformats.org/drawingml/2006/main">
              <a:ext uri="{FF2B5EF4-FFF2-40B4-BE49-F238E27FC236}">
                <a16:creationId xmlns:a16="http://schemas.microsoft.com/office/drawing/2014/main" id="{02636DAF-5D87-4351-87A5-E8372A65E24B}"/>
              </a:ext>
            </a:extLst>
          </p:cNvPr>
          <p:cNvSpPr>
            <a:spLocks xmlns:a="http://schemas.openxmlformats.org/drawingml/2006/main" noGrp="1"/>
          </p:cNvSpPr>
          <p:nvPr/>
        </p:nvSpPr>
        <p:spPr>
          <a:xfrm xmlns:a="http://schemas.openxmlformats.org/drawingml/2006/main">
            <a:off x="7099859" y="2527859"/>
            <a:ext cx="202082" cy="202082"/>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8" name="Google Shape;78;p5">
            <a:extLst xmlns:a="http://schemas.openxmlformats.org/drawingml/2006/main">
              <a:ext uri="{FF2B5EF4-FFF2-40B4-BE49-F238E27FC236}">
                <a16:creationId xmlns:a16="http://schemas.microsoft.com/office/drawing/2014/main" id="{4CCBA736-6A70-436C-AE42-360E169766E0}"/>
              </a:ext>
            </a:extLst>
          </p:cNvPr>
          <p:cNvSpPr>
            <a:spLocks xmlns:a="http://schemas.openxmlformats.org/drawingml/2006/main" noGrp="1"/>
          </p:cNvSpPr>
          <p:nvPr/>
        </p:nvSpPr>
        <p:spPr>
          <a:xfrm xmlns:a="http://schemas.openxmlformats.org/drawingml/2006/main">
            <a:off x="7635240" y="1783080"/>
            <a:ext cx="566928" cy="566928"/>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9" name="Google Shape;79;p5">
            <a:extLst xmlns:a="http://schemas.openxmlformats.org/drawingml/2006/main">
              <a:ext uri="{FF2B5EF4-FFF2-40B4-BE49-F238E27FC236}">
                <a16:creationId xmlns:a16="http://schemas.microsoft.com/office/drawing/2014/main" id="{8EA360F2-8585-4EA8-92B5-6B041738AB93}"/>
              </a:ext>
            </a:extLst>
          </p:cNvPr>
          <p:cNvSpPr>
            <a:spLocks xmlns:a="http://schemas.openxmlformats.org/drawingml/2006/main" noGrp="1"/>
          </p:cNvSpPr>
          <p:nvPr/>
        </p:nvSpPr>
        <p:spPr>
          <a:xfrm xmlns:a="http://schemas.openxmlformats.org/drawingml/2006/main">
            <a:off x="7748626" y="1896466"/>
            <a:ext cx="340157" cy="340157"/>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0" name="Google Shape;80;p5">
            <a:extLst xmlns:a="http://schemas.openxmlformats.org/drawingml/2006/main">
              <a:ext uri="{FF2B5EF4-FFF2-40B4-BE49-F238E27FC236}">
                <a16:creationId xmlns:a16="http://schemas.microsoft.com/office/drawing/2014/main" id="{B5993674-EA2C-48AF-BE49-A7CCCD2A55CB}"/>
              </a:ext>
            </a:extLst>
          </p:cNvPr>
          <p:cNvSpPr>
            <a:spLocks xmlns:a="http://schemas.openxmlformats.org/drawingml/2006/main" noGrp="1"/>
          </p:cNvSpPr>
          <p:nvPr/>
        </p:nvSpPr>
        <p:spPr>
          <a:xfrm xmlns:a="http://schemas.openxmlformats.org/drawingml/2006/main">
            <a:off x="7845003" y="1992843"/>
            <a:ext cx="147401" cy="147401"/>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1" name="Google Shape;81;p5">
            <a:extLst xmlns:a="http://schemas.openxmlformats.org/drawingml/2006/main">
              <a:ext uri="{FF2B5EF4-FFF2-40B4-BE49-F238E27FC236}">
                <a16:creationId xmlns:a16="http://schemas.microsoft.com/office/drawing/2014/main" id="{AB12E27E-7676-41EE-A930-60BE592AC2AF}"/>
              </a:ext>
            </a:extLst>
          </p:cNvPr>
          <p:cNvSpPr>
            <a:spLocks xmlns:a="http://schemas.openxmlformats.org/drawingml/2006/main" noGrp="1"/>
          </p:cNvSpPr>
          <p:nvPr/>
        </p:nvSpPr>
        <p:spPr>
          <a:xfrm xmlns:a="http://schemas.openxmlformats.org/drawingml/2006/main">
            <a:off x="6035040" y="3200400"/>
            <a:ext cx="658368" cy="658368"/>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2" name="Google Shape;82;p5">
            <a:extLst xmlns:a="http://schemas.openxmlformats.org/drawingml/2006/main">
              <a:ext uri="{FF2B5EF4-FFF2-40B4-BE49-F238E27FC236}">
                <a16:creationId xmlns:a16="http://schemas.microsoft.com/office/drawing/2014/main" id="{F69F7BC8-1B98-4878-946D-406CDF55F9CE}"/>
              </a:ext>
            </a:extLst>
          </p:cNvPr>
          <p:cNvSpPr>
            <a:spLocks xmlns:a="http://schemas.openxmlformats.org/drawingml/2006/main" noGrp="1"/>
          </p:cNvSpPr>
          <p:nvPr/>
        </p:nvSpPr>
        <p:spPr>
          <a:xfrm xmlns:a="http://schemas.openxmlformats.org/drawingml/2006/main">
            <a:off x="6166714" y="3332074"/>
            <a:ext cx="395021" cy="395021"/>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3" name="Google Shape;83;p5">
            <a:extLst xmlns:a="http://schemas.openxmlformats.org/drawingml/2006/main">
              <a:ext uri="{FF2B5EF4-FFF2-40B4-BE49-F238E27FC236}">
                <a16:creationId xmlns:a16="http://schemas.microsoft.com/office/drawing/2014/main" id="{3A4ADB5D-BD89-4437-BCA9-EC46107B8CE5}"/>
              </a:ext>
            </a:extLst>
          </p:cNvPr>
          <p:cNvSpPr>
            <a:spLocks xmlns:a="http://schemas.openxmlformats.org/drawingml/2006/main" noGrp="1"/>
          </p:cNvSpPr>
          <p:nvPr/>
        </p:nvSpPr>
        <p:spPr>
          <a:xfrm xmlns:a="http://schemas.openxmlformats.org/drawingml/2006/main">
            <a:off x="6278636" y="3443996"/>
            <a:ext cx="171176" cy="171176"/>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4" name="Google Shape;84;p5">
            <a:extLst xmlns:a="http://schemas.openxmlformats.org/drawingml/2006/main">
              <a:ext uri="{FF2B5EF4-FFF2-40B4-BE49-F238E27FC236}">
                <a16:creationId xmlns:a16="http://schemas.microsoft.com/office/drawing/2014/main" id="{B0D2FCF2-4191-4330-8918-CDD31DDE17CB}"/>
              </a:ext>
            </a:extLst>
          </p:cNvPr>
          <p:cNvSpPr>
            <a:spLocks xmlns:a="http://schemas.openxmlformats.org/drawingml/2006/main" noGrp="1"/>
          </p:cNvSpPr>
          <p:nvPr/>
        </p:nvSpPr>
        <p:spPr>
          <a:xfrm xmlns:a="http://schemas.openxmlformats.org/drawingml/2006/main">
            <a:off x="7315200" y="3246120"/>
            <a:ext cx="896112" cy="896112"/>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5" name="Google Shape;85;p5">
            <a:extLst xmlns:a="http://schemas.openxmlformats.org/drawingml/2006/main">
              <a:ext uri="{FF2B5EF4-FFF2-40B4-BE49-F238E27FC236}">
                <a16:creationId xmlns:a16="http://schemas.microsoft.com/office/drawing/2014/main" id="{A713010E-42C8-4812-BF2E-5601E420BEC8}"/>
              </a:ext>
            </a:extLst>
          </p:cNvPr>
          <p:cNvSpPr>
            <a:spLocks xmlns:a="http://schemas.openxmlformats.org/drawingml/2006/main" noGrp="1"/>
          </p:cNvSpPr>
          <p:nvPr/>
        </p:nvSpPr>
        <p:spPr>
          <a:xfrm xmlns:a="http://schemas.openxmlformats.org/drawingml/2006/main">
            <a:off x="7494422" y="3425342"/>
            <a:ext cx="537667" cy="537667"/>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6" name="Google Shape;86;p5">
            <a:extLst xmlns:a="http://schemas.openxmlformats.org/drawingml/2006/main">
              <a:ext uri="{FF2B5EF4-FFF2-40B4-BE49-F238E27FC236}">
                <a16:creationId xmlns:a16="http://schemas.microsoft.com/office/drawing/2014/main" id="{CBE0A6D6-37DB-40A2-B20A-EAB55EFA13D1}"/>
              </a:ext>
            </a:extLst>
          </p:cNvPr>
          <p:cNvSpPr>
            <a:spLocks xmlns:a="http://schemas.openxmlformats.org/drawingml/2006/main" noGrp="1"/>
          </p:cNvSpPr>
          <p:nvPr/>
        </p:nvSpPr>
        <p:spPr>
          <a:xfrm xmlns:a="http://schemas.openxmlformats.org/drawingml/2006/main">
            <a:off x="7646761" y="3577681"/>
            <a:ext cx="232989" cy="232989"/>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7" name="Google Shape;87;p5">
            <a:extLst xmlns:a="http://schemas.openxmlformats.org/drawingml/2006/main">
              <a:ext uri="{FF2B5EF4-FFF2-40B4-BE49-F238E27FC236}">
                <a16:creationId xmlns:a16="http://schemas.microsoft.com/office/drawing/2014/main" id="{A2E213D6-0082-4DA4-B58E-76B4CDE9F1E7}"/>
              </a:ext>
            </a:extLst>
          </p:cNvPr>
          <p:cNvSpPr>
            <a:spLocks xmlns:a="http://schemas.openxmlformats.org/drawingml/2006/main" noGrp="1"/>
          </p:cNvSpPr>
          <p:nvPr/>
        </p:nvSpPr>
        <p:spPr>
          <a:xfrm xmlns:a="http://schemas.openxmlformats.org/drawingml/2006/main">
            <a:off x="5257800" y="4114800"/>
            <a:ext cx="32004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0" i="1" u="none" cap="none">
                <a:solidFill>
                  <a:srgbClr val="C9D4EF"/>
                </a:solidFill>
                <a:latin typeface="Calibri"/>
                <a:ea typeface="Calibri"/>
                <a:cs typeface="Calibri"/>
              </a:rPr>
              <a:t>Jeevan knows coexistence and evidences understanding in living.</a:t>
            </a:r>
          </a:p>
        </p:txBody>
      </p:sp>
      <p:sp>
        <p:nvSpPr>
          <p:cNvPr id="88" name="Google Shape;88;p5">
            <a:extLst xmlns:a="http://schemas.openxmlformats.org/drawingml/2006/main">
              <a:ext uri="{FF2B5EF4-FFF2-40B4-BE49-F238E27FC236}">
                <a16:creationId xmlns:a16="http://schemas.microsoft.com/office/drawing/2014/main" id="{573C90F8-C4BF-4F02-942A-A54FF482729B}"/>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Knowledge of humane conduct is part of complete knowledge. · AnalyticMadhyasthDarshan.org · 8 / 36</a:t>
            </a:r>
          </a:p>
        </p:txBody>
      </p:sp>
    </p:spTree>
    <p:extLst>
      <p:ext uri="{BB962C8B-B14F-4D97-AF65-F5344CB8AC3E}">
        <p14:creationId xmlns:p14="http://schemas.microsoft.com/office/powerpoint/2010/main" val="7129897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1FDF55EE-1DFC-4864-BBCF-6889CF1EF2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5AD84244-4940-47B0-823B-B7C36ED1B0F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11218A88-AD24-47F4-AA7E-CEDB55B3606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920138EF-D763-4448-A961-8DCEAD2BB11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ONE · §1.1 · THE TRIAD, AND COHERENCE WITHOUT MERGER</a:t>
            </a:r>
          </a:p>
        </p:txBody>
      </p:sp>
      <p:sp>
        <p:nvSpPr>
          <p:cNvPr id="125" name="Google Shape;125;p7">
            <a:extLst xmlns:a="http://schemas.openxmlformats.org/drawingml/2006/main">
              <a:ext uri="{FF2B5EF4-FFF2-40B4-BE49-F238E27FC236}">
                <a16:creationId xmlns:a16="http://schemas.microsoft.com/office/drawing/2014/main" id="{B29B9366-7866-413D-82A0-241730EBC63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Knowledge, Knower, and Known</a:t>
            </a:r>
          </a:p>
        </p:txBody>
      </p:sp>
      <p:sp>
        <p:nvSpPr>
          <p:cNvPr id="126" name="Google Shape;126;p7">
            <a:extLst xmlns:a="http://schemas.openxmlformats.org/drawingml/2006/main">
              <a:ext uri="{FF2B5EF4-FFF2-40B4-BE49-F238E27FC236}">
                <a16:creationId xmlns:a16="http://schemas.microsoft.com/office/drawing/2014/main" id="{7D7417D2-2684-43CB-8AFE-F91CDBDC0F85}"/>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EE33F6BF-95C0-4816-A54C-B6B00AF45E1B}"/>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B6E3019C-45D3-4ED1-A9D2-55D72A50880D}"/>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EE1719B3-E68F-4D01-A60C-336CB2754F8D}"/>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A70DDF07-767E-4CA7-8197-976F5965AFE8}"/>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Knowledge</a:t>
            </a:r>
          </a:p>
        </p:txBody>
      </p:sp>
      <p:sp>
        <p:nvSpPr>
          <p:cNvPr id="131" name="Google Shape;131;p7">
            <a:extLst xmlns:a="http://schemas.openxmlformats.org/drawingml/2006/main">
              <a:ext uri="{FF2B5EF4-FFF2-40B4-BE49-F238E27FC236}">
                <a16:creationId xmlns:a16="http://schemas.microsoft.com/office/drawing/2014/main" id="{6BEFCC17-F959-4C0D-898B-ADDA648A1126}"/>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Realised understanding of coexistence, jeevan, and humane conduct that guides action.</a:t>
            </a:r>
          </a:p>
        </p:txBody>
      </p:sp>
      <p:sp>
        <p:nvSpPr>
          <p:cNvPr id="132" name="Google Shape;132;p7">
            <a:extLst xmlns:a="http://schemas.openxmlformats.org/drawingml/2006/main">
              <a:ext uri="{FF2B5EF4-FFF2-40B4-BE49-F238E27FC236}">
                <a16:creationId xmlns:a16="http://schemas.microsoft.com/office/drawing/2014/main" id="{2B1D4DE1-906E-43B6-A1AC-A7EA7B235BDE}"/>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1A555193-C105-42C6-B81B-78A780152943}"/>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3A08FC77-38FD-4F53-9FDA-4E24295DFCF2}"/>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D06E458B-173D-440A-9C47-D542B10D793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2E165D08-90C3-4000-8857-A8714F7BC41F}"/>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Knower</a:t>
            </a:r>
          </a:p>
        </p:txBody>
      </p:sp>
      <p:sp>
        <p:nvSpPr>
          <p:cNvPr id="137" name="Google Shape;137;p7">
            <a:extLst xmlns:a="http://schemas.openxmlformats.org/drawingml/2006/main">
              <a:ext uri="{FF2B5EF4-FFF2-40B4-BE49-F238E27FC236}">
                <a16:creationId xmlns:a16="http://schemas.microsoft.com/office/drawing/2014/main" id="{81243F9D-4F30-4A59-8606-FA47AD846C3A}"/>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Jeevan knows. The embodied human explains, tests, and lives that understanding.</a:t>
            </a:r>
          </a:p>
        </p:txBody>
      </p:sp>
      <p:sp>
        <p:nvSpPr>
          <p:cNvPr id="138" name="Google Shape;138;p7">
            <a:extLst xmlns:a="http://schemas.openxmlformats.org/drawingml/2006/main">
              <a:ext uri="{FF2B5EF4-FFF2-40B4-BE49-F238E27FC236}">
                <a16:creationId xmlns:a16="http://schemas.microsoft.com/office/drawing/2014/main" id="{C24F03F3-13B7-4DA6-B82A-6FFEF115DCC6}"/>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7E860388-B17F-4D86-B9E1-F64D831A85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2DCD6C6B-CF46-4530-A4E5-F7FEC5439D14}"/>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0D2E6CD2-706E-4D67-92AD-87B6DF703565}"/>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72284CF3-2391-448B-BA27-7D7834BE2558}"/>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Known</a:t>
            </a:r>
          </a:p>
        </p:txBody>
      </p:sp>
      <p:sp>
        <p:nvSpPr>
          <p:cNvPr id="143" name="Google Shape;143;p7">
            <a:extLst xmlns:a="http://schemas.openxmlformats.org/drawingml/2006/main">
              <a:ext uri="{FF2B5EF4-FFF2-40B4-BE49-F238E27FC236}">
                <a16:creationId xmlns:a16="http://schemas.microsoft.com/office/drawing/2014/main" id="{88B4D163-A60F-4D71-A21A-FF9D668635D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Existence as coexistence: units, relationships, values, and orderliness.</a:t>
            </a:r>
          </a:p>
        </p:txBody>
      </p:sp>
      <p:sp>
        <p:nvSpPr>
          <p:cNvPr id="144" name="Google Shape;144;p7">
            <a:extLst xmlns:a="http://schemas.openxmlformats.org/drawingml/2006/main">
              <a:ext uri="{FF2B5EF4-FFF2-40B4-BE49-F238E27FC236}">
                <a16:creationId xmlns:a16="http://schemas.microsoft.com/office/drawing/2014/main" id="{35D606E5-7371-49D6-8AFE-E2CD65E2D258}"/>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60ED207F-363E-479B-A217-044586C34A06}"/>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F59040DB-FE8E-4768-B34F-7171056FB64B}"/>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2D39A687-7B45-4546-8894-6BDA52A70DF4}"/>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40CC8AF1-DE82-4E58-8C0C-0A05484D7F0A}"/>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Meaningful evidence</a:t>
            </a:r>
          </a:p>
        </p:txBody>
      </p:sp>
      <p:sp>
        <p:nvSpPr>
          <p:cNvPr id="149" name="Google Shape;149;p7">
            <a:extLst xmlns:a="http://schemas.openxmlformats.org/drawingml/2006/main">
              <a:ext uri="{FF2B5EF4-FFF2-40B4-BE49-F238E27FC236}">
                <a16:creationId xmlns:a16="http://schemas.microsoft.com/office/drawing/2014/main" id="{43CACCDB-C99D-4605-856E-E37BB61C6E30}"/>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Understanding becomes meaningful through the human goal and an awakened tradition.</a:t>
            </a:r>
          </a:p>
        </p:txBody>
      </p:sp>
      <p:sp>
        <p:nvSpPr>
          <p:cNvPr id="150" name="Google Shape;150;p7">
            <a:extLst xmlns:a="http://schemas.openxmlformats.org/drawingml/2006/main">
              <a:ext uri="{FF2B5EF4-FFF2-40B4-BE49-F238E27FC236}">
                <a16:creationId xmlns:a16="http://schemas.microsoft.com/office/drawing/2014/main" id="{C900555A-CF8C-4582-8C80-52AF84F08F63}"/>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2117AB49-652B-42CE-AF52-B10AE62D38EC}"/>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Brahma satya, jagat shashwat: the ground is truth; the world remains real and perpetual.</a:t>
            </a:r>
          </a:p>
        </p:txBody>
      </p:sp>
      <p:sp>
        <p:nvSpPr>
          <p:cNvPr id="152" name="Google Shape;152;p7">
            <a:extLst xmlns:a="http://schemas.openxmlformats.org/drawingml/2006/main">
              <a:ext uri="{FF2B5EF4-FFF2-40B4-BE49-F238E27FC236}">
                <a16:creationId xmlns:a16="http://schemas.microsoft.com/office/drawing/2014/main" id="{C8AB52DC-457F-4AED-9264-440E84A6C23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Understanding preserves the reality of knower and known. · AnalyticMadhyasthDarshan.org · 9 / 36</a:t>
            </a:r>
          </a:p>
        </p:txBody>
      </p:sp>
    </p:spTree>
    <p:extLst>
      <p:ext uri="{BB962C8B-B14F-4D97-AF65-F5344CB8AC3E}">
        <p14:creationId xmlns:p14="http://schemas.microsoft.com/office/powerpoint/2010/main" val="9723823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Google Shape;94;p6">
            <a:extLst xmlns:a="http://schemas.openxmlformats.org/drawingml/2006/main">
              <a:ext uri="{FF2B5EF4-FFF2-40B4-BE49-F238E27FC236}">
                <a16:creationId xmlns:a16="http://schemas.microsoft.com/office/drawing/2014/main" id="{EBEF7F00-6B49-4A97-A2C9-3872E7D6570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5" name="Google Shape;95;p6">
            <a:extLst xmlns:a="http://schemas.openxmlformats.org/drawingml/2006/main">
              <a:ext uri="{FF2B5EF4-FFF2-40B4-BE49-F238E27FC236}">
                <a16:creationId xmlns:a16="http://schemas.microsoft.com/office/drawing/2014/main" id="{C70F0F84-9DBC-4050-9671-0D5C5FC1E52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6" name="Google Shape;96;p6">
            <a:extLst xmlns:a="http://schemas.openxmlformats.org/drawingml/2006/main">
              <a:ext uri="{FF2B5EF4-FFF2-40B4-BE49-F238E27FC236}">
                <a16:creationId xmlns:a16="http://schemas.microsoft.com/office/drawing/2014/main" id="{C80D0AF3-2895-41D8-92FE-B1605469D17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7" name="Google Shape;97;p6">
            <a:extLst xmlns:a="http://schemas.openxmlformats.org/drawingml/2006/main">
              <a:ext uri="{FF2B5EF4-FFF2-40B4-BE49-F238E27FC236}">
                <a16:creationId xmlns:a16="http://schemas.microsoft.com/office/drawing/2014/main" id="{1B657EC0-01A7-4BB0-9C90-17C378E295E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ONE · §1.1 · THE SCOPE OF THE KNOWN</a:t>
            </a:r>
          </a:p>
        </p:txBody>
      </p:sp>
      <p:sp>
        <p:nvSpPr>
          <p:cNvPr id="98" name="Google Shape;98;p6">
            <a:extLst xmlns:a="http://schemas.openxmlformats.org/drawingml/2006/main">
              <a:ext uri="{FF2B5EF4-FFF2-40B4-BE49-F238E27FC236}">
                <a16:creationId xmlns:a16="http://schemas.microsoft.com/office/drawing/2014/main" id="{4ECCC323-9F8F-4642-988C-7822F9C0A396}"/>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Three Aspects of Truth</a:t>
            </a:r>
          </a:p>
        </p:txBody>
      </p:sp>
      <p:sp>
        <p:nvSpPr>
          <p:cNvPr id="99" name="Google Shape;99;p6">
            <a:extLst xmlns:a="http://schemas.openxmlformats.org/drawingml/2006/main">
              <a:ext uri="{FF2B5EF4-FFF2-40B4-BE49-F238E27FC236}">
                <a16:creationId xmlns:a16="http://schemas.microsoft.com/office/drawing/2014/main" id="{DF6B4B7B-D28E-4416-8924-A7383F929BB2}"/>
              </a:ext>
            </a:extLst>
          </p:cNvPr>
          <p:cNvSpPr>
            <a:spLocks xmlns:a="http://schemas.openxmlformats.org/drawingml/2006/main" noGrp="1"/>
          </p:cNvSpPr>
          <p:nvPr/>
        </p:nvSpPr>
        <p:spPr>
          <a:xfrm xmlns:a="http://schemas.openxmlformats.org/drawingml/2006/main">
            <a:off x="640080" y="1207008"/>
            <a:ext cx="7955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Knowing reality includes the unit itself, its situation, and its coexistence in Omnipresence.</a:t>
            </a:r>
          </a:p>
        </p:txBody>
      </p:sp>
      <p:sp>
        <p:nvSpPr>
          <p:cNvPr id="100" name="Google Shape;100;p6">
            <a:extLst xmlns:a="http://schemas.openxmlformats.org/drawingml/2006/main">
              <a:ext uri="{FF2B5EF4-FFF2-40B4-BE49-F238E27FC236}">
                <a16:creationId xmlns:a16="http://schemas.microsoft.com/office/drawing/2014/main" id="{DACC0896-F0C0-40F4-B10C-573B8F396051}"/>
              </a:ext>
            </a:extLst>
          </p:cNvPr>
          <p:cNvSpPr>
            <a:spLocks xmlns:a="http://schemas.openxmlformats.org/drawingml/2006/main" noGrp="1"/>
          </p:cNvSpPr>
          <p:nvPr/>
        </p:nvSpPr>
        <p:spPr>
          <a:xfrm xmlns:a="http://schemas.openxmlformats.org/drawingml/2006/main">
            <a:off x="640080"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1" name="Google Shape;101;p6">
            <a:extLst xmlns:a="http://schemas.openxmlformats.org/drawingml/2006/main">
              <a:ext uri="{FF2B5EF4-FFF2-40B4-BE49-F238E27FC236}">
                <a16:creationId xmlns:a16="http://schemas.microsoft.com/office/drawing/2014/main" id="{322BBC30-630B-42E3-9DD2-412D0D9AEC97}"/>
              </a:ext>
            </a:extLst>
          </p:cNvPr>
          <p:cNvSpPr>
            <a:spLocks xmlns:a="http://schemas.openxmlformats.org/drawingml/2006/main" noGrp="1"/>
          </p:cNvSpPr>
          <p:nvPr/>
        </p:nvSpPr>
        <p:spPr>
          <a:xfrm xmlns:a="http://schemas.openxmlformats.org/drawingml/2006/main">
            <a:off x="841248"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27" name="Google Shape;102;p6"/>
          <p:cNvPicPr>
            <a:picLocks xmlns:a="http://schemas.openxmlformats.org/drawingml/2006/main" noChangeAspect="1"/>
          </p:cNvPicPr>
          <p:nvPr/>
        </p:nvPicPr>
        <p:blipFill rotWithShape="1">
          <a:blip xmlns:r="http://schemas.openxmlformats.org/officeDocument/2006/relationships" xmlns:a="http://schemas.openxmlformats.org/drawingml/2006/main" r:embed="Rfd8bbde1c23d4261">
            <a:alphaModFix/>
          </a:blip>
          <a:srcRect xmlns:a="http://schemas.openxmlformats.org/drawingml/2006/main" l="0" t="0" r="0" b="0"/>
          <a:stretch xmlns:a="http://schemas.openxmlformats.org/drawingml/2006/main"/>
        </p:blipFill>
        <p:spPr>
          <a:xfrm xmlns:a="http://schemas.openxmlformats.org/drawingml/2006/main">
            <a:off x="960120" y="2331720"/>
            <a:ext cx="219456" cy="219456"/>
          </a:xfrm>
          <a:prstGeom xmlns:a="http://schemas.openxmlformats.org/drawingml/2006/main" prst="rect">
            <a:avLst/>
          </a:prstGeom>
          <a:ln xmlns:a="http://schemas.openxmlformats.org/drawingml/2006/main">
            <a:noFill/>
          </a:ln>
        </p:spPr>
      </p:pic>
      <p:sp>
        <p:nvSpPr>
          <p:cNvPr id="103" name="Google Shape;103;p6">
            <a:extLst xmlns:a="http://schemas.openxmlformats.org/drawingml/2006/main">
              <a:ext uri="{FF2B5EF4-FFF2-40B4-BE49-F238E27FC236}">
                <a16:creationId xmlns:a16="http://schemas.microsoft.com/office/drawing/2014/main" id="{4B81C68F-F7F1-4BFA-948A-90AE27C808EF}"/>
              </a:ext>
            </a:extLst>
          </p:cNvPr>
          <p:cNvSpPr>
            <a:spLocks xmlns:a="http://schemas.openxmlformats.org/drawingml/2006/main" noGrp="1"/>
          </p:cNvSpPr>
          <p:nvPr/>
        </p:nvSpPr>
        <p:spPr>
          <a:xfrm xmlns:a="http://schemas.openxmlformats.org/drawingml/2006/main">
            <a:off x="841248"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Vastugat satya</a:t>
            </a:r>
          </a:p>
        </p:txBody>
      </p:sp>
      <p:sp>
        <p:nvSpPr>
          <p:cNvPr id="104" name="Google Shape;104;p6">
            <a:extLst xmlns:a="http://schemas.openxmlformats.org/drawingml/2006/main">
              <a:ext uri="{FF2B5EF4-FFF2-40B4-BE49-F238E27FC236}">
                <a16:creationId xmlns:a16="http://schemas.microsoft.com/office/drawing/2014/main" id="{91E8706C-5C84-49C2-950C-C985E9B97FEE}"/>
              </a:ext>
            </a:extLst>
          </p:cNvPr>
          <p:cNvSpPr>
            <a:spLocks xmlns:a="http://schemas.openxmlformats.org/drawingml/2006/main" noGrp="1"/>
          </p:cNvSpPr>
          <p:nvPr/>
        </p:nvSpPr>
        <p:spPr>
          <a:xfrm xmlns:a="http://schemas.openxmlformats.org/drawingml/2006/main">
            <a:off x="841248"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Inherent truth: each unit has form, properties, essential nature, and dharma, whether sentient or insentient.</a:t>
            </a:r>
          </a:p>
        </p:txBody>
      </p:sp>
      <p:sp>
        <p:nvSpPr>
          <p:cNvPr id="105" name="Google Shape;105;p6">
            <a:extLst xmlns:a="http://schemas.openxmlformats.org/drawingml/2006/main">
              <a:ext uri="{FF2B5EF4-FFF2-40B4-BE49-F238E27FC236}">
                <a16:creationId xmlns:a16="http://schemas.microsoft.com/office/drawing/2014/main" id="{7F5058FF-1BB9-4921-BA6D-F70E2BC028FE}"/>
              </a:ext>
            </a:extLst>
          </p:cNvPr>
          <p:cNvSpPr>
            <a:spLocks xmlns:a="http://schemas.openxmlformats.org/drawingml/2006/main" noGrp="1"/>
          </p:cNvSpPr>
          <p:nvPr/>
        </p:nvSpPr>
        <p:spPr>
          <a:xfrm xmlns:a="http://schemas.openxmlformats.org/drawingml/2006/main">
            <a:off x="3392424"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6" name="Google Shape;106;p6">
            <a:extLst xmlns:a="http://schemas.openxmlformats.org/drawingml/2006/main">
              <a:ext uri="{FF2B5EF4-FFF2-40B4-BE49-F238E27FC236}">
                <a16:creationId xmlns:a16="http://schemas.microsoft.com/office/drawing/2014/main" id="{9B5AA159-1A21-4A1E-BAC5-D38FC94CAF8E}"/>
              </a:ext>
            </a:extLst>
          </p:cNvPr>
          <p:cNvSpPr>
            <a:spLocks xmlns:a="http://schemas.openxmlformats.org/drawingml/2006/main" noGrp="1"/>
          </p:cNvSpPr>
          <p:nvPr/>
        </p:nvSpPr>
        <p:spPr>
          <a:xfrm xmlns:a="http://schemas.openxmlformats.org/drawingml/2006/main">
            <a:off x="3593592"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2" name="Google Shape;107;p6"/>
          <p:cNvPicPr>
            <a:picLocks xmlns:a="http://schemas.openxmlformats.org/drawingml/2006/main" noChangeAspect="1"/>
          </p:cNvPicPr>
          <p:nvPr/>
        </p:nvPicPr>
        <p:blipFill rotWithShape="1">
          <a:blip xmlns:r="http://schemas.openxmlformats.org/officeDocument/2006/relationships" xmlns:a="http://schemas.openxmlformats.org/drawingml/2006/main" r:embed="R7d32d9dc83e94726">
            <a:alphaModFix/>
          </a:blip>
          <a:srcRect xmlns:a="http://schemas.openxmlformats.org/drawingml/2006/main" l="0" t="0" r="0" b="0"/>
          <a:stretch xmlns:a="http://schemas.openxmlformats.org/drawingml/2006/main"/>
        </p:blipFill>
        <p:spPr>
          <a:xfrm xmlns:a="http://schemas.openxmlformats.org/drawingml/2006/main">
            <a:off x="3712464" y="2331720"/>
            <a:ext cx="219456" cy="219456"/>
          </a:xfrm>
          <a:prstGeom xmlns:a="http://schemas.openxmlformats.org/drawingml/2006/main" prst="rect">
            <a:avLst/>
          </a:prstGeom>
          <a:ln xmlns:a="http://schemas.openxmlformats.org/drawingml/2006/main">
            <a:noFill/>
          </a:ln>
        </p:spPr>
      </p:pic>
      <p:sp>
        <p:nvSpPr>
          <p:cNvPr id="108" name="Google Shape;108;p6">
            <a:extLst xmlns:a="http://schemas.openxmlformats.org/drawingml/2006/main">
              <a:ext uri="{FF2B5EF4-FFF2-40B4-BE49-F238E27FC236}">
                <a16:creationId xmlns:a16="http://schemas.microsoft.com/office/drawing/2014/main" id="{D94D8FC0-69AE-44E1-9D58-6DE6FF8D0264}"/>
              </a:ext>
            </a:extLst>
          </p:cNvPr>
          <p:cNvSpPr>
            <a:spLocks xmlns:a="http://schemas.openxmlformats.org/drawingml/2006/main" noGrp="1"/>
          </p:cNvSpPr>
          <p:nvPr/>
        </p:nvSpPr>
        <p:spPr>
          <a:xfrm xmlns:a="http://schemas.openxmlformats.org/drawingml/2006/main">
            <a:off x="3593592"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Vastu-sthiti satya</a:t>
            </a:r>
          </a:p>
        </p:txBody>
      </p:sp>
      <p:sp>
        <p:nvSpPr>
          <p:cNvPr id="109" name="Google Shape;109;p6">
            <a:extLst xmlns:a="http://schemas.openxmlformats.org/drawingml/2006/main">
              <a:ext uri="{FF2B5EF4-FFF2-40B4-BE49-F238E27FC236}">
                <a16:creationId xmlns:a16="http://schemas.microsoft.com/office/drawing/2014/main" id="{B8609BF1-AD34-4D40-9A8A-24A8BC3D1E84}"/>
              </a:ext>
            </a:extLst>
          </p:cNvPr>
          <p:cNvSpPr>
            <a:spLocks xmlns:a="http://schemas.openxmlformats.org/drawingml/2006/main" noGrp="1"/>
          </p:cNvSpPr>
          <p:nvPr/>
        </p:nvSpPr>
        <p:spPr>
          <a:xfrm xmlns:a="http://schemas.openxmlformats.org/drawingml/2006/main">
            <a:off x="3593592"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Positional truth: units are situated in direction, time, and place, in relation to other units.</a:t>
            </a:r>
          </a:p>
        </p:txBody>
      </p:sp>
      <p:sp>
        <p:nvSpPr>
          <p:cNvPr id="110" name="Google Shape;110;p6">
            <a:extLst xmlns:a="http://schemas.openxmlformats.org/drawingml/2006/main">
              <a:ext uri="{FF2B5EF4-FFF2-40B4-BE49-F238E27FC236}">
                <a16:creationId xmlns:a16="http://schemas.microsoft.com/office/drawing/2014/main" id="{897E6910-9F9B-41AB-900E-EC71D5726F41}"/>
              </a:ext>
            </a:extLst>
          </p:cNvPr>
          <p:cNvSpPr>
            <a:spLocks xmlns:a="http://schemas.openxmlformats.org/drawingml/2006/main" noGrp="1"/>
          </p:cNvSpPr>
          <p:nvPr/>
        </p:nvSpPr>
        <p:spPr>
          <a:xfrm xmlns:a="http://schemas.openxmlformats.org/drawingml/2006/main">
            <a:off x="6144768"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11" name="Google Shape;111;p6">
            <a:extLst xmlns:a="http://schemas.openxmlformats.org/drawingml/2006/main">
              <a:ext uri="{FF2B5EF4-FFF2-40B4-BE49-F238E27FC236}">
                <a16:creationId xmlns:a16="http://schemas.microsoft.com/office/drawing/2014/main" id="{E67C106F-BE83-49E5-B07F-FBF8361D1E0D}"/>
              </a:ext>
            </a:extLst>
          </p:cNvPr>
          <p:cNvSpPr>
            <a:spLocks xmlns:a="http://schemas.openxmlformats.org/drawingml/2006/main" noGrp="1"/>
          </p:cNvSpPr>
          <p:nvPr/>
        </p:nvSpPr>
        <p:spPr>
          <a:xfrm xmlns:a="http://schemas.openxmlformats.org/drawingml/2006/main">
            <a:off x="6345936"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7" name="Google Shape;112;p6"/>
          <p:cNvPicPr>
            <a:picLocks xmlns:a="http://schemas.openxmlformats.org/drawingml/2006/main" noChangeAspect="1"/>
          </p:cNvPicPr>
          <p:nvPr/>
        </p:nvPicPr>
        <p:blipFill rotWithShape="1">
          <a:blip xmlns:r="http://schemas.openxmlformats.org/officeDocument/2006/relationships" xmlns:a="http://schemas.openxmlformats.org/drawingml/2006/main" r:embed="R1541fa807403426b">
            <a:alphaModFix/>
          </a:blip>
          <a:srcRect xmlns:a="http://schemas.openxmlformats.org/drawingml/2006/main" l="0" t="0" r="0" b="0"/>
          <a:stretch xmlns:a="http://schemas.openxmlformats.org/drawingml/2006/main"/>
        </p:blipFill>
        <p:spPr>
          <a:xfrm xmlns:a="http://schemas.openxmlformats.org/drawingml/2006/main">
            <a:off x="6464808" y="2331720"/>
            <a:ext cx="219456" cy="219456"/>
          </a:xfrm>
          <a:prstGeom xmlns:a="http://schemas.openxmlformats.org/drawingml/2006/main" prst="rect">
            <a:avLst/>
          </a:prstGeom>
          <a:ln xmlns:a="http://schemas.openxmlformats.org/drawingml/2006/main">
            <a:noFill/>
          </a:ln>
        </p:spPr>
      </p:pic>
      <p:sp>
        <p:nvSpPr>
          <p:cNvPr id="113" name="Google Shape;113;p6">
            <a:extLst xmlns:a="http://schemas.openxmlformats.org/drawingml/2006/main">
              <a:ext uri="{FF2B5EF4-FFF2-40B4-BE49-F238E27FC236}">
                <a16:creationId xmlns:a16="http://schemas.microsoft.com/office/drawing/2014/main" id="{7C0E46DA-89DB-4129-A5C8-58FA26CE9D20}"/>
              </a:ext>
            </a:extLst>
          </p:cNvPr>
          <p:cNvSpPr>
            <a:spLocks xmlns:a="http://schemas.openxmlformats.org/drawingml/2006/main" noGrp="1"/>
          </p:cNvSpPr>
          <p:nvPr/>
        </p:nvSpPr>
        <p:spPr>
          <a:xfrm xmlns:a="http://schemas.openxmlformats.org/drawingml/2006/main">
            <a:off x="6345936"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Sthiti satya</a:t>
            </a:r>
          </a:p>
        </p:txBody>
      </p:sp>
      <p:sp>
        <p:nvSpPr>
          <p:cNvPr id="114" name="Google Shape;114;p6">
            <a:extLst xmlns:a="http://schemas.openxmlformats.org/drawingml/2006/main">
              <a:ext uri="{FF2B5EF4-FFF2-40B4-BE49-F238E27FC236}">
                <a16:creationId xmlns:a16="http://schemas.microsoft.com/office/drawing/2014/main" id="{120B2FB7-86A5-48D0-85A7-8E8241896571}"/>
              </a:ext>
            </a:extLst>
          </p:cNvPr>
          <p:cNvSpPr>
            <a:spLocks xmlns:a="http://schemas.openxmlformats.org/drawingml/2006/main" noGrp="1"/>
          </p:cNvSpPr>
          <p:nvPr/>
        </p:nvSpPr>
        <p:spPr>
          <a:xfrm xmlns:a="http://schemas.openxmlformats.org/drawingml/2006/main">
            <a:off x="6345936"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Existential truth: existence is unaffected by time. All nature is saturated in Omnipresence.</a:t>
            </a:r>
          </a:p>
        </p:txBody>
      </p:sp>
      <p:sp>
        <p:nvSpPr>
          <p:cNvPr id="115" name="Google Shape;115;p6">
            <a:extLst xmlns:a="http://schemas.openxmlformats.org/drawingml/2006/main">
              <a:ext uri="{FF2B5EF4-FFF2-40B4-BE49-F238E27FC236}">
                <a16:creationId xmlns:a16="http://schemas.microsoft.com/office/drawing/2014/main" id="{3FFA5695-FD1E-4119-B4FC-199120FA7B5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These are aspects of one reality: existence as coexistence. · AnalyticMadhyasthDarshan.org · 10 / 36</a:t>
            </a:r>
          </a:p>
        </p:txBody>
      </p:sp>
    </p:spTree>
    <p:extLst>
      <p:ext uri="{BB962C8B-B14F-4D97-AF65-F5344CB8AC3E}">
        <p14:creationId xmlns:p14="http://schemas.microsoft.com/office/powerpoint/2010/main" val="14662190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1FDF55EE-1DFC-4864-BBCF-6889CF1EF2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5AD84244-4940-47B0-823B-B7C36ED1B0F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11218A88-AD24-47F4-AA7E-CEDB55B3606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920138EF-D763-4448-A961-8DCEAD2BB11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ONE · §1.1 · CAUSE, DOER, EFFECT, AND SEEKING</a:t>
            </a:r>
          </a:p>
        </p:txBody>
      </p:sp>
      <p:sp>
        <p:nvSpPr>
          <p:cNvPr id="125" name="Google Shape;125;p7">
            <a:extLst xmlns:a="http://schemas.openxmlformats.org/drawingml/2006/main">
              <a:ext uri="{FF2B5EF4-FFF2-40B4-BE49-F238E27FC236}">
                <a16:creationId xmlns:a16="http://schemas.microsoft.com/office/drawing/2014/main" id="{B29B9366-7866-413D-82A0-241730EBC63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Cause, Doer, Effect, and Seeking</a:t>
            </a:r>
          </a:p>
        </p:txBody>
      </p:sp>
      <p:sp>
        <p:nvSpPr>
          <p:cNvPr id="126" name="Google Shape;126;p7">
            <a:extLst xmlns:a="http://schemas.openxmlformats.org/drawingml/2006/main">
              <a:ext uri="{FF2B5EF4-FFF2-40B4-BE49-F238E27FC236}">
                <a16:creationId xmlns:a16="http://schemas.microsoft.com/office/drawing/2014/main" id="{7D7417D2-2684-43CB-8AFE-F91CDBDC0F85}"/>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EE33F6BF-95C0-4816-A54C-B6B00AF45E1B}"/>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B6E3019C-45D3-4ED1-A9D2-55D72A50880D}"/>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EE1719B3-E68F-4D01-A60C-336CB2754F8D}"/>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A70DDF07-767E-4CA7-8197-976F5965AFE8}"/>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In the account of knowing</a:t>
            </a:r>
          </a:p>
        </p:txBody>
      </p:sp>
      <p:sp>
        <p:nvSpPr>
          <p:cNvPr id="131" name="Google Shape;131;p7">
            <a:extLst xmlns:a="http://schemas.openxmlformats.org/drawingml/2006/main">
              <a:ext uri="{FF2B5EF4-FFF2-40B4-BE49-F238E27FC236}">
                <a16:creationId xmlns:a16="http://schemas.microsoft.com/office/drawing/2014/main" id="{6BEFCC17-F959-4C0D-898B-ADDA648A1126}"/>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Cause: the knowledge order.
Doer: the human being.
Effect: wholeness in participation.</a:t>
            </a:r>
          </a:p>
        </p:txBody>
      </p:sp>
      <p:sp>
        <p:nvSpPr>
          <p:cNvPr id="132" name="Google Shape;132;p7">
            <a:extLst xmlns:a="http://schemas.openxmlformats.org/drawingml/2006/main">
              <a:ext uri="{FF2B5EF4-FFF2-40B4-BE49-F238E27FC236}">
                <a16:creationId xmlns:a16="http://schemas.microsoft.com/office/drawing/2014/main" id="{2B1D4DE1-906E-43B6-A1AC-A7EA7B235BDE}"/>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1A555193-C105-42C6-B81B-78A780152943}"/>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3A08FC77-38FD-4F53-9FDA-4E24295DFCF2}"/>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D06E458B-173D-440A-9C47-D542B10D793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2E165D08-90C3-4000-8857-A8714F7BC41F}"/>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In the account of existence</a:t>
            </a:r>
          </a:p>
        </p:txBody>
      </p:sp>
      <p:sp>
        <p:nvSpPr>
          <p:cNvPr id="137" name="Google Shape;137;p7">
            <a:extLst xmlns:a="http://schemas.openxmlformats.org/drawingml/2006/main">
              <a:ext uri="{FF2B5EF4-FFF2-40B4-BE49-F238E27FC236}">
                <a16:creationId xmlns:a16="http://schemas.microsoft.com/office/drawing/2014/main" id="{81243F9D-4F30-4A59-8606-FA47AD846C3A}"/>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Cause: coexistence.
Doer: jeevan.
Effect: status according to awakening.</a:t>
            </a:r>
          </a:p>
        </p:txBody>
      </p:sp>
      <p:sp>
        <p:nvSpPr>
          <p:cNvPr id="138" name="Google Shape;138;p7">
            <a:extLst xmlns:a="http://schemas.openxmlformats.org/drawingml/2006/main">
              <a:ext uri="{FF2B5EF4-FFF2-40B4-BE49-F238E27FC236}">
                <a16:creationId xmlns:a16="http://schemas.microsoft.com/office/drawing/2014/main" id="{C24F03F3-13B7-4DA6-B82A-6FFEF115DCC6}"/>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7E860388-B17F-4D86-B9E1-F64D831A85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2DCD6C6B-CF46-4530-A4E5-F7FEC5439D14}"/>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0D2E6CD2-706E-4D67-92AD-87B6DF703565}"/>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72284CF3-2391-448B-BA27-7D7834BE2558}"/>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Sadhya — the aim</a:t>
            </a:r>
          </a:p>
        </p:txBody>
      </p:sp>
      <p:sp>
        <p:nvSpPr>
          <p:cNvPr id="143" name="Google Shape;143;p7">
            <a:extLst xmlns:a="http://schemas.openxmlformats.org/drawingml/2006/main">
              <a:ext uri="{FF2B5EF4-FFF2-40B4-BE49-F238E27FC236}">
                <a16:creationId xmlns:a16="http://schemas.microsoft.com/office/drawing/2014/main" id="{88B4D163-A60F-4D71-A21A-FF9D668635D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Awakening: freedom from delusion and the ability to understand and participate.</a:t>
            </a:r>
          </a:p>
        </p:txBody>
      </p:sp>
      <p:sp>
        <p:nvSpPr>
          <p:cNvPr id="144" name="Google Shape;144;p7">
            <a:extLst xmlns:a="http://schemas.openxmlformats.org/drawingml/2006/main">
              <a:ext uri="{FF2B5EF4-FFF2-40B4-BE49-F238E27FC236}">
                <a16:creationId xmlns:a16="http://schemas.microsoft.com/office/drawing/2014/main" id="{35D606E5-7371-49D6-8AFE-E2CD65E2D258}"/>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60ED207F-363E-479B-A217-044586C34A06}"/>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F59040DB-FE8E-4768-B34F-7171056FB64B}"/>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2D39A687-7B45-4546-8894-6BDA52A70DF4}"/>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40CC8AF1-DE82-4E58-8C0C-0A05484D7F0A}"/>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Sadhak · sadhan</a:t>
            </a:r>
          </a:p>
        </p:txBody>
      </p:sp>
      <p:sp>
        <p:nvSpPr>
          <p:cNvPr id="149" name="Google Shape;149;p7">
            <a:extLst xmlns:a="http://schemas.openxmlformats.org/drawingml/2006/main">
              <a:ext uri="{FF2B5EF4-FFF2-40B4-BE49-F238E27FC236}">
                <a16:creationId xmlns:a16="http://schemas.microsoft.com/office/drawing/2014/main" id="{43CACCDB-C99D-4605-856E-E37BB61C6E30}"/>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Seeker: the human being.
Means: jeevan and body together, supported by education and tradition.</a:t>
            </a:r>
          </a:p>
        </p:txBody>
      </p:sp>
      <p:sp>
        <p:nvSpPr>
          <p:cNvPr id="150" name="Google Shape;150;p7">
            <a:extLst xmlns:a="http://schemas.openxmlformats.org/drawingml/2006/main">
              <a:ext uri="{FF2B5EF4-FFF2-40B4-BE49-F238E27FC236}">
                <a16:creationId xmlns:a16="http://schemas.microsoft.com/office/drawing/2014/main" id="{C900555A-CF8C-4582-8C80-52AF84F08F63}"/>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2117AB49-652B-42CE-AF52-B10AE62D38EC}"/>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The two cause–doer–effect formulations belong to different contexts; seeking adds aim, seeker, and means.</a:t>
            </a:r>
          </a:p>
        </p:txBody>
      </p:sp>
      <p:sp>
        <p:nvSpPr>
          <p:cNvPr id="152" name="Google Shape;152;p7">
            <a:extLst xmlns:a="http://schemas.openxmlformats.org/drawingml/2006/main">
              <a:ext uri="{FF2B5EF4-FFF2-40B4-BE49-F238E27FC236}">
                <a16:creationId xmlns:a16="http://schemas.microsoft.com/office/drawing/2014/main" id="{C8AB52DC-457F-4AED-9264-440E84A6C23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Understanding guides human agency and participation. · AnalyticMadhyasthDarshan.org · 11 / 36</a:t>
            </a:r>
          </a:p>
        </p:txBody>
      </p:sp>
    </p:spTree>
    <p:extLst>
      <p:ext uri="{BB962C8B-B14F-4D97-AF65-F5344CB8AC3E}">
        <p14:creationId xmlns:p14="http://schemas.microsoft.com/office/powerpoint/2010/main" val="9723823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 name="Google Shape;203;p10">
            <a:extLst xmlns:a="http://schemas.openxmlformats.org/drawingml/2006/main">
              <a:ext uri="{FF2B5EF4-FFF2-40B4-BE49-F238E27FC236}">
                <a16:creationId xmlns:a16="http://schemas.microsoft.com/office/drawing/2014/main" id="{5F87AA55-C07A-46F9-9D59-4880FCEE8E02}"/>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4" name="Google Shape;204;p10">
            <a:extLst xmlns:a="http://schemas.openxmlformats.org/drawingml/2006/main">
              <a:ext uri="{FF2B5EF4-FFF2-40B4-BE49-F238E27FC236}">
                <a16:creationId xmlns:a16="http://schemas.microsoft.com/office/drawing/2014/main" id="{F877BD5F-D585-4828-AA16-1D9379223B70}"/>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5" name="Google Shape;205;p10">
            <a:extLst xmlns:a="http://schemas.openxmlformats.org/drawingml/2006/main">
              <a:ext uri="{FF2B5EF4-FFF2-40B4-BE49-F238E27FC236}">
                <a16:creationId xmlns:a16="http://schemas.microsoft.com/office/drawing/2014/main" id="{55E7094E-862B-41C9-B9AB-F55C5EF401A0}"/>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6" name="Google Shape;206;p10">
            <a:extLst xmlns:a="http://schemas.openxmlformats.org/drawingml/2006/main">
              <a:ext uri="{FF2B5EF4-FFF2-40B4-BE49-F238E27FC236}">
                <a16:creationId xmlns:a16="http://schemas.microsoft.com/office/drawing/2014/main" id="{26F4580B-F59E-4C07-9881-23543A32AE0A}"/>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ONE · §1.1 · SEER · DOER · ENJOYER</a:t>
            </a:r>
          </a:p>
        </p:txBody>
      </p:sp>
      <p:sp>
        <p:nvSpPr>
          <p:cNvPr id="207" name="Google Shape;207;p10">
            <a:extLst xmlns:a="http://schemas.openxmlformats.org/drawingml/2006/main">
              <a:ext uri="{FF2B5EF4-FFF2-40B4-BE49-F238E27FC236}">
                <a16:creationId xmlns:a16="http://schemas.microsoft.com/office/drawing/2014/main" id="{2A1653D8-F3A0-453B-A338-12A7CFBCEF1A}"/>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Seer, Doer, and Enjoyer</a:t>
            </a:r>
          </a:p>
        </p:txBody>
      </p:sp>
      <p:sp>
        <p:nvSpPr>
          <p:cNvPr id="208" name="Google Shape;208;p10">
            <a:extLst xmlns:a="http://schemas.openxmlformats.org/drawingml/2006/main">
              <a:ext uri="{FF2B5EF4-FFF2-40B4-BE49-F238E27FC236}">
                <a16:creationId xmlns:a16="http://schemas.microsoft.com/office/drawing/2014/main" id="{93A60710-C057-478B-AEDF-592ADE633744}"/>
              </a:ext>
            </a:extLst>
          </p:cNvPr>
          <p:cNvSpPr>
            <a:spLocks xmlns:a="http://schemas.openxmlformats.org/drawingml/2006/main" noGrp="1"/>
          </p:cNvSpPr>
          <p:nvPr/>
        </p:nvSpPr>
        <p:spPr>
          <a:xfrm xmlns:a="http://schemas.openxmlformats.org/drawingml/2006/main">
            <a:off x="640080" y="1207008"/>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awakened human is seer, doer, and enjoyer in one joint form. Seer-status establishes understanding; doing places it in action; enjoyer-status names the experienced fruit or fruition of action.</a:t>
            </a:r>
          </a:p>
        </p:txBody>
      </p:sp>
      <p:sp>
        <p:nvSpPr>
          <p:cNvPr id="209" name="Google Shape;209;p10">
            <a:extLst xmlns:a="http://schemas.openxmlformats.org/drawingml/2006/main">
              <a:ext uri="{FF2B5EF4-FFF2-40B4-BE49-F238E27FC236}">
                <a16:creationId xmlns:a16="http://schemas.microsoft.com/office/drawing/2014/main" id="{FC5AD1DE-0993-48CE-A457-04C91E2504F4}"/>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0" name="Google Shape;210;p10">
            <a:extLst xmlns:a="http://schemas.openxmlformats.org/drawingml/2006/main">
              <a:ext uri="{FF2B5EF4-FFF2-40B4-BE49-F238E27FC236}">
                <a16:creationId xmlns:a16="http://schemas.microsoft.com/office/drawing/2014/main" id="{302F08FE-44C1-4A31-9367-D11986B7B2CC}"/>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Seer</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understanding</a:t>
            </a:r>
          </a:p>
        </p:txBody>
      </p:sp>
      <p:sp>
        <p:nvSpPr>
          <p:cNvPr id="211" name="Google Shape;211;p10">
            <a:extLst xmlns:a="http://schemas.openxmlformats.org/drawingml/2006/main">
              <a:ext uri="{FF2B5EF4-FFF2-40B4-BE49-F238E27FC236}">
                <a16:creationId xmlns:a16="http://schemas.microsoft.com/office/drawing/2014/main" id="{4BDBB112-0D12-4D7D-80BC-440FA0BF72CF}"/>
              </a:ext>
            </a:extLst>
          </p:cNvPr>
          <p:cNvSpPr>
            <a:spLocks xmlns:a="http://schemas.openxmlformats.org/drawingml/2006/main" noGrp="1"/>
          </p:cNvSpPr>
          <p:nvPr/>
        </p:nvSpPr>
        <p:spPr>
          <a:xfrm xmlns:a="http://schemas.openxmlformats.org/drawingml/2006/main">
            <a:off x="10058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realised seeing</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coexistence and relationship known</a:t>
            </a:r>
          </a:p>
        </p:txBody>
      </p:sp>
      <p:sp>
        <p:nvSpPr>
          <p:cNvPr id="212" name="Google Shape;212;p10">
            <a:extLst xmlns:a="http://schemas.openxmlformats.org/drawingml/2006/main">
              <a:ext uri="{FF2B5EF4-FFF2-40B4-BE49-F238E27FC236}">
                <a16:creationId xmlns:a16="http://schemas.microsoft.com/office/drawing/2014/main" id="{F4B31548-3274-45BA-8C29-F735DC21BF81}"/>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3" name="Google Shape;213;p10">
            <a:extLst xmlns:a="http://schemas.openxmlformats.org/drawingml/2006/main">
              <a:ext uri="{FF2B5EF4-FFF2-40B4-BE49-F238E27FC236}">
                <a16:creationId xmlns:a16="http://schemas.microsoft.com/office/drawing/2014/main" id="{04B49451-D66A-495D-8D6F-AFD0476ED7A9}"/>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Doer</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action</a:t>
            </a:r>
          </a:p>
        </p:txBody>
      </p:sp>
      <p:sp>
        <p:nvSpPr>
          <p:cNvPr id="214" name="Google Shape;214;p10">
            <a:extLst xmlns:a="http://schemas.openxmlformats.org/drawingml/2006/main">
              <a:ext uri="{FF2B5EF4-FFF2-40B4-BE49-F238E27FC236}">
                <a16:creationId xmlns:a16="http://schemas.microsoft.com/office/drawing/2014/main" id="{A64279CB-EFBE-42AC-AF57-E6BEB134070F}"/>
              </a:ext>
            </a:extLst>
          </p:cNvPr>
          <p:cNvSpPr>
            <a:spLocks xmlns:a="http://schemas.openxmlformats.org/drawingml/2006/main" noGrp="1"/>
          </p:cNvSpPr>
          <p:nvPr/>
        </p:nvSpPr>
        <p:spPr>
          <a:xfrm xmlns:a="http://schemas.openxmlformats.org/drawingml/2006/main">
            <a:off x="28346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authentic conduct</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work and behaviour aligned</a:t>
            </a:r>
          </a:p>
        </p:txBody>
      </p:sp>
      <p:sp>
        <p:nvSpPr>
          <p:cNvPr id="215" name="Google Shape;215;p10">
            <a:extLst xmlns:a="http://schemas.openxmlformats.org/drawingml/2006/main">
              <a:ext uri="{FF2B5EF4-FFF2-40B4-BE49-F238E27FC236}">
                <a16:creationId xmlns:a16="http://schemas.microsoft.com/office/drawing/2014/main" id="{7C5C6C4F-CC30-416C-86AC-B2641C0C1299}"/>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ellipse">
            <a:avLst/>
          </a:prstGeom>
          <a:solidFill xmlns:a="http://schemas.openxmlformats.org/drawingml/2006/main">
            <a:srgbClr val="C9821E"/>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6" name="Google Shape;216;p10">
            <a:extLst xmlns:a="http://schemas.openxmlformats.org/drawingml/2006/main">
              <a:ext uri="{FF2B5EF4-FFF2-40B4-BE49-F238E27FC236}">
                <a16:creationId xmlns:a16="http://schemas.microsoft.com/office/drawing/2014/main" id="{F972ED4B-3D61-4E47-8C1A-9FC7226A7FD8}"/>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Enjoyer</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experienced result</a:t>
            </a:r>
          </a:p>
        </p:txBody>
      </p:sp>
      <p:sp>
        <p:nvSpPr>
          <p:cNvPr id="217" name="Google Shape;217;p10">
            <a:extLst xmlns:a="http://schemas.openxmlformats.org/drawingml/2006/main">
              <a:ext uri="{FF2B5EF4-FFF2-40B4-BE49-F238E27FC236}">
                <a16:creationId xmlns:a16="http://schemas.microsoft.com/office/drawing/2014/main" id="{C2696FDC-6E47-4393-B77E-17FBBEDCE552}"/>
              </a:ext>
            </a:extLst>
          </p:cNvPr>
          <p:cNvSpPr>
            <a:spLocks xmlns:a="http://schemas.openxmlformats.org/drawingml/2006/main" noGrp="1"/>
          </p:cNvSpPr>
          <p:nvPr/>
        </p:nvSpPr>
        <p:spPr>
          <a:xfrm xmlns:a="http://schemas.openxmlformats.org/drawingml/2006/main">
            <a:off x="46634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receives fruition; in awakened conduct this supports mutual satisfaction</a:t>
            </a:r>
          </a:p>
        </p:txBody>
      </p:sp>
      <p:sp>
        <p:nvSpPr>
          <p:cNvPr id="218" name="Google Shape;218;p10">
            <a:extLst xmlns:a="http://schemas.openxmlformats.org/drawingml/2006/main">
              <a:ext uri="{FF2B5EF4-FFF2-40B4-BE49-F238E27FC236}">
                <a16:creationId xmlns:a16="http://schemas.microsoft.com/office/drawing/2014/main" id="{CB45AF9C-6E0E-4BC3-9ABD-2927804BA11B}"/>
              </a:ext>
            </a:extLst>
          </p:cNvPr>
          <p:cNvSpPr>
            <a:spLocks xmlns:a="http://schemas.openxmlformats.org/drawingml/2006/main" noGrp="1"/>
          </p:cNvSpPr>
          <p:nvPr/>
        </p:nvSpPr>
        <p:spPr>
          <a:xfrm xmlns:a="http://schemas.openxmlformats.org/drawingml/2006/main">
            <a:off x="6720840" y="2148840"/>
            <a:ext cx="1965960" cy="2240280"/>
          </a:xfrm>
          <a:prstGeom xmlns:a="http://schemas.openxmlformats.org/drawingml/2006/main" prst="roundRect">
            <a:avLst>
              <a:gd name="adj" fmla="val 465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9" name="Google Shape;219;p10">
            <a:extLst xmlns:a="http://schemas.openxmlformats.org/drawingml/2006/main">
              <a:ext uri="{FF2B5EF4-FFF2-40B4-BE49-F238E27FC236}">
                <a16:creationId xmlns:a16="http://schemas.microsoft.com/office/drawing/2014/main" id="{C0F43803-0A09-45AA-9AAA-5C3552F850AF}"/>
              </a:ext>
            </a:extLst>
          </p:cNvPr>
          <p:cNvSpPr>
            <a:spLocks xmlns:a="http://schemas.openxmlformats.org/drawingml/2006/main" noGrp="1"/>
          </p:cNvSpPr>
          <p:nvPr/>
        </p:nvSpPr>
        <p:spPr>
          <a:xfrm xmlns:a="http://schemas.openxmlformats.org/drawingml/2006/main">
            <a:off x="6903720" y="2331720"/>
            <a:ext cx="1627632" cy="1920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One human joint form</a:t>
            </a:r>
          </a:p>
          <a:p xmlns:a="http://schemas.openxmlformats.org/drawingml/2006/main">
            <a:pPr marL="0" indent="0" algn="l">
              <a:spcBef>
                <a:spcPts val="600"/>
              </a:spcBef>
              <a:spcAft>
                <a:spcPts val="0"/>
              </a:spcAft>
              <a:buNone/>
            </a:pPr>
            <a:r>
              <a:rPr sz="1250" b="0" i="1" u="none" cap="none">
                <a:solidFill>
                  <a:srgbClr val="5A6377"/>
                </a:solidFill>
                <a:latin typeface="Calibri"/>
                <a:ea typeface="Calibri"/>
                <a:cs typeface="Calibri"/>
              </a:rPr>
              <a:t>The seer does not withdraw from action.</a:t>
            </a:r>
          </a:p>
          <a:p xmlns:a="http://schemas.openxmlformats.org/drawingml/2006/main">
            <a:pPr marL="0" indent="0" algn="l">
              <a:spcBef>
                <a:spcPts val="500"/>
              </a:spcBef>
              <a:spcAft>
                <a:spcPts val="0"/>
              </a:spcAft>
              <a:buNone/>
            </a:pPr>
            <a:r>
              <a:rPr sz="1250" b="0" i="0" u="none" cap="none">
                <a:solidFill>
                  <a:srgbClr val="5A6377"/>
                </a:solidFill>
                <a:latin typeface="Calibri"/>
                <a:ea typeface="Calibri"/>
                <a:cs typeface="Calibri"/>
              </a:rPr>
              <a:t>The doer is guided by understanding.</a:t>
            </a:r>
          </a:p>
          <a:p xmlns:a="http://schemas.openxmlformats.org/drawingml/2006/main">
            <a:pPr marL="0" indent="0" algn="l">
              <a:spcBef>
                <a:spcPts val="500"/>
              </a:spcBef>
              <a:spcAft>
                <a:spcPts val="0"/>
              </a:spcAft>
              <a:buNone/>
            </a:pPr>
            <a:r>
              <a:rPr sz="1250" b="0" i="0" u="none" cap="none">
                <a:solidFill>
                  <a:srgbClr val="5A6377"/>
                </a:solidFill>
                <a:latin typeface="Calibri"/>
                <a:ea typeface="Calibri"/>
                <a:cs typeface="Calibri"/>
              </a:rPr>
              <a:t>The enjoyer receives the result and evaluates its fit with the accepted aim.</a:t>
            </a:r>
          </a:p>
        </p:txBody>
      </p:sp>
      <p:sp>
        <p:nvSpPr>
          <p:cNvPr id="230" name="Google Shape;230;p10">
            <a:extLst xmlns:a="http://schemas.openxmlformats.org/drawingml/2006/main">
              <a:ext uri="{FF2B5EF4-FFF2-40B4-BE49-F238E27FC236}">
                <a16:creationId xmlns:a16="http://schemas.microsoft.com/office/drawing/2014/main" id="{49CC71E0-2873-4327-84F0-385A2DF85CEA}"/>
              </a:ext>
            </a:extLst>
          </p:cNvPr>
          <p:cNvSpPr>
            <a:spLocks xmlns:a="http://schemas.openxmlformats.org/drawingml/2006/main" noGrp="1"/>
          </p:cNvSpPr>
          <p:nvPr/>
        </p:nvSpPr>
        <p:spPr>
          <a:xfrm xmlns:a="http://schemas.openxmlformats.org/drawingml/2006/main">
            <a:off x="502920" y="4560000"/>
            <a:ext cx="8138160" cy="2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9A6414"/>
                </a:solidFill>
                <a:latin typeface="Calibri"/>
                <a:ea typeface="Calibri"/>
                <a:cs typeface="Calibri"/>
              </a:rPr>
              <a:t>Understanding establishes seer-status; embodied action evidences the doer; experienced result evidences the enjoyer.</a:t>
            </a:r>
          </a:p>
        </p:txBody>
      </p:sp>
      <p:sp>
        <p:nvSpPr>
          <p:cNvPr id="220" name="Google Shape;220;p10">
            <a:extLst xmlns:a="http://schemas.openxmlformats.org/drawingml/2006/main">
              <a:ext uri="{FF2B5EF4-FFF2-40B4-BE49-F238E27FC236}">
                <a16:creationId xmlns:a16="http://schemas.microsoft.com/office/drawing/2014/main" id="{AE115049-FE9E-4C62-B676-580959BE0961}"/>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AnalyticMadhyasthDarshan.org · 12 / 36</a:t>
            </a:r>
          </a:p>
        </p:txBody>
      </p:sp>
    </p:spTree>
    <p:extLst>
      <p:ext uri="{BB962C8B-B14F-4D97-AF65-F5344CB8AC3E}">
        <p14:creationId xmlns:p14="http://schemas.microsoft.com/office/powerpoint/2010/main" val="1997788638"/>
      </p:ext>
    </p:extLst>
  </p:cSld>
</p:sld>
</file>

<file path=ppt/slides/slide13.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75FE6B61-565A-45A6-9540-7722013F560A}"/>
              </a:ext>
            </a:extLst>
          </p:cNvPr>
          <p:cNvSpPr>
            <a:spLocks xmlns:a="http://schemas.openxmlformats.org/drawingml/2006/main" noGrp="1"/>
          </p:cNvSpPr>
          <p:nvPr/>
        </p:nvSpPr>
        <p:spPr>
          <a:xfrm xmlns:a="http://schemas.openxmlformats.org/drawingml/2006/main">
            <a:off x="5852160" y="822960"/>
            <a:ext cx="3291840" cy="3291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 name="Google Shape;17;p3">
            <a:extLst xmlns:a="http://schemas.openxmlformats.org/drawingml/2006/main">
              <a:ext uri="{FF2B5EF4-FFF2-40B4-BE49-F238E27FC236}">
                <a16:creationId xmlns:a16="http://schemas.microsoft.com/office/drawing/2014/main" id="{21A78B37-5288-4B37-8F01-A4632A2A24F3}"/>
              </a:ext>
            </a:extLst>
          </p:cNvPr>
          <p:cNvSpPr>
            <a:spLocks xmlns:a="http://schemas.openxmlformats.org/drawingml/2006/main" noGrp="1"/>
          </p:cNvSpPr>
          <p:nvPr/>
        </p:nvSpPr>
        <p:spPr>
          <a:xfrm xmlns:a="http://schemas.openxmlformats.org/drawingml/2006/main">
            <a:off x="6510528" y="1481328"/>
            <a:ext cx="1975104" cy="19751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 name="Google Shape;18;p3">
            <a:extLst xmlns:a="http://schemas.openxmlformats.org/drawingml/2006/main">
              <a:ext uri="{FF2B5EF4-FFF2-40B4-BE49-F238E27FC236}">
                <a16:creationId xmlns:a16="http://schemas.microsoft.com/office/drawing/2014/main" id="{35274BF8-B136-4D9F-A722-CB80B18EB261}"/>
              </a:ext>
            </a:extLst>
          </p:cNvPr>
          <p:cNvSpPr>
            <a:spLocks xmlns:a="http://schemas.openxmlformats.org/drawingml/2006/main" noGrp="1"/>
          </p:cNvSpPr>
          <p:nvPr/>
        </p:nvSpPr>
        <p:spPr>
          <a:xfrm xmlns:a="http://schemas.openxmlformats.org/drawingml/2006/main">
            <a:off x="7070141" y="2040941"/>
            <a:ext cx="855878" cy="85587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 name="Google Shape;19;p3">
            <a:extLst xmlns:a="http://schemas.openxmlformats.org/drawingml/2006/main">
              <a:ext uri="{FF2B5EF4-FFF2-40B4-BE49-F238E27FC236}">
                <a16:creationId xmlns:a16="http://schemas.microsoft.com/office/drawing/2014/main" id="{08D5B1CE-A9B3-4D60-8397-374BC198E328}"/>
              </a:ext>
            </a:extLst>
          </p:cNvPr>
          <p:cNvSpPr>
            <a:spLocks xmlns:a="http://schemas.openxmlformats.org/drawingml/2006/main" noGrp="1"/>
          </p:cNvSpPr>
          <p:nvPr/>
        </p:nvSpPr>
        <p:spPr>
          <a:xfrm xmlns:a="http://schemas.openxmlformats.org/drawingml/2006/main">
            <a:off x="5394960" y="3566160"/>
            <a:ext cx="1097280" cy="109728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 name="Google Shape;20;p3">
            <a:extLst xmlns:a="http://schemas.openxmlformats.org/drawingml/2006/main">
              <a:ext uri="{FF2B5EF4-FFF2-40B4-BE49-F238E27FC236}">
                <a16:creationId xmlns:a16="http://schemas.microsoft.com/office/drawing/2014/main" id="{2F9A6F27-EBE0-4C3A-BD5B-51E23FBCB488}"/>
              </a:ext>
            </a:extLst>
          </p:cNvPr>
          <p:cNvSpPr>
            <a:spLocks xmlns:a="http://schemas.openxmlformats.org/drawingml/2006/main" noGrp="1"/>
          </p:cNvSpPr>
          <p:nvPr/>
        </p:nvSpPr>
        <p:spPr>
          <a:xfrm xmlns:a="http://schemas.openxmlformats.org/drawingml/2006/main">
            <a:off x="5614416" y="3785616"/>
            <a:ext cx="658368" cy="658368"/>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 name="Google Shape;21;p3">
            <a:extLst xmlns:a="http://schemas.openxmlformats.org/drawingml/2006/main">
              <a:ext uri="{FF2B5EF4-FFF2-40B4-BE49-F238E27FC236}">
                <a16:creationId xmlns:a16="http://schemas.microsoft.com/office/drawing/2014/main" id="{6F589193-5AE3-467F-9960-71BEAF1122F0}"/>
              </a:ext>
            </a:extLst>
          </p:cNvPr>
          <p:cNvSpPr>
            <a:spLocks xmlns:a="http://schemas.openxmlformats.org/drawingml/2006/main" noGrp="1"/>
          </p:cNvSpPr>
          <p:nvPr/>
        </p:nvSpPr>
        <p:spPr>
          <a:xfrm xmlns:a="http://schemas.openxmlformats.org/drawingml/2006/main">
            <a:off x="5800954" y="3972154"/>
            <a:ext cx="285293" cy="285293"/>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2" name="Google Shape;22;p3">
            <a:extLst xmlns:a="http://schemas.openxmlformats.org/drawingml/2006/main">
              <a:ext uri="{FF2B5EF4-FFF2-40B4-BE49-F238E27FC236}">
                <a16:creationId xmlns:a16="http://schemas.microsoft.com/office/drawing/2014/main" id="{47EB0975-A9FD-4414-A496-C262C8303A61}"/>
              </a:ext>
            </a:extLst>
          </p:cNvPr>
          <p:cNvSpPr>
            <a:spLocks xmlns:a="http://schemas.openxmlformats.org/drawingml/2006/main" noGrp="1"/>
          </p:cNvSpPr>
          <p:nvPr/>
        </p:nvSpPr>
        <p:spPr>
          <a:xfrm xmlns:a="http://schemas.openxmlformats.org/drawingml/2006/main">
            <a:off x="8138160" y="4023360"/>
            <a:ext cx="731520" cy="73152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3" name="Google Shape;23;p3">
            <a:extLst xmlns:a="http://schemas.openxmlformats.org/drawingml/2006/main">
              <a:ext uri="{FF2B5EF4-FFF2-40B4-BE49-F238E27FC236}">
                <a16:creationId xmlns:a16="http://schemas.microsoft.com/office/drawing/2014/main" id="{EBFFAFDE-264C-438B-A02F-85F9E50F7A9E}"/>
              </a:ext>
            </a:extLst>
          </p:cNvPr>
          <p:cNvSpPr>
            <a:spLocks xmlns:a="http://schemas.openxmlformats.org/drawingml/2006/main" noGrp="1"/>
          </p:cNvSpPr>
          <p:nvPr/>
        </p:nvSpPr>
        <p:spPr>
          <a:xfrm xmlns:a="http://schemas.openxmlformats.org/drawingml/2006/main">
            <a:off x="8284464" y="4169664"/>
            <a:ext cx="438912" cy="438912"/>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 name="Google Shape;24;p3">
            <a:extLst xmlns:a="http://schemas.openxmlformats.org/drawingml/2006/main">
              <a:ext uri="{FF2B5EF4-FFF2-40B4-BE49-F238E27FC236}">
                <a16:creationId xmlns:a16="http://schemas.microsoft.com/office/drawing/2014/main" id="{52047E37-4816-41A7-B1A8-5ED7B16CE4CB}"/>
              </a:ext>
            </a:extLst>
          </p:cNvPr>
          <p:cNvSpPr>
            <a:spLocks xmlns:a="http://schemas.openxmlformats.org/drawingml/2006/main" noGrp="1"/>
          </p:cNvSpPr>
          <p:nvPr/>
        </p:nvSpPr>
        <p:spPr>
          <a:xfrm xmlns:a="http://schemas.openxmlformats.org/drawingml/2006/main">
            <a:off x="8408822" y="4294022"/>
            <a:ext cx="190195" cy="190195"/>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5" name="Google Shape;25;p3">
            <a:extLst xmlns:a="http://schemas.openxmlformats.org/drawingml/2006/main">
              <a:ext uri="{FF2B5EF4-FFF2-40B4-BE49-F238E27FC236}">
                <a16:creationId xmlns:a16="http://schemas.microsoft.com/office/drawing/2014/main" id="{6BC522C1-F2B8-42B0-BD23-EBBB4C5CE598}"/>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MOVEMENT TWO  ·  §§1.3 → 1.4</a:t>
            </a:r>
          </a:p>
        </p:txBody>
      </p:sp>
      <p:sp>
        <p:nvSpPr>
          <p:cNvPr id="26" name="Google Shape;26;p3">
            <a:extLst xmlns:a="http://schemas.openxmlformats.org/drawingml/2006/main">
              <a:ext uri="{FF2B5EF4-FFF2-40B4-BE49-F238E27FC236}">
                <a16:creationId xmlns:a16="http://schemas.microsoft.com/office/drawing/2014/main" id="{47A64A12-D1A5-441F-AA82-AF514D30EB90}"/>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4400" b="1" i="0" u="none" cap="none">
                <a:solidFill>
                  <a:srgbClr val="FFFFFF"/>
                </a:solidFill>
                <a:latin typeface="Cambria"/>
                <a:ea typeface="Cambria"/>
                <a:cs typeface="Cambria"/>
              </a:rPr>
              <a:t>The Knower and Human Choice</a:t>
            </a:r>
          </a:p>
        </p:txBody>
      </p:sp>
      <p:sp>
        <p:nvSpPr>
          <p:cNvPr id="27" name="Google Shape;27;p3">
            <a:extLst xmlns:a="http://schemas.openxmlformats.org/drawingml/2006/main">
              <a:ext uri="{FF2B5EF4-FFF2-40B4-BE49-F238E27FC236}">
                <a16:creationId xmlns:a16="http://schemas.microsoft.com/office/drawing/2014/main" id="{E7C7DAAD-F163-4083-A316-3C74C158297F}"/>
              </a:ext>
            </a:extLst>
          </p:cNvPr>
          <p:cNvSpPr>
            <a:spLocks xmlns:a="http://schemas.openxmlformats.org/drawingml/2006/main" noGrp="1"/>
          </p:cNvSpPr>
          <p:nvPr/>
        </p:nvSpPr>
        <p:spPr>
          <a:xfrm xmlns:a="http://schemas.openxmlformats.org/drawingml/2006/main">
            <a:off x="640080" y="3035808"/>
            <a:ext cx="484632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b="0" i="1" u="none" cap="none">
                <a:solidFill>
                  <a:srgbClr val="C9D4EF"/>
                </a:solidFill>
                <a:latin typeface="Calibri"/>
                <a:ea typeface="Calibri"/>
                <a:cs typeface="Calibri"/>
              </a:rPr>
              <a:t>Jeevan understands. Its understanding guides bodily needs, social motives, judgment, and action.</a:t>
            </a:r>
          </a:p>
        </p:txBody>
      </p:sp>
      <p:sp>
        <p:nvSpPr>
          <p:cNvPr id="28" name="Google Shape;28;p3">
            <a:extLst xmlns:a="http://schemas.openxmlformats.org/drawingml/2006/main">
              <a:ext uri="{FF2B5EF4-FFF2-40B4-BE49-F238E27FC236}">
                <a16:creationId xmlns:a16="http://schemas.microsoft.com/office/drawing/2014/main" id="{458FAD9F-55D3-4855-B3DD-E51566B8BF19}"/>
              </a:ext>
            </a:extLst>
          </p:cNvPr>
          <p:cNvSpPr>
            <a:spLocks xmlns:a="http://schemas.openxmlformats.org/drawingml/2006/main" noGrp="1"/>
          </p:cNvSpPr>
          <p:nvPr/>
        </p:nvSpPr>
        <p:spPr>
          <a:xfrm xmlns:a="http://schemas.openxmlformats.org/drawingml/2006/main">
            <a:off x="640080" y="4370832"/>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Answers  ·  How does knowing develop?  ·  Opens  ·  How does error arise?</a:t>
            </a:r>
          </a:p>
        </p:txBody>
      </p:sp>
      <p:sp>
        <p:nvSpPr>
          <p:cNvPr id="29" name="Google Shape;29;p3">
            <a:extLst xmlns:a="http://schemas.openxmlformats.org/drawingml/2006/main">
              <a:ext uri="{FF2B5EF4-FFF2-40B4-BE49-F238E27FC236}">
                <a16:creationId xmlns:a16="http://schemas.microsoft.com/office/drawing/2014/main" id="{DB10076E-E334-428A-B2C0-66347245EC4C}"/>
              </a:ext>
            </a:extLst>
          </p:cNvPr>
          <p:cNvSpPr>
            <a:spLocks xmlns:a="http://schemas.openxmlformats.org/drawingml/2006/main" noGrp="1"/>
          </p:cNvSpPr>
          <p:nvPr/>
        </p:nvSpPr>
        <p:spPr>
          <a:xfrm xmlns:a="http://schemas.openxmlformats.org/drawingml/2006/main">
            <a:off x="640080" y="466344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The knower, then what it governs  ·  AnalyticMadhyasthDarshan.org  ·  13 / 36</a:t>
            </a:r>
          </a:p>
        </p:txBody>
      </p:sp>
    </p:spTree>
    <p:extLst>
      <p:ext uri="{BB962C8B-B14F-4D97-AF65-F5344CB8AC3E}">
        <p14:creationId xmlns:p14="http://schemas.microsoft.com/office/powerpoint/2010/main" val="9888984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4" name="Google Shape;264;p12">
            <a:extLst xmlns:a="http://schemas.openxmlformats.org/drawingml/2006/main">
              <a:ext uri="{FF2B5EF4-FFF2-40B4-BE49-F238E27FC236}">
                <a16:creationId xmlns:a16="http://schemas.microsoft.com/office/drawing/2014/main" id="{729C667D-E689-4D70-90E8-4F2607078D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5" name="Google Shape;265;p12">
            <a:extLst xmlns:a="http://schemas.openxmlformats.org/drawingml/2006/main">
              <a:ext uri="{FF2B5EF4-FFF2-40B4-BE49-F238E27FC236}">
                <a16:creationId xmlns:a16="http://schemas.microsoft.com/office/drawing/2014/main" id="{F501FB75-B6D4-4DFC-BA72-8E31AE6E93E3}"/>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6" name="Google Shape;266;p12">
            <a:extLst xmlns:a="http://schemas.openxmlformats.org/drawingml/2006/main">
              <a:ext uri="{FF2B5EF4-FFF2-40B4-BE49-F238E27FC236}">
                <a16:creationId xmlns:a16="http://schemas.microsoft.com/office/drawing/2014/main" id="{ECBF3BFF-A4A6-4EF0-A660-392661091BB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7" name="Google Shape;267;p12">
            <a:extLst xmlns:a="http://schemas.openxmlformats.org/drawingml/2006/main">
              <a:ext uri="{FF2B5EF4-FFF2-40B4-BE49-F238E27FC236}">
                <a16:creationId xmlns:a16="http://schemas.microsoft.com/office/drawing/2014/main" id="{FFBEE572-0076-43B9-BA0E-A17511957AAB}"/>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§1.3 · THE ACTIVE KNOWER</a:t>
            </a:r>
          </a:p>
        </p:txBody>
      </p:sp>
      <p:sp>
        <p:nvSpPr>
          <p:cNvPr id="268" name="Google Shape;268;p12">
            <a:extLst xmlns:a="http://schemas.openxmlformats.org/drawingml/2006/main">
              <a:ext uri="{FF2B5EF4-FFF2-40B4-BE49-F238E27FC236}">
                <a16:creationId xmlns:a16="http://schemas.microsoft.com/office/drawing/2014/main" id="{9214062A-13C9-4C7B-A7F8-E09038CB238F}"/>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Five Faculties and Ten Activities</a:t>
            </a:r>
          </a:p>
        </p:txBody>
      </p:sp>
      <p:sp>
        <p:nvSpPr>
          <p:cNvPr id="269" name="Google Shape;269;p12">
            <a:extLst xmlns:a="http://schemas.openxmlformats.org/drawingml/2006/main">
              <a:ext uri="{FF2B5EF4-FFF2-40B4-BE49-F238E27FC236}">
                <a16:creationId xmlns:a16="http://schemas.microsoft.com/office/drawing/2014/main" id="{F9758BEB-9C2B-408D-AF26-158B6194BA44}"/>
              </a:ext>
            </a:extLst>
          </p:cNvPr>
          <p:cNvSpPr>
            <a:spLocks xmlns:a="http://schemas.openxmlformats.org/drawingml/2006/main" noGrp="1"/>
          </p:cNvSpPr>
          <p:nvPr/>
        </p:nvSpPr>
        <p:spPr>
          <a:xfrm xmlns:a="http://schemas.openxmlformats.org/drawingml/2006/main">
            <a:off x="640080" y="1234440"/>
            <a:ext cx="79552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i="0" u="none" cap="none">
                <a:solidFill>
                  <a:srgbClr val="1E2447"/>
                </a:solidFill>
                <a:latin typeface="Calibri"/>
                <a:ea typeface="Calibri"/>
                <a:cs typeface="Calibri"/>
              </a:rPr>
              <a:t>Jeevan is a constitutionally complete sentient atom (gathan-purna). No particles enter or leave. Five faculties carry ten activities.</a:t>
            </a:r>
          </a:p>
        </p:txBody>
      </p:sp>
      <p:sp>
        <p:nvSpPr>
          <p:cNvPr id="270" name="Google Shape;270;p12">
            <a:extLst xmlns:a="http://schemas.openxmlformats.org/drawingml/2006/main">
              <a:ext uri="{FF2B5EF4-FFF2-40B4-BE49-F238E27FC236}">
                <a16:creationId xmlns:a16="http://schemas.microsoft.com/office/drawing/2014/main" id="{6BB2F31E-F3C0-431E-BAC4-A9679E0D86A3}"/>
              </a:ext>
            </a:extLst>
          </p:cNvPr>
          <p:cNvSpPr>
            <a:spLocks xmlns:a="http://schemas.openxmlformats.org/drawingml/2006/main" noGrp="1"/>
          </p:cNvSpPr>
          <p:nvPr/>
        </p:nvSpPr>
        <p:spPr>
          <a:xfrm xmlns:a="http://schemas.openxmlformats.org/drawingml/2006/main">
            <a:off x="640080" y="2286000"/>
            <a:ext cx="3657600" cy="1691640"/>
          </a:xfrm>
          <a:prstGeom xmlns:a="http://schemas.openxmlformats.org/drawingml/2006/main" prst="roundRect">
            <a:avLst>
              <a:gd name="adj" fmla="val 5405"/>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1" name="Google Shape;271;p12">
            <a:extLst xmlns:a="http://schemas.openxmlformats.org/drawingml/2006/main">
              <a:ext uri="{FF2B5EF4-FFF2-40B4-BE49-F238E27FC236}">
                <a16:creationId xmlns:a16="http://schemas.microsoft.com/office/drawing/2014/main" id="{6D3985BD-A3A5-46A4-A35F-4142738C7174}"/>
              </a:ext>
            </a:extLst>
          </p:cNvPr>
          <p:cNvSpPr>
            <a:spLocks xmlns:a="http://schemas.openxmlformats.org/drawingml/2006/main" noGrp="1"/>
          </p:cNvSpPr>
          <p:nvPr/>
        </p:nvSpPr>
        <p:spPr>
          <a:xfrm xmlns:a="http://schemas.openxmlformats.org/drawingml/2006/main">
            <a:off x="86868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3B4A7A"/>
                </a:solidFill>
                <a:latin typeface="Cambria"/>
                <a:ea typeface="Cambria"/>
                <a:cs typeface="Cambria"/>
              </a:rPr>
              <a:t>Jeevan: five faculties</a:t>
            </a:r>
          </a:p>
        </p:txBody>
      </p:sp>
      <p:sp>
        <p:nvSpPr>
          <p:cNvPr id="272" name="Google Shape;272;p12">
            <a:extLst xmlns:a="http://schemas.openxmlformats.org/drawingml/2006/main">
              <a:ext uri="{FF2B5EF4-FFF2-40B4-BE49-F238E27FC236}">
                <a16:creationId xmlns:a16="http://schemas.microsoft.com/office/drawing/2014/main" id="{C72A7A91-6C0A-4597-B37C-72D0DE54B8B2}"/>
              </a:ext>
            </a:extLst>
          </p:cNvPr>
          <p:cNvSpPr>
            <a:spLocks xmlns:a="http://schemas.openxmlformats.org/drawingml/2006/main" noGrp="1"/>
          </p:cNvSpPr>
          <p:nvPr/>
        </p:nvSpPr>
        <p:spPr>
          <a:xfrm xmlns:a="http://schemas.openxmlformats.org/drawingml/2006/main">
            <a:off x="868680" y="2743200"/>
            <a:ext cx="324612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Atma: realisation and authenticity</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Buddhi: comprehension and resolve</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Chitta: contemplation and visualisation</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Vritti: deliberation and analysis</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Mun: taste and selection</a:t>
            </a:r>
          </a:p>
        </p:txBody>
      </p:sp>
      <p:sp>
        <p:nvSpPr>
          <p:cNvPr id="273" name="Google Shape;273;p12">
            <a:extLst xmlns:a="http://schemas.openxmlformats.org/drawingml/2006/main">
              <a:ext uri="{FF2B5EF4-FFF2-40B4-BE49-F238E27FC236}">
                <a16:creationId xmlns:a16="http://schemas.microsoft.com/office/drawing/2014/main" id="{2D6C52AD-EC2A-4BE2-ACB4-645483C34D8F}"/>
              </a:ext>
            </a:extLst>
          </p:cNvPr>
          <p:cNvSpPr>
            <a:spLocks xmlns:a="http://schemas.openxmlformats.org/drawingml/2006/main" noGrp="1"/>
          </p:cNvSpPr>
          <p:nvPr/>
        </p:nvSpPr>
        <p:spPr>
          <a:xfrm xmlns:a="http://schemas.openxmlformats.org/drawingml/2006/main">
            <a:off x="4846320" y="2286000"/>
            <a:ext cx="3657600" cy="1691640"/>
          </a:xfrm>
          <a:prstGeom xmlns:a="http://schemas.openxmlformats.org/drawingml/2006/main" prst="roundRect">
            <a:avLst>
              <a:gd name="adj" fmla="val 5405"/>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4" name="Google Shape;274;p12">
            <a:extLst xmlns:a="http://schemas.openxmlformats.org/drawingml/2006/main">
              <a:ext uri="{FF2B5EF4-FFF2-40B4-BE49-F238E27FC236}">
                <a16:creationId xmlns:a16="http://schemas.microsoft.com/office/drawing/2014/main" id="{3701D90E-EDED-47DC-98ED-73DD8E2EBBD4}"/>
              </a:ext>
            </a:extLst>
          </p:cNvPr>
          <p:cNvSpPr>
            <a:spLocks xmlns:a="http://schemas.openxmlformats.org/drawingml/2006/main" noGrp="1"/>
          </p:cNvSpPr>
          <p:nvPr/>
        </p:nvSpPr>
        <p:spPr>
          <a:xfrm xmlns:a="http://schemas.openxmlformats.org/drawingml/2006/main">
            <a:off x="507492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9A6414"/>
                </a:solidFill>
                <a:latin typeface="Cambria"/>
                <a:ea typeface="Cambria"/>
                <a:cs typeface="Cambria"/>
              </a:rPr>
              <a:t>Two directions</a:t>
            </a:r>
          </a:p>
        </p:txBody>
      </p:sp>
      <p:sp>
        <p:nvSpPr>
          <p:cNvPr id="275" name="Google Shape;275;p12">
            <a:extLst xmlns:a="http://schemas.openxmlformats.org/drawingml/2006/main">
              <a:ext uri="{FF2B5EF4-FFF2-40B4-BE49-F238E27FC236}">
                <a16:creationId xmlns:a16="http://schemas.microsoft.com/office/drawing/2014/main" id="{54C4D491-CD51-4522-B53F-C369A7492AD5}"/>
              </a:ext>
            </a:extLst>
          </p:cNvPr>
          <p:cNvSpPr>
            <a:spLocks xmlns:a="http://schemas.openxmlformats.org/drawingml/2006/main" noGrp="1"/>
          </p:cNvSpPr>
          <p:nvPr/>
        </p:nvSpPr>
        <p:spPr>
          <a:xfrm xmlns:a="http://schemas.openxmlformats.org/drawingml/2006/main">
            <a:off x="5074920" y="2743200"/>
            <a:ext cx="324612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Inward reflection develops recognition, comprehension, and realisation.</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Outward projection expresses understanding through choice, work, and behaviour.</a:t>
            </a:r>
          </a:p>
        </p:txBody>
      </p:sp>
      <p:sp>
        <p:nvSpPr>
          <p:cNvPr id="276" name="Google Shape;276;p12">
            <a:extLst xmlns:a="http://schemas.openxmlformats.org/drawingml/2006/main">
              <a:ext uri="{FF2B5EF4-FFF2-40B4-BE49-F238E27FC236}">
                <a16:creationId xmlns:a16="http://schemas.microsoft.com/office/drawing/2014/main" id="{4D8269B2-36B6-4F15-BCEC-EEC9EAB2E996}"/>
              </a:ext>
            </a:extLst>
          </p:cNvPr>
          <p:cNvSpPr>
            <a:spLocks xmlns:a="http://schemas.openxmlformats.org/drawingml/2006/main" noGrp="1"/>
          </p:cNvSpPr>
          <p:nvPr/>
        </p:nvSpPr>
        <p:spPr>
          <a:xfrm xmlns:a="http://schemas.openxmlformats.org/drawingml/2006/main">
            <a:off x="4315968" y="2880360"/>
            <a:ext cx="50292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2400" b="1" i="0" u="none" cap="none">
                <a:solidFill>
                  <a:srgbClr val="C9821E"/>
                </a:solidFill>
                <a:latin typeface="Calibri"/>
                <a:ea typeface="Calibri"/>
                <a:cs typeface="Calibri"/>
              </a:rPr>
              <a:t>→</a:t>
            </a:r>
          </a:p>
        </p:txBody>
      </p:sp>
      <p:sp>
        <p:nvSpPr>
          <p:cNvPr id="277" name="Google Shape;277;p12">
            <a:extLst xmlns:a="http://schemas.openxmlformats.org/drawingml/2006/main">
              <a:ext uri="{FF2B5EF4-FFF2-40B4-BE49-F238E27FC236}">
                <a16:creationId xmlns:a16="http://schemas.microsoft.com/office/drawing/2014/main" id="{266542B5-9ABA-41A8-9AB9-A6CA9D623966}"/>
              </a:ext>
            </a:extLst>
          </p:cNvPr>
          <p:cNvSpPr>
            <a:spLocks xmlns:a="http://schemas.openxmlformats.org/drawingml/2006/main" noGrp="1"/>
          </p:cNvSpPr>
          <p:nvPr/>
        </p:nvSpPr>
        <p:spPr>
          <a:xfrm xmlns:a="http://schemas.openxmlformats.org/drawingml/2006/main">
            <a:off x="640080" y="4206240"/>
            <a:ext cx="7955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1" u="none" cap="none">
                <a:solidFill>
                  <a:srgbClr val="1E2447"/>
                </a:solidFill>
                <a:latin typeface="Calibri"/>
                <a:ea typeface="Calibri"/>
                <a:cs typeface="Calibri"/>
              </a:rPr>
              <a:t>Atma is madhyasth: centred and free from one-sided bias. Its mediativeness becomes evident when understanding and conduct agree.</a:t>
            </a:r>
          </a:p>
        </p:txBody>
      </p:sp>
      <p:sp>
        <p:nvSpPr>
          <p:cNvPr id="278" name="Google Shape;278;p12">
            <a:extLst xmlns:a="http://schemas.openxmlformats.org/drawingml/2006/main">
              <a:ext uri="{FF2B5EF4-FFF2-40B4-BE49-F238E27FC236}">
                <a16:creationId xmlns:a16="http://schemas.microsoft.com/office/drawing/2014/main" id="{B7C5A5B0-4341-4678-88F0-DC0A25C0F65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JV pp. 36, 72–73, 92–93  ·  KD §3.12  ·  MVD p. 211  ·  AnalyticMadhyasthDarshan.org  ·  14 / 36</a:t>
            </a:r>
          </a:p>
        </p:txBody>
      </p:sp>
    </p:spTree>
    <p:extLst>
      <p:ext uri="{BB962C8B-B14F-4D97-AF65-F5344CB8AC3E}">
        <p14:creationId xmlns:p14="http://schemas.microsoft.com/office/powerpoint/2010/main" val="12902166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 name="Google Shape;158;p8">
            <a:extLst xmlns:a="http://schemas.openxmlformats.org/drawingml/2006/main">
              <a:ext uri="{FF2B5EF4-FFF2-40B4-BE49-F238E27FC236}">
                <a16:creationId xmlns:a16="http://schemas.microsoft.com/office/drawing/2014/main" id="{FF8942B7-5A36-4D4F-A231-9AB3FCCC3AB1}"/>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9" name="Google Shape;159;p8">
            <a:extLst xmlns:a="http://schemas.openxmlformats.org/drawingml/2006/main">
              <a:ext uri="{FF2B5EF4-FFF2-40B4-BE49-F238E27FC236}">
                <a16:creationId xmlns:a16="http://schemas.microsoft.com/office/drawing/2014/main" id="{8285E63B-E64E-4239-B4E3-A08359DF9BB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0" name="Google Shape;160;p8">
            <a:extLst xmlns:a="http://schemas.openxmlformats.org/drawingml/2006/main">
              <a:ext uri="{FF2B5EF4-FFF2-40B4-BE49-F238E27FC236}">
                <a16:creationId xmlns:a16="http://schemas.microsoft.com/office/drawing/2014/main" id="{4AC4F9E4-68C3-4600-A6CF-94E72DAD4229}"/>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1" name="Google Shape;161;p8">
            <a:extLst xmlns:a="http://schemas.openxmlformats.org/drawingml/2006/main">
              <a:ext uri="{FF2B5EF4-FFF2-40B4-BE49-F238E27FC236}">
                <a16:creationId xmlns:a16="http://schemas.microsoft.com/office/drawing/2014/main" id="{182CBFBE-3498-4A09-B071-65CE86036523}"/>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§1.3 · REFLECTION AND PROJECTION</a:t>
            </a:r>
          </a:p>
        </p:txBody>
      </p:sp>
      <p:sp>
        <p:nvSpPr>
          <p:cNvPr id="162" name="Google Shape;162;p8">
            <a:extLst xmlns:a="http://schemas.openxmlformats.org/drawingml/2006/main">
              <a:ext uri="{FF2B5EF4-FFF2-40B4-BE49-F238E27FC236}">
                <a16:creationId xmlns:a16="http://schemas.microsoft.com/office/drawing/2014/main" id="{EF96E4E0-0092-4867-8481-AEA5D69308AC}"/>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Knowing and Doing Form a Cycle</a:t>
            </a:r>
          </a:p>
        </p:txBody>
      </p:sp>
      <p:sp>
        <p:nvSpPr>
          <p:cNvPr id="163" name="Google Shape;163;p8">
            <a:extLst xmlns:a="http://schemas.openxmlformats.org/drawingml/2006/main">
              <a:ext uri="{FF2B5EF4-FFF2-40B4-BE49-F238E27FC236}">
                <a16:creationId xmlns:a16="http://schemas.microsoft.com/office/drawing/2014/main" id="{5165274F-73DA-464F-92F1-9F3BAD6FC151}"/>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Attention and reflection deepen understanding. Projection expresses it in action, whose results call for renewed attention.</a:t>
            </a:r>
          </a:p>
        </p:txBody>
      </p:sp>
      <p:sp>
        <p:nvSpPr>
          <p:cNvPr id="164" name="Google Shape;164;p8">
            <a:extLst xmlns:a="http://schemas.openxmlformats.org/drawingml/2006/main">
              <a:ext uri="{FF2B5EF4-FFF2-40B4-BE49-F238E27FC236}">
                <a16:creationId xmlns:a16="http://schemas.microsoft.com/office/drawing/2014/main" id="{43FB756B-BDDE-40CC-9BE9-E2DAD664080D}"/>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5" name="Google Shape;165;p8">
            <a:extLst xmlns:a="http://schemas.openxmlformats.org/drawingml/2006/main">
              <a:ext uri="{FF2B5EF4-FFF2-40B4-BE49-F238E27FC236}">
                <a16:creationId xmlns:a16="http://schemas.microsoft.com/office/drawing/2014/main" id="{13FF157E-F769-49F1-9535-E25514D524D4}"/>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1E2447"/>
                </a:solidFill>
                <a:latin typeface="Cambria"/>
                <a:ea typeface="Cambria"/>
                <a:cs typeface="Cambria"/>
              </a:rPr>
              <a:t>Reflection — the knowing direction</a:t>
            </a:r>
          </a:p>
        </p:txBody>
      </p:sp>
      <p:sp>
        <p:nvSpPr>
          <p:cNvPr id="166" name="Google Shape;166;p8">
            <a:extLst xmlns:a="http://schemas.openxmlformats.org/drawingml/2006/main">
              <a:ext uri="{FF2B5EF4-FFF2-40B4-BE49-F238E27FC236}">
                <a16:creationId xmlns:a16="http://schemas.microsoft.com/office/drawing/2014/main" id="{060F334F-38F8-4D7C-9709-C6D49DD87C67}"/>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We attend to experience and results. </a:t>
            </a:r>
            <a:r>
              <a:rPr sz="1250" b="0" i="0" u="none" cap="none">
                <a:solidFill>
                  <a:srgbClr val="5A6377"/>
                </a:solidFill>
                <a:latin typeface="Calibri"/>
                <a:ea typeface="Calibri"/>
                <a:cs typeface="Calibri"/>
              </a:rPr>
              <a:t>Chitta directly apprehends meaning</a:t>
            </a:r>
            <a:r>
              <a:rPr sz="1250" b="0" i="0" u="none" cap="none">
                <a:solidFill>
                  <a:srgbClr val="5A6377"/>
                </a:solidFill>
                <a:latin typeface="Calibri"/>
                <a:ea typeface="Calibri"/>
                <a:cs typeface="Calibri"/>
              </a:rPr>
              <a:t>, buddhi comprehends, and atma realises.</a:t>
            </a:r>
          </a:p>
        </p:txBody>
      </p:sp>
      <p:sp>
        <p:nvSpPr>
          <p:cNvPr id="167" name="Google Shape;167;p8">
            <a:extLst xmlns:a="http://schemas.openxmlformats.org/drawingml/2006/main">
              <a:ext uri="{FF2B5EF4-FFF2-40B4-BE49-F238E27FC236}">
                <a16:creationId xmlns:a16="http://schemas.microsoft.com/office/drawing/2014/main" id="{8D917C22-DD61-4196-990A-5710A1C51A02}"/>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8" name="Google Shape;168;p8">
            <a:extLst xmlns:a="http://schemas.openxmlformats.org/drawingml/2006/main">
              <a:ext uri="{FF2B5EF4-FFF2-40B4-BE49-F238E27FC236}">
                <a16:creationId xmlns:a16="http://schemas.microsoft.com/office/drawing/2014/main" id="{BE1A67A3-F1AC-4F67-B169-3DDFD0EEABEA}"/>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Projection — the evidencing direction</a:t>
            </a:r>
          </a:p>
        </p:txBody>
      </p:sp>
      <p:sp>
        <p:nvSpPr>
          <p:cNvPr id="169" name="Google Shape;169;p8">
            <a:extLst xmlns:a="http://schemas.openxmlformats.org/drawingml/2006/main">
              <a:ext uri="{FF2B5EF4-FFF2-40B4-BE49-F238E27FC236}">
                <a16:creationId xmlns:a16="http://schemas.microsoft.com/office/drawing/2014/main" id="{1F48D4EF-3E22-4CF4-87E4-D65A0570C116}"/>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Realisation guides resolve, visualisation, analysis, and selection. These become speech, work, behaviour, and teaching.</a:t>
            </a:r>
          </a:p>
        </p:txBody>
      </p:sp>
      <p:sp>
        <p:nvSpPr>
          <p:cNvPr id="170" name="Google Shape;170;p8">
            <a:extLst xmlns:a="http://schemas.openxmlformats.org/drawingml/2006/main">
              <a:ext uri="{FF2B5EF4-FFF2-40B4-BE49-F238E27FC236}">
                <a16:creationId xmlns:a16="http://schemas.microsoft.com/office/drawing/2014/main" id="{E9DA5A7C-D383-4CD0-BB74-63CE503BAFCA}"/>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Understanding guides action. Evaluating the result helps us refine the next action.</a:t>
            </a:r>
          </a:p>
        </p:txBody>
      </p:sp>
      <p:sp>
        <p:nvSpPr>
          <p:cNvPr id="171" name="Google Shape;171;p8">
            <a:extLst xmlns:a="http://schemas.openxmlformats.org/drawingml/2006/main">
              <a:ext uri="{FF2B5EF4-FFF2-40B4-BE49-F238E27FC236}">
                <a16:creationId xmlns:a16="http://schemas.microsoft.com/office/drawing/2014/main" id="{705CDB43-BF77-442A-8766-7C31B36F3257}"/>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2" name="Google Shape;172;p8">
            <a:extLst xmlns:a="http://schemas.openxmlformats.org/drawingml/2006/main">
              <a:ext uri="{FF2B5EF4-FFF2-40B4-BE49-F238E27FC236}">
                <a16:creationId xmlns:a16="http://schemas.microsoft.com/office/drawing/2014/main" id="{690354A7-2A53-4742-98B5-8929D66AB988}"/>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Attention</a:t>
            </a:r>
          </a:p>
        </p:txBody>
      </p:sp>
      <p:sp>
        <p:nvSpPr>
          <p:cNvPr id="173" name="Google Shape;173;p8">
            <a:extLst xmlns:a="http://schemas.openxmlformats.org/drawingml/2006/main">
              <a:ext uri="{FF2B5EF4-FFF2-40B4-BE49-F238E27FC236}">
                <a16:creationId xmlns:a16="http://schemas.microsoft.com/office/drawing/2014/main" id="{CC17E0DA-56A5-45E7-B130-09F14510DB58}"/>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74" name="Google Shape;174;p8">
            <a:extLst xmlns:a="http://schemas.openxmlformats.org/drawingml/2006/main">
              <a:ext uri="{FF2B5EF4-FFF2-40B4-BE49-F238E27FC236}">
                <a16:creationId xmlns:a16="http://schemas.microsoft.com/office/drawing/2014/main" id="{756D6313-79A6-49F7-AD20-102C54A6D0BA}"/>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5" name="Google Shape;175;p8">
            <a:extLst xmlns:a="http://schemas.openxmlformats.org/drawingml/2006/main">
              <a:ext uri="{FF2B5EF4-FFF2-40B4-BE49-F238E27FC236}">
                <a16:creationId xmlns:a16="http://schemas.microsoft.com/office/drawing/2014/main" id="{4074D2FF-954B-4BBC-9112-F6B489224730}"/>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Reflection</a:t>
            </a:r>
          </a:p>
        </p:txBody>
      </p:sp>
      <p:sp>
        <p:nvSpPr>
          <p:cNvPr id="176" name="Google Shape;176;p8">
            <a:extLst xmlns:a="http://schemas.openxmlformats.org/drawingml/2006/main">
              <a:ext uri="{FF2B5EF4-FFF2-40B4-BE49-F238E27FC236}">
                <a16:creationId xmlns:a16="http://schemas.microsoft.com/office/drawing/2014/main" id="{B71C146A-B8BD-47BF-8B8E-5D6EC6107A6B}"/>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77" name="Google Shape;177;p8">
            <a:extLst xmlns:a="http://schemas.openxmlformats.org/drawingml/2006/main">
              <a:ext uri="{FF2B5EF4-FFF2-40B4-BE49-F238E27FC236}">
                <a16:creationId xmlns:a16="http://schemas.microsoft.com/office/drawing/2014/main" id="{C154FE7F-5437-4F53-B282-926B16EBE57A}"/>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8" name="Google Shape;178;p8">
            <a:extLst xmlns:a="http://schemas.openxmlformats.org/drawingml/2006/main">
              <a:ext uri="{FF2B5EF4-FFF2-40B4-BE49-F238E27FC236}">
                <a16:creationId xmlns:a16="http://schemas.microsoft.com/office/drawing/2014/main" id="{32F10DE8-8463-4060-91CB-BB9FA552E849}"/>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Realisation</a:t>
            </a:r>
          </a:p>
        </p:txBody>
      </p:sp>
      <p:sp>
        <p:nvSpPr>
          <p:cNvPr id="179" name="Google Shape;179;p8">
            <a:extLst xmlns:a="http://schemas.openxmlformats.org/drawingml/2006/main">
              <a:ext uri="{FF2B5EF4-FFF2-40B4-BE49-F238E27FC236}">
                <a16:creationId xmlns:a16="http://schemas.microsoft.com/office/drawing/2014/main" id="{0AAB97D2-C99E-45C8-9091-0ACD929D54DD}"/>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80" name="Google Shape;180;p8">
            <a:extLst xmlns:a="http://schemas.openxmlformats.org/drawingml/2006/main">
              <a:ext uri="{FF2B5EF4-FFF2-40B4-BE49-F238E27FC236}">
                <a16:creationId xmlns:a16="http://schemas.microsoft.com/office/drawing/2014/main" id="{8F33E57E-BC6F-4671-9133-2D1CA369BAAD}"/>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1" name="Google Shape;181;p8">
            <a:extLst xmlns:a="http://schemas.openxmlformats.org/drawingml/2006/main">
              <a:ext uri="{FF2B5EF4-FFF2-40B4-BE49-F238E27FC236}">
                <a16:creationId xmlns:a16="http://schemas.microsoft.com/office/drawing/2014/main" id="{8633E1AE-036D-4204-B083-05923652AFF2}"/>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Projection</a:t>
            </a:r>
          </a:p>
        </p:txBody>
      </p:sp>
      <p:sp>
        <p:nvSpPr>
          <p:cNvPr id="182" name="Google Shape;182;p8">
            <a:extLst xmlns:a="http://schemas.openxmlformats.org/drawingml/2006/main">
              <a:ext uri="{FF2B5EF4-FFF2-40B4-BE49-F238E27FC236}">
                <a16:creationId xmlns:a16="http://schemas.microsoft.com/office/drawing/2014/main" id="{C07705DF-69A9-4D9D-8760-3D00A2FE16F2}"/>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Result and evaluation return the projected action to renewed attention.</a:t>
            </a:r>
          </a:p>
        </p:txBody>
      </p:sp>
      <p:sp>
        <p:nvSpPr>
          <p:cNvPr id="183" name="Google Shape;183;p8">
            <a:extLst xmlns:a="http://schemas.openxmlformats.org/drawingml/2006/main">
              <a:ext uri="{FF2B5EF4-FFF2-40B4-BE49-F238E27FC236}">
                <a16:creationId xmlns:a16="http://schemas.microsoft.com/office/drawing/2014/main" id="{709FF5D8-60CA-4837-8A0B-1C0BDDE18C69}"/>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KD §§3.12, 3.16–3.17  ·  MVD p. 290  ·  JV pp. 92–93  ·  AnalyticMadhyasthDarshan.org  ·  15 / 36</a:t>
            </a:r>
          </a:p>
        </p:txBody>
      </p:sp>
    </p:spTree>
    <p:extLst>
      <p:ext uri="{BB962C8B-B14F-4D97-AF65-F5344CB8AC3E}">
        <p14:creationId xmlns:p14="http://schemas.microsoft.com/office/powerpoint/2010/main" val="2828019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1FDF55EE-1DFC-4864-BBCF-6889CF1EF2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5AD84244-4940-47B0-823B-B7C36ED1B0F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11218A88-AD24-47F4-AA7E-CEDB55B3606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920138EF-D763-4448-A961-8DCEAD2BB11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§§1.2, 1.3 · THE FOUR JEEVAN VALUES</a:t>
            </a:r>
          </a:p>
        </p:txBody>
      </p:sp>
      <p:sp>
        <p:nvSpPr>
          <p:cNvPr id="125" name="Google Shape;125;p7">
            <a:extLst xmlns:a="http://schemas.openxmlformats.org/drawingml/2006/main">
              <a:ext uri="{FF2B5EF4-FFF2-40B4-BE49-F238E27FC236}">
                <a16:creationId xmlns:a16="http://schemas.microsoft.com/office/drawing/2014/main" id="{B29B9366-7866-413D-82A0-241730EBC63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Human Being Seeks Happiness</a:t>
            </a:r>
          </a:p>
        </p:txBody>
      </p:sp>
      <p:sp>
        <p:nvSpPr>
          <p:cNvPr id="126" name="Google Shape;126;p7">
            <a:extLst xmlns:a="http://schemas.openxmlformats.org/drawingml/2006/main">
              <a:ext uri="{FF2B5EF4-FFF2-40B4-BE49-F238E27FC236}">
                <a16:creationId xmlns:a16="http://schemas.microsoft.com/office/drawing/2014/main" id="{7D7417D2-2684-43CB-8AFE-F91CDBDC0F85}"/>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EE33F6BF-95C0-4816-A54C-B6B00AF45E1B}"/>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B6E3019C-45D3-4ED1-A9D2-55D72A50880D}"/>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EE1719B3-E68F-4D01-A60C-336CB2754F8D}"/>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A70DDF07-767E-4CA7-8197-976F5965AFE8}"/>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Happiness</a:t>
            </a:r>
          </a:p>
        </p:txBody>
      </p:sp>
      <p:sp>
        <p:nvSpPr>
          <p:cNvPr id="131" name="Google Shape;131;p7">
            <a:extLst xmlns:a="http://schemas.openxmlformats.org/drawingml/2006/main">
              <a:ext uri="{FF2B5EF4-FFF2-40B4-BE49-F238E27FC236}">
                <a16:creationId xmlns:a16="http://schemas.microsoft.com/office/drawing/2014/main" id="{6BEFCC17-F959-4C0D-898B-ADDA648A1126}"/>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Mun and vritti agree: taste and selection follow thoughtful deliberation.</a:t>
            </a:r>
          </a:p>
        </p:txBody>
      </p:sp>
      <p:sp>
        <p:nvSpPr>
          <p:cNvPr id="132" name="Google Shape;132;p7">
            <a:extLst xmlns:a="http://schemas.openxmlformats.org/drawingml/2006/main">
              <a:ext uri="{FF2B5EF4-FFF2-40B4-BE49-F238E27FC236}">
                <a16:creationId xmlns:a16="http://schemas.microsoft.com/office/drawing/2014/main" id="{2B1D4DE1-906E-43B6-A1AC-A7EA7B235BDE}"/>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1A555193-C105-42C6-B81B-78A780152943}"/>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3A08FC77-38FD-4F53-9FDA-4E24295DFCF2}"/>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D06E458B-173D-440A-9C47-D542B10D793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2E165D08-90C3-4000-8857-A8714F7BC41F}"/>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Peace</a:t>
            </a:r>
          </a:p>
        </p:txBody>
      </p:sp>
      <p:sp>
        <p:nvSpPr>
          <p:cNvPr id="137" name="Google Shape;137;p7">
            <a:extLst xmlns:a="http://schemas.openxmlformats.org/drawingml/2006/main">
              <a:ext uri="{FF2B5EF4-FFF2-40B4-BE49-F238E27FC236}">
                <a16:creationId xmlns:a16="http://schemas.microsoft.com/office/drawing/2014/main" id="{81243F9D-4F30-4A59-8606-FA47AD846C3A}"/>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Vritti and chitta agree: deliberation follows clear contemplation.</a:t>
            </a:r>
          </a:p>
        </p:txBody>
      </p:sp>
      <p:sp>
        <p:nvSpPr>
          <p:cNvPr id="138" name="Google Shape;138;p7">
            <a:extLst xmlns:a="http://schemas.openxmlformats.org/drawingml/2006/main">
              <a:ext uri="{FF2B5EF4-FFF2-40B4-BE49-F238E27FC236}">
                <a16:creationId xmlns:a16="http://schemas.microsoft.com/office/drawing/2014/main" id="{C24F03F3-13B7-4DA6-B82A-6FFEF115DCC6}"/>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7E860388-B17F-4D86-B9E1-F64D831A85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2DCD6C6B-CF46-4530-A4E5-F7FEC5439D14}"/>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0D2E6CD2-706E-4D67-92AD-87B6DF703565}"/>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72284CF3-2391-448B-BA27-7D7834BE2558}"/>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Contentment</a:t>
            </a:r>
          </a:p>
        </p:txBody>
      </p:sp>
      <p:sp>
        <p:nvSpPr>
          <p:cNvPr id="143" name="Google Shape;143;p7">
            <a:extLst xmlns:a="http://schemas.openxmlformats.org/drawingml/2006/main">
              <a:ext uri="{FF2B5EF4-FFF2-40B4-BE49-F238E27FC236}">
                <a16:creationId xmlns:a16="http://schemas.microsoft.com/office/drawing/2014/main" id="{88B4D163-A60F-4D71-A21A-FF9D668635D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Chitta and buddhi agree: contemplation accords with comprehension.</a:t>
            </a:r>
          </a:p>
        </p:txBody>
      </p:sp>
      <p:sp>
        <p:nvSpPr>
          <p:cNvPr id="144" name="Google Shape;144;p7">
            <a:extLst xmlns:a="http://schemas.openxmlformats.org/drawingml/2006/main">
              <a:ext uri="{FF2B5EF4-FFF2-40B4-BE49-F238E27FC236}">
                <a16:creationId xmlns:a16="http://schemas.microsoft.com/office/drawing/2014/main" id="{35D606E5-7371-49D6-8AFE-E2CD65E2D258}"/>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60ED207F-363E-479B-A217-044586C34A06}"/>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F59040DB-FE8E-4768-B34F-7171056FB64B}"/>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2D39A687-7B45-4546-8894-6BDA52A70DF4}"/>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40CC8AF1-DE82-4E58-8C0C-0A05484D7F0A}"/>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Bliss</a:t>
            </a:r>
          </a:p>
        </p:txBody>
      </p:sp>
      <p:sp>
        <p:nvSpPr>
          <p:cNvPr id="149" name="Google Shape;149;p7">
            <a:extLst xmlns:a="http://schemas.openxmlformats.org/drawingml/2006/main">
              <a:ext uri="{FF2B5EF4-FFF2-40B4-BE49-F238E27FC236}">
                <a16:creationId xmlns:a16="http://schemas.microsoft.com/office/drawing/2014/main" id="{43CACCDB-C99D-4605-856E-E37BB61C6E30}"/>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Buddhi and atma agree: comprehension accords with realisation.</a:t>
            </a:r>
          </a:p>
        </p:txBody>
      </p:sp>
      <p:sp>
        <p:nvSpPr>
          <p:cNvPr id="150" name="Google Shape;150;p7">
            <a:extLst xmlns:a="http://schemas.openxmlformats.org/drawingml/2006/main">
              <a:ext uri="{FF2B5EF4-FFF2-40B4-BE49-F238E27FC236}">
                <a16:creationId xmlns:a16="http://schemas.microsoft.com/office/drawing/2014/main" id="{C900555A-CF8C-4582-8C80-52AF84F08F63}"/>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2117AB49-652B-42CE-AF52-B10AE62D38EC}"/>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The four values arise through harmony among jeevan’s faculties. Paramanand is supreme bliss in atma’s concurrence with Omnipresence.</a:t>
            </a:r>
          </a:p>
        </p:txBody>
      </p:sp>
      <p:sp>
        <p:nvSpPr>
          <p:cNvPr id="152" name="Google Shape;152;p7">
            <a:extLst xmlns:a="http://schemas.openxmlformats.org/drawingml/2006/main">
              <a:ext uri="{FF2B5EF4-FFF2-40B4-BE49-F238E27FC236}">
                <a16:creationId xmlns:a16="http://schemas.microsoft.com/office/drawing/2014/main" id="{C8AB52DC-457F-4AED-9264-440E84A6C23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207–208, 327  ·  JV p. 137  ·  KD p. 112  ·  AnalyticMadhyasthDarshan.org  ·  16 / 36</a:t>
            </a:r>
          </a:p>
        </p:txBody>
      </p:sp>
    </p:spTree>
    <p:extLst>
      <p:ext uri="{BB962C8B-B14F-4D97-AF65-F5344CB8AC3E}">
        <p14:creationId xmlns:p14="http://schemas.microsoft.com/office/powerpoint/2010/main" val="9723823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4" name="Google Shape;264;p12">
            <a:extLst xmlns:a="http://schemas.openxmlformats.org/drawingml/2006/main">
              <a:ext uri="{FF2B5EF4-FFF2-40B4-BE49-F238E27FC236}">
                <a16:creationId xmlns:a16="http://schemas.microsoft.com/office/drawing/2014/main" id="{729C667D-E689-4D70-90E8-4F2607078D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5" name="Google Shape;265;p12">
            <a:extLst xmlns:a="http://schemas.openxmlformats.org/drawingml/2006/main">
              <a:ext uri="{FF2B5EF4-FFF2-40B4-BE49-F238E27FC236}">
                <a16:creationId xmlns:a16="http://schemas.microsoft.com/office/drawing/2014/main" id="{F501FB75-B6D4-4DFC-BA72-8E31AE6E93E3}"/>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6" name="Google Shape;266;p12">
            <a:extLst xmlns:a="http://schemas.openxmlformats.org/drawingml/2006/main">
              <a:ext uri="{FF2B5EF4-FFF2-40B4-BE49-F238E27FC236}">
                <a16:creationId xmlns:a16="http://schemas.microsoft.com/office/drawing/2014/main" id="{ECBF3BFF-A4A6-4EF0-A660-392661091BB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7" name="Google Shape;267;p12">
            <a:extLst xmlns:a="http://schemas.openxmlformats.org/drawingml/2006/main">
              <a:ext uri="{FF2B5EF4-FFF2-40B4-BE49-F238E27FC236}">
                <a16:creationId xmlns:a16="http://schemas.microsoft.com/office/drawing/2014/main" id="{FFBEE572-0076-43B9-BA0E-A17511957AAB}"/>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§1.3 · FORCE AND POWER</a:t>
            </a:r>
          </a:p>
        </p:txBody>
      </p:sp>
      <p:sp>
        <p:nvSpPr>
          <p:cNvPr id="268" name="Google Shape;268;p12">
            <a:extLst xmlns:a="http://schemas.openxmlformats.org/drawingml/2006/main">
              <a:ext uri="{FF2B5EF4-FFF2-40B4-BE49-F238E27FC236}">
                <a16:creationId xmlns:a16="http://schemas.microsoft.com/office/drawing/2014/main" id="{9214062A-13C9-4C7B-A7F8-E09038CB238F}"/>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Understanding Appears in Conduct</a:t>
            </a:r>
          </a:p>
        </p:txBody>
      </p:sp>
      <p:sp>
        <p:nvSpPr>
          <p:cNvPr id="269" name="Google Shape;269;p12">
            <a:extLst xmlns:a="http://schemas.openxmlformats.org/drawingml/2006/main">
              <a:ext uri="{FF2B5EF4-FFF2-40B4-BE49-F238E27FC236}">
                <a16:creationId xmlns:a16="http://schemas.microsoft.com/office/drawing/2014/main" id="{F9758BEB-9C2B-408D-AF26-158B6194BA44}"/>
              </a:ext>
            </a:extLst>
          </p:cNvPr>
          <p:cNvSpPr>
            <a:spLocks xmlns:a="http://schemas.openxmlformats.org/drawingml/2006/main" noGrp="1"/>
          </p:cNvSpPr>
          <p:nvPr/>
        </p:nvSpPr>
        <p:spPr>
          <a:xfrm xmlns:a="http://schemas.openxmlformats.org/drawingml/2006/main">
            <a:off x="640080" y="1234440"/>
            <a:ext cx="79552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i="0" u="none" cap="none">
                <a:solidFill>
                  <a:srgbClr val="1E2447"/>
                </a:solidFill>
                <a:latin typeface="Calibri"/>
                <a:ea typeface="Calibri"/>
                <a:cs typeface="Calibri"/>
              </a:rPr>
              <a:t>Five activities of state are expressed as force. Five activities of motion are expressed as power, connecting understanding with conduct.</a:t>
            </a:r>
          </a:p>
        </p:txBody>
      </p:sp>
      <p:sp>
        <p:nvSpPr>
          <p:cNvPr id="270" name="Google Shape;270;p12">
            <a:extLst xmlns:a="http://schemas.openxmlformats.org/drawingml/2006/main">
              <a:ext uri="{FF2B5EF4-FFF2-40B4-BE49-F238E27FC236}">
                <a16:creationId xmlns:a16="http://schemas.microsoft.com/office/drawing/2014/main" id="{6BB2F31E-F3C0-431E-BAC4-A9679E0D86A3}"/>
              </a:ext>
            </a:extLst>
          </p:cNvPr>
          <p:cNvSpPr>
            <a:spLocks xmlns:a="http://schemas.openxmlformats.org/drawingml/2006/main" noGrp="1"/>
          </p:cNvSpPr>
          <p:nvPr/>
        </p:nvSpPr>
        <p:spPr>
          <a:xfrm xmlns:a="http://schemas.openxmlformats.org/drawingml/2006/main">
            <a:off x="640080" y="2286000"/>
            <a:ext cx="3657600" cy="1691640"/>
          </a:xfrm>
          <a:prstGeom xmlns:a="http://schemas.openxmlformats.org/drawingml/2006/main" prst="roundRect">
            <a:avLst>
              <a:gd name="adj" fmla="val 5405"/>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1" name="Google Shape;271;p12">
            <a:extLst xmlns:a="http://schemas.openxmlformats.org/drawingml/2006/main">
              <a:ext uri="{FF2B5EF4-FFF2-40B4-BE49-F238E27FC236}">
                <a16:creationId xmlns:a16="http://schemas.microsoft.com/office/drawing/2014/main" id="{6D3985BD-A3A5-46A4-A35F-4142738C7174}"/>
              </a:ext>
            </a:extLst>
          </p:cNvPr>
          <p:cNvSpPr>
            <a:spLocks xmlns:a="http://schemas.openxmlformats.org/drawingml/2006/main" noGrp="1"/>
          </p:cNvSpPr>
          <p:nvPr/>
        </p:nvSpPr>
        <p:spPr>
          <a:xfrm xmlns:a="http://schemas.openxmlformats.org/drawingml/2006/main">
            <a:off x="86868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3B4A7A"/>
                </a:solidFill>
                <a:latin typeface="Cambria"/>
                <a:ea typeface="Cambria"/>
                <a:cs typeface="Cambria"/>
              </a:rPr>
              <a:t>Activities of state — force</a:t>
            </a:r>
          </a:p>
        </p:txBody>
      </p:sp>
      <p:sp>
        <p:nvSpPr>
          <p:cNvPr id="272" name="Google Shape;272;p12">
            <a:extLst xmlns:a="http://schemas.openxmlformats.org/drawingml/2006/main">
              <a:ext uri="{FF2B5EF4-FFF2-40B4-BE49-F238E27FC236}">
                <a16:creationId xmlns:a16="http://schemas.microsoft.com/office/drawing/2014/main" id="{C72A7A91-6C0A-4597-B37C-72D0DE54B8B2}"/>
              </a:ext>
            </a:extLst>
          </p:cNvPr>
          <p:cNvSpPr>
            <a:spLocks xmlns:a="http://schemas.openxmlformats.org/drawingml/2006/main" noGrp="1"/>
          </p:cNvSpPr>
          <p:nvPr/>
        </p:nvSpPr>
        <p:spPr>
          <a:xfrm xmlns:a="http://schemas.openxmlformats.org/drawingml/2006/main">
            <a:off x="868680" y="2743200"/>
            <a:ext cx="324612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Taste: mun</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Deliberation: vritti</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Contemplation: chitta</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Comprehension: buddhi</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Realisation: atma</a:t>
            </a:r>
          </a:p>
        </p:txBody>
      </p:sp>
      <p:sp>
        <p:nvSpPr>
          <p:cNvPr id="273" name="Google Shape;273;p12">
            <a:extLst xmlns:a="http://schemas.openxmlformats.org/drawingml/2006/main">
              <a:ext uri="{FF2B5EF4-FFF2-40B4-BE49-F238E27FC236}">
                <a16:creationId xmlns:a16="http://schemas.microsoft.com/office/drawing/2014/main" id="{2D6C52AD-EC2A-4BE2-ACB4-645483C34D8F}"/>
              </a:ext>
            </a:extLst>
          </p:cNvPr>
          <p:cNvSpPr>
            <a:spLocks xmlns:a="http://schemas.openxmlformats.org/drawingml/2006/main" noGrp="1"/>
          </p:cNvSpPr>
          <p:nvPr/>
        </p:nvSpPr>
        <p:spPr>
          <a:xfrm xmlns:a="http://schemas.openxmlformats.org/drawingml/2006/main">
            <a:off x="4846320" y="2286000"/>
            <a:ext cx="3657600" cy="1691640"/>
          </a:xfrm>
          <a:prstGeom xmlns:a="http://schemas.openxmlformats.org/drawingml/2006/main" prst="roundRect">
            <a:avLst>
              <a:gd name="adj" fmla="val 5405"/>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4" name="Google Shape;274;p12">
            <a:extLst xmlns:a="http://schemas.openxmlformats.org/drawingml/2006/main">
              <a:ext uri="{FF2B5EF4-FFF2-40B4-BE49-F238E27FC236}">
                <a16:creationId xmlns:a16="http://schemas.microsoft.com/office/drawing/2014/main" id="{3701D90E-EDED-47DC-98ED-73DD8E2EBBD4}"/>
              </a:ext>
            </a:extLst>
          </p:cNvPr>
          <p:cNvSpPr>
            <a:spLocks xmlns:a="http://schemas.openxmlformats.org/drawingml/2006/main" noGrp="1"/>
          </p:cNvSpPr>
          <p:nvPr/>
        </p:nvSpPr>
        <p:spPr>
          <a:xfrm xmlns:a="http://schemas.openxmlformats.org/drawingml/2006/main">
            <a:off x="507492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9A6414"/>
                </a:solidFill>
                <a:latin typeface="Cambria"/>
                <a:ea typeface="Cambria"/>
                <a:cs typeface="Cambria"/>
              </a:rPr>
              <a:t>Activities of motion — power</a:t>
            </a:r>
          </a:p>
        </p:txBody>
      </p:sp>
      <p:sp>
        <p:nvSpPr>
          <p:cNvPr id="275" name="Google Shape;275;p12">
            <a:extLst xmlns:a="http://schemas.openxmlformats.org/drawingml/2006/main">
              <a:ext uri="{FF2B5EF4-FFF2-40B4-BE49-F238E27FC236}">
                <a16:creationId xmlns:a16="http://schemas.microsoft.com/office/drawing/2014/main" id="{54C4D491-CD51-4522-B53F-C369A7492AD5}"/>
              </a:ext>
            </a:extLst>
          </p:cNvPr>
          <p:cNvSpPr>
            <a:spLocks xmlns:a="http://schemas.openxmlformats.org/drawingml/2006/main" noGrp="1"/>
          </p:cNvSpPr>
          <p:nvPr/>
        </p:nvSpPr>
        <p:spPr>
          <a:xfrm xmlns:a="http://schemas.openxmlformats.org/drawingml/2006/main">
            <a:off x="5074920" y="2743200"/>
            <a:ext cx="324612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Selection: mun</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Analysis: vritti</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Visualisation: chitta</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Resolve: buddhi</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Authenticity: atma</a:t>
            </a:r>
          </a:p>
        </p:txBody>
      </p:sp>
      <p:sp>
        <p:nvSpPr>
          <p:cNvPr id="276" name="Google Shape;276;p12">
            <a:extLst xmlns:a="http://schemas.openxmlformats.org/drawingml/2006/main">
              <a:ext uri="{FF2B5EF4-FFF2-40B4-BE49-F238E27FC236}">
                <a16:creationId xmlns:a16="http://schemas.microsoft.com/office/drawing/2014/main" id="{4D8269B2-36B6-4F15-BCEC-EEC9EAB2E996}"/>
              </a:ext>
            </a:extLst>
          </p:cNvPr>
          <p:cNvSpPr>
            <a:spLocks xmlns:a="http://schemas.openxmlformats.org/drawingml/2006/main" noGrp="1"/>
          </p:cNvSpPr>
          <p:nvPr/>
        </p:nvSpPr>
        <p:spPr>
          <a:xfrm xmlns:a="http://schemas.openxmlformats.org/drawingml/2006/main">
            <a:off x="4315968" y="2880360"/>
            <a:ext cx="50292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2400" b="1" i="0" u="none" cap="none">
                <a:solidFill>
                  <a:srgbClr val="C9821E"/>
                </a:solidFill>
                <a:latin typeface="Calibri"/>
                <a:ea typeface="Calibri"/>
                <a:cs typeface="Calibri"/>
              </a:rPr>
              <a:t>→</a:t>
            </a:r>
          </a:p>
        </p:txBody>
      </p:sp>
      <p:sp>
        <p:nvSpPr>
          <p:cNvPr id="277" name="Google Shape;277;p12">
            <a:extLst xmlns:a="http://schemas.openxmlformats.org/drawingml/2006/main">
              <a:ext uri="{FF2B5EF4-FFF2-40B4-BE49-F238E27FC236}">
                <a16:creationId xmlns:a16="http://schemas.microsoft.com/office/drawing/2014/main" id="{266542B5-9ABA-41A8-9AB9-A6CA9D623966}"/>
              </a:ext>
            </a:extLst>
          </p:cNvPr>
          <p:cNvSpPr>
            <a:spLocks xmlns:a="http://schemas.openxmlformats.org/drawingml/2006/main" noGrp="1"/>
          </p:cNvSpPr>
          <p:nvPr/>
        </p:nvSpPr>
        <p:spPr>
          <a:xfrm xmlns:a="http://schemas.openxmlformats.org/drawingml/2006/main">
            <a:off x="640080" y="4206240"/>
            <a:ext cx="7955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1" u="none" cap="none">
                <a:solidFill>
                  <a:srgbClr val="1E2447"/>
                </a:solidFill>
                <a:latin typeface="Calibri"/>
                <a:ea typeface="Calibri"/>
                <a:cs typeface="Calibri"/>
              </a:rPr>
              <a:t>Hope, thought, desire, truth-resolve, and evidence name the powers. Their outward activities appear in choice, conduct, and teaching.</a:t>
            </a:r>
          </a:p>
        </p:txBody>
      </p:sp>
      <p:sp>
        <p:nvSpPr>
          <p:cNvPr id="278" name="Google Shape;278;p12">
            <a:extLst xmlns:a="http://schemas.openxmlformats.org/drawingml/2006/main">
              <a:ext uri="{FF2B5EF4-FFF2-40B4-BE49-F238E27FC236}">
                <a16:creationId xmlns:a16="http://schemas.microsoft.com/office/drawing/2014/main" id="{B7C5A5B0-4341-4678-88F0-DC0A25C0F65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KD §3.6, pp. 70–71  ·  KD §3.16, p. 145  ·  AnalyticMadhyasthDarshan.org  ·  17 / 36</a:t>
            </a:r>
          </a:p>
        </p:txBody>
      </p:sp>
    </p:spTree>
    <p:extLst>
      <p:ext uri="{BB962C8B-B14F-4D97-AF65-F5344CB8AC3E}">
        <p14:creationId xmlns:p14="http://schemas.microsoft.com/office/powerpoint/2010/main" val="12902166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4" name="Google Shape;264;p12">
            <a:extLst xmlns:a="http://schemas.openxmlformats.org/drawingml/2006/main">
              <a:ext uri="{FF2B5EF4-FFF2-40B4-BE49-F238E27FC236}">
                <a16:creationId xmlns:a16="http://schemas.microsoft.com/office/drawing/2014/main" id="{729C667D-E689-4D70-90E8-4F2607078D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5" name="Google Shape;265;p12">
            <a:extLst xmlns:a="http://schemas.openxmlformats.org/drawingml/2006/main">
              <a:ext uri="{FF2B5EF4-FFF2-40B4-BE49-F238E27FC236}">
                <a16:creationId xmlns:a16="http://schemas.microsoft.com/office/drawing/2014/main" id="{F501FB75-B6D4-4DFC-BA72-8E31AE6E93E3}"/>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6" name="Google Shape;266;p12">
            <a:extLst xmlns:a="http://schemas.openxmlformats.org/drawingml/2006/main">
              <a:ext uri="{FF2B5EF4-FFF2-40B4-BE49-F238E27FC236}">
                <a16:creationId xmlns:a16="http://schemas.microsoft.com/office/drawing/2014/main" id="{ECBF3BFF-A4A6-4EF0-A660-392661091BB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7" name="Google Shape;267;p12">
            <a:extLst xmlns:a="http://schemas.openxmlformats.org/drawingml/2006/main">
              <a:ext uri="{FF2B5EF4-FFF2-40B4-BE49-F238E27FC236}">
                <a16:creationId xmlns:a16="http://schemas.microsoft.com/office/drawing/2014/main" id="{FFBEE572-0076-43B9-BA0E-A17511957AAB}"/>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§1.3 · THE HUMAN JOINT FORM</a:t>
            </a:r>
          </a:p>
        </p:txBody>
      </p:sp>
      <p:sp>
        <p:nvSpPr>
          <p:cNvPr id="268" name="Google Shape;268;p12">
            <a:extLst xmlns:a="http://schemas.openxmlformats.org/drawingml/2006/main">
              <a:ext uri="{FF2B5EF4-FFF2-40B4-BE49-F238E27FC236}">
                <a16:creationId xmlns:a16="http://schemas.microsoft.com/office/drawing/2014/main" id="{9214062A-13C9-4C7B-A7F8-E09038CB238F}"/>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Body Expresses Understanding</a:t>
            </a:r>
          </a:p>
        </p:txBody>
      </p:sp>
      <p:sp>
        <p:nvSpPr>
          <p:cNvPr id="269" name="Google Shape;269;p12">
            <a:extLst xmlns:a="http://schemas.openxmlformats.org/drawingml/2006/main">
              <a:ext uri="{FF2B5EF4-FFF2-40B4-BE49-F238E27FC236}">
                <a16:creationId xmlns:a16="http://schemas.microsoft.com/office/drawing/2014/main" id="{F9758BEB-9C2B-408D-AF26-158B6194BA44}"/>
              </a:ext>
            </a:extLst>
          </p:cNvPr>
          <p:cNvSpPr>
            <a:spLocks xmlns:a="http://schemas.openxmlformats.org/drawingml/2006/main" noGrp="1"/>
          </p:cNvSpPr>
          <p:nvPr/>
        </p:nvSpPr>
        <p:spPr>
          <a:xfrm xmlns:a="http://schemas.openxmlformats.org/drawingml/2006/main">
            <a:off x="640080" y="1234440"/>
            <a:ext cx="79552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i="0" u="none" cap="none">
                <a:solidFill>
                  <a:srgbClr val="1E2447"/>
                </a:solidFill>
                <a:latin typeface="Calibri"/>
                <a:ea typeface="Calibri"/>
                <a:cs typeface="Calibri"/>
              </a:rPr>
              <a:t>Jeevan bears understanding. The living human expresses it through sensory contact, speech, movement, work, and relationships.</a:t>
            </a:r>
          </a:p>
        </p:txBody>
      </p:sp>
      <p:sp>
        <p:nvSpPr>
          <p:cNvPr id="270" name="Google Shape;270;p12">
            <a:extLst xmlns:a="http://schemas.openxmlformats.org/drawingml/2006/main">
              <a:ext uri="{FF2B5EF4-FFF2-40B4-BE49-F238E27FC236}">
                <a16:creationId xmlns:a16="http://schemas.microsoft.com/office/drawing/2014/main" id="{6BB2F31E-F3C0-431E-BAC4-A9679E0D86A3}"/>
              </a:ext>
            </a:extLst>
          </p:cNvPr>
          <p:cNvSpPr>
            <a:spLocks xmlns:a="http://schemas.openxmlformats.org/drawingml/2006/main" noGrp="1"/>
          </p:cNvSpPr>
          <p:nvPr/>
        </p:nvSpPr>
        <p:spPr>
          <a:xfrm xmlns:a="http://schemas.openxmlformats.org/drawingml/2006/main">
            <a:off x="640080" y="2286000"/>
            <a:ext cx="3657600" cy="1691640"/>
          </a:xfrm>
          <a:prstGeom xmlns:a="http://schemas.openxmlformats.org/drawingml/2006/main" prst="roundRect">
            <a:avLst>
              <a:gd name="adj" fmla="val 5405"/>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1" name="Google Shape;271;p12">
            <a:extLst xmlns:a="http://schemas.openxmlformats.org/drawingml/2006/main">
              <a:ext uri="{FF2B5EF4-FFF2-40B4-BE49-F238E27FC236}">
                <a16:creationId xmlns:a16="http://schemas.microsoft.com/office/drawing/2014/main" id="{6D3985BD-A3A5-46A4-A35F-4142738C7174}"/>
              </a:ext>
            </a:extLst>
          </p:cNvPr>
          <p:cNvSpPr>
            <a:spLocks xmlns:a="http://schemas.openxmlformats.org/drawingml/2006/main" noGrp="1"/>
          </p:cNvSpPr>
          <p:nvPr/>
        </p:nvSpPr>
        <p:spPr>
          <a:xfrm xmlns:a="http://schemas.openxmlformats.org/drawingml/2006/main">
            <a:off x="86868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3B4A7A"/>
                </a:solidFill>
                <a:latin typeface="Cambria"/>
                <a:ea typeface="Cambria"/>
                <a:cs typeface="Cambria"/>
              </a:rPr>
              <a:t>Jeevan — sentient bearer</a:t>
            </a:r>
          </a:p>
        </p:txBody>
      </p:sp>
      <p:sp>
        <p:nvSpPr>
          <p:cNvPr id="272" name="Google Shape;272;p12">
            <a:extLst xmlns:a="http://schemas.openxmlformats.org/drawingml/2006/main">
              <a:ext uri="{FF2B5EF4-FFF2-40B4-BE49-F238E27FC236}">
                <a16:creationId xmlns:a16="http://schemas.microsoft.com/office/drawing/2014/main" id="{C72A7A91-6C0A-4597-B37C-72D0DE54B8B2}"/>
              </a:ext>
            </a:extLst>
          </p:cNvPr>
          <p:cNvSpPr>
            <a:spLocks xmlns:a="http://schemas.openxmlformats.org/drawingml/2006/main" noGrp="1"/>
          </p:cNvSpPr>
          <p:nvPr/>
        </p:nvSpPr>
        <p:spPr>
          <a:xfrm xmlns:a="http://schemas.openxmlformats.org/drawingml/2006/main">
            <a:off x="868680" y="2743200"/>
            <a:ext cx="324612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Realisation, comprehension, contemplation, deliberation, and selection</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Evaluation of relationships and values</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Continuity across bodily change</a:t>
            </a:r>
          </a:p>
        </p:txBody>
      </p:sp>
      <p:sp>
        <p:nvSpPr>
          <p:cNvPr id="273" name="Google Shape;273;p12">
            <a:extLst xmlns:a="http://schemas.openxmlformats.org/drawingml/2006/main">
              <a:ext uri="{FF2B5EF4-FFF2-40B4-BE49-F238E27FC236}">
                <a16:creationId xmlns:a16="http://schemas.microsoft.com/office/drawing/2014/main" id="{2D6C52AD-EC2A-4BE2-ACB4-645483C34D8F}"/>
              </a:ext>
            </a:extLst>
          </p:cNvPr>
          <p:cNvSpPr>
            <a:spLocks xmlns:a="http://schemas.openxmlformats.org/drawingml/2006/main" noGrp="1"/>
          </p:cNvSpPr>
          <p:nvPr/>
        </p:nvSpPr>
        <p:spPr>
          <a:xfrm xmlns:a="http://schemas.openxmlformats.org/drawingml/2006/main">
            <a:off x="4846320" y="2286000"/>
            <a:ext cx="3657600" cy="1691640"/>
          </a:xfrm>
          <a:prstGeom xmlns:a="http://schemas.openxmlformats.org/drawingml/2006/main" prst="roundRect">
            <a:avLst>
              <a:gd name="adj" fmla="val 5405"/>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4" name="Google Shape;274;p12">
            <a:extLst xmlns:a="http://schemas.openxmlformats.org/drawingml/2006/main">
              <a:ext uri="{FF2B5EF4-FFF2-40B4-BE49-F238E27FC236}">
                <a16:creationId xmlns:a16="http://schemas.microsoft.com/office/drawing/2014/main" id="{3701D90E-EDED-47DC-98ED-73DD8E2EBBD4}"/>
              </a:ext>
            </a:extLst>
          </p:cNvPr>
          <p:cNvSpPr>
            <a:spLocks xmlns:a="http://schemas.openxmlformats.org/drawingml/2006/main" noGrp="1"/>
          </p:cNvSpPr>
          <p:nvPr/>
        </p:nvSpPr>
        <p:spPr>
          <a:xfrm xmlns:a="http://schemas.openxmlformats.org/drawingml/2006/main">
            <a:off x="507492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9A6414"/>
                </a:solidFill>
                <a:latin typeface="Cambria"/>
                <a:ea typeface="Cambria"/>
                <a:cs typeface="Cambria"/>
              </a:rPr>
              <a:t>Human joint form — lived evidence</a:t>
            </a:r>
          </a:p>
        </p:txBody>
      </p:sp>
      <p:sp>
        <p:nvSpPr>
          <p:cNvPr id="275" name="Google Shape;275;p12">
            <a:extLst xmlns:a="http://schemas.openxmlformats.org/drawingml/2006/main">
              <a:ext uri="{FF2B5EF4-FFF2-40B4-BE49-F238E27FC236}">
                <a16:creationId xmlns:a16="http://schemas.microsoft.com/office/drawing/2014/main" id="{54C4D491-CD51-4522-B53F-C369A7492AD5}"/>
              </a:ext>
            </a:extLst>
          </p:cNvPr>
          <p:cNvSpPr>
            <a:spLocks xmlns:a="http://schemas.openxmlformats.org/drawingml/2006/main" noGrp="1"/>
          </p:cNvSpPr>
          <p:nvPr/>
        </p:nvSpPr>
        <p:spPr>
          <a:xfrm xmlns:a="http://schemas.openxmlformats.org/drawingml/2006/main">
            <a:off x="5074920" y="2743200"/>
            <a:ext cx="324612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Brain and senses mediate signals</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Speech and action express understanding</a:t>
            </a:r>
          </a:p>
          <a:p xmlns:a="http://schemas.openxmlformats.org/drawingml/2006/main">
            <a:pPr marL="342900" indent="-342900" algn="l">
              <a:spcBef>
                <a:spcPts val="0"/>
              </a:spcBef>
              <a:spcAft>
                <a:spcPts val="0"/>
              </a:spcAft>
              <a:buChar char="•"/>
            </a:pPr>
            <a:r>
              <a:rPr sz="1250" b="0" i="0" u="none" cap="none">
                <a:solidFill>
                  <a:srgbClr val="5A6377"/>
                </a:solidFill>
                <a:latin typeface="Calibri"/>
                <a:ea typeface="Calibri"/>
                <a:cs typeface="Calibri"/>
              </a:rPr>
              <a:t>Work, behaviour, and teaching allow evaluation</a:t>
            </a:r>
          </a:p>
        </p:txBody>
      </p:sp>
      <p:sp>
        <p:nvSpPr>
          <p:cNvPr id="276" name="Google Shape;276;p12">
            <a:extLst xmlns:a="http://schemas.openxmlformats.org/drawingml/2006/main">
              <a:ext uri="{FF2B5EF4-FFF2-40B4-BE49-F238E27FC236}">
                <a16:creationId xmlns:a16="http://schemas.microsoft.com/office/drawing/2014/main" id="{4D8269B2-36B6-4F15-BCEC-EEC9EAB2E996}"/>
              </a:ext>
            </a:extLst>
          </p:cNvPr>
          <p:cNvSpPr>
            <a:spLocks xmlns:a="http://schemas.openxmlformats.org/drawingml/2006/main" noGrp="1"/>
          </p:cNvSpPr>
          <p:nvPr/>
        </p:nvSpPr>
        <p:spPr>
          <a:xfrm xmlns:a="http://schemas.openxmlformats.org/drawingml/2006/main">
            <a:off x="4315968" y="2880360"/>
            <a:ext cx="50292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2400" b="1" i="0" u="none" cap="none">
                <a:solidFill>
                  <a:srgbClr val="C9821E"/>
                </a:solidFill>
                <a:latin typeface="Calibri"/>
                <a:ea typeface="Calibri"/>
                <a:cs typeface="Calibri"/>
              </a:rPr>
              <a:t>→</a:t>
            </a:r>
          </a:p>
        </p:txBody>
      </p:sp>
      <p:sp>
        <p:nvSpPr>
          <p:cNvPr id="277" name="Google Shape;277;p12">
            <a:extLst xmlns:a="http://schemas.openxmlformats.org/drawingml/2006/main">
              <a:ext uri="{FF2B5EF4-FFF2-40B4-BE49-F238E27FC236}">
                <a16:creationId xmlns:a16="http://schemas.microsoft.com/office/drawing/2014/main" id="{266542B5-9ABA-41A8-9AB9-A6CA9D623966}"/>
              </a:ext>
            </a:extLst>
          </p:cNvPr>
          <p:cNvSpPr>
            <a:spLocks xmlns:a="http://schemas.openxmlformats.org/drawingml/2006/main" noGrp="1"/>
          </p:cNvSpPr>
          <p:nvPr/>
        </p:nvSpPr>
        <p:spPr>
          <a:xfrm xmlns:a="http://schemas.openxmlformats.org/drawingml/2006/main">
            <a:off x="640080" y="4206240"/>
            <a:ext cx="7955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1" u="none" cap="none">
                <a:solidFill>
                  <a:srgbClr val="1E2447"/>
                </a:solidFill>
                <a:latin typeface="Calibri"/>
                <a:ea typeface="Calibri"/>
                <a:cs typeface="Calibri"/>
              </a:rPr>
              <a:t>The texts describe jeevan working through the body. A precise account of its interaction with the brain remains an open question.</a:t>
            </a:r>
          </a:p>
        </p:txBody>
      </p:sp>
      <p:sp>
        <p:nvSpPr>
          <p:cNvPr id="278" name="Google Shape;278;p12">
            <a:extLst xmlns:a="http://schemas.openxmlformats.org/drawingml/2006/main">
              <a:ext uri="{FF2B5EF4-FFF2-40B4-BE49-F238E27FC236}">
                <a16:creationId xmlns:a16="http://schemas.microsoft.com/office/drawing/2014/main" id="{B7C5A5B0-4341-4678-88F0-DC0A25C0F65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83–84, 200  ·  KD §3.16  ·  JV p. 59  ·  AnalyticMadhyasthDarshan.org  ·  18 / 36</a:t>
            </a:r>
          </a:p>
        </p:txBody>
      </p:sp>
    </p:spTree>
    <p:extLst>
      <p:ext uri="{BB962C8B-B14F-4D97-AF65-F5344CB8AC3E}">
        <p14:creationId xmlns:p14="http://schemas.microsoft.com/office/powerpoint/2010/main" val="12902166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1FDF55EE-1DFC-4864-BBCF-6889CF1EF2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5AD84244-4940-47B0-823B-B7C36ED1B0F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11218A88-AD24-47F4-AA7E-CEDB55B3606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920138EF-D763-4448-A961-8DCEAD2BB11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§1.3 · SENSITIVITY AND COGNISANCE</a:t>
            </a:r>
          </a:p>
        </p:txBody>
      </p:sp>
      <p:sp>
        <p:nvSpPr>
          <p:cNvPr id="125" name="Google Shape;125;p7">
            <a:extLst xmlns:a="http://schemas.openxmlformats.org/drawingml/2006/main">
              <a:ext uri="{FF2B5EF4-FFF2-40B4-BE49-F238E27FC236}">
                <a16:creationId xmlns:a16="http://schemas.microsoft.com/office/drawing/2014/main" id="{B29B9366-7866-413D-82A0-241730EBC63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Cognisance Regulates Sensitivity</a:t>
            </a:r>
          </a:p>
        </p:txBody>
      </p:sp>
      <p:sp>
        <p:nvSpPr>
          <p:cNvPr id="126" name="Google Shape;126;p7">
            <a:extLst xmlns:a="http://schemas.openxmlformats.org/drawingml/2006/main">
              <a:ext uri="{FF2B5EF4-FFF2-40B4-BE49-F238E27FC236}">
                <a16:creationId xmlns:a16="http://schemas.microsoft.com/office/drawing/2014/main" id="{7D7417D2-2684-43CB-8AFE-F91CDBDC0F85}"/>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EE33F6BF-95C0-4816-A54C-B6B00AF45E1B}"/>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B6E3019C-45D3-4ED1-A9D2-55D72A50880D}"/>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EE1719B3-E68F-4D01-A60C-336CB2754F8D}"/>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A70DDF07-767E-4CA7-8197-976F5965AFE8}"/>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Cognisance — sangyansheelta</a:t>
            </a:r>
          </a:p>
        </p:txBody>
      </p:sp>
      <p:sp>
        <p:nvSpPr>
          <p:cNvPr id="131" name="Google Shape;131;p7">
            <a:extLst xmlns:a="http://schemas.openxmlformats.org/drawingml/2006/main">
              <a:ext uri="{FF2B5EF4-FFF2-40B4-BE49-F238E27FC236}">
                <a16:creationId xmlns:a16="http://schemas.microsoft.com/office/drawing/2014/main" id="{6BEFCC17-F959-4C0D-898B-ADDA648A1126}"/>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Jeevan’s knowing and accepting of relationships, values, purpose, and order. This understanding guides action.</a:t>
            </a:r>
          </a:p>
        </p:txBody>
      </p:sp>
      <p:sp>
        <p:nvSpPr>
          <p:cNvPr id="132" name="Google Shape;132;p7">
            <a:extLst xmlns:a="http://schemas.openxmlformats.org/drawingml/2006/main">
              <a:ext uri="{FF2B5EF4-FFF2-40B4-BE49-F238E27FC236}">
                <a16:creationId xmlns:a16="http://schemas.microsoft.com/office/drawing/2014/main" id="{2B1D4DE1-906E-43B6-A1AC-A7EA7B235BDE}"/>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1A555193-C105-42C6-B81B-78A780152943}"/>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3A08FC77-38FD-4F53-9FDA-4E24295DFCF2}"/>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D06E458B-173D-440A-9C47-D542B10D793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2E165D08-90C3-4000-8857-A8714F7BC41F}"/>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Sensitivity — sanvedansheelta</a:t>
            </a:r>
          </a:p>
        </p:txBody>
      </p:sp>
      <p:sp>
        <p:nvSpPr>
          <p:cNvPr id="137" name="Google Shape;137;p7">
            <a:extLst xmlns:a="http://schemas.openxmlformats.org/drawingml/2006/main">
              <a:ext uri="{FF2B5EF4-FFF2-40B4-BE49-F238E27FC236}">
                <a16:creationId xmlns:a16="http://schemas.microsoft.com/office/drawing/2014/main" id="{81243F9D-4F30-4A59-8606-FA47AD846C3A}"/>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Bodily responsiveness through sound, touch, sight, taste, and smell. It enables contact, action, and temporary satisfaction.</a:t>
            </a:r>
          </a:p>
        </p:txBody>
      </p:sp>
      <p:sp>
        <p:nvSpPr>
          <p:cNvPr id="138" name="Google Shape;138;p7">
            <a:extLst xmlns:a="http://schemas.openxmlformats.org/drawingml/2006/main">
              <a:ext uri="{FF2B5EF4-FFF2-40B4-BE49-F238E27FC236}">
                <a16:creationId xmlns:a16="http://schemas.microsoft.com/office/drawing/2014/main" id="{C24F03F3-13B7-4DA6-B82A-6FFEF115DCC6}"/>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7E860388-B17F-4D86-B9E1-F64D831A85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2DCD6C6B-CF46-4530-A4E5-F7FEC5439D14}"/>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0D2E6CD2-706E-4D67-92AD-87B6DF703565}"/>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72284CF3-2391-448B-BA27-7D7834BE2558}"/>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Continuous happiness</a:t>
            </a:r>
          </a:p>
        </p:txBody>
      </p:sp>
      <p:sp>
        <p:nvSpPr>
          <p:cNvPr id="143" name="Google Shape;143;p7">
            <a:extLst xmlns:a="http://schemas.openxmlformats.org/drawingml/2006/main">
              <a:ext uri="{FF2B5EF4-FFF2-40B4-BE49-F238E27FC236}">
                <a16:creationId xmlns:a16="http://schemas.microsoft.com/office/drawing/2014/main" id="{88B4D163-A60F-4D71-A21A-FF9D668635D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Sensory satisfaction is temporary. Repeating pleasant contact cannot by itself provide continuous happiness.</a:t>
            </a:r>
          </a:p>
        </p:txBody>
      </p:sp>
      <p:sp>
        <p:nvSpPr>
          <p:cNvPr id="144" name="Google Shape;144;p7">
            <a:extLst xmlns:a="http://schemas.openxmlformats.org/drawingml/2006/main">
              <a:ext uri="{FF2B5EF4-FFF2-40B4-BE49-F238E27FC236}">
                <a16:creationId xmlns:a16="http://schemas.microsoft.com/office/drawing/2014/main" id="{35D606E5-7371-49D6-8AFE-E2CD65E2D258}"/>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60ED207F-363E-479B-A217-044586C34A06}"/>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F59040DB-FE8E-4768-B34F-7171056FB64B}"/>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2D39A687-7B45-4546-8894-6BDA52A70DF4}"/>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40CC8AF1-DE82-4E58-8C0C-0A05484D7F0A}"/>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Understanding guides the senses</a:t>
            </a:r>
          </a:p>
        </p:txBody>
      </p:sp>
      <p:sp>
        <p:nvSpPr>
          <p:cNvPr id="149" name="Google Shape;149;p7">
            <a:extLst xmlns:a="http://schemas.openxmlformats.org/drawingml/2006/main">
              <a:ext uri="{FF2B5EF4-FFF2-40B4-BE49-F238E27FC236}">
                <a16:creationId xmlns:a16="http://schemas.microsoft.com/office/drawing/2014/main" id="{43CACCDB-C99D-4605-856E-E37BB61C6E30}"/>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Awakened living retains both sensitivity and cognisance. Their balance supports right recognition and fulfilment.</a:t>
            </a:r>
          </a:p>
        </p:txBody>
      </p:sp>
      <p:sp>
        <p:nvSpPr>
          <p:cNvPr id="150" name="Google Shape;150;p7">
            <a:extLst xmlns:a="http://schemas.openxmlformats.org/drawingml/2006/main">
              <a:ext uri="{FF2B5EF4-FFF2-40B4-BE49-F238E27FC236}">
                <a16:creationId xmlns:a16="http://schemas.microsoft.com/office/drawing/2014/main" id="{C900555A-CF8C-4582-8C80-52AF84F08F63}"/>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2117AB49-652B-42CE-AF52-B10AE62D38EC}"/>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The next slide asks what guides selection: sensory pressure or understood purpose.</a:t>
            </a:r>
          </a:p>
        </p:txBody>
      </p:sp>
      <p:sp>
        <p:nvSpPr>
          <p:cNvPr id="152" name="Google Shape;152;p7">
            <a:extLst xmlns:a="http://schemas.openxmlformats.org/drawingml/2006/main">
              <a:ext uri="{FF2B5EF4-FFF2-40B4-BE49-F238E27FC236}">
                <a16:creationId xmlns:a16="http://schemas.microsoft.com/office/drawing/2014/main" id="{C8AB52DC-457F-4AED-9264-440E84A6C23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SB pp. 63–64  ·  MVD pp. 65–67  ·  KD pp. 66–67  ·  AnalyticMadhyasthDarshan.org  ·  19 / 36</a:t>
            </a:r>
          </a:p>
        </p:txBody>
      </p:sp>
    </p:spTree>
    <p:extLst>
      <p:ext uri="{BB962C8B-B14F-4D97-AF65-F5344CB8AC3E}">
        <p14:creationId xmlns:p14="http://schemas.microsoft.com/office/powerpoint/2010/main" val="97238234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Google Shape;373;p16">
            <a:extLst xmlns:a="http://schemas.openxmlformats.org/drawingml/2006/main">
              <a:ext uri="{FF2B5EF4-FFF2-40B4-BE49-F238E27FC236}">
                <a16:creationId xmlns:a16="http://schemas.microsoft.com/office/drawing/2014/main" id="{EE5E8163-2E3D-4286-83A5-4E98AABDC9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4" name="Google Shape;374;p16">
            <a:extLst xmlns:a="http://schemas.openxmlformats.org/drawingml/2006/main">
              <a:ext uri="{FF2B5EF4-FFF2-40B4-BE49-F238E27FC236}">
                <a16:creationId xmlns:a16="http://schemas.microsoft.com/office/drawing/2014/main" id="{ADF8D51E-7451-457D-961B-75E09BFF1D92}"/>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5" name="Google Shape;375;p16">
            <a:extLst xmlns:a="http://schemas.openxmlformats.org/drawingml/2006/main">
              <a:ext uri="{FF2B5EF4-FFF2-40B4-BE49-F238E27FC236}">
                <a16:creationId xmlns:a16="http://schemas.microsoft.com/office/drawing/2014/main" id="{35D08C76-95A4-4973-ACB4-130398FFBFC2}"/>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6" name="Google Shape;376;p16">
            <a:extLst xmlns:a="http://schemas.openxmlformats.org/drawingml/2006/main">
              <a:ext uri="{FF2B5EF4-FFF2-40B4-BE49-F238E27FC236}">
                <a16:creationId xmlns:a16="http://schemas.microsoft.com/office/drawing/2014/main" id="{6C78D489-C288-42BA-9E09-D4FC86D4C49F}"/>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§1.3 · THE EPISTEMIC FORK</a:t>
            </a:r>
          </a:p>
        </p:txBody>
      </p:sp>
      <p:sp>
        <p:nvSpPr>
          <p:cNvPr id="377" name="Google Shape;377;p16">
            <a:extLst xmlns:a="http://schemas.openxmlformats.org/drawingml/2006/main">
              <a:ext uri="{FF2B5EF4-FFF2-40B4-BE49-F238E27FC236}">
                <a16:creationId xmlns:a16="http://schemas.microsoft.com/office/drawing/2014/main" id="{8AEE7DC9-DA87-4328-892E-24BC14E8A848}"/>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Delusion or Awakening</a:t>
            </a:r>
          </a:p>
        </p:txBody>
      </p:sp>
      <p:sp>
        <p:nvSpPr>
          <p:cNvPr id="378" name="Google Shape;378;p16">
            <a:extLst xmlns:a="http://schemas.openxmlformats.org/drawingml/2006/main">
              <a:ext uri="{FF2B5EF4-FFF2-40B4-BE49-F238E27FC236}">
                <a16:creationId xmlns:a16="http://schemas.microsoft.com/office/drawing/2014/main" id="{45E855C4-95FC-424C-B4CC-5E8151148C4D}"/>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Jeevan is active in both states. The difference is what it takes to be the self and what guides its choices.</a:t>
            </a:r>
          </a:p>
        </p:txBody>
      </p:sp>
      <p:sp>
        <p:nvSpPr>
          <p:cNvPr id="379" name="Google Shape;379;p16">
            <a:extLst xmlns:a="http://schemas.openxmlformats.org/drawingml/2006/main">
              <a:ext uri="{FF2B5EF4-FFF2-40B4-BE49-F238E27FC236}">
                <a16:creationId xmlns:a16="http://schemas.microsoft.com/office/drawing/2014/main" id="{7CC81903-027E-4E44-907F-8267AC597E67}"/>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0" name="Google Shape;380;p16">
            <a:extLst xmlns:a="http://schemas.openxmlformats.org/drawingml/2006/main">
              <a:ext uri="{FF2B5EF4-FFF2-40B4-BE49-F238E27FC236}">
                <a16:creationId xmlns:a16="http://schemas.microsoft.com/office/drawing/2014/main" id="{FFCD59A2-B0B7-445A-8625-09C68EBABD94}"/>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9A6414"/>
                </a:solidFill>
                <a:latin typeface="Cambria"/>
                <a:ea typeface="Cambria"/>
                <a:cs typeface="Cambria"/>
              </a:rPr>
              <a:t>Delusion</a:t>
            </a:r>
          </a:p>
        </p:txBody>
      </p:sp>
      <p:sp>
        <p:nvSpPr>
          <p:cNvPr id="381" name="Google Shape;381;p16">
            <a:extLst xmlns:a="http://schemas.openxmlformats.org/drawingml/2006/main">
              <a:ext uri="{FF2B5EF4-FFF2-40B4-BE49-F238E27FC236}">
                <a16:creationId xmlns:a16="http://schemas.microsoft.com/office/drawing/2014/main" id="{7B2E8C50-D74D-4078-A781-ED37F3E0CC7C}"/>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body is taken as the self. Four-and-a-half activities are effective: taste, selection, analysis, visualisation, and restricted deliberation.</a:t>
            </a:r>
          </a:p>
        </p:txBody>
      </p:sp>
      <p:sp>
        <p:nvSpPr>
          <p:cNvPr id="382" name="Google Shape;382;p16">
            <a:extLst xmlns:a="http://schemas.openxmlformats.org/drawingml/2006/main">
              <a:ext uri="{FF2B5EF4-FFF2-40B4-BE49-F238E27FC236}">
                <a16:creationId xmlns:a16="http://schemas.microsoft.com/office/drawing/2014/main" id="{54B67296-4447-4A69-BC97-F67606A4F7C0}"/>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3" name="Google Shape;383;p16">
            <a:extLst xmlns:a="http://schemas.openxmlformats.org/drawingml/2006/main">
              <a:ext uri="{FF2B5EF4-FFF2-40B4-BE49-F238E27FC236}">
                <a16:creationId xmlns:a16="http://schemas.microsoft.com/office/drawing/2014/main" id="{3D6485FC-39FA-4EB0-8853-153CF5417249}"/>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Awakening</a:t>
            </a:r>
          </a:p>
        </p:txBody>
      </p:sp>
      <p:sp>
        <p:nvSpPr>
          <p:cNvPr id="384" name="Google Shape;384;p16">
            <a:extLst xmlns:a="http://schemas.openxmlformats.org/drawingml/2006/main">
              <a:ext uri="{FF2B5EF4-FFF2-40B4-BE49-F238E27FC236}">
                <a16:creationId xmlns:a16="http://schemas.microsoft.com/office/drawing/2014/main" id="{787961EA-42CD-4B38-A5DE-422537D2458B}"/>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Jeevan understands itself and coexistence. Justice, dharma, and truth guide the same faculties.</a:t>
            </a:r>
          </a:p>
        </p:txBody>
      </p:sp>
      <p:sp>
        <p:nvSpPr>
          <p:cNvPr id="385" name="Google Shape;385;p16">
            <a:extLst xmlns:a="http://schemas.openxmlformats.org/drawingml/2006/main">
              <a:ext uri="{FF2B5EF4-FFF2-40B4-BE49-F238E27FC236}">
                <a16:creationId xmlns:a16="http://schemas.microsoft.com/office/drawing/2014/main" id="{2A62FD21-0CDD-4DF1-A565-6CC1FFA1B76D}"/>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Purvanukram: atma guides buddhi, chitta, vritti, and mun. Paranukram: bodily and sensory pressure governs mun’s selection.</a:t>
            </a:r>
          </a:p>
        </p:txBody>
      </p:sp>
      <p:sp>
        <p:nvSpPr>
          <p:cNvPr id="386" name="Google Shape;386;p16">
            <a:extLst xmlns:a="http://schemas.openxmlformats.org/drawingml/2006/main">
              <a:ext uri="{FF2B5EF4-FFF2-40B4-BE49-F238E27FC236}">
                <a16:creationId xmlns:a16="http://schemas.microsoft.com/office/drawing/2014/main" id="{33F8C60F-28AA-433E-B157-DF631F162C5C}"/>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7" name="Google Shape;387;p16">
            <a:extLst xmlns:a="http://schemas.openxmlformats.org/drawingml/2006/main">
              <a:ext uri="{FF2B5EF4-FFF2-40B4-BE49-F238E27FC236}">
                <a16:creationId xmlns:a16="http://schemas.microsoft.com/office/drawing/2014/main" id="{1DBF5721-6FB0-47E7-AF84-E47E92AA81BF}"/>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Body-identification</a:t>
            </a:r>
          </a:p>
        </p:txBody>
      </p:sp>
      <p:sp>
        <p:nvSpPr>
          <p:cNvPr id="388" name="Google Shape;388;p16">
            <a:extLst xmlns:a="http://schemas.openxmlformats.org/drawingml/2006/main">
              <a:ext uri="{FF2B5EF4-FFF2-40B4-BE49-F238E27FC236}">
                <a16:creationId xmlns:a16="http://schemas.microsoft.com/office/drawing/2014/main" id="{2AF68A6B-78EF-4514-9799-95BA9AA90E1F}"/>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89" name="Google Shape;389;p16">
            <a:extLst xmlns:a="http://schemas.openxmlformats.org/drawingml/2006/main">
              <a:ext uri="{FF2B5EF4-FFF2-40B4-BE49-F238E27FC236}">
                <a16:creationId xmlns:a16="http://schemas.microsoft.com/office/drawing/2014/main" id="{B42257E6-D18C-4D3A-B641-E01638913146}"/>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0" name="Google Shape;390;p16">
            <a:extLst xmlns:a="http://schemas.openxmlformats.org/drawingml/2006/main">
              <a:ext uri="{FF2B5EF4-FFF2-40B4-BE49-F238E27FC236}">
                <a16:creationId xmlns:a16="http://schemas.microsoft.com/office/drawing/2014/main" id="{9DD3FDFF-7A8B-4603-9FD8-FD730EC51CC3}"/>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Narrow criteria</a:t>
            </a:r>
          </a:p>
        </p:txBody>
      </p:sp>
      <p:sp>
        <p:nvSpPr>
          <p:cNvPr id="391" name="Google Shape;391;p16">
            <a:extLst xmlns:a="http://schemas.openxmlformats.org/drawingml/2006/main">
              <a:ext uri="{FF2B5EF4-FFF2-40B4-BE49-F238E27FC236}">
                <a16:creationId xmlns:a16="http://schemas.microsoft.com/office/drawing/2014/main" id="{EB6A9F57-3D1A-409B-8571-B2C0C829114E}"/>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2" name="Google Shape;392;p16">
            <a:extLst xmlns:a="http://schemas.openxmlformats.org/drawingml/2006/main">
              <a:ext uri="{FF2B5EF4-FFF2-40B4-BE49-F238E27FC236}">
                <a16:creationId xmlns:a16="http://schemas.microsoft.com/office/drawing/2014/main" id="{F2960607-40BF-4891-BFFD-1D85C4AD8A95}"/>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3" name="Google Shape;393;p16">
            <a:extLst xmlns:a="http://schemas.openxmlformats.org/drawingml/2006/main">
              <a:ext uri="{FF2B5EF4-FFF2-40B4-BE49-F238E27FC236}">
                <a16:creationId xmlns:a16="http://schemas.microsoft.com/office/drawing/2014/main" id="{3D89BF9B-D547-4009-915C-D5A1DA0C6473}"/>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Incomplete knowing</a:t>
            </a:r>
          </a:p>
        </p:txBody>
      </p:sp>
      <p:sp>
        <p:nvSpPr>
          <p:cNvPr id="394" name="Google Shape;394;p16">
            <a:extLst xmlns:a="http://schemas.openxmlformats.org/drawingml/2006/main">
              <a:ext uri="{FF2B5EF4-FFF2-40B4-BE49-F238E27FC236}">
                <a16:creationId xmlns:a16="http://schemas.microsoft.com/office/drawing/2014/main" id="{11CF1EC8-FEFB-49FB-939D-7C097CB68AFC}"/>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5" name="Google Shape;395;p16">
            <a:extLst xmlns:a="http://schemas.openxmlformats.org/drawingml/2006/main">
              <a:ext uri="{FF2B5EF4-FFF2-40B4-BE49-F238E27FC236}">
                <a16:creationId xmlns:a16="http://schemas.microsoft.com/office/drawing/2014/main" id="{BA221319-804B-4F09-A1A8-1E91A7B82640}"/>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6" name="Google Shape;396;p16">
            <a:extLst xmlns:a="http://schemas.openxmlformats.org/drawingml/2006/main">
              <a:ext uri="{FF2B5EF4-FFF2-40B4-BE49-F238E27FC236}">
                <a16:creationId xmlns:a16="http://schemas.microsoft.com/office/drawing/2014/main" id="{724FC277-275C-4F7E-A756-9F27B90E7CE3}"/>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Contradiction</a:t>
            </a:r>
          </a:p>
        </p:txBody>
      </p:sp>
      <p:sp>
        <p:nvSpPr>
          <p:cNvPr id="397" name="Google Shape;397;p16">
            <a:extLst xmlns:a="http://schemas.openxmlformats.org/drawingml/2006/main">
              <a:ext uri="{FF2B5EF4-FFF2-40B4-BE49-F238E27FC236}">
                <a16:creationId xmlns:a16="http://schemas.microsoft.com/office/drawing/2014/main" id="{E9B40105-D081-49D7-A6E4-DDF7A3CB00D0}"/>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Sensory pleasure leaves the wish for continuous happiness unresolved. We return to error on slide 31.</a:t>
            </a:r>
          </a:p>
        </p:txBody>
      </p:sp>
      <p:sp>
        <p:nvSpPr>
          <p:cNvPr id="398" name="Google Shape;398;p16">
            <a:extLst xmlns:a="http://schemas.openxmlformats.org/drawingml/2006/main">
              <a:ext uri="{FF2B5EF4-FFF2-40B4-BE49-F238E27FC236}">
                <a16:creationId xmlns:a16="http://schemas.microsoft.com/office/drawing/2014/main" id="{4759006B-AB01-486E-A99B-9E94FD623428}"/>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JV pp. 72–74  ·  KD §3.17, p. 147  ·  MVD p. 208  ·  AnalyticMadhyasthDarshan.org  ·  20 / 36</a:t>
            </a:r>
          </a:p>
        </p:txBody>
      </p:sp>
    </p:spTree>
    <p:extLst>
      <p:ext uri="{BB962C8B-B14F-4D97-AF65-F5344CB8AC3E}">
        <p14:creationId xmlns:p14="http://schemas.microsoft.com/office/powerpoint/2010/main" val="156369508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4" name="Google Shape;264;p12">
            <a:extLst xmlns:a="http://schemas.openxmlformats.org/drawingml/2006/main">
              <a:ext uri="{FF2B5EF4-FFF2-40B4-BE49-F238E27FC236}">
                <a16:creationId xmlns:a16="http://schemas.microsoft.com/office/drawing/2014/main" id="{729C667D-E689-4D70-90E8-4F2607078D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5" name="Google Shape;265;p12">
            <a:extLst xmlns:a="http://schemas.openxmlformats.org/drawingml/2006/main">
              <a:ext uri="{FF2B5EF4-FFF2-40B4-BE49-F238E27FC236}">
                <a16:creationId xmlns:a16="http://schemas.microsoft.com/office/drawing/2014/main" id="{F501FB75-B6D4-4DFC-BA72-8E31AE6E93E3}"/>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6" name="Google Shape;266;p12">
            <a:extLst xmlns:a="http://schemas.openxmlformats.org/drawingml/2006/main">
              <a:ext uri="{FF2B5EF4-FFF2-40B4-BE49-F238E27FC236}">
                <a16:creationId xmlns:a16="http://schemas.microsoft.com/office/drawing/2014/main" id="{ECBF3BFF-A4A6-4EF0-A660-392661091BB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7" name="Google Shape;267;p12">
            <a:extLst xmlns:a="http://schemas.openxmlformats.org/drawingml/2006/main">
              <a:ext uri="{FF2B5EF4-FFF2-40B4-BE49-F238E27FC236}">
                <a16:creationId xmlns:a16="http://schemas.microsoft.com/office/drawing/2014/main" id="{FFBEE572-0076-43B9-BA0E-A17511957AAB}"/>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§1.4 · BODILY LIFE</a:t>
            </a:r>
          </a:p>
        </p:txBody>
      </p:sp>
      <p:sp>
        <p:nvSpPr>
          <p:cNvPr id="268" name="Google Shape;268;p12">
            <a:extLst xmlns:a="http://schemas.openxmlformats.org/drawingml/2006/main">
              <a:ext uri="{FF2B5EF4-FFF2-40B4-BE49-F238E27FC236}">
                <a16:creationId xmlns:a16="http://schemas.microsoft.com/office/drawing/2014/main" id="{9214062A-13C9-4C7B-A7F8-E09038CB238F}"/>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Four Propensities, Five Channels</a:t>
            </a:r>
          </a:p>
        </p:txBody>
      </p:sp>
      <p:sp>
        <p:nvSpPr>
          <p:cNvPr id="269" name="Google Shape;269;p12">
            <a:extLst xmlns:a="http://schemas.openxmlformats.org/drawingml/2006/main">
              <a:ext uri="{FF2B5EF4-FFF2-40B4-BE49-F238E27FC236}">
                <a16:creationId xmlns:a16="http://schemas.microsoft.com/office/drawing/2014/main" id="{F9758BEB-9C2B-408D-AF26-158B6194BA44}"/>
              </a:ext>
            </a:extLst>
          </p:cNvPr>
          <p:cNvSpPr>
            <a:spLocks xmlns:a="http://schemas.openxmlformats.org/drawingml/2006/main" noGrp="1"/>
          </p:cNvSpPr>
          <p:nvPr/>
        </p:nvSpPr>
        <p:spPr>
          <a:xfrm xmlns:a="http://schemas.openxmlformats.org/drawingml/2006/main">
            <a:off x="640080" y="1234440"/>
            <a:ext cx="79552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i="0" u="none" cap="none">
                <a:solidFill>
                  <a:srgbClr val="1E2447"/>
                </a:solidFill>
                <a:latin typeface="Calibri"/>
                <a:ea typeface="Calibri"/>
                <a:cs typeface="Calibri"/>
              </a:rPr>
              <a:t>Four propensities describe bodily needs. Five sensory channels describe how the body makes contact with its surroundings.</a:t>
            </a:r>
          </a:p>
        </p:txBody>
      </p:sp>
      <p:sp>
        <p:nvSpPr>
          <p:cNvPr id="270" name="Google Shape;270;p12">
            <a:extLst xmlns:a="http://schemas.openxmlformats.org/drawingml/2006/main">
              <a:ext uri="{FF2B5EF4-FFF2-40B4-BE49-F238E27FC236}">
                <a16:creationId xmlns:a16="http://schemas.microsoft.com/office/drawing/2014/main" id="{6BB2F31E-F3C0-431E-BAC4-A9679E0D86A3}"/>
              </a:ext>
            </a:extLst>
          </p:cNvPr>
          <p:cNvSpPr>
            <a:spLocks xmlns:a="http://schemas.openxmlformats.org/drawingml/2006/main" noGrp="1"/>
          </p:cNvSpPr>
          <p:nvPr/>
        </p:nvSpPr>
        <p:spPr>
          <a:xfrm xmlns:a="http://schemas.openxmlformats.org/drawingml/2006/main">
            <a:off x="640080" y="2286000"/>
            <a:ext cx="3657600" cy="1691640"/>
          </a:xfrm>
          <a:prstGeom xmlns:a="http://schemas.openxmlformats.org/drawingml/2006/main" prst="roundRect">
            <a:avLst>
              <a:gd name="adj" fmla="val 5405"/>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1" name="Google Shape;271;p12">
            <a:extLst xmlns:a="http://schemas.openxmlformats.org/drawingml/2006/main">
              <a:ext uri="{FF2B5EF4-FFF2-40B4-BE49-F238E27FC236}">
                <a16:creationId xmlns:a16="http://schemas.microsoft.com/office/drawing/2014/main" id="{6D3985BD-A3A5-46A4-A35F-4142738C7174}"/>
              </a:ext>
            </a:extLst>
          </p:cNvPr>
          <p:cNvSpPr>
            <a:spLocks xmlns:a="http://schemas.openxmlformats.org/drawingml/2006/main" noGrp="1"/>
          </p:cNvSpPr>
          <p:nvPr/>
        </p:nvSpPr>
        <p:spPr>
          <a:xfrm xmlns:a="http://schemas.openxmlformats.org/drawingml/2006/main">
            <a:off x="86868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3B4A7A"/>
                </a:solidFill>
                <a:latin typeface="Cambria"/>
                <a:ea typeface="Cambria"/>
                <a:cs typeface="Cambria"/>
              </a:rPr>
              <a:t>Four vishayas — the propensities</a:t>
            </a:r>
          </a:p>
        </p:txBody>
      </p:sp>
      <p:sp>
        <p:nvSpPr>
          <p:cNvPr id="272" name="Google Shape;272;p12">
            <a:extLst xmlns:a="http://schemas.openxmlformats.org/drawingml/2006/main">
              <a:ext uri="{FF2B5EF4-FFF2-40B4-BE49-F238E27FC236}">
                <a16:creationId xmlns:a16="http://schemas.microsoft.com/office/drawing/2014/main" id="{C72A7A91-6C0A-4597-B37C-72D0DE54B8B2}"/>
              </a:ext>
            </a:extLst>
          </p:cNvPr>
          <p:cNvSpPr>
            <a:spLocks xmlns:a="http://schemas.openxmlformats.org/drawingml/2006/main" noGrp="1"/>
          </p:cNvSpPr>
          <p:nvPr/>
        </p:nvSpPr>
        <p:spPr>
          <a:xfrm xmlns:a="http://schemas.openxmlformats.org/drawingml/2006/main">
            <a:off x="868680" y="2743200"/>
            <a:ext cx="324612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Eating</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Sleeping</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Protection or defence</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Mating</a:t>
            </a:r>
          </a:p>
        </p:txBody>
      </p:sp>
      <p:sp>
        <p:nvSpPr>
          <p:cNvPr id="273" name="Google Shape;273;p12">
            <a:extLst xmlns:a="http://schemas.openxmlformats.org/drawingml/2006/main">
              <a:ext uri="{FF2B5EF4-FFF2-40B4-BE49-F238E27FC236}">
                <a16:creationId xmlns:a16="http://schemas.microsoft.com/office/drawing/2014/main" id="{2D6C52AD-EC2A-4BE2-ACB4-645483C34D8F}"/>
              </a:ext>
            </a:extLst>
          </p:cNvPr>
          <p:cNvSpPr>
            <a:spLocks xmlns:a="http://schemas.openxmlformats.org/drawingml/2006/main" noGrp="1"/>
          </p:cNvSpPr>
          <p:nvPr/>
        </p:nvSpPr>
        <p:spPr>
          <a:xfrm xmlns:a="http://schemas.openxmlformats.org/drawingml/2006/main">
            <a:off x="4846320" y="2286000"/>
            <a:ext cx="3657600" cy="1691640"/>
          </a:xfrm>
          <a:prstGeom xmlns:a="http://schemas.openxmlformats.org/drawingml/2006/main" prst="roundRect">
            <a:avLst>
              <a:gd name="adj" fmla="val 5405"/>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4" name="Google Shape;274;p12">
            <a:extLst xmlns:a="http://schemas.openxmlformats.org/drawingml/2006/main">
              <a:ext uri="{FF2B5EF4-FFF2-40B4-BE49-F238E27FC236}">
                <a16:creationId xmlns:a16="http://schemas.microsoft.com/office/drawing/2014/main" id="{3701D90E-EDED-47DC-98ED-73DD8E2EBBD4}"/>
              </a:ext>
            </a:extLst>
          </p:cNvPr>
          <p:cNvSpPr>
            <a:spLocks xmlns:a="http://schemas.openxmlformats.org/drawingml/2006/main" noGrp="1"/>
          </p:cNvSpPr>
          <p:nvPr/>
        </p:nvSpPr>
        <p:spPr>
          <a:xfrm xmlns:a="http://schemas.openxmlformats.org/drawingml/2006/main">
            <a:off x="507492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9A6414"/>
                </a:solidFill>
                <a:latin typeface="Cambria"/>
                <a:ea typeface="Cambria"/>
                <a:cs typeface="Cambria"/>
              </a:rPr>
              <a:t>Five sensory modalities — the channels</a:t>
            </a:r>
          </a:p>
        </p:txBody>
      </p:sp>
      <p:sp>
        <p:nvSpPr>
          <p:cNvPr id="275" name="Google Shape;275;p12">
            <a:extLst xmlns:a="http://schemas.openxmlformats.org/drawingml/2006/main">
              <a:ext uri="{FF2B5EF4-FFF2-40B4-BE49-F238E27FC236}">
                <a16:creationId xmlns:a16="http://schemas.microsoft.com/office/drawing/2014/main" id="{54C4D491-CD51-4522-B53F-C369A7492AD5}"/>
              </a:ext>
            </a:extLst>
          </p:cNvPr>
          <p:cNvSpPr>
            <a:spLocks xmlns:a="http://schemas.openxmlformats.org/drawingml/2006/main" noGrp="1"/>
          </p:cNvSpPr>
          <p:nvPr/>
        </p:nvSpPr>
        <p:spPr>
          <a:xfrm xmlns:a="http://schemas.openxmlformats.org/drawingml/2006/main">
            <a:off x="5074920" y="2743200"/>
            <a:ext cx="324612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Sound</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Touch</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Visible form</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Taste</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Smell</a:t>
            </a:r>
          </a:p>
        </p:txBody>
      </p:sp>
      <p:sp>
        <p:nvSpPr>
          <p:cNvPr id="276" name="Google Shape;276;p12">
            <a:extLst xmlns:a="http://schemas.openxmlformats.org/drawingml/2006/main">
              <a:ext uri="{FF2B5EF4-FFF2-40B4-BE49-F238E27FC236}">
                <a16:creationId xmlns:a16="http://schemas.microsoft.com/office/drawing/2014/main" id="{4D8269B2-36B6-4F15-BCEC-EEC9EAB2E996}"/>
              </a:ext>
            </a:extLst>
          </p:cNvPr>
          <p:cNvSpPr>
            <a:spLocks xmlns:a="http://schemas.openxmlformats.org/drawingml/2006/main" noGrp="1"/>
          </p:cNvSpPr>
          <p:nvPr/>
        </p:nvSpPr>
        <p:spPr>
          <a:xfrm xmlns:a="http://schemas.openxmlformats.org/drawingml/2006/main">
            <a:off x="4315968" y="2880360"/>
            <a:ext cx="50292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2400" b="1" i="0" u="none" cap="none">
                <a:solidFill>
                  <a:srgbClr val="C9821E"/>
                </a:solidFill>
                <a:latin typeface="Calibri"/>
                <a:ea typeface="Calibri"/>
                <a:cs typeface="Calibri"/>
              </a:rPr>
              <a:t>→</a:t>
            </a:r>
          </a:p>
        </p:txBody>
      </p:sp>
      <p:sp>
        <p:nvSpPr>
          <p:cNvPr id="277" name="Google Shape;277;p12">
            <a:extLst xmlns:a="http://schemas.openxmlformats.org/drawingml/2006/main">
              <a:ext uri="{FF2B5EF4-FFF2-40B4-BE49-F238E27FC236}">
                <a16:creationId xmlns:a16="http://schemas.microsoft.com/office/drawing/2014/main" id="{266542B5-9ABA-41A8-9AB9-A6CA9D623966}"/>
              </a:ext>
            </a:extLst>
          </p:cNvPr>
          <p:cNvSpPr>
            <a:spLocks xmlns:a="http://schemas.openxmlformats.org/drawingml/2006/main" noGrp="1"/>
          </p:cNvSpPr>
          <p:nvPr/>
        </p:nvSpPr>
        <p:spPr>
          <a:xfrm xmlns:a="http://schemas.openxmlformats.org/drawingml/2006/main">
            <a:off x="640080" y="4206240"/>
            <a:ext cx="7955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1" u="none" cap="none">
                <a:solidFill>
                  <a:srgbClr val="1E2447"/>
                </a:solidFill>
                <a:latin typeface="Calibri"/>
                <a:ea typeface="Calibri"/>
                <a:cs typeface="Calibri"/>
              </a:rPr>
              <a:t>A shared meal involves nourishment, taste, sight, and smell. Understanding also considers the people, work, and resources involved.</a:t>
            </a:r>
          </a:p>
        </p:txBody>
      </p:sp>
      <p:sp>
        <p:nvSpPr>
          <p:cNvPr id="278" name="Google Shape;278;p12">
            <a:extLst xmlns:a="http://schemas.openxmlformats.org/drawingml/2006/main">
              <a:ext uri="{FF2B5EF4-FFF2-40B4-BE49-F238E27FC236}">
                <a16:creationId xmlns:a16="http://schemas.microsoft.com/office/drawing/2014/main" id="{B7C5A5B0-4341-4678-88F0-DC0A25C0F65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58, 65  ·  AnalyticMadhyasthDarshan.org  ·  21 / 36</a:t>
            </a:r>
          </a:p>
        </p:txBody>
      </p:sp>
    </p:spTree>
    <p:extLst>
      <p:ext uri="{BB962C8B-B14F-4D97-AF65-F5344CB8AC3E}">
        <p14:creationId xmlns:p14="http://schemas.microsoft.com/office/powerpoint/2010/main" val="129021663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Google Shape;94;p6">
            <a:extLst xmlns:a="http://schemas.openxmlformats.org/drawingml/2006/main">
              <a:ext uri="{FF2B5EF4-FFF2-40B4-BE49-F238E27FC236}">
                <a16:creationId xmlns:a16="http://schemas.microsoft.com/office/drawing/2014/main" id="{EBEF7F00-6B49-4A97-A2C9-3872E7D6570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5" name="Google Shape;95;p6">
            <a:extLst xmlns:a="http://schemas.openxmlformats.org/drawingml/2006/main">
              <a:ext uri="{FF2B5EF4-FFF2-40B4-BE49-F238E27FC236}">
                <a16:creationId xmlns:a16="http://schemas.microsoft.com/office/drawing/2014/main" id="{C70F0F84-9DBC-4050-9671-0D5C5FC1E52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6" name="Google Shape;96;p6">
            <a:extLst xmlns:a="http://schemas.openxmlformats.org/drawingml/2006/main">
              <a:ext uri="{FF2B5EF4-FFF2-40B4-BE49-F238E27FC236}">
                <a16:creationId xmlns:a16="http://schemas.microsoft.com/office/drawing/2014/main" id="{C80D0AF3-2895-41D8-92FE-B1605469D17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7" name="Google Shape;97;p6">
            <a:extLst xmlns:a="http://schemas.openxmlformats.org/drawingml/2006/main">
              <a:ext uri="{FF2B5EF4-FFF2-40B4-BE49-F238E27FC236}">
                <a16:creationId xmlns:a16="http://schemas.microsoft.com/office/drawing/2014/main" id="{1B657EC0-01A7-4BB0-9C90-17C378E295E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§1.4 · SAMADHAN AND THE THREE ESHANAS</a:t>
            </a:r>
          </a:p>
        </p:txBody>
      </p:sp>
      <p:sp>
        <p:nvSpPr>
          <p:cNvPr id="98" name="Google Shape;98;p6">
            <a:extLst xmlns:a="http://schemas.openxmlformats.org/drawingml/2006/main">
              <a:ext uri="{FF2B5EF4-FFF2-40B4-BE49-F238E27FC236}">
                <a16:creationId xmlns:a16="http://schemas.microsoft.com/office/drawing/2014/main" id="{4ECCC323-9F8F-4642-988C-7822F9C0A396}"/>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Three Motives for Humane Living</a:t>
            </a:r>
          </a:p>
        </p:txBody>
      </p:sp>
      <p:sp>
        <p:nvSpPr>
          <p:cNvPr id="99" name="Google Shape;99;p6">
            <a:extLst xmlns:a="http://schemas.openxmlformats.org/drawingml/2006/main">
              <a:ext uri="{FF2B5EF4-FFF2-40B4-BE49-F238E27FC236}">
                <a16:creationId xmlns:a16="http://schemas.microsoft.com/office/drawing/2014/main" id="{DF6B4B7B-D28E-4416-8924-A7383F929BB2}"/>
              </a:ext>
            </a:extLst>
          </p:cNvPr>
          <p:cNvSpPr>
            <a:spLocks xmlns:a="http://schemas.openxmlformats.org/drawingml/2006/main" noGrp="1"/>
          </p:cNvSpPr>
          <p:nvPr/>
        </p:nvSpPr>
        <p:spPr>
          <a:xfrm xmlns:a="http://schemas.openxmlformats.org/drawingml/2006/main">
            <a:off x="640080" y="1207008"/>
            <a:ext cx="7955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MVD defines the three eshanas through humane purposes. Their satisfaction, together with resolution, extends beyond sensory gratification.</a:t>
            </a:r>
          </a:p>
        </p:txBody>
      </p:sp>
      <p:sp>
        <p:nvSpPr>
          <p:cNvPr id="100" name="Google Shape;100;p6">
            <a:extLst xmlns:a="http://schemas.openxmlformats.org/drawingml/2006/main">
              <a:ext uri="{FF2B5EF4-FFF2-40B4-BE49-F238E27FC236}">
                <a16:creationId xmlns:a16="http://schemas.microsoft.com/office/drawing/2014/main" id="{DACC0896-F0C0-40F4-B10C-573B8F396051}"/>
              </a:ext>
            </a:extLst>
          </p:cNvPr>
          <p:cNvSpPr>
            <a:spLocks xmlns:a="http://schemas.openxmlformats.org/drawingml/2006/main" noGrp="1"/>
          </p:cNvSpPr>
          <p:nvPr/>
        </p:nvSpPr>
        <p:spPr>
          <a:xfrm xmlns:a="http://schemas.openxmlformats.org/drawingml/2006/main">
            <a:off x="640080"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1" name="Google Shape;101;p6">
            <a:extLst xmlns:a="http://schemas.openxmlformats.org/drawingml/2006/main">
              <a:ext uri="{FF2B5EF4-FFF2-40B4-BE49-F238E27FC236}">
                <a16:creationId xmlns:a16="http://schemas.microsoft.com/office/drawing/2014/main" id="{322BBC30-630B-42E3-9DD2-412D0D9AEC97}"/>
              </a:ext>
            </a:extLst>
          </p:cNvPr>
          <p:cNvSpPr>
            <a:spLocks xmlns:a="http://schemas.openxmlformats.org/drawingml/2006/main" noGrp="1"/>
          </p:cNvSpPr>
          <p:nvPr/>
        </p:nvSpPr>
        <p:spPr>
          <a:xfrm xmlns:a="http://schemas.openxmlformats.org/drawingml/2006/main">
            <a:off x="841248"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27" name="Google Shape;102;p6"/>
          <p:cNvPicPr>
            <a:picLocks xmlns:a="http://schemas.openxmlformats.org/drawingml/2006/main" noChangeAspect="1"/>
          </p:cNvPicPr>
          <p:nvPr/>
        </p:nvPicPr>
        <p:blipFill rotWithShape="1">
          <a:blip xmlns:r="http://schemas.openxmlformats.org/officeDocument/2006/relationships" xmlns:a="http://schemas.openxmlformats.org/drawingml/2006/main" r:embed="R0a5e4283650d4d61">
            <a:alphaModFix/>
          </a:blip>
          <a:srcRect xmlns:a="http://schemas.openxmlformats.org/drawingml/2006/main" l="0" t="0" r="0" b="0"/>
          <a:stretch xmlns:a="http://schemas.openxmlformats.org/drawingml/2006/main"/>
        </p:blipFill>
        <p:spPr>
          <a:xfrm xmlns:a="http://schemas.openxmlformats.org/drawingml/2006/main">
            <a:off x="960120" y="2331720"/>
            <a:ext cx="219456" cy="219456"/>
          </a:xfrm>
          <a:prstGeom xmlns:a="http://schemas.openxmlformats.org/drawingml/2006/main" prst="rect">
            <a:avLst/>
          </a:prstGeom>
          <a:ln xmlns:a="http://schemas.openxmlformats.org/drawingml/2006/main">
            <a:noFill/>
          </a:ln>
        </p:spPr>
      </p:pic>
      <p:sp>
        <p:nvSpPr>
          <p:cNvPr id="103" name="Google Shape;103;p6">
            <a:extLst xmlns:a="http://schemas.openxmlformats.org/drawingml/2006/main">
              <a:ext uri="{FF2B5EF4-FFF2-40B4-BE49-F238E27FC236}">
                <a16:creationId xmlns:a16="http://schemas.microsoft.com/office/drawing/2014/main" id="{4B81C68F-F7F1-4BFA-948A-90AE27C808EF}"/>
              </a:ext>
            </a:extLst>
          </p:cNvPr>
          <p:cNvSpPr>
            <a:spLocks xmlns:a="http://schemas.openxmlformats.org/drawingml/2006/main" noGrp="1"/>
          </p:cNvSpPr>
          <p:nvPr/>
        </p:nvSpPr>
        <p:spPr>
          <a:xfrm xmlns:a="http://schemas.openxmlformats.org/drawingml/2006/main">
            <a:off x="841248"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Progeny motive</a:t>
            </a:r>
          </a:p>
        </p:txBody>
      </p:sp>
      <p:sp>
        <p:nvSpPr>
          <p:cNvPr id="104" name="Google Shape;104;p6">
            <a:extLst xmlns:a="http://schemas.openxmlformats.org/drawingml/2006/main">
              <a:ext uri="{FF2B5EF4-FFF2-40B4-BE49-F238E27FC236}">
                <a16:creationId xmlns:a16="http://schemas.microsoft.com/office/drawing/2014/main" id="{91E8706C-5C84-49C2-950C-C985E9B97FEE}"/>
              </a:ext>
            </a:extLst>
          </p:cNvPr>
          <p:cNvSpPr>
            <a:spLocks xmlns:a="http://schemas.openxmlformats.org/drawingml/2006/main" noGrp="1"/>
          </p:cNvSpPr>
          <p:nvPr/>
        </p:nvSpPr>
        <p:spPr>
          <a:xfrm xmlns:a="http://schemas.openxmlformats.org/drawingml/2006/main">
            <a:off x="841248"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Putreshana: continuation of the family and participation in social order, including the next generation’s education.</a:t>
            </a:r>
          </a:p>
        </p:txBody>
      </p:sp>
      <p:sp>
        <p:nvSpPr>
          <p:cNvPr id="105" name="Google Shape;105;p6">
            <a:extLst xmlns:a="http://schemas.openxmlformats.org/drawingml/2006/main">
              <a:ext uri="{FF2B5EF4-FFF2-40B4-BE49-F238E27FC236}">
                <a16:creationId xmlns:a16="http://schemas.microsoft.com/office/drawing/2014/main" id="{7F5058FF-1BB9-4921-BA6D-F70E2BC028FE}"/>
              </a:ext>
            </a:extLst>
          </p:cNvPr>
          <p:cNvSpPr>
            <a:spLocks xmlns:a="http://schemas.openxmlformats.org/drawingml/2006/main" noGrp="1"/>
          </p:cNvSpPr>
          <p:nvPr/>
        </p:nvSpPr>
        <p:spPr>
          <a:xfrm xmlns:a="http://schemas.openxmlformats.org/drawingml/2006/main">
            <a:off x="3392424"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6" name="Google Shape;106;p6">
            <a:extLst xmlns:a="http://schemas.openxmlformats.org/drawingml/2006/main">
              <a:ext uri="{FF2B5EF4-FFF2-40B4-BE49-F238E27FC236}">
                <a16:creationId xmlns:a16="http://schemas.microsoft.com/office/drawing/2014/main" id="{9B5AA159-1A21-4A1E-BAC5-D38FC94CAF8E}"/>
              </a:ext>
            </a:extLst>
          </p:cNvPr>
          <p:cNvSpPr>
            <a:spLocks xmlns:a="http://schemas.openxmlformats.org/drawingml/2006/main" noGrp="1"/>
          </p:cNvSpPr>
          <p:nvPr/>
        </p:nvSpPr>
        <p:spPr>
          <a:xfrm xmlns:a="http://schemas.openxmlformats.org/drawingml/2006/main">
            <a:off x="3593592"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2" name="Google Shape;107;p6"/>
          <p:cNvPicPr>
            <a:picLocks xmlns:a="http://schemas.openxmlformats.org/drawingml/2006/main" noChangeAspect="1"/>
          </p:cNvPicPr>
          <p:nvPr/>
        </p:nvPicPr>
        <p:blipFill rotWithShape="1">
          <a:blip xmlns:r="http://schemas.openxmlformats.org/officeDocument/2006/relationships" xmlns:a="http://schemas.openxmlformats.org/drawingml/2006/main" r:embed="R9d98124ba0524fb9">
            <a:alphaModFix/>
          </a:blip>
          <a:srcRect xmlns:a="http://schemas.openxmlformats.org/drawingml/2006/main" l="0" t="0" r="0" b="0"/>
          <a:stretch xmlns:a="http://schemas.openxmlformats.org/drawingml/2006/main"/>
        </p:blipFill>
        <p:spPr>
          <a:xfrm xmlns:a="http://schemas.openxmlformats.org/drawingml/2006/main">
            <a:off x="3712464" y="2331720"/>
            <a:ext cx="219456" cy="219456"/>
          </a:xfrm>
          <a:prstGeom xmlns:a="http://schemas.openxmlformats.org/drawingml/2006/main" prst="rect">
            <a:avLst/>
          </a:prstGeom>
          <a:ln xmlns:a="http://schemas.openxmlformats.org/drawingml/2006/main">
            <a:noFill/>
          </a:ln>
        </p:spPr>
      </p:pic>
      <p:sp>
        <p:nvSpPr>
          <p:cNvPr id="108" name="Google Shape;108;p6">
            <a:extLst xmlns:a="http://schemas.openxmlformats.org/drawingml/2006/main">
              <a:ext uri="{FF2B5EF4-FFF2-40B4-BE49-F238E27FC236}">
                <a16:creationId xmlns:a16="http://schemas.microsoft.com/office/drawing/2014/main" id="{D94D8FC0-69AE-44E1-9D58-6DE6FF8D0264}"/>
              </a:ext>
            </a:extLst>
          </p:cNvPr>
          <p:cNvSpPr>
            <a:spLocks xmlns:a="http://schemas.openxmlformats.org/drawingml/2006/main" noGrp="1"/>
          </p:cNvSpPr>
          <p:nvPr/>
        </p:nvSpPr>
        <p:spPr>
          <a:xfrm xmlns:a="http://schemas.openxmlformats.org/drawingml/2006/main">
            <a:off x="3593592"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Wealth motive</a:t>
            </a:r>
          </a:p>
        </p:txBody>
      </p:sp>
      <p:sp>
        <p:nvSpPr>
          <p:cNvPr id="109" name="Google Shape;109;p6">
            <a:extLst xmlns:a="http://schemas.openxmlformats.org/drawingml/2006/main">
              <a:ext uri="{FF2B5EF4-FFF2-40B4-BE49-F238E27FC236}">
                <a16:creationId xmlns:a16="http://schemas.microsoft.com/office/drawing/2014/main" id="{B8609BF1-AD34-4D40-9A8A-24A8BC3D1E84}"/>
              </a:ext>
            </a:extLst>
          </p:cNvPr>
          <p:cNvSpPr>
            <a:spLocks xmlns:a="http://schemas.openxmlformats.org/drawingml/2006/main" noGrp="1"/>
          </p:cNvSpPr>
          <p:nvPr/>
        </p:nvSpPr>
        <p:spPr>
          <a:xfrm xmlns:a="http://schemas.openxmlformats.org/drawingml/2006/main">
            <a:off x="3593592"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Vitteshana: wealth acquired with justice for right use, family sufficiency, and prosperity.</a:t>
            </a:r>
          </a:p>
        </p:txBody>
      </p:sp>
      <p:sp>
        <p:nvSpPr>
          <p:cNvPr id="110" name="Google Shape;110;p6">
            <a:extLst xmlns:a="http://schemas.openxmlformats.org/drawingml/2006/main">
              <a:ext uri="{FF2B5EF4-FFF2-40B4-BE49-F238E27FC236}">
                <a16:creationId xmlns:a16="http://schemas.microsoft.com/office/drawing/2014/main" id="{897E6910-9F9B-41AB-900E-EC71D5726F41}"/>
              </a:ext>
            </a:extLst>
          </p:cNvPr>
          <p:cNvSpPr>
            <a:spLocks xmlns:a="http://schemas.openxmlformats.org/drawingml/2006/main" noGrp="1"/>
          </p:cNvSpPr>
          <p:nvPr/>
        </p:nvSpPr>
        <p:spPr>
          <a:xfrm xmlns:a="http://schemas.openxmlformats.org/drawingml/2006/main">
            <a:off x="6144768"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11" name="Google Shape;111;p6">
            <a:extLst xmlns:a="http://schemas.openxmlformats.org/drawingml/2006/main">
              <a:ext uri="{FF2B5EF4-FFF2-40B4-BE49-F238E27FC236}">
                <a16:creationId xmlns:a16="http://schemas.microsoft.com/office/drawing/2014/main" id="{E67C106F-BE83-49E5-B07F-FBF8361D1E0D}"/>
              </a:ext>
            </a:extLst>
          </p:cNvPr>
          <p:cNvSpPr>
            <a:spLocks xmlns:a="http://schemas.openxmlformats.org/drawingml/2006/main" noGrp="1"/>
          </p:cNvSpPr>
          <p:nvPr/>
        </p:nvSpPr>
        <p:spPr>
          <a:xfrm xmlns:a="http://schemas.openxmlformats.org/drawingml/2006/main">
            <a:off x="6345936"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7" name="Google Shape;112;p6"/>
          <p:cNvPicPr>
            <a:picLocks xmlns:a="http://schemas.openxmlformats.org/drawingml/2006/main" noChangeAspect="1"/>
          </p:cNvPicPr>
          <p:nvPr/>
        </p:nvPicPr>
        <p:blipFill rotWithShape="1">
          <a:blip xmlns:r="http://schemas.openxmlformats.org/officeDocument/2006/relationships" xmlns:a="http://schemas.openxmlformats.org/drawingml/2006/main" r:embed="R825069425e4148d2">
            <a:alphaModFix/>
          </a:blip>
          <a:srcRect xmlns:a="http://schemas.openxmlformats.org/drawingml/2006/main" l="0" t="0" r="0" b="0"/>
          <a:stretch xmlns:a="http://schemas.openxmlformats.org/drawingml/2006/main"/>
        </p:blipFill>
        <p:spPr>
          <a:xfrm xmlns:a="http://schemas.openxmlformats.org/drawingml/2006/main">
            <a:off x="6464808" y="2331720"/>
            <a:ext cx="219456" cy="219456"/>
          </a:xfrm>
          <a:prstGeom xmlns:a="http://schemas.openxmlformats.org/drawingml/2006/main" prst="rect">
            <a:avLst/>
          </a:prstGeom>
          <a:ln xmlns:a="http://schemas.openxmlformats.org/drawingml/2006/main">
            <a:noFill/>
          </a:ln>
        </p:spPr>
      </p:pic>
      <p:sp>
        <p:nvSpPr>
          <p:cNvPr id="113" name="Google Shape;113;p6">
            <a:extLst xmlns:a="http://schemas.openxmlformats.org/drawingml/2006/main">
              <a:ext uri="{FF2B5EF4-FFF2-40B4-BE49-F238E27FC236}">
                <a16:creationId xmlns:a16="http://schemas.microsoft.com/office/drawing/2014/main" id="{7C0E46DA-89DB-4129-A5C8-58FA26CE9D20}"/>
              </a:ext>
            </a:extLst>
          </p:cNvPr>
          <p:cNvSpPr>
            <a:spLocks xmlns:a="http://schemas.openxmlformats.org/drawingml/2006/main" noGrp="1"/>
          </p:cNvSpPr>
          <p:nvPr/>
        </p:nvSpPr>
        <p:spPr>
          <a:xfrm xmlns:a="http://schemas.openxmlformats.org/drawingml/2006/main">
            <a:off x="6345936"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Reputation motive</a:t>
            </a:r>
          </a:p>
        </p:txBody>
      </p:sp>
      <p:sp>
        <p:nvSpPr>
          <p:cNvPr id="114" name="Google Shape;114;p6">
            <a:extLst xmlns:a="http://schemas.openxmlformats.org/drawingml/2006/main">
              <a:ext uri="{FF2B5EF4-FFF2-40B4-BE49-F238E27FC236}">
                <a16:creationId xmlns:a16="http://schemas.microsoft.com/office/drawing/2014/main" id="{120B2FB7-86A5-48D0-85A7-8E8241896571}"/>
              </a:ext>
            </a:extLst>
          </p:cNvPr>
          <p:cNvSpPr>
            <a:spLocks xmlns:a="http://schemas.openxmlformats.org/drawingml/2006/main" noGrp="1"/>
          </p:cNvSpPr>
          <p:nvPr/>
        </p:nvSpPr>
        <p:spPr>
          <a:xfrm xmlns:a="http://schemas.openxmlformats.org/drawingml/2006/main">
            <a:off x="6345936"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Lokeshana: recognition through justice, dharma, and contribution to undivided society.</a:t>
            </a:r>
          </a:p>
        </p:txBody>
      </p:sp>
      <p:sp>
        <p:nvSpPr>
          <p:cNvPr id="115" name="Google Shape;115;p6">
            <a:extLst xmlns:a="http://schemas.openxmlformats.org/drawingml/2006/main">
              <a:ext uri="{FF2B5EF4-FFF2-40B4-BE49-F238E27FC236}">
                <a16:creationId xmlns:a16="http://schemas.microsoft.com/office/drawing/2014/main" id="{3FFA5695-FD1E-4119-B4FC-199120FA7B5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64–65  ·  AnalyticMadhyasthDarshan.org  ·  22 / 36</a:t>
            </a:r>
          </a:p>
        </p:txBody>
      </p:sp>
    </p:spTree>
    <p:extLst>
      <p:ext uri="{BB962C8B-B14F-4D97-AF65-F5344CB8AC3E}">
        <p14:creationId xmlns:p14="http://schemas.microsoft.com/office/powerpoint/2010/main" val="146621908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1FDF55EE-1DFC-4864-BBCF-6889CF1EF2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5AD84244-4940-47B0-823B-B7C36ED1B0F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11218A88-AD24-47F4-AA7E-CEDB55B3606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920138EF-D763-4448-A961-8DCEAD2BB11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§1.4 · UPAKAR</a:t>
            </a:r>
          </a:p>
        </p:txBody>
      </p:sp>
      <p:sp>
        <p:nvSpPr>
          <p:cNvPr id="125" name="Google Shape;125;p7">
            <a:extLst xmlns:a="http://schemas.openxmlformats.org/drawingml/2006/main">
              <a:ext uri="{FF2B5EF4-FFF2-40B4-BE49-F238E27FC236}">
                <a16:creationId xmlns:a16="http://schemas.microsoft.com/office/drawing/2014/main" id="{B29B9366-7866-413D-82A0-241730EBC63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Beneficence Must Increase Capability</a:t>
            </a:r>
          </a:p>
        </p:txBody>
      </p:sp>
      <p:sp>
        <p:nvSpPr>
          <p:cNvPr id="126" name="Google Shape;126;p7">
            <a:extLst xmlns:a="http://schemas.openxmlformats.org/drawingml/2006/main">
              <a:ext uri="{FF2B5EF4-FFF2-40B4-BE49-F238E27FC236}">
                <a16:creationId xmlns:a16="http://schemas.microsoft.com/office/drawing/2014/main" id="{7D7417D2-2684-43CB-8AFE-F91CDBDC0F85}"/>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EE33F6BF-95C0-4816-A54C-B6B00AF45E1B}"/>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B6E3019C-45D3-4ED1-A9D2-55D72A50880D}"/>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EE1719B3-E68F-4D01-A60C-336CB2754F8D}"/>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A70DDF07-767E-4CA7-8197-976F5965AFE8}"/>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Help and inspiration</a:t>
            </a:r>
          </a:p>
        </p:txBody>
      </p:sp>
      <p:sp>
        <p:nvSpPr>
          <p:cNvPr id="131" name="Google Shape;131;p7">
            <a:extLst xmlns:a="http://schemas.openxmlformats.org/drawingml/2006/main">
              <a:ext uri="{FF2B5EF4-FFF2-40B4-BE49-F238E27FC236}">
                <a16:creationId xmlns:a16="http://schemas.microsoft.com/office/drawing/2014/main" id="{6BEFCC17-F959-4C0D-898B-ADDA648A1126}"/>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MVD defines upakar as help and inspiration for another's prosperity and awakening.</a:t>
            </a:r>
          </a:p>
        </p:txBody>
      </p:sp>
      <p:sp>
        <p:nvSpPr>
          <p:cNvPr id="132" name="Google Shape;132;p7">
            <a:extLst xmlns:a="http://schemas.openxmlformats.org/drawingml/2006/main">
              <a:ext uri="{FF2B5EF4-FFF2-40B4-BE49-F238E27FC236}">
                <a16:creationId xmlns:a16="http://schemas.microsoft.com/office/drawing/2014/main" id="{2B1D4DE1-906E-43B6-A1AC-A7EA7B235BDE}"/>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1A555193-C105-42C6-B81B-78A780152943}"/>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3A08FC77-38FD-4F53-9FDA-4E24295DFCF2}"/>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D06E458B-173D-440A-9C47-D542B10D793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2E165D08-90C3-4000-8857-A8714F7BC41F}"/>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A higher-human activity</a:t>
            </a:r>
          </a:p>
        </p:txBody>
      </p:sp>
      <p:sp>
        <p:nvSpPr>
          <p:cNvPr id="137" name="Google Shape;137;p7">
            <a:extLst xmlns:a="http://schemas.openxmlformats.org/drawingml/2006/main">
              <a:ext uri="{FF2B5EF4-FFF2-40B4-BE49-F238E27FC236}">
                <a16:creationId xmlns:a16="http://schemas.microsoft.com/office/drawing/2014/main" id="{81243F9D-4F30-4A59-8606-FA47AD846C3A}"/>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Upakar expresses beneficence beyond the bodily propensities and three eshanas.</a:t>
            </a:r>
          </a:p>
        </p:txBody>
      </p:sp>
      <p:sp>
        <p:nvSpPr>
          <p:cNvPr id="138" name="Google Shape;138;p7">
            <a:extLst xmlns:a="http://schemas.openxmlformats.org/drawingml/2006/main">
              <a:ext uri="{FF2B5EF4-FFF2-40B4-BE49-F238E27FC236}">
                <a16:creationId xmlns:a16="http://schemas.microsoft.com/office/drawing/2014/main" id="{C24F03F3-13B7-4DA6-B82A-6FFEF115DCC6}"/>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7E860388-B17F-4D86-B9E1-F64D831A85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2DCD6C6B-CF46-4530-A4E5-F7FEC5439D14}"/>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0D2E6CD2-706E-4D67-92AD-87B6DF703565}"/>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72284CF3-2391-448B-BA27-7D7834BE2558}"/>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Sharing developed capability</a:t>
            </a:r>
          </a:p>
        </p:txBody>
      </p:sp>
      <p:sp>
        <p:nvSpPr>
          <p:cNvPr id="143" name="Google Shape;143;p7">
            <a:extLst xmlns:a="http://schemas.openxmlformats.org/drawingml/2006/main">
              <a:ext uri="{FF2B5EF4-FFF2-40B4-BE49-F238E27FC236}">
                <a16:creationId xmlns:a16="http://schemas.microsoft.com/office/drawing/2014/main" id="{88B4D163-A60F-4D71-A21A-FF9D668635D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A person shares understanding and practical ability to support another’s prosperity and awakening.</a:t>
            </a:r>
          </a:p>
        </p:txBody>
      </p:sp>
      <p:sp>
        <p:nvSpPr>
          <p:cNvPr id="144" name="Google Shape;144;p7">
            <a:extLst xmlns:a="http://schemas.openxmlformats.org/drawingml/2006/main">
              <a:ext uri="{FF2B5EF4-FFF2-40B4-BE49-F238E27FC236}">
                <a16:creationId xmlns:a16="http://schemas.microsoft.com/office/drawing/2014/main" id="{35D606E5-7371-49D6-8AFE-E2CD65E2D258}"/>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60ED207F-363E-479B-A217-044586C34A06}"/>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F59040DB-FE8E-4768-B34F-7171056FB64B}"/>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2D39A687-7B45-4546-8894-6BDA52A70DF4}"/>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40CC8AF1-DE82-4E58-8C0C-0A05484D7F0A}"/>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The test</a:t>
            </a:r>
          </a:p>
        </p:txBody>
      </p:sp>
      <p:sp>
        <p:nvSpPr>
          <p:cNvPr id="149" name="Google Shape;149;p7">
            <a:extLst xmlns:a="http://schemas.openxmlformats.org/drawingml/2006/main">
              <a:ext uri="{FF2B5EF4-FFF2-40B4-BE49-F238E27FC236}">
                <a16:creationId xmlns:a16="http://schemas.microsoft.com/office/drawing/2014/main" id="{43CACCDB-C99D-4605-856E-E37BB61C6E30}"/>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Help must increase the other's capability and preserve mutuality between both participants.</a:t>
            </a:r>
          </a:p>
        </p:txBody>
      </p:sp>
      <p:sp>
        <p:nvSpPr>
          <p:cNvPr id="150" name="Google Shape;150;p7">
            <a:extLst xmlns:a="http://schemas.openxmlformats.org/drawingml/2006/main">
              <a:ext uri="{FF2B5EF4-FFF2-40B4-BE49-F238E27FC236}">
                <a16:creationId xmlns:a16="http://schemas.microsoft.com/office/drawing/2014/main" id="{C900555A-CF8C-4582-8C80-52AF84F08F63}"/>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2117AB49-652B-42CE-AF52-B10AE62D38EC}"/>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The aim is to strengthen the other person’s ability to understand and participate.</a:t>
            </a:r>
          </a:p>
        </p:txBody>
      </p:sp>
      <p:sp>
        <p:nvSpPr>
          <p:cNvPr id="152" name="Google Shape;152;p7">
            <a:extLst xmlns:a="http://schemas.openxmlformats.org/drawingml/2006/main">
              <a:ext uri="{FF2B5EF4-FFF2-40B4-BE49-F238E27FC236}">
                <a16:creationId xmlns:a16="http://schemas.microsoft.com/office/drawing/2014/main" id="{C8AB52DC-457F-4AED-9264-440E84A6C23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Upakar is one part of the evidence chain, not the sole proof of knowledge.  ·  MVD p. 73  ·  AnalyticMadhyasthDarshan.org  ·  23 / 36</a:t>
            </a:r>
          </a:p>
        </p:txBody>
      </p:sp>
    </p:spTree>
    <p:extLst>
      <p:ext uri="{BB962C8B-B14F-4D97-AF65-F5344CB8AC3E}">
        <p14:creationId xmlns:p14="http://schemas.microsoft.com/office/powerpoint/2010/main" val="97238234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3B402E-185B-4C4D-A4E6-72A03529B78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F3D08866-7E78-40FF-A350-E3B8685BC5B5}"/>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49647318-3FE3-4554-B311-76A3824F44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60EB398F-2D64-4689-80C8-FFAD943A9DF8}"/>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§1.4 · SIX EVALUATIVE PERSPECTIVES</a:t>
            </a:r>
          </a:p>
        </p:txBody>
      </p:sp>
      <p:sp>
        <p:nvSpPr>
          <p:cNvPr id="39" name="Google Shape;39;p4">
            <a:extLst xmlns:a="http://schemas.openxmlformats.org/drawingml/2006/main">
              <a:ext uri="{FF2B5EF4-FFF2-40B4-BE49-F238E27FC236}">
                <a16:creationId xmlns:a16="http://schemas.microsoft.com/office/drawing/2014/main" id="{2C1BECA4-232C-44E0-ADD0-ED7D91B92711}"/>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Six Perspectives on a Shared Meal</a:t>
            </a:r>
          </a:p>
        </p:txBody>
      </p:sp>
      <p:sp>
        <p:nvSpPr>
          <p:cNvPr id="40" name="Google Shape;40;p4">
            <a:extLst xmlns:a="http://schemas.openxmlformats.org/drawingml/2006/main">
              <a:ext uri="{FF2B5EF4-FFF2-40B4-BE49-F238E27FC236}">
                <a16:creationId xmlns:a16="http://schemas.microsoft.com/office/drawing/2014/main" id="{4960A84B-3100-434B-B8D0-2A9D70A48B93}"/>
              </a:ext>
            </a:extLst>
          </p:cNvPr>
          <p:cNvSpPr>
            <a:spLocks xmlns:a="http://schemas.openxmlformats.org/drawingml/2006/main" noGrp="1"/>
          </p:cNvSpPr>
          <p:nvPr/>
        </p:nvSpPr>
        <p:spPr>
          <a:xfrm xmlns:a="http://schemas.openxmlformats.org/drawingml/2006/main">
            <a:off x="640080" y="122529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1" name="Google Shape;41;p4"/>
          <p:cNvPicPr>
            <a:picLocks xmlns:a="http://schemas.openxmlformats.org/drawingml/2006/main" noChangeAspect="1"/>
          </p:cNvPicPr>
          <p:nvPr/>
        </p:nvPicPr>
        <p:blipFill rotWithShape="1">
          <a:blip xmlns:r="http://schemas.openxmlformats.org/officeDocument/2006/relationships" xmlns:a="http://schemas.openxmlformats.org/drawingml/2006/main" r:embed="Rcba2847d71314a27">
            <a:alphaModFix/>
          </a:blip>
          <a:srcRect xmlns:a="http://schemas.openxmlformats.org/drawingml/2006/main" l="0" t="0" r="0" b="0"/>
          <a:stretch xmlns:a="http://schemas.openxmlformats.org/drawingml/2006/main"/>
        </p:blipFill>
        <p:spPr>
          <a:xfrm xmlns:a="http://schemas.openxmlformats.org/drawingml/2006/main">
            <a:off x="735178" y="1320394"/>
            <a:ext cx="175565" cy="175565"/>
          </a:xfrm>
          <a:prstGeom xmlns:a="http://schemas.openxmlformats.org/drawingml/2006/main" prst="rect">
            <a:avLst/>
          </a:prstGeom>
          <a:ln xmlns:a="http://schemas.openxmlformats.org/drawingml/2006/main">
            <a:noFill/>
          </a:ln>
        </p:spPr>
      </p:pic>
      <p:sp>
        <p:nvSpPr>
          <p:cNvPr id="42" name="Google Shape;42;p4">
            <a:extLst xmlns:a="http://schemas.openxmlformats.org/drawingml/2006/main">
              <a:ext uri="{FF2B5EF4-FFF2-40B4-BE49-F238E27FC236}">
                <a16:creationId xmlns:a16="http://schemas.microsoft.com/office/drawing/2014/main" id="{C5183355-C64A-436B-9092-2356796F7CCA}"/>
              </a:ext>
            </a:extLst>
          </p:cNvPr>
          <p:cNvSpPr>
            <a:spLocks xmlns:a="http://schemas.openxmlformats.org/drawingml/2006/main" noGrp="1"/>
          </p:cNvSpPr>
          <p:nvPr/>
        </p:nvSpPr>
        <p:spPr>
          <a:xfrm xmlns:a="http://schemas.openxmlformats.org/drawingml/2006/main">
            <a:off x="1188720" y="118872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Priya–apriya: Will the family enjoy the meal?</a:t>
            </a:r>
          </a:p>
        </p:txBody>
      </p:sp>
      <p:sp>
        <p:nvSpPr>
          <p:cNvPr id="43" name="Google Shape;43;p4">
            <a:extLst xmlns:a="http://schemas.openxmlformats.org/drawingml/2006/main">
              <a:ext uri="{FF2B5EF4-FFF2-40B4-BE49-F238E27FC236}">
                <a16:creationId xmlns:a16="http://schemas.microsoft.com/office/drawing/2014/main" id="{A1DDA8B7-E5B2-41B4-A0A6-6CA140FF2382}"/>
              </a:ext>
            </a:extLst>
          </p:cNvPr>
          <p:cNvSpPr>
            <a:spLocks xmlns:a="http://schemas.openxmlformats.org/drawingml/2006/main" noGrp="1"/>
          </p:cNvSpPr>
          <p:nvPr/>
        </p:nvSpPr>
        <p:spPr>
          <a:xfrm xmlns:a="http://schemas.openxmlformats.org/drawingml/2006/main">
            <a:off x="640080" y="1792224"/>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4" name="Google Shape;44;p4"/>
          <p:cNvPicPr>
            <a:picLocks xmlns:a="http://schemas.openxmlformats.org/drawingml/2006/main" noChangeAspect="1"/>
          </p:cNvPicPr>
          <p:nvPr/>
        </p:nvPicPr>
        <p:blipFill rotWithShape="1">
          <a:blip xmlns:r="http://schemas.openxmlformats.org/officeDocument/2006/relationships" xmlns:a="http://schemas.openxmlformats.org/drawingml/2006/main" r:embed="Rcba2847d71314a27">
            <a:alphaModFix/>
          </a:blip>
          <a:srcRect xmlns:a="http://schemas.openxmlformats.org/drawingml/2006/main" l="0" t="0" r="0" b="0"/>
          <a:stretch xmlns:a="http://schemas.openxmlformats.org/drawingml/2006/main"/>
        </p:blipFill>
        <p:spPr>
          <a:xfrm xmlns:a="http://schemas.openxmlformats.org/drawingml/2006/main">
            <a:off x="735178" y="1887322"/>
            <a:ext cx="175565" cy="175565"/>
          </a:xfrm>
          <a:prstGeom xmlns:a="http://schemas.openxmlformats.org/drawingml/2006/main" prst="rect">
            <a:avLst/>
          </a:prstGeom>
          <a:ln xmlns:a="http://schemas.openxmlformats.org/drawingml/2006/main">
            <a:noFill/>
          </a:ln>
        </p:spPr>
      </p:pic>
      <p:sp>
        <p:nvSpPr>
          <p:cNvPr id="45" name="Google Shape;45;p4">
            <a:extLst xmlns:a="http://schemas.openxmlformats.org/drawingml/2006/main">
              <a:ext uri="{FF2B5EF4-FFF2-40B4-BE49-F238E27FC236}">
                <a16:creationId xmlns:a16="http://schemas.microsoft.com/office/drawing/2014/main" id="{B75C9CE6-CD3C-43FD-83E0-886C1478F0BA}"/>
              </a:ext>
            </a:extLst>
          </p:cNvPr>
          <p:cNvSpPr>
            <a:spLocks xmlns:a="http://schemas.openxmlformats.org/drawingml/2006/main" noGrp="1"/>
          </p:cNvSpPr>
          <p:nvPr/>
        </p:nvSpPr>
        <p:spPr>
          <a:xfrm xmlns:a="http://schemas.openxmlformats.org/drawingml/2006/main">
            <a:off x="1188720" y="1755648"/>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Hita–ahita: Does it meet each person’s bodily needs?</a:t>
            </a:r>
          </a:p>
        </p:txBody>
      </p:sp>
      <p:sp>
        <p:nvSpPr>
          <p:cNvPr id="46" name="Google Shape;46;p4">
            <a:extLst xmlns:a="http://schemas.openxmlformats.org/drawingml/2006/main">
              <a:ext uri="{FF2B5EF4-FFF2-40B4-BE49-F238E27FC236}">
                <a16:creationId xmlns:a16="http://schemas.microsoft.com/office/drawing/2014/main" id="{EDD1C9F9-79A8-4EDE-B88A-91BA496FCFD1}"/>
              </a:ext>
            </a:extLst>
          </p:cNvPr>
          <p:cNvSpPr>
            <a:spLocks xmlns:a="http://schemas.openxmlformats.org/drawingml/2006/main" noGrp="1"/>
          </p:cNvSpPr>
          <p:nvPr/>
        </p:nvSpPr>
        <p:spPr>
          <a:xfrm xmlns:a="http://schemas.openxmlformats.org/drawingml/2006/main">
            <a:off x="640080" y="2359152"/>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7" name="Google Shape;47;p4"/>
          <p:cNvPicPr>
            <a:picLocks xmlns:a="http://schemas.openxmlformats.org/drawingml/2006/main" noChangeAspect="1"/>
          </p:cNvPicPr>
          <p:nvPr/>
        </p:nvPicPr>
        <p:blipFill rotWithShape="1">
          <a:blip xmlns:r="http://schemas.openxmlformats.org/officeDocument/2006/relationships" xmlns:a="http://schemas.openxmlformats.org/drawingml/2006/main" r:embed="Rcba2847d71314a27">
            <a:alphaModFix/>
          </a:blip>
          <a:srcRect xmlns:a="http://schemas.openxmlformats.org/drawingml/2006/main" l="0" t="0" r="0" b="0"/>
          <a:stretch xmlns:a="http://schemas.openxmlformats.org/drawingml/2006/main"/>
        </p:blipFill>
        <p:spPr>
          <a:xfrm xmlns:a="http://schemas.openxmlformats.org/drawingml/2006/main">
            <a:off x="735178" y="2454250"/>
            <a:ext cx="175565" cy="175565"/>
          </a:xfrm>
          <a:prstGeom xmlns:a="http://schemas.openxmlformats.org/drawingml/2006/main" prst="rect">
            <a:avLst/>
          </a:prstGeom>
          <a:ln xmlns:a="http://schemas.openxmlformats.org/drawingml/2006/main">
            <a:noFill/>
          </a:ln>
        </p:spPr>
      </p:pic>
      <p:sp>
        <p:nvSpPr>
          <p:cNvPr id="48" name="Google Shape;48;p4">
            <a:extLst xmlns:a="http://schemas.openxmlformats.org/drawingml/2006/main">
              <a:ext uri="{FF2B5EF4-FFF2-40B4-BE49-F238E27FC236}">
                <a16:creationId xmlns:a16="http://schemas.microsoft.com/office/drawing/2014/main" id="{96389C9D-9FE0-4778-A3DB-FE60F90117C6}"/>
              </a:ext>
            </a:extLst>
          </p:cNvPr>
          <p:cNvSpPr>
            <a:spLocks xmlns:a="http://schemas.openxmlformats.org/drawingml/2006/main" noGrp="1"/>
          </p:cNvSpPr>
          <p:nvPr/>
        </p:nvSpPr>
        <p:spPr>
          <a:xfrm xmlns:a="http://schemas.openxmlformats.org/drawingml/2006/main">
            <a:off x="1188720" y="2322576"/>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Labha–alabha: Are the cost and use of food sensible?</a:t>
            </a:r>
          </a:p>
        </p:txBody>
      </p:sp>
      <p:sp>
        <p:nvSpPr>
          <p:cNvPr id="49" name="Google Shape;49;p4">
            <a:extLst xmlns:a="http://schemas.openxmlformats.org/drawingml/2006/main">
              <a:ext uri="{FF2B5EF4-FFF2-40B4-BE49-F238E27FC236}">
                <a16:creationId xmlns:a16="http://schemas.microsoft.com/office/drawing/2014/main" id="{8E5D7A1C-B4D5-4C25-AEC3-0809D732B6EE}"/>
              </a:ext>
            </a:extLst>
          </p:cNvPr>
          <p:cNvSpPr>
            <a:spLocks xmlns:a="http://schemas.openxmlformats.org/drawingml/2006/main" noGrp="1"/>
          </p:cNvSpPr>
          <p:nvPr/>
        </p:nvSpPr>
        <p:spPr>
          <a:xfrm xmlns:a="http://schemas.openxmlformats.org/drawingml/2006/main">
            <a:off x="640080" y="292608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0" name="Google Shape;50;p4"/>
          <p:cNvPicPr>
            <a:picLocks xmlns:a="http://schemas.openxmlformats.org/drawingml/2006/main" noChangeAspect="1"/>
          </p:cNvPicPr>
          <p:nvPr/>
        </p:nvPicPr>
        <p:blipFill rotWithShape="1">
          <a:blip xmlns:r="http://schemas.openxmlformats.org/officeDocument/2006/relationships" xmlns:a="http://schemas.openxmlformats.org/drawingml/2006/main" r:embed="Rcba2847d71314a27">
            <a:alphaModFix/>
          </a:blip>
          <a:srcRect xmlns:a="http://schemas.openxmlformats.org/drawingml/2006/main" l="0" t="0" r="0" b="0"/>
          <a:stretch xmlns:a="http://schemas.openxmlformats.org/drawingml/2006/main"/>
        </p:blipFill>
        <p:spPr>
          <a:xfrm xmlns:a="http://schemas.openxmlformats.org/drawingml/2006/main">
            <a:off x="735178" y="3021178"/>
            <a:ext cx="175565" cy="175565"/>
          </a:xfrm>
          <a:prstGeom xmlns:a="http://schemas.openxmlformats.org/drawingml/2006/main" prst="rect">
            <a:avLst/>
          </a:prstGeom>
          <a:ln xmlns:a="http://schemas.openxmlformats.org/drawingml/2006/main">
            <a:noFill/>
          </a:ln>
        </p:spPr>
      </p:pic>
      <p:sp>
        <p:nvSpPr>
          <p:cNvPr id="51" name="Google Shape;51;p4">
            <a:extLst xmlns:a="http://schemas.openxmlformats.org/drawingml/2006/main">
              <a:ext uri="{FF2B5EF4-FFF2-40B4-BE49-F238E27FC236}">
                <a16:creationId xmlns:a16="http://schemas.microsoft.com/office/drawing/2014/main" id="{B1591BAD-E6A7-457C-A811-88AF0B5BA2D9}"/>
              </a:ext>
            </a:extLst>
          </p:cNvPr>
          <p:cNvSpPr>
            <a:spLocks xmlns:a="http://schemas.openxmlformats.org/drawingml/2006/main" noGrp="1"/>
          </p:cNvSpPr>
          <p:nvPr/>
        </p:nvSpPr>
        <p:spPr>
          <a:xfrm xmlns:a="http://schemas.openxmlformats.org/drawingml/2006/main">
            <a:off x="1188720" y="2889504"/>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Nyaya–anyaya: Have everyone’s needs and shared work been considered?</a:t>
            </a:r>
          </a:p>
        </p:txBody>
      </p:sp>
      <p:sp>
        <p:nvSpPr>
          <p:cNvPr id="52" name="Google Shape;52;p4">
            <a:extLst xmlns:a="http://schemas.openxmlformats.org/drawingml/2006/main">
              <a:ext uri="{FF2B5EF4-FFF2-40B4-BE49-F238E27FC236}">
                <a16:creationId xmlns:a16="http://schemas.microsoft.com/office/drawing/2014/main" id="{FAC8FF81-4EF9-4BA4-B8E6-1B994F766A13}"/>
              </a:ext>
            </a:extLst>
          </p:cNvPr>
          <p:cNvSpPr>
            <a:spLocks xmlns:a="http://schemas.openxmlformats.org/drawingml/2006/main" noGrp="1"/>
          </p:cNvSpPr>
          <p:nvPr/>
        </p:nvSpPr>
        <p:spPr>
          <a:xfrm xmlns:a="http://schemas.openxmlformats.org/drawingml/2006/main">
            <a:off x="640080" y="3493008"/>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3" name="Google Shape;53;p4"/>
          <p:cNvPicPr>
            <a:picLocks xmlns:a="http://schemas.openxmlformats.org/drawingml/2006/main" noChangeAspect="1"/>
          </p:cNvPicPr>
          <p:nvPr/>
        </p:nvPicPr>
        <p:blipFill rotWithShape="1">
          <a:blip xmlns:r="http://schemas.openxmlformats.org/officeDocument/2006/relationships" xmlns:a="http://schemas.openxmlformats.org/drawingml/2006/main" r:embed="Rcba2847d71314a27">
            <a:alphaModFix/>
          </a:blip>
          <a:srcRect xmlns:a="http://schemas.openxmlformats.org/drawingml/2006/main" l="0" t="0" r="0" b="0"/>
          <a:stretch xmlns:a="http://schemas.openxmlformats.org/drawingml/2006/main"/>
        </p:blipFill>
        <p:spPr>
          <a:xfrm xmlns:a="http://schemas.openxmlformats.org/drawingml/2006/main">
            <a:off x="735178" y="3588106"/>
            <a:ext cx="175565" cy="175565"/>
          </a:xfrm>
          <a:prstGeom xmlns:a="http://schemas.openxmlformats.org/drawingml/2006/main" prst="rect">
            <a:avLst/>
          </a:prstGeom>
          <a:ln xmlns:a="http://schemas.openxmlformats.org/drawingml/2006/main">
            <a:noFill/>
          </a:ln>
        </p:spPr>
      </p:pic>
      <p:sp>
        <p:nvSpPr>
          <p:cNvPr id="54" name="Google Shape;54;p4">
            <a:extLst xmlns:a="http://schemas.openxmlformats.org/drawingml/2006/main">
              <a:ext uri="{FF2B5EF4-FFF2-40B4-BE49-F238E27FC236}">
                <a16:creationId xmlns:a16="http://schemas.microsoft.com/office/drawing/2014/main" id="{88A8438F-C330-4A48-9673-52C9074A68EC}"/>
              </a:ext>
            </a:extLst>
          </p:cNvPr>
          <p:cNvSpPr>
            <a:spLocks xmlns:a="http://schemas.openxmlformats.org/drawingml/2006/main" noGrp="1"/>
          </p:cNvSpPr>
          <p:nvPr/>
        </p:nvSpPr>
        <p:spPr>
          <a:xfrm xmlns:a="http://schemas.openxmlformats.org/drawingml/2006/main">
            <a:off x="1188720" y="3456432"/>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Dharma–adharma: Does the plan support resolution and orderly living?</a:t>
            </a:r>
          </a:p>
        </p:txBody>
      </p:sp>
      <p:sp>
        <p:nvSpPr>
          <p:cNvPr id="55" name="Google Shape;55;p4">
            <a:extLst xmlns:a="http://schemas.openxmlformats.org/drawingml/2006/main">
              <a:ext uri="{FF2B5EF4-FFF2-40B4-BE49-F238E27FC236}">
                <a16:creationId xmlns:a16="http://schemas.microsoft.com/office/drawing/2014/main" id="{8CF393A7-5751-428A-9C15-0EBA54A20BF2}"/>
              </a:ext>
            </a:extLst>
          </p:cNvPr>
          <p:cNvSpPr>
            <a:spLocks xmlns:a="http://schemas.openxmlformats.org/drawingml/2006/main" noGrp="1"/>
          </p:cNvSpPr>
          <p:nvPr/>
        </p:nvSpPr>
        <p:spPr>
          <a:xfrm xmlns:a="http://schemas.openxmlformats.org/drawingml/2006/main">
            <a:off x="640080" y="405993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6" name="Google Shape;56;p4"/>
          <p:cNvPicPr>
            <a:picLocks xmlns:a="http://schemas.openxmlformats.org/drawingml/2006/main" noChangeAspect="1"/>
          </p:cNvPicPr>
          <p:nvPr/>
        </p:nvPicPr>
        <p:blipFill rotWithShape="1">
          <a:blip xmlns:r="http://schemas.openxmlformats.org/officeDocument/2006/relationships" xmlns:a="http://schemas.openxmlformats.org/drawingml/2006/main" r:embed="Rcba2847d71314a27">
            <a:alphaModFix/>
          </a:blip>
          <a:srcRect xmlns:a="http://schemas.openxmlformats.org/drawingml/2006/main" l="0" t="0" r="0" b="0"/>
          <a:stretch xmlns:a="http://schemas.openxmlformats.org/drawingml/2006/main"/>
        </p:blipFill>
        <p:spPr>
          <a:xfrm xmlns:a="http://schemas.openxmlformats.org/drawingml/2006/main">
            <a:off x="735178" y="4155034"/>
            <a:ext cx="175565" cy="175565"/>
          </a:xfrm>
          <a:prstGeom xmlns:a="http://schemas.openxmlformats.org/drawingml/2006/main" prst="rect">
            <a:avLst/>
          </a:prstGeom>
          <a:ln xmlns:a="http://schemas.openxmlformats.org/drawingml/2006/main">
            <a:noFill/>
          </a:ln>
        </p:spPr>
      </p:pic>
      <p:sp>
        <p:nvSpPr>
          <p:cNvPr id="57" name="Google Shape;57;p4">
            <a:extLst xmlns:a="http://schemas.openxmlformats.org/drawingml/2006/main">
              <a:ext uri="{FF2B5EF4-FFF2-40B4-BE49-F238E27FC236}">
                <a16:creationId xmlns:a16="http://schemas.microsoft.com/office/drawing/2014/main" id="{69FE7F80-11B5-4B7E-A5BC-C73663BD6F41}"/>
              </a:ext>
            </a:extLst>
          </p:cNvPr>
          <p:cNvSpPr>
            <a:spLocks xmlns:a="http://schemas.openxmlformats.org/drawingml/2006/main" noGrp="1"/>
          </p:cNvSpPr>
          <p:nvPr/>
        </p:nvSpPr>
        <p:spPr>
          <a:xfrm xmlns:a="http://schemas.openxmlformats.org/drawingml/2006/main">
            <a:off x="1188720" y="402336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Satya–asatya: Does our judgment accord with understood reality?</a:t>
            </a:r>
          </a:p>
        </p:txBody>
      </p:sp>
      <p:sp>
        <p:nvSpPr>
          <p:cNvPr id="58" name="Google Shape;58;p4">
            <a:extLst xmlns:a="http://schemas.openxmlformats.org/drawingml/2006/main">
              <a:ext uri="{FF2B5EF4-FFF2-40B4-BE49-F238E27FC236}">
                <a16:creationId xmlns:a16="http://schemas.microsoft.com/office/drawing/2014/main" id="{79C1811C-EDE3-41ED-8DB3-4090B52ECFBC}"/>
              </a:ext>
            </a:extLst>
          </p:cNvPr>
          <p:cNvSpPr>
            <a:spLocks xmlns:a="http://schemas.openxmlformats.org/drawingml/2006/main" noGrp="1"/>
          </p:cNvSpPr>
          <p:nvPr/>
        </p:nvSpPr>
        <p:spPr>
          <a:xfrm xmlns:a="http://schemas.openxmlformats.org/drawingml/2006/main">
            <a:off x="1188720" y="4645152"/>
            <a:ext cx="74066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The first three inform. The last three govern. · Sources in notes · AnalyticMadhyasthDarshan.org · 24 / 36</a:t>
            </a:r>
          </a:p>
        </p:txBody>
      </p:sp>
    </p:spTree>
    <p:extLst>
      <p:ext uri="{BB962C8B-B14F-4D97-AF65-F5344CB8AC3E}">
        <p14:creationId xmlns:p14="http://schemas.microsoft.com/office/powerpoint/2010/main" val="153149057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1FDF55EE-1DFC-4864-BBCF-6889CF1EF2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5AD84244-4940-47B0-823B-B7C36ED1B0F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11218A88-AD24-47F4-AA7E-CEDB55B3606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920138EF-D763-4448-A961-8DCEAD2BB11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TWO · §1.4 · LAW, REGULATION, AND BALANCE</a:t>
            </a:r>
          </a:p>
        </p:txBody>
      </p:sp>
      <p:sp>
        <p:nvSpPr>
          <p:cNvPr id="125" name="Google Shape;125;p7">
            <a:extLst xmlns:a="http://schemas.openxmlformats.org/drawingml/2006/main">
              <a:ext uri="{FF2B5EF4-FFF2-40B4-BE49-F238E27FC236}">
                <a16:creationId xmlns:a16="http://schemas.microsoft.com/office/drawing/2014/main" id="{B29B9366-7866-413D-82A0-241730EBC63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Law, Balance, and Human Participation</a:t>
            </a:r>
          </a:p>
        </p:txBody>
      </p:sp>
      <p:sp>
        <p:nvSpPr>
          <p:cNvPr id="126" name="Google Shape;126;p7">
            <a:extLst xmlns:a="http://schemas.openxmlformats.org/drawingml/2006/main">
              <a:ext uri="{FF2B5EF4-FFF2-40B4-BE49-F238E27FC236}">
                <a16:creationId xmlns:a16="http://schemas.microsoft.com/office/drawing/2014/main" id="{7D7417D2-2684-43CB-8AFE-F91CDBDC0F85}"/>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EE33F6BF-95C0-4816-A54C-B6B00AF45E1B}"/>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B6E3019C-45D3-4ED1-A9D2-55D72A50880D}"/>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EE1719B3-E68F-4D01-A60C-336CB2754F8D}"/>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A70DDF07-767E-4CA7-8197-976F5965AFE8}"/>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Niyam — law</a:t>
            </a:r>
          </a:p>
        </p:txBody>
      </p:sp>
      <p:sp>
        <p:nvSpPr>
          <p:cNvPr id="131" name="Google Shape;131;p7">
            <a:extLst xmlns:a="http://schemas.openxmlformats.org/drawingml/2006/main">
              <a:ext uri="{FF2B5EF4-FFF2-40B4-BE49-F238E27FC236}">
                <a16:creationId xmlns:a16="http://schemas.microsoft.com/office/drawing/2014/main" id="{6BEFCC17-F959-4C0D-898B-ADDA648A1126}"/>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Protection and discipline of activity.</a:t>
            </a:r>
          </a:p>
        </p:txBody>
      </p:sp>
      <p:sp>
        <p:nvSpPr>
          <p:cNvPr id="132" name="Google Shape;132;p7">
            <a:extLst xmlns:a="http://schemas.openxmlformats.org/drawingml/2006/main">
              <a:ext uri="{FF2B5EF4-FFF2-40B4-BE49-F238E27FC236}">
                <a16:creationId xmlns:a16="http://schemas.microsoft.com/office/drawing/2014/main" id="{2B1D4DE1-906E-43B6-A1AC-A7EA7B235BDE}"/>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1A555193-C105-42C6-B81B-78A780152943}"/>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3A08FC77-38FD-4F53-9FDA-4E24295DFCF2}"/>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D06E458B-173D-440A-9C47-D542B10D793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2E165D08-90C3-4000-8857-A8714F7BC41F}"/>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Niyantran — regulation</a:t>
            </a:r>
          </a:p>
        </p:txBody>
      </p:sp>
      <p:sp>
        <p:nvSpPr>
          <p:cNvPr id="137" name="Google Shape;137;p7">
            <a:extLst xmlns:a="http://schemas.openxmlformats.org/drawingml/2006/main">
              <a:ext uri="{FF2B5EF4-FFF2-40B4-BE49-F238E27FC236}">
                <a16:creationId xmlns:a16="http://schemas.microsoft.com/office/drawing/2014/main" id="{81243F9D-4F30-4A59-8606-FA47AD846C3A}"/>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regulation of activity according to law.</a:t>
            </a:r>
          </a:p>
        </p:txBody>
      </p:sp>
      <p:sp>
        <p:nvSpPr>
          <p:cNvPr id="138" name="Google Shape;138;p7">
            <a:extLst xmlns:a="http://schemas.openxmlformats.org/drawingml/2006/main">
              <a:ext uri="{FF2B5EF4-FFF2-40B4-BE49-F238E27FC236}">
                <a16:creationId xmlns:a16="http://schemas.microsoft.com/office/drawing/2014/main" id="{C24F03F3-13B7-4DA6-B82A-6FFEF115DCC6}"/>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7E860388-B17F-4D86-B9E1-F64D831A85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2DCD6C6B-CF46-4530-A4E5-F7FEC5439D14}"/>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0D2E6CD2-706E-4D67-92AD-87B6DF703565}"/>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72284CF3-2391-448B-BA27-7D7834BE2558}"/>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Santulan — balance</a:t>
            </a:r>
          </a:p>
        </p:txBody>
      </p:sp>
      <p:sp>
        <p:nvSpPr>
          <p:cNvPr id="143" name="Google Shape;143;p7">
            <a:extLst xmlns:a="http://schemas.openxmlformats.org/drawingml/2006/main">
              <a:ext uri="{FF2B5EF4-FFF2-40B4-BE49-F238E27FC236}">
                <a16:creationId xmlns:a16="http://schemas.microsoft.com/office/drawing/2014/main" id="{88B4D163-A60F-4D71-A21A-FF9D668635D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balance sustained through regulated activity and mutual relationships.</a:t>
            </a:r>
          </a:p>
        </p:txBody>
      </p:sp>
      <p:sp>
        <p:nvSpPr>
          <p:cNvPr id="144" name="Google Shape;144;p7">
            <a:extLst xmlns:a="http://schemas.openxmlformats.org/drawingml/2006/main">
              <a:ext uri="{FF2B5EF4-FFF2-40B4-BE49-F238E27FC236}">
                <a16:creationId xmlns:a16="http://schemas.microsoft.com/office/drawing/2014/main" id="{35D606E5-7371-49D6-8AFE-E2CD65E2D258}"/>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60ED207F-363E-479B-A217-044586C34A06}"/>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F59040DB-FE8E-4768-B34F-7171056FB64B}"/>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2D39A687-7B45-4546-8894-6BDA52A70DF4}"/>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40CC8AF1-DE82-4E58-8C0C-0A05484D7F0A}"/>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Justice, dharma, truth</a:t>
            </a:r>
          </a:p>
        </p:txBody>
      </p:sp>
      <p:sp>
        <p:nvSpPr>
          <p:cNvPr id="149" name="Google Shape;149;p7">
            <a:extLst xmlns:a="http://schemas.openxmlformats.org/drawingml/2006/main">
              <a:ext uri="{FF2B5EF4-FFF2-40B4-BE49-F238E27FC236}">
                <a16:creationId xmlns:a16="http://schemas.microsoft.com/office/drawing/2014/main" id="{43CACCDB-C99D-4605-856E-E37BB61C6E30}"/>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Balanced living is justice. Just universal participation is dharma. Realisation in coexistence is truth.</a:t>
            </a:r>
          </a:p>
        </p:txBody>
      </p:sp>
      <p:sp>
        <p:nvSpPr>
          <p:cNvPr id="150" name="Google Shape;150;p7">
            <a:extLst xmlns:a="http://schemas.openxmlformats.org/drawingml/2006/main">
              <a:ext uri="{FF2B5EF4-FFF2-40B4-BE49-F238E27FC236}">
                <a16:creationId xmlns:a16="http://schemas.microsoft.com/office/drawing/2014/main" id="{C900555A-CF8C-4582-8C80-52AF84F08F63}"/>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2117AB49-652B-42CE-AF52-B10AE62D38EC}"/>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The source presents a connected progression from law through regulation and balance into conscious human participation.</a:t>
            </a:r>
          </a:p>
        </p:txBody>
      </p:sp>
      <p:sp>
        <p:nvSpPr>
          <p:cNvPr id="152" name="Google Shape;152;p7">
            <a:extLst xmlns:a="http://schemas.openxmlformats.org/drawingml/2006/main">
              <a:ext uri="{FF2B5EF4-FFF2-40B4-BE49-F238E27FC236}">
                <a16:creationId xmlns:a16="http://schemas.microsoft.com/office/drawing/2014/main" id="{C8AB52DC-457F-4AED-9264-440E84A6C23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70, 137, 174  ·  AnalyticMadhyasthDarshan.org  ·  25 / 36</a:t>
            </a:r>
          </a:p>
        </p:txBody>
      </p:sp>
    </p:spTree>
    <p:extLst>
      <p:ext uri="{BB962C8B-B14F-4D97-AF65-F5344CB8AC3E}">
        <p14:creationId xmlns:p14="http://schemas.microsoft.com/office/powerpoint/2010/main" val="972382345"/>
      </p:ext>
    </p:extLst>
  </p:cSld>
</p:sld>
</file>

<file path=ppt/slides/slide26.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75FE6B61-565A-45A6-9540-7722013F560A}"/>
              </a:ext>
            </a:extLst>
          </p:cNvPr>
          <p:cNvSpPr>
            <a:spLocks xmlns:a="http://schemas.openxmlformats.org/drawingml/2006/main" noGrp="1"/>
          </p:cNvSpPr>
          <p:nvPr/>
        </p:nvSpPr>
        <p:spPr>
          <a:xfrm xmlns:a="http://schemas.openxmlformats.org/drawingml/2006/main">
            <a:off x="5852160" y="822960"/>
            <a:ext cx="3291840" cy="3291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 name="Google Shape;17;p3">
            <a:extLst xmlns:a="http://schemas.openxmlformats.org/drawingml/2006/main">
              <a:ext uri="{FF2B5EF4-FFF2-40B4-BE49-F238E27FC236}">
                <a16:creationId xmlns:a16="http://schemas.microsoft.com/office/drawing/2014/main" id="{21A78B37-5288-4B37-8F01-A4632A2A24F3}"/>
              </a:ext>
            </a:extLst>
          </p:cNvPr>
          <p:cNvSpPr>
            <a:spLocks xmlns:a="http://schemas.openxmlformats.org/drawingml/2006/main" noGrp="1"/>
          </p:cNvSpPr>
          <p:nvPr/>
        </p:nvSpPr>
        <p:spPr>
          <a:xfrm xmlns:a="http://schemas.openxmlformats.org/drawingml/2006/main">
            <a:off x="6510528" y="1481328"/>
            <a:ext cx="1975104" cy="19751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 name="Google Shape;18;p3">
            <a:extLst xmlns:a="http://schemas.openxmlformats.org/drawingml/2006/main">
              <a:ext uri="{FF2B5EF4-FFF2-40B4-BE49-F238E27FC236}">
                <a16:creationId xmlns:a16="http://schemas.microsoft.com/office/drawing/2014/main" id="{35274BF8-B136-4D9F-A722-CB80B18EB261}"/>
              </a:ext>
            </a:extLst>
          </p:cNvPr>
          <p:cNvSpPr>
            <a:spLocks xmlns:a="http://schemas.openxmlformats.org/drawingml/2006/main" noGrp="1"/>
          </p:cNvSpPr>
          <p:nvPr/>
        </p:nvSpPr>
        <p:spPr>
          <a:xfrm xmlns:a="http://schemas.openxmlformats.org/drawingml/2006/main">
            <a:off x="7070141" y="2040941"/>
            <a:ext cx="855878" cy="85587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 name="Google Shape;19;p3">
            <a:extLst xmlns:a="http://schemas.openxmlformats.org/drawingml/2006/main">
              <a:ext uri="{FF2B5EF4-FFF2-40B4-BE49-F238E27FC236}">
                <a16:creationId xmlns:a16="http://schemas.microsoft.com/office/drawing/2014/main" id="{08D5B1CE-A9B3-4D60-8397-374BC198E328}"/>
              </a:ext>
            </a:extLst>
          </p:cNvPr>
          <p:cNvSpPr>
            <a:spLocks xmlns:a="http://schemas.openxmlformats.org/drawingml/2006/main" noGrp="1"/>
          </p:cNvSpPr>
          <p:nvPr/>
        </p:nvSpPr>
        <p:spPr>
          <a:xfrm xmlns:a="http://schemas.openxmlformats.org/drawingml/2006/main">
            <a:off x="5394960" y="3566160"/>
            <a:ext cx="1097280" cy="109728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 name="Google Shape;20;p3">
            <a:extLst xmlns:a="http://schemas.openxmlformats.org/drawingml/2006/main">
              <a:ext uri="{FF2B5EF4-FFF2-40B4-BE49-F238E27FC236}">
                <a16:creationId xmlns:a16="http://schemas.microsoft.com/office/drawing/2014/main" id="{2F9A6F27-EBE0-4C3A-BD5B-51E23FBCB488}"/>
              </a:ext>
            </a:extLst>
          </p:cNvPr>
          <p:cNvSpPr>
            <a:spLocks xmlns:a="http://schemas.openxmlformats.org/drawingml/2006/main" noGrp="1"/>
          </p:cNvSpPr>
          <p:nvPr/>
        </p:nvSpPr>
        <p:spPr>
          <a:xfrm xmlns:a="http://schemas.openxmlformats.org/drawingml/2006/main">
            <a:off x="5614416" y="3785616"/>
            <a:ext cx="658368" cy="658368"/>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 name="Google Shape;21;p3">
            <a:extLst xmlns:a="http://schemas.openxmlformats.org/drawingml/2006/main">
              <a:ext uri="{FF2B5EF4-FFF2-40B4-BE49-F238E27FC236}">
                <a16:creationId xmlns:a16="http://schemas.microsoft.com/office/drawing/2014/main" id="{6F589193-5AE3-467F-9960-71BEAF1122F0}"/>
              </a:ext>
            </a:extLst>
          </p:cNvPr>
          <p:cNvSpPr>
            <a:spLocks xmlns:a="http://schemas.openxmlformats.org/drawingml/2006/main" noGrp="1"/>
          </p:cNvSpPr>
          <p:nvPr/>
        </p:nvSpPr>
        <p:spPr>
          <a:xfrm xmlns:a="http://schemas.openxmlformats.org/drawingml/2006/main">
            <a:off x="5800954" y="3972154"/>
            <a:ext cx="285293" cy="285293"/>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2" name="Google Shape;22;p3">
            <a:extLst xmlns:a="http://schemas.openxmlformats.org/drawingml/2006/main">
              <a:ext uri="{FF2B5EF4-FFF2-40B4-BE49-F238E27FC236}">
                <a16:creationId xmlns:a16="http://schemas.microsoft.com/office/drawing/2014/main" id="{47EB0975-A9FD-4414-A496-C262C8303A61}"/>
              </a:ext>
            </a:extLst>
          </p:cNvPr>
          <p:cNvSpPr>
            <a:spLocks xmlns:a="http://schemas.openxmlformats.org/drawingml/2006/main" noGrp="1"/>
          </p:cNvSpPr>
          <p:nvPr/>
        </p:nvSpPr>
        <p:spPr>
          <a:xfrm xmlns:a="http://schemas.openxmlformats.org/drawingml/2006/main">
            <a:off x="8138160" y="4023360"/>
            <a:ext cx="731520" cy="73152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3" name="Google Shape;23;p3">
            <a:extLst xmlns:a="http://schemas.openxmlformats.org/drawingml/2006/main">
              <a:ext uri="{FF2B5EF4-FFF2-40B4-BE49-F238E27FC236}">
                <a16:creationId xmlns:a16="http://schemas.microsoft.com/office/drawing/2014/main" id="{EBFFAFDE-264C-438B-A02F-85F9E50F7A9E}"/>
              </a:ext>
            </a:extLst>
          </p:cNvPr>
          <p:cNvSpPr>
            <a:spLocks xmlns:a="http://schemas.openxmlformats.org/drawingml/2006/main" noGrp="1"/>
          </p:cNvSpPr>
          <p:nvPr/>
        </p:nvSpPr>
        <p:spPr>
          <a:xfrm xmlns:a="http://schemas.openxmlformats.org/drawingml/2006/main">
            <a:off x="8284464" y="4169664"/>
            <a:ext cx="438912" cy="438912"/>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 name="Google Shape;24;p3">
            <a:extLst xmlns:a="http://schemas.openxmlformats.org/drawingml/2006/main">
              <a:ext uri="{FF2B5EF4-FFF2-40B4-BE49-F238E27FC236}">
                <a16:creationId xmlns:a16="http://schemas.microsoft.com/office/drawing/2014/main" id="{52047E37-4816-41A7-B1A8-5ED7B16CE4CB}"/>
              </a:ext>
            </a:extLst>
          </p:cNvPr>
          <p:cNvSpPr>
            <a:spLocks xmlns:a="http://schemas.openxmlformats.org/drawingml/2006/main" noGrp="1"/>
          </p:cNvSpPr>
          <p:nvPr/>
        </p:nvSpPr>
        <p:spPr>
          <a:xfrm xmlns:a="http://schemas.openxmlformats.org/drawingml/2006/main">
            <a:off x="8408822" y="4294022"/>
            <a:ext cx="190195" cy="190195"/>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5" name="Google Shape;25;p3">
            <a:extLst xmlns:a="http://schemas.openxmlformats.org/drawingml/2006/main">
              <a:ext uri="{FF2B5EF4-FFF2-40B4-BE49-F238E27FC236}">
                <a16:creationId xmlns:a16="http://schemas.microsoft.com/office/drawing/2014/main" id="{6BC522C1-F2B8-42B0-BD23-EBBB4C5CE598}"/>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MOVEMENT THREE  ·  §§1.5–1.6 → §7</a:t>
            </a:r>
          </a:p>
        </p:txBody>
      </p:sp>
      <p:sp>
        <p:nvSpPr>
          <p:cNvPr id="26" name="Google Shape;26;p3">
            <a:extLst xmlns:a="http://schemas.openxmlformats.org/drawingml/2006/main">
              <a:ext uri="{FF2B5EF4-FFF2-40B4-BE49-F238E27FC236}">
                <a16:creationId xmlns:a16="http://schemas.microsoft.com/office/drawing/2014/main" id="{47A64A12-D1A5-441F-AA82-AF514D30EB90}"/>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4400" b="1" i="0" u="none" cap="none">
                <a:solidFill>
                  <a:srgbClr val="FFFFFF"/>
                </a:solidFill>
                <a:latin typeface="Cambria"/>
                <a:ea typeface="Cambria"/>
                <a:cs typeface="Cambria"/>
              </a:rPr>
              <a:t>How Understanding Becomes Evidence</a:t>
            </a:r>
          </a:p>
        </p:txBody>
      </p:sp>
      <p:sp>
        <p:nvSpPr>
          <p:cNvPr id="27" name="Google Shape;27;p3">
            <a:extLst xmlns:a="http://schemas.openxmlformats.org/drawingml/2006/main">
              <a:ext uri="{FF2B5EF4-FFF2-40B4-BE49-F238E27FC236}">
                <a16:creationId xmlns:a16="http://schemas.microsoft.com/office/drawing/2014/main" id="{E7C7DAAD-F163-4083-A316-3C74C158297F}"/>
              </a:ext>
            </a:extLst>
          </p:cNvPr>
          <p:cNvSpPr>
            <a:spLocks xmlns:a="http://schemas.openxmlformats.org/drawingml/2006/main" noGrp="1"/>
          </p:cNvSpPr>
          <p:nvPr/>
        </p:nvSpPr>
        <p:spPr>
          <a:xfrm xmlns:a="http://schemas.openxmlformats.org/drawingml/2006/main">
            <a:off x="640080" y="3035808"/>
            <a:ext cx="484632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b="0" i="1" u="none" cap="none">
                <a:solidFill>
                  <a:srgbClr val="C9D4EF"/>
                </a:solidFill>
                <a:latin typeface="Calibri"/>
                <a:ea typeface="Calibri"/>
                <a:cs typeface="Calibri"/>
              </a:rPr>
              <a:t>Understanding becomes evident in relationships, results, correction, and transmission. The study then asks what this evidence can establish.</a:t>
            </a:r>
          </a:p>
        </p:txBody>
      </p:sp>
      <p:sp>
        <p:nvSpPr>
          <p:cNvPr id="28" name="Google Shape;28;p3">
            <a:extLst xmlns:a="http://schemas.openxmlformats.org/drawingml/2006/main">
              <a:ext uri="{FF2B5EF4-FFF2-40B4-BE49-F238E27FC236}">
                <a16:creationId xmlns:a16="http://schemas.microsoft.com/office/drawing/2014/main" id="{458FAD9F-55D3-4855-B3DD-E51566B8BF19}"/>
              </a:ext>
            </a:extLst>
          </p:cNvPr>
          <p:cNvSpPr>
            <a:spLocks xmlns:a="http://schemas.openxmlformats.org/drawingml/2006/main" noGrp="1"/>
          </p:cNvSpPr>
          <p:nvPr/>
        </p:nvSpPr>
        <p:spPr>
          <a:xfrm xmlns:a="http://schemas.openxmlformats.org/drawingml/2006/main">
            <a:off x="640080" y="4370832"/>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Answers  ·  How does error arise?  ·  What counts as evidence?</a:t>
            </a:r>
          </a:p>
        </p:txBody>
      </p:sp>
      <p:sp>
        <p:nvSpPr>
          <p:cNvPr id="29" name="Google Shape;29;p3">
            <a:extLst xmlns:a="http://schemas.openxmlformats.org/drawingml/2006/main">
              <a:ext uri="{FF2B5EF4-FFF2-40B4-BE49-F238E27FC236}">
                <a16:creationId xmlns:a16="http://schemas.microsoft.com/office/drawing/2014/main" id="{DB10076E-E334-428A-B2C0-66347245EC4C}"/>
              </a:ext>
            </a:extLst>
          </p:cNvPr>
          <p:cNvSpPr>
            <a:spLocks xmlns:a="http://schemas.openxmlformats.org/drawingml/2006/main" noGrp="1"/>
          </p:cNvSpPr>
          <p:nvPr/>
        </p:nvSpPr>
        <p:spPr>
          <a:xfrm xmlns:a="http://schemas.openxmlformats.org/drawingml/2006/main">
            <a:off x="640080" y="466344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Evidence, then its limits  ·  AnalyticMadhyasthDarshan.org  ·  26 / 36</a:t>
            </a:r>
          </a:p>
        </p:txBody>
      </p:sp>
    </p:spTree>
    <p:extLst>
      <p:ext uri="{BB962C8B-B14F-4D97-AF65-F5344CB8AC3E}">
        <p14:creationId xmlns:p14="http://schemas.microsoft.com/office/powerpoint/2010/main" val="98889843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5" name="Google Shape;455;p19">
            <a:extLst xmlns:a="http://schemas.openxmlformats.org/drawingml/2006/main">
              <a:ext uri="{FF2B5EF4-FFF2-40B4-BE49-F238E27FC236}">
                <a16:creationId xmlns:a16="http://schemas.microsoft.com/office/drawing/2014/main" id="{6442EB82-1422-4108-B116-5784404DFC1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6" name="Google Shape;456;p19">
            <a:extLst xmlns:a="http://schemas.openxmlformats.org/drawingml/2006/main">
              <a:ext uri="{FF2B5EF4-FFF2-40B4-BE49-F238E27FC236}">
                <a16:creationId xmlns:a16="http://schemas.microsoft.com/office/drawing/2014/main" id="{1F0C3D57-24D6-4278-93D2-E9A79C39BC4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7" name="Google Shape;457;p19">
            <a:extLst xmlns:a="http://schemas.openxmlformats.org/drawingml/2006/main">
              <a:ext uri="{FF2B5EF4-FFF2-40B4-BE49-F238E27FC236}">
                <a16:creationId xmlns:a16="http://schemas.microsoft.com/office/drawing/2014/main" id="{57899CEF-CD7B-402E-AC4C-5575832C085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8" name="Google Shape;458;p19">
            <a:extLst xmlns:a="http://schemas.openxmlformats.org/drawingml/2006/main">
              <a:ext uri="{FF2B5EF4-FFF2-40B4-BE49-F238E27FC236}">
                <a16:creationId xmlns:a16="http://schemas.microsoft.com/office/drawing/2014/main" id="{51335767-D53D-43F6-8B5A-91B90B7B9FBD}"/>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THREE · §1.6 · THE EVIDENCE CHAIN</a:t>
            </a:r>
          </a:p>
        </p:txBody>
      </p:sp>
      <p:sp>
        <p:nvSpPr>
          <p:cNvPr id="459" name="Google Shape;459;p19">
            <a:extLst xmlns:a="http://schemas.openxmlformats.org/drawingml/2006/main">
              <a:ext uri="{FF2B5EF4-FFF2-40B4-BE49-F238E27FC236}">
                <a16:creationId xmlns:a16="http://schemas.microsoft.com/office/drawing/2014/main" id="{22BD32C7-ACF1-4879-B3CF-EBE1894B6E8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Evidence in Realisation and Living</a:t>
            </a:r>
          </a:p>
        </p:txBody>
      </p:sp>
      <p:sp>
        <p:nvSpPr>
          <p:cNvPr id="460" name="Google Shape;460;p19">
            <a:extLst xmlns:a="http://schemas.openxmlformats.org/drawingml/2006/main">
              <a:ext uri="{FF2B5EF4-FFF2-40B4-BE49-F238E27FC236}">
                <a16:creationId xmlns:a16="http://schemas.microsoft.com/office/drawing/2014/main" id="{A6AFFC79-45A0-4C47-99DD-D0052E75031A}"/>
              </a:ext>
            </a:extLst>
          </p:cNvPr>
          <p:cNvSpPr>
            <a:spLocks xmlns:a="http://schemas.openxmlformats.org/drawingml/2006/main" noGrp="1"/>
          </p:cNvSpPr>
          <p:nvPr/>
        </p:nvSpPr>
        <p:spPr>
          <a:xfrm xmlns:a="http://schemas.openxmlformats.org/drawingml/2006/main">
            <a:off x="640080" y="1207008"/>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MVD links realisation with understanding, resolution, work, behaviour, and an awakened tradition. Evidence is lived in realisation, behaviour, and experiment.</a:t>
            </a:r>
          </a:p>
        </p:txBody>
      </p:sp>
      <p:sp>
        <p:nvSpPr>
          <p:cNvPr id="461" name="Google Shape;461;p19">
            <a:extLst xmlns:a="http://schemas.openxmlformats.org/drawingml/2006/main">
              <a:ext uri="{FF2B5EF4-FFF2-40B4-BE49-F238E27FC236}">
                <a16:creationId xmlns:a16="http://schemas.microsoft.com/office/drawing/2014/main" id="{2652AEEC-F12F-4C4F-AB0C-A68340BFA079}"/>
              </a:ext>
            </a:extLst>
          </p:cNvPr>
          <p:cNvSpPr>
            <a:spLocks xmlns:a="http://schemas.openxmlformats.org/drawingml/2006/main" noGrp="1"/>
          </p:cNvSpPr>
          <p:nvPr/>
        </p:nvSpPr>
        <p:spPr>
          <a:xfrm xmlns:a="http://schemas.openxmlformats.org/drawingml/2006/main">
            <a:off x="64008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2" name="Google Shape;462;p19">
            <a:extLst xmlns:a="http://schemas.openxmlformats.org/drawingml/2006/main">
              <a:ext uri="{FF2B5EF4-FFF2-40B4-BE49-F238E27FC236}">
                <a16:creationId xmlns:a16="http://schemas.microsoft.com/office/drawing/2014/main" id="{C2119089-8239-455F-ACE5-D83BCA57FA3A}"/>
              </a:ext>
            </a:extLst>
          </p:cNvPr>
          <p:cNvSpPr>
            <a:spLocks xmlns:a="http://schemas.openxmlformats.org/drawingml/2006/main" noGrp="1"/>
          </p:cNvSpPr>
          <p:nvPr/>
        </p:nvSpPr>
        <p:spPr>
          <a:xfrm xmlns:a="http://schemas.openxmlformats.org/drawingml/2006/main">
            <a:off x="84124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Realisation — the inward term</a:t>
            </a:r>
          </a:p>
        </p:txBody>
      </p:sp>
      <p:sp>
        <p:nvSpPr>
          <p:cNvPr id="463" name="Google Shape;463;p19">
            <a:extLst xmlns:a="http://schemas.openxmlformats.org/drawingml/2006/main">
              <a:ext uri="{FF2B5EF4-FFF2-40B4-BE49-F238E27FC236}">
                <a16:creationId xmlns:a16="http://schemas.microsoft.com/office/drawing/2014/main" id="{E3878145-1C26-491C-8870-38029F2261D6}"/>
              </a:ext>
            </a:extLst>
          </p:cNvPr>
          <p:cNvSpPr>
            <a:spLocks xmlns:a="http://schemas.openxmlformats.org/drawingml/2006/main" noGrp="1"/>
          </p:cNvSpPr>
          <p:nvPr/>
        </p:nvSpPr>
        <p:spPr>
          <a:xfrm xmlns:a="http://schemas.openxmlformats.org/drawingml/2006/main">
            <a:off x="84124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person realises coexistence, jeevan, and humane conduct; understanding brings resolution.</a:t>
            </a:r>
          </a:p>
        </p:txBody>
      </p:sp>
      <p:sp>
        <p:nvSpPr>
          <p:cNvPr id="464" name="Google Shape;464;p19">
            <a:extLst xmlns:a="http://schemas.openxmlformats.org/drawingml/2006/main">
              <a:ext uri="{FF2B5EF4-FFF2-40B4-BE49-F238E27FC236}">
                <a16:creationId xmlns:a16="http://schemas.microsoft.com/office/drawing/2014/main" id="{24A87DF5-703F-4D5A-A446-D9BDB327476A}"/>
              </a:ext>
            </a:extLst>
          </p:cNvPr>
          <p:cNvSpPr>
            <a:spLocks xmlns:a="http://schemas.openxmlformats.org/drawingml/2006/main" noGrp="1"/>
          </p:cNvSpPr>
          <p:nvPr/>
        </p:nvSpPr>
        <p:spPr>
          <a:xfrm xmlns:a="http://schemas.openxmlformats.org/drawingml/2006/main">
            <a:off x="470916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5" name="Google Shape;465;p19">
            <a:extLst xmlns:a="http://schemas.openxmlformats.org/drawingml/2006/main">
              <a:ext uri="{FF2B5EF4-FFF2-40B4-BE49-F238E27FC236}">
                <a16:creationId xmlns:a16="http://schemas.microsoft.com/office/drawing/2014/main" id="{587D34E1-5825-4E1C-A3BC-28850A83F548}"/>
              </a:ext>
            </a:extLst>
          </p:cNvPr>
          <p:cNvSpPr>
            <a:spLocks xmlns:a="http://schemas.openxmlformats.org/drawingml/2006/main" noGrp="1"/>
          </p:cNvSpPr>
          <p:nvPr/>
        </p:nvSpPr>
        <p:spPr>
          <a:xfrm xmlns:a="http://schemas.openxmlformats.org/drawingml/2006/main">
            <a:off x="491032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Behaviour — the relational term</a:t>
            </a:r>
          </a:p>
        </p:txBody>
      </p:sp>
      <p:sp>
        <p:nvSpPr>
          <p:cNvPr id="466" name="Google Shape;466;p19">
            <a:extLst xmlns:a="http://schemas.openxmlformats.org/drawingml/2006/main">
              <a:ext uri="{FF2B5EF4-FFF2-40B4-BE49-F238E27FC236}">
                <a16:creationId xmlns:a16="http://schemas.microsoft.com/office/drawing/2014/main" id="{1A09B0C6-2C25-443F-8E8B-359D54B9D3D5}"/>
              </a:ext>
            </a:extLst>
          </p:cNvPr>
          <p:cNvSpPr>
            <a:spLocks xmlns:a="http://schemas.openxmlformats.org/drawingml/2006/main" noGrp="1"/>
          </p:cNvSpPr>
          <p:nvPr/>
        </p:nvSpPr>
        <p:spPr>
          <a:xfrm xmlns:a="http://schemas.openxmlformats.org/drawingml/2006/main">
            <a:off x="491032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Recognition and fulfilment of values make understanding evident in relationships through mutual satisfaction.</a:t>
            </a:r>
          </a:p>
        </p:txBody>
      </p:sp>
      <p:sp>
        <p:nvSpPr>
          <p:cNvPr id="467" name="Google Shape;467;p19">
            <a:extLst xmlns:a="http://schemas.openxmlformats.org/drawingml/2006/main">
              <a:ext uri="{FF2B5EF4-FFF2-40B4-BE49-F238E27FC236}">
                <a16:creationId xmlns:a16="http://schemas.microsoft.com/office/drawing/2014/main" id="{A9D98D41-5749-4CA8-9AB6-3C4331B1F4B2}"/>
              </a:ext>
            </a:extLst>
          </p:cNvPr>
          <p:cNvSpPr>
            <a:spLocks xmlns:a="http://schemas.openxmlformats.org/drawingml/2006/main" noGrp="1"/>
          </p:cNvSpPr>
          <p:nvPr/>
        </p:nvSpPr>
        <p:spPr>
          <a:xfrm xmlns:a="http://schemas.openxmlformats.org/drawingml/2006/main">
            <a:off x="640080" y="324612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8" name="Google Shape;468;p19">
            <a:extLst xmlns:a="http://schemas.openxmlformats.org/drawingml/2006/main">
              <a:ext uri="{FF2B5EF4-FFF2-40B4-BE49-F238E27FC236}">
                <a16:creationId xmlns:a16="http://schemas.microsoft.com/office/drawing/2014/main" id="{3E75C652-C505-4E6A-BFF1-3F16ED86EB2E}"/>
              </a:ext>
            </a:extLst>
          </p:cNvPr>
          <p:cNvSpPr>
            <a:spLocks xmlns:a="http://schemas.openxmlformats.org/drawingml/2006/main" noGrp="1"/>
          </p:cNvSpPr>
          <p:nvPr/>
        </p:nvSpPr>
        <p:spPr>
          <a:xfrm xmlns:a="http://schemas.openxmlformats.org/drawingml/2006/main">
            <a:off x="84124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Experiment — the practical term</a:t>
            </a:r>
          </a:p>
        </p:txBody>
      </p:sp>
      <p:sp>
        <p:nvSpPr>
          <p:cNvPr id="469" name="Google Shape;469;p19">
            <a:extLst xmlns:a="http://schemas.openxmlformats.org/drawingml/2006/main">
              <a:ext uri="{FF2B5EF4-FFF2-40B4-BE49-F238E27FC236}">
                <a16:creationId xmlns:a16="http://schemas.microsoft.com/office/drawing/2014/main" id="{37640E8C-9898-450C-9F07-A3CB1B5FBB51}"/>
              </a:ext>
            </a:extLst>
          </p:cNvPr>
          <p:cNvSpPr>
            <a:spLocks xmlns:a="http://schemas.openxmlformats.org/drawingml/2006/main" noGrp="1"/>
          </p:cNvSpPr>
          <p:nvPr/>
        </p:nvSpPr>
        <p:spPr>
          <a:xfrm xmlns:a="http://schemas.openxmlformats.org/drawingml/2006/main">
            <a:off x="84124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Work and experiment test understanding in material conditions, where consequences can be examined.</a:t>
            </a:r>
          </a:p>
        </p:txBody>
      </p:sp>
      <p:sp>
        <p:nvSpPr>
          <p:cNvPr id="470" name="Google Shape;470;p19">
            <a:extLst xmlns:a="http://schemas.openxmlformats.org/drawingml/2006/main">
              <a:ext uri="{FF2B5EF4-FFF2-40B4-BE49-F238E27FC236}">
                <a16:creationId xmlns:a16="http://schemas.microsoft.com/office/drawing/2014/main" id="{D1BF83F1-7747-433B-A60C-B6BE509139A7}"/>
              </a:ext>
            </a:extLst>
          </p:cNvPr>
          <p:cNvSpPr>
            <a:spLocks xmlns:a="http://schemas.openxmlformats.org/drawingml/2006/main" noGrp="1"/>
          </p:cNvSpPr>
          <p:nvPr/>
        </p:nvSpPr>
        <p:spPr>
          <a:xfrm xmlns:a="http://schemas.openxmlformats.org/drawingml/2006/main">
            <a:off x="4709160" y="3246120"/>
            <a:ext cx="3794760" cy="1280160"/>
          </a:xfrm>
          <a:prstGeom xmlns:a="http://schemas.openxmlformats.org/drawingml/2006/main" prst="roundRect">
            <a:avLst>
              <a:gd name="adj" fmla="val 6429"/>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71" name="Google Shape;471;p19">
            <a:extLst xmlns:a="http://schemas.openxmlformats.org/drawingml/2006/main">
              <a:ext uri="{FF2B5EF4-FFF2-40B4-BE49-F238E27FC236}">
                <a16:creationId xmlns:a16="http://schemas.microsoft.com/office/drawing/2014/main" id="{3C6187CA-DB80-4E68-B45B-CBADC961F742}"/>
              </a:ext>
            </a:extLst>
          </p:cNvPr>
          <p:cNvSpPr>
            <a:spLocks xmlns:a="http://schemas.openxmlformats.org/drawingml/2006/main" noGrp="1"/>
          </p:cNvSpPr>
          <p:nvPr/>
        </p:nvSpPr>
        <p:spPr>
          <a:xfrm xmlns:a="http://schemas.openxmlformats.org/drawingml/2006/main">
            <a:off x="491032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9A6414"/>
                </a:solidFill>
                <a:latin typeface="Cambria"/>
                <a:ea typeface="Cambria"/>
                <a:cs typeface="Cambria"/>
              </a:rPr>
              <a:t>Awakened tradition — continuity</a:t>
            </a:r>
          </a:p>
        </p:txBody>
      </p:sp>
      <p:sp>
        <p:nvSpPr>
          <p:cNvPr id="472" name="Google Shape;472;p19">
            <a:extLst xmlns:a="http://schemas.openxmlformats.org/drawingml/2006/main">
              <a:ext uri="{FF2B5EF4-FFF2-40B4-BE49-F238E27FC236}">
                <a16:creationId xmlns:a16="http://schemas.microsoft.com/office/drawing/2014/main" id="{43B6A619-54E0-43CE-9B72-C41E5A13C880}"/>
              </a:ext>
            </a:extLst>
          </p:cNvPr>
          <p:cNvSpPr>
            <a:spLocks xmlns:a="http://schemas.openxmlformats.org/drawingml/2006/main" noGrp="1"/>
          </p:cNvSpPr>
          <p:nvPr/>
        </p:nvSpPr>
        <p:spPr>
          <a:xfrm xmlns:a="http://schemas.openxmlformats.org/drawingml/2006/main">
            <a:off x="491032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Understanding becomes a living tradition when others can learn it, live it, and convey it.</a:t>
            </a:r>
          </a:p>
        </p:txBody>
      </p:sp>
      <p:sp>
        <p:nvSpPr>
          <p:cNvPr id="473" name="Google Shape;473;p19">
            <a:extLst xmlns:a="http://schemas.openxmlformats.org/drawingml/2006/main">
              <a:ext uri="{FF2B5EF4-FFF2-40B4-BE49-F238E27FC236}">
                <a16:creationId xmlns:a16="http://schemas.microsoft.com/office/drawing/2014/main" id="{14D9C93B-C570-40AD-A8BE-2A6E2FF4D82B}"/>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First-person, second-person, and public results must all cohere.  ·  MVD p. 12  ·  AnalyticMadhyasthDarshan.org  ·  27 / 36</a:t>
            </a:r>
          </a:p>
        </p:txBody>
      </p:sp>
    </p:spTree>
    <p:extLst>
      <p:ext uri="{BB962C8B-B14F-4D97-AF65-F5344CB8AC3E}">
        <p14:creationId xmlns:p14="http://schemas.microsoft.com/office/powerpoint/2010/main" val="162786451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 name="Google Shape;158;p8">
            <a:extLst xmlns:a="http://schemas.openxmlformats.org/drawingml/2006/main">
              <a:ext uri="{FF2B5EF4-FFF2-40B4-BE49-F238E27FC236}">
                <a16:creationId xmlns:a16="http://schemas.microsoft.com/office/drawing/2014/main" id="{FF8942B7-5A36-4D4F-A231-9AB3FCCC3AB1}"/>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9" name="Google Shape;159;p8">
            <a:extLst xmlns:a="http://schemas.openxmlformats.org/drawingml/2006/main">
              <a:ext uri="{FF2B5EF4-FFF2-40B4-BE49-F238E27FC236}">
                <a16:creationId xmlns:a16="http://schemas.microsoft.com/office/drawing/2014/main" id="{8285E63B-E64E-4239-B4E3-A08359DF9BB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0" name="Google Shape;160;p8">
            <a:extLst xmlns:a="http://schemas.openxmlformats.org/drawingml/2006/main">
              <a:ext uri="{FF2B5EF4-FFF2-40B4-BE49-F238E27FC236}">
                <a16:creationId xmlns:a16="http://schemas.microsoft.com/office/drawing/2014/main" id="{4AC4F9E4-68C3-4600-A6CF-94E72DAD4229}"/>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1" name="Google Shape;161;p8">
            <a:extLst xmlns:a="http://schemas.openxmlformats.org/drawingml/2006/main">
              <a:ext uri="{FF2B5EF4-FFF2-40B4-BE49-F238E27FC236}">
                <a16:creationId xmlns:a16="http://schemas.microsoft.com/office/drawing/2014/main" id="{182CBFBE-3498-4A09-B071-65CE86036523}"/>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THREE · §1.5 · FROM UNDERSTANDING TO JUSTICE</a:t>
            </a:r>
          </a:p>
        </p:txBody>
      </p:sp>
      <p:sp>
        <p:nvSpPr>
          <p:cNvPr id="162" name="Google Shape;162;p8">
            <a:extLst xmlns:a="http://schemas.openxmlformats.org/drawingml/2006/main">
              <a:ext uri="{FF2B5EF4-FFF2-40B4-BE49-F238E27FC236}">
                <a16:creationId xmlns:a16="http://schemas.microsoft.com/office/drawing/2014/main" id="{EF96E4E0-0092-4867-8481-AEA5D69308AC}"/>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Knowing Must Continue to Evaluation</a:t>
            </a:r>
          </a:p>
        </p:txBody>
      </p:sp>
      <p:sp>
        <p:nvSpPr>
          <p:cNvPr id="163" name="Google Shape;163;p8">
            <a:extLst xmlns:a="http://schemas.openxmlformats.org/drawingml/2006/main">
              <a:ext uri="{FF2B5EF4-FFF2-40B4-BE49-F238E27FC236}">
                <a16:creationId xmlns:a16="http://schemas.microsoft.com/office/drawing/2014/main" id="{5165274F-73DA-464F-92F1-9F3BAD6FC151}"/>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Knowing and accepting guide recognition and fulfilment in relationships. Evaluation then asks what was actually fulfilled and what needs correction.</a:t>
            </a:r>
          </a:p>
        </p:txBody>
      </p:sp>
      <p:sp>
        <p:nvSpPr>
          <p:cNvPr id="164" name="Google Shape;164;p8">
            <a:extLst xmlns:a="http://schemas.openxmlformats.org/drawingml/2006/main">
              <a:ext uri="{FF2B5EF4-FFF2-40B4-BE49-F238E27FC236}">
                <a16:creationId xmlns:a16="http://schemas.microsoft.com/office/drawing/2014/main" id="{43FB756B-BDDE-40CC-9BE9-E2DAD664080D}"/>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5" name="Google Shape;165;p8">
            <a:extLst xmlns:a="http://schemas.openxmlformats.org/drawingml/2006/main">
              <a:ext uri="{FF2B5EF4-FFF2-40B4-BE49-F238E27FC236}">
                <a16:creationId xmlns:a16="http://schemas.microsoft.com/office/drawing/2014/main" id="{13FF157E-F769-49F1-9535-E25514D524D4}"/>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1E2447"/>
                </a:solidFill>
                <a:latin typeface="Cambria"/>
                <a:ea typeface="Cambria"/>
                <a:cs typeface="Cambria"/>
              </a:rPr>
              <a:t>Understanding</a:t>
            </a:r>
          </a:p>
        </p:txBody>
      </p:sp>
      <p:sp>
        <p:nvSpPr>
          <p:cNvPr id="166" name="Google Shape;166;p8">
            <a:extLst xmlns:a="http://schemas.openxmlformats.org/drawingml/2006/main">
              <a:ext uri="{FF2B5EF4-FFF2-40B4-BE49-F238E27FC236}">
                <a16:creationId xmlns:a16="http://schemas.microsoft.com/office/drawing/2014/main" id="{060F334F-38F8-4D7C-9709-C6D49DD87C67}"/>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Know what is accepted; accept what is known. Belief may come from tradition or personal assumption before its meaning is understood.</a:t>
            </a:r>
          </a:p>
        </p:txBody>
      </p:sp>
      <p:sp>
        <p:nvSpPr>
          <p:cNvPr id="167" name="Google Shape;167;p8">
            <a:extLst xmlns:a="http://schemas.openxmlformats.org/drawingml/2006/main">
              <a:ext uri="{FF2B5EF4-FFF2-40B4-BE49-F238E27FC236}">
                <a16:creationId xmlns:a16="http://schemas.microsoft.com/office/drawing/2014/main" id="{8D917C22-DD61-4196-990A-5710A1C51A02}"/>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8" name="Google Shape;168;p8">
            <a:extLst xmlns:a="http://schemas.openxmlformats.org/drawingml/2006/main">
              <a:ext uri="{FF2B5EF4-FFF2-40B4-BE49-F238E27FC236}">
                <a16:creationId xmlns:a16="http://schemas.microsoft.com/office/drawing/2014/main" id="{BE1A67A3-F1AC-4F67-B169-3DDFD0EEABEA}"/>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Justice</a:t>
            </a:r>
          </a:p>
        </p:txBody>
      </p:sp>
      <p:sp>
        <p:nvSpPr>
          <p:cNvPr id="169" name="Google Shape;169;p8">
            <a:extLst xmlns:a="http://schemas.openxmlformats.org/drawingml/2006/main">
              <a:ext uri="{FF2B5EF4-FFF2-40B4-BE49-F238E27FC236}">
                <a16:creationId xmlns:a16="http://schemas.microsoft.com/office/drawing/2014/main" id="{1F48D4EF-3E22-4CF4-87E4-D65A0570C116}"/>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Justice joins recognition, fulfilment, and evaluation, culminating in mutual satisfaction.</a:t>
            </a:r>
          </a:p>
        </p:txBody>
      </p:sp>
      <p:sp>
        <p:nvSpPr>
          <p:cNvPr id="170" name="Google Shape;170;p8">
            <a:extLst xmlns:a="http://schemas.openxmlformats.org/drawingml/2006/main">
              <a:ext uri="{FF2B5EF4-FFF2-40B4-BE49-F238E27FC236}">
                <a16:creationId xmlns:a16="http://schemas.microsoft.com/office/drawing/2014/main" id="{E9DA5A7C-D383-4CD0-BB74-63CE503BAFCA}"/>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Shared meal: a tasty, affordable dinner is chosen without checking everyone's needs, agreeing on the work, or assessing quantities.</a:t>
            </a:r>
          </a:p>
        </p:txBody>
      </p:sp>
      <p:sp>
        <p:nvSpPr>
          <p:cNvPr id="171" name="Google Shape;171;p8">
            <a:extLst xmlns:a="http://schemas.openxmlformats.org/drawingml/2006/main">
              <a:ext uri="{FF2B5EF4-FFF2-40B4-BE49-F238E27FC236}">
                <a16:creationId xmlns:a16="http://schemas.microsoft.com/office/drawing/2014/main" id="{705CDB43-BF77-442A-8766-7C31B36F3257}"/>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2" name="Google Shape;172;p8">
            <a:extLst xmlns:a="http://schemas.openxmlformats.org/drawingml/2006/main">
              <a:ext uri="{FF2B5EF4-FFF2-40B4-BE49-F238E27FC236}">
                <a16:creationId xmlns:a16="http://schemas.microsoft.com/office/drawing/2014/main" id="{690354A7-2A53-4742-98B5-8929D66AB988}"/>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Knowing + Accepting</a:t>
            </a:r>
          </a:p>
        </p:txBody>
      </p:sp>
      <p:sp>
        <p:nvSpPr>
          <p:cNvPr id="173" name="Google Shape;173;p8">
            <a:extLst xmlns:a="http://schemas.openxmlformats.org/drawingml/2006/main">
              <a:ext uri="{FF2B5EF4-FFF2-40B4-BE49-F238E27FC236}">
                <a16:creationId xmlns:a16="http://schemas.microsoft.com/office/drawing/2014/main" id="{CC17E0DA-56A5-45E7-B130-09F14510DB58}"/>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74" name="Google Shape;174;p8">
            <a:extLst xmlns:a="http://schemas.openxmlformats.org/drawingml/2006/main">
              <a:ext uri="{FF2B5EF4-FFF2-40B4-BE49-F238E27FC236}">
                <a16:creationId xmlns:a16="http://schemas.microsoft.com/office/drawing/2014/main" id="{756D6313-79A6-49F7-AD20-102C54A6D0BA}"/>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5" name="Google Shape;175;p8">
            <a:extLst xmlns:a="http://schemas.openxmlformats.org/drawingml/2006/main">
              <a:ext uri="{FF2B5EF4-FFF2-40B4-BE49-F238E27FC236}">
                <a16:creationId xmlns:a16="http://schemas.microsoft.com/office/drawing/2014/main" id="{4074D2FF-954B-4BBC-9112-F6B489224730}"/>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Recognising</a:t>
            </a:r>
          </a:p>
        </p:txBody>
      </p:sp>
      <p:sp>
        <p:nvSpPr>
          <p:cNvPr id="176" name="Google Shape;176;p8">
            <a:extLst xmlns:a="http://schemas.openxmlformats.org/drawingml/2006/main">
              <a:ext uri="{FF2B5EF4-FFF2-40B4-BE49-F238E27FC236}">
                <a16:creationId xmlns:a16="http://schemas.microsoft.com/office/drawing/2014/main" id="{B71C146A-B8BD-47BF-8B8E-5D6EC6107A6B}"/>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77" name="Google Shape;177;p8">
            <a:extLst xmlns:a="http://schemas.openxmlformats.org/drawingml/2006/main">
              <a:ext uri="{FF2B5EF4-FFF2-40B4-BE49-F238E27FC236}">
                <a16:creationId xmlns:a16="http://schemas.microsoft.com/office/drawing/2014/main" id="{C154FE7F-5437-4F53-B282-926B16EBE57A}"/>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8" name="Google Shape;178;p8">
            <a:extLst xmlns:a="http://schemas.openxmlformats.org/drawingml/2006/main">
              <a:ext uri="{FF2B5EF4-FFF2-40B4-BE49-F238E27FC236}">
                <a16:creationId xmlns:a16="http://schemas.microsoft.com/office/drawing/2014/main" id="{32F10DE8-8463-4060-91CB-BB9FA552E849}"/>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Fulfilling</a:t>
            </a:r>
          </a:p>
        </p:txBody>
      </p:sp>
      <p:sp>
        <p:nvSpPr>
          <p:cNvPr id="179" name="Google Shape;179;p8">
            <a:extLst xmlns:a="http://schemas.openxmlformats.org/drawingml/2006/main">
              <a:ext uri="{FF2B5EF4-FFF2-40B4-BE49-F238E27FC236}">
                <a16:creationId xmlns:a16="http://schemas.microsoft.com/office/drawing/2014/main" id="{0AAB97D2-C99E-45C8-9091-0ACD929D54DD}"/>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80" name="Google Shape;180;p8">
            <a:extLst xmlns:a="http://schemas.openxmlformats.org/drawingml/2006/main">
              <a:ext uri="{FF2B5EF4-FFF2-40B4-BE49-F238E27FC236}">
                <a16:creationId xmlns:a16="http://schemas.microsoft.com/office/drawing/2014/main" id="{8F33E57E-BC6F-4671-9133-2D1CA369BAAD}"/>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1" name="Google Shape;181;p8">
            <a:extLst xmlns:a="http://schemas.openxmlformats.org/drawingml/2006/main">
              <a:ext uri="{FF2B5EF4-FFF2-40B4-BE49-F238E27FC236}">
                <a16:creationId xmlns:a16="http://schemas.microsoft.com/office/drawing/2014/main" id="{8633E1AE-036D-4204-B083-05923652AFF2}"/>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Evaluating</a:t>
            </a:r>
          </a:p>
        </p:txBody>
      </p:sp>
      <p:sp>
        <p:nvSpPr>
          <p:cNvPr id="182" name="Google Shape;182;p8">
            <a:extLst xmlns:a="http://schemas.openxmlformats.org/drawingml/2006/main">
              <a:ext uri="{FF2B5EF4-FFF2-40B4-BE49-F238E27FC236}">
                <a16:creationId xmlns:a16="http://schemas.microsoft.com/office/drawing/2014/main" id="{C07705DF-69A9-4D9D-8760-3D00A2FE16F2}"/>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
            </a:r>
          </a:p>
        </p:txBody>
      </p:sp>
      <p:sp>
        <p:nvSpPr>
          <p:cNvPr id="183" name="Google Shape;183;p8">
            <a:extLst xmlns:a="http://schemas.openxmlformats.org/drawingml/2006/main">
              <a:ext uri="{FF2B5EF4-FFF2-40B4-BE49-F238E27FC236}">
                <a16:creationId xmlns:a16="http://schemas.microsoft.com/office/drawing/2014/main" id="{709FF5D8-60CA-4837-8A0B-1C0BDDE18C69}"/>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12, 310–311  ·  JV p. 54  ·  SB p. 64  ·  AnalyticMadhyasthDarshan.org  ·  28 / 36</a:t>
            </a:r>
          </a:p>
        </p:txBody>
      </p:sp>
    </p:spTree>
    <p:extLst>
      <p:ext uri="{BB962C8B-B14F-4D97-AF65-F5344CB8AC3E}">
        <p14:creationId xmlns:p14="http://schemas.microsoft.com/office/powerpoint/2010/main" val="28280191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 name="Google Shape;203;p10">
            <a:extLst xmlns:a="http://schemas.openxmlformats.org/drawingml/2006/main">
              <a:ext uri="{FF2B5EF4-FFF2-40B4-BE49-F238E27FC236}">
                <a16:creationId xmlns:a16="http://schemas.microsoft.com/office/drawing/2014/main" id="{D8C44D5D-501D-4ADD-AD77-849A5C18CABE}"/>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4" name="Google Shape;204;p10">
            <a:extLst xmlns:a="http://schemas.openxmlformats.org/drawingml/2006/main">
              <a:ext uri="{FF2B5EF4-FFF2-40B4-BE49-F238E27FC236}">
                <a16:creationId xmlns:a16="http://schemas.microsoft.com/office/drawing/2014/main" id="{B5E549B8-81AB-45EC-8CFC-D2CA652C0A89}"/>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5" name="Google Shape;205;p10">
            <a:extLst xmlns:a="http://schemas.openxmlformats.org/drawingml/2006/main">
              <a:ext uri="{FF2B5EF4-FFF2-40B4-BE49-F238E27FC236}">
                <a16:creationId xmlns:a16="http://schemas.microsoft.com/office/drawing/2014/main" id="{A54D5007-CCD2-4F26-8CC6-F868BF1E9701}"/>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6" name="Google Shape;206;p10">
            <a:extLst xmlns:a="http://schemas.openxmlformats.org/drawingml/2006/main">
              <a:ext uri="{FF2B5EF4-FFF2-40B4-BE49-F238E27FC236}">
                <a16:creationId xmlns:a16="http://schemas.microsoft.com/office/drawing/2014/main" id="{D70F719C-487C-4441-9235-7EFAED1AD668}"/>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THREE · §1.5 · KARMA AS AN EPISTEMIC STRUCTURE</a:t>
            </a:r>
          </a:p>
        </p:txBody>
      </p:sp>
      <p:sp>
        <p:nvSpPr>
          <p:cNvPr id="207" name="Google Shape;207;p10">
            <a:extLst xmlns:a="http://schemas.openxmlformats.org/drawingml/2006/main">
              <a:ext uri="{FF2B5EF4-FFF2-40B4-BE49-F238E27FC236}">
                <a16:creationId xmlns:a16="http://schemas.microsoft.com/office/drawing/2014/main" id="{027F4B39-FE08-4239-B5B9-24047AEFD07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Every Karma Has a Structure</a:t>
            </a:r>
          </a:p>
        </p:txBody>
      </p:sp>
      <p:sp>
        <p:nvSpPr>
          <p:cNvPr id="208" name="Google Shape;208;p10">
            <a:extLst xmlns:a="http://schemas.openxmlformats.org/drawingml/2006/main">
              <a:ext uri="{FF2B5EF4-FFF2-40B4-BE49-F238E27FC236}">
                <a16:creationId xmlns:a16="http://schemas.microsoft.com/office/drawing/2014/main" id="{741AE175-DEFC-4F60-B381-203027BA95F6}"/>
              </a:ext>
            </a:extLst>
          </p:cNvPr>
          <p:cNvSpPr>
            <a:spLocks xmlns:a="http://schemas.openxmlformats.org/drawingml/2006/main" noGrp="1"/>
          </p:cNvSpPr>
          <p:nvPr/>
        </p:nvSpPr>
        <p:spPr>
          <a:xfrm xmlns:a="http://schemas.openxmlformats.org/drawingml/2006/main">
            <a:off x="640080" y="1207008"/>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Karma is activity with aspiration. In the shared meal, a considerate aim leads to choices, work, and results that must be examined together.</a:t>
            </a:r>
          </a:p>
        </p:txBody>
      </p:sp>
      <p:sp>
        <p:nvSpPr>
          <p:cNvPr id="209" name="Google Shape;209;p10">
            <a:extLst xmlns:a="http://schemas.openxmlformats.org/drawingml/2006/main">
              <a:ext uri="{FF2B5EF4-FFF2-40B4-BE49-F238E27FC236}">
                <a16:creationId xmlns:a16="http://schemas.microsoft.com/office/drawing/2014/main" id="{40E90AF3-7C0B-414F-BFA5-76651805018F}"/>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0" name="Google Shape;210;p10">
            <a:extLst xmlns:a="http://schemas.openxmlformats.org/drawingml/2006/main">
              <a:ext uri="{FF2B5EF4-FFF2-40B4-BE49-F238E27FC236}">
                <a16:creationId xmlns:a16="http://schemas.microsoft.com/office/drawing/2014/main" id="{8B3C9E0B-FD3C-4351-A46E-7AAB0897E2B3}"/>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Desire</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aspiration</a:t>
            </a:r>
          </a:p>
        </p:txBody>
      </p:sp>
      <p:sp>
        <p:nvSpPr>
          <p:cNvPr id="211" name="Google Shape;211;p10">
            <a:extLst xmlns:a="http://schemas.openxmlformats.org/drawingml/2006/main">
              <a:ext uri="{FF2B5EF4-FFF2-40B4-BE49-F238E27FC236}">
                <a16:creationId xmlns:a16="http://schemas.microsoft.com/office/drawing/2014/main" id="{EEE5DD52-D5EC-4C58-89FC-5FE511C3AA7C}"/>
              </a:ext>
            </a:extLst>
          </p:cNvPr>
          <p:cNvSpPr>
            <a:spLocks xmlns:a="http://schemas.openxmlformats.org/drawingml/2006/main" noGrp="1"/>
          </p:cNvSpPr>
          <p:nvPr/>
        </p:nvSpPr>
        <p:spPr>
          <a:xfrm xmlns:a="http://schemas.openxmlformats.org/drawingml/2006/main">
            <a:off x="10058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A shared dinner that meets everyone's needs.</a:t>
            </a:r>
          </a:p>
        </p:txBody>
      </p:sp>
      <p:sp>
        <p:nvSpPr>
          <p:cNvPr id="212" name="Google Shape;212;p10">
            <a:extLst xmlns:a="http://schemas.openxmlformats.org/drawingml/2006/main">
              <a:ext uri="{FF2B5EF4-FFF2-40B4-BE49-F238E27FC236}">
                <a16:creationId xmlns:a16="http://schemas.microsoft.com/office/drawing/2014/main" id="{8A14A1E1-DDCD-48BA-BD6A-18F75399817D}"/>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3" name="Google Shape;213;p10">
            <a:extLst xmlns:a="http://schemas.openxmlformats.org/drawingml/2006/main">
              <a:ext uri="{FF2B5EF4-FFF2-40B4-BE49-F238E27FC236}">
                <a16:creationId xmlns:a16="http://schemas.microsoft.com/office/drawing/2014/main" id="{705AAF4A-03F9-490F-8C91-5BFBB60DB882}"/>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Karma</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doing</a:t>
            </a:r>
          </a:p>
        </p:txBody>
      </p:sp>
      <p:sp>
        <p:nvSpPr>
          <p:cNvPr id="214" name="Google Shape;214;p10">
            <a:extLst xmlns:a="http://schemas.openxmlformats.org/drawingml/2006/main">
              <a:ext uri="{FF2B5EF4-FFF2-40B4-BE49-F238E27FC236}">
                <a16:creationId xmlns:a16="http://schemas.microsoft.com/office/drawing/2014/main" id="{754F613E-50B8-461A-B297-60811F1325B5}"/>
              </a:ext>
            </a:extLst>
          </p:cNvPr>
          <p:cNvSpPr>
            <a:spLocks xmlns:a="http://schemas.openxmlformats.org/drawingml/2006/main" noGrp="1"/>
          </p:cNvSpPr>
          <p:nvPr/>
        </p:nvSpPr>
        <p:spPr>
          <a:xfrm xmlns:a="http://schemas.openxmlformats.org/drawingml/2006/main">
            <a:off x="28346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Choose, prepare, serve, and clean up.</a:t>
            </a:r>
          </a:p>
        </p:txBody>
      </p:sp>
      <p:sp>
        <p:nvSpPr>
          <p:cNvPr id="215" name="Google Shape;215;p10">
            <a:extLst xmlns:a="http://schemas.openxmlformats.org/drawingml/2006/main">
              <a:ext uri="{FF2B5EF4-FFF2-40B4-BE49-F238E27FC236}">
                <a16:creationId xmlns:a16="http://schemas.microsoft.com/office/drawing/2014/main" id="{F88BEB0C-84E7-4A49-B219-19891674BFAF}"/>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ellipse">
            <a:avLst/>
          </a:prstGeom>
          <a:solidFill xmlns:a="http://schemas.openxmlformats.org/drawingml/2006/main">
            <a:srgbClr val="C9821E"/>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6" name="Google Shape;216;p10">
            <a:extLst xmlns:a="http://schemas.openxmlformats.org/drawingml/2006/main">
              <a:ext uri="{FF2B5EF4-FFF2-40B4-BE49-F238E27FC236}">
                <a16:creationId xmlns:a16="http://schemas.microsoft.com/office/drawing/2014/main" id="{9DD5ADEA-27F1-42B0-80E5-528A0299E44D}"/>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Result</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fruit</a:t>
            </a:r>
          </a:p>
        </p:txBody>
      </p:sp>
      <p:sp>
        <p:nvSpPr>
          <p:cNvPr id="217" name="Google Shape;217;p10">
            <a:extLst xmlns:a="http://schemas.openxmlformats.org/drawingml/2006/main">
              <a:ext uri="{FF2B5EF4-FFF2-40B4-BE49-F238E27FC236}">
                <a16:creationId xmlns:a16="http://schemas.microsoft.com/office/drawing/2014/main" id="{E618571F-D08F-4E64-8E94-753DA07D5518}"/>
              </a:ext>
            </a:extLst>
          </p:cNvPr>
          <p:cNvSpPr>
            <a:spLocks xmlns:a="http://schemas.openxmlformats.org/drawingml/2006/main" noGrp="1"/>
          </p:cNvSpPr>
          <p:nvPr/>
        </p:nvSpPr>
        <p:spPr>
          <a:xfrm xmlns:a="http://schemas.openxmlformats.org/drawingml/2006/main">
            <a:off x="46634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Who was fed? Who worked? What was wasted?</a:t>
            </a:r>
          </a:p>
        </p:txBody>
      </p:sp>
      <p:sp>
        <p:nvSpPr>
          <p:cNvPr id="218" name="Google Shape;218;p10">
            <a:extLst xmlns:a="http://schemas.openxmlformats.org/drawingml/2006/main">
              <a:ext uri="{FF2B5EF4-FFF2-40B4-BE49-F238E27FC236}">
                <a16:creationId xmlns:a16="http://schemas.microsoft.com/office/drawing/2014/main" id="{3CDCBBCF-22EF-41F8-AB07-7323F6EEF8F8}"/>
              </a:ext>
            </a:extLst>
          </p:cNvPr>
          <p:cNvSpPr>
            <a:spLocks xmlns:a="http://schemas.openxmlformats.org/drawingml/2006/main" noGrp="1"/>
          </p:cNvSpPr>
          <p:nvPr/>
        </p:nvSpPr>
        <p:spPr>
          <a:xfrm xmlns:a="http://schemas.openxmlformats.org/drawingml/2006/main">
            <a:off x="6720840" y="2148840"/>
            <a:ext cx="1965960" cy="2240280"/>
          </a:xfrm>
          <a:prstGeom xmlns:a="http://schemas.openxmlformats.org/drawingml/2006/main" prst="roundRect">
            <a:avLst>
              <a:gd name="adj" fmla="val 465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9" name="Google Shape;219;p10">
            <a:extLst xmlns:a="http://schemas.openxmlformats.org/drawingml/2006/main">
              <a:ext uri="{FF2B5EF4-FFF2-40B4-BE49-F238E27FC236}">
                <a16:creationId xmlns:a16="http://schemas.microsoft.com/office/drawing/2014/main" id="{3C3D9C5A-5A60-435C-AFD8-FC7FEA4C38F8}"/>
              </a:ext>
            </a:extLst>
          </p:cNvPr>
          <p:cNvSpPr>
            <a:spLocks xmlns:a="http://schemas.openxmlformats.org/drawingml/2006/main" noGrp="1"/>
          </p:cNvSpPr>
          <p:nvPr/>
        </p:nvSpPr>
        <p:spPr>
          <a:xfrm xmlns:a="http://schemas.openxmlformats.org/drawingml/2006/main">
            <a:off x="6903720" y="2331720"/>
            <a:ext cx="1627632" cy="1920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Five limbs of karma</a:t>
            </a:r>
          </a:p>
          <a:p xmlns:a="http://schemas.openxmlformats.org/drawingml/2006/main">
            <a:pPr marL="0" indent="0" algn="l">
              <a:spcBef>
                <a:spcPts val="500"/>
              </a:spcBef>
              <a:spcAft>
                <a:spcPts val="0"/>
              </a:spcAft>
              <a:buNone/>
            </a:pPr>
            <a:r>
              <a:rPr sz="1250" b="1" i="0" u="none" cap="none">
                <a:solidFill>
                  <a:srgbClr val="1E2447"/>
                </a:solidFill>
                <a:latin typeface="Calibri"/>
                <a:ea typeface="Calibri"/>
                <a:cs typeface="Calibri"/>
              </a:rPr>
              <a:t>Doer — who acts</a:t>
            </a:r>
          </a:p>
          <a:p xmlns:a="http://schemas.openxmlformats.org/drawingml/2006/main">
            <a:pPr marL="0" indent="0" algn="l">
              <a:spcBef>
                <a:spcPts val="500"/>
              </a:spcBef>
              <a:spcAft>
                <a:spcPts val="0"/>
              </a:spcAft>
              <a:buNone/>
            </a:pPr>
            <a:r>
              <a:rPr sz="1250" b="1" i="0" u="none" cap="none">
                <a:solidFill>
                  <a:srgbClr val="1E2447"/>
                </a:solidFill>
                <a:latin typeface="Calibri"/>
                <a:ea typeface="Calibri"/>
                <a:cs typeface="Calibri"/>
              </a:rPr>
              <a:t>Cause — the need</a:t>
            </a:r>
          </a:p>
          <a:p xmlns:a="http://schemas.openxmlformats.org/drawingml/2006/main">
            <a:pPr marL="0" indent="0" algn="l">
              <a:spcBef>
                <a:spcPts val="500"/>
              </a:spcBef>
              <a:spcAft>
                <a:spcPts val="0"/>
              </a:spcAft>
              <a:buNone/>
            </a:pPr>
            <a:r>
              <a:rPr sz="1250" b="1" i="0" u="none" cap="none">
                <a:solidFill>
                  <a:srgbClr val="1E2447"/>
                </a:solidFill>
                <a:latin typeface="Calibri"/>
                <a:ea typeface="Calibri"/>
                <a:cs typeface="Calibri"/>
              </a:rPr>
              <a:t>Objective — the aim</a:t>
            </a:r>
          </a:p>
          <a:p xmlns:a="http://schemas.openxmlformats.org/drawingml/2006/main">
            <a:pPr marL="0" indent="0" algn="l">
              <a:spcBef>
                <a:spcPts val="500"/>
              </a:spcBef>
              <a:spcAft>
                <a:spcPts val="0"/>
              </a:spcAft>
              <a:buNone/>
            </a:pPr>
            <a:r>
              <a:rPr sz="1250" b="1" i="0" u="none" cap="none">
                <a:solidFill>
                  <a:srgbClr val="1E2447"/>
                </a:solidFill>
                <a:latin typeface="Calibri"/>
                <a:ea typeface="Calibri"/>
                <a:cs typeface="Calibri"/>
              </a:rPr>
              <a:t>Result — the fruit</a:t>
            </a:r>
          </a:p>
          <a:p xmlns:a="http://schemas.openxmlformats.org/drawingml/2006/main">
            <a:pPr marL="0" indent="0" algn="l">
              <a:spcBef>
                <a:spcPts val="500"/>
              </a:spcBef>
              <a:spcAft>
                <a:spcPts val="0"/>
              </a:spcAft>
              <a:buNone/>
            </a:pPr>
            <a:r>
              <a:rPr sz="1250" b="1" i="0" u="none" cap="none">
                <a:solidFill>
                  <a:srgbClr val="1E2447"/>
                </a:solidFill>
                <a:latin typeface="Calibri"/>
                <a:ea typeface="Calibri"/>
                <a:cs typeface="Calibri"/>
              </a:rPr>
              <a:t>Effect — its wider reach</a:t>
            </a:r>
          </a:p>
        </p:txBody>
      </p:sp>
      <p:sp>
        <p:nvSpPr>
          <p:cNvPr id="220" name="Google Shape;220;p10">
            <a:extLst xmlns:a="http://schemas.openxmlformats.org/drawingml/2006/main">
              <a:ext uri="{FF2B5EF4-FFF2-40B4-BE49-F238E27FC236}">
                <a16:creationId xmlns:a16="http://schemas.microsoft.com/office/drawing/2014/main" id="{02346A13-3B96-4D65-9B6D-3DD3C93CCFC2}"/>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KD Ch. 1, pp. 1–2  ·  AnalyticMadhyasthDarshan.org  ·  29 / 36</a:t>
            </a:r>
          </a:p>
        </p:txBody>
      </p:sp>
    </p:spTree>
    <p:extLst>
      <p:ext uri="{BB962C8B-B14F-4D97-AF65-F5344CB8AC3E}">
        <p14:creationId xmlns:p14="http://schemas.microsoft.com/office/powerpoint/2010/main" val="36035657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 name="Google Shape;203;p10">
            <a:extLst xmlns:a="http://schemas.openxmlformats.org/drawingml/2006/main">
              <a:ext uri="{FF2B5EF4-FFF2-40B4-BE49-F238E27FC236}">
                <a16:creationId xmlns:a16="http://schemas.microsoft.com/office/drawing/2014/main" id="{0F6F6308-49A9-4949-8133-7A4B8D63F9A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4" name="Google Shape;204;p10">
            <a:extLst xmlns:a="http://schemas.openxmlformats.org/drawingml/2006/main">
              <a:ext uri="{FF2B5EF4-FFF2-40B4-BE49-F238E27FC236}">
                <a16:creationId xmlns:a16="http://schemas.microsoft.com/office/drawing/2014/main" id="{A9E8F1DE-F1DF-4848-BA7D-7C49B9B5892E}"/>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5" name="Google Shape;205;p10">
            <a:extLst xmlns:a="http://schemas.openxmlformats.org/drawingml/2006/main">
              <a:ext uri="{FF2B5EF4-FFF2-40B4-BE49-F238E27FC236}">
                <a16:creationId xmlns:a16="http://schemas.microsoft.com/office/drawing/2014/main" id="{4DE02D1D-3BF7-415D-933B-DCE959E217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6" name="Google Shape;206;p10">
            <a:extLst xmlns:a="http://schemas.openxmlformats.org/drawingml/2006/main">
              <a:ext uri="{FF2B5EF4-FFF2-40B4-BE49-F238E27FC236}">
                <a16:creationId xmlns:a16="http://schemas.microsoft.com/office/drawing/2014/main" id="{2E1D7F4A-5B9C-4DD7-9B26-50E482087E2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THREE · §1.5 · RESULT · EVALUATION · CORRECTION</a:t>
            </a:r>
          </a:p>
        </p:txBody>
      </p:sp>
      <p:sp>
        <p:nvSpPr>
          <p:cNvPr id="207" name="Google Shape;207;p10">
            <a:extLst xmlns:a="http://schemas.openxmlformats.org/drawingml/2006/main">
              <a:ext uri="{FF2B5EF4-FFF2-40B4-BE49-F238E27FC236}">
                <a16:creationId xmlns:a16="http://schemas.microsoft.com/office/drawing/2014/main" id="{9DA2ADB1-085E-4F3D-8591-A4CAA3B4736A}"/>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Consequence Returns as Evidence</a:t>
            </a:r>
          </a:p>
        </p:txBody>
      </p:sp>
      <p:sp>
        <p:nvSpPr>
          <p:cNvPr id="208" name="Google Shape;208;p10">
            <a:extLst xmlns:a="http://schemas.openxmlformats.org/drawingml/2006/main">
              <a:ext uri="{FF2B5EF4-FFF2-40B4-BE49-F238E27FC236}">
                <a16:creationId xmlns:a16="http://schemas.microsoft.com/office/drawing/2014/main" id="{DA9BB04D-D913-4523-81E7-00E1AA087833}"/>
              </a:ext>
            </a:extLst>
          </p:cNvPr>
          <p:cNvSpPr>
            <a:spLocks xmlns:a="http://schemas.openxmlformats.org/drawingml/2006/main" noGrp="1"/>
          </p:cNvSpPr>
          <p:nvPr/>
        </p:nvSpPr>
        <p:spPr>
          <a:xfrm xmlns:a="http://schemas.openxmlformats.org/drawingml/2006/main">
            <a:off x="640080" y="1207008"/>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shared meal reveals overlooked needs, unexpected work, and waste. Evaluation compares the plan with what happened and guides a better attempt.</a:t>
            </a:r>
          </a:p>
        </p:txBody>
      </p:sp>
      <p:sp>
        <p:nvSpPr>
          <p:cNvPr id="209" name="Google Shape;209;p10">
            <a:extLst xmlns:a="http://schemas.openxmlformats.org/drawingml/2006/main">
              <a:ext uri="{FF2B5EF4-FFF2-40B4-BE49-F238E27FC236}">
                <a16:creationId xmlns:a16="http://schemas.microsoft.com/office/drawing/2014/main" id="{E07044AB-A602-48CC-A073-1CD528E4A814}"/>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0" name="Google Shape;210;p10">
            <a:extLst xmlns:a="http://schemas.openxmlformats.org/drawingml/2006/main">
              <a:ext uri="{FF2B5EF4-FFF2-40B4-BE49-F238E27FC236}">
                <a16:creationId xmlns:a16="http://schemas.microsoft.com/office/drawing/2014/main" id="{F655FD5C-DA9F-4C08-8056-B01001D7779A}"/>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Result</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what occurred</a:t>
            </a:r>
          </a:p>
        </p:txBody>
      </p:sp>
      <p:sp>
        <p:nvSpPr>
          <p:cNvPr id="211" name="Google Shape;211;p10">
            <a:extLst xmlns:a="http://schemas.openxmlformats.org/drawingml/2006/main">
              <a:ext uri="{FF2B5EF4-FFF2-40B4-BE49-F238E27FC236}">
                <a16:creationId xmlns:a16="http://schemas.microsoft.com/office/drawing/2014/main" id="{23DCB742-F79A-46D6-BA0A-BCC6B6B8EEC7}"/>
              </a:ext>
            </a:extLst>
          </p:cNvPr>
          <p:cNvSpPr>
            <a:spLocks xmlns:a="http://schemas.openxmlformats.org/drawingml/2006/main" noGrp="1"/>
          </p:cNvSpPr>
          <p:nvPr/>
        </p:nvSpPr>
        <p:spPr>
          <a:xfrm xmlns:a="http://schemas.openxmlformats.org/drawingml/2006/main">
            <a:off x="10058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Needs missed; extra work; food wasted.</a:t>
            </a:r>
          </a:p>
        </p:txBody>
      </p:sp>
      <p:sp>
        <p:nvSpPr>
          <p:cNvPr id="212" name="Google Shape;212;p10">
            <a:extLst xmlns:a="http://schemas.openxmlformats.org/drawingml/2006/main">
              <a:ext uri="{FF2B5EF4-FFF2-40B4-BE49-F238E27FC236}">
                <a16:creationId xmlns:a16="http://schemas.microsoft.com/office/drawing/2014/main" id="{DD51200B-2239-4831-B120-9B09B1D05FF7}"/>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3" name="Google Shape;213;p10">
            <a:extLst xmlns:a="http://schemas.openxmlformats.org/drawingml/2006/main">
              <a:ext uri="{FF2B5EF4-FFF2-40B4-BE49-F238E27FC236}">
                <a16:creationId xmlns:a16="http://schemas.microsoft.com/office/drawing/2014/main" id="{5808B275-8C68-433C-A839-2A8069671091}"/>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Evaluation</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what it means</a:t>
            </a:r>
          </a:p>
        </p:txBody>
      </p:sp>
      <p:sp>
        <p:nvSpPr>
          <p:cNvPr id="214" name="Google Shape;214;p10">
            <a:extLst xmlns:a="http://schemas.openxmlformats.org/drawingml/2006/main">
              <a:ext uri="{FF2B5EF4-FFF2-40B4-BE49-F238E27FC236}">
                <a16:creationId xmlns:a16="http://schemas.microsoft.com/office/drawing/2014/main" id="{CA811637-F15A-4274-8069-7399ED0947C5}"/>
              </a:ext>
            </a:extLst>
          </p:cNvPr>
          <p:cNvSpPr>
            <a:spLocks xmlns:a="http://schemas.openxmlformats.org/drawingml/2006/main" noGrp="1"/>
          </p:cNvSpPr>
          <p:nvPr/>
        </p:nvSpPr>
        <p:spPr>
          <a:xfrm xmlns:a="http://schemas.openxmlformats.org/drawingml/2006/main">
            <a:off x="28346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Compare plan and result; revise tasks, menu, and portions.</a:t>
            </a:r>
          </a:p>
        </p:txBody>
      </p:sp>
      <p:sp>
        <p:nvSpPr>
          <p:cNvPr id="215" name="Google Shape;215;p10">
            <a:extLst xmlns:a="http://schemas.openxmlformats.org/drawingml/2006/main">
              <a:ext uri="{FF2B5EF4-FFF2-40B4-BE49-F238E27FC236}">
                <a16:creationId xmlns:a16="http://schemas.microsoft.com/office/drawing/2014/main" id="{6026B273-96E7-4273-B0F2-02AC014BAF62}"/>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ellipse">
            <a:avLst/>
          </a:prstGeom>
          <a:solidFill xmlns:a="http://schemas.openxmlformats.org/drawingml/2006/main">
            <a:srgbClr val="C9821E"/>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6" name="Google Shape;216;p10">
            <a:extLst xmlns:a="http://schemas.openxmlformats.org/drawingml/2006/main">
              <a:ext uri="{FF2B5EF4-FFF2-40B4-BE49-F238E27FC236}">
                <a16:creationId xmlns:a16="http://schemas.microsoft.com/office/drawing/2014/main" id="{B5B0B964-BFCC-4FD1-8512-B70759072447}"/>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Sanskar</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what is carried forward</a:t>
            </a:r>
          </a:p>
        </p:txBody>
      </p:sp>
      <p:sp>
        <p:nvSpPr>
          <p:cNvPr id="217" name="Google Shape;217;p10">
            <a:extLst xmlns:a="http://schemas.openxmlformats.org/drawingml/2006/main">
              <a:ext uri="{FF2B5EF4-FFF2-40B4-BE49-F238E27FC236}">
                <a16:creationId xmlns:a16="http://schemas.microsoft.com/office/drawing/2014/main" id="{3C8693FE-21BD-448C-B3DC-842DF5574CEE}"/>
              </a:ext>
            </a:extLst>
          </p:cNvPr>
          <p:cNvSpPr>
            <a:spLocks xmlns:a="http://schemas.openxmlformats.org/drawingml/2006/main" noGrp="1"/>
          </p:cNvSpPr>
          <p:nvPr/>
        </p:nvSpPr>
        <p:spPr>
          <a:xfrm xmlns:a="http://schemas.openxmlformats.org/drawingml/2006/main">
            <a:off x="46634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Understanding and tendencies toward completeness.</a:t>
            </a:r>
          </a:p>
        </p:txBody>
      </p:sp>
      <p:sp>
        <p:nvSpPr>
          <p:cNvPr id="218" name="Google Shape;218;p10">
            <a:extLst xmlns:a="http://schemas.openxmlformats.org/drawingml/2006/main">
              <a:ext uri="{FF2B5EF4-FFF2-40B4-BE49-F238E27FC236}">
                <a16:creationId xmlns:a16="http://schemas.microsoft.com/office/drawing/2014/main" id="{8EB12E16-06CA-4844-9D94-903DB081FCC5}"/>
              </a:ext>
            </a:extLst>
          </p:cNvPr>
          <p:cNvSpPr>
            <a:spLocks xmlns:a="http://schemas.openxmlformats.org/drawingml/2006/main" noGrp="1"/>
          </p:cNvSpPr>
          <p:nvPr/>
        </p:nvSpPr>
        <p:spPr>
          <a:xfrm xmlns:a="http://schemas.openxmlformats.org/drawingml/2006/main">
            <a:off x="6720840" y="2148840"/>
            <a:ext cx="1965960" cy="2240280"/>
          </a:xfrm>
          <a:prstGeom xmlns:a="http://schemas.openxmlformats.org/drawingml/2006/main" prst="roundRect">
            <a:avLst>
              <a:gd name="adj" fmla="val 465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9" name="Google Shape;219;p10">
            <a:extLst xmlns:a="http://schemas.openxmlformats.org/drawingml/2006/main">
              <a:ext uri="{FF2B5EF4-FFF2-40B4-BE49-F238E27FC236}">
                <a16:creationId xmlns:a16="http://schemas.microsoft.com/office/drawing/2014/main" id="{9284BC00-0E75-4B20-9DC9-46F0B4A2CE8E}"/>
              </a:ext>
            </a:extLst>
          </p:cNvPr>
          <p:cNvSpPr>
            <a:spLocks xmlns:a="http://schemas.openxmlformats.org/drawingml/2006/main" noGrp="1"/>
          </p:cNvSpPr>
          <p:nvPr/>
        </p:nvSpPr>
        <p:spPr>
          <a:xfrm xmlns:a="http://schemas.openxmlformats.org/drawingml/2006/main">
            <a:off x="6903720" y="2331720"/>
            <a:ext cx="1627632" cy="1920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Three evaluation errors</a:t>
            </a:r>
          </a:p>
          <a:p xmlns:a="http://schemas.openxmlformats.org/drawingml/2006/main">
            <a:pPr marL="0" indent="0" algn="l">
              <a:spcBef>
                <a:spcPts val="600"/>
              </a:spcBef>
              <a:spcAft>
                <a:spcPts val="0"/>
              </a:spcAft>
              <a:buNone/>
            </a:pPr>
            <a:r>
              <a:rPr sz="1250" b="0" i="0" u="none" cap="none">
                <a:solidFill>
                  <a:srgbClr val="5A6377"/>
                </a:solidFill>
                <a:latin typeface="Calibri"/>
                <a:ea typeface="Calibri"/>
                <a:cs typeface="Calibri"/>
              </a:rPr>
              <a:t>Over-evaluation</a:t>
            </a:r>
          </a:p>
          <a:p xmlns:a="http://schemas.openxmlformats.org/drawingml/2006/main">
            <a:pPr marL="0" indent="0" algn="l">
              <a:spcBef>
                <a:spcPts val="600"/>
              </a:spcBef>
              <a:spcAft>
                <a:spcPts val="0"/>
              </a:spcAft>
              <a:buNone/>
            </a:pPr>
            <a:r>
              <a:rPr sz="1250" b="0" i="0" u="none" cap="none">
                <a:solidFill>
                  <a:srgbClr val="5A6377"/>
                </a:solidFill>
                <a:latin typeface="Calibri"/>
                <a:ea typeface="Calibri"/>
                <a:cs typeface="Calibri"/>
              </a:rPr>
              <a:t>Under-evaluation</a:t>
            </a:r>
          </a:p>
          <a:p xmlns:a="http://schemas.openxmlformats.org/drawingml/2006/main">
            <a:pPr marL="0" indent="0" algn="l">
              <a:spcBef>
                <a:spcPts val="600"/>
              </a:spcBef>
              <a:spcAft>
                <a:spcPts val="0"/>
              </a:spcAft>
              <a:buNone/>
            </a:pPr>
            <a:r>
              <a:rPr sz="1250" b="0" i="0" u="none" cap="none">
                <a:solidFill>
                  <a:srgbClr val="5A6377"/>
                </a:solidFill>
                <a:latin typeface="Calibri"/>
                <a:ea typeface="Calibri"/>
                <a:cs typeface="Calibri"/>
              </a:rPr>
              <a:t>Mis-evaluation</a:t>
            </a:r>
          </a:p>
          <a:p xmlns:a="http://schemas.openxmlformats.org/drawingml/2006/main">
            <a:pPr marL="0" indent="0" algn="l">
              <a:spcBef>
                <a:spcPts val="600"/>
              </a:spcBef>
              <a:spcAft>
                <a:spcPts val="0"/>
              </a:spcAft>
              <a:buNone/>
            </a:pPr>
            <a:r>
              <a:rPr sz="1000" b="0" i="0" u="none" cap="none">
                <a:solidFill>
                  <a:srgbClr val="5A6377"/>
                </a:solidFill>
                <a:latin typeface="Calibri"/>
                <a:ea typeface="Calibri"/>
                <a:cs typeface="Calibri"/>
              </a:rPr>
              <a:t/>
            </a:r>
          </a:p>
          <a:p xmlns:a="http://schemas.openxmlformats.org/drawingml/2006/main">
            <a:pPr marL="0" indent="0" algn="l">
              <a:spcBef>
                <a:spcPts val="600"/>
              </a:spcBef>
              <a:spcAft>
                <a:spcPts val="0"/>
              </a:spcAft>
              <a:buNone/>
            </a:pPr>
            <a:r>
              <a:rPr sz="1250" b="0" i="0" u="none" cap="none">
                <a:solidFill>
                  <a:srgbClr val="5A6377"/>
                </a:solidFill>
                <a:latin typeface="Calibri"/>
                <a:ea typeface="Calibri"/>
                <a:cs typeface="Calibri"/>
              </a:rPr>
              <a:t>Each can preserve contradiction while appearing certain.</a:t>
            </a:r>
          </a:p>
        </p:txBody>
      </p:sp>
      <p:sp>
        <p:nvSpPr>
          <p:cNvPr id="220" name="Google Shape;220;p10">
            <a:extLst xmlns:a="http://schemas.openxmlformats.org/drawingml/2006/main">
              <a:ext uri="{FF2B5EF4-FFF2-40B4-BE49-F238E27FC236}">
                <a16:creationId xmlns:a16="http://schemas.microsoft.com/office/drawing/2014/main" id="{18DD3430-A1FC-4786-A89B-7568D98DA23D}"/>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Consequence becomes material for corrected understanding. — MVD pp. 90, 263–264, 290 · KD Ch. 1  ·  AnalyticMadhyasthDarshan.org  ·  30 / 36</a:t>
            </a:r>
          </a:p>
        </p:txBody>
      </p:sp>
    </p:spTree>
    <p:extLst>
      <p:ext uri="{BB962C8B-B14F-4D97-AF65-F5344CB8AC3E}">
        <p14:creationId xmlns:p14="http://schemas.microsoft.com/office/powerpoint/2010/main" val="183672015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Google Shape;373;p16">
            <a:extLst xmlns:a="http://schemas.openxmlformats.org/drawingml/2006/main">
              <a:ext uri="{FF2B5EF4-FFF2-40B4-BE49-F238E27FC236}">
                <a16:creationId xmlns:a16="http://schemas.microsoft.com/office/drawing/2014/main" id="{EE5E8163-2E3D-4286-83A5-4E98AABDC9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4" name="Google Shape;374;p16">
            <a:extLst xmlns:a="http://schemas.openxmlformats.org/drawingml/2006/main">
              <a:ext uri="{FF2B5EF4-FFF2-40B4-BE49-F238E27FC236}">
                <a16:creationId xmlns:a16="http://schemas.microsoft.com/office/drawing/2014/main" id="{ADF8D51E-7451-457D-961B-75E09BFF1D92}"/>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5" name="Google Shape;375;p16">
            <a:extLst xmlns:a="http://schemas.openxmlformats.org/drawingml/2006/main">
              <a:ext uri="{FF2B5EF4-FFF2-40B4-BE49-F238E27FC236}">
                <a16:creationId xmlns:a16="http://schemas.microsoft.com/office/drawing/2014/main" id="{35D08C76-95A4-4973-ACB4-130398FFBFC2}"/>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6" name="Google Shape;376;p16">
            <a:extLst xmlns:a="http://schemas.openxmlformats.org/drawingml/2006/main">
              <a:ext uri="{FF2B5EF4-FFF2-40B4-BE49-F238E27FC236}">
                <a16:creationId xmlns:a16="http://schemas.microsoft.com/office/drawing/2014/main" id="{6C78D489-C288-42BA-9E09-D4FC86D4C49F}"/>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THREE · §§1.5–1.6 · ERROR AND CORRECTION</a:t>
            </a:r>
          </a:p>
        </p:txBody>
      </p:sp>
      <p:sp>
        <p:nvSpPr>
          <p:cNvPr id="377" name="Google Shape;377;p16">
            <a:extLst xmlns:a="http://schemas.openxmlformats.org/drawingml/2006/main">
              <a:ext uri="{FF2B5EF4-FFF2-40B4-BE49-F238E27FC236}">
                <a16:creationId xmlns:a16="http://schemas.microsoft.com/office/drawing/2014/main" id="{8AEE7DC9-DA87-4328-892E-24BC14E8A848}"/>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How Knowing Goes Wrong</a:t>
            </a:r>
          </a:p>
        </p:txBody>
      </p:sp>
      <p:sp>
        <p:nvSpPr>
          <p:cNvPr id="378" name="Google Shape;378;p16">
            <a:extLst xmlns:a="http://schemas.openxmlformats.org/drawingml/2006/main">
              <a:ext uri="{FF2B5EF4-FFF2-40B4-BE49-F238E27FC236}">
                <a16:creationId xmlns:a16="http://schemas.microsoft.com/office/drawing/2014/main" id="{45E855C4-95FC-424C-B4CC-5E8151148C4D}"/>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Error is diagnosed by where the knowing process loses contact with reality, self, relationship, or result. Information and confidence can remain high while the deeper sequence is broken.</a:t>
            </a:r>
          </a:p>
        </p:txBody>
      </p:sp>
      <p:sp>
        <p:nvSpPr>
          <p:cNvPr id="379" name="Google Shape;379;p16">
            <a:extLst xmlns:a="http://schemas.openxmlformats.org/drawingml/2006/main">
              <a:ext uri="{FF2B5EF4-FFF2-40B4-BE49-F238E27FC236}">
                <a16:creationId xmlns:a16="http://schemas.microsoft.com/office/drawing/2014/main" id="{7CC81903-027E-4E44-907F-8267AC597E67}"/>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0" name="Google Shape;380;p16">
            <a:extLst xmlns:a="http://schemas.openxmlformats.org/drawingml/2006/main">
              <a:ext uri="{FF2B5EF4-FFF2-40B4-BE49-F238E27FC236}">
                <a16:creationId xmlns:a16="http://schemas.microsoft.com/office/drawing/2014/main" id="{FFCD59A2-B0B7-445A-8625-09C68EBABD94}"/>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9A6414"/>
                </a:solidFill>
                <a:latin typeface="Cambria"/>
                <a:ea typeface="Cambria"/>
                <a:cs typeface="Cambria"/>
              </a:rPr>
              <a:t>Delusion — bhram</a:t>
            </a:r>
          </a:p>
        </p:txBody>
      </p:sp>
      <p:sp>
        <p:nvSpPr>
          <p:cNvPr id="381" name="Google Shape;381;p16">
            <a:extLst xmlns:a="http://schemas.openxmlformats.org/drawingml/2006/main">
              <a:ext uri="{FF2B5EF4-FFF2-40B4-BE49-F238E27FC236}">
                <a16:creationId xmlns:a16="http://schemas.microsoft.com/office/drawing/2014/main" id="{7B2E8C50-D74D-4078-A781-ED37F3E0CC7C}"/>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Jeevan is identified with the body; sensitivity becomes the governing reference, and believing separates from knowing.</a:t>
            </a:r>
          </a:p>
        </p:txBody>
      </p:sp>
      <p:sp>
        <p:nvSpPr>
          <p:cNvPr id="382" name="Google Shape;382;p16">
            <a:extLst xmlns:a="http://schemas.openxmlformats.org/drawingml/2006/main">
              <a:ext uri="{FF2B5EF4-FFF2-40B4-BE49-F238E27FC236}">
                <a16:creationId xmlns:a16="http://schemas.microsoft.com/office/drawing/2014/main" id="{54B67296-4447-4A69-BC97-F67606A4F7C0}"/>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3" name="Google Shape;383;p16">
            <a:extLst xmlns:a="http://schemas.openxmlformats.org/drawingml/2006/main">
              <a:ext uri="{FF2B5EF4-FFF2-40B4-BE49-F238E27FC236}">
                <a16:creationId xmlns:a16="http://schemas.microsoft.com/office/drawing/2014/main" id="{3D6485FC-39FA-4EB0-8853-153CF5417249}"/>
              </a:ext>
            </a:extLst>
          </p:cNvPr>
          <p:cNvSpPr>
            <a:spLocks xmlns:a="http://schemas.openxmlformats.org/drawingml/2006/main" noGrp="1"/>
          </p:cNvSpPr>
          <p:nvPr/>
        </p:nvSpPr>
        <p:spPr>
          <a:xfrm xmlns:a="http://schemas.openxmlformats.org/drawingml/2006/main">
            <a:off x="4910328" y="1993392"/>
            <a:ext cx="35204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Intellectual mystery — bauddhik rahasya</a:t>
            </a:r>
          </a:p>
        </p:txBody>
      </p:sp>
      <p:sp>
        <p:nvSpPr>
          <p:cNvPr id="384" name="Google Shape;384;p16">
            <a:extLst xmlns:a="http://schemas.openxmlformats.org/drawingml/2006/main">
              <a:ext uri="{FF2B5EF4-FFF2-40B4-BE49-F238E27FC236}">
                <a16:creationId xmlns:a16="http://schemas.microsoft.com/office/drawing/2014/main" id="{787961EA-42CD-4B38-A5DE-422537D2458B}"/>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faculties fail to guide one another: mun lacks guidance from vritti, vritti from chitta, and chitta from buddhi.</a:t>
            </a:r>
          </a:p>
        </p:txBody>
      </p:sp>
      <p:sp>
        <p:nvSpPr>
          <p:cNvPr id="385" name="Google Shape;385;p16">
            <a:extLst xmlns:a="http://schemas.openxmlformats.org/drawingml/2006/main">
              <a:ext uri="{FF2B5EF4-FFF2-40B4-BE49-F238E27FC236}">
                <a16:creationId xmlns:a16="http://schemas.microsoft.com/office/drawing/2014/main" id="{2A62FD21-0CDD-4DF1-A565-6CC1FFA1B76D}"/>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False learning — mistaken understanding of form, properties, essential nature, or dharma. It can produce doubt and errors of evaluation.</a:t>
            </a:r>
          </a:p>
        </p:txBody>
      </p:sp>
      <p:sp>
        <p:nvSpPr>
          <p:cNvPr id="386" name="Google Shape;386;p16">
            <a:extLst xmlns:a="http://schemas.openxmlformats.org/drawingml/2006/main">
              <a:ext uri="{FF2B5EF4-FFF2-40B4-BE49-F238E27FC236}">
                <a16:creationId xmlns:a16="http://schemas.microsoft.com/office/drawing/2014/main" id="{33F8C60F-28AA-433E-B157-DF631F162C5C}"/>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7" name="Google Shape;387;p16">
            <a:extLst xmlns:a="http://schemas.openxmlformats.org/drawingml/2006/main">
              <a:ext uri="{FF2B5EF4-FFF2-40B4-BE49-F238E27FC236}">
                <a16:creationId xmlns:a16="http://schemas.microsoft.com/office/drawing/2014/main" id="{1DBF5721-6FB0-47E7-AF84-E47E92AA81BF}"/>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Doubt</a:t>
            </a:r>
          </a:p>
        </p:txBody>
      </p:sp>
      <p:sp>
        <p:nvSpPr>
          <p:cNvPr id="388" name="Google Shape;388;p16">
            <a:extLst xmlns:a="http://schemas.openxmlformats.org/drawingml/2006/main">
              <a:ext uri="{FF2B5EF4-FFF2-40B4-BE49-F238E27FC236}">
                <a16:creationId xmlns:a16="http://schemas.microsoft.com/office/drawing/2014/main" id="{2AF68A6B-78EF-4514-9799-95BA9AA90E1F}"/>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89" name="Google Shape;389;p16">
            <a:extLst xmlns:a="http://schemas.openxmlformats.org/drawingml/2006/main">
              <a:ext uri="{FF2B5EF4-FFF2-40B4-BE49-F238E27FC236}">
                <a16:creationId xmlns:a16="http://schemas.microsoft.com/office/drawing/2014/main" id="{B42257E6-D18C-4D3A-B641-E01638913146}"/>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0" name="Google Shape;390;p16">
            <a:extLst xmlns:a="http://schemas.openxmlformats.org/drawingml/2006/main">
              <a:ext uri="{FF2B5EF4-FFF2-40B4-BE49-F238E27FC236}">
                <a16:creationId xmlns:a16="http://schemas.microsoft.com/office/drawing/2014/main" id="{9DD3FDFF-7A8B-4603-9FD8-FD730EC51CC3}"/>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Mis-evaluation</a:t>
            </a:r>
          </a:p>
        </p:txBody>
      </p:sp>
      <p:sp>
        <p:nvSpPr>
          <p:cNvPr id="391" name="Google Shape;391;p16">
            <a:extLst xmlns:a="http://schemas.openxmlformats.org/drawingml/2006/main">
              <a:ext uri="{FF2B5EF4-FFF2-40B4-BE49-F238E27FC236}">
                <a16:creationId xmlns:a16="http://schemas.microsoft.com/office/drawing/2014/main" id="{EB6A9F57-3D1A-409B-8571-B2C0C829114E}"/>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2" name="Google Shape;392;p16">
            <a:extLst xmlns:a="http://schemas.openxmlformats.org/drawingml/2006/main">
              <a:ext uri="{FF2B5EF4-FFF2-40B4-BE49-F238E27FC236}">
                <a16:creationId xmlns:a16="http://schemas.microsoft.com/office/drawing/2014/main" id="{F2960607-40BF-4891-BFFD-1D85C4AD8A95}"/>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3" name="Google Shape;393;p16">
            <a:extLst xmlns:a="http://schemas.openxmlformats.org/drawingml/2006/main">
              <a:ext uri="{FF2B5EF4-FFF2-40B4-BE49-F238E27FC236}">
                <a16:creationId xmlns:a16="http://schemas.microsoft.com/office/drawing/2014/main" id="{3D89BF9B-D547-4009-915C-D5A1DA0C6473}"/>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Contradiction</a:t>
            </a:r>
          </a:p>
        </p:txBody>
      </p:sp>
      <p:sp>
        <p:nvSpPr>
          <p:cNvPr id="394" name="Google Shape;394;p16">
            <a:extLst xmlns:a="http://schemas.openxmlformats.org/drawingml/2006/main">
              <a:ext uri="{FF2B5EF4-FFF2-40B4-BE49-F238E27FC236}">
                <a16:creationId xmlns:a16="http://schemas.microsoft.com/office/drawing/2014/main" id="{11CF1EC8-FEFB-49FB-939D-7C097CB68AFC}"/>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5" name="Google Shape;395;p16">
            <a:extLst xmlns:a="http://schemas.openxmlformats.org/drawingml/2006/main">
              <a:ext uri="{FF2B5EF4-FFF2-40B4-BE49-F238E27FC236}">
                <a16:creationId xmlns:a16="http://schemas.microsoft.com/office/drawing/2014/main" id="{BA221319-804B-4F09-A1A8-1E91A7B82640}"/>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6" name="Google Shape;396;p16">
            <a:extLst xmlns:a="http://schemas.openxmlformats.org/drawingml/2006/main">
              <a:ext uri="{FF2B5EF4-FFF2-40B4-BE49-F238E27FC236}">
                <a16:creationId xmlns:a16="http://schemas.microsoft.com/office/drawing/2014/main" id="{724FC277-275C-4F7E-A756-9F27B90E7CE3}"/>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Correction</a:t>
            </a:r>
          </a:p>
        </p:txBody>
      </p:sp>
      <p:sp>
        <p:nvSpPr>
          <p:cNvPr id="397" name="Google Shape;397;p16">
            <a:extLst xmlns:a="http://schemas.openxmlformats.org/drawingml/2006/main">
              <a:ext uri="{FF2B5EF4-FFF2-40B4-BE49-F238E27FC236}">
                <a16:creationId xmlns:a16="http://schemas.microsoft.com/office/drawing/2014/main" id="{E9B40105-D081-49D7-A6E4-DDF7A3CB00D0}"/>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Correction involves study, emulation, practice, and renewed evaluation of thought and conduct.</a:t>
            </a:r>
          </a:p>
        </p:txBody>
      </p:sp>
      <p:sp>
        <p:nvSpPr>
          <p:cNvPr id="398" name="Google Shape;398;p16">
            <a:extLst xmlns:a="http://schemas.openxmlformats.org/drawingml/2006/main">
              <a:ext uri="{FF2B5EF4-FFF2-40B4-BE49-F238E27FC236}">
                <a16:creationId xmlns:a16="http://schemas.microsoft.com/office/drawing/2014/main" id="{4759006B-AB01-486E-A99B-9E94FD623428}"/>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JV p. 93  ·  MVD pp. 184, 209, 263–264, 279–282, 317  ·  AnalyticMadhyasthDarshan.org  ·  31 / 36</a:t>
            </a:r>
          </a:p>
        </p:txBody>
      </p:sp>
    </p:spTree>
    <p:extLst>
      <p:ext uri="{BB962C8B-B14F-4D97-AF65-F5344CB8AC3E}">
        <p14:creationId xmlns:p14="http://schemas.microsoft.com/office/powerpoint/2010/main" val="156369508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1FDF55EE-1DFC-4864-BBCF-6889CF1EF2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5AD84244-4940-47B0-823B-B7C36ED1B0F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11218A88-AD24-47F4-AA7E-CEDB55B3606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920138EF-D763-4448-A961-8DCEAD2BB11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THREE · §1.6 · DIRECT ACCESSIBILITY AND REALISATION</a:t>
            </a:r>
          </a:p>
        </p:txBody>
      </p:sp>
      <p:sp>
        <p:nvSpPr>
          <p:cNvPr id="125" name="Google Shape;125;p7">
            <a:extLst xmlns:a="http://schemas.openxmlformats.org/drawingml/2006/main">
              <a:ext uri="{FF2B5EF4-FFF2-40B4-BE49-F238E27FC236}">
                <a16:creationId xmlns:a16="http://schemas.microsoft.com/office/drawing/2014/main" id="{B29B9366-7866-413D-82A0-241730EBC63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Perception, Comprehension, Realisation</a:t>
            </a:r>
          </a:p>
        </p:txBody>
      </p:sp>
      <p:sp>
        <p:nvSpPr>
          <p:cNvPr id="126" name="Google Shape;126;p7">
            <a:extLst xmlns:a="http://schemas.openxmlformats.org/drawingml/2006/main">
              <a:ext uri="{FF2B5EF4-FFF2-40B4-BE49-F238E27FC236}">
                <a16:creationId xmlns:a16="http://schemas.microsoft.com/office/drawing/2014/main" id="{7D7417D2-2684-43CB-8AFE-F91CDBDC0F85}"/>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EE33F6BF-95C0-4816-A54C-B6B00AF45E1B}"/>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B6E3019C-45D3-4ED1-A9D2-55D72A50880D}"/>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EE1719B3-E68F-4D01-A60C-336CB2754F8D}"/>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A70DDF07-767E-4CA7-8197-976F5965AFE8}"/>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Three methods</a:t>
            </a:r>
          </a:p>
        </p:txBody>
      </p:sp>
      <p:sp>
        <p:nvSpPr>
          <p:cNvPr id="131" name="Google Shape;131;p7">
            <a:extLst xmlns:a="http://schemas.openxmlformats.org/drawingml/2006/main">
              <a:ext uri="{FF2B5EF4-FFF2-40B4-BE49-F238E27FC236}">
                <a16:creationId xmlns:a16="http://schemas.microsoft.com/office/drawing/2014/main" id="{6BEFCC17-F959-4C0D-898B-ADDA648A1126}"/>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Direct perception: continuous proximity. Inference: its possibility. Testimony-activity: what immediate proximity cannot establish.</a:t>
            </a:r>
          </a:p>
        </p:txBody>
      </p:sp>
      <p:sp>
        <p:nvSpPr>
          <p:cNvPr id="132" name="Google Shape;132;p7">
            <a:extLst xmlns:a="http://schemas.openxmlformats.org/drawingml/2006/main">
              <a:ext uri="{FF2B5EF4-FFF2-40B4-BE49-F238E27FC236}">
                <a16:creationId xmlns:a16="http://schemas.microsoft.com/office/drawing/2014/main" id="{2B1D4DE1-906E-43B6-A1AC-A7EA7B235BDE}"/>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1A555193-C105-42C6-B81B-78A780152943}"/>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3A08FC77-38FD-4F53-9FDA-4E24295DFCF2}"/>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D06E458B-173D-440A-9C47-D542B10D793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2E165D08-90C3-4000-8857-A8714F7BC41F}"/>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Three levels</a:t>
            </a:r>
          </a:p>
        </p:txBody>
      </p:sp>
      <p:sp>
        <p:nvSpPr>
          <p:cNvPr id="137" name="Google Shape;137;p7">
            <a:extLst xmlns:a="http://schemas.openxmlformats.org/drawingml/2006/main">
              <a:ext uri="{FF2B5EF4-FFF2-40B4-BE49-F238E27FC236}">
                <a16:creationId xmlns:a16="http://schemas.microsoft.com/office/drawing/2014/main" id="{81243F9D-4F30-4A59-8606-FA47AD846C3A}"/>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Gross: form and properties. Subtle: properties and essential nature. Causal: essential nature and dharma.</a:t>
            </a:r>
          </a:p>
        </p:txBody>
      </p:sp>
      <p:sp>
        <p:nvSpPr>
          <p:cNvPr id="138" name="Google Shape;138;p7">
            <a:extLst xmlns:a="http://schemas.openxmlformats.org/drawingml/2006/main">
              <a:ext uri="{FF2B5EF4-FFF2-40B4-BE49-F238E27FC236}">
                <a16:creationId xmlns:a16="http://schemas.microsoft.com/office/drawing/2014/main" id="{C24F03F3-13B7-4DA6-B82A-6FFEF115DCC6}"/>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7E860388-B17F-4D86-B9E1-F64D831A85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2DCD6C6B-CF46-4530-A4E5-F7FEC5439D14}"/>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0D2E6CD2-706E-4D67-92AD-87B6DF703565}"/>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72284CF3-2391-448B-BA27-7D7834BE2558}"/>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Apprehension · comprehension</a:t>
            </a:r>
          </a:p>
        </p:txBody>
      </p:sp>
      <p:sp>
        <p:nvSpPr>
          <p:cNvPr id="143" name="Google Shape;143;p7">
            <a:extLst xmlns:a="http://schemas.openxmlformats.org/drawingml/2006/main">
              <a:ext uri="{FF2B5EF4-FFF2-40B4-BE49-F238E27FC236}">
                <a16:creationId xmlns:a16="http://schemas.microsoft.com/office/drawing/2014/main" id="{88B4D163-A60F-4D71-A21A-FF9D668635D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Chitta directly apprehends meaning</a:t>
            </a:r>
            <a:r>
              <a:rPr sz="1250" b="0" i="0" u="none" cap="none">
                <a:solidFill>
                  <a:srgbClr val="5A6377"/>
                </a:solidFill>
                <a:latin typeface="Calibri"/>
                <a:ea typeface="Calibri"/>
                <a:cs typeface="Calibri"/>
              </a:rPr>
              <a:t>. Buddhi comprehends and accepts it; resolve expresses that understanding.</a:t>
            </a:r>
          </a:p>
        </p:txBody>
      </p:sp>
      <p:sp>
        <p:nvSpPr>
          <p:cNvPr id="144" name="Google Shape;144;p7">
            <a:extLst xmlns:a="http://schemas.openxmlformats.org/drawingml/2006/main">
              <a:ext uri="{FF2B5EF4-FFF2-40B4-BE49-F238E27FC236}">
                <a16:creationId xmlns:a16="http://schemas.microsoft.com/office/drawing/2014/main" id="{35D606E5-7371-49D6-8AFE-E2CD65E2D258}"/>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60ED207F-363E-479B-A217-044586C34A06}"/>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F59040DB-FE8E-4768-B34F-7171056FB64B}"/>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2D39A687-7B45-4546-8894-6BDA52A70DF4}"/>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40CC8AF1-DE82-4E58-8C0C-0A05484D7F0A}"/>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Realisation — anubhav</a:t>
            </a:r>
          </a:p>
        </p:txBody>
      </p:sp>
      <p:sp>
        <p:nvSpPr>
          <p:cNvPr id="149" name="Google Shape;149;p7">
            <a:extLst xmlns:a="http://schemas.openxmlformats.org/drawingml/2006/main">
              <a:ext uri="{FF2B5EF4-FFF2-40B4-BE49-F238E27FC236}">
                <a16:creationId xmlns:a16="http://schemas.microsoft.com/office/drawing/2014/main" id="{43CACCDB-C99D-4605-856E-E37BB61C6E30}"/>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Atma realises coexistence. Understanding becomes evident in explanation, conduct, work, and evaluation.</a:t>
            </a:r>
          </a:p>
        </p:txBody>
      </p:sp>
      <p:sp>
        <p:nvSpPr>
          <p:cNvPr id="150" name="Google Shape;150;p7">
            <a:extLst xmlns:a="http://schemas.openxmlformats.org/drawingml/2006/main">
              <a:ext uri="{FF2B5EF4-FFF2-40B4-BE49-F238E27FC236}">
                <a16:creationId xmlns:a16="http://schemas.microsoft.com/office/drawing/2014/main" id="{C900555A-CF8C-4582-8C80-52AF84F08F63}"/>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2117AB49-652B-42CE-AF52-B10AE62D38EC}"/>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Each method applies across all three levels; the classifications do not pair one-to-one.</a:t>
            </a:r>
          </a:p>
        </p:txBody>
      </p:sp>
      <p:sp>
        <p:nvSpPr>
          <p:cNvPr id="152" name="Google Shape;152;p7">
            <a:extLst xmlns:a="http://schemas.openxmlformats.org/drawingml/2006/main">
              <a:ext uri="{FF2B5EF4-FFF2-40B4-BE49-F238E27FC236}">
                <a16:creationId xmlns:a16="http://schemas.microsoft.com/office/drawing/2014/main" id="{C8AB52DC-457F-4AED-9264-440E84A6C23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KD pp. 20–21  ·  MVD pp. 35, 98–99  ·  SB p. 63  ·  AnalyticMadhyasthDarshan.org  ·  32 / 36</a:t>
            </a:r>
          </a:p>
        </p:txBody>
      </p:sp>
    </p:spTree>
    <p:extLst>
      <p:ext uri="{BB962C8B-B14F-4D97-AF65-F5344CB8AC3E}">
        <p14:creationId xmlns:p14="http://schemas.microsoft.com/office/powerpoint/2010/main" val="97238234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Google Shape;373;p16">
            <a:extLst xmlns:a="http://schemas.openxmlformats.org/drawingml/2006/main">
              <a:ext uri="{FF2B5EF4-FFF2-40B4-BE49-F238E27FC236}">
                <a16:creationId xmlns:a16="http://schemas.microsoft.com/office/drawing/2014/main" id="{1F4410D1-34DA-403C-BA40-152307643EA1}"/>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4" name="Google Shape;374;p16">
            <a:extLst xmlns:a="http://schemas.openxmlformats.org/drawingml/2006/main">
              <a:ext uri="{FF2B5EF4-FFF2-40B4-BE49-F238E27FC236}">
                <a16:creationId xmlns:a16="http://schemas.microsoft.com/office/drawing/2014/main" id="{57798501-B417-480F-AC34-D64B712241D5}"/>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5" name="Google Shape;375;p16">
            <a:extLst xmlns:a="http://schemas.openxmlformats.org/drawingml/2006/main">
              <a:ext uri="{FF2B5EF4-FFF2-40B4-BE49-F238E27FC236}">
                <a16:creationId xmlns:a16="http://schemas.microsoft.com/office/drawing/2014/main" id="{A0FC3A8A-6709-413A-BDD8-5A09546291A0}"/>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6" name="Google Shape;376;p16">
            <a:extLst xmlns:a="http://schemas.openxmlformats.org/drawingml/2006/main">
              <a:ext uri="{FF2B5EF4-FFF2-40B4-BE49-F238E27FC236}">
                <a16:creationId xmlns:a16="http://schemas.microsoft.com/office/drawing/2014/main" id="{5A521877-D588-43D4-BAE5-E430C7E42C6E}"/>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THREE · §1.6 · STUDY, TRANSMISSION, AND PUBLIC LEGIBILITY</a:t>
            </a:r>
          </a:p>
        </p:txBody>
      </p:sp>
      <p:sp>
        <p:nvSpPr>
          <p:cNvPr id="377" name="Google Shape;377;p16">
            <a:extLst xmlns:a="http://schemas.openxmlformats.org/drawingml/2006/main">
              <a:ext uri="{FF2B5EF4-FFF2-40B4-BE49-F238E27FC236}">
                <a16:creationId xmlns:a16="http://schemas.microsoft.com/office/drawing/2014/main" id="{E43344FB-5441-428B-858A-376598E07362}"/>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Understanding Must Be Conveyable</a:t>
            </a:r>
          </a:p>
        </p:txBody>
      </p:sp>
      <p:sp>
        <p:nvSpPr>
          <p:cNvPr id="378" name="Google Shape;378;p16">
            <a:extLst xmlns:a="http://schemas.openxmlformats.org/drawingml/2006/main">
              <a:ext uri="{FF2B5EF4-FFF2-40B4-BE49-F238E27FC236}">
                <a16:creationId xmlns:a16="http://schemas.microsoft.com/office/drawing/2014/main" id="{4A1B57B2-5A19-4109-8BC2-FD0068E74C10}"/>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MVD describes three broad phases: study; experiment and practice; realisation with evidence. The diagram expands this into a teaching outline.</a:t>
            </a:r>
          </a:p>
        </p:txBody>
      </p:sp>
      <p:sp>
        <p:nvSpPr>
          <p:cNvPr id="379" name="Google Shape;379;p16">
            <a:extLst xmlns:a="http://schemas.openxmlformats.org/drawingml/2006/main">
              <a:ext uri="{FF2B5EF4-FFF2-40B4-BE49-F238E27FC236}">
                <a16:creationId xmlns:a16="http://schemas.microsoft.com/office/drawing/2014/main" id="{0C65F213-D3FF-4033-8FF4-F464BB3FEFC5}"/>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0" name="Google Shape;380;p16">
            <a:extLst xmlns:a="http://schemas.openxmlformats.org/drawingml/2006/main">
              <a:ext uri="{FF2B5EF4-FFF2-40B4-BE49-F238E27FC236}">
                <a16:creationId xmlns:a16="http://schemas.microsoft.com/office/drawing/2014/main" id="{2BA11955-42B7-4E6A-9D50-483C0F1E2B03}"/>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1E2447"/>
                </a:solidFill>
                <a:latin typeface="Cambria"/>
                <a:ea typeface="Cambria"/>
                <a:cs typeface="Cambria"/>
              </a:rPr>
              <a:t>Study</a:t>
            </a:r>
          </a:p>
        </p:txBody>
      </p:sp>
      <p:sp>
        <p:nvSpPr>
          <p:cNvPr id="381" name="Google Shape;381;p16">
            <a:extLst xmlns:a="http://schemas.openxmlformats.org/drawingml/2006/main">
              <a:ext uri="{FF2B5EF4-FFF2-40B4-BE49-F238E27FC236}">
                <a16:creationId xmlns:a16="http://schemas.microsoft.com/office/drawing/2014/main" id="{D2FA9C2B-589C-41D2-8CFF-AB1AC5486FFF}"/>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wish to understand starts inquiry. Reasoning, experiment, and practice test the proposal in living.</a:t>
            </a:r>
          </a:p>
        </p:txBody>
      </p:sp>
      <p:sp>
        <p:nvSpPr>
          <p:cNvPr id="382" name="Google Shape;382;p16">
            <a:extLst xmlns:a="http://schemas.openxmlformats.org/drawingml/2006/main">
              <a:ext uri="{FF2B5EF4-FFF2-40B4-BE49-F238E27FC236}">
                <a16:creationId xmlns:a16="http://schemas.microsoft.com/office/drawing/2014/main" id="{3E5963D1-687E-4B0D-A4BC-81515DCA8F90}"/>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3" name="Google Shape;383;p16">
            <a:extLst xmlns:a="http://schemas.openxmlformats.org/drawingml/2006/main">
              <a:ext uri="{FF2B5EF4-FFF2-40B4-BE49-F238E27FC236}">
                <a16:creationId xmlns:a16="http://schemas.microsoft.com/office/drawing/2014/main" id="{749BA66B-749E-4508-9224-A8B6B35C4EE7}"/>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Learning and living</a:t>
            </a:r>
          </a:p>
        </p:txBody>
      </p:sp>
      <p:sp>
        <p:nvSpPr>
          <p:cNvPr id="384" name="Google Shape;384;p16">
            <a:extLst xmlns:a="http://schemas.openxmlformats.org/drawingml/2006/main">
              <a:ext uri="{FF2B5EF4-FFF2-40B4-BE49-F238E27FC236}">
                <a16:creationId xmlns:a16="http://schemas.microsoft.com/office/drawing/2014/main" id="{ABB1D9B7-20F3-4509-B978-5CB9C2F9ACB1}"/>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Learning toward realisation: </a:t>
            </a:r>
            <a:r>
              <a:rPr sz="1250" b="0" i="0" u="none" cap="none">
                <a:solidFill>
                  <a:srgbClr val="5A6377"/>
                </a:solidFill>
                <a:latin typeface="Calibri"/>
                <a:ea typeface="Calibri"/>
                <a:cs typeface="Calibri"/>
              </a:rPr>
              <a:t>apprehension in chitta</a:t>
            </a:r>
            <a:r>
              <a:rPr sz="1250" b="0" i="0" u="none" cap="none">
                <a:solidFill>
                  <a:srgbClr val="5A6377"/>
                </a:solidFill>
                <a:latin typeface="Calibri"/>
                <a:ea typeface="Calibri"/>
                <a:cs typeface="Calibri"/>
              </a:rPr>
              <a:t>, acceptance in buddhi. Living from realisation: understanding expressed in conduct.</a:t>
            </a:r>
          </a:p>
        </p:txBody>
      </p:sp>
      <p:sp>
        <p:nvSpPr>
          <p:cNvPr id="385" name="Google Shape;385;p16">
            <a:extLst xmlns:a="http://schemas.openxmlformats.org/drawingml/2006/main">
              <a:ext uri="{FF2B5EF4-FFF2-40B4-BE49-F238E27FC236}">
                <a16:creationId xmlns:a16="http://schemas.microsoft.com/office/drawing/2014/main" id="{C211B686-08B8-4796-9457-DF5FDC567BB4}"/>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Literature, behaviour, and work are three fields of practice. Clear explanation and lived evidence make understanding conveyable.</a:t>
            </a:r>
          </a:p>
        </p:txBody>
      </p:sp>
      <p:sp>
        <p:nvSpPr>
          <p:cNvPr id="386" name="Google Shape;386;p16">
            <a:extLst xmlns:a="http://schemas.openxmlformats.org/drawingml/2006/main">
              <a:ext uri="{FF2B5EF4-FFF2-40B4-BE49-F238E27FC236}">
                <a16:creationId xmlns:a16="http://schemas.microsoft.com/office/drawing/2014/main" id="{E05A1985-6023-4BD0-BB78-6DB460175203}"/>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7" name="Google Shape;387;p16">
            <a:extLst xmlns:a="http://schemas.openxmlformats.org/drawingml/2006/main">
              <a:ext uri="{FF2B5EF4-FFF2-40B4-BE49-F238E27FC236}">
                <a16:creationId xmlns:a16="http://schemas.microsoft.com/office/drawing/2014/main" id="{1C834254-7B57-4112-A7C3-D8D4285FAA51}"/>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Study</a:t>
            </a:r>
          </a:p>
        </p:txBody>
      </p:sp>
      <p:sp>
        <p:nvSpPr>
          <p:cNvPr id="388" name="Google Shape;388;p16">
            <a:extLst xmlns:a="http://schemas.openxmlformats.org/drawingml/2006/main">
              <a:ext uri="{FF2B5EF4-FFF2-40B4-BE49-F238E27FC236}">
                <a16:creationId xmlns:a16="http://schemas.microsoft.com/office/drawing/2014/main" id="{FD9F1E8A-7EB2-40EE-9C81-2BC418DBA25F}"/>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89" name="Google Shape;389;p16">
            <a:extLst xmlns:a="http://schemas.openxmlformats.org/drawingml/2006/main">
              <a:ext uri="{FF2B5EF4-FFF2-40B4-BE49-F238E27FC236}">
                <a16:creationId xmlns:a16="http://schemas.microsoft.com/office/drawing/2014/main" id="{56AC2E7C-8F0D-4288-83AD-96BC81D0DCB5}"/>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0" name="Google Shape;390;p16">
            <a:extLst xmlns:a="http://schemas.openxmlformats.org/drawingml/2006/main">
              <a:ext uri="{FF2B5EF4-FFF2-40B4-BE49-F238E27FC236}">
                <a16:creationId xmlns:a16="http://schemas.microsoft.com/office/drawing/2014/main" id="{4D7E7337-4D80-469A-9F92-52CF41272E7F}"/>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Experiment + practice</a:t>
            </a:r>
          </a:p>
        </p:txBody>
      </p:sp>
      <p:sp>
        <p:nvSpPr>
          <p:cNvPr id="391" name="Google Shape;391;p16">
            <a:extLst xmlns:a="http://schemas.openxmlformats.org/drawingml/2006/main">
              <a:ext uri="{FF2B5EF4-FFF2-40B4-BE49-F238E27FC236}">
                <a16:creationId xmlns:a16="http://schemas.microsoft.com/office/drawing/2014/main" id="{4E67D567-6A22-476C-A7E6-1E625917B66C}"/>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2" name="Google Shape;392;p16">
            <a:extLst xmlns:a="http://schemas.openxmlformats.org/drawingml/2006/main">
              <a:ext uri="{FF2B5EF4-FFF2-40B4-BE49-F238E27FC236}">
                <a16:creationId xmlns:a16="http://schemas.microsoft.com/office/drawing/2014/main" id="{0BCED3E7-79B9-4020-8C22-97155CEDC377}"/>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3" name="Google Shape;393;p16">
            <a:extLst xmlns:a="http://schemas.openxmlformats.org/drawingml/2006/main">
              <a:ext uri="{FF2B5EF4-FFF2-40B4-BE49-F238E27FC236}">
                <a16:creationId xmlns:a16="http://schemas.microsoft.com/office/drawing/2014/main" id="{F06F3ACC-BA7E-49E1-BDC3-03810BEB58BC}"/>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Apprehension + bodh</a:t>
            </a:r>
          </a:p>
        </p:txBody>
      </p:sp>
      <p:sp>
        <p:nvSpPr>
          <p:cNvPr id="394" name="Google Shape;394;p16">
            <a:extLst xmlns:a="http://schemas.openxmlformats.org/drawingml/2006/main">
              <a:ext uri="{FF2B5EF4-FFF2-40B4-BE49-F238E27FC236}">
                <a16:creationId xmlns:a16="http://schemas.microsoft.com/office/drawing/2014/main" id="{F3B37F53-63C1-4CA4-A133-2664FB83F5ED}"/>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5" name="Google Shape;395;p16">
            <a:extLst xmlns:a="http://schemas.openxmlformats.org/drawingml/2006/main">
              <a:ext uri="{FF2B5EF4-FFF2-40B4-BE49-F238E27FC236}">
                <a16:creationId xmlns:a16="http://schemas.microsoft.com/office/drawing/2014/main" id="{8828DA70-5489-4652-A619-21DAE49E47C1}"/>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6" name="Google Shape;396;p16">
            <a:extLst xmlns:a="http://schemas.openxmlformats.org/drawingml/2006/main">
              <a:ext uri="{FF2B5EF4-FFF2-40B4-BE49-F238E27FC236}">
                <a16:creationId xmlns:a16="http://schemas.microsoft.com/office/drawing/2014/main" id="{282BD5CD-04DF-4D29-A610-770B6F3CB25F}"/>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Realisation + evidence</a:t>
            </a:r>
          </a:p>
        </p:txBody>
      </p:sp>
      <p:sp>
        <p:nvSpPr>
          <p:cNvPr id="397" name="Google Shape;397;p16">
            <a:extLst xmlns:a="http://schemas.openxmlformats.org/drawingml/2006/main">
              <a:ext uri="{FF2B5EF4-FFF2-40B4-BE49-F238E27FC236}">
                <a16:creationId xmlns:a16="http://schemas.microsoft.com/office/drawing/2014/main" id="{CB0BFA60-DD9E-4D48-AACF-B0609CA36304}"/>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Understanding is claimed to be learnable and liveable by every human being; transmission must make it available to others.</a:t>
            </a:r>
          </a:p>
        </p:txBody>
      </p:sp>
      <p:sp>
        <p:nvSpPr>
          <p:cNvPr id="398" name="Google Shape;398;p16">
            <a:extLst xmlns:a="http://schemas.openxmlformats.org/drawingml/2006/main">
              <a:ext uri="{FF2B5EF4-FFF2-40B4-BE49-F238E27FC236}">
                <a16:creationId xmlns:a16="http://schemas.microsoft.com/office/drawing/2014/main" id="{0E91AA63-5AA4-4877-B75E-6BE3FEA80184}"/>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88, 98–99, 143–144  ·  JV p. 25  ·  AnalyticMadhyasthDarshan.org  ·  33 / 36</a:t>
            </a:r>
          </a:p>
        </p:txBody>
      </p:sp>
    </p:spTree>
    <p:extLst>
      <p:ext uri="{BB962C8B-B14F-4D97-AF65-F5344CB8AC3E}">
        <p14:creationId xmlns:p14="http://schemas.microsoft.com/office/powerpoint/2010/main" val="170148834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554B6713-B2DC-4514-B452-C9EBA3EA284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9E98C951-C4B9-46BD-B3FC-D1161DB4ADF4}"/>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4AFD3403-A263-4222-9AFC-851DC6102BE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39C9F7D7-11F2-4589-AF3E-2A09E52C11D5}"/>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THREE · §7 · THE STUDY'S OPEN QUESTIONS</a:t>
            </a:r>
          </a:p>
        </p:txBody>
      </p:sp>
      <p:sp>
        <p:nvSpPr>
          <p:cNvPr id="39" name="Google Shape;39;p4">
            <a:extLst xmlns:a="http://schemas.openxmlformats.org/drawingml/2006/main">
              <a:ext uri="{FF2B5EF4-FFF2-40B4-BE49-F238E27FC236}">
                <a16:creationId xmlns:a16="http://schemas.microsoft.com/office/drawing/2014/main" id="{6286B2DB-0BEF-47B8-861A-3369C43B86B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What Conduct-Evidence Cannot Settle</a:t>
            </a:r>
          </a:p>
        </p:txBody>
      </p:sp>
      <p:sp>
        <p:nvSpPr>
          <p:cNvPr id="40" name="Google Shape;40;p4">
            <a:extLst xmlns:a="http://schemas.openxmlformats.org/drawingml/2006/main">
              <a:ext uri="{FF2B5EF4-FFF2-40B4-BE49-F238E27FC236}">
                <a16:creationId xmlns:a16="http://schemas.microsoft.com/office/drawing/2014/main" id="{F6B20C6D-6ADA-460F-9B26-85A79253C6F0}"/>
              </a:ext>
            </a:extLst>
          </p:cNvPr>
          <p:cNvSpPr>
            <a:spLocks xmlns:a="http://schemas.openxmlformats.org/drawingml/2006/main" noGrp="1"/>
          </p:cNvSpPr>
          <p:nvPr/>
        </p:nvSpPr>
        <p:spPr>
          <a:xfrm xmlns:a="http://schemas.openxmlformats.org/drawingml/2006/main">
            <a:off x="640080" y="130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1</a:t>
            </a:r>
          </a:p>
        </p:txBody>
      </p:sp>
      <p:sp>
        <p:nvSpPr>
          <p:cNvPr id="42" name="Google Shape;42;p4">
            <a:extLst xmlns:a="http://schemas.openxmlformats.org/drawingml/2006/main">
              <a:ext uri="{FF2B5EF4-FFF2-40B4-BE49-F238E27FC236}">
                <a16:creationId xmlns:a16="http://schemas.microsoft.com/office/drawing/2014/main" id="{B11FC845-D9E9-4D1C-B158-0B1D714F2687}"/>
              </a:ext>
            </a:extLst>
          </p:cNvPr>
          <p:cNvSpPr>
            <a:spLocks xmlns:a="http://schemas.openxmlformats.org/drawingml/2006/main" noGrp="1"/>
          </p:cNvSpPr>
          <p:nvPr/>
        </p:nvSpPr>
        <p:spPr>
          <a:xfrm xmlns:a="http://schemas.openxmlformats.org/drawingml/2006/main">
            <a:off x="1188720" y="126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A humane life does not by itself establish a cosmology; successful production does not establish the constitution of jeevan.</a:t>
            </a:r>
          </a:p>
        </p:txBody>
      </p:sp>
      <p:sp>
        <p:nvSpPr>
          <p:cNvPr id="43" name="Google Shape;43;p4">
            <a:extLst xmlns:a="http://schemas.openxmlformats.org/drawingml/2006/main">
              <a:ext uri="{FF2B5EF4-FFF2-40B4-BE49-F238E27FC236}">
                <a16:creationId xmlns:a16="http://schemas.microsoft.com/office/drawing/2014/main" id="{EE088122-A2CD-4442-B5EC-85400DE3D46E}"/>
              </a:ext>
            </a:extLst>
          </p:cNvPr>
          <p:cNvSpPr>
            <a:spLocks xmlns:a="http://schemas.openxmlformats.org/drawingml/2006/main" noGrp="1"/>
          </p:cNvSpPr>
          <p:nvPr/>
        </p:nvSpPr>
        <p:spPr>
          <a:xfrm xmlns:a="http://schemas.openxmlformats.org/drawingml/2006/main">
            <a:off x="640080" y="235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2</a:t>
            </a:r>
          </a:p>
        </p:txBody>
      </p:sp>
      <p:sp>
        <p:nvSpPr>
          <p:cNvPr id="45" name="Google Shape;45;p4">
            <a:extLst xmlns:a="http://schemas.openxmlformats.org/drawingml/2006/main">
              <a:ext uri="{FF2B5EF4-FFF2-40B4-BE49-F238E27FC236}">
                <a16:creationId xmlns:a16="http://schemas.microsoft.com/office/drawing/2014/main" id="{B9624D82-D5FA-407D-A429-15236941B802}"/>
              </a:ext>
            </a:extLst>
          </p:cNvPr>
          <p:cNvSpPr>
            <a:spLocks xmlns:a="http://schemas.openxmlformats.org/drawingml/2006/main" noGrp="1"/>
          </p:cNvSpPr>
          <p:nvPr/>
        </p:nvSpPr>
        <p:spPr>
          <a:xfrm xmlns:a="http://schemas.openxmlformats.org/drawingml/2006/main">
            <a:off x="1188720" y="231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Claims about physical processes, neural causation, and post-death continuity need tests suited to those claims.</a:t>
            </a:r>
          </a:p>
        </p:txBody>
      </p:sp>
      <p:sp>
        <p:nvSpPr>
          <p:cNvPr id="46" name="Google Shape;46;p4">
            <a:extLst xmlns:a="http://schemas.openxmlformats.org/drawingml/2006/main">
              <a:ext uri="{FF2B5EF4-FFF2-40B4-BE49-F238E27FC236}">
                <a16:creationId xmlns:a16="http://schemas.microsoft.com/office/drawing/2014/main" id="{2720550B-4AA8-4846-9E73-F188BDA53628}"/>
              </a:ext>
            </a:extLst>
          </p:cNvPr>
          <p:cNvSpPr>
            <a:spLocks xmlns:a="http://schemas.openxmlformats.org/drawingml/2006/main" noGrp="1"/>
          </p:cNvSpPr>
          <p:nvPr/>
        </p:nvSpPr>
        <p:spPr>
          <a:xfrm xmlns:a="http://schemas.openxmlformats.org/drawingml/2006/main">
            <a:off x="640080" y="340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3</a:t>
            </a:r>
          </a:p>
        </p:txBody>
      </p:sp>
      <p:sp>
        <p:nvSpPr>
          <p:cNvPr id="48" name="Google Shape;48;p4">
            <a:extLst xmlns:a="http://schemas.openxmlformats.org/drawingml/2006/main">
              <a:ext uri="{FF2B5EF4-FFF2-40B4-BE49-F238E27FC236}">
                <a16:creationId xmlns:a16="http://schemas.microsoft.com/office/drawing/2014/main" id="{D7B59417-B19C-4CF5-AABD-683F6FC95CF2}"/>
              </a:ext>
            </a:extLst>
          </p:cNvPr>
          <p:cNvSpPr>
            <a:spLocks xmlns:a="http://schemas.openxmlformats.org/drawingml/2006/main" noGrp="1"/>
          </p:cNvSpPr>
          <p:nvPr/>
        </p:nvSpPr>
        <p:spPr>
          <a:xfrm xmlns:a="http://schemas.openxmlformats.org/drawingml/2006/main">
            <a:off x="1188720" y="336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can we distinguish restraint from repression, prosperity from accumulation, help from dependency, and lasting harmony from temporary feeling?</a:t>
            </a:r>
          </a:p>
        </p:txBody>
      </p:sp>
      <p:sp>
        <p:nvSpPr>
          <p:cNvPr id="58" name="Google Shape;58;p4">
            <a:extLst xmlns:a="http://schemas.openxmlformats.org/drawingml/2006/main">
              <a:ext uri="{FF2B5EF4-FFF2-40B4-BE49-F238E27FC236}">
                <a16:creationId xmlns:a16="http://schemas.microsoft.com/office/drawing/2014/main" id="{B3DE5DB3-DF75-4ED5-9CBD-3DB3530B2D22}"/>
              </a:ext>
            </a:extLst>
          </p:cNvPr>
          <p:cNvSpPr>
            <a:spLocks xmlns:a="http://schemas.openxmlformats.org/drawingml/2006/main" noGrp="1"/>
          </p:cNvSpPr>
          <p:nvPr/>
        </p:nvSpPr>
        <p:spPr>
          <a:xfrm xmlns:a="http://schemas.openxmlformats.org/drawingml/2006/main">
            <a:off x="1188720" y="4450000"/>
            <a:ext cx="740664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The study asks how evidence can be assessed when cases are mixed and respected teachers may be mistaken.  ·  AnalyticMadhyasthDarshan.org  ·  34 / 36</a:t>
            </a:r>
          </a:p>
        </p:txBody>
      </p:sp>
    </p:spTree>
    <p:extLst>
      <p:ext uri="{BB962C8B-B14F-4D97-AF65-F5344CB8AC3E}">
        <p14:creationId xmlns:p14="http://schemas.microsoft.com/office/powerpoint/2010/main" val="175942399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3B402E-185B-4C4D-A4E6-72A03529B78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F3D08866-7E78-40FF-A350-E3B8685BC5B5}"/>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49647318-3FE3-4554-B311-76A3824F44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60EB398F-2D64-4689-80C8-FFAD943A9DF8}"/>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HOW MADHYASTH DARSHAN ANSWERS</a:t>
            </a:r>
          </a:p>
        </p:txBody>
      </p:sp>
      <p:sp>
        <p:nvSpPr>
          <p:cNvPr id="39" name="Google Shape;39;p4">
            <a:extLst xmlns:a="http://schemas.openxmlformats.org/drawingml/2006/main">
              <a:ext uri="{FF2B5EF4-FFF2-40B4-BE49-F238E27FC236}">
                <a16:creationId xmlns:a16="http://schemas.microsoft.com/office/drawing/2014/main" id="{2C1BECA4-232C-44E0-ADD0-ED7D91B92711}"/>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Questions, Answered</a:t>
            </a:r>
          </a:p>
        </p:txBody>
      </p:sp>
      <p:sp>
        <p:nvSpPr>
          <p:cNvPr id="40" name="Google Shape;40;p4">
            <a:extLst xmlns:a="http://schemas.openxmlformats.org/drawingml/2006/main">
              <a:ext uri="{FF2B5EF4-FFF2-40B4-BE49-F238E27FC236}">
                <a16:creationId xmlns:a16="http://schemas.microsoft.com/office/drawing/2014/main" id="{4960A84B-3100-434B-B8D0-2A9D70A48B93}"/>
              </a:ext>
            </a:extLst>
          </p:cNvPr>
          <p:cNvSpPr>
            <a:spLocks xmlns:a="http://schemas.openxmlformats.org/drawingml/2006/main" noGrp="1"/>
          </p:cNvSpPr>
          <p:nvPr/>
        </p:nvSpPr>
        <p:spPr>
          <a:xfrm xmlns:a="http://schemas.openxmlformats.org/drawingml/2006/main">
            <a:off x="640080" y="122529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1" name="Google Shape;41;p4"/>
          <p:cNvPicPr>
            <a:picLocks xmlns:a="http://schemas.openxmlformats.org/drawingml/2006/main" noChangeAspect="1"/>
          </p:cNvPicPr>
          <p:nvPr/>
        </p:nvPicPr>
        <p:blipFill rotWithShape="1">
          <a:blip xmlns:r="http://schemas.openxmlformats.org/officeDocument/2006/relationships" xmlns:a="http://schemas.openxmlformats.org/drawingml/2006/main" r:embed="R7fe5e5a192d74ee7">
            <a:alphaModFix/>
          </a:blip>
          <a:srcRect xmlns:a="http://schemas.openxmlformats.org/drawingml/2006/main" l="0" t="0" r="0" b="0"/>
          <a:stretch xmlns:a="http://schemas.openxmlformats.org/drawingml/2006/main"/>
        </p:blipFill>
        <p:spPr>
          <a:xfrm xmlns:a="http://schemas.openxmlformats.org/drawingml/2006/main">
            <a:off x="735178" y="1320394"/>
            <a:ext cx="175565" cy="175565"/>
          </a:xfrm>
          <a:prstGeom xmlns:a="http://schemas.openxmlformats.org/drawingml/2006/main" prst="rect">
            <a:avLst/>
          </a:prstGeom>
          <a:ln xmlns:a="http://schemas.openxmlformats.org/drawingml/2006/main">
            <a:noFill/>
          </a:ln>
        </p:spPr>
      </p:pic>
      <p:sp>
        <p:nvSpPr>
          <p:cNvPr id="42" name="Google Shape;42;p4">
            <a:extLst xmlns:a="http://schemas.openxmlformats.org/drawingml/2006/main">
              <a:ext uri="{FF2B5EF4-FFF2-40B4-BE49-F238E27FC236}">
                <a16:creationId xmlns:a16="http://schemas.microsoft.com/office/drawing/2014/main" id="{C5183355-C64A-436B-9092-2356796F7CCA}"/>
              </a:ext>
            </a:extLst>
          </p:cNvPr>
          <p:cNvSpPr>
            <a:spLocks xmlns:a="http://schemas.openxmlformats.org/drawingml/2006/main" noGrp="1"/>
          </p:cNvSpPr>
          <p:nvPr/>
        </p:nvSpPr>
        <p:spPr>
          <a:xfrm xmlns:a="http://schemas.openxmlformats.org/drawingml/2006/main">
            <a:off x="1188720" y="118872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knowledge?  —  Realised understanding of coexistence, jeevan, and humane conduct that becomes resolution and guides right participation.</a:t>
            </a:r>
          </a:p>
        </p:txBody>
      </p:sp>
      <p:sp>
        <p:nvSpPr>
          <p:cNvPr id="43" name="Google Shape;43;p4">
            <a:extLst xmlns:a="http://schemas.openxmlformats.org/drawingml/2006/main">
              <a:ext uri="{FF2B5EF4-FFF2-40B4-BE49-F238E27FC236}">
                <a16:creationId xmlns:a16="http://schemas.microsoft.com/office/drawing/2014/main" id="{A1DDA8B7-E5B2-41B4-A0A6-6CA140FF2382}"/>
              </a:ext>
            </a:extLst>
          </p:cNvPr>
          <p:cNvSpPr>
            <a:spLocks xmlns:a="http://schemas.openxmlformats.org/drawingml/2006/main" noGrp="1"/>
          </p:cNvSpPr>
          <p:nvPr/>
        </p:nvSpPr>
        <p:spPr>
          <a:xfrm xmlns:a="http://schemas.openxmlformats.org/drawingml/2006/main">
            <a:off x="640080" y="1792224"/>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4" name="Google Shape;44;p4"/>
          <p:cNvPicPr>
            <a:picLocks xmlns:a="http://schemas.openxmlformats.org/drawingml/2006/main" noChangeAspect="1"/>
          </p:cNvPicPr>
          <p:nvPr/>
        </p:nvPicPr>
        <p:blipFill rotWithShape="1">
          <a:blip xmlns:r="http://schemas.openxmlformats.org/officeDocument/2006/relationships" xmlns:a="http://schemas.openxmlformats.org/drawingml/2006/main" r:embed="R7fe5e5a192d74ee7">
            <a:alphaModFix/>
          </a:blip>
          <a:srcRect xmlns:a="http://schemas.openxmlformats.org/drawingml/2006/main" l="0" t="0" r="0" b="0"/>
          <a:stretch xmlns:a="http://schemas.openxmlformats.org/drawingml/2006/main"/>
        </p:blipFill>
        <p:spPr>
          <a:xfrm xmlns:a="http://schemas.openxmlformats.org/drawingml/2006/main">
            <a:off x="735178" y="1887322"/>
            <a:ext cx="175565" cy="175565"/>
          </a:xfrm>
          <a:prstGeom xmlns:a="http://schemas.openxmlformats.org/drawingml/2006/main" prst="rect">
            <a:avLst/>
          </a:prstGeom>
          <a:ln xmlns:a="http://schemas.openxmlformats.org/drawingml/2006/main">
            <a:noFill/>
          </a:ln>
        </p:spPr>
      </p:pic>
      <p:sp>
        <p:nvSpPr>
          <p:cNvPr id="45" name="Google Shape;45;p4">
            <a:extLst xmlns:a="http://schemas.openxmlformats.org/drawingml/2006/main">
              <a:ext uri="{FF2B5EF4-FFF2-40B4-BE49-F238E27FC236}">
                <a16:creationId xmlns:a16="http://schemas.microsoft.com/office/drawing/2014/main" id="{B75C9CE6-CD3C-43FD-83E0-886C1478F0BA}"/>
              </a:ext>
            </a:extLst>
          </p:cNvPr>
          <p:cNvSpPr>
            <a:spLocks xmlns:a="http://schemas.openxmlformats.org/drawingml/2006/main" noGrp="1"/>
          </p:cNvSpPr>
          <p:nvPr/>
        </p:nvSpPr>
        <p:spPr>
          <a:xfrm xmlns:a="http://schemas.openxmlformats.org/drawingml/2006/main">
            <a:off x="1188720" y="1755648"/>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Who is the knower?  —  Jeevan, active through the human joint form as seer, doer, enjoyer, evaluator, and communicator.</a:t>
            </a:r>
          </a:p>
        </p:txBody>
      </p:sp>
      <p:sp>
        <p:nvSpPr>
          <p:cNvPr id="46" name="Google Shape;46;p4">
            <a:extLst xmlns:a="http://schemas.openxmlformats.org/drawingml/2006/main">
              <a:ext uri="{FF2B5EF4-FFF2-40B4-BE49-F238E27FC236}">
                <a16:creationId xmlns:a16="http://schemas.microsoft.com/office/drawing/2014/main" id="{EDD1C9F9-79A8-4EDE-B88A-91BA496FCFD1}"/>
              </a:ext>
            </a:extLst>
          </p:cNvPr>
          <p:cNvSpPr>
            <a:spLocks xmlns:a="http://schemas.openxmlformats.org/drawingml/2006/main" noGrp="1"/>
          </p:cNvSpPr>
          <p:nvPr/>
        </p:nvSpPr>
        <p:spPr>
          <a:xfrm xmlns:a="http://schemas.openxmlformats.org/drawingml/2006/main">
            <a:off x="640080" y="2359152"/>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7" name="Google Shape;47;p4"/>
          <p:cNvPicPr>
            <a:picLocks xmlns:a="http://schemas.openxmlformats.org/drawingml/2006/main" noChangeAspect="1"/>
          </p:cNvPicPr>
          <p:nvPr/>
        </p:nvPicPr>
        <p:blipFill rotWithShape="1">
          <a:blip xmlns:r="http://schemas.openxmlformats.org/officeDocument/2006/relationships" xmlns:a="http://schemas.openxmlformats.org/drawingml/2006/main" r:embed="R7fe5e5a192d74ee7">
            <a:alphaModFix/>
          </a:blip>
          <a:srcRect xmlns:a="http://schemas.openxmlformats.org/drawingml/2006/main" l="0" t="0" r="0" b="0"/>
          <a:stretch xmlns:a="http://schemas.openxmlformats.org/drawingml/2006/main"/>
        </p:blipFill>
        <p:spPr>
          <a:xfrm xmlns:a="http://schemas.openxmlformats.org/drawingml/2006/main">
            <a:off x="735178" y="2454250"/>
            <a:ext cx="175565" cy="175565"/>
          </a:xfrm>
          <a:prstGeom xmlns:a="http://schemas.openxmlformats.org/drawingml/2006/main" prst="rect">
            <a:avLst/>
          </a:prstGeom>
          <a:ln xmlns:a="http://schemas.openxmlformats.org/drawingml/2006/main">
            <a:noFill/>
          </a:ln>
        </p:spPr>
      </p:pic>
      <p:sp>
        <p:nvSpPr>
          <p:cNvPr id="48" name="Google Shape;48;p4">
            <a:extLst xmlns:a="http://schemas.openxmlformats.org/drawingml/2006/main">
              <a:ext uri="{FF2B5EF4-FFF2-40B4-BE49-F238E27FC236}">
                <a16:creationId xmlns:a16="http://schemas.microsoft.com/office/drawing/2014/main" id="{96389C9D-9FE0-4778-A3DB-FE60F90117C6}"/>
              </a:ext>
            </a:extLst>
          </p:cNvPr>
          <p:cNvSpPr>
            <a:spLocks xmlns:a="http://schemas.openxmlformats.org/drawingml/2006/main" noGrp="1"/>
          </p:cNvSpPr>
          <p:nvPr/>
        </p:nvSpPr>
        <p:spPr>
          <a:xfrm xmlns:a="http://schemas.openxmlformats.org/drawingml/2006/main">
            <a:off x="1188720" y="2322576"/>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known?  —  Coexistence: units, orders, relationships, values, self, bodily conditions, and humane participation.</a:t>
            </a:r>
          </a:p>
        </p:txBody>
      </p:sp>
      <p:sp>
        <p:nvSpPr>
          <p:cNvPr id="49" name="Google Shape;49;p4">
            <a:extLst xmlns:a="http://schemas.openxmlformats.org/drawingml/2006/main">
              <a:ext uri="{FF2B5EF4-FFF2-40B4-BE49-F238E27FC236}">
                <a16:creationId xmlns:a16="http://schemas.microsoft.com/office/drawing/2014/main" id="{8E5D7A1C-B4D5-4C25-AEC3-0809D732B6EE}"/>
              </a:ext>
            </a:extLst>
          </p:cNvPr>
          <p:cNvSpPr>
            <a:spLocks xmlns:a="http://schemas.openxmlformats.org/drawingml/2006/main" noGrp="1"/>
          </p:cNvSpPr>
          <p:nvPr/>
        </p:nvSpPr>
        <p:spPr>
          <a:xfrm xmlns:a="http://schemas.openxmlformats.org/drawingml/2006/main">
            <a:off x="640080" y="292608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0" name="Google Shape;50;p4"/>
          <p:cNvPicPr>
            <a:picLocks xmlns:a="http://schemas.openxmlformats.org/drawingml/2006/main" noChangeAspect="1"/>
          </p:cNvPicPr>
          <p:nvPr/>
        </p:nvPicPr>
        <p:blipFill rotWithShape="1">
          <a:blip xmlns:r="http://schemas.openxmlformats.org/officeDocument/2006/relationships" xmlns:a="http://schemas.openxmlformats.org/drawingml/2006/main" r:embed="R7fe5e5a192d74ee7">
            <a:alphaModFix/>
          </a:blip>
          <a:srcRect xmlns:a="http://schemas.openxmlformats.org/drawingml/2006/main" l="0" t="0" r="0" b="0"/>
          <a:stretch xmlns:a="http://schemas.openxmlformats.org/drawingml/2006/main"/>
        </p:blipFill>
        <p:spPr>
          <a:xfrm xmlns:a="http://schemas.openxmlformats.org/drawingml/2006/main">
            <a:off x="735178" y="3021178"/>
            <a:ext cx="175565" cy="175565"/>
          </a:xfrm>
          <a:prstGeom xmlns:a="http://schemas.openxmlformats.org/drawingml/2006/main" prst="rect">
            <a:avLst/>
          </a:prstGeom>
          <a:ln xmlns:a="http://schemas.openxmlformats.org/drawingml/2006/main">
            <a:noFill/>
          </a:ln>
        </p:spPr>
      </p:pic>
      <p:sp>
        <p:nvSpPr>
          <p:cNvPr id="51" name="Google Shape;51;p4">
            <a:extLst xmlns:a="http://schemas.openxmlformats.org/drawingml/2006/main">
              <a:ext uri="{FF2B5EF4-FFF2-40B4-BE49-F238E27FC236}">
                <a16:creationId xmlns:a16="http://schemas.microsoft.com/office/drawing/2014/main" id="{B1591BAD-E6A7-457C-A811-88AF0B5BA2D9}"/>
              </a:ext>
            </a:extLst>
          </p:cNvPr>
          <p:cNvSpPr>
            <a:spLocks xmlns:a="http://schemas.openxmlformats.org/drawingml/2006/main" noGrp="1"/>
          </p:cNvSpPr>
          <p:nvPr/>
        </p:nvSpPr>
        <p:spPr>
          <a:xfrm xmlns:a="http://schemas.openxmlformats.org/drawingml/2006/main">
            <a:off x="1188720" y="2889504"/>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does knowing occur?  —  Through jeevan's coordinated activities, cognisance regulating sensitivity, disciplined study, and recurrent reflection–projection.</a:t>
            </a:r>
          </a:p>
        </p:txBody>
      </p:sp>
      <p:sp>
        <p:nvSpPr>
          <p:cNvPr id="52" name="Google Shape;52;p4">
            <a:extLst xmlns:a="http://schemas.openxmlformats.org/drawingml/2006/main">
              <a:ext uri="{FF2B5EF4-FFF2-40B4-BE49-F238E27FC236}">
                <a16:creationId xmlns:a16="http://schemas.microsoft.com/office/drawing/2014/main" id="{FAC8FF81-4EF9-4BA4-B8E6-1B994F766A13}"/>
              </a:ext>
            </a:extLst>
          </p:cNvPr>
          <p:cNvSpPr>
            <a:spLocks xmlns:a="http://schemas.openxmlformats.org/drawingml/2006/main" noGrp="1"/>
          </p:cNvSpPr>
          <p:nvPr/>
        </p:nvSpPr>
        <p:spPr>
          <a:xfrm xmlns:a="http://schemas.openxmlformats.org/drawingml/2006/main">
            <a:off x="640080" y="3493008"/>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3" name="Google Shape;53;p4"/>
          <p:cNvPicPr>
            <a:picLocks xmlns:a="http://schemas.openxmlformats.org/drawingml/2006/main" noChangeAspect="1"/>
          </p:cNvPicPr>
          <p:nvPr/>
        </p:nvPicPr>
        <p:blipFill rotWithShape="1">
          <a:blip xmlns:r="http://schemas.openxmlformats.org/officeDocument/2006/relationships" xmlns:a="http://schemas.openxmlformats.org/drawingml/2006/main" r:embed="R7fe5e5a192d74ee7">
            <a:alphaModFix/>
          </a:blip>
          <a:srcRect xmlns:a="http://schemas.openxmlformats.org/drawingml/2006/main" l="0" t="0" r="0" b="0"/>
          <a:stretch xmlns:a="http://schemas.openxmlformats.org/drawingml/2006/main"/>
        </p:blipFill>
        <p:spPr>
          <a:xfrm xmlns:a="http://schemas.openxmlformats.org/drawingml/2006/main">
            <a:off x="735178" y="3588106"/>
            <a:ext cx="175565" cy="175565"/>
          </a:xfrm>
          <a:prstGeom xmlns:a="http://schemas.openxmlformats.org/drawingml/2006/main" prst="rect">
            <a:avLst/>
          </a:prstGeom>
          <a:ln xmlns:a="http://schemas.openxmlformats.org/drawingml/2006/main">
            <a:noFill/>
          </a:ln>
        </p:spPr>
      </p:pic>
      <p:sp>
        <p:nvSpPr>
          <p:cNvPr id="54" name="Google Shape;54;p4">
            <a:extLst xmlns:a="http://schemas.openxmlformats.org/drawingml/2006/main">
              <a:ext uri="{FF2B5EF4-FFF2-40B4-BE49-F238E27FC236}">
                <a16:creationId xmlns:a16="http://schemas.microsoft.com/office/drawing/2014/main" id="{88A8438F-C330-4A48-9673-52C9074A68EC}"/>
              </a:ext>
            </a:extLst>
          </p:cNvPr>
          <p:cNvSpPr>
            <a:spLocks xmlns:a="http://schemas.openxmlformats.org/drawingml/2006/main" noGrp="1"/>
          </p:cNvSpPr>
          <p:nvPr/>
        </p:nvSpPr>
        <p:spPr>
          <a:xfrm xmlns:a="http://schemas.openxmlformats.org/drawingml/2006/main">
            <a:off x="1188720" y="3456432"/>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is error corrected?  —  Through renewed attention, action, result, evaluation, practical discrimination, and correction.</a:t>
            </a:r>
          </a:p>
        </p:txBody>
      </p:sp>
      <p:sp>
        <p:nvSpPr>
          <p:cNvPr id="55" name="Google Shape;55;p4">
            <a:extLst xmlns:a="http://schemas.openxmlformats.org/drawingml/2006/main">
              <a:ext uri="{FF2B5EF4-FFF2-40B4-BE49-F238E27FC236}">
                <a16:creationId xmlns:a16="http://schemas.microsoft.com/office/drawing/2014/main" id="{8CF393A7-5751-428A-9C15-0EBA54A20BF2}"/>
              </a:ext>
            </a:extLst>
          </p:cNvPr>
          <p:cNvSpPr>
            <a:spLocks xmlns:a="http://schemas.openxmlformats.org/drawingml/2006/main" noGrp="1"/>
          </p:cNvSpPr>
          <p:nvPr/>
        </p:nvSpPr>
        <p:spPr>
          <a:xfrm xmlns:a="http://schemas.openxmlformats.org/drawingml/2006/main">
            <a:off x="640080" y="405993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6" name="Google Shape;56;p4"/>
          <p:cNvPicPr>
            <a:picLocks xmlns:a="http://schemas.openxmlformats.org/drawingml/2006/main" noChangeAspect="1"/>
          </p:cNvPicPr>
          <p:nvPr/>
        </p:nvPicPr>
        <p:blipFill rotWithShape="1">
          <a:blip xmlns:r="http://schemas.openxmlformats.org/officeDocument/2006/relationships" xmlns:a="http://schemas.openxmlformats.org/drawingml/2006/main" r:embed="R7fe5e5a192d74ee7">
            <a:alphaModFix/>
          </a:blip>
          <a:srcRect xmlns:a="http://schemas.openxmlformats.org/drawingml/2006/main" l="0" t="0" r="0" b="0"/>
          <a:stretch xmlns:a="http://schemas.openxmlformats.org/drawingml/2006/main"/>
        </p:blipFill>
        <p:spPr>
          <a:xfrm xmlns:a="http://schemas.openxmlformats.org/drawingml/2006/main">
            <a:off x="735178" y="4155034"/>
            <a:ext cx="175565" cy="175565"/>
          </a:xfrm>
          <a:prstGeom xmlns:a="http://schemas.openxmlformats.org/drawingml/2006/main" prst="rect">
            <a:avLst/>
          </a:prstGeom>
          <a:ln xmlns:a="http://schemas.openxmlformats.org/drawingml/2006/main">
            <a:noFill/>
          </a:ln>
        </p:spPr>
      </p:pic>
      <p:sp>
        <p:nvSpPr>
          <p:cNvPr id="57" name="Google Shape;57;p4">
            <a:extLst xmlns:a="http://schemas.openxmlformats.org/drawingml/2006/main">
              <a:ext uri="{FF2B5EF4-FFF2-40B4-BE49-F238E27FC236}">
                <a16:creationId xmlns:a16="http://schemas.microsoft.com/office/drawing/2014/main" id="{69FE7F80-11B5-4B7E-A5BC-C73663BD6F41}"/>
              </a:ext>
            </a:extLst>
          </p:cNvPr>
          <p:cNvSpPr>
            <a:spLocks xmlns:a="http://schemas.openxmlformats.org/drawingml/2006/main" noGrp="1"/>
          </p:cNvSpPr>
          <p:nvPr/>
        </p:nvSpPr>
        <p:spPr>
          <a:xfrm xmlns:a="http://schemas.openxmlformats.org/drawingml/2006/main">
            <a:off x="1188720" y="402336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counts as evidence?  —  Understanding evidenced in realisation, just relationships, practical work, and an awakened tradition.</a:t>
            </a:r>
          </a:p>
        </p:txBody>
      </p:sp>
      <p:sp>
        <p:nvSpPr>
          <p:cNvPr id="58" name="Google Shape;58;p4">
            <a:extLst xmlns:a="http://schemas.openxmlformats.org/drawingml/2006/main">
              <a:ext uri="{FF2B5EF4-FFF2-40B4-BE49-F238E27FC236}">
                <a16:creationId xmlns:a16="http://schemas.microsoft.com/office/drawing/2014/main" id="{79C1811C-EDE3-41ED-8DB3-4090B52ECFBC}"/>
              </a:ext>
            </a:extLst>
          </p:cNvPr>
          <p:cNvSpPr>
            <a:spLocks xmlns:a="http://schemas.openxmlformats.org/drawingml/2006/main" noGrp="1"/>
          </p:cNvSpPr>
          <p:nvPr/>
        </p:nvSpPr>
        <p:spPr>
          <a:xfrm xmlns:a="http://schemas.openxmlformats.org/drawingml/2006/main">
            <a:off x="1188720" y="4645152"/>
            <a:ext cx="74066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Knower, known, conduct, and happiness cohere in practice.  ·  AnalyticMadhyasthDarshan.org  ·  35 / 36</a:t>
            </a:r>
          </a:p>
        </p:txBody>
      </p:sp>
    </p:spTree>
    <p:extLst>
      <p:ext uri="{BB962C8B-B14F-4D97-AF65-F5344CB8AC3E}">
        <p14:creationId xmlns:p14="http://schemas.microsoft.com/office/powerpoint/2010/main" val="1531490578"/>
      </p:ext>
    </p:extLst>
  </p:cSld>
</p:sld>
</file>

<file path=ppt/slides/slide36.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509" name="Google Shape;509;p21">
            <a:extLst xmlns:a="http://schemas.openxmlformats.org/drawingml/2006/main">
              <a:ext uri="{FF2B5EF4-FFF2-40B4-BE49-F238E27FC236}">
                <a16:creationId xmlns:a16="http://schemas.microsoft.com/office/drawing/2014/main" id="{4FB85A2A-099A-414A-9422-3B8828DC4E86}"/>
              </a:ext>
            </a:extLst>
          </p:cNvPr>
          <p:cNvSpPr>
            <a:spLocks xmlns:a="http://schemas.openxmlformats.org/drawingml/2006/main" noGrp="1"/>
          </p:cNvSpPr>
          <p:nvPr/>
        </p:nvSpPr>
        <p:spPr>
          <a:xfrm xmlns:a="http://schemas.openxmlformats.org/drawingml/2006/main">
            <a:off x="5852160" y="822960"/>
            <a:ext cx="3291840" cy="3291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0" name="Google Shape;510;p21">
            <a:extLst xmlns:a="http://schemas.openxmlformats.org/drawingml/2006/main">
              <a:ext uri="{FF2B5EF4-FFF2-40B4-BE49-F238E27FC236}">
                <a16:creationId xmlns:a16="http://schemas.microsoft.com/office/drawing/2014/main" id="{6320C987-42BA-4D26-B8E9-5ECAC8AA5504}"/>
              </a:ext>
            </a:extLst>
          </p:cNvPr>
          <p:cNvSpPr>
            <a:spLocks xmlns:a="http://schemas.openxmlformats.org/drawingml/2006/main" noGrp="1"/>
          </p:cNvSpPr>
          <p:nvPr/>
        </p:nvSpPr>
        <p:spPr>
          <a:xfrm xmlns:a="http://schemas.openxmlformats.org/drawingml/2006/main">
            <a:off x="6510528" y="1481328"/>
            <a:ext cx="1975104" cy="19751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1" name="Google Shape;511;p21">
            <a:extLst xmlns:a="http://schemas.openxmlformats.org/drawingml/2006/main">
              <a:ext uri="{FF2B5EF4-FFF2-40B4-BE49-F238E27FC236}">
                <a16:creationId xmlns:a16="http://schemas.microsoft.com/office/drawing/2014/main" id="{00020F55-D28C-4073-97A4-F29AFE0B799F}"/>
              </a:ext>
            </a:extLst>
          </p:cNvPr>
          <p:cNvSpPr>
            <a:spLocks xmlns:a="http://schemas.openxmlformats.org/drawingml/2006/main" noGrp="1"/>
          </p:cNvSpPr>
          <p:nvPr/>
        </p:nvSpPr>
        <p:spPr>
          <a:xfrm xmlns:a="http://schemas.openxmlformats.org/drawingml/2006/main">
            <a:off x="7070141" y="2040941"/>
            <a:ext cx="855878" cy="85587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2" name="Google Shape;512;p21">
            <a:extLst xmlns:a="http://schemas.openxmlformats.org/drawingml/2006/main">
              <a:ext uri="{FF2B5EF4-FFF2-40B4-BE49-F238E27FC236}">
                <a16:creationId xmlns:a16="http://schemas.microsoft.com/office/drawing/2014/main" id="{42DC5DE7-F94B-42C6-9FCD-8076C9EE8229}"/>
              </a:ext>
            </a:extLst>
          </p:cNvPr>
          <p:cNvSpPr>
            <a:spLocks xmlns:a="http://schemas.openxmlformats.org/drawingml/2006/main" noGrp="1"/>
          </p:cNvSpPr>
          <p:nvPr/>
        </p:nvSpPr>
        <p:spPr>
          <a:xfrm xmlns:a="http://schemas.openxmlformats.org/drawingml/2006/main">
            <a:off x="5394960" y="3566160"/>
            <a:ext cx="1097280" cy="109728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3" name="Google Shape;513;p21">
            <a:extLst xmlns:a="http://schemas.openxmlformats.org/drawingml/2006/main">
              <a:ext uri="{FF2B5EF4-FFF2-40B4-BE49-F238E27FC236}">
                <a16:creationId xmlns:a16="http://schemas.microsoft.com/office/drawing/2014/main" id="{3362136E-83B7-49E7-88EB-D7474C2A2CB2}"/>
              </a:ext>
            </a:extLst>
          </p:cNvPr>
          <p:cNvSpPr>
            <a:spLocks xmlns:a="http://schemas.openxmlformats.org/drawingml/2006/main" noGrp="1"/>
          </p:cNvSpPr>
          <p:nvPr/>
        </p:nvSpPr>
        <p:spPr>
          <a:xfrm xmlns:a="http://schemas.openxmlformats.org/drawingml/2006/main">
            <a:off x="5614416" y="3785616"/>
            <a:ext cx="658368" cy="658368"/>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4" name="Google Shape;514;p21">
            <a:extLst xmlns:a="http://schemas.openxmlformats.org/drawingml/2006/main">
              <a:ext uri="{FF2B5EF4-FFF2-40B4-BE49-F238E27FC236}">
                <a16:creationId xmlns:a16="http://schemas.microsoft.com/office/drawing/2014/main" id="{464F7684-5F04-41CB-8A74-7D300CC8B87E}"/>
              </a:ext>
            </a:extLst>
          </p:cNvPr>
          <p:cNvSpPr>
            <a:spLocks xmlns:a="http://schemas.openxmlformats.org/drawingml/2006/main" noGrp="1"/>
          </p:cNvSpPr>
          <p:nvPr/>
        </p:nvSpPr>
        <p:spPr>
          <a:xfrm xmlns:a="http://schemas.openxmlformats.org/drawingml/2006/main">
            <a:off x="5800954" y="3972154"/>
            <a:ext cx="285293" cy="285293"/>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5" name="Google Shape;515;p21">
            <a:extLst xmlns:a="http://schemas.openxmlformats.org/drawingml/2006/main">
              <a:ext uri="{FF2B5EF4-FFF2-40B4-BE49-F238E27FC236}">
                <a16:creationId xmlns:a16="http://schemas.microsoft.com/office/drawing/2014/main" id="{C35762A0-8E7E-4035-8F94-9548A7D7DF80}"/>
              </a:ext>
            </a:extLst>
          </p:cNvPr>
          <p:cNvSpPr>
            <a:spLocks xmlns:a="http://schemas.openxmlformats.org/drawingml/2006/main" noGrp="1"/>
          </p:cNvSpPr>
          <p:nvPr/>
        </p:nvSpPr>
        <p:spPr>
          <a:xfrm xmlns:a="http://schemas.openxmlformats.org/drawingml/2006/main">
            <a:off x="8138160" y="4023360"/>
            <a:ext cx="731520" cy="73152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6" name="Google Shape;516;p21">
            <a:extLst xmlns:a="http://schemas.openxmlformats.org/drawingml/2006/main">
              <a:ext uri="{FF2B5EF4-FFF2-40B4-BE49-F238E27FC236}">
                <a16:creationId xmlns:a16="http://schemas.microsoft.com/office/drawing/2014/main" id="{CBCAF54B-4CF2-4CDD-880C-2FE9F861F4C7}"/>
              </a:ext>
            </a:extLst>
          </p:cNvPr>
          <p:cNvSpPr>
            <a:spLocks xmlns:a="http://schemas.openxmlformats.org/drawingml/2006/main" noGrp="1"/>
          </p:cNvSpPr>
          <p:nvPr/>
        </p:nvSpPr>
        <p:spPr>
          <a:xfrm xmlns:a="http://schemas.openxmlformats.org/drawingml/2006/main">
            <a:off x="8284464" y="4169664"/>
            <a:ext cx="438912" cy="438912"/>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7" name="Google Shape;517;p21">
            <a:extLst xmlns:a="http://schemas.openxmlformats.org/drawingml/2006/main">
              <a:ext uri="{FF2B5EF4-FFF2-40B4-BE49-F238E27FC236}">
                <a16:creationId xmlns:a16="http://schemas.microsoft.com/office/drawing/2014/main" id="{9DF86AA9-4BDE-4C84-81E6-0676825F904B}"/>
              </a:ext>
            </a:extLst>
          </p:cNvPr>
          <p:cNvSpPr>
            <a:spLocks xmlns:a="http://schemas.openxmlformats.org/drawingml/2006/main" noGrp="1"/>
          </p:cNvSpPr>
          <p:nvPr/>
        </p:nvSpPr>
        <p:spPr>
          <a:xfrm xmlns:a="http://schemas.openxmlformats.org/drawingml/2006/main">
            <a:off x="8408822" y="4294022"/>
            <a:ext cx="190195" cy="190195"/>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8" name="Google Shape;518;p21">
            <a:extLst xmlns:a="http://schemas.openxmlformats.org/drawingml/2006/main">
              <a:ext uri="{FF2B5EF4-FFF2-40B4-BE49-F238E27FC236}">
                <a16:creationId xmlns:a16="http://schemas.microsoft.com/office/drawing/2014/main" id="{C6E19649-B92B-43DC-BDA2-FFE380782AAB}"/>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THE CULMINATION  ·  HUMAN GOALS AND JEEVAN VALUES</a:t>
            </a:r>
          </a:p>
        </p:txBody>
      </p:sp>
      <p:sp>
        <p:nvSpPr>
          <p:cNvPr id="519" name="Google Shape;519;p21">
            <a:extLst xmlns:a="http://schemas.openxmlformats.org/drawingml/2006/main">
              <a:ext uri="{FF2B5EF4-FFF2-40B4-BE49-F238E27FC236}">
                <a16:creationId xmlns:a16="http://schemas.microsoft.com/office/drawing/2014/main" id="{D0BA75A5-EF97-441A-8D22-E7230E7466C6}"/>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4400" b="1" i="0" u="none" cap="none">
                <a:solidFill>
                  <a:srgbClr val="FFFFFF"/>
                </a:solidFill>
                <a:latin typeface="Cambria"/>
                <a:ea typeface="Cambria"/>
                <a:cs typeface="Cambria"/>
              </a:rPr>
              <a:t>An Awakened Human Tradition</a:t>
            </a:r>
          </a:p>
        </p:txBody>
      </p:sp>
      <p:sp>
        <p:nvSpPr>
          <p:cNvPr id="520" name="Google Shape;520;p21">
            <a:extLst xmlns:a="http://schemas.openxmlformats.org/drawingml/2006/main">
              <a:ext uri="{FF2B5EF4-FFF2-40B4-BE49-F238E27FC236}">
                <a16:creationId xmlns:a16="http://schemas.microsoft.com/office/drawing/2014/main" id="{5A4AFEEF-A375-4785-A084-77D9213BAE88}"/>
              </a:ext>
            </a:extLst>
          </p:cNvPr>
          <p:cNvSpPr>
            <a:spLocks xmlns:a="http://schemas.openxmlformats.org/drawingml/2006/main" noGrp="1"/>
          </p:cNvSpPr>
          <p:nvPr/>
        </p:nvSpPr>
        <p:spPr>
          <a:xfrm xmlns:a="http://schemas.openxmlformats.org/drawingml/2006/main">
            <a:off x="640080" y="3050000"/>
            <a:ext cx="484632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b="0" i="1" u="none" cap="none">
                <a:solidFill>
                  <a:srgbClr val="C9D4EF"/>
                </a:solidFill>
                <a:latin typeface="Calibri"/>
                <a:ea typeface="Calibri"/>
                <a:cs typeface="Calibri"/>
              </a:rPr>
              <a:t>Knowledge is complete when realisation regulates embodied life, work, and transmission.</a:t>
            </a:r>
          </a:p>
        </p:txBody>
      </p:sp>
      <p:sp>
        <p:nvSpPr>
          <p:cNvPr id="600" name="Google Shape;600;p21">
            <a:extLst xmlns:a="http://schemas.openxmlformats.org/drawingml/2006/main">
              <a:ext uri="{FF2B5EF4-FFF2-40B4-BE49-F238E27FC236}">
                <a16:creationId xmlns:a16="http://schemas.microsoft.com/office/drawing/2014/main" id="{590CE55E-DD43-41C7-AA38-D8648415BCB0}"/>
              </a:ext>
            </a:extLst>
          </p:cNvPr>
          <p:cNvSpPr>
            <a:spLocks xmlns:a="http://schemas.openxmlformats.org/drawingml/2006/main" noGrp="1"/>
          </p:cNvSpPr>
          <p:nvPr/>
        </p:nvSpPr>
        <p:spPr>
          <a:xfrm xmlns:a="http://schemas.openxmlformats.org/drawingml/2006/main">
            <a:off x="64008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01" name="Google Shape;601;p21">
            <a:extLst xmlns:a="http://schemas.openxmlformats.org/drawingml/2006/main">
              <a:ext uri="{FF2B5EF4-FFF2-40B4-BE49-F238E27FC236}">
                <a16:creationId xmlns:a16="http://schemas.microsoft.com/office/drawing/2014/main" id="{6C56763D-B377-44F0-AAAE-98FAABE48327}"/>
              </a:ext>
            </a:extLst>
          </p:cNvPr>
          <p:cNvSpPr>
            <a:spLocks xmlns:a="http://schemas.openxmlformats.org/drawingml/2006/main" noGrp="1"/>
          </p:cNvSpPr>
          <p:nvPr/>
        </p:nvSpPr>
        <p:spPr>
          <a:xfrm xmlns:a="http://schemas.openxmlformats.org/drawingml/2006/main">
            <a:off x="72237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Resolution</a:t>
            </a:r>
          </a:p>
        </p:txBody>
      </p:sp>
      <p:sp>
        <p:nvSpPr>
          <p:cNvPr id="602" name="Google Shape;602;p21">
            <a:extLst xmlns:a="http://schemas.openxmlformats.org/drawingml/2006/main">
              <a:ext uri="{FF2B5EF4-FFF2-40B4-BE49-F238E27FC236}">
                <a16:creationId xmlns:a16="http://schemas.microsoft.com/office/drawing/2014/main" id="{BDEE3FAF-ADA0-446F-8BC9-EAB8772E0A94}"/>
              </a:ext>
            </a:extLst>
          </p:cNvPr>
          <p:cNvSpPr>
            <a:spLocks xmlns:a="http://schemas.openxmlformats.org/drawingml/2006/main" noGrp="1"/>
          </p:cNvSpPr>
          <p:nvPr/>
        </p:nvSpPr>
        <p:spPr>
          <a:xfrm xmlns:a="http://schemas.openxmlformats.org/drawingml/2006/main">
            <a:off x="72237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Happiness</a:t>
            </a:r>
          </a:p>
        </p:txBody>
      </p:sp>
      <p:sp>
        <p:nvSpPr>
          <p:cNvPr id="603" name="Google Shape;603;p21">
            <a:extLst xmlns:a="http://schemas.openxmlformats.org/drawingml/2006/main">
              <a:ext uri="{FF2B5EF4-FFF2-40B4-BE49-F238E27FC236}">
                <a16:creationId xmlns:a16="http://schemas.microsoft.com/office/drawing/2014/main" id="{16E167EE-2B1F-45F5-915F-B9860B144388}"/>
              </a:ext>
            </a:extLst>
          </p:cNvPr>
          <p:cNvSpPr>
            <a:spLocks xmlns:a="http://schemas.openxmlformats.org/drawingml/2006/main" noGrp="1"/>
          </p:cNvSpPr>
          <p:nvPr/>
        </p:nvSpPr>
        <p:spPr>
          <a:xfrm xmlns:a="http://schemas.openxmlformats.org/drawingml/2006/main">
            <a:off x="184880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04" name="Google Shape;604;p21">
            <a:extLst xmlns:a="http://schemas.openxmlformats.org/drawingml/2006/main">
              <a:ext uri="{FF2B5EF4-FFF2-40B4-BE49-F238E27FC236}">
                <a16:creationId xmlns:a16="http://schemas.microsoft.com/office/drawing/2014/main" id="{333E855D-FE8F-4100-A0EB-55E495D61EA5}"/>
              </a:ext>
            </a:extLst>
          </p:cNvPr>
          <p:cNvSpPr>
            <a:spLocks xmlns:a="http://schemas.openxmlformats.org/drawingml/2006/main" noGrp="1"/>
          </p:cNvSpPr>
          <p:nvPr/>
        </p:nvSpPr>
        <p:spPr>
          <a:xfrm xmlns:a="http://schemas.openxmlformats.org/drawingml/2006/main">
            <a:off x="193109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Prosperity</a:t>
            </a:r>
          </a:p>
        </p:txBody>
      </p:sp>
      <p:sp>
        <p:nvSpPr>
          <p:cNvPr id="605" name="Google Shape;605;p21">
            <a:extLst xmlns:a="http://schemas.openxmlformats.org/drawingml/2006/main">
              <a:ext uri="{FF2B5EF4-FFF2-40B4-BE49-F238E27FC236}">
                <a16:creationId xmlns:a16="http://schemas.microsoft.com/office/drawing/2014/main" id="{1A7194A9-3F87-43D5-99B4-337E53E6EF00}"/>
              </a:ext>
            </a:extLst>
          </p:cNvPr>
          <p:cNvSpPr>
            <a:spLocks xmlns:a="http://schemas.openxmlformats.org/drawingml/2006/main" noGrp="1"/>
          </p:cNvSpPr>
          <p:nvPr/>
        </p:nvSpPr>
        <p:spPr>
          <a:xfrm xmlns:a="http://schemas.openxmlformats.org/drawingml/2006/main">
            <a:off x="193109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Peace</a:t>
            </a:r>
          </a:p>
        </p:txBody>
      </p:sp>
      <p:sp>
        <p:nvSpPr>
          <p:cNvPr id="606" name="Google Shape;606;p21">
            <a:extLst xmlns:a="http://schemas.openxmlformats.org/drawingml/2006/main">
              <a:ext uri="{FF2B5EF4-FFF2-40B4-BE49-F238E27FC236}">
                <a16:creationId xmlns:a16="http://schemas.microsoft.com/office/drawing/2014/main" id="{C3521EAA-AB17-463A-AD9E-49776FAF7844}"/>
              </a:ext>
            </a:extLst>
          </p:cNvPr>
          <p:cNvSpPr>
            <a:spLocks xmlns:a="http://schemas.openxmlformats.org/drawingml/2006/main" noGrp="1"/>
          </p:cNvSpPr>
          <p:nvPr/>
        </p:nvSpPr>
        <p:spPr>
          <a:xfrm xmlns:a="http://schemas.openxmlformats.org/drawingml/2006/main">
            <a:off x="305752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07" name="Google Shape;607;p21">
            <a:extLst xmlns:a="http://schemas.openxmlformats.org/drawingml/2006/main">
              <a:ext uri="{FF2B5EF4-FFF2-40B4-BE49-F238E27FC236}">
                <a16:creationId xmlns:a16="http://schemas.microsoft.com/office/drawing/2014/main" id="{3B6AC30A-51DD-4511-87D9-DC80BF7110D3}"/>
              </a:ext>
            </a:extLst>
          </p:cNvPr>
          <p:cNvSpPr>
            <a:spLocks xmlns:a="http://schemas.openxmlformats.org/drawingml/2006/main" noGrp="1"/>
          </p:cNvSpPr>
          <p:nvPr/>
        </p:nvSpPr>
        <p:spPr>
          <a:xfrm xmlns:a="http://schemas.openxmlformats.org/drawingml/2006/main">
            <a:off x="313981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Fearlessness</a:t>
            </a:r>
          </a:p>
        </p:txBody>
      </p:sp>
      <p:sp>
        <p:nvSpPr>
          <p:cNvPr id="608" name="Google Shape;608;p21">
            <a:extLst xmlns:a="http://schemas.openxmlformats.org/drawingml/2006/main">
              <a:ext uri="{FF2B5EF4-FFF2-40B4-BE49-F238E27FC236}">
                <a16:creationId xmlns:a16="http://schemas.microsoft.com/office/drawing/2014/main" id="{CE106080-6BC8-4C9D-9828-F961388FE158}"/>
              </a:ext>
            </a:extLst>
          </p:cNvPr>
          <p:cNvSpPr>
            <a:spLocks xmlns:a="http://schemas.openxmlformats.org/drawingml/2006/main" noGrp="1"/>
          </p:cNvSpPr>
          <p:nvPr/>
        </p:nvSpPr>
        <p:spPr>
          <a:xfrm xmlns:a="http://schemas.openxmlformats.org/drawingml/2006/main">
            <a:off x="313981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Contentment</a:t>
            </a:r>
          </a:p>
        </p:txBody>
      </p:sp>
      <p:sp>
        <p:nvSpPr>
          <p:cNvPr id="609" name="Google Shape;609;p21">
            <a:extLst xmlns:a="http://schemas.openxmlformats.org/drawingml/2006/main">
              <a:ext uri="{FF2B5EF4-FFF2-40B4-BE49-F238E27FC236}">
                <a16:creationId xmlns:a16="http://schemas.microsoft.com/office/drawing/2014/main" id="{EF3A2139-2F60-4BA2-8F63-0609C91B0504}"/>
              </a:ext>
            </a:extLst>
          </p:cNvPr>
          <p:cNvSpPr>
            <a:spLocks xmlns:a="http://schemas.openxmlformats.org/drawingml/2006/main" noGrp="1"/>
          </p:cNvSpPr>
          <p:nvPr/>
        </p:nvSpPr>
        <p:spPr>
          <a:xfrm xmlns:a="http://schemas.openxmlformats.org/drawingml/2006/main">
            <a:off x="426624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10" name="Google Shape;610;p21">
            <a:extLst xmlns:a="http://schemas.openxmlformats.org/drawingml/2006/main">
              <a:ext uri="{FF2B5EF4-FFF2-40B4-BE49-F238E27FC236}">
                <a16:creationId xmlns:a16="http://schemas.microsoft.com/office/drawing/2014/main" id="{18D1C599-E620-41F7-9278-C9C54E5373BB}"/>
              </a:ext>
            </a:extLst>
          </p:cNvPr>
          <p:cNvSpPr>
            <a:spLocks xmlns:a="http://schemas.openxmlformats.org/drawingml/2006/main" noGrp="1"/>
          </p:cNvSpPr>
          <p:nvPr/>
        </p:nvSpPr>
        <p:spPr>
          <a:xfrm xmlns:a="http://schemas.openxmlformats.org/drawingml/2006/main">
            <a:off x="434853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Coexistence</a:t>
            </a:r>
          </a:p>
        </p:txBody>
      </p:sp>
      <p:sp>
        <p:nvSpPr>
          <p:cNvPr id="611" name="Google Shape;611;p21">
            <a:extLst xmlns:a="http://schemas.openxmlformats.org/drawingml/2006/main">
              <a:ext uri="{FF2B5EF4-FFF2-40B4-BE49-F238E27FC236}">
                <a16:creationId xmlns:a16="http://schemas.microsoft.com/office/drawing/2014/main" id="{5B3F9C4C-34A5-4CA8-8A8B-B7AD787EACFD}"/>
              </a:ext>
            </a:extLst>
          </p:cNvPr>
          <p:cNvSpPr>
            <a:spLocks xmlns:a="http://schemas.openxmlformats.org/drawingml/2006/main" noGrp="1"/>
          </p:cNvSpPr>
          <p:nvPr/>
        </p:nvSpPr>
        <p:spPr>
          <a:xfrm xmlns:a="http://schemas.openxmlformats.org/drawingml/2006/main">
            <a:off x="434853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Bliss</a:t>
            </a:r>
          </a:p>
        </p:txBody>
      </p:sp>
      <p:sp>
        <p:nvSpPr>
          <p:cNvPr id="522" name="Google Shape;522;p21">
            <a:extLst xmlns:a="http://schemas.openxmlformats.org/drawingml/2006/main">
              <a:ext uri="{FF2B5EF4-FFF2-40B4-BE49-F238E27FC236}">
                <a16:creationId xmlns:a16="http://schemas.microsoft.com/office/drawing/2014/main" id="{BCDF39BB-3829-4443-8D24-A01BD8E335CC}"/>
              </a:ext>
            </a:extLst>
          </p:cNvPr>
          <p:cNvSpPr>
            <a:spLocks xmlns:a="http://schemas.openxmlformats.org/drawingml/2006/main" noGrp="1"/>
          </p:cNvSpPr>
          <p:nvPr/>
        </p:nvSpPr>
        <p:spPr>
          <a:xfrm xmlns:a="http://schemas.openxmlformats.org/drawingml/2006/main">
            <a:off x="640080" y="4650000"/>
            <a:ext cx="53035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The relation is cumulative, not a mechanical one-to-one ladder; every scale must remain coherent with the others.  ·  AnalyticMadhyasthDarshan.org  ·  36 / 36</a:t>
            </a:r>
          </a:p>
        </p:txBody>
      </p:sp>
    </p:spTree>
    <p:extLst>
      <p:ext uri="{BB962C8B-B14F-4D97-AF65-F5344CB8AC3E}">
        <p14:creationId xmlns:p14="http://schemas.microsoft.com/office/powerpoint/2010/main" val="1300301282"/>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2026-09-19T15:52:39.2720000Z</dcterms:created>
  <dcterms:modified xsi:type="dcterms:W3CDTF">2026-09-19T15:52:39.2720000Z</dcterms:modified>
</coreProperties>
</file>