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2420168382c343e2"/>
    <p:sldId xmlns:r="http://schemas.openxmlformats.org/officeDocument/2006/relationships" id="258" r:id="R6baa5a03caad437d"/>
    <p:sldId xmlns:r="http://schemas.openxmlformats.org/officeDocument/2006/relationships" id="259" r:id="Rb5839b2540ed4948"/>
    <p:sldId xmlns:r="http://schemas.openxmlformats.org/officeDocument/2006/relationships" id="260" r:id="R431557a5918c4798"/>
    <p:sldId xmlns:r="http://schemas.openxmlformats.org/officeDocument/2006/relationships" id="261" r:id="Rae453c510cbb4683"/>
    <p:sldId xmlns:r="http://schemas.openxmlformats.org/officeDocument/2006/relationships" id="262" r:id="R0641b7f3a46146f0"/>
    <p:sldId xmlns:r="http://schemas.openxmlformats.org/officeDocument/2006/relationships" id="263" r:id="R2cd8a99f348941da"/>
    <p:sldId xmlns:r="http://schemas.openxmlformats.org/officeDocument/2006/relationships" id="264" r:id="Re1d2b139cd60454b"/>
    <p:sldId xmlns:r="http://schemas.openxmlformats.org/officeDocument/2006/relationships" id="265" r:id="Ra76af168df0143c6"/>
    <p:sldId xmlns:r="http://schemas.openxmlformats.org/officeDocument/2006/relationships" id="266" r:id="Rc86e2cc5ea9d4a22"/>
    <p:sldId xmlns:r="http://schemas.openxmlformats.org/officeDocument/2006/relationships" id="267" r:id="rId4"/>
    <p:sldId xmlns:r="http://schemas.openxmlformats.org/officeDocument/2006/relationships" id="268" r:id="Ra74cc10476684d2f"/>
    <p:sldId xmlns:r="http://schemas.openxmlformats.org/officeDocument/2006/relationships" id="269" r:id="R0b86459bb99b452a"/>
    <p:sldId xmlns:r="http://schemas.openxmlformats.org/officeDocument/2006/relationships" id="270" r:id="R9824f301f1114696"/>
    <p:sldId xmlns:r="http://schemas.openxmlformats.org/officeDocument/2006/relationships" id="271" r:id="R386d44af08284e9f"/>
    <p:sldId xmlns:r="http://schemas.openxmlformats.org/officeDocument/2006/relationships" id="272" r:id="Rf7ee8460a42c4890"/>
    <p:sldId xmlns:r="http://schemas.openxmlformats.org/officeDocument/2006/relationships" id="273" r:id="R180c5ebd721546cc"/>
    <p:sldId xmlns:r="http://schemas.openxmlformats.org/officeDocument/2006/relationships" id="274" r:id="R281a9fdc7fb14145"/>
    <p:sldId xmlns:r="http://schemas.openxmlformats.org/officeDocument/2006/relationships" id="275" r:id="rId2"/>
    <p:sldId xmlns:r="http://schemas.openxmlformats.org/officeDocument/2006/relationships" id="276" r:id="rId1"/>
    <p:sldId xmlns:r="http://schemas.openxmlformats.org/officeDocument/2006/relationships" id="277" r:id="rId3"/>
    <p:sldId xmlns:r="http://schemas.openxmlformats.org/officeDocument/2006/relationships" id="278" r:id="R09caf90d95d94412"/>
    <p:sldId xmlns:r="http://schemas.openxmlformats.org/officeDocument/2006/relationships" id="279" r:id="R5d3860ccf1d74b77"/>
    <p:sldId xmlns:r="http://schemas.openxmlformats.org/officeDocument/2006/relationships" id="280" r:id="R081c050ade194289"/>
    <p:sldId xmlns:r="http://schemas.openxmlformats.org/officeDocument/2006/relationships" id="281" r:id="Rb96d36736457439d"/>
    <p:sldId xmlns:r="http://schemas.openxmlformats.org/officeDocument/2006/relationships" id="282" r:id="R84d98faa59ca4b47"/>
    <p:sldId xmlns:r="http://schemas.openxmlformats.org/officeDocument/2006/relationships" id="283" r:id="Rcf8a3b1884494a9d"/>
    <p:sldId xmlns:r="http://schemas.openxmlformats.org/officeDocument/2006/relationships" id="284" r:id="Rd8cbd252bf8b47b0"/>
    <p:sldId xmlns:r="http://schemas.openxmlformats.org/officeDocument/2006/relationships" id="285" r:id="Rb2f9362a44874532"/>
    <p:sldId xmlns:r="http://schemas.openxmlformats.org/officeDocument/2006/relationships" id="286" r:id="Ra4649b7becf74cf3"/>
    <p:sldId xmlns:r="http://schemas.openxmlformats.org/officeDocument/2006/relationships" id="287" r:id="Rabc1592b7c15417a"/>
    <p:sldId xmlns:r="http://schemas.openxmlformats.org/officeDocument/2006/relationships" id="288" r:id="Ra73dd77758134a46"/>
    <p:sldId xmlns:r="http://schemas.openxmlformats.org/officeDocument/2006/relationships" id="289"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7.xml"/><Relationship Id="R081c050ade194289" Type="http://schemas.openxmlformats.org/officeDocument/2006/relationships/slide" Target="slides/slide25.xml"/><Relationship Id="R09caf90d95d94412" Type="http://schemas.openxmlformats.org/officeDocument/2006/relationships/slide" Target="slides/slide23.xml"/><Relationship Id="R0b86459bb99b452a" Type="http://schemas.openxmlformats.org/officeDocument/2006/relationships/slide" Target="slides/slide14.xml"/><Relationship Id="R180c5ebd721546cc" Type="http://schemas.openxmlformats.org/officeDocument/2006/relationships/slide" Target="slides/slide18.xml"/><Relationship Id="R1d3e638f8c704711" Type="http://schemas.openxmlformats.org/officeDocument/2006/relationships/viewProps" Target="viewProps.xml"/><Relationship Id="R1ff5b796be6e465c" Type="http://schemas.openxmlformats.org/officeDocument/2006/relationships/slide" Target="slides/slide1.xml"/><Relationship Id="R2420168382c343e2" Type="http://schemas.openxmlformats.org/officeDocument/2006/relationships/slide" Target="slides/slide2.xml"/><Relationship Id="R281a9fdc7fb14145" Type="http://schemas.openxmlformats.org/officeDocument/2006/relationships/slide" Target="slides/slide19.xml"/><Relationship Id="R2cd8a99f348941da" Type="http://schemas.openxmlformats.org/officeDocument/2006/relationships/slide" Target="slides/slide8.xml"/><Relationship Id="R386d44af08284e9f" Type="http://schemas.openxmlformats.org/officeDocument/2006/relationships/slide" Target="slides/slide16.xml"/><Relationship Id="R431557a5918c4798" Type="http://schemas.openxmlformats.org/officeDocument/2006/relationships/slide" Target="slides/slide5.xml"/><Relationship Id="R5d3860ccf1d74b77" Type="http://schemas.openxmlformats.org/officeDocument/2006/relationships/slide" Target="slides/slide24.xml"/><Relationship Id="R6baa5a03caad437d" Type="http://schemas.openxmlformats.org/officeDocument/2006/relationships/slide" Target="slides/slide3.xml"/><Relationship Id="R72378841bfe647b4" Type="http://schemas.openxmlformats.org/officeDocument/2006/relationships/notesMaster" Target="notesMasters/notesMaster1.xml"/><Relationship Id="R84d98faa59ca4b47" Type="http://schemas.openxmlformats.org/officeDocument/2006/relationships/slide" Target="slides/slide27.xml"/><Relationship Id="R9824f301f1114696" Type="http://schemas.openxmlformats.org/officeDocument/2006/relationships/slide" Target="slides/slide15.xml"/><Relationship Id="Ra4649b7becf74cf3" Type="http://schemas.openxmlformats.org/officeDocument/2006/relationships/slide" Target="slides/slide31.xml"/><Relationship Id="Ra73dd77758134a46" Type="http://schemas.openxmlformats.org/officeDocument/2006/relationships/slide" Target="slides/slide33.xml"/><Relationship Id="Ra74cc10476684d2f" Type="http://schemas.openxmlformats.org/officeDocument/2006/relationships/slide" Target="slides/slide13.xml"/><Relationship Id="Ra76af168df0143c6" Type="http://schemas.openxmlformats.org/officeDocument/2006/relationships/slide" Target="slides/slide10.xml"/><Relationship Id="Rabc1592b7c15417a" Type="http://schemas.openxmlformats.org/officeDocument/2006/relationships/slide" Target="slides/slide32.xml"/><Relationship Id="Racf2c32732694915" Type="http://schemas.openxmlformats.org/officeDocument/2006/relationships/presProps" Target="presProps.xml"/><Relationship Id="Rae453c510cbb4683" Type="http://schemas.openxmlformats.org/officeDocument/2006/relationships/slide" Target="slides/slide6.xml"/><Relationship Id="Rb14fc4a5734c4ced" Type="http://schemas.openxmlformats.org/officeDocument/2006/relationships/slideMaster" Target="slideMasters/slideMaster1.xml"/><Relationship Id="Rb2f9362a44874532" Type="http://schemas.openxmlformats.org/officeDocument/2006/relationships/slide" Target="slides/slide30.xml"/><Relationship Id="Rb5839b2540ed4948" Type="http://schemas.openxmlformats.org/officeDocument/2006/relationships/slide" Target="slides/slide4.xml"/><Relationship Id="Rb8457441c37a47ff" Type="http://schemas.openxmlformats.org/officeDocument/2006/relationships/slide" Target="slides/slide34.xml"/><Relationship Id="Rb96d36736457439d" Type="http://schemas.openxmlformats.org/officeDocument/2006/relationships/slide" Target="slides/slide26.xml"/><Relationship Id="Rc86e2cc5ea9d4a22" Type="http://schemas.openxmlformats.org/officeDocument/2006/relationships/slide" Target="slides/slide11.xml"/><Relationship Id="Rcf8a3b1884494a9d" Type="http://schemas.openxmlformats.org/officeDocument/2006/relationships/slide" Target="slides/slide28.xml"/><Relationship Id="Rd8cbd252bf8b47b0" Type="http://schemas.openxmlformats.org/officeDocument/2006/relationships/slide" Target="slides/slide29.xml"/><Relationship Id="Rdea2e66bcdaf4e12" Type="http://schemas.openxmlformats.org/officeDocument/2006/relationships/tableStyles" Target="tableStyles.xml"/><Relationship Id="Re1d2b139cd60454b" Type="http://schemas.openxmlformats.org/officeDocument/2006/relationships/slide" Target="slides/slide9.xml"/><Relationship Id="Re623d44da4644ce7" Type="http://schemas.openxmlformats.org/officeDocument/2006/relationships/theme" Target="theme/theme1.xml"/><Relationship Id="Rf7ee8460a42c4890" Type="http://schemas.openxmlformats.org/officeDocument/2006/relationships/slide" Target="slides/slide17.xml"/><Relationship Id="rId1" Type="http://schemas.openxmlformats.org/officeDocument/2006/relationships/slide" Target="slides/slide21.xml"/><Relationship Id="rId2" Type="http://schemas.openxmlformats.org/officeDocument/2006/relationships/slide" Target="slides/slide20.xml"/><Relationship Id="rId3" Type="http://schemas.openxmlformats.org/officeDocument/2006/relationships/slide" Target="slides/slide22.xml"/><Relationship Id="rId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5f7f31e7ef340a7" Type="http://schemas.openxmlformats.org/officeDocument/2006/relationships/slide" Target="../slides/slide2.xml"/><Relationship Id="R9104105beb0546c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32e91dd74de84111" Type="http://schemas.openxmlformats.org/officeDocument/2006/relationships/slide" Target="../slides/slide8.xml"/><Relationship Id="R7dfd93c688d24e8b"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9.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3.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e069d4da3894873" Type="http://schemas.openxmlformats.org/officeDocument/2006/relationships/slide" Target="../slides/slide14.xml"/><Relationship Id="Rb3421b0ce00348ed"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17.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24.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25.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26.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28.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29.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62a963e0c9f1421d" Type="http://schemas.openxmlformats.org/officeDocument/2006/relationships/notesMaster" Target="../notesMasters/notesMaster1.xml"/><Relationship Id="Rfb05606a4e594d2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orientation deliberately simple. The first movement asks what knowledge is; the second asks how it develops; the third asks how it is tested in life. The specialised terms and structures are introduced only when the corresponding slides can explain them.</a:t>
            </a:r>
          </a:p>
          <a:p xmlns:a="http://schemas.openxmlformats.org/drawingml/2006/main">
            <a:r>
              <a:t/>
            </a:r>
          </a:p>
          <a:p xmlns:a="http://schemas.openxmlformats.org/drawingml/2006/main">
            <a:r>
              <a:t>[Sources]</a:t>
            </a:r>
          </a:p>
          <a:p xmlns:a="http://schemas.openxmlformats.org/drawingml/2006/main">
            <a:r>
              <a:t>- The Epistemology of Coexistence, §1</a:t>
            </a:r>
          </a:p>
          <a:p xmlns:a="http://schemas.openxmlformats.org/drawingml/2006/main">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Omnipresence together with Nature is the knowledge to be known. This does not make Omnipresence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 roles distinct: jeevan is the active knower; coexistence is the known; and realised understanding must become meaningful evidence. The human joint form is the embodied site of that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Correct the earlier generic triads. KD assigns darshan to justice, dharma, and truth; drish to human jeevan; and drishya to coexistence. Dhyan, dhyata, and dhyeya then specify awakening, the human attender, and freedom from delusion with evidence of the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a:p xmlns:a="http://schemas.openxmlformats.org/drawingml/2006/main">
            <a:pPr marL="0" indent="0" algn="l">
              <a:spcBef>
                <a:spcPts val="0"/>
              </a:spcBef>
              <a:spcAft>
                <a:spcPts val="0"/>
              </a:spcAft>
              <a:buNone/>
            </a:pPr>
            <a:r>
              <a:t>- MVD p. 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Reflection is the knowing direction of jeevan's activity. It matures sensory and practical material through contemplation, enlightenment, and realisation rather than stopping at intake.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Projection is the evidencing direction. Realisation and resolve take form as visualisation, analysis, selection, bodily action, work, behaviour, and communication.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Emphasise recurrence, not a one-way pipeline. Result and evaluation return material for renewed reflection, while projection makes understanding answerable to consequence.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The Epistemology of Coexistence,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Cognisance is jeevan's knowing-and-believing capacity, while sensitivity is embodied responsiveness. Sound, touch, sight, taste, and smell are the channels of sensitivity, and the four vishayas are necessary bodily activities. Recognition and fulfilment arise through the balance of cognisance and sensitivity, not through sensitivity alone.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66–67</a:t>
            </a:r>
          </a:p>
          <a:p xmlns:a="http://schemas.openxmlformats.org/drawingml/2006/main">
            <a:pPr marL="0" indent="0" algn="l">
              <a:spcBef>
                <a:spcPts val="0"/>
              </a:spcBef>
              <a:spcAft>
                <a:spcPts val="0"/>
              </a:spcAft>
              <a:buNone/>
            </a:pPr>
            <a:r>
              <a:t>- SB p. 64</a:t>
            </a:r>
          </a:p>
          <a:p xmlns:a="http://schemas.openxmlformats.org/drawingml/2006/main">
            <a:pPr marL="0" indent="0" algn="l">
              <a:spcBef>
                <a:spcPts val="0"/>
              </a:spcBef>
              <a:spcAft>
                <a:spcPts val="0"/>
              </a:spcAft>
              <a:buNone/>
            </a:pPr>
            <a:r>
              <a:t>- MVD pp. 49–51,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the drish term from the earlier triad.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Distinguish the relational and internal outcomes. Justice yields mutual satisfaction between participants; happiness, peace, contentment, and bliss are harmonies within jeevan. Correct intention is necessary, but competent fulfilment and evaluation must confirm the result.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207–208, 253–254, 310–311</a:t>
            </a:r>
          </a:p>
          <a:p xmlns:a="http://schemas.openxmlformats.org/drawingml/2006/main">
            <a:pPr marL="0" indent="0" algn="l">
              <a:spcBef>
                <a:spcPts val="0"/>
              </a:spcBef>
              <a:spcAft>
                <a:spcPts val="0"/>
              </a:spcAft>
              <a:buNone/>
            </a:pPr>
            <a:r>
              <a:t>- JV pp. 55, 138</a:t>
            </a:r>
          </a:p>
          <a:p xmlns:a="http://schemas.openxmlformats.org/drawingml/2006/main">
            <a:pPr marL="0" indent="0" algn="l">
              <a:spcBef>
                <a:spcPts val="0"/>
              </a:spcBef>
              <a:spcAft>
                <a:spcPts val="0"/>
              </a:spcAft>
              <a:buNone/>
            </a:pPr>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Realisation must become publicly legible. Add upakar carefully: it is help and inspiration for prosperity and awakening that increases capability without dependency, and it is one part of the evidence chain rather than the sole proof.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72</a:t>
            </a:r>
          </a:p>
          <a:p xmlns:a="http://schemas.openxmlformats.org/drawingml/2006/main">
            <a:pPr marL="0" indent="0" algn="l">
              <a:spcBef>
                <a:spcPts val="0"/>
              </a:spcBef>
              <a:spcAft>
                <a:spcPts val="0"/>
              </a:spcAft>
              <a:buNone/>
            </a:pPr>
            <a:r>
              <a:t>- SB pp. 44, 111, 121, 149</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State the caution aloud: the displayed movement is a source-faithful pedagogical reconstruction, not a canonical guaranteed ladder. Information occasions study; result and evaluation make the movement recurrent.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35, 90, 273–301, 317</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§§1.5–1.6</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triad completes only when knowledge, knower, and known become mutually coherent without merger. Madhyasth Darshan retains real plurality inside coexistence.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these as tests rather than repeated definitions. Right use should be distinguishable from repression or accumulation; upakar should increase capability and independence; value-fulfilment should be assessable in mutuality; and stable harmony should be distinguishable from temporary affect.</a:t>
            </a:r>
          </a:p>
          <a:p xmlns:a="http://schemas.openxmlformats.org/drawingml/2006/main">
            <a:r>
              <a:t/>
            </a:r>
          </a:p>
          <a:p xmlns:a="http://schemas.openxmlformats.org/drawingml/2006/main">
            <a:r>
              <a:t>[Sources]</a:t>
            </a:r>
          </a:p>
          <a:p xmlns:a="http://schemas.openxmlformats.org/drawingml/2006/main">
            <a:r>
              <a:t>- The Epistemology of Coexistence, §7.7</a:t>
            </a:r>
          </a:p>
          <a:p xmlns:a="http://schemas.openxmlformats.org/drawingml/2006/main">
            <a:r>
              <a:t>- MVD p. 72</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Deliberation is not a single judgment. Six perspectives are compared before an activity is selected. Pleasantness, bodily well-being, and gain report real information, but each is relative to changing conditions: what tastes pleasant may damage the body, and what looks profitable to one family may externalise harm to another or to the natural orders. Justice, dharma, and truth ask whether the relationship is actually fulfilled, whether resolution and orderliness are sustained, and whether the understanding accords with realisation in existence. MVD calls deliberation through nyaya, dharma, and satya balanced, and deliberation through priya, hita, and labha unbalanced. State the point as governance, not suppression: the body still needs nourishment and useful means, but pleasure, health, and profit cannot finally authorise an activity that violates justice or produces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Upakar belongs to a higher-human level, above the bodily propensities and the three eshanas. MVD defines it precisely: help and inspiration for another person’s prosperity and awakening. It is not vague charity, not a transactional favour, and not a fourth eshana. It applies capacity the giver has already resolved to another’s material sufficiency and understanding. State the test plainly: help that increases the other’s capability and preserves mutuality fulfils upakar, while help that creates dependency or exploits vulnerability defeats its stated ends. Note also that upakar is one part of the evidence chain, not by itself proof that the giver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of an activity includes the law that protects it, the regulation that keeps it within that law, and the balance that results. Law becomes humanly evident when an activity protects rather than destroys the relationship it depends on; regulation when choice stays aligned with the accepted purpose; balance when the result is mutually fulfilling rather than advantageous to one party only. Guard the common misreading: MVD gives a continuous sequence from knowledge through law, regulation, and balance to justice, dharma, and truth, but this is a functional progression, not three lexical equations. Niyam does not simply mean nyaya, niyantran does not mean dharma, and santulan does not mean satya. Law, regulation, and balance describe the order of activity; justice, dharma, and truth describe the awakened human fulfilling that order.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any of this matters before the deck goes into mechanism. The human being belongs to the knowledge order, whose dharma is happiness, but unlike the prior orders human conduct is not constitutionally fixed: people can accept incompatible beliefs, choose alternatives, and reorganise their environment. Imagination and freedom of action arrive without the understanding needed to direct them, and knowledge is what brings that freedom into agreement with coexistence. Take the four scales in order and stress the definitions, because each is easy to misread. Prosperity is assured availability beyond a properly assessed need, not unlimited accumulation. Fearlessness rests on trust and justice, not on domination. Coexistence at the social level means participation without contradiction. Close on the key point: the four do not substitute for one another, so material sufficiency cannot compensate for unresolved understanding, and private calm cannot substitute for unjust relationship.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6807a11e1a043e8" Type="http://schemas.openxmlformats.org/officeDocument/2006/relationships/slideLayout" Target="../slideLayouts/slideLayout1.xml"/><Relationship Id="Rd207795912fc472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4.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8.xml.rels><?xml version='1.0' encoding='UTF-8' standalone='yes'?>
<Relationships xmlns="http://schemas.openxmlformats.org/package/2006/relationships"><Relationship Id="Ra762469e9d0d4e98" Type="http://schemas.openxmlformats.org/officeDocument/2006/relationships/slideLayout" Target="../slideLayouts/slideLayout1.xml"/><Relationship Id="Rb4d8dd59501a445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12.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13.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4b5a0309c2964e04" Type="http://schemas.openxmlformats.org/officeDocument/2006/relationships/slideLayout" Target="../slideLayouts/slideLayout1.xml"/><Relationship Id="R71163ba234874b85"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20.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1.xml.rels><?xml version='1.0' encoding='UTF-8' standalone='yes'?>
<Relationships xmlns="http://schemas.openxmlformats.org/package/2006/relationships"><Relationship Id="R417631f3a87c46ba" Type="http://schemas.openxmlformats.org/officeDocument/2006/relationships/slideLayout" Target="../slideLayouts/slideLayout1.xml"/><Relationship Id="Ra6ee38489c1e4e8b" Type="http://schemas.openxmlformats.org/officeDocument/2006/relationships/image" Target="../media/image.png"/><Relationship Id="rId3" Type="http://schemas.openxmlformats.org/officeDocument/2006/relationships/notesSlide" Target="../notesSlides/notesSlide31.xml"/></Relationships>
</file>

<file path=ppt/slides/_rels/slide22.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3.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b7b6166146d74314" Type="http://schemas.openxmlformats.org/officeDocument/2006/relationships/notesSlide" Target="../notesSlides/notesSlide27.xml"/><Relationship Id="Redbd6f2ddf50459c"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4.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34</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knowledge is (§§1.1–1.2) — realised understanding that gives clear direction in life.</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knowing develops (§§1.3–1.4) — through reflection, understanding, and action.</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knowledge is tested (§§1.5–1.6) — through relationships, results, and responsible participation.</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what we understand and how we live no longer contradict each other.  ·  AnalyticMadhyasthDarshan.org  ·  2 / 34</a:t>
            </a:r>
          </a:p>
        </p:txBody>
      </p:sp>
    </p:spTree>
    <p:extLst>
      <p:ext uri="{BB962C8B-B14F-4D97-AF65-F5344CB8AC3E}">
        <p14:creationId xmlns:p14="http://schemas.microsoft.com/office/powerpoint/2010/main" val="17594239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3 / 34</a:t>
            </a:r>
          </a:p>
        </p:txBody>
      </p:sp>
    </p:spTree>
    <p:extLst>
      <p:ext uri="{BB962C8B-B14F-4D97-AF65-F5344CB8AC3E}">
        <p14:creationId xmlns:p14="http://schemas.microsoft.com/office/powerpoint/2010/main" val="15314905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Omnipresence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4 / 34</a:t>
            </a:r>
          </a:p>
        </p:txBody>
      </p:sp>
    </p:spTree>
    <p:extLst>
      <p:ext uri="{BB962C8B-B14F-4D97-AF65-F5344CB8AC3E}">
        <p14:creationId xmlns:p14="http://schemas.microsoft.com/office/powerpoint/2010/main" val="7129897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5 / 34</a:t>
            </a:r>
          </a:p>
        </p:txBody>
      </p:sp>
    </p:spTree>
    <p:extLst>
      <p:ext uri="{BB962C8B-B14F-4D97-AF65-F5344CB8AC3E}">
        <p14:creationId xmlns:p14="http://schemas.microsoft.com/office/powerpoint/2010/main" val="14662190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roles remain distinct: jeevan knows, coexistence is known, and knowledge is their realised relation made evident in life.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84, 115  ·  JV p. 165  ·  AnalyticMadhyasthDarshan.org  ·  6 / 34</a:t>
            </a:r>
          </a:p>
        </p:txBody>
      </p:sp>
    </p:spTree>
    <p:extLst>
      <p:ext uri="{BB962C8B-B14F-4D97-AF65-F5344CB8AC3E}">
        <p14:creationId xmlns:p14="http://schemas.microsoft.com/office/powerpoint/2010/main" val="9723823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7 / 34</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SEEING AND ATTENTION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KD Assigns Each Term a Definite Role</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Darshan — seeing</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content is justice, dharma, and truth. Darshan here is meaningful seeing or exposition, not a free-floating personal viewpoint.</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 — the seeing jeevan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jeevan is the active locus of seeing: the knower capable of attention, understanding, evaluation, and evidence.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Drishya — the seen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field made directly meaningful: real units, relationships, values, and participation in orderliness.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Dhyan · dhyata · dhyeya</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the human attender; and freedom from delusion together with jeevan values and evidence of the human goal.</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source assignments, not a generic subject–object vocabulary. Perspective remains answerable to awakened seeing of coexistence.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 84  ·  AnalyticMadhyasthDarshan.org  ·  8 / 34</a:t>
            </a:r>
          </a:p>
        </p:txBody>
      </p:sp>
    </p:spTree>
    <p:extLst>
      <p:ext uri="{BB962C8B-B14F-4D97-AF65-F5344CB8AC3E}">
        <p14:creationId xmlns:p14="http://schemas.microsoft.com/office/powerpoint/2010/main" val="9723823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9 / 34</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10 / 34</a:t>
            </a:r>
          </a:p>
        </p:txBody>
      </p:sp>
    </p:spTree>
    <p:extLst>
      <p:ext uri="{BB962C8B-B14F-4D97-AF65-F5344CB8AC3E}">
        <p14:creationId xmlns:p14="http://schemas.microsoft.com/office/powerpoint/2010/main" val="199778863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Have Distinct Work</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for accomplishment. — MVD pp. 170, 208–209  ·  AnalyticMadhyasthDarshan.org  ·  11 / 34</a:t>
            </a:r>
          </a:p>
        </p:txBody>
      </p:sp>
    </p:spTree>
    <p:extLst>
      <p:ext uri="{BB962C8B-B14F-4D97-AF65-F5344CB8AC3E}">
        <p14:creationId xmlns:p14="http://schemas.microsoft.com/office/powerpoint/2010/main" val="14662190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WHY KNOWLEDGE MATTERS</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Sets the Stakes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knowledge order has happiness as its dharma, yet it carries imagination and freedom of action without automatically carrying the understanding needed to direct them.</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Resolution — in the 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Freedom from delusion and comprehensive resolution: the why and how of activity become clear.</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Prosperity — in the family</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Assured availability of physical means in excess of properly assessed need, not unlimited accumulation.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Fearlessness — in society</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Rests on trust, justice, and freedom from exploitation, not on protection through domination.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Coexistence — in orderliness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Participation without contradiction in an undivided society and the wider natural order.</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four scales do not substitute for one another.  ·  KD §3.17, p. 150  ·  JV pp. 61, 165  ·  AnalyticMadhyasthDarshan.org  ·  12 / 34</a:t>
            </a:r>
          </a:p>
        </p:txBody>
      </p:sp>
    </p:spTree>
    <p:extLst>
      <p:ext uri="{BB962C8B-B14F-4D97-AF65-F5344CB8AC3E}">
        <p14:creationId xmlns:p14="http://schemas.microsoft.com/office/powerpoint/2010/main" val="16278645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Reflection Coordinates Five Activity Pairs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are five coordinated pairs in jeevan. In reflection, sensation, behaviour, thought, desire, and resolve are examined until enlightenment and realisation become effective.</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Reflection — knowing moves inward</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and vritti attend to experience. Chitta forms meaning, buddhi resolves, and atma realises. Higher activities orient and integrate those below without becoming separate minds.</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“Inward” is a teaching description of coordinated activity; the canonical taxonomy is the five loci and their ten activities.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3.17  ·  MVD pp. 78, 83–84  ·  AnalyticMadhyasthDarshan.org  ·  13 / 34</a:t>
            </a:r>
          </a:p>
        </p:txBody>
      </p:sp>
    </p:spTree>
    <p:extLst>
      <p:ext uri="{BB962C8B-B14F-4D97-AF65-F5344CB8AC3E}">
        <p14:creationId xmlns:p14="http://schemas.microsoft.com/office/powerpoint/2010/main" val="12902166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Projection Carries Understanding Outward</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Projection is the evidencing direction of the same ten activities. Realisation and resolve become visualisation, analysis, selection, bodily action, work, behaviour, and communication.</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projected strengths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expression</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Jeevan supplies meaning and direction. Brain, senses, speech, movement, and social participation place the projection in a shared world where result can be evaluated.</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Reflection and projection are recurrent directions of one active jeevan; neither is complete when isolated from the other.</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3.16–3.17  ·  AnalyticMadhyasthDarshan.org  ·  14 / 34</a:t>
            </a:r>
          </a:p>
        </p:txBody>
      </p:sp>
    </p:spTree>
    <p:extLst>
      <p:ext uri="{BB962C8B-B14F-4D97-AF65-F5344CB8AC3E}">
        <p14:creationId xmlns:p14="http://schemas.microsoft.com/office/powerpoint/2010/main" val="1290216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PROJECTION–REFLECTION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Inward movement</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to jeevan through attention and reflection until meaning becomes clear and resolvable.</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Outward evidence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projects as selection, action, behaviour, work, communication, and evaluation in the human joint form.</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pp. 110–113  ·  MVD p. 290  ·  JV pp. 92–93  ·  AnalyticMadhyasthDarshan.org  ·  15 / 34</a:t>
            </a:r>
          </a:p>
        </p:txBody>
      </p:sp>
    </p:spTree>
    <p:extLst>
      <p:ext uri="{BB962C8B-B14F-4D97-AF65-F5344CB8AC3E}">
        <p14:creationId xmlns:p14="http://schemas.microsoft.com/office/powerpoint/2010/main" val="2828019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16 / 34</a:t>
            </a:r>
          </a:p>
        </p:txBody>
      </p:sp>
    </p:spTree>
    <p:extLst>
      <p:ext uri="{BB962C8B-B14F-4D97-AF65-F5344CB8AC3E}">
        <p14:creationId xmlns:p14="http://schemas.microsoft.com/office/powerpoint/2010/main" val="129021663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1.5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stay effective: taste, selection, analysis, visualisation, restricted deliberation — mun under lower-conformance.</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and truth — mun under higher-conformance.</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Higher-conformance is inspiration reaching mun from vritti, chitta, buddhi, and atma; lower-conformance is pressure from vitality, senses, body, and habit.</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§3.17  ·  MVD pp. 263–264  ·  AnalyticMadhyasthDarshan.org  ·  17 / 34</a:t>
            </a:r>
          </a:p>
        </p:txBody>
      </p:sp>
    </p:spTree>
    <p:extLst>
      <p:ext uri="{BB962C8B-B14F-4D97-AF65-F5344CB8AC3E}">
        <p14:creationId xmlns:p14="http://schemas.microsoft.com/office/powerpoint/2010/main" val="15636950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 COGNISANCE, SENSITIVITY, AND BODILY LIFE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Knowing and believing in jeevan; it provides direction by understanding relationship, value, purpose, and orderliness.</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the senses. It supplies contact and capacity for action, but not fulfilment by itself.</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Five sensory channels</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Sound, touch, sight, taste, and smell are the body's channels of contact with the world.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Four vishayas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Eating, sleeping, defending, and mating are necessary bodily activities regulated for nourishment, protection, and continuity.</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Cognisance gives direction; sensitivity provides embodied means. Their balance supports right recognition and fulfilment.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66–67  ·  SB p. 64  ·  MVD pp. 49–51, 166  ·  AnalyticMadhyasthDarshan.org  ·  18 / 34</a:t>
            </a:r>
          </a:p>
        </p:txBody>
      </p:sp>
    </p:spTree>
    <p:extLst>
      <p:ext uri="{BB962C8B-B14F-4D97-AF65-F5344CB8AC3E}">
        <p14:creationId xmlns:p14="http://schemas.microsoft.com/office/powerpoint/2010/main" val="9723823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progeny, wealth, and public-recognition motives are not eliminated. Under knowledge they become fields of responsibility; under delusion they become possessiveness, hoarding, and fame-seeking.</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Vivek identifies the humane goal; vigyan supplies practicable direction for these motives. — MVD pp. 50, 170, 303  ·  AnalyticMadhyasthDarshan.org  ·  19 / 34</a:t>
            </a:r>
          </a:p>
        </p:txBody>
      </p:sp>
    </p:spTree>
    <p:extLst>
      <p:ext uri="{BB962C8B-B14F-4D97-AF65-F5344CB8AC3E}">
        <p14:creationId xmlns:p14="http://schemas.microsoft.com/office/powerpoint/2010/main" val="146621908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Not a fourth eshana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is neither an additional social motive nor an ordinary bodily activity, but a higher-human act.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Resolved capacity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applies capacity already resolved in the giver to another's material sufficiency and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Creating dependency or exploiting vulnerability defeats the stated ends of upakar.</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20 / 34</a:t>
            </a:r>
          </a:p>
        </p:txBody>
      </p:sp>
    </p:spTree>
    <p:extLst>
      <p:ext uri="{BB962C8B-B14F-4D97-AF65-F5344CB8AC3E}">
        <p14:creationId xmlns:p14="http://schemas.microsoft.com/office/powerpoint/2010/main" val="9723823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Deliberation Weighs Six Perspectives</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  Is it pleasant or unpleasant? A sensory reading, and relative.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  Does it nourish or harm? Bodily health, also relative.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  Is it gain or loss? Goods, services, exchange, material result.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  Is it just? Behaviour within a recognised relationship.</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  Does it sustain resolution and orderly participation?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  Does understanding accord with realisation in existence?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MVD pp. 66–67  ·  AnalyticMadhyasthDarshan.org  ·  21 / 34</a:t>
            </a:r>
          </a:p>
        </p:txBody>
      </p:sp>
    </p:spTree>
    <p:extLst>
      <p:ext uri="{BB962C8B-B14F-4D97-AF65-F5344CB8AC3E}">
        <p14:creationId xmlns:p14="http://schemas.microsoft.com/office/powerpoint/2010/main" val="153149057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Activity Carries Its Own Order</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way an activity is protected and disciplined, so that it does not destroy what it depends 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Regulation according to that law, not arbitrary external control. Choice stays with the accepted purpose.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complementarity sustained when activity stays regulated in mutuality, fulfilling both parties.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human's understanding and fulfilment of that order in behaviour, thought, and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MVD's sequence joins the two triads but does not equate them: niyam is not simply nyaya, niyantran not dharma, santulan not satya.</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Law, regulation, and balance describe the order; justice, dharma, and truth fulfil it.  ·  MVD pp. 70, 137, 174  ·  AnalyticMadhyasthDarshan.org  ·  22 / 34</a:t>
            </a:r>
          </a:p>
        </p:txBody>
      </p:sp>
    </p:spTree>
    <p:extLst>
      <p:ext uri="{BB962C8B-B14F-4D97-AF65-F5344CB8AC3E}">
        <p14:creationId xmlns:p14="http://schemas.microsoft.com/office/powerpoint/2010/main" val="9723823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Through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23 / 34</a:t>
            </a:r>
          </a:p>
        </p:txBody>
      </p:sp>
    </p:spTree>
    <p:extLst>
      <p:ext uri="{BB962C8B-B14F-4D97-AF65-F5344CB8AC3E}">
        <p14:creationId xmlns:p14="http://schemas.microsoft.com/office/powerpoint/2010/main" val="28280191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24 / 34</a:t>
            </a:r>
          </a:p>
        </p:txBody>
      </p:sp>
    </p:spTree>
    <p:extLst>
      <p:ext uri="{BB962C8B-B14F-4D97-AF65-F5344CB8AC3E}">
        <p14:creationId xmlns:p14="http://schemas.microsoft.com/office/powerpoint/2010/main" val="36035657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25 / 34</a:t>
            </a:r>
          </a:p>
        </p:txBody>
      </p:sp>
    </p:spTree>
    <p:extLst>
      <p:ext uri="{BB962C8B-B14F-4D97-AF65-F5344CB8AC3E}">
        <p14:creationId xmlns:p14="http://schemas.microsoft.com/office/powerpoint/2010/main" val="18367201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1.5 · HUMAN DHARMA AND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Just conduct yields mutual satisfaction in relationship and supports happiness, peace, contentment, and bliss within jeevan. Correct intent alone is insufficient; fulfilment and evaluation must confirm it.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253–254  ·  JV p. 138  ·  KD p. 112  ·  AnalyticMadhyasthDarshan.org  ·  26 / 34</a:t>
            </a:r>
          </a:p>
        </p:txBody>
      </p:sp>
    </p:spTree>
    <p:extLst>
      <p:ext uri="{BB962C8B-B14F-4D97-AF65-F5344CB8AC3E}">
        <p14:creationId xmlns:p14="http://schemas.microsoft.com/office/powerpoint/2010/main" val="97238234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THE EVIDENCE REGIME</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Must Become Publicly Legible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is first-person, but not private immunity from examination. Knowledge must become encounterable through relationship, productive and ecological practice, evaluation, upakar, and independent transmission.</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first-person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authenticity is the capacity to bear and evidence that understanding.</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relational</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practical</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and productive participation expose understanding to material conditions, consequences, repeatability, and correction.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Upakar and transmission — social</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and inspiration for prosperity and awakening should increase another's sufficiency and capacity without dependency. Understanding must then be independently liveable and conveyable.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73  ·  SB pp. 44, 111, 121, 149  ·  JV p. 26  ·  AnalyticMadhyasthDarshan.org  ·  27 / 34</a:t>
            </a:r>
          </a:p>
        </p:txBody>
      </p:sp>
    </p:spTree>
    <p:extLst>
      <p:ext uri="{BB962C8B-B14F-4D97-AF65-F5344CB8AC3E}">
        <p14:creationId xmlns:p14="http://schemas.microsoft.com/office/powerpoint/2010/main" val="16278645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Must Remain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28 / 34</a:t>
            </a:r>
          </a:p>
        </p:txBody>
      </p:sp>
    </p:spTree>
    <p:extLst>
      <p:ext uri="{BB962C8B-B14F-4D97-AF65-F5344CB8AC3E}">
        <p14:creationId xmlns:p14="http://schemas.microsoft.com/office/powerpoint/2010/main" val="9723823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STUDY AND TRANSMISSION</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 Source-Faithful Learning Movement</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Result and evaluation return material for further reflection. Hearing correct words does not guarantee that any subsequent activity has matured.</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Pedagogical reconstruction — recurrent, not an automatic or canonical one-way pipeline.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KD §3.17  ·  JV p. 26  ·  AnalyticMadhyasthDarshan.org  ·  29 / 34</a:t>
            </a:r>
          </a:p>
        </p:txBody>
      </p:sp>
    </p:spTree>
    <p:extLst>
      <p:ext uri="{BB962C8B-B14F-4D97-AF65-F5344CB8AC3E}">
        <p14:creationId xmlns:p14="http://schemas.microsoft.com/office/powerpoint/2010/main" val="170148834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reflection, action, result, and evaluation — not a stronger assertion of the original belief.</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273–301, 317  ·  AnalyticMadhyasthDarshan.org  ·  30 / 34</a:t>
            </a:r>
          </a:p>
        </p:txBody>
      </p:sp>
    </p:spTree>
    <p:extLst>
      <p:ext uri="{BB962C8B-B14F-4D97-AF65-F5344CB8AC3E}">
        <p14:creationId xmlns:p14="http://schemas.microsoft.com/office/powerpoint/2010/main" val="156369508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COMPLETION OF THE TRIAD</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Coherence Without Merger</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At realisation, the triad is completed without erasing its terms. Coexistence remains real, jeevan remains a distinct active knower, and knowledge is the realised relation that becomes wisdom, science, and humane conduct.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realised relation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Understanding joins what exists, who understands it, and how that understanding must guide evaluation and participation.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distinct jeevan</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bears realisation and authenticity; the human joint form makes these capacities communicable and answerable to consequence.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Known — real coexistence</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Brahma satya hai, jagat satat hai — the ground is truth, the world perpetual. Units, orders, relationships, and values are not dissolved by understanding.</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Meaning — awakened living</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as resolution in the person, prosperity in the family, fearlessness in society, and coexistence in universal orderliness.</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Coherence of roles does not mean identity of knower and known. — KD §3.17 · MVD pp. 14–15, 115–116 · SB p. 81  ·  AnalyticMadhyasthDarshan.org  ·  31 / 34</a:t>
            </a:r>
          </a:p>
        </p:txBody>
      </p:sp>
    </p:spTree>
    <p:extLst>
      <p:ext uri="{BB962C8B-B14F-4D97-AF65-F5344CB8AC3E}">
        <p14:creationId xmlns:p14="http://schemas.microsoft.com/office/powerpoint/2010/main" val="162786451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EPISTEMIC DISCIPLINE</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Practical Discriminations and Evidential Limits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right use — do bodily and material practices support health, proportion, prosperity, and ecological complementarity without repression or accumulation?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capability and mutuality — does help increase independence and capacity, and does value-fulfilment satisfy both participants?</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Stable harmony is not temporary affect  —  correct intent can meet incapacity, scarcity, refusal, illness, or conflict; ontology, conduct, and self-report therefore need independent checks.</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difficult cases, mixed results, and evidential boundaries are stated plainly rather than absorbed into a claim of awakening.  ·  AnalyticMadhyasthDarshan.org  ·  32 / 34</a:t>
            </a:r>
          </a:p>
        </p:txBody>
      </p:sp>
    </p:spTree>
    <p:extLst>
      <p:ext uri="{BB962C8B-B14F-4D97-AF65-F5344CB8AC3E}">
        <p14:creationId xmlns:p14="http://schemas.microsoft.com/office/powerpoint/2010/main" val="175942399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33 / 34</a:t>
            </a:r>
          </a:p>
        </p:txBody>
      </p:sp>
    </p:spTree>
    <p:extLst>
      <p:ext uri="{BB962C8B-B14F-4D97-AF65-F5344CB8AC3E}">
        <p14:creationId xmlns:p14="http://schemas.microsoft.com/office/powerpoint/2010/main" val="1531490578"/>
      </p:ext>
    </p:extLst>
  </p:cSld>
</p:sld>
</file>

<file path=ppt/slides/slide34.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34 / 34</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