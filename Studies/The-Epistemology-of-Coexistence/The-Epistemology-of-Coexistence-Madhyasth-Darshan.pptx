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c93ede3e9ab455f" /><Relationship Type="http://schemas.openxmlformats.org/officeDocument/2006/relationships/extended-properties" Target="/docProps/app.xml" Id="R7144a1bddccd4443" /><Relationship Type="http://schemas.openxmlformats.org/officeDocument/2006/relationships/officeDocument" Target="/ppt/presentation.xml" Id="R7ddadc87b18b4ca1" /></Relationships>
</file>

<file path=ppt/presentation.xml><?xml version="1.0" encoding="utf-8"?>
<p:presentation xmlns:p="http://schemas.openxmlformats.org/presentationml/2006/main">
  <p:sldMasterIdLst>
    <p:sldMasterId xmlns:r="http://schemas.openxmlformats.org/officeDocument/2006/relationships" id="2147483648" r:id="R4acb2a5e20104e26"/>
  </p:sldMasterIdLst>
  <p:notesMasterIdLst>
    <p:notesMasterId xmlns:r="http://schemas.openxmlformats.org/officeDocument/2006/relationships" r:id="Rc47dfcad6a534aee"/>
  </p:notesMasterIdLst>
  <p:sldIdLst>
    <p:sldId xmlns:r="http://schemas.openxmlformats.org/officeDocument/2006/relationships" id="256" r:id="R6b7fb3e1ad7e4a16"/>
    <p:sldId xmlns:r="http://schemas.openxmlformats.org/officeDocument/2006/relationships" id="257" r:id="R5de13f6bafba483a"/>
    <p:sldId xmlns:r="http://schemas.openxmlformats.org/officeDocument/2006/relationships" id="258" r:id="R847b00b3f591417a"/>
    <p:sldId xmlns:r="http://schemas.openxmlformats.org/officeDocument/2006/relationships" id="259" r:id="R82260ba49bb94469"/>
    <p:sldId xmlns:r="http://schemas.openxmlformats.org/officeDocument/2006/relationships" id="260" r:id="Rb9b3b2f98b4144b5"/>
    <p:sldId xmlns:r="http://schemas.openxmlformats.org/officeDocument/2006/relationships" id="261" r:id="Rc9f73fd99f77494a"/>
    <p:sldId xmlns:r="http://schemas.openxmlformats.org/officeDocument/2006/relationships" id="262" r:id="Rc662edf2ee5545a4"/>
    <p:sldId xmlns:r="http://schemas.openxmlformats.org/officeDocument/2006/relationships" id="263" r:id="R9f554beedc5c4594"/>
    <p:sldId xmlns:r="http://schemas.openxmlformats.org/officeDocument/2006/relationships" id="264" r:id="Rdcb82815e2634553"/>
    <p:sldId xmlns:r="http://schemas.openxmlformats.org/officeDocument/2006/relationships" id="265" r:id="Rd18c1be55d3344d5"/>
    <p:sldId xmlns:r="http://schemas.openxmlformats.org/officeDocument/2006/relationships" id="266" r:id="Rd93e8165fb264d3e"/>
    <p:sldId xmlns:r="http://schemas.openxmlformats.org/officeDocument/2006/relationships" id="267" r:id="R80d1fd76be664a32"/>
    <p:sldId xmlns:r="http://schemas.openxmlformats.org/officeDocument/2006/relationships" id="268" r:id="R123119ce948a40c6"/>
    <p:sldId xmlns:r="http://schemas.openxmlformats.org/officeDocument/2006/relationships" id="269" r:id="R180cdf628d8c40a4"/>
    <p:sldId xmlns:r="http://schemas.openxmlformats.org/officeDocument/2006/relationships" id="270" r:id="Rf87285d876dd442b"/>
    <p:sldId xmlns:r="http://schemas.openxmlformats.org/officeDocument/2006/relationships" id="271" r:id="Rcb76463de18c48f6"/>
    <p:sldId xmlns:r="http://schemas.openxmlformats.org/officeDocument/2006/relationships" id="272" r:id="R8f225eeacd1449a0"/>
    <p:sldId xmlns:r="http://schemas.openxmlformats.org/officeDocument/2006/relationships" id="273" r:id="Refced1c89e1a4373"/>
    <p:sldId xmlns:r="http://schemas.openxmlformats.org/officeDocument/2006/relationships" id="274" r:id="R12db02f95b6a492a"/>
    <p:sldId xmlns:r="http://schemas.openxmlformats.org/officeDocument/2006/relationships" id="275" r:id="Rcc2fd6af53de40f8"/>
    <p:sldId xmlns:r="http://schemas.openxmlformats.org/officeDocument/2006/relationships" id="276" r:id="R273c9c65d09b4354"/>
    <p:sldId xmlns:r="http://schemas.openxmlformats.org/officeDocument/2006/relationships" id="277" r:id="R535521b237594ed4"/>
    <p:sldId xmlns:r="http://schemas.openxmlformats.org/officeDocument/2006/relationships" id="278" r:id="Re0640e7e7f914014"/>
    <p:sldId xmlns:r="http://schemas.openxmlformats.org/officeDocument/2006/relationships" id="279" r:id="Ree93da42a1144169"/>
    <p:sldId xmlns:r="http://schemas.openxmlformats.org/officeDocument/2006/relationships" id="280" r:id="R58ffe768c2d4487a"/>
    <p:sldId xmlns:r="http://schemas.openxmlformats.org/officeDocument/2006/relationships" id="281" r:id="R0df3c0ad9b35422d"/>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89ed8c256bb945a4" /><Relationship Type="http://schemas.openxmlformats.org/officeDocument/2006/relationships/slideMaster" Target="/ppt/slideMasters/slideMaster1.xml" Id="R4acb2a5e20104e26" /><Relationship Type="http://schemas.openxmlformats.org/officeDocument/2006/relationships/notesMaster" Target="/ppt/notesMasters/notesMaster1.xml" Id="Rc47dfcad6a534aee" /><Relationship Type="http://schemas.openxmlformats.org/officeDocument/2006/relationships/presProps" Target="/ppt/presProps.xml" Id="R61a2457063884b63" /><Relationship Type="http://schemas.openxmlformats.org/officeDocument/2006/relationships/viewProps" Target="/ppt/viewProps.xml" Id="Rdacfc136f25c4eff" /><Relationship Type="http://schemas.openxmlformats.org/officeDocument/2006/relationships/tableStyles" Target="/ppt/tableStyles.xml" Id="R827ecf3596ba472e" /><Relationship Type="http://schemas.openxmlformats.org/officeDocument/2006/relationships/slide" Target="/ppt/slides/slide1.xml" Id="R6b7fb3e1ad7e4a16" /><Relationship Type="http://schemas.openxmlformats.org/officeDocument/2006/relationships/slide" Target="/ppt/slides/slide2.xml" Id="R5de13f6bafba483a" /><Relationship Type="http://schemas.openxmlformats.org/officeDocument/2006/relationships/slide" Target="/ppt/slides/slide3.xml" Id="R847b00b3f591417a" /><Relationship Type="http://schemas.openxmlformats.org/officeDocument/2006/relationships/slide" Target="/ppt/slides/slide4.xml" Id="R82260ba49bb94469" /><Relationship Type="http://schemas.openxmlformats.org/officeDocument/2006/relationships/slide" Target="/ppt/slides/slide5.xml" Id="Rb9b3b2f98b4144b5" /><Relationship Type="http://schemas.openxmlformats.org/officeDocument/2006/relationships/slide" Target="/ppt/slides/slide6.xml" Id="Rc9f73fd99f77494a" /><Relationship Type="http://schemas.openxmlformats.org/officeDocument/2006/relationships/slide" Target="/ppt/slides/slide7.xml" Id="Rc662edf2ee5545a4" /><Relationship Type="http://schemas.openxmlformats.org/officeDocument/2006/relationships/slide" Target="/ppt/slides/slide8.xml" Id="R9f554beedc5c4594" /><Relationship Type="http://schemas.openxmlformats.org/officeDocument/2006/relationships/slide" Target="/ppt/slides/slide9.xml" Id="Rdcb82815e2634553" /><Relationship Type="http://schemas.openxmlformats.org/officeDocument/2006/relationships/slide" Target="/ppt/slides/slide10.xml" Id="Rd18c1be55d3344d5" /><Relationship Type="http://schemas.openxmlformats.org/officeDocument/2006/relationships/slide" Target="/ppt/slides/slide11.xml" Id="Rd93e8165fb264d3e" /><Relationship Type="http://schemas.openxmlformats.org/officeDocument/2006/relationships/slide" Target="/ppt/slides/slide12.xml" Id="R80d1fd76be664a32" /><Relationship Type="http://schemas.openxmlformats.org/officeDocument/2006/relationships/slide" Target="/ppt/slides/slide13.xml" Id="R123119ce948a40c6" /><Relationship Type="http://schemas.openxmlformats.org/officeDocument/2006/relationships/slide" Target="/ppt/slides/slide14.xml" Id="R180cdf628d8c40a4" /><Relationship Type="http://schemas.openxmlformats.org/officeDocument/2006/relationships/slide" Target="/ppt/slides/slide15.xml" Id="Rf87285d876dd442b" /><Relationship Type="http://schemas.openxmlformats.org/officeDocument/2006/relationships/slide" Target="/ppt/slides/slide16.xml" Id="Rcb76463de18c48f6" /><Relationship Type="http://schemas.openxmlformats.org/officeDocument/2006/relationships/slide" Target="/ppt/slides/slide17.xml" Id="R8f225eeacd1449a0" /><Relationship Type="http://schemas.openxmlformats.org/officeDocument/2006/relationships/slide" Target="/ppt/slides/slide18.xml" Id="Refced1c89e1a4373" /><Relationship Type="http://schemas.openxmlformats.org/officeDocument/2006/relationships/slide" Target="/ppt/slides/slide19.xml" Id="R12db02f95b6a492a" /><Relationship Type="http://schemas.openxmlformats.org/officeDocument/2006/relationships/slide" Target="/ppt/slides/slide20.xml" Id="Rcc2fd6af53de40f8" /><Relationship Type="http://schemas.openxmlformats.org/officeDocument/2006/relationships/slide" Target="/ppt/slides/slide21.xml" Id="R273c9c65d09b4354" /><Relationship Type="http://schemas.openxmlformats.org/officeDocument/2006/relationships/slide" Target="/ppt/slides/slide22.xml" Id="R535521b237594ed4" /><Relationship Type="http://schemas.openxmlformats.org/officeDocument/2006/relationships/slide" Target="/ppt/slides/slide23.xml" Id="Re0640e7e7f914014" /><Relationship Type="http://schemas.openxmlformats.org/officeDocument/2006/relationships/slide" Target="/ppt/slides/slide24.xml" Id="Ree93da42a1144169" /><Relationship Type="http://schemas.openxmlformats.org/officeDocument/2006/relationships/slide" Target="/ppt/slides/slide25.xml" Id="R58ffe768c2d4487a" /><Relationship Type="http://schemas.openxmlformats.org/officeDocument/2006/relationships/slide" Target="/ppt/slides/slide26.xml" Id="R0df3c0ad9b3542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bfae3f42fbe46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e713fb99554f19" /><Relationship Type="http://schemas.openxmlformats.org/officeDocument/2006/relationships/notesMaster" Target="/ppt/notesMasters/notesMaster1.xml" Id="R37cfdd4e053741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7c714ec6b64db7" /><Relationship Type="http://schemas.openxmlformats.org/officeDocument/2006/relationships/notesMaster" Target="/ppt/notesMasters/notesMaster1.xml" Id="Rc21f35561d6e46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6a5293d7ed47c4" /><Relationship Type="http://schemas.openxmlformats.org/officeDocument/2006/relationships/notesMaster" Target="/ppt/notesMasters/notesMaster1.xml" Id="Rf1a3f297300f42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f82f3ea53d47f4" /><Relationship Type="http://schemas.openxmlformats.org/officeDocument/2006/relationships/notesMaster" Target="/ppt/notesMasters/notesMaster1.xml" Id="R0b7c3d64e8e841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f1caefe97a4fbb" /><Relationship Type="http://schemas.openxmlformats.org/officeDocument/2006/relationships/notesMaster" Target="/ppt/notesMasters/notesMaster1.xml" Id="Rfc755366a8a74e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bef56bc25d404d" /><Relationship Type="http://schemas.openxmlformats.org/officeDocument/2006/relationships/notesMaster" Target="/ppt/notesMasters/notesMaster1.xml" Id="Rbc9fc9f5245c40e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1c3208ab9948ad" /><Relationship Type="http://schemas.openxmlformats.org/officeDocument/2006/relationships/notesMaster" Target="/ppt/notesMasters/notesMaster1.xml" Id="R52ffe33d66d945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7da172263e420e" /><Relationship Type="http://schemas.openxmlformats.org/officeDocument/2006/relationships/notesMaster" Target="/ppt/notesMasters/notesMaster1.xml" Id="R52365aff94ef4c86"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614262784548b2" /><Relationship Type="http://schemas.openxmlformats.org/officeDocument/2006/relationships/notesMaster" Target="/ppt/notesMasters/notesMaster1.xml" Id="R6d680a95d6964b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c906d7b6c34b02" /><Relationship Type="http://schemas.openxmlformats.org/officeDocument/2006/relationships/notesMaster" Target="/ppt/notesMasters/notesMaster1.xml" Id="R65b77e44bedf48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07f236763014b78" /><Relationship Type="http://schemas.openxmlformats.org/officeDocument/2006/relationships/notesMaster" Target="/ppt/notesMasters/notesMaster1.xml" Id="R2534e69b62c64a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04b9e98713b4ec0" /><Relationship Type="http://schemas.openxmlformats.org/officeDocument/2006/relationships/notesMaster" Target="/ppt/notesMasters/notesMaster1.xml" Id="Rb80fefada52d42c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430f91d9cb84147" /><Relationship Type="http://schemas.openxmlformats.org/officeDocument/2006/relationships/notesMaster" Target="/ppt/notesMasters/notesMaster1.xml" Id="R1b9e15b6fe7f49b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b0ddae90b1248e5" /><Relationship Type="http://schemas.openxmlformats.org/officeDocument/2006/relationships/notesMaster" Target="/ppt/notesMasters/notesMaster1.xml" Id="R7257301f529147f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ca7c12029b74cfd" /><Relationship Type="http://schemas.openxmlformats.org/officeDocument/2006/relationships/notesMaster" Target="/ppt/notesMasters/notesMaster1.xml" Id="Rc32cf27fa51a44f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50adcecc744589" /><Relationship Type="http://schemas.openxmlformats.org/officeDocument/2006/relationships/notesMaster" Target="/ppt/notesMasters/notesMaster1.xml" Id="R21c6de7355d547d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6206f6f2f3348ec" /><Relationship Type="http://schemas.openxmlformats.org/officeDocument/2006/relationships/notesMaster" Target="/ppt/notesMasters/notesMaster1.xml" Id="Rf6bf83f339fe4d6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8be7ac7841411d" /><Relationship Type="http://schemas.openxmlformats.org/officeDocument/2006/relationships/notesMaster" Target="/ppt/notesMasters/notesMaster1.xml" Id="R59042557a09b40d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470c0dca0c748d1" /><Relationship Type="http://schemas.openxmlformats.org/officeDocument/2006/relationships/notesMaster" Target="/ppt/notesMasters/notesMaster1.xml" Id="Ra967d61b27194f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89677ead09840a7" /><Relationship Type="http://schemas.openxmlformats.org/officeDocument/2006/relationships/notesMaster" Target="/ppt/notesMasters/notesMaster1.xml" Id="Rd98ffa4cc9ca47e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4df63db2722441f" /><Relationship Type="http://schemas.openxmlformats.org/officeDocument/2006/relationships/notesMaster" Target="/ppt/notesMasters/notesMaster1.xml" Id="R47351095ae63454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1f8db01efdb4992" /><Relationship Type="http://schemas.openxmlformats.org/officeDocument/2006/relationships/notesMaster" Target="/ppt/notesMasters/notesMaster1.xml" Id="R7317792d1c564f7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46f129c47cb4c89" /><Relationship Type="http://schemas.openxmlformats.org/officeDocument/2006/relationships/notesMaster" Target="/ppt/notesMasters/notesMaster1.xml" Id="Rd181a1c8f1b943b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9c1c6fc817d4338" /><Relationship Type="http://schemas.openxmlformats.org/officeDocument/2006/relationships/notesMaster" Target="/ppt/notesMasters/notesMaster1.xml" Id="Re25c86e4e36d4fb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3489b146bb34957" /><Relationship Type="http://schemas.openxmlformats.org/officeDocument/2006/relationships/notesMaster" Target="/ppt/notesMasters/notesMaster1.xml" Id="R8064cf54cfc14ea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5894a5fc3764712" /><Relationship Type="http://schemas.openxmlformats.org/officeDocument/2006/relationships/notesMaster" Target="/ppt/notesMasters/notesMaster1.xml" Id="Rd69c60087f664d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deck presents the Madhyasth Darshan account in the revised order of the study: ground and content, human need, the active knower, practical governance, and evidence. The central question is not only “What is knowledge?” but “What must a human know so that freedom of action becomes orderly participation?”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Study §§1.1–1.5</a:t>
            </a:r>
          </a:p>
          <a:p xmlns:a="http://schemas.openxmlformats.org/drawingml/2006/main">
            <a:pPr marL="0" indent="0" algn="l">
              <a:spcBef>
                <a:spcPts val="0"/>
              </a:spcBef>
              <a:spcAft>
                <a:spcPts val="0"/>
              </a:spcAft>
              <a:buNone/>
            </a:pPr>
            <a:r>
              <a:t>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map. The first part defines knowledge, knower, and known. The second explains why knowledge is needed. The third examines jeevan and bodily mediation. The fourth makes knowledge operational across activity and decision. The fifth asks how claims are evidenced, corrected, and transmitted.</a:t>
            </a:r>
          </a:p>
          <a:p xmlns:a="http://schemas.openxmlformats.org/drawingml/2006/main">
            <a:r>
              <a:t/>
            </a:r>
          </a:p>
          <a:p xmlns:a="http://schemas.openxmlformats.org/drawingml/2006/main">
            <a:r>
              <a:t>[Sources]</a:t>
            </a:r>
          </a:p>
          <a:p xmlns:a="http://schemas.openxmlformats.org/drawingml/2006/main">
            <a:r>
              <a:t>Study §§1.1–1.5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These questions prevent the account from becoming a catalogue of Sanskrit terms. Each later slide should answer one of them: ontology and content, the knower, the purpose of knowledge, practical governance, or evidence and correction.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Study introduction and §§1.1–1.5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MVD uses gyan in a wider ontological register. Space, the omnipresent ground, is identified as Knowledge and as actionless. Units act within coexistence; Space does not become a universal thinking subject. Jeevan is the knower that realises this orderly field and can evidence understanding in humane conduct.</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11, 32–35, 115–116</a:t>
            </a:r>
          </a:p>
          <a:p xmlns:a="http://schemas.openxmlformats.org/drawingml/2006/main">
            <a:pPr marL="0" indent="0" algn="l">
              <a:spcBef>
                <a:spcPts val="0"/>
              </a:spcBef>
              <a:spcAft>
                <a:spcPts val="0"/>
              </a:spcAft>
              <a:buNone/>
            </a:pPr>
            <a:r>
              <a:t>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content model that organises the revised section. The canonical threefold content is coexistence, jeevan, and humane conduct. The practical fields then ask what activities occur, what comparisons should govern a decision, and what law, regulation, and balance keep the action within universal orderliness.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Study §§1.1 and 1.4</a:t>
            </a:r>
          </a:p>
          <a:p xmlns:a="http://schemas.openxmlformats.org/drawingml/2006/main">
            <a:pPr marL="0" indent="0" algn="l">
              <a:spcBef>
                <a:spcPts val="0"/>
              </a:spcBef>
              <a:spcAft>
                <a:spcPts val="0"/>
              </a:spcAft>
              <a:buNone/>
            </a:pPr>
            <a:r>
              <a:t>MVD pp. 58, 64–73, 137, 174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 three roles distinct. Jeevan is the knower. Coexistence is the known, including relationships and humane participation. Knowledge is the realised relation that can guide activity and remain answerable to result. Evidence is therefore not an optional add-on.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KD §3.17, pp. 145–150</a:t>
            </a:r>
          </a:p>
          <a:p xmlns:a="http://schemas.openxmlformats.org/drawingml/2006/main">
            <a:pPr marL="0" indent="0" algn="l">
              <a:spcBef>
                <a:spcPts val="0"/>
              </a:spcBef>
              <a:spcAft>
                <a:spcPts val="0"/>
              </a:spcAft>
              <a:buNone/>
            </a:pPr>
            <a:r>
              <a:t>MVD pp. 84, 115–116</a:t>
            </a:r>
          </a:p>
          <a:p xmlns:a="http://schemas.openxmlformats.org/drawingml/2006/main">
            <a:pPr marL="0" indent="0" algn="l">
              <a:spcBef>
                <a:spcPts val="0"/>
              </a:spcBef>
              <a:spcAft>
                <a:spcPts val="0"/>
              </a:spcAft>
              <a:buNone/>
            </a:pPr>
            <a:r>
              <a:t>JV p.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need for knowledge begins with a difference between material constitution and human freedom. Human beings can imagine alternatives and act on incompatible acceptances. The darshan argues that understanding is needed to direct that freedom toward happiness and coexistence rather than contradiction.</a:t>
            </a:r>
          </a:p>
          <a:p xmlns:a="http://schemas.openxmlformats.org/drawingml/2006/main">
            <a:r>
              <a:t/>
            </a:r>
          </a:p>
          <a:p xmlns:a="http://schemas.openxmlformats.org/drawingml/2006/main">
            <a:r>
              <a:t>[Sources]</a:t>
            </a:r>
          </a:p>
          <a:p xmlns:a="http://schemas.openxmlformats.org/drawingml/2006/main">
            <a:r>
              <a:t>Study §1.2</a:t>
            </a:r>
          </a:p>
          <a:p xmlns:a="http://schemas.openxmlformats.org/drawingml/2006/main">
            <a:r>
              <a:t>MVD pp. 115–116</a:t>
            </a:r>
          </a:p>
          <a:p xmlns:a="http://schemas.openxmlformats.org/drawingml/2006/main">
            <a:r>
              <a:t>JV pp. 61,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human goal operates at four scales: resolution in the person, prosperity in the family, fearlessness in society, and coexistence in universal orderliness. The four jeevan values describe coherence within the active faculties. Do not present these as a mechanical one-to-one ladder.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207–208</a:t>
            </a:r>
          </a:p>
          <a:p xmlns:a="http://schemas.openxmlformats.org/drawingml/2006/main">
            <a:pPr marL="0" indent="0" algn="l">
              <a:spcBef>
                <a:spcPts val="0"/>
              </a:spcBef>
              <a:spcAft>
                <a:spcPts val="0"/>
              </a:spcAft>
              <a:buNone/>
            </a:pPr>
            <a:r>
              <a:t>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primary-text correction on this slide is important. Vivek recognises the human goal; it is not assigned the whole content of material prosperity and jeevan goals. Vigyan supplies directional knowledge for material prosperity together with the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 170</a:t>
            </a:r>
          </a:p>
          <a:p xmlns:a="http://schemas.openxmlformats.org/drawingml/2006/main">
            <a:pPr marL="0" indent="0" algn="l">
              <a:spcBef>
                <a:spcPts val="0"/>
              </a:spcBef>
              <a:spcAft>
                <a:spcPts val="0"/>
              </a:spcAft>
              <a:buNone/>
            </a:pPr>
            <a:r>
              <a:t>Study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and awakening use the same jeevan faculties. In delusion, body-identification and the first three evaluative perspectives dominate. In awakening, the faculties are coordinated by justice, dharma, truth, and the understood human goal. The difference is governance and completeness, not the presence or absence of activity.</a:t>
            </a:r>
          </a:p>
          <a:p xmlns:a="http://schemas.openxmlformats.org/drawingml/2006/main">
            <a:r>
              <a:t/>
            </a:r>
          </a:p>
          <a:p xmlns:a="http://schemas.openxmlformats.org/drawingml/2006/main">
            <a:r>
              <a:t>[Sources]</a:t>
            </a:r>
          </a:p>
          <a:p xmlns:a="http://schemas.openxmlformats.org/drawingml/2006/main">
            <a:r>
              <a:t>JV pp. 72–74, 92–98</a:t>
            </a:r>
          </a:p>
          <a:p xmlns:a="http://schemas.openxmlformats.org/drawingml/2006/main">
            <a:r>
              <a:t>MVD pp. 126–127, 263–264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ten activities belong to one jeevan across five loci. Reflection describes the inward examination of experience; projection describes the outward evidencing of understanding. The two directions are pedagogical descriptions of coordinated activity, not separate substances.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JV pp. 72–74, 92–93</a:t>
            </a:r>
          </a:p>
          <a:p xmlns:a="http://schemas.openxmlformats.org/drawingml/2006/main">
            <a:pPr marL="0" indent="0" algn="l">
              <a:spcBef>
                <a:spcPts val="0"/>
              </a:spcBef>
              <a:spcAft>
                <a:spcPts val="0"/>
              </a:spcAft>
              <a:buNone/>
            </a:pPr>
            <a:r>
              <a:t>KD §§3.12, 3.17</a:t>
            </a:r>
          </a:p>
          <a:p xmlns:a="http://schemas.openxmlformats.org/drawingml/2006/main">
            <a:pPr marL="0" indent="0" algn="l">
              <a:spcBef>
                <a:spcPts val="0"/>
              </a:spcBef>
              <a:spcAft>
                <a:spcPts val="0"/>
              </a:spcAft>
              <a:buNone/>
            </a:pPr>
            <a:r>
              <a:t>MVD pp. 83–84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Walk through this as a recurrent loop. Attention and reflection deepen meaning. Realisation stabilises understanding. Projection makes it actionable. Result and evaluation return to attention, so correction is built into the account rather than added after failure.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KD §3.12, pp. 110–113</a:t>
            </a:r>
          </a:p>
          <a:p xmlns:a="http://schemas.openxmlformats.org/drawingml/2006/main">
            <a:pPr marL="0" indent="0" algn="l">
              <a:spcBef>
                <a:spcPts val="0"/>
              </a:spcBef>
              <a:spcAft>
                <a:spcPts val="0"/>
              </a:spcAft>
              <a:buNone/>
            </a:pPr>
            <a:r>
              <a:t>MVD p. 290</a:t>
            </a:r>
          </a:p>
          <a:p xmlns:a="http://schemas.openxmlformats.org/drawingml/2006/main">
            <a:pPr marL="0" indent="0" algn="l">
              <a:spcBef>
                <a:spcPts val="0"/>
              </a:spcBef>
              <a:spcAft>
                <a:spcPts val="0"/>
              </a:spcAft>
              <a:buNone/>
            </a:pPr>
            <a:r>
              <a:t>JV pp. 92–93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slide states the textual claim and its limit. Knowing belongs to jeevan, while the body and brain mediate sensory contact and public action. The source offers a functional relation, but the precise interaction between sentient activity and neural processes remains an open explanatory question.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83–84, 200</a:t>
            </a:r>
          </a:p>
          <a:p xmlns:a="http://schemas.openxmlformats.org/drawingml/2006/main">
            <a:pPr marL="0" indent="0" algn="l">
              <a:spcBef>
                <a:spcPts val="0"/>
              </a:spcBef>
              <a:spcAft>
                <a:spcPts val="0"/>
              </a:spcAft>
              <a:buNone/>
            </a:pPr>
            <a:r>
              <a:t>KD §3.16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Cognisance gives direction; sensitivity supplies embodied contact. Pleasantness, health, and material gain remain necessary inputs, but they are not the final authorising criteria. Higher conformance means justice, dharma, and truth govern the use of these inputs.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66–67, 126–127, 207–208</a:t>
            </a:r>
          </a:p>
          <a:p xmlns:a="http://schemas.openxmlformats.org/drawingml/2006/main">
            <a:pPr marL="0" indent="0" algn="l">
              <a:spcBef>
                <a:spcPts val="0"/>
              </a:spcBef>
              <a:spcAft>
                <a:spcPts val="0"/>
              </a:spcAft>
              <a:buNone/>
            </a:pPr>
            <a:r>
              <a:t>JV pp. 93–98,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Do not merge these enumerations. The four vishayas answer which bodily propensity is being served. The five sensory modalities answer how the body contacts and receives information from its surroundings. MVD uses samvedana more broadly, so “five sensory modalities” avoids inventing a stable five-member category.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58, 65, 313</a:t>
            </a:r>
          </a:p>
          <a:p xmlns:a="http://schemas.openxmlformats.org/drawingml/2006/main">
            <a:pPr marL="0" indent="0" algn="l">
              <a:spcBef>
                <a:spcPts val="0"/>
              </a:spcBef>
              <a:spcAft>
                <a:spcPts val="0"/>
              </a:spcAft>
              <a:buNone/>
            </a:pPr>
            <a:r>
              <a:t>Study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MVD distinguishes sensory satisfaction, intellectual satisfaction, and non-transforming satisfaction in realisation. The distinction matters because the three eshanas and samadhan belong to the intellectual and social field, not to a larger list of sensory drives.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64–65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Each eshana is defined normatively. Putreshana concerns responsible continuity, vitteshana prosperity and right use, and lokeshana recognition in service of undivided society and universal orderliness. Samadhan supplies the resolving orientation under which these motives become responsibilities.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64–65</a:t>
            </a:r>
          </a:p>
          <a:p xmlns:a="http://schemas.openxmlformats.org/drawingml/2006/main">
            <a:pPr marL="0" indent="0" algn="l">
              <a:spcBef>
                <a:spcPts val="0"/>
              </a:spcBef>
              <a:spcAft>
                <a:spcPts val="0"/>
              </a:spcAft>
              <a:buNone/>
            </a:pPr>
            <a:r>
              <a:t>Study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Upakar is kept separate from the three eshanas. Its primary definition is help and inspiration for prosperity and awakening. The capability and non-dependency language is an analytical implication: help that entrenches dependence or exploits vulnerability would defeat those stated ends.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 73</a:t>
            </a:r>
          </a:p>
          <a:p xmlns:a="http://schemas.openxmlformats.org/drawingml/2006/main">
            <a:pPr marL="0" indent="0" algn="l">
              <a:spcBef>
                <a:spcPts val="0"/>
              </a:spcBef>
              <a:spcAft>
                <a:spcPts val="0"/>
              </a:spcAft>
              <a:buNone/>
            </a:pPr>
            <a:r>
              <a:t>Study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first three perspectives concern changing sensory, bodily, and material conditions. The latter three concern relationship, resolution and orderliness, and truth in realisation. Humane deliberation considers all six but gives governing authority to nyaya, dharma, and satya.</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66–67, 126–127</a:t>
            </a:r>
          </a:p>
          <a:p xmlns:a="http://schemas.openxmlformats.org/drawingml/2006/main">
            <a:pPr marL="0" indent="0" algn="l">
              <a:spcBef>
                <a:spcPts val="0"/>
              </a:spcBef>
              <a:spcAft>
                <a:spcPts val="0"/>
              </a:spcAft>
              <a:buNone/>
            </a:pPr>
            <a:r>
              <a:t>JV pp. 93–98,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Niyam is the law that protects and disciplines activity. Niyantran is regulation according to law. Santulan is the balance or complementarity that results. MVD then continues from balance to justice, dharma, and truth; it does not state three one-to-one lexical equations.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70, 137, 174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joins the previously scattered decision, karma, result, and evaluation material. Before acting, identify the activity, compare all six perspectives, and understand the relevant law and regulation. After acting, result and evaluation show whether balance and mutual fulfilment were actually achieved.</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66–71, 126–127, 137, 174, 310–311</a:t>
            </a:r>
          </a:p>
          <a:p xmlns:a="http://schemas.openxmlformats.org/drawingml/2006/main">
            <a:pPr marL="0" indent="0" algn="l">
              <a:spcBef>
                <a:spcPts val="0"/>
              </a:spcBef>
              <a:spcAft>
                <a:spcPts val="0"/>
              </a:spcAft>
              <a:buNone/>
            </a:pPr>
            <a:r>
              <a:t>KD §3.4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evidence regime has first-person, relational, practical, and social dimensions. Realisation cannot claim private immunity, because understanding must project into behaviour and work. Upakar and transmission add a further test: another person should become independently capable of living and conveying the understanding.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12, 73</a:t>
            </a:r>
          </a:p>
          <a:p xmlns:a="http://schemas.openxmlformats.org/drawingml/2006/main">
            <a:pPr marL="0" indent="0" algn="l">
              <a:spcBef>
                <a:spcPts val="0"/>
              </a:spcBef>
              <a:spcAft>
                <a:spcPts val="0"/>
              </a:spcAft>
              <a:buNone/>
            </a:pPr>
            <a:r>
              <a:t>SB pp. 44, 111, 121, 149</a:t>
            </a:r>
          </a:p>
          <a:p xmlns:a="http://schemas.openxmlformats.org/drawingml/2006/main">
            <a:pPr marL="0" indent="0" algn="l">
              <a:spcBef>
                <a:spcPts val="0"/>
              </a:spcBef>
              <a:spcAft>
                <a:spcPts val="0"/>
              </a:spcAft>
              <a:buNone/>
            </a:pPr>
            <a:r>
              <a:t>JV p. 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False learning is not merely one false sentence. It is failure to understand form, property, essential nature, or dharma as it is, and it produces doubt and distorted evaluation. Correction therefore returns to attention, reflection, action, result, and evaluation.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MVD pp. 184, 263–264, 273–301, 317</a:t>
            </a:r>
          </a:p>
          <a:p xmlns:a="http://schemas.openxmlformats.org/drawingml/2006/main">
            <a:pPr marL="0" indent="0" algn="l">
              <a:spcBef>
                <a:spcPts val="0"/>
              </a:spcBef>
              <a:spcAft>
                <a:spcPts val="0"/>
              </a:spcAft>
              <a:buNone/>
            </a:pPr>
            <a:r>
              <a:t>JV p. 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checks keep the framework corrigible. Right use must be tested in bodily, material, relational, and ecological conditions. Help must be tested for capability and mutuality. Mixed results and hard cases should remain visible rather than being absorbed into a claim of awakening.</a:t>
            </a:r>
          </a:p>
          <a:p xmlns:a="http://schemas.openxmlformats.org/drawingml/2006/main">
            <a:r>
              <a:t/>
            </a:r>
          </a:p>
          <a:p xmlns:a="http://schemas.openxmlformats.org/drawingml/2006/main">
            <a:r>
              <a:t>[Sources]</a:t>
            </a:r>
          </a:p>
          <a:p xmlns:a="http://schemas.openxmlformats.org/drawingml/2006/main">
            <a:r>
              <a:t>Study §§1.4–1.5</a:t>
            </a:r>
          </a:p>
          <a:p xmlns:a="http://schemas.openxmlformats.org/drawingml/2006/main">
            <a:r>
              <a:t>SB pp. 111, 121, 149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answers now follow the revised five-part sequence. Knowledge has an ontological ground and an active human content. It directs freedom, governs definite activities and comparisons, and remains answerable to result, correction, and transmission.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Study §§1.1–1.5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by returning to the human goal. Knowledge is complete when it can govern actual activity, remain balanced through law and regulation, become humane conduct, and support another person’s prosperity and awakening. An awakened tradition is therefore transmissible and corrigible, not merely repetitive.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Study conclusion</a:t>
            </a:r>
          </a:p>
          <a:p xmlns:a="http://schemas.openxmlformats.org/drawingml/2006/main">
            <a:pPr marL="0" indent="0" algn="l">
              <a:spcBef>
                <a:spcPts val="0"/>
              </a:spcBef>
              <a:spcAft>
                <a:spcPts val="0"/>
              </a:spcAft>
              <a:buNone/>
            </a:pPr>
            <a:r>
              <a:t>MVD pp. 73, 174, 207–208</a:t>
            </a:r>
          </a:p>
          <a:p xmlns:a="http://schemas.openxmlformats.org/drawingml/2006/main">
            <a:pPr marL="0" indent="0" algn="l">
              <a:spcBef>
                <a:spcPts val="0"/>
              </a:spcBef>
              <a:spcAft>
                <a:spcPts val="0"/>
              </a:spcAft>
              <a:buNone/>
            </a:pPr>
            <a:r>
              <a:t>JV pp. 61, 138,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2f906f480f47e6"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4cf48bcf444611" /><Relationship Type="http://schemas.openxmlformats.org/officeDocument/2006/relationships/slideLayout" Target="/ppt/slideLayouts/slideLayout1.xml" Id="Rb8ea37aed218416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b8ea37aed218416d"/>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5596118bcb54e3c" /><Relationship Type="http://schemas.openxmlformats.org/officeDocument/2006/relationships/notesSlide" Target="/ppt/notesSlides/notesSlide1.xml" Id="Re341c5e2e98b42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b6d8d53c879478b" /><Relationship Type="http://schemas.openxmlformats.org/officeDocument/2006/relationships/notesSlide" Target="/ppt/notesSlides/notesSlide2.xml" Id="R63f5d8fda0844e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661aeaad114907" /><Relationship Type="http://schemas.openxmlformats.org/officeDocument/2006/relationships/image" Target="/ppt/media/image.png" Id="R45f72aa0d5954c76" /><Relationship Type="http://schemas.openxmlformats.org/officeDocument/2006/relationships/notesSlide" Target="/ppt/notesSlides/notesSlide3.xml" Id="Raa8ed5e8b8c64e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4f9d08145014192" /><Relationship Type="http://schemas.openxmlformats.org/officeDocument/2006/relationships/notesSlide" Target="/ppt/notesSlides/notesSlide4.xml" Id="Rfbeaa60a5de74ca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d9d92e4ca554f1d" /><Relationship Type="http://schemas.openxmlformats.org/officeDocument/2006/relationships/image" Target="/ppt/media/image2.png" Id="Rf704bd1f63a540e1" /><Relationship Type="http://schemas.openxmlformats.org/officeDocument/2006/relationships/image" Target="/ppt/media/image3.png" Id="R424689496e824f79" /><Relationship Type="http://schemas.openxmlformats.org/officeDocument/2006/relationships/image" Target="/ppt/media/image4.png" Id="R4e3cda0b46324c0a" /><Relationship Type="http://schemas.openxmlformats.org/officeDocument/2006/relationships/notesSlide" Target="/ppt/notesSlides/notesSlide5.xml" Id="R4f9d37aba52b42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61a5c9542e14da5" /><Relationship Type="http://schemas.openxmlformats.org/officeDocument/2006/relationships/notesSlide" Target="/ppt/notesSlides/notesSlide6.xml" Id="R3aa9e2a871bd47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3f984e30084e3d" /><Relationship Type="http://schemas.openxmlformats.org/officeDocument/2006/relationships/notesSlide" Target="/ppt/notesSlides/notesSlide7.xml" Id="Rfa498e8e3c0d4e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54371966b764e07" /><Relationship Type="http://schemas.openxmlformats.org/officeDocument/2006/relationships/notesSlide" Target="/ppt/notesSlides/notesSlide8.xml" Id="Rd292172d078a49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46be007c56144c8" /><Relationship Type="http://schemas.openxmlformats.org/officeDocument/2006/relationships/image" Target="/ppt/media/image2.png" Id="R9964d6c8d84d4844" /><Relationship Type="http://schemas.openxmlformats.org/officeDocument/2006/relationships/image" Target="/ppt/media/image3.png" Id="R705f6efc597b4b62" /><Relationship Type="http://schemas.openxmlformats.org/officeDocument/2006/relationships/image" Target="/ppt/media/image4.png" Id="R8388f83849ac46b5" /><Relationship Type="http://schemas.openxmlformats.org/officeDocument/2006/relationships/notesSlide" Target="/ppt/notesSlides/notesSlide9.xml" Id="R46ed5aec4eff4c2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a063e58d94f44de" /><Relationship Type="http://schemas.openxmlformats.org/officeDocument/2006/relationships/notesSlide" Target="/ppt/notesSlides/notesSlide10.xml" Id="Rbc59a0b3dd7e49d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5f8bbcd2f8d48cb" /><Relationship Type="http://schemas.openxmlformats.org/officeDocument/2006/relationships/notesSlide" Target="/ppt/notesSlides/notesSlide11.xml" Id="R0fe36c65ff9a4ee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75a61c72c74419b" /><Relationship Type="http://schemas.openxmlformats.org/officeDocument/2006/relationships/notesSlide" Target="/ppt/notesSlides/notesSlide12.xml" Id="Rf014044c7063491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5269f8b726438b" /><Relationship Type="http://schemas.openxmlformats.org/officeDocument/2006/relationships/notesSlide" Target="/ppt/notesSlides/notesSlide13.xml" Id="Rf99dcb09c0474ea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680a256866345eb" /><Relationship Type="http://schemas.openxmlformats.org/officeDocument/2006/relationships/notesSlide" Target="/ppt/notesSlides/notesSlide14.xml" Id="R37d5127c6f2944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2596e9d672442cb" /><Relationship Type="http://schemas.openxmlformats.org/officeDocument/2006/relationships/notesSlide" Target="/ppt/notesSlides/notesSlide15.xml" Id="R74fab9c28cf44f0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0dd44f1c21403a" /><Relationship Type="http://schemas.openxmlformats.org/officeDocument/2006/relationships/image" Target="/ppt/media/image2.png" Id="R1bd586320376482f" /><Relationship Type="http://schemas.openxmlformats.org/officeDocument/2006/relationships/image" Target="/ppt/media/image3.png" Id="R4d8fa3553fc34679" /><Relationship Type="http://schemas.openxmlformats.org/officeDocument/2006/relationships/image" Target="/ppt/media/image4.png" Id="R785df354cee6402c" /><Relationship Type="http://schemas.openxmlformats.org/officeDocument/2006/relationships/notesSlide" Target="/ppt/notesSlides/notesSlide16.xml" Id="R542989c2de844e7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168e6bd339a46ba" /><Relationship Type="http://schemas.openxmlformats.org/officeDocument/2006/relationships/image" Target="/ppt/media/image2.png" Id="Red30da7e831c404d" /><Relationship Type="http://schemas.openxmlformats.org/officeDocument/2006/relationships/image" Target="/ppt/media/image3.png" Id="R8577259446034b21" /><Relationship Type="http://schemas.openxmlformats.org/officeDocument/2006/relationships/image" Target="/ppt/media/image4.png" Id="Rfe47fed707a64674" /><Relationship Type="http://schemas.openxmlformats.org/officeDocument/2006/relationships/notesSlide" Target="/ppt/notesSlides/notesSlide17.xml" Id="Rb1727f433de04ef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ec248efe4774a00" /><Relationship Type="http://schemas.openxmlformats.org/officeDocument/2006/relationships/notesSlide" Target="/ppt/notesSlides/notesSlide18.xml" Id="R9c7966a2a7c349a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4a3ad22af004b80" /><Relationship Type="http://schemas.openxmlformats.org/officeDocument/2006/relationships/notesSlide" Target="/ppt/notesSlides/notesSlide19.xml" Id="R7c95d6110117499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534ab17a0f84909" /><Relationship Type="http://schemas.openxmlformats.org/officeDocument/2006/relationships/notesSlide" Target="/ppt/notesSlides/notesSlide20.xml" Id="R5371887d9a1743c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ea2a41813b142a7" /><Relationship Type="http://schemas.openxmlformats.org/officeDocument/2006/relationships/notesSlide" Target="/ppt/notesSlides/notesSlide21.xml" Id="R50ebf4486a2a43b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c8617e6840845fd" /><Relationship Type="http://schemas.openxmlformats.org/officeDocument/2006/relationships/notesSlide" Target="/ppt/notesSlides/notesSlide22.xml" Id="R888357e6a23f41c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76686e5a5ab420b" /><Relationship Type="http://schemas.openxmlformats.org/officeDocument/2006/relationships/notesSlide" Target="/ppt/notesSlides/notesSlide23.xml" Id="R37dc57b612d940e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c791dcc3c174473" /><Relationship Type="http://schemas.openxmlformats.org/officeDocument/2006/relationships/notesSlide" Target="/ppt/notesSlides/notesSlide24.xml" Id="Rf8589e329f404b2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bf9f10199484184" /><Relationship Type="http://schemas.openxmlformats.org/officeDocument/2006/relationships/image" Target="/ppt/media/image.png" Id="R1434c15a3429443d" /><Relationship Type="http://schemas.openxmlformats.org/officeDocument/2006/relationships/notesSlide" Target="/ppt/notesSlides/notesSlide25.xml" Id="R7474448c30e6416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5129ff5d14141e2" /><Relationship Type="http://schemas.openxmlformats.org/officeDocument/2006/relationships/notesSlide" Target="/ppt/notesSlides/notesSlide26.xml" Id="Ra606d0474e1a44f8"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22" y="2040922"/>
            <a:ext cx="855917" cy="85591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16" y="3972116"/>
            <a:ext cx="285274" cy="285274"/>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61" y="4294061"/>
            <a:ext cx="190214" cy="190214"/>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What must be known, how decisions are governed, and how understanding becomes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  ·  1 / 26</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Parts in Three Movements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29997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396"/>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Parts 1–2 — define knowledge, knower, and known; then explain why freedom of action needs direction.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32"/>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Parts 3–4 — examine jeevan and bodily mediation; then govern activity, decision, and orderliness.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4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68"/>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Part 5 — test understanding through result, correction, upakar, and transmission.</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49985"/>
            <a:ext cx="7406640" cy="44996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Definition → need → knower → orderliness → evidence.  ·  AnalyticMadhyasthDarshan.org  ·  2 / 26</a:t>
            </a:r>
          </a:p>
        </p:txBody>
      </p:sp>
    </p:spTree>
    <p:extLst>
      <p:ext uri="{BB962C8B-B14F-4D97-AF65-F5344CB8AC3E}">
        <p14:creationId xmlns:p14="http://schemas.microsoft.com/office/powerpoint/2010/main" val="1759423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This Account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45f72aa0d5954c76">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is its ground and canonical content?</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45f72aa0d5954c76">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knows? — What is jeevan’s role, and how does the body mediate?</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45f72aa0d5954c76">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Why is knowledge needed? — What directs imagination and freedom of action?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45f72aa0d5954c76">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activities must be governed? — Bodily, sensory, social, and higher-human.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45f72aa0d5954c76">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are decisions made? — Which perspectives, laws, regulation, and balance apply?</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45f72aa0d5954c76">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do result, correction, and transmission test a claim?</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organise §§1.1–1.5 of the revised study.  ·  AnalyticMadhyasthDarshan.org  ·  3 / 26</a:t>
            </a:r>
          </a:p>
        </p:txBody>
      </p:sp>
    </p:spTree>
    <p:extLst>
      <p:ext uri="{BB962C8B-B14F-4D97-AF65-F5344CB8AC3E}">
        <p14:creationId xmlns:p14="http://schemas.microsoft.com/office/powerpoint/2010/main" val="1531490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KNOWLEDGE, KNOWER, AND KNOWN</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Ground Is Knowledge; Jeevan Knows</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The omnipresent ground</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identifies Space or the omnipresent ground as Knowledge: actionless and non-transforming, yet the ground in which units act.</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Order evident in coexistence</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Law, regulation, balance, justice, dharma, and truth are evident within coexistence. This does not make every unit a thinker.</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is the knower. Realisation brings the why and how of activity into resolution; humane conduct makes that understanding answerable in life.</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ORDER · REALISATION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76" y="2355056"/>
            <a:ext cx="273368" cy="27336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40" y="2527840"/>
            <a:ext cx="202121" cy="20212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588" y="1896428"/>
            <a:ext cx="340138" cy="34013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4981" y="1992821"/>
            <a:ext cx="147447" cy="147447"/>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676" y="3332036"/>
            <a:ext cx="395002" cy="39500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594" y="3443954"/>
            <a:ext cx="171164" cy="171164"/>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61" y="3425381"/>
            <a:ext cx="537686" cy="53768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5" y="3577685"/>
            <a:ext cx="232982" cy="232982"/>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Space is Knowledge; coexistence is the intelligible field; jeevan realises and participates</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32–35, 115–116  ·  KD §3.17  ·  4 / 26</a:t>
            </a:r>
          </a:p>
        </p:txBody>
      </p:sp>
    </p:spTree>
    <p:extLst>
      <p:ext uri="{BB962C8B-B14F-4D97-AF65-F5344CB8AC3E}">
        <p14:creationId xmlns:p14="http://schemas.microsoft.com/office/powerpoint/2010/main" val="7129897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THE CONTENT OF KNOWLEDGE</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Make Operable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canonical content is coexistence, jeevan, and humane conduct. In practice, that understanding must guide activities, comparisons, and the order by which action remains mutually fulfilling.</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704bd1f63a540e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Canonical content</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Existence as coexistence; jeevan as the active knower; humane conduct as right recognition and fulfilment.</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24689496e824f79">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Fields of activity</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Four vishayas; five sensory modalities; samadhan with three eshanas; upakar as higher-human help.</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e3cda0b46324c0a">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Decision and order</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Six evaluative perspectives; niyam, niyantran, santulan; action, result, evaluation, and correction.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has content when it can orient actual activity — MVD pp. 58, 64–73, 137, 174  ·  AnalyticMadhyasthDarshan.org  ·  5 / 26</a:t>
            </a:r>
          </a:p>
        </p:txBody>
      </p:sp>
    </p:spTree>
    <p:extLst>
      <p:ext uri="{BB962C8B-B14F-4D97-AF65-F5344CB8AC3E}">
        <p14:creationId xmlns:p14="http://schemas.microsoft.com/office/powerpoint/2010/main" val="14662190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5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802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that can guide evaluation and participation.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3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10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joint form makes understanding speakable, actionable, and testable.</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5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802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Coexistence: Space, units, orders, relationships, values, bodily conditions, and humane participation.</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3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10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Resolution, relationship, work, result, correction, upakar, and independent transmission make the claim answerable.</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roles remain distinct: jeevan knows, coexistence is known, and knowledge is the realised relation made effective in life.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is completed through lived coherence — KD §3.17 · MVD pp. 84, 115–116 · JV p. 165  ·  AnalyticMadhyasthDarshan.org  ·  6 / 26</a:t>
            </a:r>
          </a:p>
        </p:txBody>
      </p:sp>
    </p:spTree>
    <p:extLst>
      <p:ext uri="{BB962C8B-B14F-4D97-AF65-F5344CB8AC3E}">
        <p14:creationId xmlns:p14="http://schemas.microsoft.com/office/powerpoint/2010/main" val="9723823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WHY KNOWLEDGE MATTERS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Freedom of Action Needs Knowledge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29997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396"/>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Humans inherit a body with definite needs, but human conduct is not constitutionally fixed in the same manner.</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32"/>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Imagination and freedom of action allow incompatible beliefs, alternative choices, institutions, and environmental change.</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4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68"/>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Knowledge is needed to align this freedom with coexistence and the human aspiration for happiness.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49985"/>
            <a:ext cx="7406640" cy="44996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Without understanding, freedom can amplify contradiction; with understanding, it becomes responsible participation.  ·  MVD pp. 115–116  ·  JV pp. 61, 165  ·  7 / 26</a:t>
            </a:r>
          </a:p>
        </p:txBody>
      </p:sp>
    </p:spTree>
    <p:extLst>
      <p:ext uri="{BB962C8B-B14F-4D97-AF65-F5344CB8AC3E}">
        <p14:creationId xmlns:p14="http://schemas.microsoft.com/office/powerpoint/2010/main" val="175942399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HUMAN GOAL AND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Directs Freedom</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5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802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selection and deliberation: what is chosen no longer contradicts the understood purpose.</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3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10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deliberation and contemplation: reasoning and meaning remain mutually coherent.</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5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802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contemplation and enlightened resolve: accepted meaning becomes settled direction.</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3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10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Harmony between resolve and realisation in awakened jeevan.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Resolution, prosperity, fearlessness, and coexistence name the human goal; happiness, peace, contentment, and bliss name coherence within jeevan.</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  JV pp. 61, 138, 165  ·  AnalyticMadhyasthDarshan.org  ·  8 / 26</a:t>
            </a:r>
          </a:p>
        </p:txBody>
      </p:sp>
    </p:spTree>
    <p:extLst>
      <p:ext uri="{BB962C8B-B14F-4D97-AF65-F5344CB8AC3E}">
        <p14:creationId xmlns:p14="http://schemas.microsoft.com/office/powerpoint/2010/main" val="9723823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understanding must establish what is real, recognise the human goal, and give practicable direction for its accomplishment. The three terms cooperate without becoming interchangeable.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964d6c8d84d484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Realised understanding of coexistence, jeevan, and humane conduct: what is, who knows, and what participation requires.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705f6efc597b4b62">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Knowledge by which the human goal — resolution, prosperity, fearlessness, and coexistence — is recognised.</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8388f83849ac46b5">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Directional knowledge for material prosperity together with the human and jeevan goals, including the law and process of activity and thought.</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establishes reality; vivek recognises the goal; vigyan gives reliable direction. — MVD p. 170  ·  AnalyticMadhyasthDarshan.org  ·  9 / 26</a:t>
            </a:r>
          </a:p>
        </p:txBody>
      </p:sp>
    </p:spTree>
    <p:extLst>
      <p:ext uri="{BB962C8B-B14F-4D97-AF65-F5344CB8AC3E}">
        <p14:creationId xmlns:p14="http://schemas.microsoft.com/office/powerpoint/2010/main" val="14662190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issue is what jeevan takes as the self and which reference points govern sensation,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Only four-and-a-half activities become effective, and deliberation is governed by sensation, health, and profit.</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truth, resolution, and fulfilment of relationship.</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faculties remain active in both conditions; their direction and coordination change. Error is incomplete functioning of the knower, not merely missing information.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sensation-governed conduct repeatedly fails to secure it.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92–98  ·  MVD pp. 126–127, 263–264  ·  AnalyticMadhyasthDarshan.org  ·  10 / 26</a:t>
            </a:r>
          </a:p>
        </p:txBody>
      </p:sp>
    </p:spTree>
    <p:extLst>
      <p:ext uri="{BB962C8B-B14F-4D97-AF65-F5344CB8AC3E}">
        <p14:creationId xmlns:p14="http://schemas.microsoft.com/office/powerpoint/2010/main" val="15636950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JEEVAN AS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Ten Activities, One Jeevan</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The ten activities are five coordinated pairs. Reflection and projection are two directions of the same active jeevan, not separate minds or independent mechanisms.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Five loci and paired activities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Atma — realisation / authenticity</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Buddhi — enlightenment / resolve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Chitta — contemplation / visualisation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Vritti — deliberation / analysis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Mun — taste /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recurrent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Reflection examines experience until meaning becomes clear and resolvable. Projection carries realisation outward as selection, action, behaviour, work, communication, and evaluation.</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Higher activities orient and integrate those below; bodily expression returns consequences for renewed reflection.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92–93  ·  KD §§3.12, 3.17  ·  MVD pp. 83–84  ·  AMD.org  ·  11 / 26</a:t>
            </a:r>
          </a:p>
        </p:txBody>
      </p:sp>
    </p:spTree>
    <p:extLst>
      <p:ext uri="{BB962C8B-B14F-4D97-AF65-F5344CB8AC3E}">
        <p14:creationId xmlns:p14="http://schemas.microsoft.com/office/powerpoint/2010/main" val="12902166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Attention and reflection deepen knowing; realisation and projection place understanding into action, where result and evaluation return material for correction.</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Inward movement</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Experience and consequence return through attention and reflection until meaning can be understood and resolved.</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Outward evidence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Realisation projects as selection, action, behaviour, work, communication, and evaluation in the human joint form.</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Neither direction is complete alone: reflection without projection remains unevidenced; projection without reflection repeats habit.</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pp. 110–113  ·  MVD p. 290  ·  JV pp. 92–93  ·  AnalyticMadhyasthDarshan.org  ·  12 / 26</a:t>
            </a:r>
          </a:p>
        </p:txBody>
      </p:sp>
    </p:spTree>
    <p:extLst>
      <p:ext uri="{BB962C8B-B14F-4D97-AF65-F5344CB8AC3E}">
        <p14:creationId xmlns:p14="http://schemas.microsoft.com/office/powerpoint/2010/main" val="28280191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while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brain; a more precise account of interaction remains an open explanatory task.</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AnalyticMadhyasthDarshan.org  ·  13 / 26</a:t>
            </a:r>
          </a:p>
        </p:txBody>
      </p:sp>
    </p:spTree>
    <p:extLst>
      <p:ext uri="{BB962C8B-B14F-4D97-AF65-F5344CB8AC3E}">
        <p14:creationId xmlns:p14="http://schemas.microsoft.com/office/powerpoint/2010/main" val="12902166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 COGNISANCE AND SENSITIVITY</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5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802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Knowing and accepting in jeevan; it supplies direction through relationship, value, purpose, and orderliness.</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3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10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Embodied responsiveness through the senses. It supplies contact and capacity for action, but not fulfilment by itself.</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5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802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Higher conformance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Justice, dharma, truth, and the human goal govern deliberation and the use of bodily and material means.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3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10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Lower conformance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Pleasantness, health, and gain remain necessary information but cannot finally authorise contradiction or injustice.</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Governance, not suppression, is the relation: cognisance directs embodied sensitivity toward right participation.</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66–67, 126–127, 207–208  ·  JV pp. 93–98, 139  ·  AnalyticMadhyasthDarshan.org  ·  14 / 26</a:t>
            </a:r>
          </a:p>
        </p:txBody>
      </p:sp>
    </p:spTree>
    <p:extLst>
      <p:ext uri="{BB962C8B-B14F-4D97-AF65-F5344CB8AC3E}">
        <p14:creationId xmlns:p14="http://schemas.microsoft.com/office/powerpoint/2010/main" val="97238234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BODILY ACTIVITY AND SENSORY CONTACT</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Vishayas, Five Sensory Modalities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5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802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Four vishayas — what is served</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Eating, sleeping, protection or defence, and mating are bodily propensities retained in the human joint form.</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3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10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Five modalities — how contact occurs</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Sound, touch, visible form, taste, and smell are bodily interfaces through which engagement occurs.</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5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802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Different questions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four identify the bodily propensity being served; the five identify the mode of contact and information. They are not nine independent activities.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3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10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Samvedana is broader</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MVD uses samvedana for sensing and other cognitive-organ meanings; “five sensory modalities” is therefore the more precise label.</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Bodily life is regulated for nourishment, protection, continuity, justice, ecology, and right use — not rejected.</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313  ·  AnalyticMadhyasthDarshan.org  ·  15 / 26</a:t>
            </a:r>
          </a:p>
        </p:txBody>
      </p:sp>
    </p:spTree>
    <p:extLst>
      <p:ext uri="{BB962C8B-B14F-4D97-AF65-F5344CB8AC3E}">
        <p14:creationId xmlns:p14="http://schemas.microsoft.com/office/powerpoint/2010/main" val="97238234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SATISFACTION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Satisfaction Has Three Different Durations</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MVD distinguishes temporary sensory satisfaction, longer-lasting intellectual satisfaction, and non-transforming satisfaction in realisation. These are not interchangeable grades of bodily pleasure.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1bd586320376482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Sensory satisfaction</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Temporary satisfaction arising through embodied contact with sound, touch, visible form, taste, and smell.</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d8fa3553fc34679">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satisfaction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Satisfaction associated with samadhan and the humane fulfilment of the three eshanas in family and society.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85df354cee6402c">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Realisation-based satisfaction</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Non-transforming restfulness grounded in realisation rather than in a changing sensory or social condition.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Three durations clarify why knowledge reaches beyond sensation. — MVD pp. 64–65  ·  AnalyticMadhyasthDarshan.org  ·  16 / 26</a:t>
            </a:r>
          </a:p>
        </p:txBody>
      </p:sp>
    </p:spTree>
    <p:extLst>
      <p:ext uri="{BB962C8B-B14F-4D97-AF65-F5344CB8AC3E}">
        <p14:creationId xmlns:p14="http://schemas.microsoft.com/office/powerpoint/2010/main" val="146621908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SAMADHAN AND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Social Motives Need Resolution</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Samadhan and the three eshanas belong to the field of intellectual and social satisfaction. Resolution orients each motive as understood responsibility rather than appetite without limit.</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ed30da7e831c404d">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Putreshana — progeny</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Family and social continuity, education in humaneness, and confidence that the next generation can participate responsibly.</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8577259446034b2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Vitteshana — wealth</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Prosperity and right use: wealth acquired with justice and directed toward sufficiency, production, protection, and complementarity.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fe47fed707a6467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Lokeshana — public recognition</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Recognition in service of undivided society and universal orderliness, not fame or applause as an end.</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Hoarding, lineage domination, and fame-seeking are distortions of these humane definitions. — MVD pp. 64–65  ·  AnalyticMadhyasthDarshan.org  ·  17 / 26</a:t>
            </a:r>
          </a:p>
        </p:txBody>
      </p:sp>
    </p:spTree>
    <p:extLst>
      <p:ext uri="{BB962C8B-B14F-4D97-AF65-F5344CB8AC3E}">
        <p14:creationId xmlns:p14="http://schemas.microsoft.com/office/powerpoint/2010/main" val="14662190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Upakar Is Higher-Human Participation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5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802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Definition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and inspiration directed toward another person’s material sufficiency and understanding.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38" y="152523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102" y="157810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Purpose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Prosperity and awakening: the beneficiary becomes more able to meet material needs and understand humane participation.</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5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802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Boundary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Upakar is not a fourth eshana and not the sole proof of knowledge; it belongs to higher-human activity.</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38" y="2851118"/>
            <a:ext cx="186499" cy="186499"/>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102" y="2903982"/>
            <a:ext cx="80867" cy="8086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Analytical implication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Because the stated ends are prosperity and awakening, help should increase capability and avoid dependency or exploitation. This is an analytical implication, not a separate quoted definition.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MVD defines upakar as help and inspiration for prosperity and awakening. It is a distinct field of resolved participation, not another bodily propensity, eshana, or social motive.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 73  ·  AnalyticMadhyasthDarshan.org  ·  18 / 26</a:t>
            </a:r>
          </a:p>
        </p:txBody>
      </p:sp>
    </p:spTree>
    <p:extLst>
      <p:ext uri="{BB962C8B-B14F-4D97-AF65-F5344CB8AC3E}">
        <p14:creationId xmlns:p14="http://schemas.microsoft.com/office/powerpoint/2010/main" val="9723823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SIX EVALUATIVE PERSPECTIVES</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All Six Inform; the Latter Three Govern</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compares an intended activity across six perspectives before action. The first three report changing conditions; the latter three judge relationship, orderliness, and accord with coexistence.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Sensory + bodily</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Priya–apriya — pleasant or unpleasant.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Hita–ahita — nourishment, well-being, or harm.</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Material + relational</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Labha–alabha — goods, exchange, gain or loss.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Nyaya–anyaya — right or wrong behaviour in relationship.</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Order + reality</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Dharma–adharma — resolution or contradiction.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Satya–asatya — accord or non-accord with realisation in existence.</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Governing hierarchy</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Priya, hita, and labha remain relevant inputs. Nyaya, dharma, and satya govern humane deliberation, so pleasure, health, or gain cannot authorise injustice or contradiction.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66–67, 126–127  ·  JV pp. 93–98, 139  ·  AnalyticMadhyasthDarshan.org  ·  19 / 26</a:t>
            </a:r>
          </a:p>
        </p:txBody>
      </p:sp>
    </p:spTree>
    <p:extLst>
      <p:ext uri="{BB962C8B-B14F-4D97-AF65-F5344CB8AC3E}">
        <p14:creationId xmlns:p14="http://schemas.microsoft.com/office/powerpoint/2010/main" val="183672015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LAW, REGULATION, AND BALANCE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Order in Activity Has a Definite Sequence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Knowledge of activity includes its law, the regulation that keeps action within that law, and the balance or complementarity that results. The human sequence continues into justice, dharma, and truth.</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Activity triad</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Niyam — the law that protects and disciplines an activity.</a:t>
            </a:r>
          </a:p>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Niyantran — regulation according to that law.</a:t>
            </a:r>
          </a:p>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Santulan — balance sustained in mutuality.</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Human evidence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Law becomes evident in just behaviour; regulated thought supports dharma or resolution; realisation in coexistence accords with truth.</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source gives a functional progression, not three equations: niyam is not simply nyaya, niyantran is not simply dharma, and santulan is not simply satya.</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Law · niyam</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Regulation · niyantran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Balance · santulan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Justice → dharma → truth</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Understanding must connect what the principle is, how activity stays within it, and what balance becomes evident.</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70, 137, 174  ·  AnalyticMadhyasthDarshan.org  ·  20 / 26</a:t>
            </a:r>
          </a:p>
        </p:txBody>
      </p:sp>
    </p:spTree>
    <p:extLst>
      <p:ext uri="{BB962C8B-B14F-4D97-AF65-F5344CB8AC3E}">
        <p14:creationId xmlns:p14="http://schemas.microsoft.com/office/powerpoint/2010/main" val="28280191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ACTIVITY CYCLE</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Governs the Activity Cycle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Before action, jeevan identifies the activity, compares across six perspectives, and understands the relevant law, regulation, and balance. After action, result and evaluation test what was actually fulfilled.</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Decision</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Ask what activity is proposed; what priya, hita, and labha indicate; and whether nyaya, dharma, and satya authorise it.</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Orderliness</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 the niyam, maintain niyantran, seek santulan, and evaluate whether relationship and purpose were mutually fulfilled.</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Correct intention is insufficient: capacity, conditions, other people, material consequences, and the wider orders affect the result.</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Activity</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Decision</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Action + result</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Evaluation + correction</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material for renewed deliberation and correction.</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66–71, 126–127, 137, 174, 310–311  ·  KD §3.4  ·  AMD.org  ·  21 / 26</a:t>
            </a:r>
          </a:p>
        </p:txBody>
      </p:sp>
    </p:spTree>
    <p:extLst>
      <p:ext uri="{BB962C8B-B14F-4D97-AF65-F5344CB8AC3E}">
        <p14:creationId xmlns:p14="http://schemas.microsoft.com/office/powerpoint/2010/main" val="170148834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THE EVIDENCE REGIME</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Must Become Publicly Legible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is first-person, but not private immunity from examination. Knowledge becomes encounterable through behaviour, practical experiment, evaluation, upakar, and independent transmission.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first-person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directly understands coexistence, itself, and humane conduct; authenticity is the capacity to bear that understanding.</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relational</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practical</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and productive participation expose understanding to material conditions, consequences, repeatability, and correction.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Upakar and transmission — social</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Help and teaching must increase another’s capacity; understanding must become independently liveable and conveyable.</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73  ·  SB pp. 44, 111, 121, 149  ·  JV p. 26  ·  AnalyticMadhyasthDarshan.org  ·  22 / 26</a:t>
            </a:r>
          </a:p>
        </p:txBody>
      </p:sp>
    </p:spTree>
    <p:extLst>
      <p:ext uri="{BB962C8B-B14F-4D97-AF65-F5344CB8AC3E}">
        <p14:creationId xmlns:p14="http://schemas.microsoft.com/office/powerpoint/2010/main" val="16278645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CORRECTION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Error Can Persist Despite Information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appears where knowing loses contact with reality, self, relationship, activity, or result. Confidence and institutional authority can remain high while the deeper sequence is broken.</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Delusion — bhram</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accepting separates from knowing.</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Mystery — rahasyata</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faculties remain misaligned.</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fails to understand form, property, essential nature, or dharma as it is, producing doubt and over-, under-, or mis-evaluation.</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Distorted evaluation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Renewed inquiry</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reflection, action, result, and evaluation — not stronger assertion of the original belief.</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184, 263–264, 273–301, 317  ·  JV p. 93  ·  AMD.org  ·  23 / 26</a:t>
            </a:r>
          </a:p>
        </p:txBody>
      </p:sp>
    </p:spTree>
    <p:extLst>
      <p:ext uri="{BB962C8B-B14F-4D97-AF65-F5344CB8AC3E}">
        <p14:creationId xmlns:p14="http://schemas.microsoft.com/office/powerpoint/2010/main" val="28280191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EPISTEMIC DISCIPLINE</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Practical Tests and Evidential Limits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29997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396"/>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right use — do bodily and material practices support health, prosperity, justice, and ecological complementarity?</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32"/>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Test capability and mutuality — does help increase sufficiency and understanding, and is value-fulfilment mutual?</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4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68"/>
            <a:ext cx="7406640" cy="749999"/>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State the limit — correct intent can meet incapacity, scarcity, refusal, illness, conflict, or mixed results; ontology, conduct, and self-report need independent checks.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49985"/>
            <a:ext cx="7406640" cy="44996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framework is strongest when difficult cases and evidential boundaries remain visible.  ·  AnalyticMadhyasthDarshan.org  ·  24 / 26</a:t>
            </a:r>
          </a:p>
        </p:txBody>
      </p:sp>
    </p:spTree>
    <p:extLst>
      <p:ext uri="{BB962C8B-B14F-4D97-AF65-F5344CB8AC3E}">
        <p14:creationId xmlns:p14="http://schemas.microsoft.com/office/powerpoint/2010/main" val="17594239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50" y="519398"/>
            <a:ext cx="95060" cy="9506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1434c15a3429443d">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The omnipresent ground is Knowledge; jeevan realises coexistence, itself, and humane conduct.</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1434c15a3429443d">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Why is it needed? — To direct imagination and freedom of action toward the human goal.</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1434c15a3429443d">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activity is governed? — Four vishayas, five sensory modalities, samadhan with three eshanas, and upakar.</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1434c15a3429443d">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are decisions made? — Priya–hita–labha inform; nyaya–dharma–satya govern; niyam–niyantran–santulan organise activity.</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1434c15a3429443d">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action, result, evaluation, renewed reflection, and practical discrimination.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1434c15a3429443d">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across realisation, relationship, work, mutual fulfilment, upakar, and transmission.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becomes complete as conscious participation in the universal order of coexistence.  ·  AnalyticMadhyasthDarshan.org  ·  25 / 26</a:t>
            </a:r>
          </a:p>
        </p:txBody>
      </p:sp>
    </p:spTree>
    <p:extLst>
      <p:ext uri="{BB962C8B-B14F-4D97-AF65-F5344CB8AC3E}">
        <p14:creationId xmlns:p14="http://schemas.microsoft.com/office/powerpoint/2010/main" val="1531490578"/>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22" y="2040922"/>
            <a:ext cx="855917" cy="855917"/>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16" y="3972116"/>
            <a:ext cx="285274" cy="285274"/>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61" y="4294061"/>
            <a:ext cx="190214" cy="190214"/>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it governs activity, corrects itself through evidence, and participates consciously in universal orderliness.</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1"/>
            <a:ext cx="1128713" cy="749999"/>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7"/>
            <a:ext cx="964121"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337"/>
            <a:ext cx="964121" cy="2653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3" y="3820001"/>
            <a:ext cx="1128713" cy="749999"/>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9" y="3902297"/>
            <a:ext cx="964121"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9" y="4222337"/>
            <a:ext cx="964121" cy="2653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5" y="3820001"/>
            <a:ext cx="1128713" cy="749999"/>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21" y="3902297"/>
            <a:ext cx="964121"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21" y="4222337"/>
            <a:ext cx="964121" cy="2653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8" y="3820001"/>
            <a:ext cx="1128713" cy="749999"/>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44" y="3902297"/>
            <a:ext cx="964121"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44" y="4222337"/>
            <a:ext cx="964121" cy="2653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10"/>
            <a:ext cx="4754880" cy="44996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realised understanding becomes right decision, balanced activity, humane conduct, upakar, and transmissible tradition.  ·  AnalyticMadhyasthDarshan.org  ·  26 / 26</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2026-07-30T03:42:11.8140000Z</dcterms:created>
  <dcterms:modified xsi:type="dcterms:W3CDTF">2026-07-30T03:42:11.8140000Z</dcterms:modified>
</coreProperties>
</file>