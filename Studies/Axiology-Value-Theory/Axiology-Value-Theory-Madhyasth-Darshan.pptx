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5c813f183b4aa3" /><Relationship Type="http://schemas.openxmlformats.org/officeDocument/2006/relationships/extended-properties" Target="/docProps/app.xml" Id="R4895d27584784707" /><Relationship Type="http://schemas.openxmlformats.org/officeDocument/2006/relationships/officeDocument" Target="/ppt/presentation.xml" Id="R0309e0de58474b24" /></Relationships>
</file>

<file path=ppt/presentation.xml><?xml version="1.0" encoding="utf-8"?>
<p:presentation xmlns:p="http://schemas.openxmlformats.org/presentationml/2006/main">
  <p:sldMasterIdLst>
    <p:sldMasterId xmlns:r="http://schemas.openxmlformats.org/officeDocument/2006/relationships" id="2147483648" r:id="Rdd8bb5724d104dfa"/>
  </p:sldMasterIdLst>
  <p:notesMasterIdLst>
    <p:notesMasterId xmlns:r="http://schemas.openxmlformats.org/officeDocument/2006/relationships" r:id="R9d9679893a4245ab"/>
  </p:notesMasterIdLst>
  <p:sldIdLst>
    <p:sldId xmlns:r="http://schemas.openxmlformats.org/officeDocument/2006/relationships" id="256" r:id="R4cc4d16da06049b2"/>
    <p:sldId xmlns:r="http://schemas.openxmlformats.org/officeDocument/2006/relationships" id="257" r:id="Re17bcea962174f5e"/>
    <p:sldId xmlns:r="http://schemas.openxmlformats.org/officeDocument/2006/relationships" id="258" r:id="Rebd11f6acc8a443b"/>
    <p:sldId xmlns:r="http://schemas.openxmlformats.org/officeDocument/2006/relationships" id="259" r:id="R0229b8f90d90477b"/>
    <p:sldId xmlns:r="http://schemas.openxmlformats.org/officeDocument/2006/relationships" id="260" r:id="R795d66491f8a4f41"/>
    <p:sldId xmlns:r="http://schemas.openxmlformats.org/officeDocument/2006/relationships" id="261" r:id="Rdce188d603ae4e52"/>
    <p:sldId xmlns:r="http://schemas.openxmlformats.org/officeDocument/2006/relationships" id="262" r:id="R5e5b1f98cf914c4c"/>
    <p:sldId xmlns:r="http://schemas.openxmlformats.org/officeDocument/2006/relationships" id="263" r:id="Re3b573c0e71e4b33"/>
    <p:sldId xmlns:r="http://schemas.openxmlformats.org/officeDocument/2006/relationships" id="264" r:id="Rdcf266121b1748e2"/>
    <p:sldId xmlns:r="http://schemas.openxmlformats.org/officeDocument/2006/relationships" id="265" r:id="R7bf29fccf97541a8"/>
    <p:sldId xmlns:r="http://schemas.openxmlformats.org/officeDocument/2006/relationships" id="266" r:id="Raad4ce0f976b437c"/>
    <p:sldId xmlns:r="http://schemas.openxmlformats.org/officeDocument/2006/relationships" id="267" r:id="R6971aeafe24c4cfe"/>
    <p:sldId xmlns:r="http://schemas.openxmlformats.org/officeDocument/2006/relationships" id="268" r:id="R49443b3f2efc4cb3"/>
    <p:sldId xmlns:r="http://schemas.openxmlformats.org/officeDocument/2006/relationships" id="269" r:id="Rac3b472b19d3478c"/>
    <p:sldId xmlns:r="http://schemas.openxmlformats.org/officeDocument/2006/relationships" id="270" r:id="R796f05cf9ef24ac8"/>
    <p:sldId xmlns:r="http://schemas.openxmlformats.org/officeDocument/2006/relationships" id="271" r:id="Rcea38e773a984272"/>
    <p:sldId xmlns:r="http://schemas.openxmlformats.org/officeDocument/2006/relationships" id="272" r:id="R98baa6fb82904e58"/>
    <p:sldId xmlns:r="http://schemas.openxmlformats.org/officeDocument/2006/relationships" id="273" r:id="Rc66f928e01c3403c"/>
    <p:sldId xmlns:r="http://schemas.openxmlformats.org/officeDocument/2006/relationships" id="274" r:id="R25d66b4d8fa24765"/>
    <p:sldId xmlns:r="http://schemas.openxmlformats.org/officeDocument/2006/relationships" id="275" r:id="Rb6cf995472d84a49"/>
    <p:sldId xmlns:r="http://schemas.openxmlformats.org/officeDocument/2006/relationships" id="276" r:id="R64c84aacdb644af8"/>
    <p:sldId xmlns:r="http://schemas.openxmlformats.org/officeDocument/2006/relationships" id="277" r:id="R6c3556c6ac8f492f"/>
    <p:sldId xmlns:r="http://schemas.openxmlformats.org/officeDocument/2006/relationships" id="278" r:id="R6143bbdc3c684fe7"/>
    <p:sldId xmlns:r="http://schemas.openxmlformats.org/officeDocument/2006/relationships" id="279" r:id="R1d62aff31ce54cf9"/>
    <p:sldId xmlns:r="http://schemas.openxmlformats.org/officeDocument/2006/relationships" id="280" r:id="R893f0c7f449e4f10"/>
    <p:sldId xmlns:r="http://schemas.openxmlformats.org/officeDocument/2006/relationships" id="281" r:id="Rf78148c545c849c3"/>
    <p:sldId xmlns:r="http://schemas.openxmlformats.org/officeDocument/2006/relationships" id="282" r:id="Rcb59075df0d14846"/>
    <p:sldId xmlns:r="http://schemas.openxmlformats.org/officeDocument/2006/relationships" id="283" r:id="Rb95f5238d31f44fc"/>
    <p:sldId xmlns:r="http://schemas.openxmlformats.org/officeDocument/2006/relationships" id="284" r:id="R93cb30cdaecf46f4"/>
    <p:sldId xmlns:r="http://schemas.openxmlformats.org/officeDocument/2006/relationships" id="285" r:id="Rd93738226a804bd0"/>
    <p:sldId xmlns:r="http://schemas.openxmlformats.org/officeDocument/2006/relationships" id="286" r:id="R340cd7af8bad4831"/>
    <p:sldId xmlns:r="http://schemas.openxmlformats.org/officeDocument/2006/relationships" id="287" r:id="R8e4e6fcd250743b6"/>
    <p:sldId xmlns:r="http://schemas.openxmlformats.org/officeDocument/2006/relationships" id="288" r:id="R9ea3c050b5ef4d7c"/>
    <p:sldId xmlns:r="http://schemas.openxmlformats.org/officeDocument/2006/relationships" id="289" r:id="R1de1c7f151f54822"/>
    <p:sldId xmlns:r="http://schemas.openxmlformats.org/officeDocument/2006/relationships" id="290" r:id="R4d6a7137a98d450e"/>
    <p:sldId xmlns:r="http://schemas.openxmlformats.org/officeDocument/2006/relationships" id="291" r:id="Red72d4edf52c4c1c"/>
    <p:sldId xmlns:r="http://schemas.openxmlformats.org/officeDocument/2006/relationships" id="292" r:id="R6eaf6eca706b43ad"/>
    <p:sldId xmlns:r="http://schemas.openxmlformats.org/officeDocument/2006/relationships" id="293" r:id="Rc8332dad40ac4e8c"/>
    <p:sldId xmlns:r="http://schemas.openxmlformats.org/officeDocument/2006/relationships" id="294" r:id="R3ed25b6a808647bd"/>
    <p:sldId xmlns:r="http://schemas.openxmlformats.org/officeDocument/2006/relationships" id="295" r:id="Raf0b6c3196f640dd"/>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74db183d47c413a" /><Relationship Type="http://schemas.openxmlformats.org/officeDocument/2006/relationships/slideMaster" Target="/ppt/slideMasters/slideMaster1.xml" Id="Rdd8bb5724d104dfa" /><Relationship Type="http://schemas.openxmlformats.org/officeDocument/2006/relationships/notesMaster" Target="/ppt/notesMasters/notesMaster1.xml" Id="R9d9679893a4245ab" /><Relationship Type="http://schemas.openxmlformats.org/officeDocument/2006/relationships/presProps" Target="/ppt/presProps.xml" Id="R98e872fdddad4b19" /><Relationship Type="http://schemas.openxmlformats.org/officeDocument/2006/relationships/tableStyles" Target="/ppt/tableStyles.xml" Id="Rc609faf33d7a4615" /><Relationship Type="http://schemas.openxmlformats.org/officeDocument/2006/relationships/slide" Target="/ppt/slides/slide1.xml" Id="R4cc4d16da06049b2" /><Relationship Type="http://schemas.openxmlformats.org/officeDocument/2006/relationships/slide" Target="/ppt/slides/slide2.xml" Id="Re17bcea962174f5e" /><Relationship Type="http://schemas.openxmlformats.org/officeDocument/2006/relationships/slide" Target="/ppt/slides/slide3.xml" Id="Rebd11f6acc8a443b" /><Relationship Type="http://schemas.openxmlformats.org/officeDocument/2006/relationships/slide" Target="/ppt/slides/slide4.xml" Id="R0229b8f90d90477b" /><Relationship Type="http://schemas.openxmlformats.org/officeDocument/2006/relationships/slide" Target="/ppt/slides/slide5.xml" Id="R795d66491f8a4f41" /><Relationship Type="http://schemas.openxmlformats.org/officeDocument/2006/relationships/slide" Target="/ppt/slides/slide6.xml" Id="Rdce188d603ae4e52" /><Relationship Type="http://schemas.openxmlformats.org/officeDocument/2006/relationships/slide" Target="/ppt/slides/slide7.xml" Id="R5e5b1f98cf914c4c" /><Relationship Type="http://schemas.openxmlformats.org/officeDocument/2006/relationships/slide" Target="/ppt/slides/slide8.xml" Id="Re3b573c0e71e4b33" /><Relationship Type="http://schemas.openxmlformats.org/officeDocument/2006/relationships/slide" Target="/ppt/slides/slide9.xml" Id="Rdcf266121b1748e2" /><Relationship Type="http://schemas.openxmlformats.org/officeDocument/2006/relationships/slide" Target="/ppt/slides/slide10.xml" Id="R7bf29fccf97541a8" /><Relationship Type="http://schemas.openxmlformats.org/officeDocument/2006/relationships/slide" Target="/ppt/slides/slide11.xml" Id="Raad4ce0f976b437c" /><Relationship Type="http://schemas.openxmlformats.org/officeDocument/2006/relationships/slide" Target="/ppt/slides/slide12.xml" Id="R6971aeafe24c4cfe" /><Relationship Type="http://schemas.openxmlformats.org/officeDocument/2006/relationships/slide" Target="/ppt/slides/slide13.xml" Id="R49443b3f2efc4cb3" /><Relationship Type="http://schemas.openxmlformats.org/officeDocument/2006/relationships/slide" Target="/ppt/slides/slide14.xml" Id="Rac3b472b19d3478c" /><Relationship Type="http://schemas.openxmlformats.org/officeDocument/2006/relationships/slide" Target="/ppt/slides/slide15.xml" Id="R796f05cf9ef24ac8" /><Relationship Type="http://schemas.openxmlformats.org/officeDocument/2006/relationships/slide" Target="/ppt/slides/slide16.xml" Id="Rcea38e773a984272" /><Relationship Type="http://schemas.openxmlformats.org/officeDocument/2006/relationships/slide" Target="/ppt/slides/slide17.xml" Id="R98baa6fb82904e58" /><Relationship Type="http://schemas.openxmlformats.org/officeDocument/2006/relationships/slide" Target="/ppt/slides/slide18.xml" Id="Rc66f928e01c3403c" /><Relationship Type="http://schemas.openxmlformats.org/officeDocument/2006/relationships/slide" Target="/ppt/slides/slide19.xml" Id="R25d66b4d8fa24765" /><Relationship Type="http://schemas.openxmlformats.org/officeDocument/2006/relationships/slide" Target="/ppt/slides/slide20.xml" Id="Rb6cf995472d84a49" /><Relationship Type="http://schemas.openxmlformats.org/officeDocument/2006/relationships/slide" Target="/ppt/slides/slide21.xml" Id="R64c84aacdb644af8" /><Relationship Type="http://schemas.openxmlformats.org/officeDocument/2006/relationships/slide" Target="/ppt/slides/slide22.xml" Id="R6c3556c6ac8f492f" /><Relationship Type="http://schemas.openxmlformats.org/officeDocument/2006/relationships/slide" Target="/ppt/slides/slide23.xml" Id="R6143bbdc3c684fe7" /><Relationship Type="http://schemas.openxmlformats.org/officeDocument/2006/relationships/slide" Target="/ppt/slides/slide24.xml" Id="R1d62aff31ce54cf9" /><Relationship Type="http://schemas.openxmlformats.org/officeDocument/2006/relationships/slide" Target="/ppt/slides/slide25.xml" Id="R893f0c7f449e4f10" /><Relationship Type="http://schemas.openxmlformats.org/officeDocument/2006/relationships/slide" Target="/ppt/slides/slide26.xml" Id="Rf78148c545c849c3" /><Relationship Type="http://schemas.openxmlformats.org/officeDocument/2006/relationships/slide" Target="/ppt/slides/slide27.xml" Id="Rcb59075df0d14846" /><Relationship Type="http://schemas.openxmlformats.org/officeDocument/2006/relationships/slide" Target="/ppt/slides/slide28.xml" Id="Rb95f5238d31f44fc" /><Relationship Type="http://schemas.openxmlformats.org/officeDocument/2006/relationships/slide" Target="/ppt/slides/slide29.xml" Id="R93cb30cdaecf46f4" /><Relationship Type="http://schemas.openxmlformats.org/officeDocument/2006/relationships/slide" Target="/ppt/slides/slide30.xml" Id="Rd93738226a804bd0" /><Relationship Type="http://schemas.openxmlformats.org/officeDocument/2006/relationships/slide" Target="/ppt/slides/slide31.xml" Id="R340cd7af8bad4831" /><Relationship Type="http://schemas.openxmlformats.org/officeDocument/2006/relationships/slide" Target="/ppt/slides/slide32.xml" Id="R8e4e6fcd250743b6" /><Relationship Type="http://schemas.openxmlformats.org/officeDocument/2006/relationships/slide" Target="/ppt/slides/slide33.xml" Id="R9ea3c050b5ef4d7c" /><Relationship Type="http://schemas.openxmlformats.org/officeDocument/2006/relationships/slide" Target="/ppt/slides/slide34.xml" Id="R1de1c7f151f54822" /><Relationship Type="http://schemas.openxmlformats.org/officeDocument/2006/relationships/slide" Target="/ppt/slides/slide35.xml" Id="R4d6a7137a98d450e" /><Relationship Type="http://schemas.openxmlformats.org/officeDocument/2006/relationships/slide" Target="/ppt/slides/slide36.xml" Id="Red72d4edf52c4c1c" /><Relationship Type="http://schemas.openxmlformats.org/officeDocument/2006/relationships/slide" Target="/ppt/slides/slide37.xml" Id="R6eaf6eca706b43ad" /><Relationship Type="http://schemas.openxmlformats.org/officeDocument/2006/relationships/slide" Target="/ppt/slides/slide38.xml" Id="Rc8332dad40ac4e8c" /><Relationship Type="http://schemas.openxmlformats.org/officeDocument/2006/relationships/slide" Target="/ppt/slides/slide39.xml" Id="R3ed25b6a808647bd" /><Relationship Type="http://schemas.openxmlformats.org/officeDocument/2006/relationships/slide" Target="/ppt/slides/slide40.xml" Id="Raf0b6c3196f640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97938c8fde43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84571c39094fae" /><Relationship Type="http://schemas.openxmlformats.org/officeDocument/2006/relationships/notesMaster" Target="/ppt/notesMasters/notesMaster1.xml" Id="R002dacc6d51f45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ace975614c4495" /><Relationship Type="http://schemas.openxmlformats.org/officeDocument/2006/relationships/notesMaster" Target="/ppt/notesMasters/notesMaster1.xml" Id="R3b8c3e4413cd47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f852d3e7074c79" /><Relationship Type="http://schemas.openxmlformats.org/officeDocument/2006/relationships/notesMaster" Target="/ppt/notesMasters/notesMaster1.xml" Id="Rd965f4005a5f47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b23fdabe9d4a25" /><Relationship Type="http://schemas.openxmlformats.org/officeDocument/2006/relationships/notesMaster" Target="/ppt/notesMasters/notesMaster1.xml" Id="Rd2c92f3c7cfd4a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963dca348249ff" /><Relationship Type="http://schemas.openxmlformats.org/officeDocument/2006/relationships/notesMaster" Target="/ppt/notesMasters/notesMaster1.xml" Id="R3297041327394c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5f17430dd54820" /><Relationship Type="http://schemas.openxmlformats.org/officeDocument/2006/relationships/notesMaster" Target="/ppt/notesMasters/notesMaster1.xml" Id="R6723f314603e4f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f83b405faf4b42" /><Relationship Type="http://schemas.openxmlformats.org/officeDocument/2006/relationships/notesMaster" Target="/ppt/notesMasters/notesMaster1.xml" Id="R8f77d76a21eb4dd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d7281e69694ac9" /><Relationship Type="http://schemas.openxmlformats.org/officeDocument/2006/relationships/notesMaster" Target="/ppt/notesMasters/notesMaster1.xml" Id="Rc1a17772d1b548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ddf0221f0c4e98" /><Relationship Type="http://schemas.openxmlformats.org/officeDocument/2006/relationships/notesMaster" Target="/ppt/notesMasters/notesMaster1.xml" Id="R84b6d94babc6401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7a5ae875f14c30" /><Relationship Type="http://schemas.openxmlformats.org/officeDocument/2006/relationships/notesMaster" Target="/ppt/notesMasters/notesMaster1.xml" Id="Rce2b234fa3e2410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ccf2cb9cb7451d" /><Relationship Type="http://schemas.openxmlformats.org/officeDocument/2006/relationships/notesMaster" Target="/ppt/notesMasters/notesMaster1.xml" Id="R440fdb9c0a0c4a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84c092aa5a4296" /><Relationship Type="http://schemas.openxmlformats.org/officeDocument/2006/relationships/notesMaster" Target="/ppt/notesMasters/notesMaster1.xml" Id="R98143b2fcb774f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6de3f7add524ad4" /><Relationship Type="http://schemas.openxmlformats.org/officeDocument/2006/relationships/notesMaster" Target="/ppt/notesMasters/notesMaster1.xml" Id="R681ac7ac241347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4b5ffee31d48b3" /><Relationship Type="http://schemas.openxmlformats.org/officeDocument/2006/relationships/notesMaster" Target="/ppt/notesMasters/notesMaster1.xml" Id="R4300603c9c574b9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8a26cc0b2e04892" /><Relationship Type="http://schemas.openxmlformats.org/officeDocument/2006/relationships/notesMaster" Target="/ppt/notesMasters/notesMaster1.xml" Id="R5a3d233d91434a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9fa8799d382406c" /><Relationship Type="http://schemas.openxmlformats.org/officeDocument/2006/relationships/notesMaster" Target="/ppt/notesMasters/notesMaster1.xml" Id="Rdaf878dfef48447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e57d2724b6b4461" /><Relationship Type="http://schemas.openxmlformats.org/officeDocument/2006/relationships/notesMaster" Target="/ppt/notesMasters/notesMaster1.xml" Id="Ra74dac04636344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247bd4ff624d2c" /><Relationship Type="http://schemas.openxmlformats.org/officeDocument/2006/relationships/notesMaster" Target="/ppt/notesMasters/notesMaster1.xml" Id="R418a14af7fdb454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f148d8aad54620" /><Relationship Type="http://schemas.openxmlformats.org/officeDocument/2006/relationships/notesMaster" Target="/ppt/notesMasters/notesMaster1.xml" Id="R2be2d42a31984a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5f1944e49304636" /><Relationship Type="http://schemas.openxmlformats.org/officeDocument/2006/relationships/notesMaster" Target="/ppt/notesMasters/notesMaster1.xml" Id="R18e07fd95084402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306c2feeb424497" /><Relationship Type="http://schemas.openxmlformats.org/officeDocument/2006/relationships/notesMaster" Target="/ppt/notesMasters/notesMaster1.xml" Id="R149191ef3a4b416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18ad03fd0b243d4" /><Relationship Type="http://schemas.openxmlformats.org/officeDocument/2006/relationships/notesMaster" Target="/ppt/notesMasters/notesMaster1.xml" Id="R025a39adf131440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f19b36375a6444e" /><Relationship Type="http://schemas.openxmlformats.org/officeDocument/2006/relationships/notesMaster" Target="/ppt/notesMasters/notesMaster1.xml" Id="Re715f2b19f7b43f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035cb8d725849f2" /><Relationship Type="http://schemas.openxmlformats.org/officeDocument/2006/relationships/notesMaster" Target="/ppt/notesMasters/notesMaster1.xml" Id="R45f8bf69d148417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c1a8087031e4f80" /><Relationship Type="http://schemas.openxmlformats.org/officeDocument/2006/relationships/notesMaster" Target="/ppt/notesMasters/notesMaster1.xml" Id="Ra4267d056bd84a1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6b83d36c79e4826" /><Relationship Type="http://schemas.openxmlformats.org/officeDocument/2006/relationships/notesMaster" Target="/ppt/notesMasters/notesMaster1.xml" Id="Rc517e3ddaea1450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d6b1a6cb9614116" /><Relationship Type="http://schemas.openxmlformats.org/officeDocument/2006/relationships/notesMaster" Target="/ppt/notesMasters/notesMaster1.xml" Id="Raf06ce4b0afd44c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7425c5537664482" /><Relationship Type="http://schemas.openxmlformats.org/officeDocument/2006/relationships/notesMaster" Target="/ppt/notesMasters/notesMaster1.xml" Id="R9963aa8a207f4bb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36b89c192c14570" /><Relationship Type="http://schemas.openxmlformats.org/officeDocument/2006/relationships/notesMaster" Target="/ppt/notesMasters/notesMaster1.xml" Id="R7ed5baeb70384bf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80b0db740b040d4" /><Relationship Type="http://schemas.openxmlformats.org/officeDocument/2006/relationships/notesMaster" Target="/ppt/notesMasters/notesMaster1.xml" Id="R7b8d96a24ee7439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6180deda9c24cd1" /><Relationship Type="http://schemas.openxmlformats.org/officeDocument/2006/relationships/notesMaster" Target="/ppt/notesMasters/notesMaster1.xml" Id="R57891402468a4bb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3b997013ded476f" /><Relationship Type="http://schemas.openxmlformats.org/officeDocument/2006/relationships/notesMaster" Target="/ppt/notesMasters/notesMaster1.xml" Id="R565e5c42bcf8428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7f0e283d9ff4d33" /><Relationship Type="http://schemas.openxmlformats.org/officeDocument/2006/relationships/notesMaster" Target="/ppt/notesMasters/notesMaster1.xml" Id="R18624cfc4572426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c244b984fd94be9" /><Relationship Type="http://schemas.openxmlformats.org/officeDocument/2006/relationships/notesMaster" Target="/ppt/notesMasters/notesMaster1.xml" Id="Rfcaa36c54e5e425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56ad1ef90734834" /><Relationship Type="http://schemas.openxmlformats.org/officeDocument/2006/relationships/notesMaster" Target="/ppt/notesMasters/notesMaster1.xml" Id="R39d759867b0a4fe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076f0ceaa144e11" /><Relationship Type="http://schemas.openxmlformats.org/officeDocument/2006/relationships/notesMaster" Target="/ppt/notesMasters/notesMaster1.xml" Id="R7b22ebd180114e7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df3cb8654da4590" /><Relationship Type="http://schemas.openxmlformats.org/officeDocument/2006/relationships/notesMaster" Target="/ppt/notesMasters/notesMaster1.xml" Id="R5b3340278b5c4f9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579114ad3284e46" /><Relationship Type="http://schemas.openxmlformats.org/officeDocument/2006/relationships/notesMaster" Target="/ppt/notesMasters/notesMaster1.xml" Id="Rb5dbd883c27d408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281b67105274ac3" /><Relationship Type="http://schemas.openxmlformats.org/officeDocument/2006/relationships/notesMaster" Target="/ppt/notesMasters/notesMaster1.xml" Id="R322a5ba0ff2a427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85d8c48851247ce" /><Relationship Type="http://schemas.openxmlformats.org/officeDocument/2006/relationships/notesMaster" Target="/ppt/notesMasters/notesMaster1.xml" Id="Rcefe7aef151f43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asks what makes something valuable, how we can evaluate it correctly, and how understanding value becomes reliable participation. Madhyasth Darshan is the philosophy of coexistence presented by Shri A. Nagraj. We are studying its proposal, including the questions its claims leave open. Familiarity with philosophy is helpful, but no detailed knowledge of its technical vocabulary is assumed. This is the fourth stage of the Start Here teaching sequence. The core session runs through the transition to living, followed by optional terminology and source slides. Allow approximately seventy-five to ninety minutes with discussion. We will examine inherent value, understanding across the five faculties, and the conduct through which recognised relationships receive fulfilment.</a:t>
            </a:r>
          </a:p>
          <a:p xmlns:a="http://schemas.openxmlformats.org/drawingml/2006/main">
            <a:r>
              <a:t/>
            </a:r>
          </a:p>
          <a:p xmlns:a="http://schemas.openxmlformats.org/drawingml/2006/main">
            <a:r>
              <a:t>Source: Axiology: Value Theory, §1 and §§5–7. https://analyticmadhyasthdarshan.org/Studies/Axiology-Value-Theory/Axiology-Value-Theory.html</a:t>
            </a:r>
          </a:p>
          <a:p xmlns:a="http://schemas.openxmlformats.org/drawingml/2006/main">
            <a:r>
              <a:t>Primary-text locators: MVD pp. 124–125, 306; JV p. 108; KD §3.8, p. 84. MVD, SB, JV, and AVD use PDF positions; KD uses printed body pages; MAD uses native reader pages. English terms follow the study's translations. Examples marked as teaching cases are illustrations, not quotations or empirical findings.</a:t>
            </a:r>
          </a:p>
          <a:p xmlns:a="http://schemas.openxmlformats.org/drawingml/2006/main">
            <a:r>
              <a:t>Image: AI-generated illustrative still life using the built-in image-generation tool. No documentary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series begins with the human being because someone is asking these questions and seeking fulfilment. Ontology examines the existence in which that person participates. Epistemology asks how understanding becomes knowledge and evidence in living. Axiology now makes the evaluative standard explicit. If we understand a relationship, what exactly does fulfilling it require? If we use a resource, what makes that use appropriate? These questions prepare the fifth stage, which studies family, education, and society. Earlier sessions are useful background rather than entrance requirements. For this session, carry forward only the ideas of coexistence, a conscious knower, and understanding evidenced through participation.</a:t>
            </a:r>
          </a:p>
          <a:p xmlns:a="http://schemas.openxmlformats.org/drawingml/2006/main">
            <a:r>
              <a:t/>
            </a:r>
          </a:p>
          <a:p xmlns:a="http://schemas.openxmlformats.org/drawingml/2006/main">
            <a:r>
              <a:t>Sources: Start Here, https://analyticmadhyasthdarshan.org/Studies/ ; companion study introduction and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an ordinary shared meal. There is enough food, and nobody intends harm. The host follows a familiar routine without noticing that one guest has not received a meal. Ask the audience what has gone wrong. Some may name a poor outcome, others an unfulfilled duty, inattentiveness, or a failure of care. We do not need to decide between those answers yet. The case separates the availability of useful things from the understanding and conduct through which their value is fulfilled. It also shows why good intention is an incomplete evaluation. Later we will return to the guest's situation, the host's responsibility, and the evidence of actual fulfilment.</a:t>
            </a:r>
          </a:p>
          <a:p xmlns:a="http://schemas.openxmlformats.org/drawingml/2006/main">
            <a:r>
              <a:t/>
            </a:r>
          </a:p>
          <a:p xmlns:a="http://schemas.openxmlformats.org/drawingml/2006/main">
            <a:r>
              <a:t>Teaching case devised for this deck. Grounding: study §§1.3–1.4, MVD pp. 61–62, 311,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Coexistence here is an ontological claim about existence, not merely a recommendation that people get along. Jeevan names the conscious unit in Nagraj's account. Human living joins jeevan with the body, which enables embodied participation. Mulya means value, defined through the essentiality of a unit in coexistence. That last phrase needs unpacking, which is the next step. We are introducing the framework on its own terms before asking how its claims can be warranted. We should not silently translate jeevan into a brain mechanism, or treat it as an empirically established entity just because the vocabulary has been defined. Nor should we reduce coexistence to interpersonal friendliness.</a:t>
            </a:r>
          </a:p>
          <a:p xmlns:a="http://schemas.openxmlformats.org/drawingml/2006/main">
            <a:r>
              <a:t/>
            </a:r>
          </a:p>
          <a:p xmlns:a="http://schemas.openxmlformats.org/drawingml/2006/main">
            <a:r>
              <a:t>Source: Axiology: Value Theory, §§1.1–1.2 and §7. https://analyticmadhyasthdarshan.org/Studies/Axiology-Value-Theory/Axiology-Value-Theory.html</a:t>
            </a:r>
          </a:p>
          <a:p xmlns:a="http://schemas.openxmlformats.org/drawingml/2006/main">
            <a:r>
              <a:t>Primary-text locators: SB pp. 50, 87; MVD pp. 124–125, 203; JV pp. 138–139.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 is the qualitative significance of essential participation. Form and properties concern configuration and effects; essential nature and dharma concern characteristic participation and inseparable innateness. Quantities matter for describing means and outcomes, while qualitative understanding identifies what those activities mean in nourishment, protection, complementarity, or resolution. Value is inherent in every unit. Human recognition can become correct or mistaken; approval does not create that value. What develops in awakening is the understanding and capacity to participate accordingly. Sources: study §1.1; MVD pp. 47, 124–125; SB pp. 50, 87; AVD p. 184.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philosophy does not reserve value for human feelings or human-made goods. Its account extends through the material order, the pranic order of growth, the animal order, and the human knowledge order. Their characteristics differ. What distinguishes the human possibility in this argument is the capacity for comprehensive understanding and responsible evaluation. Humans can also misrecognise and act contrary to that responsibility. This matters because the later discussion of material usefulness should not be heard as permission to treat nature solely as a store of inputs. The standard includes regeneration and nurturing the conditions in which the orders participate. A detailed derivation of particular ecological decisions remains a further task.</a:t>
            </a:r>
          </a:p>
          <a:p xmlns:a="http://schemas.openxmlformats.org/drawingml/2006/main">
            <a:r>
              <a:t/>
            </a:r>
          </a:p>
          <a:p xmlns:a="http://schemas.openxmlformats.org/drawingml/2006/main">
            <a:r>
              <a:t>Source: Axiology: Value Theory, §§1.1, 1.6 and §7. https://analyticmadhyasthdarshan.org/Studies/Axiology-Value-Theory/Axiology-Value-Theory.html</a:t>
            </a:r>
          </a:p>
          <a:p xmlns:a="http://schemas.openxmlformats.org/drawingml/2006/main">
            <a:r>
              <a:t>Primary-text locators: SB pp. 141, 179–182, 200–201, 249; MVD p. 125.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state can suggest something static or inactive. That would be misleading here. State and motion are inseparable aspects of activity in jeevan. The study uses strength for bal and power for shakti. The detailed faculty account connects realisation with its evidence, understanding with resolve, and other paired activities. For today's central distinction, the established value belongs on the state or strength side, and the expressed value belongs on the motion or power side. Established care is therefore an active understanding and capacity. Its significance concerns the conduct it can sustain. This is the framework within which the named value correspondences and the educational sequence must be understood.</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KD §3.8, p. 84; MVD p. 323; AVD pp. 91–94.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True value is understood through the whole conscious unit. Read each pair as state and its expression in motion: atma realises and evidences; buddhi understands and resolves; chitta contemplates and visualises; vritti deliberates and analyses; mun tastes and selects. These are inseparable aspects of activity, not five independent agents or a fixed sequence in clock time. Chitran is visualisation at chitta; chintan concerns contemplation and direct apprehension of justice, dharma, and truth. A vivid image can still carry mistaken meaning. Understanding at buddhi and realisation at atma supply the ground for true evaluation. Analysis clarifies the essence accepted as value; mun tastes that accepted value and selects its meaningful expression. A faculty location for care or trust does not mean that mun or vritti alone understands it. Sources: study §§1.2–1.3; Manav Karm Darshan, ch. 3.8, printed p. 84 (Hindi PDF p. 109); MVD PDF pp. 83, 203.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 mamta, is paired with generosity, udarta. Care concerns nurturing and protection. Generosity makes body, mind, and wealth available as needed for awakening, health, and prosperity. The pair connects an established value in state with its outward expression in motion. Do not make this a loose association among virtues: the study specifies a one-to-one correspondence. At the same time, a single outward act does not let an observer infer established care without further examination. A learner may perform a real act of generosity while still developing the understanding that would make it continuous. We will examine that possible route of learning after seeing the wider set of named pairs.</a:t>
            </a:r>
          </a:p>
          <a:p xmlns:a="http://schemas.openxmlformats.org/drawingml/2006/main">
            <a:r>
              <a:t/>
            </a:r>
          </a:p>
          <a:p xmlns:a="http://schemas.openxmlformats.org/drawingml/2006/main">
            <a:r>
              <a:t>Source: Axiology: Value Theory, §§1.3–1.4. https://analyticmadhyasthdarshan.org/Studies/Axiology-Value-Theory/Axiology-Value-Theory.html</a:t>
            </a:r>
          </a:p>
          <a:p xmlns:a="http://schemas.openxmlformats.org/drawingml/2006/main">
            <a:r>
              <a:t>Primary-text locators: JV p. 108; AVD pp. 91–94;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each row across as a specified correspondence. Care is mamta and generosity is udarta. Guidance is vatsalya and naturalness is sahajta. Trust is vishwas and concordance is saujanyata. Affection is sneha and dedication is nishtha. Gratitude is kritagyata and humility is saumyata. The English words are aids to reading the technical terms. We should not substitute every association an English word happens to carry. For example, concordance here belongs to the stated activity pair. The point for a new audience is to see that the account distinguishes establishment from expression while connecting them systematically. The optional terminology material and source passages support slower study after the session.</a:t>
            </a:r>
          </a:p>
          <a:p xmlns:a="http://schemas.openxmlformats.org/drawingml/2006/main">
            <a:r>
              <a:t/>
            </a:r>
          </a:p>
          <a:p xmlns:a="http://schemas.openxmlformats.org/drawingml/2006/main">
            <a:r>
              <a:t>Source: Axiology: Value Theory, §1.3, correspondence table. https://analyticmadhyasthdarshan.org/Studies/Axiology-Value-Theory/Axiology-Value-Theory.html</a:t>
            </a:r>
          </a:p>
          <a:p xmlns:a="http://schemas.openxmlformats.org/drawingml/2006/main">
            <a:r>
              <a:t>Primary-text locators: JV p. 108; AVD pp. 91–94;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group completes the principal nine: glory and simplicity; love and non-otherness; reverence and devoutness; respect and cordiality. Manav Abhyas Darshan explicitly gives the nine principal established values and their nine expressions. Trust is common value, samya mulya; love is complete value, purna mulya. Love includes realisation of completeness and the combined expression of kindness, grace, and compassion. Non-otherness expresses complementarity with people and the rest of nature and supports others' awakening. This principal taxonomy belongs within the larger activity account, but is not merely an uncertain illustrative list. Sources: study §1.3 and Editorial Notes; MAD native reader p. 30 and p. 43; MVD pp. 331–340; AVD pp. 91–94.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learner may make a meaningful contribution while still developing understanding. Here the learner portions and shares food. Examine whose need is recognised, what the learner understands, and what is actually fulfilled. Intermittent generosity followed by miserliness is a primary example of conduct without continuity under delusion. An outward-first route is a pedagogical interpretation, not a source-prescribed sequence or a guarantee that practising generosity produces established care. Sanskar concerns acceptances and tendencies towards completeness. Study of meaning, reflection, self-evaluation, and renewed participation develop the whole conscious unit. Sources: study §§1.3, 1.7, 7.8 and Editorial Notes; MVD pp. 90, 94; KD printed pp. 84, 112–113.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mistakes to avoid when evaluating a learner. One is to dismiss a useful act because the person has not yet reached complete understanding. The other is to treat successful performance as proof that the corresponding value is established in state. The account permits us to recognise the contribution while examining understanding and continuity. Conversely, an assertion of established care calls for examination of actual responsibilities and their fulfilment. Self-examination and the experience of the people involved both matter, although they have different roles. Consistency also depends on real circumstances and available means. We should ask what failed and why rather than making a diagnosis of someone's entire inner life from one act.</a:t>
            </a:r>
          </a:p>
          <a:p xmlns:a="http://schemas.openxmlformats.org/drawingml/2006/main">
            <a:r>
              <a:t/>
            </a:r>
          </a:p>
          <a:p xmlns:a="http://schemas.openxmlformats.org/drawingml/2006/main">
            <a:r>
              <a:t>Source: Axiology: Value Theory, §§1.4, 1.7 and §7. https://analyticmadhyasthdarshan.org/Studies/Axiology-Value-Theory/Axiology-Value-Theory.html</a:t>
            </a:r>
          </a:p>
          <a:p xmlns:a="http://schemas.openxmlformats.org/drawingml/2006/main">
            <a:r>
              <a:t>Primary-text locators: JV pp. 98, 139; MVD pp. 311, 336; KD pp. 112–113.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Justice has the stated order: recognition of relationships, fulfilment of their values, evaluation, and mutual satisfaction. Evaluation also guides choice before action: one must understand the responsibility and assess means and receptivity to choose a suitable contribution. Afterwards, the outcome is assessed against the recognised relationship. These roles are compatible: the justice sequence names fulfilled moments, while the faculties explain evaluative activity within participation. A pleased response alone cannot establish fulfilment. Sources: study §1.4; MVD pp. 61–62, 311, 336; KD printed p. 84; JV PDF p. 138.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suppose the host notices the problem, provides suitable food, and checks that the guest can participate with assurance. Invite the group to identify the evidence. The guest's account matters. So do the suitability and availability of food, the circumstances of the omission, and the host's understanding of responsibility. If the guest says everything is fine out of dependence or embarrassment, the evaluation should not stop there. If there was genuinely too little food, that would introduce a problem of provision and allocation. The example therefore connects value-fulfilment with material conditions and the recipient's situation. It also demonstrates why a warm intention or a polite exchange alone gives an incomplete account of care.</a:t>
            </a:r>
          </a:p>
          <a:p xmlns:a="http://schemas.openxmlformats.org/drawingml/2006/main">
            <a:r>
              <a:t/>
            </a:r>
          </a:p>
          <a:p xmlns:a="http://schemas.openxmlformats.org/drawingml/2006/main">
            <a:r>
              <a:t>Teaching case. Grounding: study §§1.3–1.4, MVD pp. 61, 311, 331,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account distinguishes over-evaluation, under-evaluation, and mis-evaluation. They concern disproportionate estimation and mistaken recognition. Familiar source examples include a rope mistaken for a snake and iron assigned the worth of gold. At the human level, the study extends the question to relationships, acquisition, and self-assessment. Our example of judging a person's worth by wealth illustrates a category confusion. A bank balance can tell us something about resources while leaving human essentiality and the quality of participation unsettled. Correct evaluation requires a defensible standard, so the definition of these errors brings us back to the theory's claim that value is grounded in essentiality. Naming an error does not remove the need to justify that standard.</a:t>
            </a:r>
          </a:p>
          <a:p xmlns:a="http://schemas.openxmlformats.org/drawingml/2006/main">
            <a:r>
              <a:t/>
            </a:r>
          </a:p>
          <a:p xmlns:a="http://schemas.openxmlformats.org/drawingml/2006/main">
            <a:r>
              <a:t>Source: Axiology: Value Theory, §1.5 and §7. https://analyticmadhyasthdarshan.org/Studies/Axiology-Value-Theory/Axiology-Value-Theory.html</a:t>
            </a:r>
          </a:p>
          <a:p xmlns:a="http://schemas.openxmlformats.org/drawingml/2006/main">
            <a:r>
              <a:t>Primary-text locators: MVD pp. 152, 306; SB p. 146.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Fear and temptation can produce behaviour, but the primary account does not classify them as fulfilled relationship values. The distinction concerns what governs a relationship. Compliance under threat may occur without recognition or fulfilment of its values. Similarly, promised advantage may secure participation while leaving the relationship instrumental. This claim does not mean every warning about danger is wrong, or every legitimate material provision is temptation. Context and purpose require examination. In education, the issue is whether learners understand a responsibility or merely conform for reward and avoidance of punishment. The positive criterion remains recognition, value-fulfilment, evaluation, and mutual satisfaction. Ask how an observer could distinguish those possibilities without assuming they can read another person's mind.</a:t>
            </a:r>
          </a:p>
          <a:p xmlns:a="http://schemas.openxmlformats.org/drawingml/2006/main">
            <a:r>
              <a:t/>
            </a:r>
          </a:p>
          <a:p xmlns:a="http://schemas.openxmlformats.org/drawingml/2006/main">
            <a:r>
              <a:t>Source: Axiology: Value Theory, §1.5. https://analyticmadhyasthdarshan.org/Studies/Axiology-Value-Theory/Axiology-Value-Theory.html</a:t>
            </a:r>
          </a:p>
          <a:p xmlns:a="http://schemas.openxmlformats.org/drawingml/2006/main">
            <a:r>
              <a:t>Primary-text locators: JV pp. 109–110; MVD p. 199; SB ch. 9, item 11, pp. 290–295.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perspectives concern what guides deliberation at vritti. Pleasant–unpleasant, beneficial–harmful, and gain–loss orient attention to attraction, bodily advantage, and acquisition. Justice–injustice, dharma–adharma, and truth–untruth concern fulfilled relationships, resolution and happiness, and coexistence. Pleasure and health find their place within humane purposes; prosperity replaces acquisitive profit. Analysis and selection can be skilful while still based on an inadequate purpose. The whole-faculty account explains why changing the basis of evaluation matters. Sources: study §§1.2, 1.5; Jeevan Vidya PDF pp. 139–140; MVD pp. 58, 66, 336–337.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familiar English words have precise places in the philosophy's activity account. They name harmonies between faculties of jeevan, rather than simply four degrees of pleasant sensation. Happiness concerns mun and vritti, peace concerns vritti and chitta, contentment concerns chitta and buddhi, and bliss concerns buddhi and atma. Those faculty terms are collected in an optional reference slide. For the main argument, the key point is that inner harmony connects with purposes fulfilled in living. We should not convert the four values into a numerical psychological scale or claim that the table already proves a strict theory of non-substitution. The next slide presents the cumulative fulfilment given in Karm Darshan.</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JV p. 138; KD §3.12, p. 112; MVD pp. 328, 331, 333, 346.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down the right column carefully. Peace includes resolution and prosperity. Contentment includes both of those and fearlessness. Bliss includes the full set with coexistence. The cumulative structure comes from the cited passage in Karm Darshan and should remain visible when teaching this table. It would be misleading to assign each value exclusively to a separate social level and lose the cumulative relation. Prosperity also has a material meaning here. Contentment includes freedom from the sentiment of lack together with readiness to evidence production beyond need. This is why the account must address work and material provision alongside inner activity. We will take up those topics shortly.</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KD §3.12, p. 112; JV p. 138; MVD p. 331.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human values articulate the essential nature of humane participation. Fortitude, dhirata, is firmness towards justice. Courage, veerta, deploys intellectual and physical powers so justice becomes available. Generosity, udarta, offers body, mind, and wealth as needed for awakening, health, and prosperity. This definition of courage is more specific than willingness to take a risk, and generosity concerns appropriate provision rather than the sheer quantity given away. The source distinguishes humane and higher-humane expression, with kindness, grace, and compassion in the latter group. We will examine their definitions next because they bring the recipient's receptivity and the means of assistance directly into the argument.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52, 60–61, 125, 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definitions show why value-fulfilment cannot be reduced to an emotion. Kindness makes content available where receptivity is present but content is lacking. Grace develops receptivity where content is available but the recipient lacks receptivity. Compassion works where both are absent. In a teaching example, someone may be ready to learn but lack access to instruction, or have material available without yet being able to understand it. The actual situation may be more complicated than either case. These examples help us read the distinctions without treating the table as a diagnostic instrument. The philosophical point is that assistance must recognise the recipient's situation and have the means to respond. Love includes the combined expression of these values in the source account.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61, 331.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Manav Abhyas Darshan gives an explicit order of dedication: usefulness in need, need in shishta or expressed value, expressed value in established value, established value in human value, and human value in jeevan value. Read the table as service to an encompassing purpose. Material means support fulfilled relationships and humane living, whose purpose includes the harmonies of jeevan. This is not a numerical exchange rate between goods, nor a theorem that increased output compensates for damaged trust. Source: study §1.5 and §5.6; Manav Abhyas Darshan, Hindi native reader, displayed p. 34, https://db.madhyasth.org/books/read/144/?page=34.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things support nourishment, protection of the body, and participation. The study's examples include food and other products whose usefulness is connected with definite capacities. Labour transforms natural abundance into products with usefulness and aesthetic value. Aesthetic qualification belongs in relation to usefulness and convenience in this account. Consider a drinking vessel. Its appearance, handling, and suitability can make a difference to use, while admiration of it is a separate matter. This is a teaching example, not a complete theory of art. The wider field of aesthetics asks questions that exceed this short account of useful production. Here we are establishing why axiology must address the things people need and the work through which those things become available.</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JV pp. 123, 137–138; MVD pp. 56, 268.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the grain example as an analytical case with its condition and nourishing capacity held fixed. Price may change access without changing those properties. This does not establish unconditional constancy of usefulness in every circumstance. JV PDF pp. 137–138 calls object value constant in its sesame example, while Manav Abhyas Darshan reader p. 51 explicitly calls usefulness and beauty temporal in relation to need, use, exchange, and deployment. The study preserves this difference for further textual analysis. Evaluating material provision requires attention to need, useful capacity, production, access, and right-use. Sources: study §§1.6, 7.5 and Editorial Notes; MVD p. 183; SB pp. 211–212; JV pp. 137–138; MAD reader p.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and production have distinct definitions. Prayog is the endeavour, continued until success, to establish usefulness and aesthetic value through labour in response to need. Utpadan standardises the successful process. Exchange then has its own responsibility for evaluating labour and making the results available without exploitation. The source proposes exchange of labour-valued goods free from profit and loss. That is a normative institutional proposal, not a description of present markets. Questions about comparing different kinds of labour and allocating scarce goods need further examination. Also, human worth cannot be inferred from current productive capacity. The study includes rightful receiving through remuneration, gift, and award, alongside responsibilities of care.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MVD pp. 56, 260, 268–269, 331; SB p. 237; AVD p. 170.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distinguishes use, right-use, and purposeful-use. Use concerns means in production and service. Right-use directs body, mind, and wealth towards participation in family orderliness. Purposeful-use concerns awakening, undivided society, and universal orderliness. These definitions connect assessment of a thing with the purposes and relationships in which it will participate. For example, a tool may work exactly as designed while the reason for using it remains questionable. Conversely, a worthy purpose may fail without the necessary means and skill. The theory therefore asks about capacity, purpose, conduct, and fulfilment together. The relationship between means and purpose belongs to the evaluation itself.</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MVD p. 57.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cannot stop with the buyer and seller or the immediate family. Natural abundance is to be used in accordance with usefulness and regeneration, and human beings are to act as nurturers in relation to the other orders. This places the means and consequences of production inside the account of value. We can ask whether soil, water, and living conditions remain capable of sustaining further participation. Those are questions for investigation, not a claim that the theory already supplies a quantitative threshold for every ecological choice. The study explicitly leaves room for work on operational criteria. This distinction between a governing principle and a resolved decision procedure is important when introducing the theory to a philosophy audience.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SB pp. 141, 200–201.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Study examines the meaning indicated by language. Practice gives opportunities for participation; self-evaluation concerns what is understood and fulfilled. Sanskar includes acceptances, knowledge, wisdom, science, and tendencies towards completeness, expressed through bodily, verbal, and mental participation. Susanskar supports awakening and resolved living; kusanskar supports decline. Aapyayan names the internal reception of value, evidenced through evaluation; parimarjan concerns qualitative refinement in hope, thought, desire, and resolve. None is adequately described as mere memorisation. Evidence in living can be accepted in bodh and anubhav and support further expression. Sources: study §1.7; MVD pp. 83, 90, 94; KD printed pp. 112–113; MAD reader p. 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Humane conduct combines value, character, and ethics. Values concern understood purposes and their fulfilment. Character includes rightful wealth, marital fidelity, and kindness in behaviour and work. Ethics concerns protection and right-use of body, mind, and wealth. Claimed right feeling must therefore be examined with conduct and the use of means. Sanskar includes accepted meanings, knowledge, wisdom, science, and tendencies towards completeness. The learner's hope, thought, desire, and resolve undergo qualitative refinement; a repeated action alone does not establish awakening. Sources: study §1.7; Jeevan Vidya PDF p. 55; MVD pp. 90, 94; Manav Abhyas Darshan, native reader p. 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dimensions are responsibilities with criteria of success. Education concerns understood meaning. Justice concerns the fulfilment and evaluation of values with mutual satisfaction. Production concerns the family's ability to produce beyond assessed need. Exchange concerns evaluation of labour and the availability of its results. Health concerns the body as an instrument capable of participation and of evidencing awakening. This makes a claim to understanding answerable to institutions and their work. It also prevents axiology from ending with a vocabulary of private virtues. These responsibilities belong together, although identifying them does not establish every institutional arrangement needed to fulfil them. Their organisation is the subject of the next Start Here stage on living and undivided society.</a:t>
            </a:r>
          </a:p>
          <a:p xmlns:a="http://schemas.openxmlformats.org/drawingml/2006/main">
            <a:r>
              <a:t/>
            </a:r>
          </a:p>
          <a:p xmlns:a="http://schemas.openxmlformats.org/drawingml/2006/main">
            <a:r>
              <a:t>Source: Axiology: Value Theory, §1.7. https://analyticmadhyasthdarshan.org/Studies/Axiology-Value-Theory/Axiology-Value-Theory.html</a:t>
            </a:r>
          </a:p>
          <a:p xmlns:a="http://schemas.openxmlformats.org/drawingml/2006/main">
            <a:r>
              <a:t>Primary-text locators: MVD p. 260; AVD pp. 97, 265.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identifies realisation, behaviour, and application as dimensions of evidence. Realisation concerns the truth understood; behaviour concerns value fulfilment in relationships; application concerns useful work and its results. These dimensions are connected without becoming identical methods of assessment. MVD p. 174 relates knowledge, law, regulation, balance, justice, dharma as resolution, and truth in coexistence. Understood qualitative meaning receives evidence through organised work and just living. An institution is assessed by its fulfilled purpose, not merely by its name or a claim of correct understanding. A person's inward report and public evidence in work remain distinguishable. Sources: study §§1.7–1.8; MVD pp. 12, 174, 260.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compressed orientation to the study's comparative sections, not a verdict on entire traditions. Madhyasth Darshan grounds value in coexistence and connects fulfilment with continued participation. Advaita places liberating knowledge of the Self at the centre while retaining ethical preparation, disciplined action, and action for the world's maintenance. Western value theory is plural: realism, subjectivism, theories of virtue, duties, goods, and reasons cannot be reduced to one answer. The sciences investigate evaluative processes and conditions of well-being, but descriptive findings alone do not settle an ultimate normative standard. These traditions can ask useful questions of one another. A claim of difference does not establish superiority, and shared ethical vocabulary does not erase metaphysical differences.</a:t>
            </a:r>
          </a:p>
          <a:p xmlns:a="http://schemas.openxmlformats.org/drawingml/2006/main">
            <a:r>
              <a:t/>
            </a:r>
          </a:p>
          <a:p xmlns:a="http://schemas.openxmlformats.org/drawingml/2006/main">
            <a:r>
              <a:t>Sources: companion study §§2–6. Primary comparison anchors include Brihadaranyaka Upanishad 2.4.5; Bhagavad Gita 3.19–3.26 and 16.1–16.3; Western and scientific works listed in the study's References.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takes conduct seriously as evidence: understanding should be explainable and become visible in relationships, work, and outcomes. But the kind of claim matters. A fulfilled responsibility provides evidence about that participation. It does not by itself prove a universal ontology or a causal explanation of consciousness. Self-evaluation also has a role that differs from publicly inspectable outcomes. The study asks how these forms of evidence can be distinguished and related, including where independent examination is needed. This is especially important in education, because confidence, fluency, or agreement with a teacher should not become substitutes for understanding. We can investigate the proposal while keeping those limits explicit.</a:t>
            </a:r>
          </a:p>
          <a:p xmlns:a="http://schemas.openxmlformats.org/drawingml/2006/main">
            <a:r>
              <a:t/>
            </a:r>
          </a:p>
          <a:p xmlns:a="http://schemas.openxmlformats.org/drawingml/2006/main">
            <a:r>
              <a:t>Source: Axiology: Value Theory, §§1.7, 6–7. https://analyticmadhyasthdarshan.org/Studies/Axiology-Value-Theory/Axiology-Value-Theory.html</a:t>
            </a:r>
          </a:p>
          <a:p xmlns:a="http://schemas.openxmlformats.org/drawingml/2006/main">
            <a:r>
              <a:t>Primary-text locators: KD pp. 112–113; AVD pp. 52, 97, 265; JV p. 139.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deliberately harder case introduces scarcity. Assume that both people have a legitimate claim to care and that one caregiver has only one hour available. Recognition of their value does not yet specify how to allocate time. The decision may require attention to urgency, severity, available alternatives, dependency, and whose voice is absent. Those considerations are proposed questions for analysis here, not a completed procedure asserted by the primary texts. Ask the group what would justify the decision and how it could be evaluated afterwards. This case tests the explanatory reach of the theory without rejecting its standard of care. It identifies further work needed to connect definite values with difficult practical judgements.</a:t>
            </a:r>
          </a:p>
          <a:p xmlns:a="http://schemas.openxmlformats.org/drawingml/2006/main">
            <a:r>
              <a:t/>
            </a:r>
          </a:p>
          <a:p xmlns:a="http://schemas.openxmlformats.org/drawingml/2006/main">
            <a:r>
              <a:t>Teaching case based on the open problems in companion study §7, especially value conflict, material conditions, and inclusion.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participants a few minutes to choose an ordinary relationship or shared task. Ask them to state what is valuable, identify the relevant responsibility, and distinguish an outward expression from the established value to which it corresponds. They should explain how someone could learn the conduct before its counterpart is established in state, and say what evidence would be needed to assess the contribution. If disagreement appears, locate it. Is it about the meaning of a term, the facts of the situation, the value standard, or the adequacy of the response? The exercise checks understanding without asking participants to declare assent to the entire philosophy. Close by identifying one unresolved question that belongs in continued study.</a:t>
            </a:r>
          </a:p>
          <a:p xmlns:a="http://schemas.openxmlformats.org/drawingml/2006/main">
            <a:r>
              <a:t/>
            </a:r>
          </a:p>
          <a:p xmlns:a="http://schemas.openxmlformats.org/drawingml/2006/main">
            <a:r>
              <a:t>Teaching discussion grounded in companion study §§1.3–1.7 and §7.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now has a clear destination. Value belongs to essentiality in coexistence. Human beings recognise, evaluate, and fulfil values through activity. Established and expressed values correspond one-to-one, while learning can begin with outward expression. Justice examines whether responsibilities receive fulfilment, and material provision makes that fulfilment practicable. The next question is how these understandings become a shared, continuous way of living. The fifth Start Here stage examines undivided society through family and social responsibilities. Participants can continue there, or use the optional terminology and sources that follow to revisit today's claims. We should carry both the explanatory proposal and its open questions into that next stage.</a:t>
            </a:r>
          </a:p>
          <a:p xmlns:a="http://schemas.openxmlformats.org/drawingml/2006/main">
            <a:r>
              <a:t/>
            </a:r>
          </a:p>
          <a:p xmlns:a="http://schemas.openxmlformats.org/drawingml/2006/main">
            <a:r>
              <a:t>Sources: companion study §§1.7, 8; Start Here stage five. https://analyticmadhyasthdarshan.org/Studies/How-Undivided-Society-Is-Established/How-Undivided-Society-Is-Established.html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when participants need to revisit the vocabulary. State does not mean inactivity. Civic values here translate the expressed or shishta side of the value pairs, not a separate list of duties of citizenship. Relationship and contact differ in how expectations are specified, while both remain answerable to justice. Jeevan and body name distinct contributions in the philosophy's human account. These distinctions should be read in the primary context instead of inferred solely from English usage. The study's glossary and editorial notes explain the translation choices in greater detail. Transliteration is kept close to the study so participants can search for the same terms.</a:t>
            </a:r>
          </a:p>
          <a:p xmlns:a="http://schemas.openxmlformats.org/drawingml/2006/main">
            <a:r>
              <a:t/>
            </a:r>
          </a:p>
          <a:p xmlns:a="http://schemas.openxmlformats.org/drawingml/2006/main">
            <a:r>
              <a:t>Source: Axiology: Value Theory, §§1.2–1.4, Glossary and Editorial Notes. https://analyticmadhyasthdarshan.org/Studies/Axiology-Value-Theory/Axiology-Value-Theory.html</a:t>
            </a:r>
          </a:p>
          <a:p xmlns:a="http://schemas.openxmlformats.org/drawingml/2006/main">
            <a:r>
              <a:t>Primary-text locators: KD §3.8, p. 84; MVD pp. 61–62, 203; AVD pp. 91–94.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supplies the technical mapping used earlier. In the wider account, mun tastes and selects, vritti deliberates and analyses, chitta contemplates and visualises, buddhi understands and resolves, and atma realises and evidences. The harmonies specify relations among these activities. The correspondence pairs also have faculty locations: care, affection, and respect belong at mun; trust, gratitude, and glory at vritti; guidance, love, and reverence at chitta. Their expressed counterparts belong to the corresponding activity pairs. These locations do not turn the faculties into anatomical regions or quantities measured by a psychological instrument. They are part of the primary philosophy's activity account, whose detailed exposition is in the preceding knowledge study.</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JV pp. 108, 138; AVD pp. 91–94; KD §3.8, p. 84 and §3.12, p. 112;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Axiology: Value Theory, especially §§1.1–1.8, with the comparison, open problems, and Editorial Notes. MVD is Madhyasth Darshan – Co-existentialism; SB is Samadhanatmak Bhautikvad; JV is Jeevan Vidya: An Introduction; AVD is Adhyatmvad, the working English translation by Sanjeev Chopra. KD is Manav Karm Darshan: the activity passage is ch. 3.8, printed p. 84; continuity and evidenced expression are printed pp. 37, 112–113. MAD is Manav Abhyas Darshan, Hindi native reader https://db.madhyasth.org/books/read/144/: displayed pp. 30, 34, 43, 45, 51 support the added taxonomy, dedication, refinement, and usefulness discussion. MVD, SB, JV, and AVD citations use linked PDF positions; KD uses printed body pages; MAD uses displayed reader pages. Translation and pagination distinctions are documented in the study. Full bibliography: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c964da79da44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60adfe19884dbf" /><Relationship Type="http://schemas.openxmlformats.org/officeDocument/2006/relationships/slideLayout" Target="/ppt/slideLayouts/slideLayout1.xml" Id="R310cdbf40bc94ae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10cdbf40bc94a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9279e948c64cd2" /><Relationship Type="http://schemas.openxmlformats.org/officeDocument/2006/relationships/image" Target="/ppt/media/image.png" Id="R231a7f1cc90a45f4" /><Relationship Type="http://schemas.openxmlformats.org/officeDocument/2006/relationships/notesSlide" Target="/ppt/notesSlides/notesSlide1.xml" Id="Re33c5f494d494e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6f1a4aebda4f33" /><Relationship Type="http://schemas.openxmlformats.org/officeDocument/2006/relationships/notesSlide" Target="/ppt/notesSlides/notesSlide2.xml" Id="R1796bb5b633c41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73aed98bac46ee" /><Relationship Type="http://schemas.openxmlformats.org/officeDocument/2006/relationships/notesSlide" Target="/ppt/notesSlides/notesSlide3.xml" Id="Rb334c7b894d64a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c697c0474e4782" /><Relationship Type="http://schemas.openxmlformats.org/officeDocument/2006/relationships/notesSlide" Target="/ppt/notesSlides/notesSlide4.xml" Id="Rf39997cf46d64a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c7a9375b7d4a5a" /><Relationship Type="http://schemas.openxmlformats.org/officeDocument/2006/relationships/notesSlide" Target="/ppt/notesSlides/notesSlide5.xml" Id="Rd99f29cb9f8c4b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702c722ee26492e" /><Relationship Type="http://schemas.openxmlformats.org/officeDocument/2006/relationships/notesSlide" Target="/ppt/notesSlides/notesSlide6.xml" Id="Ra17d0dd42c5e4f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b38f35c5464300" /><Relationship Type="http://schemas.openxmlformats.org/officeDocument/2006/relationships/notesSlide" Target="/ppt/notesSlides/notesSlide7.xml" Id="R401a65b57da94c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70126c7715544b9" /><Relationship Type="http://schemas.openxmlformats.org/officeDocument/2006/relationships/notesSlide" Target="/ppt/notesSlides/notesSlide8.xml" Id="Ra8c8ebefe5b24ec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c31b2914f664481" /><Relationship Type="http://schemas.openxmlformats.org/officeDocument/2006/relationships/notesSlide" Target="/ppt/notesSlides/notesSlide9.xml" Id="Rfa8db792092f4e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08214daa8dc43f3" /><Relationship Type="http://schemas.openxmlformats.org/officeDocument/2006/relationships/notesSlide" Target="/ppt/notesSlides/notesSlide10.xml" Id="R2832653abf8042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2a701b19ae44c29" /><Relationship Type="http://schemas.openxmlformats.org/officeDocument/2006/relationships/notesSlide" Target="/ppt/notesSlides/notesSlide11.xml" Id="Rd116db60057544f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7bae88df89a4456" /><Relationship Type="http://schemas.openxmlformats.org/officeDocument/2006/relationships/image" Target="/ppt/media/image2.png" Id="Radc05e1e66034860" /><Relationship Type="http://schemas.openxmlformats.org/officeDocument/2006/relationships/notesSlide" Target="/ppt/notesSlides/notesSlide12.xml" Id="Rbddb610c6258480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753926b904e491d" /><Relationship Type="http://schemas.openxmlformats.org/officeDocument/2006/relationships/notesSlide" Target="/ppt/notesSlides/notesSlide13.xml" Id="R18f2f5a42a5a4f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f3befcbb8ab40c8" /><Relationship Type="http://schemas.openxmlformats.org/officeDocument/2006/relationships/notesSlide" Target="/ppt/notesSlides/notesSlide14.xml" Id="Ra7202d4e0f6f420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1d248a386044628" /><Relationship Type="http://schemas.openxmlformats.org/officeDocument/2006/relationships/notesSlide" Target="/ppt/notesSlides/notesSlide15.xml" Id="Rdf95eaa4e4a741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d3df8b2d4bd4cb3" /><Relationship Type="http://schemas.openxmlformats.org/officeDocument/2006/relationships/notesSlide" Target="/ppt/notesSlides/notesSlide16.xml" Id="R49a47445539a409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512c6ceb5e04989" /><Relationship Type="http://schemas.openxmlformats.org/officeDocument/2006/relationships/notesSlide" Target="/ppt/notesSlides/notesSlide17.xml" Id="Rfb4df2ac461a414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c7106d5a6024324" /><Relationship Type="http://schemas.openxmlformats.org/officeDocument/2006/relationships/notesSlide" Target="/ppt/notesSlides/notesSlide18.xml" Id="R23931bc1befb48a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75f317ed61d4975" /><Relationship Type="http://schemas.openxmlformats.org/officeDocument/2006/relationships/notesSlide" Target="/ppt/notesSlides/notesSlide19.xml" Id="R363ec86c5bbc421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e13124985374b5f" /><Relationship Type="http://schemas.openxmlformats.org/officeDocument/2006/relationships/notesSlide" Target="/ppt/notesSlides/notesSlide20.xml" Id="R6ddb04e0a6c84ed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1a3afc5069f41d3" /><Relationship Type="http://schemas.openxmlformats.org/officeDocument/2006/relationships/notesSlide" Target="/ppt/notesSlides/notesSlide21.xml" Id="Raf849b25430e486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eeb34d38764db6" /><Relationship Type="http://schemas.openxmlformats.org/officeDocument/2006/relationships/notesSlide" Target="/ppt/notesSlides/notesSlide22.xml" Id="R8708492d5357444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c396245e0a340d2" /><Relationship Type="http://schemas.openxmlformats.org/officeDocument/2006/relationships/notesSlide" Target="/ppt/notesSlides/notesSlide23.xml" Id="R3eb355ac448a4b9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639dfa0115d4c1e" /><Relationship Type="http://schemas.openxmlformats.org/officeDocument/2006/relationships/notesSlide" Target="/ppt/notesSlides/notesSlide24.xml" Id="Rc2253f2ed9a1474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04d7388323e4b6d" /><Relationship Type="http://schemas.openxmlformats.org/officeDocument/2006/relationships/notesSlide" Target="/ppt/notesSlides/notesSlide25.xml" Id="R010a5fafb3fe409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c5a798efe34c0b" /><Relationship Type="http://schemas.openxmlformats.org/officeDocument/2006/relationships/notesSlide" Target="/ppt/notesSlides/notesSlide26.xml" Id="R385f8294904c49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37717f3cd52459f" /><Relationship Type="http://schemas.openxmlformats.org/officeDocument/2006/relationships/notesSlide" Target="/ppt/notesSlides/notesSlide27.xml" Id="R1fc252f5e03f4d9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7c5e866ed8b47ac" /><Relationship Type="http://schemas.openxmlformats.org/officeDocument/2006/relationships/notesSlide" Target="/ppt/notesSlides/notesSlide28.xml" Id="Rf14d06a3950b4e1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c9b178d2d03481f" /><Relationship Type="http://schemas.openxmlformats.org/officeDocument/2006/relationships/notesSlide" Target="/ppt/notesSlides/notesSlide29.xml" Id="R74d2f9a0d1eb492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485dd7819d5499e" /><Relationship Type="http://schemas.openxmlformats.org/officeDocument/2006/relationships/notesSlide" Target="/ppt/notesSlides/notesSlide30.xml" Id="R4ef0e9a62314423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499de326979492b" /><Relationship Type="http://schemas.openxmlformats.org/officeDocument/2006/relationships/notesSlide" Target="/ppt/notesSlides/notesSlide31.xml" Id="R40d15394560b47b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5053e2278ee4fde" /><Relationship Type="http://schemas.openxmlformats.org/officeDocument/2006/relationships/notesSlide" Target="/ppt/notesSlides/notesSlide32.xml" Id="Ra8c04b27c405411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887c890d5bf44c7" /><Relationship Type="http://schemas.openxmlformats.org/officeDocument/2006/relationships/notesSlide" Target="/ppt/notesSlides/notesSlide33.xml" Id="Re0b027ff61804c4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5e87db863204b5c" /><Relationship Type="http://schemas.openxmlformats.org/officeDocument/2006/relationships/notesSlide" Target="/ppt/notesSlides/notesSlide34.xml" Id="R4a546b1516884fb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18ab3e5192a4319" /><Relationship Type="http://schemas.openxmlformats.org/officeDocument/2006/relationships/notesSlide" Target="/ppt/notesSlides/notesSlide35.xml" Id="R91f49373773b4b8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1ce8fe4cbdd4186" /><Relationship Type="http://schemas.openxmlformats.org/officeDocument/2006/relationships/notesSlide" Target="/ppt/notesSlides/notesSlide36.xml" Id="R2ec38f221dff402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8f138fd48d24003" /><Relationship Type="http://schemas.openxmlformats.org/officeDocument/2006/relationships/notesSlide" Target="/ppt/notesSlides/notesSlide37.xml" Id="R540afdfc63d545b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9e636c3af5a4189" /><Relationship Type="http://schemas.openxmlformats.org/officeDocument/2006/relationships/notesSlide" Target="/ppt/notesSlides/notesSlide38.xml" Id="R0ec1fff565a543e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64c4c1958a143cb" /><Relationship Type="http://schemas.openxmlformats.org/officeDocument/2006/relationships/notesSlide" Target="/ppt/notesSlides/notesSlide39.xml" Id="R29b4c04123d14f6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bb6ae75ae004d3b" /><Relationship Type="http://schemas.openxmlformats.org/officeDocument/2006/relationships/hyperlink" Target="https://analyticmadhyasthdarshan.org/Studies/Axiology-Value-Theory/Axiology-Value-Theory.html" TargetMode="External" Id="R7541f99a78ed4f3e" /><Relationship Type="http://schemas.openxmlformats.org/officeDocument/2006/relationships/notesSlide" Target="/ppt/notesSlides/notesSlide40.xml" Id="Rc5dea3dd9ece4b6f"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31a7f1cc90a45f4"/>
          <a:srcRect xmlns:a="http://schemas.openxmlformats.org/drawingml/2006/main" l="0" t="27" r="0" b="27"/>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5E0912C4-03B9-4CE8-8825-F69B6CB236DA}"/>
              </a:ext>
            </a:extLst>
          </p:cNvPr>
          <p:cNvSpPr>
            <a:spLocks xmlns:a="http://schemas.openxmlformats.org/drawingml/2006/main" noGrp="1"/>
          </p:cNvSpPr>
          <p:nvPr/>
        </p:nvSpPr>
        <p:spPr>
          <a:xfrm xmlns:a="http://schemas.openxmlformats.org/drawingml/2006/main">
            <a:off x="640080" y="11144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1">
                <a:solidFill>
                  <a:srgbClr val="C9821E"/>
                </a:solidFill>
                <a:latin typeface="Calibri"/>
                <a:ea typeface="Calibri"/>
                <a:cs typeface="Calibri"/>
              </a:defRPr>
            </a:pPr>
            <a:r>
              <a:rPr sz="1200" b="1">
                <a:solidFill>
                  <a:srgbClr val="C9821E"/>
                </a:solidFill>
                <a:latin typeface="Calibri"/>
                <a:ea typeface="Calibri"/>
                <a:cs typeface="Calibri"/>
              </a:rPr>
              <a:t>START HERE   4. VALUE</a:t>
            </a:r>
          </a:p>
        </p:txBody>
      </p:sp>
      <p:sp>
        <p:nvSpPr>
          <p:cNvPr id="3" name="text-1">
            <a:extLst xmlns:a="http://schemas.openxmlformats.org/drawingml/2006/main">
              <a:ext uri="{FF2B5EF4-FFF2-40B4-BE49-F238E27FC236}">
                <a16:creationId xmlns:a16="http://schemas.microsoft.com/office/drawing/2014/main" id="{EF45389D-4DE1-45F0-9C5A-6D1F290E2CCD}"/>
              </a:ext>
            </a:extLst>
          </p:cNvPr>
          <p:cNvSpPr>
            <a:spLocks xmlns:a="http://schemas.openxmlformats.org/drawingml/2006/main" noGrp="1"/>
          </p:cNvSpPr>
          <p:nvPr/>
        </p:nvSpPr>
        <p:spPr>
          <a:xfrm xmlns:a="http://schemas.openxmlformats.org/drawingml/2006/main">
            <a:off x="640080" y="1562100"/>
            <a:ext cx="5286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Axiology</a:t>
            </a:r>
          </a:p>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Value Theory</a:t>
            </a:r>
          </a:p>
        </p:txBody>
      </p:sp>
      <p:sp>
        <p:nvSpPr>
          <p:cNvPr id="4" name="text-2">
            <a:extLst xmlns:a="http://schemas.openxmlformats.org/drawingml/2006/main">
              <a:ext uri="{FF2B5EF4-FFF2-40B4-BE49-F238E27FC236}">
                <a16:creationId xmlns:a16="http://schemas.microsoft.com/office/drawing/2014/main" id="{0D94B9AF-6621-4B0F-B402-5298A078264B}"/>
              </a:ext>
            </a:extLst>
          </p:cNvPr>
          <p:cNvSpPr>
            <a:spLocks xmlns:a="http://schemas.openxmlformats.org/drawingml/2006/main" noGrp="1"/>
          </p:cNvSpPr>
          <p:nvPr/>
        </p:nvSpPr>
        <p:spPr>
          <a:xfrm xmlns:a="http://schemas.openxmlformats.org/drawingml/2006/main">
            <a:off x="640080" y="313372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00" b="0">
                <a:solidFill>
                  <a:srgbClr val="DCE3F3"/>
                </a:solidFill>
                <a:latin typeface="Calibri"/>
                <a:ea typeface="Calibri"/>
                <a:cs typeface="Calibri"/>
              </a:defRPr>
            </a:pPr>
            <a:r>
              <a:rPr sz="2000" b="0">
                <a:solidFill>
                  <a:srgbClr val="DCE3F3"/>
                </a:solidFill>
                <a:latin typeface="Calibri"/>
                <a:ea typeface="Calibri"/>
                <a:cs typeface="Calibri"/>
              </a:rPr>
              <a:t>Based on Madhyasth Darshan</a:t>
            </a:r>
          </a:p>
        </p:txBody>
      </p:sp>
      <p:sp>
        <p:nvSpPr>
          <p:cNvPr id="5" name="text-3">
            <a:extLst xmlns:a="http://schemas.openxmlformats.org/drawingml/2006/main">
              <a:ext uri="{FF2B5EF4-FFF2-40B4-BE49-F238E27FC236}">
                <a16:creationId xmlns:a16="http://schemas.microsoft.com/office/drawing/2014/main" id="{BB293BCE-74CC-4FDB-B565-F8B98B895B0A}"/>
              </a:ext>
            </a:extLst>
          </p:cNvPr>
          <p:cNvSpPr>
            <a:spLocks xmlns:a="http://schemas.openxmlformats.org/drawingml/2006/main" noGrp="1"/>
          </p:cNvSpPr>
          <p:nvPr/>
        </p:nvSpPr>
        <p:spPr>
          <a:xfrm xmlns:a="http://schemas.openxmlformats.org/drawingml/2006/main">
            <a:off x="640080" y="41624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0" b="0">
                <a:solidFill>
                  <a:srgbClr val="B4C1DF"/>
                </a:solidFill>
                <a:latin typeface="Calibri"/>
                <a:ea typeface="Calibri"/>
                <a:cs typeface="Calibri"/>
              </a:defRPr>
            </a:pPr>
            <a:r>
              <a:rPr sz="1150" b="0">
                <a:solidFill>
                  <a:srgbClr val="B4C1DF"/>
                </a:solidFill>
                <a:latin typeface="Calibri"/>
                <a:ea typeface="Calibri"/>
                <a:cs typeface="Calibri"/>
              </a:rPr>
              <a:t>Teaching series based on the studies</a:t>
            </a:r>
          </a:p>
        </p:txBody>
      </p:sp>
      <p:sp>
        <p:nvSpPr>
          <p:cNvPr id="6" name="text-4">
            <a:extLst xmlns:a="http://schemas.openxmlformats.org/drawingml/2006/main">
              <a:ext uri="{FF2B5EF4-FFF2-40B4-BE49-F238E27FC236}">
                <a16:creationId xmlns:a16="http://schemas.microsoft.com/office/drawing/2014/main" id="{3CF6FB87-FC58-499F-94B7-A7FF82176D27}"/>
              </a:ext>
            </a:extLst>
          </p:cNvPr>
          <p:cNvSpPr>
            <a:spLocks xmlns:a="http://schemas.openxmlformats.org/drawingml/2006/main" noGrp="1"/>
          </p:cNvSpPr>
          <p:nvPr/>
        </p:nvSpPr>
        <p:spPr>
          <a:xfrm xmlns:a="http://schemas.openxmlformats.org/drawingml/2006/main">
            <a:off x="640080" y="44386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0" b="0">
                <a:solidFill>
                  <a:srgbClr val="B4C1DF"/>
                </a:solidFill>
                <a:latin typeface="Calibri"/>
                <a:ea typeface="Calibri"/>
                <a:cs typeface="Calibri"/>
              </a:defRPr>
            </a:pPr>
            <a:r>
              <a:rPr sz="1150" b="0">
                <a:solidFill>
                  <a:srgbClr val="B4C1DF"/>
                </a:solidFill>
                <a:latin typeface="Calibri"/>
                <a:ea typeface="Calibri"/>
                <a:cs typeface="Calibri"/>
              </a:rPr>
              <a:t>AnalyticMadhyasthDarshan.org     1 / 40</a:t>
            </a:r>
          </a:p>
        </p:txBody>
      </p:sp>
    </p:spTree>
    <p:extLst>
      <p:ext uri="{BB962C8B-B14F-4D97-AF65-F5344CB8AC3E}">
        <p14:creationId xmlns:p14="http://schemas.microsoft.com/office/powerpoint/2010/main" val="863626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8CF6228-F671-4F8C-BE8B-C074034A1DD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START HERE · STAGE FOUR</a:t>
            </a:r>
          </a:p>
        </p:txBody>
      </p:sp>
      <p:sp>
        <p:nvSpPr>
          <p:cNvPr id="2" name="text-1">
            <a:extLst xmlns:a="http://schemas.openxmlformats.org/drawingml/2006/main">
              <a:ext uri="{FF2B5EF4-FFF2-40B4-BE49-F238E27FC236}">
                <a16:creationId xmlns:a16="http://schemas.microsoft.com/office/drawing/2014/main" id="{5D9B690A-FAD2-458B-AF65-B3AA3940482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place of value in the sequence</a:t>
            </a:r>
          </a:p>
        </p:txBody>
      </p:sp>
      <p:sp>
        <p:nvSpPr>
          <p:cNvPr id="3" name="text-2">
            <a:extLst xmlns:a="http://schemas.openxmlformats.org/drawingml/2006/main">
              <a:ext uri="{FF2B5EF4-FFF2-40B4-BE49-F238E27FC236}">
                <a16:creationId xmlns:a16="http://schemas.microsoft.com/office/drawing/2014/main" id="{1A983B1F-2631-4F1F-88CE-A0EC2ABCBE1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A6CABA-19F3-40BE-9161-7F841780BAF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 / 40</a:t>
            </a:r>
          </a:p>
        </p:txBody>
      </p:sp>
      <p:sp>
        <p:nvSpPr>
          <p:cNvPr id="5" name="text-4">
            <a:extLst xmlns:a="http://schemas.openxmlformats.org/drawingml/2006/main">
              <a:ext uri="{FF2B5EF4-FFF2-40B4-BE49-F238E27FC236}">
                <a16:creationId xmlns:a16="http://schemas.microsoft.com/office/drawing/2014/main" id="{3395F9F3-6542-46E5-A9B7-7550E48AFA49}"/>
              </a:ext>
            </a:extLst>
          </p:cNvPr>
          <p:cNvSpPr>
            <a:spLocks xmlns:a="http://schemas.openxmlformats.org/drawingml/2006/main" noGrp="1"/>
          </p:cNvSpPr>
          <p:nvPr/>
        </p:nvSpPr>
        <p:spPr>
          <a:xfrm xmlns:a="http://schemas.openxmlformats.org/drawingml/2006/main">
            <a:off x="962025" y="13144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1</a:t>
            </a:r>
          </a:p>
        </p:txBody>
      </p:sp>
      <p:sp>
        <p:nvSpPr>
          <p:cNvPr id="6" name="text-5">
            <a:extLst xmlns:a="http://schemas.openxmlformats.org/drawingml/2006/main">
              <a:ext uri="{FF2B5EF4-FFF2-40B4-BE49-F238E27FC236}">
                <a16:creationId xmlns:a16="http://schemas.microsoft.com/office/drawing/2014/main" id="{C21C49CB-807F-405E-A976-71940465A118}"/>
              </a:ext>
            </a:extLst>
          </p:cNvPr>
          <p:cNvSpPr>
            <a:spLocks xmlns:a="http://schemas.openxmlformats.org/drawingml/2006/main" noGrp="1"/>
          </p:cNvSpPr>
          <p:nvPr/>
        </p:nvSpPr>
        <p:spPr>
          <a:xfrm xmlns:a="http://schemas.openxmlformats.org/drawingml/2006/main">
            <a:off x="1533525" y="13144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Human</a:t>
            </a:r>
          </a:p>
        </p:txBody>
      </p:sp>
      <p:sp>
        <p:nvSpPr>
          <p:cNvPr id="7" name="text-6">
            <a:extLst xmlns:a="http://schemas.openxmlformats.org/drawingml/2006/main">
              <a:ext uri="{FF2B5EF4-FFF2-40B4-BE49-F238E27FC236}">
                <a16:creationId xmlns:a16="http://schemas.microsoft.com/office/drawing/2014/main" id="{B63ADDE5-683A-4A79-8479-B047991BEB39}"/>
              </a:ext>
            </a:extLst>
          </p:cNvPr>
          <p:cNvSpPr>
            <a:spLocks xmlns:a="http://schemas.openxmlformats.org/drawingml/2006/main" noGrp="1"/>
          </p:cNvSpPr>
          <p:nvPr/>
        </p:nvSpPr>
        <p:spPr>
          <a:xfrm xmlns:a="http://schemas.openxmlformats.org/drawingml/2006/main">
            <a:off x="3476625" y="13335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Who understands and seeks happiness?</a:t>
            </a:r>
          </a:p>
        </p:txBody>
      </p:sp>
      <p:sp>
        <p:nvSpPr>
          <p:cNvPr id="8" name="text-7">
            <a:extLst xmlns:a="http://schemas.openxmlformats.org/drawingml/2006/main">
              <a:ext uri="{FF2B5EF4-FFF2-40B4-BE49-F238E27FC236}">
                <a16:creationId xmlns:a16="http://schemas.microsoft.com/office/drawing/2014/main" id="{F712029D-626A-447B-A7A9-C97B62FF83BF}"/>
              </a:ext>
            </a:extLst>
          </p:cNvPr>
          <p:cNvSpPr>
            <a:spLocks xmlns:a="http://schemas.openxmlformats.org/drawingml/2006/main" noGrp="1"/>
          </p:cNvSpPr>
          <p:nvPr/>
        </p:nvSpPr>
        <p:spPr>
          <a:xfrm xmlns:a="http://schemas.openxmlformats.org/drawingml/2006/main">
            <a:off x="962025" y="189547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2</a:t>
            </a:r>
          </a:p>
        </p:txBody>
      </p:sp>
      <p:sp>
        <p:nvSpPr>
          <p:cNvPr id="9" name="text-8">
            <a:extLst xmlns:a="http://schemas.openxmlformats.org/drawingml/2006/main">
              <a:ext uri="{FF2B5EF4-FFF2-40B4-BE49-F238E27FC236}">
                <a16:creationId xmlns:a16="http://schemas.microsoft.com/office/drawing/2014/main" id="{96BE9824-7768-47CB-B790-1CAA4FFADA1E}"/>
              </a:ext>
            </a:extLst>
          </p:cNvPr>
          <p:cNvSpPr>
            <a:spLocks xmlns:a="http://schemas.openxmlformats.org/drawingml/2006/main" noGrp="1"/>
          </p:cNvSpPr>
          <p:nvPr/>
        </p:nvSpPr>
        <p:spPr>
          <a:xfrm xmlns:a="http://schemas.openxmlformats.org/drawingml/2006/main">
            <a:off x="1533525" y="189547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Existence</a:t>
            </a:r>
          </a:p>
        </p:txBody>
      </p:sp>
      <p:sp>
        <p:nvSpPr>
          <p:cNvPr id="10" name="text-9">
            <a:extLst xmlns:a="http://schemas.openxmlformats.org/drawingml/2006/main">
              <a:ext uri="{FF2B5EF4-FFF2-40B4-BE49-F238E27FC236}">
                <a16:creationId xmlns:a16="http://schemas.microsoft.com/office/drawing/2014/main" id="{26735EF0-D8A0-463D-8154-81C27CDE6534}"/>
              </a:ext>
            </a:extLst>
          </p:cNvPr>
          <p:cNvSpPr>
            <a:spLocks xmlns:a="http://schemas.openxmlformats.org/drawingml/2006/main" noGrp="1"/>
          </p:cNvSpPr>
          <p:nvPr/>
        </p:nvSpPr>
        <p:spPr>
          <a:xfrm xmlns:a="http://schemas.openxmlformats.org/drawingml/2006/main">
            <a:off x="3476625" y="191452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is there, and how does it participate?</a:t>
            </a:r>
          </a:p>
        </p:txBody>
      </p:sp>
      <p:sp>
        <p:nvSpPr>
          <p:cNvPr id="11" name="text-10">
            <a:extLst xmlns:a="http://schemas.openxmlformats.org/drawingml/2006/main">
              <a:ext uri="{FF2B5EF4-FFF2-40B4-BE49-F238E27FC236}">
                <a16:creationId xmlns:a16="http://schemas.microsoft.com/office/drawing/2014/main" id="{D8E6760D-B4D2-4BFF-B833-9DC80289BFC0}"/>
              </a:ext>
            </a:extLst>
          </p:cNvPr>
          <p:cNvSpPr>
            <a:spLocks xmlns:a="http://schemas.openxmlformats.org/drawingml/2006/main" noGrp="1"/>
          </p:cNvSpPr>
          <p:nvPr/>
        </p:nvSpPr>
        <p:spPr>
          <a:xfrm xmlns:a="http://schemas.openxmlformats.org/drawingml/2006/main">
            <a:off x="962025" y="247650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3</a:t>
            </a:r>
          </a:p>
        </p:txBody>
      </p:sp>
      <p:sp>
        <p:nvSpPr>
          <p:cNvPr id="12" name="text-11">
            <a:extLst xmlns:a="http://schemas.openxmlformats.org/drawingml/2006/main">
              <a:ext uri="{FF2B5EF4-FFF2-40B4-BE49-F238E27FC236}">
                <a16:creationId xmlns:a16="http://schemas.microsoft.com/office/drawing/2014/main" id="{C0F91A9D-31B1-437F-95D3-BEFB7C2B44D5}"/>
              </a:ext>
            </a:extLst>
          </p:cNvPr>
          <p:cNvSpPr>
            <a:spLocks xmlns:a="http://schemas.openxmlformats.org/drawingml/2006/main" noGrp="1"/>
          </p:cNvSpPr>
          <p:nvPr/>
        </p:nvSpPr>
        <p:spPr>
          <a:xfrm xmlns:a="http://schemas.openxmlformats.org/drawingml/2006/main">
            <a:off x="1533525" y="247650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Knowledge</a:t>
            </a:r>
          </a:p>
        </p:txBody>
      </p:sp>
      <p:sp>
        <p:nvSpPr>
          <p:cNvPr id="13" name="text-12">
            <a:extLst xmlns:a="http://schemas.openxmlformats.org/drawingml/2006/main">
              <a:ext uri="{FF2B5EF4-FFF2-40B4-BE49-F238E27FC236}">
                <a16:creationId xmlns:a16="http://schemas.microsoft.com/office/drawing/2014/main" id="{E0B9E467-9FD3-48A8-AB60-FA5D39A6AB62}"/>
              </a:ext>
            </a:extLst>
          </p:cNvPr>
          <p:cNvSpPr>
            <a:spLocks xmlns:a="http://schemas.openxmlformats.org/drawingml/2006/main" noGrp="1"/>
          </p:cNvSpPr>
          <p:nvPr/>
        </p:nvSpPr>
        <p:spPr>
          <a:xfrm xmlns:a="http://schemas.openxmlformats.org/drawingml/2006/main">
            <a:off x="3476625" y="249555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How does understanding become evidence?</a:t>
            </a:r>
          </a:p>
        </p:txBody>
      </p:sp>
      <p:sp>
        <p:nvSpPr>
          <p:cNvPr id="14" name="text-13">
            <a:extLst xmlns:a="http://schemas.openxmlformats.org/drawingml/2006/main">
              <a:ext uri="{FF2B5EF4-FFF2-40B4-BE49-F238E27FC236}">
                <a16:creationId xmlns:a16="http://schemas.microsoft.com/office/drawing/2014/main" id="{E2E5FE78-307B-4908-855A-4C53286E7CA4}"/>
              </a:ext>
            </a:extLst>
          </p:cNvPr>
          <p:cNvSpPr>
            <a:spLocks xmlns:a="http://schemas.openxmlformats.org/drawingml/2006/main" noGrp="1"/>
          </p:cNvSpPr>
          <p:nvPr/>
        </p:nvSpPr>
        <p:spPr>
          <a:xfrm xmlns:a="http://schemas.openxmlformats.org/drawingml/2006/main">
            <a:off x="962025" y="305752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mbria"/>
                <a:ea typeface="Cambria"/>
                <a:cs typeface="Cambria"/>
              </a:defRPr>
            </a:pPr>
            <a:r>
              <a:rPr sz="2100" b="1">
                <a:solidFill>
                  <a:srgbClr val="9A6414"/>
                </a:solidFill>
                <a:latin typeface="Cambria"/>
                <a:ea typeface="Cambria"/>
                <a:cs typeface="Cambria"/>
              </a:rPr>
              <a:t>4</a:t>
            </a:r>
          </a:p>
        </p:txBody>
      </p:sp>
      <p:sp>
        <p:nvSpPr>
          <p:cNvPr id="15" name="text-14">
            <a:extLst xmlns:a="http://schemas.openxmlformats.org/drawingml/2006/main">
              <a:ext uri="{FF2B5EF4-FFF2-40B4-BE49-F238E27FC236}">
                <a16:creationId xmlns:a16="http://schemas.microsoft.com/office/drawing/2014/main" id="{F358759F-855A-4947-B5C8-61A0158F62EA}"/>
              </a:ext>
            </a:extLst>
          </p:cNvPr>
          <p:cNvSpPr>
            <a:spLocks xmlns:a="http://schemas.openxmlformats.org/drawingml/2006/main" noGrp="1"/>
          </p:cNvSpPr>
          <p:nvPr/>
        </p:nvSpPr>
        <p:spPr>
          <a:xfrm xmlns:a="http://schemas.openxmlformats.org/drawingml/2006/main">
            <a:off x="1533525" y="305752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9A6414"/>
                </a:solidFill>
                <a:latin typeface="Calibri"/>
                <a:ea typeface="Calibri"/>
                <a:cs typeface="Calibri"/>
              </a:defRPr>
            </a:pPr>
            <a:r>
              <a:rPr sz="2025" b="1">
                <a:solidFill>
                  <a:srgbClr val="9A6414"/>
                </a:solidFill>
                <a:latin typeface="Calibri"/>
                <a:ea typeface="Calibri"/>
                <a:cs typeface="Calibri"/>
              </a:rPr>
              <a:t>Value</a:t>
            </a:r>
          </a:p>
        </p:txBody>
      </p:sp>
      <p:sp>
        <p:nvSpPr>
          <p:cNvPr id="16" name="text-15">
            <a:extLst xmlns:a="http://schemas.openxmlformats.org/drawingml/2006/main">
              <a:ext uri="{FF2B5EF4-FFF2-40B4-BE49-F238E27FC236}">
                <a16:creationId xmlns:a16="http://schemas.microsoft.com/office/drawing/2014/main" id="{0C8EE52E-A6A9-47D2-BADA-1EEEF0256910}"/>
              </a:ext>
            </a:extLst>
          </p:cNvPr>
          <p:cNvSpPr>
            <a:spLocks xmlns:a="http://schemas.openxmlformats.org/drawingml/2006/main" noGrp="1"/>
          </p:cNvSpPr>
          <p:nvPr/>
        </p:nvSpPr>
        <p:spPr>
          <a:xfrm xmlns:a="http://schemas.openxmlformats.org/drawingml/2006/main">
            <a:off x="3476625" y="30765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9A6414"/>
                </a:solidFill>
                <a:latin typeface="Calibri"/>
                <a:ea typeface="Calibri"/>
                <a:cs typeface="Calibri"/>
              </a:defRPr>
            </a:pPr>
            <a:r>
              <a:rPr sz="1800" b="1">
                <a:solidFill>
                  <a:srgbClr val="9A6414"/>
                </a:solidFill>
                <a:latin typeface="Calibri"/>
                <a:ea typeface="Calibri"/>
                <a:cs typeface="Calibri"/>
              </a:rPr>
              <a:t>What makes evaluation correct?</a:t>
            </a:r>
          </a:p>
        </p:txBody>
      </p:sp>
      <p:sp>
        <p:nvSpPr>
          <p:cNvPr id="17" name="text-16">
            <a:extLst xmlns:a="http://schemas.openxmlformats.org/drawingml/2006/main">
              <a:ext uri="{FF2B5EF4-FFF2-40B4-BE49-F238E27FC236}">
                <a16:creationId xmlns:a16="http://schemas.microsoft.com/office/drawing/2014/main" id="{4C233476-AC3F-448E-A904-4797225D3399}"/>
              </a:ext>
            </a:extLst>
          </p:cNvPr>
          <p:cNvSpPr>
            <a:spLocks xmlns:a="http://schemas.openxmlformats.org/drawingml/2006/main" noGrp="1"/>
          </p:cNvSpPr>
          <p:nvPr/>
        </p:nvSpPr>
        <p:spPr>
          <a:xfrm xmlns:a="http://schemas.openxmlformats.org/drawingml/2006/main">
            <a:off x="962025" y="36385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5</a:t>
            </a:r>
          </a:p>
        </p:txBody>
      </p:sp>
      <p:sp>
        <p:nvSpPr>
          <p:cNvPr id="18" name="text-17">
            <a:extLst xmlns:a="http://schemas.openxmlformats.org/drawingml/2006/main">
              <a:ext uri="{FF2B5EF4-FFF2-40B4-BE49-F238E27FC236}">
                <a16:creationId xmlns:a16="http://schemas.microsoft.com/office/drawing/2014/main" id="{C01F2C6E-C44F-41C3-88F1-EDC49B483C02}"/>
              </a:ext>
            </a:extLst>
          </p:cNvPr>
          <p:cNvSpPr>
            <a:spLocks xmlns:a="http://schemas.openxmlformats.org/drawingml/2006/main" noGrp="1"/>
          </p:cNvSpPr>
          <p:nvPr/>
        </p:nvSpPr>
        <p:spPr>
          <a:xfrm xmlns:a="http://schemas.openxmlformats.org/drawingml/2006/main">
            <a:off x="1533525" y="36385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Living</a:t>
            </a:r>
          </a:p>
        </p:txBody>
      </p:sp>
      <p:sp>
        <p:nvSpPr>
          <p:cNvPr id="19" name="text-18">
            <a:extLst xmlns:a="http://schemas.openxmlformats.org/drawingml/2006/main">
              <a:ext uri="{FF2B5EF4-FFF2-40B4-BE49-F238E27FC236}">
                <a16:creationId xmlns:a16="http://schemas.microsoft.com/office/drawing/2014/main" id="{8985DAF0-2349-4018-A7FC-497DC4DC1313}"/>
              </a:ext>
            </a:extLst>
          </p:cNvPr>
          <p:cNvSpPr>
            <a:spLocks xmlns:a="http://schemas.openxmlformats.org/drawingml/2006/main" noGrp="1"/>
          </p:cNvSpPr>
          <p:nvPr/>
        </p:nvSpPr>
        <p:spPr>
          <a:xfrm xmlns:a="http://schemas.openxmlformats.org/drawingml/2006/main">
            <a:off x="3476625" y="36576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How do values become a shared way of life?</a:t>
            </a:r>
          </a:p>
        </p:txBody>
      </p:sp>
    </p:spTree>
    <p:extLst>
      <p:ext uri="{BB962C8B-B14F-4D97-AF65-F5344CB8AC3E}">
        <p14:creationId xmlns:p14="http://schemas.microsoft.com/office/powerpoint/2010/main" val="16372433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6BF2C75-452A-4E19-BA68-604F7C99885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OPENING CASE</a:t>
            </a:r>
          </a:p>
        </p:txBody>
      </p:sp>
      <p:sp>
        <p:nvSpPr>
          <p:cNvPr id="2" name="text-1">
            <a:extLst xmlns:a="http://schemas.openxmlformats.org/drawingml/2006/main">
              <a:ext uri="{FF2B5EF4-FFF2-40B4-BE49-F238E27FC236}">
                <a16:creationId xmlns:a16="http://schemas.microsoft.com/office/drawing/2014/main" id="{B247C04C-0ADA-4B36-A867-E19A93134A8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A shared meal</a:t>
            </a:r>
          </a:p>
        </p:txBody>
      </p:sp>
      <p:sp>
        <p:nvSpPr>
          <p:cNvPr id="3" name="text-2">
            <a:extLst xmlns:a="http://schemas.openxmlformats.org/drawingml/2006/main">
              <a:ext uri="{FF2B5EF4-FFF2-40B4-BE49-F238E27FC236}">
                <a16:creationId xmlns:a16="http://schemas.microsoft.com/office/drawing/2014/main" id="{457476D4-5B5B-4E59-A0F4-83C3F299097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6FD994E2-1202-4EFB-97FF-B705C328541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 / 40</a:t>
            </a:r>
          </a:p>
        </p:txBody>
      </p:sp>
      <p:sp>
        <p:nvSpPr>
          <p:cNvPr id="5" name="text-4">
            <a:extLst xmlns:a="http://schemas.openxmlformats.org/drawingml/2006/main">
              <a:ext uri="{FF2B5EF4-FFF2-40B4-BE49-F238E27FC236}">
                <a16:creationId xmlns:a16="http://schemas.microsoft.com/office/drawing/2014/main" id="{322AA0C5-FB53-4FE2-ADEA-FF4D99D9C6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Keep the case in view as the account develops.</a:t>
            </a:r>
          </a:p>
        </p:txBody>
      </p:sp>
      <p:sp>
        <p:nvSpPr>
          <p:cNvPr id="6" name="text-5">
            <a:extLst xmlns:a="http://schemas.openxmlformats.org/drawingml/2006/main">
              <a:ext uri="{FF2B5EF4-FFF2-40B4-BE49-F238E27FC236}">
                <a16:creationId xmlns:a16="http://schemas.microsoft.com/office/drawing/2014/main" id="{DC439AA1-6202-485F-8FF6-0393E834C286}"/>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There is enough food. One person goes hungry.</a:t>
            </a:r>
          </a:p>
        </p:txBody>
      </p:sp>
      <p:sp>
        <p:nvSpPr>
          <p:cNvPr id="7" name="text-6">
            <a:extLst xmlns:a="http://schemas.openxmlformats.org/drawingml/2006/main">
              <a:ext uri="{FF2B5EF4-FFF2-40B4-BE49-F238E27FC236}">
                <a16:creationId xmlns:a16="http://schemas.microsoft.com/office/drawing/2014/main" id="{44C8F4BB-D646-4BB1-B36B-FB92E0455116}"/>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A host follows a familiar routine and overlooks a guest’s need.</a:t>
            </a:r>
          </a:p>
        </p:txBody>
      </p:sp>
      <p:sp>
        <p:nvSpPr>
          <p:cNvPr id="8" name="text-7">
            <a:extLst xmlns:a="http://schemas.openxmlformats.org/drawingml/2006/main">
              <a:ext uri="{FF2B5EF4-FFF2-40B4-BE49-F238E27FC236}">
                <a16:creationId xmlns:a16="http://schemas.microsoft.com/office/drawing/2014/main" id="{0788661C-7C4E-44BA-99C9-BBB101D8871F}"/>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Where does the failure lie?</a:t>
            </a:r>
          </a:p>
        </p:txBody>
      </p:sp>
    </p:spTree>
    <p:extLst>
      <p:ext uri="{BB962C8B-B14F-4D97-AF65-F5344CB8AC3E}">
        <p14:creationId xmlns:p14="http://schemas.microsoft.com/office/powerpoint/2010/main" val="8582665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MINIMUM BACKGROUND</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terms in Madhyasth Darshan</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 / 40</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the philosophy’s starting claims for inquiry.</a:t>
            </a:r>
          </a:p>
        </p:txBody>
      </p:sp>
      <p:sp>
        <p:nvSpPr>
          <p:cNvPr id="6" name="text-5">
            <a:extLst xmlns:a="http://schemas.openxmlformats.org/drawingml/2006/main">
              <a:ext uri="{FF2B5EF4-FFF2-40B4-BE49-F238E27FC236}">
                <a16:creationId xmlns:a16="http://schemas.microsoft.com/office/drawing/2014/main" id="{BABAAFA6-CDF2-4911-AED4-35296AB70780}"/>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Coexistence</a:t>
            </a:r>
          </a:p>
        </p:txBody>
      </p:sp>
      <p:sp>
        <p:nvSpPr>
          <p:cNvPr id="7" name="text-6">
            <a:extLst xmlns:a="http://schemas.openxmlformats.org/drawingml/2006/main">
              <a:ext uri="{FF2B5EF4-FFF2-40B4-BE49-F238E27FC236}">
                <a16:creationId xmlns:a16="http://schemas.microsoft.com/office/drawing/2014/main" id="{476211D1-C422-4B8F-99BE-9BC8B3B314B8}"/>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Units exist and participate in relationship.</a:t>
            </a:r>
          </a:p>
        </p:txBody>
      </p:sp>
      <p:sp>
        <p:nvSpPr>
          <p:cNvPr id="8" name="text-7">
            <a:extLst xmlns:a="http://schemas.openxmlformats.org/drawingml/2006/main">
              <a:ext uri="{FF2B5EF4-FFF2-40B4-BE49-F238E27FC236}">
                <a16:creationId xmlns:a16="http://schemas.microsoft.com/office/drawing/2014/main" id="{683DA100-15AC-410C-AC0A-27B30E8B5219}"/>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Jeevan</a:t>
            </a:r>
          </a:p>
        </p:txBody>
      </p:sp>
      <p:sp>
        <p:nvSpPr>
          <p:cNvPr id="9" name="text-8">
            <a:extLst xmlns:a="http://schemas.openxmlformats.org/drawingml/2006/main">
              <a:ext uri="{FF2B5EF4-FFF2-40B4-BE49-F238E27FC236}">
                <a16:creationId xmlns:a16="http://schemas.microsoft.com/office/drawing/2014/main" id="{876484A7-D414-4E7B-8B38-58A29AC71E41}"/>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conscious unit that knows, evaluates, and fulfils.</a:t>
            </a:r>
          </a:p>
        </p:txBody>
      </p:sp>
      <p:sp>
        <p:nvSpPr>
          <p:cNvPr id="10" name="text-9">
            <a:extLst xmlns:a="http://schemas.openxmlformats.org/drawingml/2006/main">
              <a:ext uri="{FF2B5EF4-FFF2-40B4-BE49-F238E27FC236}">
                <a16:creationId xmlns:a16="http://schemas.microsoft.com/office/drawing/2014/main" id="{449AFAB2-E6C7-4D89-A87C-6A20671D0FD4}"/>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Mulya, or value</a:t>
            </a:r>
          </a:p>
        </p:txBody>
      </p:sp>
      <p:sp>
        <p:nvSpPr>
          <p:cNvPr id="11" name="text-10">
            <a:extLst xmlns:a="http://schemas.openxmlformats.org/drawingml/2006/main">
              <a:ext uri="{FF2B5EF4-FFF2-40B4-BE49-F238E27FC236}">
                <a16:creationId xmlns:a16="http://schemas.microsoft.com/office/drawing/2014/main" id="{4CB38532-25CA-4C9B-8FA0-668E3BC368F0}"/>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 unit’s essentiality in coexistence.</a:t>
            </a:r>
          </a:p>
        </p:txBody>
      </p:sp>
    </p:spTree>
    <p:extLst>
      <p:ext uri="{BB962C8B-B14F-4D97-AF65-F5344CB8AC3E}">
        <p14:creationId xmlns:p14="http://schemas.microsoft.com/office/powerpoint/2010/main" val="10289783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DCF34A1-AA22-4917-A196-D0D177A9068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WHAT VALUE MEANS</a:t>
            </a:r>
          </a:p>
        </p:txBody>
      </p:sp>
      <p:sp>
        <p:nvSpPr>
          <p:cNvPr id="2" name="text-1">
            <a:extLst xmlns:a="http://schemas.openxmlformats.org/drawingml/2006/main">
              <a:ext uri="{FF2B5EF4-FFF2-40B4-BE49-F238E27FC236}">
                <a16:creationId xmlns:a16="http://schemas.microsoft.com/office/drawing/2014/main" id="{6C2BB3C4-A5CB-4005-A20D-B147EB7F726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qualitative meaning of value</a:t>
            </a:r>
          </a:p>
        </p:txBody>
      </p:sp>
      <p:sp>
        <p:nvSpPr>
          <p:cNvPr id="3" name="text-2">
            <a:extLst xmlns:a="http://schemas.openxmlformats.org/drawingml/2006/main">
              <a:ext uri="{FF2B5EF4-FFF2-40B4-BE49-F238E27FC236}">
                <a16:creationId xmlns:a16="http://schemas.microsoft.com/office/drawing/2014/main" id="{9FA66073-C641-48E3-91C0-C6D842E75B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537B8A-D693-42E3-80D4-6A55CA7F364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5 / 40</a:t>
            </a:r>
          </a:p>
        </p:txBody>
      </p:sp>
      <p:sp>
        <p:nvSpPr>
          <p:cNvPr id="5" name="text-4">
            <a:extLst xmlns:a="http://schemas.openxmlformats.org/drawingml/2006/main">
              <a:ext uri="{FF2B5EF4-FFF2-40B4-BE49-F238E27FC236}">
                <a16:creationId xmlns:a16="http://schemas.microsoft.com/office/drawing/2014/main" id="{BB8B35C0-60E3-457A-859C-24D02C8877C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Recognition can be correct or mistaken. Approval does not create value.</a:t>
            </a:r>
          </a:p>
        </p:txBody>
      </p:sp>
      <p:sp>
        <p:nvSpPr>
          <p:cNvPr id="6" name="text-5">
            <a:extLst xmlns:a="http://schemas.openxmlformats.org/drawingml/2006/main">
              <a:ext uri="{FF2B5EF4-FFF2-40B4-BE49-F238E27FC236}">
                <a16:creationId xmlns:a16="http://schemas.microsoft.com/office/drawing/2014/main" id="{85550140-07C0-4B08-8F39-1F850B10D2DF}"/>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1E2447"/>
                </a:solidFill>
                <a:latin typeface="Cambria"/>
                <a:ea typeface="Cambria"/>
                <a:cs typeface="Cambria"/>
              </a:defRPr>
            </a:pPr>
            <a:r>
              <a:rPr sz="2325" b="0">
                <a:solidFill>
                  <a:srgbClr val="1E2447"/>
                </a:solidFill>
                <a:latin typeface="Cambria"/>
                <a:ea typeface="Cambria"/>
                <a:cs typeface="Cambria"/>
              </a:rPr>
              <a:t>Value belongs to what a unit is and how it participates in coexistence.</a:t>
            </a:r>
          </a:p>
        </p:txBody>
      </p:sp>
      <p:sp>
        <p:nvSpPr>
          <p:cNvPr id="7" name="text-6">
            <a:extLst xmlns:a="http://schemas.openxmlformats.org/drawingml/2006/main">
              <a:ext uri="{FF2B5EF4-FFF2-40B4-BE49-F238E27FC236}">
                <a16:creationId xmlns:a16="http://schemas.microsoft.com/office/drawing/2014/main" id="{42511E9F-5B4B-4AA1-AB02-69B8C2993BD9}"/>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Essential nature</a:t>
            </a:r>
          </a:p>
        </p:txBody>
      </p:sp>
      <p:sp>
        <p:nvSpPr>
          <p:cNvPr id="8" name="text-7">
            <a:extLst xmlns:a="http://schemas.openxmlformats.org/drawingml/2006/main">
              <a:ext uri="{FF2B5EF4-FFF2-40B4-BE49-F238E27FC236}">
                <a16:creationId xmlns:a16="http://schemas.microsoft.com/office/drawing/2014/main" id="{A0C401D1-AB89-43C4-9D90-83BF8E8A950D}"/>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its activity contributes in relationship.</a:t>
            </a:r>
          </a:p>
        </p:txBody>
      </p:sp>
      <p:sp>
        <p:nvSpPr>
          <p:cNvPr id="9" name="text-8">
            <a:extLst xmlns:a="http://schemas.openxmlformats.org/drawingml/2006/main">
              <a:ext uri="{FF2B5EF4-FFF2-40B4-BE49-F238E27FC236}">
                <a16:creationId xmlns:a16="http://schemas.microsoft.com/office/drawing/2014/main" id="{7D8BD532-A076-4554-B5CA-BCA34DD37FE5}"/>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Dharma</a:t>
            </a:r>
          </a:p>
        </p:txBody>
      </p:sp>
      <p:sp>
        <p:nvSpPr>
          <p:cNvPr id="10" name="text-9">
            <a:extLst xmlns:a="http://schemas.openxmlformats.org/drawingml/2006/main">
              <a:ext uri="{FF2B5EF4-FFF2-40B4-BE49-F238E27FC236}">
                <a16:creationId xmlns:a16="http://schemas.microsoft.com/office/drawing/2014/main" id="{87472478-B367-49AE-B244-D4027D93B349}"/>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Its inseparable identity or purpose in its order.</a:t>
            </a:r>
          </a:p>
        </p:txBody>
      </p:sp>
    </p:spTree>
    <p:extLst>
      <p:ext uri="{BB962C8B-B14F-4D97-AF65-F5344CB8AC3E}">
        <p14:creationId xmlns:p14="http://schemas.microsoft.com/office/powerpoint/2010/main" val="21058554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ACROSS EXISTENCE</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Human responsibility within nature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6 / 40</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Human development carries a responsibility towards coexistence.</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All four orders have value</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Material, pranic, animal, and knowledge orders participate.</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Humans can understand and misrecognise</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Evaluation concerns form, properties, essential nature, and dharma.</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Responsibility follows this capacity</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Human participation should nurture the other orders.</a:t>
            </a:r>
          </a:p>
        </p:txBody>
      </p:sp>
    </p:spTree>
    <p:extLst>
      <p:ext uri="{BB962C8B-B14F-4D97-AF65-F5344CB8AC3E}">
        <p14:creationId xmlns:p14="http://schemas.microsoft.com/office/powerpoint/2010/main" val="18672628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IN JEEVAN</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State and motion are active</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7 / 40</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State and motion are inseparable aspects of activity.</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State: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Motion: gati</a:t>
                      </a:r>
                    </a:p>
                  </a:txBody>
                  <a:tcPr marL="91440" marR="91440" marT="45720" marB="45720" anchor="ctr">
                    <a:solidFill>
                      <a:srgbClr val="1E2447"/>
                    </a:solidFill>
                  </a:tcPr>
                </a:tc>
              </a:tr>
              <a:tr h="787400">
                <a:tc>
                  <a:txBody>
                    <a:bodyPr lIns="123825" tIns="57150" rIns="95250" bIns="57150">
                      <a:noAutofit/>
                    </a:bodyPr>
                    <a:lstStyle/>
                    <a:p>
                      <a:r>
                        <a:rPr sz="1800" b="0">
                          <a:solidFill>
                            <a:srgbClr val="303853"/>
                          </a:solidFill>
                          <a:latin typeface="Calibri"/>
                          <a:ea typeface="Calibri"/>
                          <a:cs typeface="Calibri"/>
                        </a:rPr>
                        <a:t>Strength: bal</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Power: shakti</a:t>
                      </a:r>
                    </a:p>
                  </a:txBody>
                  <a:tcPr marL="91440" marR="91440" marT="45720" marB="45720" anchor="ctr">
                    <a:solidFill>
                      <a:srgbClr val="FFFFFF"/>
                    </a:solidFill>
                  </a:tcPr>
                </a:tc>
              </a:tr>
              <a:tr h="787400">
                <a:tc>
                  <a:txBody>
                    <a:bodyPr lIns="123825" tIns="57150" rIns="95250" bIns="57150">
                      <a:noAutofit/>
                    </a:bodyPr>
                    <a:lstStyle/>
                    <a:p>
                      <a:r>
                        <a:rPr sz="1800" b="0">
                          <a:solidFill>
                            <a:srgbClr val="303853"/>
                          </a:solidFill>
                          <a:latin typeface="Calibri"/>
                          <a:ea typeface="Calibri"/>
                          <a:cs typeface="Calibri"/>
                        </a:rPr>
                        <a:t>The established side of activity</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Its corresponding expression</a:t>
                      </a:r>
                    </a:p>
                  </a:txBody>
                  <a:tcPr marL="91440" marR="91440" marT="45720" marB="45720" anchor="ctr">
                    <a:solidFill>
                      <a:srgbClr val="F1F3F8"/>
                    </a:solidFill>
                  </a:tcPr>
                </a:tc>
              </a:tr>
              <a:tr h="787400">
                <a:tc>
                  <a:txBody>
                    <a:bodyPr lIns="123825" tIns="57150" rIns="95250" bIns="57150">
                      <a:noAutofit/>
                    </a:bodyPr>
                    <a:lstStyle/>
                    <a:p>
                      <a:r>
                        <a:rPr sz="1800" b="0">
                          <a:solidFill>
                            <a:srgbClr val="303853"/>
                          </a:solidFill>
                          <a:latin typeface="Calibri"/>
                          <a:ea typeface="Calibri"/>
                          <a:cs typeface="Calibri"/>
                        </a:rPr>
                        <a:t>Understanding and capacity</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Evidence in thought, behaviour, and work</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WHOLE CONSCIOUS UNIT</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Five faculties in value understanding</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8 / 40</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Chitta is the faculty; chitran is its visualising activity.</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Faculty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State / corresponding expression</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Atma</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Realisation / evidence</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Buddhi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Understanding / resolve</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Chitta</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Contemplation / visualisation</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Vritti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Deliberation / analysis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Mun</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Tasting / selection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691A0230-9F7F-4D04-91C8-A4A9C3BDE14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ONE CORRESPONDING PAIR</a:t>
            </a:r>
          </a:p>
        </p:txBody>
      </p:sp>
      <p:sp>
        <p:nvSpPr>
          <p:cNvPr id="2" name="text-1">
            <a:extLst xmlns:a="http://schemas.openxmlformats.org/drawingml/2006/main">
              <a:ext uri="{FF2B5EF4-FFF2-40B4-BE49-F238E27FC236}">
                <a16:creationId xmlns:a16="http://schemas.microsoft.com/office/drawing/2014/main" id="{0C69D320-D8CF-44AE-8980-8972E5021AF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Care and generosity</a:t>
            </a:r>
          </a:p>
        </p:txBody>
      </p:sp>
      <p:sp>
        <p:nvSpPr>
          <p:cNvPr id="3" name="text-2">
            <a:extLst xmlns:a="http://schemas.openxmlformats.org/drawingml/2006/main">
              <a:ext uri="{FF2B5EF4-FFF2-40B4-BE49-F238E27FC236}">
                <a16:creationId xmlns:a16="http://schemas.microsoft.com/office/drawing/2014/main" id="{993FC410-75AB-4321-A8C2-1EF006D8C0F7}"/>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56E219-4AE2-41FA-B499-9371B8B4279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9 / 40</a:t>
            </a:r>
          </a:p>
        </p:txBody>
      </p:sp>
      <p:sp>
        <p:nvSpPr>
          <p:cNvPr id="5" name="text-4">
            <a:extLst xmlns:a="http://schemas.openxmlformats.org/drawingml/2006/main">
              <a:ext uri="{FF2B5EF4-FFF2-40B4-BE49-F238E27FC236}">
                <a16:creationId xmlns:a16="http://schemas.microsoft.com/office/drawing/2014/main" id="{D1C5AC0F-1B54-4B3F-AC30-DB22F33DDB5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One-to-one correspondence connects the established and expressed values.</a:t>
            </a:r>
          </a:p>
        </p:txBody>
      </p:sp>
      <p:sp>
        <p:nvSpPr>
          <p:cNvPr id="6" name="text-5">
            <a:extLst xmlns:a="http://schemas.openxmlformats.org/drawingml/2006/main">
              <a:ext uri="{FF2B5EF4-FFF2-40B4-BE49-F238E27FC236}">
                <a16:creationId xmlns:a16="http://schemas.microsoft.com/office/drawing/2014/main" id="{1C2A59FC-46B7-4AD1-A5CC-376F98652ED5}"/>
              </a:ext>
            </a:extLst>
          </p:cNvPr>
          <p:cNvSpPr>
            <a:spLocks xmlns:a="http://schemas.openxmlformats.org/drawingml/2006/main" noGrp="1"/>
          </p:cNvSpPr>
          <p:nvPr/>
        </p:nvSpPr>
        <p:spPr>
          <a:xfrm xmlns:a="http://schemas.openxmlformats.org/drawingml/2006/main">
            <a:off x="96202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150" b="1">
                <a:solidFill>
                  <a:srgbClr val="1E2447"/>
                </a:solidFill>
                <a:latin typeface="Cambria"/>
                <a:ea typeface="Cambria"/>
                <a:cs typeface="Cambria"/>
              </a:defRPr>
            </a:pPr>
            <a:r>
              <a:rPr sz="3150" b="1">
                <a:solidFill>
                  <a:srgbClr val="1E2447"/>
                </a:solidFill>
                <a:latin typeface="Cambria"/>
                <a:ea typeface="Cambria"/>
                <a:cs typeface="Cambria"/>
              </a:rPr>
              <a:t>Care</a:t>
            </a:r>
          </a:p>
        </p:txBody>
      </p:sp>
      <p:sp>
        <p:nvSpPr>
          <p:cNvPr id="7" name="text-6">
            <a:extLst xmlns:a="http://schemas.openxmlformats.org/drawingml/2006/main">
              <a:ext uri="{FF2B5EF4-FFF2-40B4-BE49-F238E27FC236}">
                <a16:creationId xmlns:a16="http://schemas.microsoft.com/office/drawing/2014/main" id="{56571739-1B90-4D64-86B3-488A013B121A}"/>
              </a:ext>
            </a:extLst>
          </p:cNvPr>
          <p:cNvSpPr>
            <a:spLocks xmlns:a="http://schemas.openxmlformats.org/drawingml/2006/main" noGrp="1"/>
          </p:cNvSpPr>
          <p:nvPr/>
        </p:nvSpPr>
        <p:spPr>
          <a:xfrm xmlns:a="http://schemas.openxmlformats.org/drawingml/2006/main">
            <a:off x="96202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mamta</a:t>
            </a:r>
          </a:p>
        </p:txBody>
      </p:sp>
      <p:sp>
        <p:nvSpPr>
          <p:cNvPr id="8" name="text-7">
            <a:extLst xmlns:a="http://schemas.openxmlformats.org/drawingml/2006/main">
              <a:ext uri="{FF2B5EF4-FFF2-40B4-BE49-F238E27FC236}">
                <a16:creationId xmlns:a16="http://schemas.microsoft.com/office/drawing/2014/main" id="{E71DBC18-B059-4F52-8559-EF86DB63FAE2}"/>
              </a:ext>
            </a:extLst>
          </p:cNvPr>
          <p:cNvSpPr>
            <a:spLocks xmlns:a="http://schemas.openxmlformats.org/drawingml/2006/main" noGrp="1"/>
          </p:cNvSpPr>
          <p:nvPr/>
        </p:nvSpPr>
        <p:spPr>
          <a:xfrm xmlns:a="http://schemas.openxmlformats.org/drawingml/2006/main">
            <a:off x="96202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Established in bal / sthiti</a:t>
            </a:r>
          </a:p>
        </p:txBody>
      </p:sp>
      <p:sp>
        <p:nvSpPr>
          <p:cNvPr id="9" name="text-8">
            <a:extLst xmlns:a="http://schemas.openxmlformats.org/drawingml/2006/main">
              <a:ext uri="{FF2B5EF4-FFF2-40B4-BE49-F238E27FC236}">
                <a16:creationId xmlns:a16="http://schemas.microsoft.com/office/drawing/2014/main" id="{AC5B3988-A27C-496C-A714-D59E703645C7}"/>
              </a:ext>
            </a:extLst>
          </p:cNvPr>
          <p:cNvSpPr>
            <a:spLocks xmlns:a="http://schemas.openxmlformats.org/drawingml/2006/main" noGrp="1"/>
          </p:cNvSpPr>
          <p:nvPr/>
        </p:nvSpPr>
        <p:spPr>
          <a:xfrm xmlns:a="http://schemas.openxmlformats.org/drawingml/2006/main">
            <a:off x="490537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150" b="1">
                <a:solidFill>
                  <a:srgbClr val="1E2447"/>
                </a:solidFill>
                <a:latin typeface="Cambria"/>
                <a:ea typeface="Cambria"/>
                <a:cs typeface="Cambria"/>
              </a:defRPr>
            </a:pPr>
            <a:r>
              <a:rPr sz="3150" b="1">
                <a:solidFill>
                  <a:srgbClr val="1E2447"/>
                </a:solidFill>
                <a:latin typeface="Cambria"/>
                <a:ea typeface="Cambria"/>
                <a:cs typeface="Cambria"/>
              </a:rPr>
              <a:t>Generosity</a:t>
            </a:r>
          </a:p>
        </p:txBody>
      </p:sp>
      <p:sp>
        <p:nvSpPr>
          <p:cNvPr id="10" name="text-9">
            <a:extLst xmlns:a="http://schemas.openxmlformats.org/drawingml/2006/main">
              <a:ext uri="{FF2B5EF4-FFF2-40B4-BE49-F238E27FC236}">
                <a16:creationId xmlns:a16="http://schemas.microsoft.com/office/drawing/2014/main" id="{C546495F-520A-431D-95F0-4FD4A1E656EF}"/>
              </a:ext>
            </a:extLst>
          </p:cNvPr>
          <p:cNvSpPr>
            <a:spLocks xmlns:a="http://schemas.openxmlformats.org/drawingml/2006/main" noGrp="1"/>
          </p:cNvSpPr>
          <p:nvPr/>
        </p:nvSpPr>
        <p:spPr>
          <a:xfrm xmlns:a="http://schemas.openxmlformats.org/drawingml/2006/main">
            <a:off x="490537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udarta</a:t>
            </a:r>
          </a:p>
        </p:txBody>
      </p:sp>
      <p:sp>
        <p:nvSpPr>
          <p:cNvPr id="11" name="text-10">
            <a:extLst xmlns:a="http://schemas.openxmlformats.org/drawingml/2006/main">
              <a:ext uri="{FF2B5EF4-FFF2-40B4-BE49-F238E27FC236}">
                <a16:creationId xmlns:a16="http://schemas.microsoft.com/office/drawing/2014/main" id="{E2DA04A3-C0D7-45E8-B5B3-7DA7DCC536CC}"/>
              </a:ext>
            </a:extLst>
          </p:cNvPr>
          <p:cNvSpPr>
            <a:spLocks xmlns:a="http://schemas.openxmlformats.org/drawingml/2006/main" noGrp="1"/>
          </p:cNvSpPr>
          <p:nvPr/>
        </p:nvSpPr>
        <p:spPr>
          <a:xfrm xmlns:a="http://schemas.openxmlformats.org/drawingml/2006/main">
            <a:off x="490537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Expressed in gati / shakti</a:t>
            </a:r>
          </a:p>
        </p:txBody>
      </p:sp>
      <p:sp>
        <p:nvSpPr>
          <p:cNvPr id="12" name="text-11">
            <a:extLst xmlns:a="http://schemas.openxmlformats.org/drawingml/2006/main">
              <a:ext uri="{FF2B5EF4-FFF2-40B4-BE49-F238E27FC236}">
                <a16:creationId xmlns:a16="http://schemas.microsoft.com/office/drawing/2014/main" id="{206E084B-B301-4064-8788-39F9CA693D6B}"/>
              </a:ext>
            </a:extLst>
          </p:cNvPr>
          <p:cNvSpPr>
            <a:spLocks xmlns:a="http://schemas.openxmlformats.org/drawingml/2006/main" noGrp="1"/>
          </p:cNvSpPr>
          <p:nvPr/>
        </p:nvSpPr>
        <p:spPr>
          <a:xfrm xmlns:a="http://schemas.openxmlformats.org/drawingml/2006/main">
            <a:off x="962025" y="3476625"/>
            <a:ext cx="7524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Care concerns the other’s nurturing and protection.</a:t>
            </a:r>
          </a:p>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Generosity offers body, mind, and wealth as needed.</a:t>
            </a:r>
          </a:p>
        </p:txBody>
      </p:sp>
    </p:spTree>
    <p:extLst>
      <p:ext uri="{BB962C8B-B14F-4D97-AF65-F5344CB8AC3E}">
        <p14:creationId xmlns:p14="http://schemas.microsoft.com/office/powerpoint/2010/main" val="12279953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(1)</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10 / 40</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Expressed values are also called civic or shishta values.</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Care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Generosity</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Guidance</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Naturalness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Trust</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Concordance</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Affection</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Dedication</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Gratitude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Humility</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6662B11-1F34-454B-880B-C810A1D6BF9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7C9A92A4-A7E9-4860-A802-2DBC72A1C00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(2)</a:t>
            </a:r>
          </a:p>
        </p:txBody>
      </p:sp>
      <p:sp>
        <p:nvSpPr>
          <p:cNvPr id="3" name="text-2">
            <a:extLst xmlns:a="http://schemas.openxmlformats.org/drawingml/2006/main">
              <a:ext uri="{FF2B5EF4-FFF2-40B4-BE49-F238E27FC236}">
                <a16:creationId xmlns:a16="http://schemas.microsoft.com/office/drawing/2014/main" id="{519F2CBF-0B05-4740-A51D-C4713B27AA1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9CA4A7E-71FE-46DD-BA5E-3634A164B184}"/>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11 / 40</a:t>
            </a:r>
          </a:p>
        </p:txBody>
      </p:sp>
      <p:sp>
        <p:nvSpPr>
          <p:cNvPr id="5" name="text-4">
            <a:extLst xmlns:a="http://schemas.openxmlformats.org/drawingml/2006/main">
              <a:ext uri="{FF2B5EF4-FFF2-40B4-BE49-F238E27FC236}">
                <a16:creationId xmlns:a16="http://schemas.microsoft.com/office/drawing/2014/main" id="{9E0A205B-5212-457D-A35B-B4ED808067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Trust is the common value; love is the complete value.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590550">
                <a:tc>
                  <a:txBody>
                    <a:bodyPr lIns="123825" tIns="57150" rIns="95250" bIns="57150">
                      <a:noAutofit/>
                    </a:bodyPr>
                    <a:lstStyle/>
                    <a:p>
                      <a:r>
                        <a:rPr sz="1875" b="0">
                          <a:solidFill>
                            <a:srgbClr val="303853"/>
                          </a:solidFill>
                          <a:latin typeface="Calibri"/>
                          <a:ea typeface="Calibri"/>
                          <a:cs typeface="Calibri"/>
                        </a:rPr>
                        <a:t>Glory</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Simplicity</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Love</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Non-otherness</a:t>
                      </a:r>
                    </a:p>
                  </a:txBody>
                  <a:tcPr marL="91440" marR="91440" marT="45720" marB="45720" anchor="ctr">
                    <a:solidFill>
                      <a:srgbClr val="F1F3F8"/>
                    </a:solidFill>
                  </a:tcPr>
                </a:tc>
              </a:tr>
              <a:tr h="590550">
                <a:tc>
                  <a:txBody>
                    <a:bodyPr lIns="123825" tIns="57150" rIns="95250" bIns="57150">
                      <a:noAutofit/>
                    </a:bodyPr>
                    <a:lstStyle/>
                    <a:p>
                      <a:r>
                        <a:rPr sz="1875" b="0">
                          <a:solidFill>
                            <a:srgbClr val="303853"/>
                          </a:solidFill>
                          <a:latin typeface="Calibri"/>
                          <a:ea typeface="Calibri"/>
                          <a:cs typeface="Calibri"/>
                        </a:rPr>
                        <a:t>Reverence</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Devoutness</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Respect</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Cordiality</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88094541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06E03809-F289-4F0E-89A6-BFEA02D3210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HOW VALUES CAN BE LEARNT</a:t>
            </a:r>
          </a:p>
        </p:txBody>
      </p:sp>
      <p:sp>
        <p:nvSpPr>
          <p:cNvPr id="2" name="text-1">
            <a:extLst xmlns:a="http://schemas.openxmlformats.org/drawingml/2006/main">
              <a:ext uri="{FF2B5EF4-FFF2-40B4-BE49-F238E27FC236}">
                <a16:creationId xmlns:a16="http://schemas.microsoft.com/office/drawing/2014/main" id="{BF573115-8063-4868-9240-B2DFD0530F0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Learning and understanding</a:t>
            </a:r>
          </a:p>
        </p:txBody>
      </p:sp>
      <p:sp>
        <p:nvSpPr>
          <p:cNvPr id="3" name="text-2">
            <a:extLst xmlns:a="http://schemas.openxmlformats.org/drawingml/2006/main">
              <a:ext uri="{FF2B5EF4-FFF2-40B4-BE49-F238E27FC236}">
                <a16:creationId xmlns:a16="http://schemas.microsoft.com/office/drawing/2014/main" id="{05BF9CD9-AC17-4E99-94D1-1003783F98B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3AC8507-9AE2-4234-9F6D-67285A6540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12 / 40</a:t>
            </a:r>
          </a:p>
        </p:txBody>
      </p:sp>
      <p:sp>
        <p:nvSpPr>
          <p:cNvPr id="5" name="text-4">
            <a:extLst xmlns:a="http://schemas.openxmlformats.org/drawingml/2006/main">
              <a:ext uri="{FF2B5EF4-FFF2-40B4-BE49-F238E27FC236}">
                <a16:creationId xmlns:a16="http://schemas.microsoft.com/office/drawing/2014/main" id="{5CFF1889-7C67-40E5-A73D-0AAF1FD8C767}"/>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Practice requires examination of meaning, understanding, and continuity.</a:t>
            </a:r>
          </a:p>
        </p:txBody>
      </p:sp>
      <p:sp>
        <p:nvSpPr>
          <p:cNvPr id="6" name="text-5">
            <a:extLst xmlns:a="http://schemas.openxmlformats.org/drawingml/2006/main">
              <a:ext uri="{FF2B5EF4-FFF2-40B4-BE49-F238E27FC236}">
                <a16:creationId xmlns:a16="http://schemas.microsoft.com/office/drawing/2014/main" id="{6A08F155-1030-4065-942F-A86732D63F57}"/>
              </a:ext>
            </a:extLst>
          </p:cNvPr>
          <p:cNvSpPr>
            <a:spLocks xmlns:a="http://schemas.openxmlformats.org/drawingml/2006/main" noGrp="1"/>
          </p:cNvSpPr>
          <p:nvPr/>
        </p:nvSpPr>
        <p:spPr>
          <a:xfrm xmlns:a="http://schemas.openxmlformats.org/drawingml/2006/main">
            <a:off x="962025" y="135255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First participation</a:t>
            </a:r>
          </a:p>
        </p:txBody>
      </p:sp>
      <p:sp>
        <p:nvSpPr>
          <p:cNvPr id="7" name="text-6">
            <a:extLst xmlns:a="http://schemas.openxmlformats.org/drawingml/2006/main">
              <a:ext uri="{FF2B5EF4-FFF2-40B4-BE49-F238E27FC236}">
                <a16:creationId xmlns:a16="http://schemas.microsoft.com/office/drawing/2014/main" id="{AF0BC267-50EE-418B-B735-8C4308424BDC}"/>
              </a:ext>
            </a:extLst>
          </p:cNvPr>
          <p:cNvSpPr>
            <a:spLocks xmlns:a="http://schemas.openxmlformats.org/drawingml/2006/main" noGrp="1"/>
          </p:cNvSpPr>
          <p:nvPr/>
        </p:nvSpPr>
        <p:spPr>
          <a:xfrm xmlns:a="http://schemas.openxmlformats.org/drawingml/2006/main">
            <a:off x="962025" y="169545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A learner practises generosity in preparing and sharing a meal.</a:t>
            </a:r>
          </a:p>
        </p:txBody>
      </p:sp>
      <p:sp>
        <p:nvSpPr>
          <p:cNvPr id="8" name="text-7">
            <a:extLst xmlns:a="http://schemas.openxmlformats.org/drawingml/2006/main">
              <a:ext uri="{FF2B5EF4-FFF2-40B4-BE49-F238E27FC236}">
                <a16:creationId xmlns:a16="http://schemas.microsoft.com/office/drawing/2014/main" id="{297EA3A6-50ED-4B50-9138-7E5C9F65F20B}"/>
              </a:ext>
            </a:extLst>
          </p:cNvPr>
          <p:cNvSpPr>
            <a:spLocks xmlns:a="http://schemas.openxmlformats.org/drawingml/2006/main" noGrp="1"/>
          </p:cNvSpPr>
          <p:nvPr/>
        </p:nvSpPr>
        <p:spPr>
          <a:xfrm xmlns:a="http://schemas.openxmlformats.org/drawingml/2006/main">
            <a:off x="962025" y="2333625"/>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Further understanding</a:t>
            </a:r>
          </a:p>
        </p:txBody>
      </p:sp>
      <p:sp>
        <p:nvSpPr>
          <p:cNvPr id="9" name="text-8">
            <a:extLst xmlns:a="http://schemas.openxmlformats.org/drawingml/2006/main">
              <a:ext uri="{FF2B5EF4-FFF2-40B4-BE49-F238E27FC236}">
                <a16:creationId xmlns:a16="http://schemas.microsoft.com/office/drawing/2014/main" id="{0512F8B4-9F52-4E4D-BF3C-DDF7591710B7}"/>
              </a:ext>
            </a:extLst>
          </p:cNvPr>
          <p:cNvSpPr>
            <a:spLocks xmlns:a="http://schemas.openxmlformats.org/drawingml/2006/main" noGrp="1"/>
          </p:cNvSpPr>
          <p:nvPr/>
        </p:nvSpPr>
        <p:spPr>
          <a:xfrm xmlns:a="http://schemas.openxmlformats.org/drawingml/2006/main">
            <a:off x="962025" y="2676525"/>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need, responsibility, and the outcome.</a:t>
            </a:r>
          </a:p>
        </p:txBody>
      </p:sp>
      <p:sp>
        <p:nvSpPr>
          <p:cNvPr id="10" name="text-9">
            <a:extLst xmlns:a="http://schemas.openxmlformats.org/drawingml/2006/main">
              <a:ext uri="{FF2B5EF4-FFF2-40B4-BE49-F238E27FC236}">
                <a16:creationId xmlns:a16="http://schemas.microsoft.com/office/drawing/2014/main" id="{537132DB-0502-477B-B401-AADD0D875744}"/>
              </a:ext>
            </a:extLst>
          </p:cNvPr>
          <p:cNvSpPr>
            <a:spLocks xmlns:a="http://schemas.openxmlformats.org/drawingml/2006/main" noGrp="1"/>
          </p:cNvSpPr>
          <p:nvPr/>
        </p:nvSpPr>
        <p:spPr>
          <a:xfrm xmlns:a="http://schemas.openxmlformats.org/drawingml/2006/main">
            <a:off x="962025" y="331470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Continuity in living</a:t>
            </a:r>
          </a:p>
        </p:txBody>
      </p:sp>
      <p:sp>
        <p:nvSpPr>
          <p:cNvPr id="11" name="text-10">
            <a:extLst xmlns:a="http://schemas.openxmlformats.org/drawingml/2006/main">
              <a:ext uri="{FF2B5EF4-FFF2-40B4-BE49-F238E27FC236}">
                <a16:creationId xmlns:a16="http://schemas.microsoft.com/office/drawing/2014/main" id="{A7C28E40-7EF4-426D-9998-0888434111CE}"/>
              </a:ext>
            </a:extLst>
          </p:cNvPr>
          <p:cNvSpPr>
            <a:spLocks xmlns:a="http://schemas.openxmlformats.org/drawingml/2006/main" noGrp="1"/>
          </p:cNvSpPr>
          <p:nvPr/>
        </p:nvSpPr>
        <p:spPr>
          <a:xfrm xmlns:a="http://schemas.openxmlformats.org/drawingml/2006/main">
            <a:off x="962025" y="365760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Understanding makes fulfilment self-directed and sustained.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dc05e1e66034860"/>
          <a:stretch xmlns:a="http://schemas.openxmlformats.org/drawingml/2006/main"/>
        </p:blipFill>
        <p:spPr>
          <a:xfrm xmlns:a="http://schemas.openxmlformats.org/drawingml/2006/main">
            <a:off x="5705054" y="1304925"/>
            <a:ext cx="2363042" cy="2952750"/>
          </a:xfrm>
          <a:prstGeom xmlns:a="http://schemas.openxmlformats.org/drawingml/2006/main" prst="rect">
            <a:avLst/>
          </a:prstGeom>
        </p:spPr>
      </p:pic>
    </p:spTree>
    <p:extLst>
      <p:ext uri="{BB962C8B-B14F-4D97-AF65-F5344CB8AC3E}">
        <p14:creationId xmlns:p14="http://schemas.microsoft.com/office/powerpoint/2010/main" val="20811835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0CB6D38-C1AB-4A47-B09B-CA7963212BD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EVALUATING THE LEARNER</a:t>
            </a:r>
          </a:p>
        </p:txBody>
      </p:sp>
      <p:sp>
        <p:nvSpPr>
          <p:cNvPr id="2" name="text-1">
            <a:extLst xmlns:a="http://schemas.openxmlformats.org/drawingml/2006/main">
              <a:ext uri="{FF2B5EF4-FFF2-40B4-BE49-F238E27FC236}">
                <a16:creationId xmlns:a16="http://schemas.microsoft.com/office/drawing/2014/main" id="{74DE7723-3635-4A80-8996-F13CBD46864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Conduct and establishment</a:t>
            </a:r>
          </a:p>
        </p:txBody>
      </p:sp>
      <p:sp>
        <p:nvSpPr>
          <p:cNvPr id="3" name="text-2">
            <a:extLst xmlns:a="http://schemas.openxmlformats.org/drawingml/2006/main">
              <a:ext uri="{FF2B5EF4-FFF2-40B4-BE49-F238E27FC236}">
                <a16:creationId xmlns:a16="http://schemas.microsoft.com/office/drawing/2014/main" id="{FC9C8E33-5FC6-4D74-94B6-F523CEC6535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4BCFDC-E224-4C19-A579-79D6542D579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13 / 40</a:t>
            </a:r>
          </a:p>
        </p:txBody>
      </p:sp>
      <p:sp>
        <p:nvSpPr>
          <p:cNvPr id="5" name="text-4">
            <a:extLst xmlns:a="http://schemas.openxmlformats.org/drawingml/2006/main">
              <a:ext uri="{FF2B5EF4-FFF2-40B4-BE49-F238E27FC236}">
                <a16:creationId xmlns:a16="http://schemas.microsoft.com/office/drawing/2014/main" id="{765BF105-C696-4E80-8AB6-B2696A7AEE2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An outward contribution deserves recognition while learning continues.</a:t>
            </a:r>
          </a:p>
        </p:txBody>
      </p:sp>
      <p:sp>
        <p:nvSpPr>
          <p:cNvPr id="6" name="text-5">
            <a:extLst xmlns:a="http://schemas.openxmlformats.org/drawingml/2006/main">
              <a:ext uri="{FF2B5EF4-FFF2-40B4-BE49-F238E27FC236}">
                <a16:creationId xmlns:a16="http://schemas.microsoft.com/office/drawing/2014/main" id="{2B843E8E-D6DC-4F37-9B35-C24ADDA54CF9}"/>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What an act can show</a:t>
            </a:r>
          </a:p>
        </p:txBody>
      </p:sp>
      <p:sp>
        <p:nvSpPr>
          <p:cNvPr id="7" name="text-6">
            <a:extLst xmlns:a="http://schemas.openxmlformats.org/drawingml/2006/main">
              <a:ext uri="{FF2B5EF4-FFF2-40B4-BE49-F238E27FC236}">
                <a16:creationId xmlns:a16="http://schemas.microsoft.com/office/drawing/2014/main" id="{2C3D1072-D1AB-4817-98C3-12CD72EEDF14}"/>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responsibility was fulfilled.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Someone received real help.</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skill or understanding became evident.</a:t>
            </a:r>
          </a:p>
        </p:txBody>
      </p:sp>
      <p:sp>
        <p:nvSpPr>
          <p:cNvPr id="8" name="text-7">
            <a:extLst xmlns:a="http://schemas.openxmlformats.org/drawingml/2006/main">
              <a:ext uri="{FF2B5EF4-FFF2-40B4-BE49-F238E27FC236}">
                <a16:creationId xmlns:a16="http://schemas.microsoft.com/office/drawing/2014/main" id="{A82CEF4F-02B6-46C1-94A7-C33C136A66F0}"/>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Further examination</a:t>
            </a:r>
          </a:p>
        </p:txBody>
      </p:sp>
      <p:sp>
        <p:nvSpPr>
          <p:cNvPr id="9" name="text-8">
            <a:extLst xmlns:a="http://schemas.openxmlformats.org/drawingml/2006/main">
              <a:ext uri="{FF2B5EF4-FFF2-40B4-BE49-F238E27FC236}">
                <a16:creationId xmlns:a16="http://schemas.microsoft.com/office/drawing/2014/main" id="{45F9B8C4-8753-43E6-AC62-0D3D820CB487}"/>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the person acted.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What they understood.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Whether the value remains continuous.</a:t>
            </a:r>
          </a:p>
        </p:txBody>
      </p:sp>
    </p:spTree>
    <p:extLst>
      <p:ext uri="{BB962C8B-B14F-4D97-AF65-F5344CB8AC3E}">
        <p14:creationId xmlns:p14="http://schemas.microsoft.com/office/powerpoint/2010/main" val="15141798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D1B3CA58-A28F-4CAE-B7B6-78341A07E48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RELATIONSHIPS AND JUSTICE</a:t>
            </a:r>
          </a:p>
        </p:txBody>
      </p:sp>
      <p:sp>
        <p:nvSpPr>
          <p:cNvPr id="2" name="text-1">
            <a:extLst xmlns:a="http://schemas.openxmlformats.org/drawingml/2006/main">
              <a:ext uri="{FF2B5EF4-FFF2-40B4-BE49-F238E27FC236}">
                <a16:creationId xmlns:a16="http://schemas.microsoft.com/office/drawing/2014/main" id="{3B228F05-BC4D-4242-B247-579D1129EB5A}"/>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has four moments</a:t>
            </a:r>
          </a:p>
        </p:txBody>
      </p:sp>
      <p:sp>
        <p:nvSpPr>
          <p:cNvPr id="3" name="text-2">
            <a:extLst xmlns:a="http://schemas.openxmlformats.org/drawingml/2006/main">
              <a:ext uri="{FF2B5EF4-FFF2-40B4-BE49-F238E27FC236}">
                <a16:creationId xmlns:a16="http://schemas.microsoft.com/office/drawing/2014/main" id="{36A6E25B-5363-40CD-AEF8-F309A745132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A1260BB-F872-4F55-8C9D-C324E8592CC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14 / 40</a:t>
            </a:r>
          </a:p>
        </p:txBody>
      </p:sp>
      <p:sp>
        <p:nvSpPr>
          <p:cNvPr id="5" name="text-4">
            <a:extLst xmlns:a="http://schemas.openxmlformats.org/drawingml/2006/main">
              <a:ext uri="{FF2B5EF4-FFF2-40B4-BE49-F238E27FC236}">
                <a16:creationId xmlns:a16="http://schemas.microsoft.com/office/drawing/2014/main" id="{E9B7A9E9-6AF8-42B1-99DD-CE613A897A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Evaluation guides selection and then examines actual fulfilment.</a:t>
            </a:r>
          </a:p>
        </p:txBody>
      </p:sp>
      <p:sp>
        <p:nvSpPr>
          <p:cNvPr id="6" name="text-5">
            <a:extLst xmlns:a="http://schemas.openxmlformats.org/drawingml/2006/main">
              <a:ext uri="{FF2B5EF4-FFF2-40B4-BE49-F238E27FC236}">
                <a16:creationId xmlns:a16="http://schemas.microsoft.com/office/drawing/2014/main" id="{B9A4232F-4488-4BC2-863D-6093D0AB67DC}"/>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Recognition</a:t>
            </a:r>
          </a:p>
        </p:txBody>
      </p:sp>
      <p:sp>
        <p:nvSpPr>
          <p:cNvPr id="7" name="text-6">
            <a:extLst xmlns:a="http://schemas.openxmlformats.org/drawingml/2006/main">
              <a:ext uri="{FF2B5EF4-FFF2-40B4-BE49-F238E27FC236}">
                <a16:creationId xmlns:a16="http://schemas.microsoft.com/office/drawing/2014/main" id="{0CD86E26-AC30-4E5C-9528-E8272C7D1F78}"/>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relationship and responsibility are present?</a:t>
            </a:r>
          </a:p>
        </p:txBody>
      </p:sp>
      <p:sp>
        <p:nvSpPr>
          <p:cNvPr id="8" name="text-7">
            <a:extLst xmlns:a="http://schemas.openxmlformats.org/drawingml/2006/main">
              <a:ext uri="{FF2B5EF4-FFF2-40B4-BE49-F238E27FC236}">
                <a16:creationId xmlns:a16="http://schemas.microsoft.com/office/drawing/2014/main" id="{1E930D77-963E-4D7E-AC9A-F30DE8E78569}"/>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Fulfilment</a:t>
            </a:r>
          </a:p>
        </p:txBody>
      </p:sp>
      <p:sp>
        <p:nvSpPr>
          <p:cNvPr id="9" name="text-8">
            <a:extLst xmlns:a="http://schemas.openxmlformats.org/drawingml/2006/main">
              <a:ext uri="{FF2B5EF4-FFF2-40B4-BE49-F238E27FC236}">
                <a16:creationId xmlns:a16="http://schemas.microsoft.com/office/drawing/2014/main" id="{61B5918A-E5D8-4141-8DE9-AEC43477D813}"/>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Which values must become evident in conduct?</a:t>
            </a:r>
          </a:p>
        </p:txBody>
      </p:sp>
      <p:sp>
        <p:nvSpPr>
          <p:cNvPr id="10" name="text-9">
            <a:extLst xmlns:a="http://schemas.openxmlformats.org/drawingml/2006/main">
              <a:ext uri="{FF2B5EF4-FFF2-40B4-BE49-F238E27FC236}">
                <a16:creationId xmlns:a16="http://schemas.microsoft.com/office/drawing/2014/main" id="{521CD9AF-11B3-453C-BD55-F0DB7A692508}"/>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Evaluation</a:t>
            </a:r>
          </a:p>
        </p:txBody>
      </p:sp>
      <p:sp>
        <p:nvSpPr>
          <p:cNvPr id="11" name="text-10">
            <a:extLst xmlns:a="http://schemas.openxmlformats.org/drawingml/2006/main">
              <a:ext uri="{FF2B5EF4-FFF2-40B4-BE49-F238E27FC236}">
                <a16:creationId xmlns:a16="http://schemas.microsoft.com/office/drawing/2014/main" id="{23FCCD12-82F7-413F-BCD5-CA1CB18195E0}"/>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Did the conduct fulfil that responsibility?</a:t>
            </a:r>
          </a:p>
        </p:txBody>
      </p:sp>
      <p:sp>
        <p:nvSpPr>
          <p:cNvPr id="12" name="text-11">
            <a:extLst xmlns:a="http://schemas.openxmlformats.org/drawingml/2006/main">
              <a:ext uri="{FF2B5EF4-FFF2-40B4-BE49-F238E27FC236}">
                <a16:creationId xmlns:a16="http://schemas.microsoft.com/office/drawing/2014/main" id="{16702FBB-2894-44DE-85CC-864465485BE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Mutual satisfaction</a:t>
            </a:r>
          </a:p>
        </p:txBody>
      </p:sp>
      <p:sp>
        <p:nvSpPr>
          <p:cNvPr id="13" name="text-12">
            <a:extLst xmlns:a="http://schemas.openxmlformats.org/drawingml/2006/main">
              <a:ext uri="{FF2B5EF4-FFF2-40B4-BE49-F238E27FC236}">
                <a16:creationId xmlns:a16="http://schemas.microsoft.com/office/drawing/2014/main" id="{1B40A485-8FF6-4446-A43D-1BAC1D11BA09}"/>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Does fulfilment accord with the relationship’s values?</a:t>
            </a:r>
          </a:p>
        </p:txBody>
      </p:sp>
    </p:spTree>
    <p:extLst>
      <p:ext uri="{BB962C8B-B14F-4D97-AF65-F5344CB8AC3E}">
        <p14:creationId xmlns:p14="http://schemas.microsoft.com/office/powerpoint/2010/main" val="7558233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428866E-3097-47D7-A7DB-90F81F48867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RETURN TO THE SHARED MEAL</a:t>
            </a:r>
          </a:p>
        </p:txBody>
      </p:sp>
      <p:sp>
        <p:nvSpPr>
          <p:cNvPr id="2" name="text-1">
            <a:extLst xmlns:a="http://schemas.openxmlformats.org/drawingml/2006/main">
              <a:ext uri="{FF2B5EF4-FFF2-40B4-BE49-F238E27FC236}">
                <a16:creationId xmlns:a16="http://schemas.microsoft.com/office/drawing/2014/main" id="{5B6BE853-5FE3-4D46-ABC1-A7CEEC65549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Evaluation asks what was fulfilled</a:t>
            </a:r>
          </a:p>
        </p:txBody>
      </p:sp>
      <p:sp>
        <p:nvSpPr>
          <p:cNvPr id="3" name="text-2">
            <a:extLst xmlns:a="http://schemas.openxmlformats.org/drawingml/2006/main">
              <a:ext uri="{FF2B5EF4-FFF2-40B4-BE49-F238E27FC236}">
                <a16:creationId xmlns:a16="http://schemas.microsoft.com/office/drawing/2014/main" id="{AB0799E0-AF22-4B6A-A9EC-0D03210D27A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057B2FA-792A-4641-8F82-4B8B4C254F1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15 / 40</a:t>
            </a:r>
          </a:p>
        </p:txBody>
      </p:sp>
      <p:sp>
        <p:nvSpPr>
          <p:cNvPr id="5" name="text-4">
            <a:extLst xmlns:a="http://schemas.openxmlformats.org/drawingml/2006/main">
              <a:ext uri="{FF2B5EF4-FFF2-40B4-BE49-F238E27FC236}">
                <a16:creationId xmlns:a16="http://schemas.microsoft.com/office/drawing/2014/main" id="{E0A56A6A-8C84-47BC-A0BB-42993589007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Intention, resources, conduct, and outcome each matter.</a:t>
            </a:r>
          </a:p>
        </p:txBody>
      </p:sp>
      <p:sp>
        <p:nvSpPr>
          <p:cNvPr id="6" name="text-5">
            <a:extLst xmlns:a="http://schemas.openxmlformats.org/drawingml/2006/main">
              <a:ext uri="{FF2B5EF4-FFF2-40B4-BE49-F238E27FC236}">
                <a16:creationId xmlns:a16="http://schemas.microsoft.com/office/drawing/2014/main" id="{ED18F993-F308-48AF-B7E2-7305B31C0128}"/>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 guest receives a suitable meal and participates with assurance.</a:t>
            </a:r>
          </a:p>
        </p:txBody>
      </p:sp>
      <p:sp>
        <p:nvSpPr>
          <p:cNvPr id="7" name="text-6">
            <a:extLst xmlns:a="http://schemas.openxmlformats.org/drawingml/2006/main">
              <a:ext uri="{FF2B5EF4-FFF2-40B4-BE49-F238E27FC236}">
                <a16:creationId xmlns:a16="http://schemas.microsoft.com/office/drawing/2014/main" id="{C28C2742-9111-4044-BB39-5E62EB15F811}"/>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Provision responds to need. Recognition includes the guest. The host examines whether the response was adequate.</a:t>
            </a:r>
          </a:p>
        </p:txBody>
      </p:sp>
      <p:sp>
        <p:nvSpPr>
          <p:cNvPr id="8" name="text-7">
            <a:extLst xmlns:a="http://schemas.openxmlformats.org/drawingml/2006/main">
              <a:ext uri="{FF2B5EF4-FFF2-40B4-BE49-F238E27FC236}">
                <a16:creationId xmlns:a16="http://schemas.microsoft.com/office/drawing/2014/main" id="{C97BDC8D-3E36-482C-B5F2-66F92E3953BE}"/>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evidence would support that assessment?</a:t>
            </a:r>
          </a:p>
        </p:txBody>
      </p:sp>
    </p:spTree>
    <p:extLst>
      <p:ext uri="{BB962C8B-B14F-4D97-AF65-F5344CB8AC3E}">
        <p14:creationId xmlns:p14="http://schemas.microsoft.com/office/powerpoint/2010/main" val="20909877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B7DDA7D0-9B0E-4623-B9BB-2C1E4ACAEFE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EVALUATIVE ERROR</a:t>
            </a:r>
          </a:p>
        </p:txBody>
      </p:sp>
      <p:sp>
        <p:nvSpPr>
          <p:cNvPr id="2" name="text-1">
            <a:extLst xmlns:a="http://schemas.openxmlformats.org/drawingml/2006/main">
              <a:ext uri="{FF2B5EF4-FFF2-40B4-BE49-F238E27FC236}">
                <a16:creationId xmlns:a16="http://schemas.microsoft.com/office/drawing/2014/main" id="{7D79FA78-9639-44B2-B113-5DB2DD17A81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ways evaluation goes wrong</a:t>
            </a:r>
          </a:p>
        </p:txBody>
      </p:sp>
      <p:sp>
        <p:nvSpPr>
          <p:cNvPr id="3" name="text-2">
            <a:extLst xmlns:a="http://schemas.openxmlformats.org/drawingml/2006/main">
              <a:ext uri="{FF2B5EF4-FFF2-40B4-BE49-F238E27FC236}">
                <a16:creationId xmlns:a16="http://schemas.microsoft.com/office/drawing/2014/main" id="{D632B313-F578-4F43-ACD4-F9DF7CDFB1E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3FF9916-F0F5-4716-9898-1582FA6588E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16 / 40</a:t>
            </a:r>
          </a:p>
        </p:txBody>
      </p:sp>
      <p:sp>
        <p:nvSpPr>
          <p:cNvPr id="5" name="text-4">
            <a:extLst xmlns:a="http://schemas.openxmlformats.org/drawingml/2006/main">
              <a:ext uri="{FF2B5EF4-FFF2-40B4-BE49-F238E27FC236}">
                <a16:creationId xmlns:a16="http://schemas.microsoft.com/office/drawing/2014/main" id="{6737FFBA-5C8E-4CFA-99FB-BF48152C199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Teaching example: judging a person’s worth by wealth confuses categories.</a:t>
            </a:r>
          </a:p>
        </p:txBody>
      </p:sp>
      <p:sp>
        <p:nvSpPr>
          <p:cNvPr id="6" name="text-5">
            <a:extLst xmlns:a="http://schemas.openxmlformats.org/drawingml/2006/main">
              <a:ext uri="{FF2B5EF4-FFF2-40B4-BE49-F238E27FC236}">
                <a16:creationId xmlns:a16="http://schemas.microsoft.com/office/drawing/2014/main" id="{1E0EC061-F2D5-4303-A09C-E8659675E141}"/>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Over-evaluation</a:t>
            </a:r>
          </a:p>
        </p:txBody>
      </p:sp>
      <p:sp>
        <p:nvSpPr>
          <p:cNvPr id="7" name="text-6">
            <a:extLst xmlns:a="http://schemas.openxmlformats.org/drawingml/2006/main">
              <a:ext uri="{FF2B5EF4-FFF2-40B4-BE49-F238E27FC236}">
                <a16:creationId xmlns:a16="http://schemas.microsoft.com/office/drawing/2014/main" id="{C05D4F1A-112F-4127-B3FD-7DF4F546779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Assigning greater significance than essentiality warrants.</a:t>
            </a:r>
          </a:p>
        </p:txBody>
      </p:sp>
      <p:sp>
        <p:nvSpPr>
          <p:cNvPr id="8" name="text-7">
            <a:extLst xmlns:a="http://schemas.openxmlformats.org/drawingml/2006/main">
              <a:ext uri="{FF2B5EF4-FFF2-40B4-BE49-F238E27FC236}">
                <a16:creationId xmlns:a16="http://schemas.microsoft.com/office/drawing/2014/main" id="{7EABB62A-5494-4279-8766-E53C8AC4904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Under-evaluation</a:t>
            </a:r>
          </a:p>
        </p:txBody>
      </p:sp>
      <p:sp>
        <p:nvSpPr>
          <p:cNvPr id="9" name="text-8">
            <a:extLst xmlns:a="http://schemas.openxmlformats.org/drawingml/2006/main">
              <a:ext uri="{FF2B5EF4-FFF2-40B4-BE49-F238E27FC236}">
                <a16:creationId xmlns:a16="http://schemas.microsoft.com/office/drawing/2014/main" id="{0D71B3AD-AD8C-4597-9217-6D5531DD658A}"/>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Assigning less significance than essentiality warrants.</a:t>
            </a:r>
          </a:p>
        </p:txBody>
      </p:sp>
      <p:sp>
        <p:nvSpPr>
          <p:cNvPr id="10" name="text-9">
            <a:extLst xmlns:a="http://schemas.openxmlformats.org/drawingml/2006/main">
              <a:ext uri="{FF2B5EF4-FFF2-40B4-BE49-F238E27FC236}">
                <a16:creationId xmlns:a16="http://schemas.microsoft.com/office/drawing/2014/main" id="{6EA2DF8D-025C-40BB-9853-AEC8AC4F61D7}"/>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Mis-evaluation</a:t>
            </a:r>
          </a:p>
        </p:txBody>
      </p:sp>
      <p:sp>
        <p:nvSpPr>
          <p:cNvPr id="11" name="text-10">
            <a:extLst xmlns:a="http://schemas.openxmlformats.org/drawingml/2006/main">
              <a:ext uri="{FF2B5EF4-FFF2-40B4-BE49-F238E27FC236}">
                <a16:creationId xmlns:a16="http://schemas.microsoft.com/office/drawing/2014/main" id="{610BD62D-C4EA-40C3-B995-B42D572B308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Recognising something as other than what it is.</a:t>
            </a:r>
          </a:p>
        </p:txBody>
      </p:sp>
    </p:spTree>
    <p:extLst>
      <p:ext uri="{BB962C8B-B14F-4D97-AF65-F5344CB8AC3E}">
        <p14:creationId xmlns:p14="http://schemas.microsoft.com/office/powerpoint/2010/main" val="12987945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0107661-CB2D-4F53-B32B-307FB5D5DA2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WHAT GUIDES A RELATIONSHIP</a:t>
            </a:r>
          </a:p>
        </p:txBody>
      </p:sp>
      <p:sp>
        <p:nvSpPr>
          <p:cNvPr id="2" name="text-1">
            <a:extLst xmlns:a="http://schemas.openxmlformats.org/drawingml/2006/main">
              <a:ext uri="{FF2B5EF4-FFF2-40B4-BE49-F238E27FC236}">
                <a16:creationId xmlns:a16="http://schemas.microsoft.com/office/drawing/2014/main" id="{A16749CD-669B-470C-8D79-05CD190A5046}"/>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Fear and temptation</a:t>
            </a:r>
          </a:p>
        </p:txBody>
      </p:sp>
      <p:sp>
        <p:nvSpPr>
          <p:cNvPr id="3" name="text-2">
            <a:extLst xmlns:a="http://schemas.openxmlformats.org/drawingml/2006/main">
              <a:ext uri="{FF2B5EF4-FFF2-40B4-BE49-F238E27FC236}">
                <a16:creationId xmlns:a16="http://schemas.microsoft.com/office/drawing/2014/main" id="{57383B7E-5372-4426-AE53-F4E0E202BAF8}"/>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66C4741-E3DB-4339-B60D-CCD41FEFF5E0}"/>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17 / 40</a:t>
            </a:r>
          </a:p>
        </p:txBody>
      </p:sp>
      <p:sp>
        <p:nvSpPr>
          <p:cNvPr id="5" name="text-4">
            <a:extLst xmlns:a="http://schemas.openxmlformats.org/drawingml/2006/main">
              <a:ext uri="{FF2B5EF4-FFF2-40B4-BE49-F238E27FC236}">
                <a16:creationId xmlns:a16="http://schemas.microsoft.com/office/drawing/2014/main" id="{C274DF74-1A48-4E51-9077-3AD47740C3D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Madhyasth Darshan excludes fear and temptation as relationship values.</a:t>
            </a:r>
          </a:p>
        </p:txBody>
      </p:sp>
      <p:sp>
        <p:nvSpPr>
          <p:cNvPr id="6" name="text-5">
            <a:extLst xmlns:a="http://schemas.openxmlformats.org/drawingml/2006/main">
              <a:ext uri="{FF2B5EF4-FFF2-40B4-BE49-F238E27FC236}">
                <a16:creationId xmlns:a16="http://schemas.microsoft.com/office/drawing/2014/main" id="{87087713-374B-4BBF-83E0-A9282E6FA5C1}"/>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Threatened harm</a:t>
            </a:r>
          </a:p>
        </p:txBody>
      </p:sp>
      <p:sp>
        <p:nvSpPr>
          <p:cNvPr id="7" name="text-6">
            <a:extLst xmlns:a="http://schemas.openxmlformats.org/drawingml/2006/main">
              <a:ext uri="{FF2B5EF4-FFF2-40B4-BE49-F238E27FC236}">
                <a16:creationId xmlns:a16="http://schemas.microsoft.com/office/drawing/2014/main" id="{E1150032-BA74-4CB4-A0E3-281BCD7D67EA}"/>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person complies because they fear what another may do.</a:t>
            </a:r>
          </a:p>
        </p:txBody>
      </p:sp>
      <p:sp>
        <p:nvSpPr>
          <p:cNvPr id="8" name="text-7">
            <a:extLst xmlns:a="http://schemas.openxmlformats.org/drawingml/2006/main">
              <a:ext uri="{FF2B5EF4-FFF2-40B4-BE49-F238E27FC236}">
                <a16:creationId xmlns:a16="http://schemas.microsoft.com/office/drawing/2014/main" id="{F1D6049F-2CEB-41D2-82B9-409C708AA03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Promised acquisition</a:t>
            </a:r>
          </a:p>
        </p:txBody>
      </p:sp>
      <p:sp>
        <p:nvSpPr>
          <p:cNvPr id="9" name="text-8">
            <a:extLst xmlns:a="http://schemas.openxmlformats.org/drawingml/2006/main">
              <a:ext uri="{FF2B5EF4-FFF2-40B4-BE49-F238E27FC236}">
                <a16:creationId xmlns:a16="http://schemas.microsoft.com/office/drawing/2014/main" id="{B51E8C2E-1060-4BC3-B9D2-5C0CDAA15DCF}"/>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person participates to obtain the offered advantage.</a:t>
            </a:r>
          </a:p>
        </p:txBody>
      </p:sp>
    </p:spTree>
    <p:extLst>
      <p:ext uri="{BB962C8B-B14F-4D97-AF65-F5344CB8AC3E}">
        <p14:creationId xmlns:p14="http://schemas.microsoft.com/office/powerpoint/2010/main" val="180077097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BASIS OF EVALUATION</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Six perspectives of deliberation</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18 / 40</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Humane evaluation draws on understanding of justice, dharma, and truth.</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Pleasant, beneficial, profitable</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Priya / apriya; hita / ahita; labha / alabha.</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Justice, dharma, truth</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Nyaya / anyaya; dharma / adharma; satya / asatya.</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Qualitative understanding</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relationship and its purpose guide analysis and choice.</a:t>
            </a:r>
          </a:p>
        </p:txBody>
      </p:sp>
    </p:spTree>
    <p:extLst>
      <p:ext uri="{BB962C8B-B14F-4D97-AF65-F5344CB8AC3E}">
        <p14:creationId xmlns:p14="http://schemas.microsoft.com/office/powerpoint/2010/main" val="17202241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051CF693-4BC6-486E-97B6-C8B0C7A4A277}"/>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JEEVAN VALUES</a:t>
            </a:r>
          </a:p>
        </p:txBody>
      </p:sp>
      <p:sp>
        <p:nvSpPr>
          <p:cNvPr id="2" name="text-1">
            <a:extLst xmlns:a="http://schemas.openxmlformats.org/drawingml/2006/main">
              <a:ext uri="{FF2B5EF4-FFF2-40B4-BE49-F238E27FC236}">
                <a16:creationId xmlns:a16="http://schemas.microsoft.com/office/drawing/2014/main" id="{A1025C25-7830-440D-88B0-E7B9A7D01B7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Four forms of inner harmony</a:t>
            </a:r>
          </a:p>
        </p:txBody>
      </p:sp>
      <p:sp>
        <p:nvSpPr>
          <p:cNvPr id="3" name="text-2">
            <a:extLst xmlns:a="http://schemas.openxmlformats.org/drawingml/2006/main">
              <a:ext uri="{FF2B5EF4-FFF2-40B4-BE49-F238E27FC236}">
                <a16:creationId xmlns:a16="http://schemas.microsoft.com/office/drawing/2014/main" id="{8F03ADC2-1930-4CB8-B6F1-DE25301D36A4}"/>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F30F8F8-5031-45D7-881A-691A91789DF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19 / 40</a:t>
            </a:r>
          </a:p>
        </p:txBody>
      </p:sp>
      <p:sp>
        <p:nvSpPr>
          <p:cNvPr id="5" name="text-4">
            <a:extLst xmlns:a="http://schemas.openxmlformats.org/drawingml/2006/main">
              <a:ext uri="{FF2B5EF4-FFF2-40B4-BE49-F238E27FC236}">
                <a16:creationId xmlns:a16="http://schemas.microsoft.com/office/drawing/2014/main" id="{0EC121EB-EEAA-42EC-8E48-4B0E4CCF6C8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Their fulfilment also has a definite expression in living.</a:t>
            </a:r>
          </a:p>
        </p:txBody>
      </p:sp>
      <p:sp>
        <p:nvSpPr>
          <p:cNvPr id="6" name="text-5">
            <a:extLst xmlns:a="http://schemas.openxmlformats.org/drawingml/2006/main">
              <a:ext uri="{FF2B5EF4-FFF2-40B4-BE49-F238E27FC236}">
                <a16:creationId xmlns:a16="http://schemas.microsoft.com/office/drawing/2014/main" id="{7270807F-A474-44AC-A197-672A9C6B311D}"/>
              </a:ext>
            </a:extLst>
          </p:cNvPr>
          <p:cNvSpPr>
            <a:spLocks xmlns:a="http://schemas.openxmlformats.org/drawingml/2006/main" noGrp="1"/>
          </p:cNvSpPr>
          <p:nvPr/>
        </p:nvSpPr>
        <p:spPr>
          <a:xfrm xmlns:a="http://schemas.openxmlformats.org/drawingml/2006/main">
            <a:off x="96202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Happiness</a:t>
            </a:r>
          </a:p>
        </p:txBody>
      </p:sp>
      <p:sp>
        <p:nvSpPr>
          <p:cNvPr id="7" name="text-6">
            <a:extLst xmlns:a="http://schemas.openxmlformats.org/drawingml/2006/main">
              <a:ext uri="{FF2B5EF4-FFF2-40B4-BE49-F238E27FC236}">
                <a16:creationId xmlns:a16="http://schemas.microsoft.com/office/drawing/2014/main" id="{7853AAB6-D8BE-49D9-8238-19F062A7979D}"/>
              </a:ext>
            </a:extLst>
          </p:cNvPr>
          <p:cNvSpPr>
            <a:spLocks xmlns:a="http://schemas.openxmlformats.org/drawingml/2006/main" noGrp="1"/>
          </p:cNvSpPr>
          <p:nvPr/>
        </p:nvSpPr>
        <p:spPr>
          <a:xfrm xmlns:a="http://schemas.openxmlformats.org/drawingml/2006/main">
            <a:off x="96202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sukh</a:t>
            </a:r>
          </a:p>
        </p:txBody>
      </p:sp>
      <p:sp>
        <p:nvSpPr>
          <p:cNvPr id="8" name="text-7">
            <a:extLst xmlns:a="http://schemas.openxmlformats.org/drawingml/2006/main">
              <a:ext uri="{FF2B5EF4-FFF2-40B4-BE49-F238E27FC236}">
                <a16:creationId xmlns:a16="http://schemas.microsoft.com/office/drawing/2014/main" id="{C5CD8B89-AFDB-4643-A7A9-EA1990C5FB63}"/>
              </a:ext>
            </a:extLst>
          </p:cNvPr>
          <p:cNvSpPr>
            <a:spLocks xmlns:a="http://schemas.openxmlformats.org/drawingml/2006/main" noGrp="1"/>
          </p:cNvSpPr>
          <p:nvPr/>
        </p:nvSpPr>
        <p:spPr>
          <a:xfrm xmlns:a="http://schemas.openxmlformats.org/drawingml/2006/main">
            <a:off x="490537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Peace</a:t>
            </a:r>
          </a:p>
        </p:txBody>
      </p:sp>
      <p:sp>
        <p:nvSpPr>
          <p:cNvPr id="9" name="text-8">
            <a:extLst xmlns:a="http://schemas.openxmlformats.org/drawingml/2006/main">
              <a:ext uri="{FF2B5EF4-FFF2-40B4-BE49-F238E27FC236}">
                <a16:creationId xmlns:a16="http://schemas.microsoft.com/office/drawing/2014/main" id="{6BF1A54A-CD61-4FD8-AACD-CE5B5D45B1F9}"/>
              </a:ext>
            </a:extLst>
          </p:cNvPr>
          <p:cNvSpPr>
            <a:spLocks xmlns:a="http://schemas.openxmlformats.org/drawingml/2006/main" noGrp="1"/>
          </p:cNvSpPr>
          <p:nvPr/>
        </p:nvSpPr>
        <p:spPr>
          <a:xfrm xmlns:a="http://schemas.openxmlformats.org/drawingml/2006/main">
            <a:off x="490537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shanti</a:t>
            </a:r>
          </a:p>
        </p:txBody>
      </p:sp>
      <p:sp>
        <p:nvSpPr>
          <p:cNvPr id="10" name="text-9">
            <a:extLst xmlns:a="http://schemas.openxmlformats.org/drawingml/2006/main">
              <a:ext uri="{FF2B5EF4-FFF2-40B4-BE49-F238E27FC236}">
                <a16:creationId xmlns:a16="http://schemas.microsoft.com/office/drawing/2014/main" id="{24454A65-F713-475E-B709-8EC10FD08442}"/>
              </a:ext>
            </a:extLst>
          </p:cNvPr>
          <p:cNvSpPr>
            <a:spLocks xmlns:a="http://schemas.openxmlformats.org/drawingml/2006/main" noGrp="1"/>
          </p:cNvSpPr>
          <p:nvPr/>
        </p:nvSpPr>
        <p:spPr>
          <a:xfrm xmlns:a="http://schemas.openxmlformats.org/drawingml/2006/main">
            <a:off x="96202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Contentment</a:t>
            </a:r>
          </a:p>
        </p:txBody>
      </p:sp>
      <p:sp>
        <p:nvSpPr>
          <p:cNvPr id="11" name="text-10">
            <a:extLst xmlns:a="http://schemas.openxmlformats.org/drawingml/2006/main">
              <a:ext uri="{FF2B5EF4-FFF2-40B4-BE49-F238E27FC236}">
                <a16:creationId xmlns:a16="http://schemas.microsoft.com/office/drawing/2014/main" id="{2B458A98-E4D1-47BA-B754-67C6B8BF34C8}"/>
              </a:ext>
            </a:extLst>
          </p:cNvPr>
          <p:cNvSpPr>
            <a:spLocks xmlns:a="http://schemas.openxmlformats.org/drawingml/2006/main" noGrp="1"/>
          </p:cNvSpPr>
          <p:nvPr/>
        </p:nvSpPr>
        <p:spPr>
          <a:xfrm xmlns:a="http://schemas.openxmlformats.org/drawingml/2006/main">
            <a:off x="96202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santosh</a:t>
            </a:r>
          </a:p>
        </p:txBody>
      </p:sp>
      <p:sp>
        <p:nvSpPr>
          <p:cNvPr id="12" name="text-11">
            <a:extLst xmlns:a="http://schemas.openxmlformats.org/drawingml/2006/main">
              <a:ext uri="{FF2B5EF4-FFF2-40B4-BE49-F238E27FC236}">
                <a16:creationId xmlns:a16="http://schemas.microsoft.com/office/drawing/2014/main" id="{961840FB-ECD5-4281-AE28-3DB082CDAE99}"/>
              </a:ext>
            </a:extLst>
          </p:cNvPr>
          <p:cNvSpPr>
            <a:spLocks xmlns:a="http://schemas.openxmlformats.org/drawingml/2006/main" noGrp="1"/>
          </p:cNvSpPr>
          <p:nvPr/>
        </p:nvSpPr>
        <p:spPr>
          <a:xfrm xmlns:a="http://schemas.openxmlformats.org/drawingml/2006/main">
            <a:off x="490537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Bliss</a:t>
            </a:r>
          </a:p>
        </p:txBody>
      </p:sp>
      <p:sp>
        <p:nvSpPr>
          <p:cNvPr id="13" name="text-12">
            <a:extLst xmlns:a="http://schemas.openxmlformats.org/drawingml/2006/main">
              <a:ext uri="{FF2B5EF4-FFF2-40B4-BE49-F238E27FC236}">
                <a16:creationId xmlns:a16="http://schemas.microsoft.com/office/drawing/2014/main" id="{533C58BB-FE17-4353-8E33-CA46D37573BD}"/>
              </a:ext>
            </a:extLst>
          </p:cNvPr>
          <p:cNvSpPr>
            <a:spLocks xmlns:a="http://schemas.openxmlformats.org/drawingml/2006/main" noGrp="1"/>
          </p:cNvSpPr>
          <p:nvPr/>
        </p:nvSpPr>
        <p:spPr>
          <a:xfrm xmlns:a="http://schemas.openxmlformats.org/drawingml/2006/main">
            <a:off x="490537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anand</a:t>
            </a:r>
          </a:p>
        </p:txBody>
      </p:sp>
      <p:sp>
        <p:nvSpPr>
          <p:cNvPr id="14" name="text-13">
            <a:extLst xmlns:a="http://schemas.openxmlformats.org/drawingml/2006/main">
              <a:ext uri="{FF2B5EF4-FFF2-40B4-BE49-F238E27FC236}">
                <a16:creationId xmlns:a16="http://schemas.microsoft.com/office/drawing/2014/main" id="{B4F518C0-E7C7-4B8A-8B29-C3CBB5C7EE85}"/>
              </a:ext>
            </a:extLst>
          </p:cNvPr>
          <p:cNvSpPr>
            <a:spLocks xmlns:a="http://schemas.openxmlformats.org/drawingml/2006/main" noGrp="1"/>
          </p:cNvSpPr>
          <p:nvPr/>
        </p:nvSpPr>
        <p:spPr>
          <a:xfrm xmlns:a="http://schemas.openxmlformats.org/drawingml/2006/main">
            <a:off x="962025" y="3810000"/>
            <a:ext cx="752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303853"/>
                </a:solidFill>
                <a:latin typeface="Calibri"/>
                <a:ea typeface="Calibri"/>
                <a:cs typeface="Calibri"/>
              </a:defRPr>
            </a:pPr>
            <a:r>
              <a:rPr sz="2025" b="0">
                <a:solidFill>
                  <a:srgbClr val="303853"/>
                </a:solidFill>
                <a:latin typeface="Calibri"/>
                <a:ea typeface="Calibri"/>
                <a:cs typeface="Calibri"/>
              </a:rPr>
              <a:t>Each names harmony between activities of jeevan.</a:t>
            </a:r>
          </a:p>
        </p:txBody>
      </p:sp>
    </p:spTree>
    <p:extLst>
      <p:ext uri="{BB962C8B-B14F-4D97-AF65-F5344CB8AC3E}">
        <p14:creationId xmlns:p14="http://schemas.microsoft.com/office/powerpoint/2010/main" val="71075484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D44C03D-69D8-4C78-8336-C5356C337AA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FULFILMENT IN LIVING</a:t>
            </a:r>
          </a:p>
        </p:txBody>
      </p:sp>
      <p:sp>
        <p:nvSpPr>
          <p:cNvPr id="2" name="text-1">
            <a:extLst xmlns:a="http://schemas.openxmlformats.org/drawingml/2006/main">
              <a:ext uri="{FF2B5EF4-FFF2-40B4-BE49-F238E27FC236}">
                <a16:creationId xmlns:a16="http://schemas.microsoft.com/office/drawing/2014/main" id="{687F934B-4C56-40EA-A53B-A0046799792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fulfilment is cumulative</a:t>
            </a:r>
          </a:p>
        </p:txBody>
      </p:sp>
      <p:sp>
        <p:nvSpPr>
          <p:cNvPr id="3" name="text-2">
            <a:extLst xmlns:a="http://schemas.openxmlformats.org/drawingml/2006/main">
              <a:ext uri="{FF2B5EF4-FFF2-40B4-BE49-F238E27FC236}">
                <a16:creationId xmlns:a16="http://schemas.microsoft.com/office/drawing/2014/main" id="{4E8AFE67-E612-437C-B1F4-71FF4ACC0E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11B2EBE-7C45-42DF-95EC-D16F56C3C4C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20 / 40</a:t>
            </a:r>
          </a:p>
        </p:txBody>
      </p:sp>
      <p:sp>
        <p:nvSpPr>
          <p:cNvPr id="5" name="text-4">
            <a:extLst xmlns:a="http://schemas.openxmlformats.org/drawingml/2006/main">
              <a:ext uri="{FF2B5EF4-FFF2-40B4-BE49-F238E27FC236}">
                <a16:creationId xmlns:a16="http://schemas.microsoft.com/office/drawing/2014/main" id="{6FB8D8BC-DF44-4288-A3F1-CDAD85966A08}"/>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rows retain the earlier terms as fulfilment becomes more comprehensive.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095500"/>
                <a:gridCol w="5295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Cumulative fulfilment</a:t>
                      </a:r>
                    </a:p>
                  </a:txBody>
                  <a:tcPr marL="91440" marR="91440" marT="45720" marB="45720" anchor="ctr">
                    <a:solidFill>
                      <a:srgbClr val="1E2447"/>
                    </a:solidFill>
                  </a:tcPr>
                </a:tc>
              </a:tr>
              <a:tr h="590550">
                <a:tc>
                  <a:txBody>
                    <a:bodyPr lIns="123825" tIns="57150" rIns="95250" bIns="57150">
                      <a:noAutofit/>
                    </a:bodyPr>
                    <a:lstStyle/>
                    <a:p>
                      <a:r>
                        <a:rPr sz="1725" b="0">
                          <a:solidFill>
                            <a:srgbClr val="303853"/>
                          </a:solidFill>
                          <a:latin typeface="Calibri"/>
                          <a:ea typeface="Calibri"/>
                          <a:cs typeface="Calibri"/>
                        </a:rPr>
                        <a:t>Happiness</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Peace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and prosperity</a:t>
                      </a:r>
                    </a:p>
                  </a:txBody>
                  <a:tcPr marL="91440" marR="91440" marT="45720" marB="45720" anchor="ctr">
                    <a:solidFill>
                      <a:srgbClr val="F1F3F8"/>
                    </a:solidFill>
                  </a:tcPr>
                </a:tc>
              </a:tr>
              <a:tr h="590550">
                <a:tc>
                  <a:txBody>
                    <a:bodyPr lIns="123825" tIns="57150" rIns="95250" bIns="57150">
                      <a:noAutofit/>
                    </a:bodyPr>
                    <a:lstStyle/>
                    <a:p>
                      <a:r>
                        <a:rPr sz="1725" b="0">
                          <a:solidFill>
                            <a:srgbClr val="303853"/>
                          </a:solidFill>
                          <a:latin typeface="Calibri"/>
                          <a:ea typeface="Calibri"/>
                          <a:cs typeface="Calibri"/>
                        </a:rPr>
                        <a:t>Contentment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 prosperity, and fearlessness</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Bliss</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prosperity, fearlessness,</a:t>
                      </a:r>
                    </a:p>
                    <a:p>
                      <a:r>
                        <a:rPr sz="1725" b="0">
                          <a:solidFill>
                            <a:srgbClr val="303853"/>
                          </a:solidFill>
                          <a:latin typeface="Calibri"/>
                          <a:ea typeface="Calibri"/>
                          <a:cs typeface="Calibri"/>
                        </a:rPr>
                        <a:t>and coexistence</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31094314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HUMAN ESSENTIAL NATURE</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Fortitude, courage, generosity</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21 / 40</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Kindness, grace, and compassion extend this humane expression.</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Fortitude: dhirata</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Firmness towards justice.</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Courage: veerta</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Intellectual and physical powers that make justice available.</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Generosity: udarta</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offered as needed.</a:t>
            </a:r>
          </a:p>
        </p:txBody>
      </p:sp>
    </p:spTree>
    <p:extLst>
      <p:ext uri="{BB962C8B-B14F-4D97-AF65-F5344CB8AC3E}">
        <p14:creationId xmlns:p14="http://schemas.microsoft.com/office/powerpoint/2010/main" val="172022418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5CBF0B9-6393-409A-9BD8-F9532B5DA43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RECIPIENT’S SITUATION</a:t>
            </a:r>
          </a:p>
        </p:txBody>
      </p:sp>
      <p:sp>
        <p:nvSpPr>
          <p:cNvPr id="2" name="text-1">
            <a:extLst xmlns:a="http://schemas.openxmlformats.org/drawingml/2006/main">
              <a:ext uri="{FF2B5EF4-FFF2-40B4-BE49-F238E27FC236}">
                <a16:creationId xmlns:a16="http://schemas.microsoft.com/office/drawing/2014/main" id="{A9A5C60D-E085-4967-A273-9869386E903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Kindness, grace, compassion</a:t>
            </a:r>
          </a:p>
        </p:txBody>
      </p:sp>
      <p:sp>
        <p:nvSpPr>
          <p:cNvPr id="3" name="text-2">
            <a:extLst xmlns:a="http://schemas.openxmlformats.org/drawingml/2006/main">
              <a:ext uri="{FF2B5EF4-FFF2-40B4-BE49-F238E27FC236}">
                <a16:creationId xmlns:a16="http://schemas.microsoft.com/office/drawing/2014/main" id="{B0791113-3178-4F34-83EC-76A56FDCF45C}"/>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7B20D7C-7C79-4634-A84B-DB79DA45E9FA}"/>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22 / 40</a:t>
            </a:r>
          </a:p>
        </p:txBody>
      </p:sp>
      <p:sp>
        <p:nvSpPr>
          <p:cNvPr id="5" name="text-4">
            <a:extLst xmlns:a="http://schemas.openxmlformats.org/drawingml/2006/main">
              <a:ext uri="{FF2B5EF4-FFF2-40B4-BE49-F238E27FC236}">
                <a16:creationId xmlns:a16="http://schemas.microsoft.com/office/drawing/2014/main" id="{38808125-0235-4D22-A7A1-87E2413402D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Fulfilling a value requires an adequate response to actual circumstances.</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1704975"/>
                <a:gridCol w="1600200"/>
                <a:gridCol w="1514475"/>
                <a:gridCol w="2571750"/>
              </a:tblGrid>
              <a:tr h="495300">
                <a:tc>
                  <a:txBody>
                    <a:bodyPr lIns="123825" tIns="57150" rIns="95250" bIns="57150">
                      <a:noAutofit/>
                    </a:bodyPr>
                    <a:lstStyle/>
                    <a:p>
                      <a:r>
                        <a:rPr sz="1600" b="1">
                          <a:solidFill>
                            <a:srgbClr val="FFFFFF"/>
                          </a:solidFill>
                          <a:latin typeface="Calibri"/>
                          <a:ea typeface="Calibri"/>
                          <a:cs typeface="Calibri"/>
                        </a:rPr>
                        <a:t>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Receptivity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Content</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Response</a:t>
                      </a:r>
                    </a:p>
                  </a:txBody>
                  <a:tcPr marL="91440" marR="91440" marT="45720" marB="45720" anchor="ctr">
                    <a:solidFill>
                      <a:srgbClr val="1E2447"/>
                    </a:solidFill>
                  </a:tcPr>
                </a:tc>
              </a:tr>
              <a:tr h="787400">
                <a:tc>
                  <a:txBody>
                    <a:bodyPr lIns="123825" tIns="57150" rIns="95250" bIns="57150">
                      <a:noAutofit/>
                    </a:bodyPr>
                    <a:lstStyle/>
                    <a:p>
                      <a:r>
                        <a:rPr sz="1725" b="0">
                          <a:solidFill>
                            <a:srgbClr val="303853"/>
                          </a:solidFill>
                          <a:latin typeface="Calibri"/>
                          <a:ea typeface="Calibri"/>
                          <a:cs typeface="Calibri"/>
                        </a:rPr>
                        <a:t>Kindness</a:t>
                      </a:r>
                    </a:p>
                    <a:p>
                      <a:r>
                        <a:rPr sz="1725" b="0">
                          <a:solidFill>
                            <a:srgbClr val="303853"/>
                          </a:solidFill>
                          <a:latin typeface="Calibri"/>
                          <a:ea typeface="Calibri"/>
                          <a:cs typeface="Calibri"/>
                        </a:rPr>
                        <a:t>daya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Present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Make content</a:t>
                      </a:r>
                    </a:p>
                    <a:p>
                      <a:r>
                        <a:rPr sz="1725" b="0">
                          <a:solidFill>
                            <a:srgbClr val="303853"/>
                          </a:solidFill>
                          <a:latin typeface="Calibri"/>
                          <a:ea typeface="Calibri"/>
                          <a:cs typeface="Calibri"/>
                        </a:rPr>
                        <a:t>available</a:t>
                      </a:r>
                    </a:p>
                  </a:txBody>
                  <a:tcPr marL="91440" marR="91440" marT="45720" marB="45720" anchor="ctr">
                    <a:solidFill>
                      <a:srgbClr val="FFFFFF"/>
                    </a:solidFill>
                  </a:tcPr>
                </a:tc>
              </a:tr>
              <a:tr h="787400">
                <a:tc>
                  <a:txBody>
                    <a:bodyPr lIns="123825" tIns="57150" rIns="95250" bIns="57150">
                      <a:noAutofit/>
                    </a:bodyPr>
                    <a:lstStyle/>
                    <a:p>
                      <a:r>
                        <a:rPr sz="1725" b="0">
                          <a:solidFill>
                            <a:srgbClr val="303853"/>
                          </a:solidFill>
                          <a:latin typeface="Calibri"/>
                          <a:ea typeface="Calibri"/>
                          <a:cs typeface="Calibri"/>
                        </a:rPr>
                        <a:t>Grace</a:t>
                      </a:r>
                    </a:p>
                    <a:p>
                      <a:r>
                        <a:rPr sz="1725" b="0">
                          <a:solidFill>
                            <a:srgbClr val="303853"/>
                          </a:solidFill>
                          <a:latin typeface="Calibri"/>
                          <a:ea typeface="Calibri"/>
                          <a:cs typeface="Calibri"/>
                        </a:rPr>
                        <a:t>kripa</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Available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Develop</a:t>
                      </a:r>
                    </a:p>
                    <a:p>
                      <a:r>
                        <a:rPr sz="1725" b="0">
                          <a:solidFill>
                            <a:srgbClr val="303853"/>
                          </a:solidFill>
                          <a:latin typeface="Calibri"/>
                          <a:ea typeface="Calibri"/>
                          <a:cs typeface="Calibri"/>
                        </a:rPr>
                        <a:t>receptivity</a:t>
                      </a:r>
                    </a:p>
                  </a:txBody>
                  <a:tcPr marL="91440" marR="91440" marT="45720" marB="45720" anchor="ctr">
                    <a:solidFill>
                      <a:srgbClr val="F1F3F8"/>
                    </a:solidFill>
                  </a:tcPr>
                </a:tc>
              </a:tr>
              <a:tr h="787400">
                <a:tc>
                  <a:txBody>
                    <a:bodyPr lIns="123825" tIns="57150" rIns="95250" bIns="57150">
                      <a:noAutofit/>
                    </a:bodyPr>
                    <a:lstStyle/>
                    <a:p>
                      <a:r>
                        <a:rPr sz="1725" b="0">
                          <a:solidFill>
                            <a:srgbClr val="303853"/>
                          </a:solidFill>
                          <a:latin typeface="Calibri"/>
                          <a:ea typeface="Calibri"/>
                          <a:cs typeface="Calibri"/>
                        </a:rPr>
                        <a:t>Compassion</a:t>
                      </a:r>
                    </a:p>
                    <a:p>
                      <a:r>
                        <a:rPr sz="1725" b="0">
                          <a:solidFill>
                            <a:srgbClr val="303853"/>
                          </a:solidFill>
                          <a:latin typeface="Calibri"/>
                          <a:ea typeface="Calibri"/>
                          <a:cs typeface="Calibri"/>
                        </a:rPr>
                        <a:t>karuna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Develop and</a:t>
                      </a:r>
                    </a:p>
                    <a:p>
                      <a:r>
                        <a:rPr sz="1725" b="0">
                          <a:solidFill>
                            <a:srgbClr val="303853"/>
                          </a:solidFill>
                          <a:latin typeface="Calibri"/>
                          <a:ea typeface="Calibri"/>
                          <a:cs typeface="Calibri"/>
                        </a:rPr>
                        <a:t>provide both</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39431918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ORDER OF VALUE CLASSES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Dedication and human purpose</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23 / 40</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Each class serves its encompassing purpose.</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Value or means</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Purpose served</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Usefulness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Need</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Need</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Expressed values: shishta</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Expressed values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Established values</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Established values</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Human values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Human values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Jeevan values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3847E5-D33A-4B9A-838A-537DE0BA533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IN THINGS AND WORK</a:t>
            </a:r>
          </a:p>
        </p:txBody>
      </p:sp>
      <p:sp>
        <p:nvSpPr>
          <p:cNvPr id="2" name="text-1">
            <a:extLst xmlns:a="http://schemas.openxmlformats.org/drawingml/2006/main">
              <a:ext uri="{FF2B5EF4-FFF2-40B4-BE49-F238E27FC236}">
                <a16:creationId xmlns:a16="http://schemas.microsoft.com/office/drawing/2014/main" id="{A0C3BBA7-F01E-45EB-AA49-2123F91AB8F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Usefulness and aesthetic value</a:t>
            </a:r>
          </a:p>
        </p:txBody>
      </p:sp>
      <p:sp>
        <p:nvSpPr>
          <p:cNvPr id="3" name="text-2">
            <a:extLst xmlns:a="http://schemas.openxmlformats.org/drawingml/2006/main">
              <a:ext uri="{FF2B5EF4-FFF2-40B4-BE49-F238E27FC236}">
                <a16:creationId xmlns:a16="http://schemas.microsoft.com/office/drawing/2014/main" id="{1E72A59D-05F1-48D8-A594-EEEAC5BE132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B832611-F02E-47A9-87BA-0FE472F6B5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24 / 40</a:t>
            </a:r>
          </a:p>
        </p:txBody>
      </p:sp>
      <p:sp>
        <p:nvSpPr>
          <p:cNvPr id="5" name="text-4">
            <a:extLst xmlns:a="http://schemas.openxmlformats.org/drawingml/2006/main">
              <a:ext uri="{FF2B5EF4-FFF2-40B4-BE49-F238E27FC236}">
                <a16:creationId xmlns:a16="http://schemas.microsoft.com/office/drawing/2014/main" id="{B17D7672-B70F-40A4-8295-7E789C29237D}"/>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assessment begins with human need and purpose.</a:t>
            </a:r>
          </a:p>
        </p:txBody>
      </p:sp>
      <p:sp>
        <p:nvSpPr>
          <p:cNvPr id="6" name="text-5">
            <a:extLst xmlns:a="http://schemas.openxmlformats.org/drawingml/2006/main">
              <a:ext uri="{FF2B5EF4-FFF2-40B4-BE49-F238E27FC236}">
                <a16:creationId xmlns:a16="http://schemas.microsoft.com/office/drawing/2014/main" id="{9CA316D1-FFD1-45F2-9686-96BCF8268F93}"/>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Usefulness</a:t>
            </a:r>
          </a:p>
        </p:txBody>
      </p:sp>
      <p:sp>
        <p:nvSpPr>
          <p:cNvPr id="7" name="text-6">
            <a:extLst xmlns:a="http://schemas.openxmlformats.org/drawingml/2006/main">
              <a:ext uri="{FF2B5EF4-FFF2-40B4-BE49-F238E27FC236}">
                <a16:creationId xmlns:a16="http://schemas.microsoft.com/office/drawing/2014/main" id="{BEF2D90E-3C44-4697-9004-0F373E96B361}"/>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What a thing enables in nourishment, protection, and participation.</a:t>
            </a:r>
          </a:p>
        </p:txBody>
      </p:sp>
      <p:sp>
        <p:nvSpPr>
          <p:cNvPr id="8" name="text-7">
            <a:extLst xmlns:a="http://schemas.openxmlformats.org/drawingml/2006/main">
              <a:ext uri="{FF2B5EF4-FFF2-40B4-BE49-F238E27FC236}">
                <a16:creationId xmlns:a16="http://schemas.microsoft.com/office/drawing/2014/main" id="{76376C41-562D-43CC-8F7D-FB625F88D99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Aesthetic value</a:t>
            </a:r>
          </a:p>
        </p:txBody>
      </p:sp>
      <p:sp>
        <p:nvSpPr>
          <p:cNvPr id="9" name="text-8">
            <a:extLst xmlns:a="http://schemas.openxmlformats.org/drawingml/2006/main">
              <a:ext uri="{FF2B5EF4-FFF2-40B4-BE49-F238E27FC236}">
                <a16:creationId xmlns:a16="http://schemas.microsoft.com/office/drawing/2014/main" id="{E6692646-BBE8-4B1D-8807-B53F5D896D6E}"/>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Form and finish added through labour, aligned with usefulness and convenience.</a:t>
            </a:r>
          </a:p>
        </p:txBody>
      </p:sp>
    </p:spTree>
    <p:extLst>
      <p:ext uri="{BB962C8B-B14F-4D97-AF65-F5344CB8AC3E}">
        <p14:creationId xmlns:p14="http://schemas.microsoft.com/office/powerpoint/2010/main" val="104796546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881AD5A-506F-476E-958B-D38CA84A554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AND SYMBOLIC VALUATION</a:t>
            </a:r>
          </a:p>
        </p:txBody>
      </p:sp>
      <p:sp>
        <p:nvSpPr>
          <p:cNvPr id="2" name="text-1">
            <a:extLst xmlns:a="http://schemas.openxmlformats.org/drawingml/2006/main">
              <a:ext uri="{FF2B5EF4-FFF2-40B4-BE49-F238E27FC236}">
                <a16:creationId xmlns:a16="http://schemas.microsoft.com/office/drawing/2014/main" id="{127E6BF2-AA35-4153-AFA7-F6951631A61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A higher price, the same grain</a:t>
            </a:r>
          </a:p>
        </p:txBody>
      </p:sp>
      <p:sp>
        <p:nvSpPr>
          <p:cNvPr id="3" name="text-2">
            <a:extLst xmlns:a="http://schemas.openxmlformats.org/drawingml/2006/main">
              <a:ext uri="{FF2B5EF4-FFF2-40B4-BE49-F238E27FC236}">
                <a16:creationId xmlns:a16="http://schemas.microsoft.com/office/drawing/2014/main" id="{0113072F-AC96-4366-BA69-59A27EB9CB4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D57DB9D-D476-4435-8796-789EBAA2915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25 / 40</a:t>
            </a:r>
          </a:p>
        </p:txBody>
      </p:sp>
      <p:sp>
        <p:nvSpPr>
          <p:cNvPr id="5" name="text-4">
            <a:extLst xmlns:a="http://schemas.openxmlformats.org/drawingml/2006/main">
              <a:ext uri="{FF2B5EF4-FFF2-40B4-BE49-F238E27FC236}">
                <a16:creationId xmlns:a16="http://schemas.microsoft.com/office/drawing/2014/main" id="{BDECC059-7962-4D2D-964F-5178626223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Need, production, availability, and right-use guide the assessment.</a:t>
            </a:r>
          </a:p>
        </p:txBody>
      </p:sp>
      <p:sp>
        <p:nvSpPr>
          <p:cNvPr id="6" name="text-5">
            <a:extLst xmlns:a="http://schemas.openxmlformats.org/drawingml/2006/main">
              <a:ext uri="{FF2B5EF4-FFF2-40B4-BE49-F238E27FC236}">
                <a16:creationId xmlns:a16="http://schemas.microsoft.com/office/drawing/2014/main" id="{8AEE8D99-24CC-41A0-8283-ECE6068BBC60}"/>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 price doubles. The grain’s nourishing capacity remains the same.</a:t>
            </a:r>
          </a:p>
        </p:txBody>
      </p:sp>
      <p:sp>
        <p:nvSpPr>
          <p:cNvPr id="7" name="text-6">
            <a:extLst xmlns:a="http://schemas.openxmlformats.org/drawingml/2006/main">
              <a:ext uri="{FF2B5EF4-FFF2-40B4-BE49-F238E27FC236}">
                <a16:creationId xmlns:a16="http://schemas.microsoft.com/office/drawing/2014/main" id="{516EC340-7605-4BF0-A55E-5556949C5203}"/>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Money is symbolic value. Price alone does not establish usefulness.</a:t>
            </a:r>
          </a:p>
        </p:txBody>
      </p:sp>
      <p:sp>
        <p:nvSpPr>
          <p:cNvPr id="8" name="text-7">
            <a:extLst xmlns:a="http://schemas.openxmlformats.org/drawingml/2006/main">
              <a:ext uri="{FF2B5EF4-FFF2-40B4-BE49-F238E27FC236}">
                <a16:creationId xmlns:a16="http://schemas.microsoft.com/office/drawing/2014/main" id="{3A848456-E207-4EAB-9936-99B3BA9AF8AA}"/>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would make this family prosperous?</a:t>
            </a:r>
          </a:p>
        </p:txBody>
      </p:sp>
    </p:spTree>
    <p:extLst>
      <p:ext uri="{BB962C8B-B14F-4D97-AF65-F5344CB8AC3E}">
        <p14:creationId xmlns:p14="http://schemas.microsoft.com/office/powerpoint/2010/main" val="124361761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63A9280-610B-4A07-A65A-FA45A39E8F3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MATERIAL PROVISION</a:t>
            </a:r>
          </a:p>
        </p:txBody>
      </p:sp>
      <p:sp>
        <p:nvSpPr>
          <p:cNvPr id="2" name="text-1">
            <a:extLst xmlns:a="http://schemas.openxmlformats.org/drawingml/2006/main">
              <a:ext uri="{FF2B5EF4-FFF2-40B4-BE49-F238E27FC236}">
                <a16:creationId xmlns:a16="http://schemas.microsoft.com/office/drawing/2014/main" id="{D4F0EDAE-43D3-460A-93EC-0642613C44A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Production and exchange</a:t>
            </a:r>
          </a:p>
        </p:txBody>
      </p:sp>
      <p:sp>
        <p:nvSpPr>
          <p:cNvPr id="3" name="text-2">
            <a:extLst xmlns:a="http://schemas.openxmlformats.org/drawingml/2006/main">
              <a:ext uri="{FF2B5EF4-FFF2-40B4-BE49-F238E27FC236}">
                <a16:creationId xmlns:a16="http://schemas.microsoft.com/office/drawing/2014/main" id="{1F6AD4A2-D4A1-478C-B46C-FD9A028FB80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71AC2BF-A487-43A1-AA0A-7381F7DB3605}"/>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26 / 40</a:t>
            </a:r>
          </a:p>
        </p:txBody>
      </p:sp>
      <p:sp>
        <p:nvSpPr>
          <p:cNvPr id="5" name="text-4">
            <a:extLst xmlns:a="http://schemas.openxmlformats.org/drawingml/2006/main">
              <a:ext uri="{FF2B5EF4-FFF2-40B4-BE49-F238E27FC236}">
                <a16:creationId xmlns:a16="http://schemas.microsoft.com/office/drawing/2014/main" id="{74AF126A-C3F5-46BC-BD5E-F0EB507E9A0E}"/>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Prosperity includes the ability and readiness to produce beyond need.</a:t>
            </a:r>
          </a:p>
        </p:txBody>
      </p:sp>
      <p:sp>
        <p:nvSpPr>
          <p:cNvPr id="6" name="text-5">
            <a:extLst xmlns:a="http://schemas.openxmlformats.org/drawingml/2006/main">
              <a:ext uri="{FF2B5EF4-FFF2-40B4-BE49-F238E27FC236}">
                <a16:creationId xmlns:a16="http://schemas.microsoft.com/office/drawing/2014/main" id="{7867ADF7-3BB0-48EA-BF43-8C2C9C53B147}"/>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Application: prayog</a:t>
            </a:r>
          </a:p>
        </p:txBody>
      </p:sp>
      <p:sp>
        <p:nvSpPr>
          <p:cNvPr id="7" name="text-6">
            <a:extLst xmlns:a="http://schemas.openxmlformats.org/drawingml/2006/main">
              <a:ext uri="{FF2B5EF4-FFF2-40B4-BE49-F238E27FC236}">
                <a16:creationId xmlns:a16="http://schemas.microsoft.com/office/drawing/2014/main" id="{FFE369DC-3A88-435D-8BD3-76EFB236FBC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Labour establishes usefulness and aesthetic value in response to need.</a:t>
            </a:r>
          </a:p>
        </p:txBody>
      </p:sp>
      <p:sp>
        <p:nvSpPr>
          <p:cNvPr id="8" name="text-7">
            <a:extLst xmlns:a="http://schemas.openxmlformats.org/drawingml/2006/main">
              <a:ext uri="{FF2B5EF4-FFF2-40B4-BE49-F238E27FC236}">
                <a16:creationId xmlns:a16="http://schemas.microsoft.com/office/drawing/2014/main" id="{56B92F85-4B4C-4B76-94B6-5FB7E6D8D71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Production: utpadan</a:t>
            </a:r>
          </a:p>
        </p:txBody>
      </p:sp>
      <p:sp>
        <p:nvSpPr>
          <p:cNvPr id="9" name="text-8">
            <a:extLst xmlns:a="http://schemas.openxmlformats.org/drawingml/2006/main">
              <a:ext uri="{FF2B5EF4-FFF2-40B4-BE49-F238E27FC236}">
                <a16:creationId xmlns:a16="http://schemas.microsoft.com/office/drawing/2014/main" id="{BD8BBE55-875A-4956-A175-95D45DFA7380}"/>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 successful process becomes standardised and productive.</a:t>
            </a:r>
          </a:p>
        </p:txBody>
      </p:sp>
      <p:sp>
        <p:nvSpPr>
          <p:cNvPr id="10" name="text-9">
            <a:extLst xmlns:a="http://schemas.openxmlformats.org/drawingml/2006/main">
              <a:ext uri="{FF2B5EF4-FFF2-40B4-BE49-F238E27FC236}">
                <a16:creationId xmlns:a16="http://schemas.microsoft.com/office/drawing/2014/main" id="{83603965-EBDA-4FE3-B335-2EFD9542440F}"/>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Exchange</a:t>
            </a:r>
          </a:p>
        </p:txBody>
      </p:sp>
      <p:sp>
        <p:nvSpPr>
          <p:cNvPr id="11" name="text-10">
            <a:extLst xmlns:a="http://schemas.openxmlformats.org/drawingml/2006/main">
              <a:ext uri="{FF2B5EF4-FFF2-40B4-BE49-F238E27FC236}">
                <a16:creationId xmlns:a16="http://schemas.microsoft.com/office/drawing/2014/main" id="{EA54C9B5-14E4-4071-BE46-690DA3A9808D}"/>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Labour-value assessment protects labour and its fruits from exploitation.</a:t>
            </a:r>
          </a:p>
        </p:txBody>
      </p:sp>
    </p:spTree>
    <p:extLst>
      <p:ext uri="{BB962C8B-B14F-4D97-AF65-F5344CB8AC3E}">
        <p14:creationId xmlns:p14="http://schemas.microsoft.com/office/powerpoint/2010/main" val="13671935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A3D2421-1C36-4455-8578-D70AF201792D}"/>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PURPOSE OF MEANS</a:t>
            </a:r>
          </a:p>
        </p:txBody>
      </p:sp>
      <p:sp>
        <p:nvSpPr>
          <p:cNvPr id="2" name="text-1">
            <a:extLst xmlns:a="http://schemas.openxmlformats.org/drawingml/2006/main">
              <a:ext uri="{FF2B5EF4-FFF2-40B4-BE49-F238E27FC236}">
                <a16:creationId xmlns:a16="http://schemas.microsoft.com/office/drawing/2014/main" id="{488D8AB2-D83D-4318-BC2A-528D2E7020B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Use, right-use, purposeful-use</a:t>
            </a:r>
          </a:p>
        </p:txBody>
      </p:sp>
      <p:sp>
        <p:nvSpPr>
          <p:cNvPr id="3" name="text-2">
            <a:extLst xmlns:a="http://schemas.openxmlformats.org/drawingml/2006/main">
              <a:ext uri="{FF2B5EF4-FFF2-40B4-BE49-F238E27FC236}">
                <a16:creationId xmlns:a16="http://schemas.microsoft.com/office/drawing/2014/main" id="{D3FBAD5E-9122-459C-916A-5CB65EB211AA}"/>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D9F74C4-8255-4D1A-B960-CB771A1DCE2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27 / 40</a:t>
            </a:r>
          </a:p>
        </p:txBody>
      </p:sp>
      <p:sp>
        <p:nvSpPr>
          <p:cNvPr id="5" name="text-4">
            <a:extLst xmlns:a="http://schemas.openxmlformats.org/drawingml/2006/main">
              <a:ext uri="{FF2B5EF4-FFF2-40B4-BE49-F238E27FC236}">
                <a16:creationId xmlns:a16="http://schemas.microsoft.com/office/drawing/2014/main" id="{7BF55E30-D88D-4786-8045-0F9098DD586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useful means still calls for evaluation of its purpose.</a:t>
            </a:r>
          </a:p>
        </p:txBody>
      </p:sp>
      <p:sp>
        <p:nvSpPr>
          <p:cNvPr id="6" name="text-5">
            <a:extLst xmlns:a="http://schemas.openxmlformats.org/drawingml/2006/main">
              <a:ext uri="{FF2B5EF4-FFF2-40B4-BE49-F238E27FC236}">
                <a16:creationId xmlns:a16="http://schemas.microsoft.com/office/drawing/2014/main" id="{EEE2A4F4-8B90-4159-BCDD-9BCE76DAD7C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Use</a:t>
            </a:r>
          </a:p>
        </p:txBody>
      </p:sp>
      <p:sp>
        <p:nvSpPr>
          <p:cNvPr id="7" name="text-6">
            <a:extLst xmlns:a="http://schemas.openxmlformats.org/drawingml/2006/main">
              <a:ext uri="{FF2B5EF4-FFF2-40B4-BE49-F238E27FC236}">
                <a16:creationId xmlns:a16="http://schemas.microsoft.com/office/drawing/2014/main" id="{C7AB0F92-8D24-4F1A-9A28-4C665CDB5DDA}"/>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Means deployed in production and service.</a:t>
            </a:r>
          </a:p>
        </p:txBody>
      </p:sp>
      <p:sp>
        <p:nvSpPr>
          <p:cNvPr id="8" name="text-7">
            <a:extLst xmlns:a="http://schemas.openxmlformats.org/drawingml/2006/main">
              <a:ext uri="{FF2B5EF4-FFF2-40B4-BE49-F238E27FC236}">
                <a16:creationId xmlns:a16="http://schemas.microsoft.com/office/drawing/2014/main" id="{1FEB42D1-AC88-425E-98A5-FA6803834A6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Right-use: sadupyog</a:t>
            </a:r>
          </a:p>
        </p:txBody>
      </p:sp>
      <p:sp>
        <p:nvSpPr>
          <p:cNvPr id="9" name="text-8">
            <a:extLst xmlns:a="http://schemas.openxmlformats.org/drawingml/2006/main">
              <a:ext uri="{FF2B5EF4-FFF2-40B4-BE49-F238E27FC236}">
                <a16:creationId xmlns:a16="http://schemas.microsoft.com/office/drawing/2014/main" id="{E413E8C4-983E-41CE-981F-18C69308C0C5}"/>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in family orderliness.</a:t>
            </a:r>
          </a:p>
        </p:txBody>
      </p:sp>
      <p:sp>
        <p:nvSpPr>
          <p:cNvPr id="10" name="text-9">
            <a:extLst xmlns:a="http://schemas.openxmlformats.org/drawingml/2006/main">
              <a:ext uri="{FF2B5EF4-FFF2-40B4-BE49-F238E27FC236}">
                <a16:creationId xmlns:a16="http://schemas.microsoft.com/office/drawing/2014/main" id="{919B471D-7676-4632-A8F5-04AC41813E2E}"/>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Purposeful-use: prayojansheelta</a:t>
            </a:r>
          </a:p>
        </p:txBody>
      </p:sp>
      <p:sp>
        <p:nvSpPr>
          <p:cNvPr id="11" name="text-10">
            <a:extLst xmlns:a="http://schemas.openxmlformats.org/drawingml/2006/main">
              <a:ext uri="{FF2B5EF4-FFF2-40B4-BE49-F238E27FC236}">
                <a16:creationId xmlns:a16="http://schemas.microsoft.com/office/drawing/2014/main" id="{2B4F3040-8629-4811-9A7E-0E5ADF8652C6}"/>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Participation in awakening, undivided society, and universal orderliness.</a:t>
            </a:r>
          </a:p>
        </p:txBody>
      </p:sp>
    </p:spTree>
    <p:extLst>
      <p:ext uri="{BB962C8B-B14F-4D97-AF65-F5344CB8AC3E}">
        <p14:creationId xmlns:p14="http://schemas.microsoft.com/office/powerpoint/2010/main" val="138115561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A7CFEE83-9AD5-4335-BF16-98ED514294A2}"/>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WIDER CONSEQUENCES</a:t>
            </a:r>
          </a:p>
        </p:txBody>
      </p:sp>
      <p:sp>
        <p:nvSpPr>
          <p:cNvPr id="2" name="text-1">
            <a:extLst xmlns:a="http://schemas.openxmlformats.org/drawingml/2006/main">
              <a:ext uri="{FF2B5EF4-FFF2-40B4-BE49-F238E27FC236}">
                <a16:creationId xmlns:a16="http://schemas.microsoft.com/office/drawing/2014/main" id="{E08AE14A-8492-4E18-B149-5245BC7BEAC7}"/>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Regeneration and the other orders</a:t>
            </a:r>
          </a:p>
        </p:txBody>
      </p:sp>
      <p:sp>
        <p:nvSpPr>
          <p:cNvPr id="3" name="text-2">
            <a:extLst xmlns:a="http://schemas.openxmlformats.org/drawingml/2006/main">
              <a:ext uri="{FF2B5EF4-FFF2-40B4-BE49-F238E27FC236}">
                <a16:creationId xmlns:a16="http://schemas.microsoft.com/office/drawing/2014/main" id="{3977CD5C-3A68-40F1-B735-ABF9F8FBD5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1621ACF-F5D4-426B-9F32-9FCAFCD691C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28 / 40</a:t>
            </a:r>
          </a:p>
        </p:txBody>
      </p:sp>
      <p:sp>
        <p:nvSpPr>
          <p:cNvPr id="5" name="text-4">
            <a:extLst xmlns:a="http://schemas.openxmlformats.org/drawingml/2006/main">
              <a:ext uri="{FF2B5EF4-FFF2-40B4-BE49-F238E27FC236}">
                <a16:creationId xmlns:a16="http://schemas.microsoft.com/office/drawing/2014/main" id="{908B76C8-486C-43F5-A396-9A387E9603D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beneficial exchange between two people can still leave wider effects unresolved.</a:t>
            </a:r>
          </a:p>
        </p:txBody>
      </p:sp>
      <p:sp>
        <p:nvSpPr>
          <p:cNvPr id="6" name="text-5">
            <a:extLst xmlns:a="http://schemas.openxmlformats.org/drawingml/2006/main">
              <a:ext uri="{FF2B5EF4-FFF2-40B4-BE49-F238E27FC236}">
                <a16:creationId xmlns:a16="http://schemas.microsoft.com/office/drawing/2014/main" id="{842E571E-1552-4169-8A44-03DEFE4E66E3}"/>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1E2447"/>
                </a:solidFill>
                <a:latin typeface="Cambria"/>
                <a:ea typeface="Cambria"/>
                <a:cs typeface="Cambria"/>
              </a:defRPr>
            </a:pPr>
            <a:r>
              <a:rPr sz="2325" b="0">
                <a:solidFill>
                  <a:srgbClr val="1E2447"/>
                </a:solidFill>
                <a:latin typeface="Cambria"/>
                <a:ea typeface="Cambria"/>
                <a:cs typeface="Cambria"/>
              </a:rPr>
              <a:t>Useful production remains answerable to the conditions of coexistence.</a:t>
            </a:r>
          </a:p>
        </p:txBody>
      </p:sp>
      <p:sp>
        <p:nvSpPr>
          <p:cNvPr id="7" name="text-6">
            <a:extLst xmlns:a="http://schemas.openxmlformats.org/drawingml/2006/main">
              <a:ext uri="{FF2B5EF4-FFF2-40B4-BE49-F238E27FC236}">
                <a16:creationId xmlns:a16="http://schemas.microsoft.com/office/drawing/2014/main" id="{BB6802D5-A5A4-457E-B91C-DEC5097A82C0}"/>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Immediate fulfilment</a:t>
            </a:r>
          </a:p>
        </p:txBody>
      </p:sp>
      <p:sp>
        <p:nvSpPr>
          <p:cNvPr id="8" name="text-7">
            <a:extLst xmlns:a="http://schemas.openxmlformats.org/drawingml/2006/main">
              <a:ext uri="{FF2B5EF4-FFF2-40B4-BE49-F238E27FC236}">
                <a16:creationId xmlns:a16="http://schemas.microsoft.com/office/drawing/2014/main" id="{347450EA-B23C-4C6F-99C0-90314ACB1586}"/>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need does the product meet?</a:t>
            </a:r>
          </a:p>
        </p:txBody>
      </p:sp>
      <p:sp>
        <p:nvSpPr>
          <p:cNvPr id="9" name="text-8">
            <a:extLst xmlns:a="http://schemas.openxmlformats.org/drawingml/2006/main">
              <a:ext uri="{FF2B5EF4-FFF2-40B4-BE49-F238E27FC236}">
                <a16:creationId xmlns:a16="http://schemas.microsoft.com/office/drawing/2014/main" id="{EA963B40-FB19-4716-A05D-1452BE013C2C}"/>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Wider participation</a:t>
            </a:r>
          </a:p>
        </p:txBody>
      </p:sp>
      <p:sp>
        <p:nvSpPr>
          <p:cNvPr id="10" name="text-9">
            <a:extLst xmlns:a="http://schemas.openxmlformats.org/drawingml/2006/main">
              <a:ext uri="{FF2B5EF4-FFF2-40B4-BE49-F238E27FC236}">
                <a16:creationId xmlns:a16="http://schemas.microsoft.com/office/drawing/2014/main" id="{09A4C135-6258-469E-AF48-7F7D47DC9F7C}"/>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does its production do to the other orders?</a:t>
            </a:r>
          </a:p>
        </p:txBody>
      </p:sp>
    </p:spTree>
    <p:extLst>
      <p:ext uri="{BB962C8B-B14F-4D97-AF65-F5344CB8AC3E}">
        <p14:creationId xmlns:p14="http://schemas.microsoft.com/office/powerpoint/2010/main" val="11264305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89A87F38-28E2-440A-8399-AFB76C869D9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EDUCATION AND CONTINUITY</a:t>
            </a:r>
          </a:p>
        </p:txBody>
      </p:sp>
      <p:sp>
        <p:nvSpPr>
          <p:cNvPr id="2" name="text-1">
            <a:extLst xmlns:a="http://schemas.openxmlformats.org/drawingml/2006/main">
              <a:ext uri="{FF2B5EF4-FFF2-40B4-BE49-F238E27FC236}">
                <a16:creationId xmlns:a16="http://schemas.microsoft.com/office/drawing/2014/main" id="{82A58EEB-4944-4684-B6C2-585A5EE9EBC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Learning through participation</a:t>
            </a:r>
          </a:p>
        </p:txBody>
      </p:sp>
      <p:sp>
        <p:nvSpPr>
          <p:cNvPr id="3" name="text-2">
            <a:extLst xmlns:a="http://schemas.openxmlformats.org/drawingml/2006/main">
              <a:ext uri="{FF2B5EF4-FFF2-40B4-BE49-F238E27FC236}">
                <a16:creationId xmlns:a16="http://schemas.microsoft.com/office/drawing/2014/main" id="{54A84BAA-8675-4B21-9CDA-4E2C13F906F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EC5152-85FD-451E-BCFC-973DD56DC78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29 / 40</a:t>
            </a:r>
          </a:p>
        </p:txBody>
      </p:sp>
      <p:sp>
        <p:nvSpPr>
          <p:cNvPr id="5" name="text-4">
            <a:extLst xmlns:a="http://schemas.openxmlformats.org/drawingml/2006/main">
              <a:ext uri="{FF2B5EF4-FFF2-40B4-BE49-F238E27FC236}">
                <a16:creationId xmlns:a16="http://schemas.microsoft.com/office/drawing/2014/main" id="{33A09012-8745-406F-834B-B4B3EF861C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Repetition supports inquiry only when its meaning and results are examined.</a:t>
            </a:r>
          </a:p>
        </p:txBody>
      </p:sp>
      <p:sp>
        <p:nvSpPr>
          <p:cNvPr id="6" name="text-5">
            <a:extLst xmlns:a="http://schemas.openxmlformats.org/drawingml/2006/main">
              <a:ext uri="{FF2B5EF4-FFF2-40B4-BE49-F238E27FC236}">
                <a16:creationId xmlns:a16="http://schemas.microsoft.com/office/drawing/2014/main" id="{B95F7163-806F-49F0-85B0-830EFB5FE1F3}"/>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Study and inquiry</a:t>
            </a:r>
          </a:p>
        </p:txBody>
      </p:sp>
      <p:sp>
        <p:nvSpPr>
          <p:cNvPr id="7" name="text-6">
            <a:extLst xmlns:a="http://schemas.openxmlformats.org/drawingml/2006/main">
              <a:ext uri="{FF2B5EF4-FFF2-40B4-BE49-F238E27FC236}">
                <a16:creationId xmlns:a16="http://schemas.microsoft.com/office/drawing/2014/main" id="{3CE6CAE2-B123-4376-AED6-ED185C393365}"/>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the meaning of the proposal.</a:t>
            </a:r>
          </a:p>
        </p:txBody>
      </p:sp>
      <p:sp>
        <p:nvSpPr>
          <p:cNvPr id="8" name="text-7">
            <a:extLst xmlns:a="http://schemas.openxmlformats.org/drawingml/2006/main">
              <a:ext uri="{FF2B5EF4-FFF2-40B4-BE49-F238E27FC236}">
                <a16:creationId xmlns:a16="http://schemas.microsoft.com/office/drawing/2014/main" id="{0A8FFC14-FC09-4E1E-8744-E75AC82926A6}"/>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Practice</a:t>
            </a:r>
          </a:p>
        </p:txBody>
      </p:sp>
      <p:sp>
        <p:nvSpPr>
          <p:cNvPr id="9" name="text-8">
            <a:extLst xmlns:a="http://schemas.openxmlformats.org/drawingml/2006/main">
              <a:ext uri="{FF2B5EF4-FFF2-40B4-BE49-F238E27FC236}">
                <a16:creationId xmlns:a16="http://schemas.microsoft.com/office/drawing/2014/main" id="{90C77C94-F397-425D-A38F-426A3A516714}"/>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Meaningful activity is examined with its purpose.</a:t>
            </a:r>
          </a:p>
        </p:txBody>
      </p:sp>
      <p:sp>
        <p:nvSpPr>
          <p:cNvPr id="10" name="text-9">
            <a:extLst xmlns:a="http://schemas.openxmlformats.org/drawingml/2006/main">
              <a:ext uri="{FF2B5EF4-FFF2-40B4-BE49-F238E27FC236}">
                <a16:creationId xmlns:a16="http://schemas.microsoft.com/office/drawing/2014/main" id="{A3232600-E755-43DA-B339-5926434E5530}"/>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Self-evaluation</a:t>
            </a:r>
          </a:p>
        </p:txBody>
      </p:sp>
      <p:sp>
        <p:nvSpPr>
          <p:cNvPr id="11" name="text-10">
            <a:extLst xmlns:a="http://schemas.openxmlformats.org/drawingml/2006/main">
              <a:ext uri="{FF2B5EF4-FFF2-40B4-BE49-F238E27FC236}">
                <a16:creationId xmlns:a16="http://schemas.microsoft.com/office/drawing/2014/main" id="{90182758-3254-46BE-9133-391E5ABFF9C8}"/>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understanding and fulfilment.</a:t>
            </a:r>
          </a:p>
        </p:txBody>
      </p:sp>
      <p:sp>
        <p:nvSpPr>
          <p:cNvPr id="12" name="text-11">
            <a:extLst xmlns:a="http://schemas.openxmlformats.org/drawingml/2006/main">
              <a:ext uri="{FF2B5EF4-FFF2-40B4-BE49-F238E27FC236}">
                <a16:creationId xmlns:a16="http://schemas.microsoft.com/office/drawing/2014/main" id="{93CF1612-4DB1-48CA-A530-7C91A97DD73D}"/>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Continuity</a:t>
            </a:r>
          </a:p>
        </p:txBody>
      </p:sp>
      <p:sp>
        <p:nvSpPr>
          <p:cNvPr id="13" name="text-12">
            <a:extLst xmlns:a="http://schemas.openxmlformats.org/drawingml/2006/main">
              <a:ext uri="{FF2B5EF4-FFF2-40B4-BE49-F238E27FC236}">
                <a16:creationId xmlns:a16="http://schemas.microsoft.com/office/drawing/2014/main" id="{27A356DC-5A16-4306-BAE2-0CC158E7CBB8}"/>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Understanding becomes sustained evidence in living.</a:t>
            </a:r>
          </a:p>
        </p:txBody>
      </p:sp>
    </p:spTree>
    <p:extLst>
      <p:ext uri="{BB962C8B-B14F-4D97-AF65-F5344CB8AC3E}">
        <p14:creationId xmlns:p14="http://schemas.microsoft.com/office/powerpoint/2010/main" val="155600860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CONTINUITY IN LIVING</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Value, character, and ethics</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30 / 40</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Understood value receives evidence in the way a person lives.</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Value</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Understood purposes and fulfilled relationships.</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Character</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Rightful wealth, marital fidelity, and kindness.</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Ethics</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Protection and right-use of body, mind, and wealth.</a:t>
            </a:r>
          </a:p>
        </p:txBody>
      </p:sp>
    </p:spTree>
    <p:extLst>
      <p:ext uri="{BB962C8B-B14F-4D97-AF65-F5344CB8AC3E}">
        <p14:creationId xmlns:p14="http://schemas.microsoft.com/office/powerpoint/2010/main" val="172022418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14BA65-6874-41ED-92B4-0331626800B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VALUES AND SOCIAL RESPONSIBILITY</a:t>
            </a:r>
          </a:p>
        </p:txBody>
      </p:sp>
      <p:sp>
        <p:nvSpPr>
          <p:cNvPr id="2" name="text-1">
            <a:extLst xmlns:a="http://schemas.openxmlformats.org/drawingml/2006/main">
              <a:ext uri="{FF2B5EF4-FFF2-40B4-BE49-F238E27FC236}">
                <a16:creationId xmlns:a16="http://schemas.microsoft.com/office/drawing/2014/main" id="{D5313E4B-0243-4C58-8A6B-097EEFE967F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Institutions have work to fulfil</a:t>
            </a:r>
          </a:p>
        </p:txBody>
      </p:sp>
      <p:sp>
        <p:nvSpPr>
          <p:cNvPr id="3" name="text-2">
            <a:extLst xmlns:a="http://schemas.openxmlformats.org/drawingml/2006/main">
              <a:ext uri="{FF2B5EF4-FFF2-40B4-BE49-F238E27FC236}">
                <a16:creationId xmlns:a16="http://schemas.microsoft.com/office/drawing/2014/main" id="{78CB73A2-0588-4D70-85DB-D608CBA0959F}"/>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BDABC35-B2A9-4B64-A2D0-10509168C56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31 / 40</a:t>
            </a:r>
          </a:p>
        </p:txBody>
      </p:sp>
      <p:sp>
        <p:nvSpPr>
          <p:cNvPr id="5" name="text-4">
            <a:extLst xmlns:a="http://schemas.openxmlformats.org/drawingml/2006/main">
              <a:ext uri="{FF2B5EF4-FFF2-40B4-BE49-F238E27FC236}">
                <a16:creationId xmlns:a16="http://schemas.microsoft.com/office/drawing/2014/main" id="{F17F5224-D115-4079-9BCB-921A4EDC031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next stage studies how these responsibilities become a shared order.</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971800"/>
                <a:gridCol w="4419600"/>
              </a:tblGrid>
              <a:tr h="495300">
                <a:tc>
                  <a:txBody>
                    <a:bodyPr lIns="123825" tIns="57150" rIns="95250" bIns="57150">
                      <a:noAutofit/>
                    </a:bodyPr>
                    <a:lstStyle/>
                    <a:p>
                      <a:r>
                        <a:rPr sz="1600" b="1">
                          <a:solidFill>
                            <a:srgbClr val="FFFFFF"/>
                          </a:solidFill>
                          <a:latin typeface="Calibri"/>
                          <a:ea typeface="Calibri"/>
                          <a:cs typeface="Calibri"/>
                        </a:rPr>
                        <a:t>Dimension of orderliness</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Criterion of fulfilment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Education–sanskar</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Understood meaning</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Justice–preservation</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Value-fulfilment and mutual satisfaction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Production–work</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Family production beyond need</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Exchange–storage</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Labour evaluation and exchange</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Health–restraint</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A body capable of evidencing awakening</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74083210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UNDERSTANDING AND ORDERLINESS</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dimensions of evidence</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32 / 40</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Realisation, behaviour, and application belong to one account.</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Realisation: anubhav</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Truth understood in coexistence.</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Behaviour: vyavahar</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Values fulfilled in recognised relationships.</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Application: prayog</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Useful work and its examined results.</a:t>
            </a:r>
          </a:p>
        </p:txBody>
      </p:sp>
    </p:spTree>
    <p:extLst>
      <p:ext uri="{BB962C8B-B14F-4D97-AF65-F5344CB8AC3E}">
        <p14:creationId xmlns:p14="http://schemas.microsoft.com/office/powerpoint/2010/main" val="172022418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5FCF58-2D7B-43C5-AB8E-D25B98A9245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PHILOSOPHICAL COMPARISON</a:t>
            </a:r>
          </a:p>
        </p:txBody>
      </p:sp>
      <p:sp>
        <p:nvSpPr>
          <p:cNvPr id="2" name="text-1">
            <a:extLst xmlns:a="http://schemas.openxmlformats.org/drawingml/2006/main">
              <a:ext uri="{FF2B5EF4-FFF2-40B4-BE49-F238E27FC236}">
                <a16:creationId xmlns:a16="http://schemas.microsoft.com/office/drawing/2014/main" id="{8F2F1AC0-D614-444B-A700-AC498984374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Where the account sits</a:t>
            </a:r>
          </a:p>
        </p:txBody>
      </p:sp>
      <p:sp>
        <p:nvSpPr>
          <p:cNvPr id="3" name="text-2">
            <a:extLst xmlns:a="http://schemas.openxmlformats.org/drawingml/2006/main">
              <a:ext uri="{FF2B5EF4-FFF2-40B4-BE49-F238E27FC236}">
                <a16:creationId xmlns:a16="http://schemas.microsoft.com/office/drawing/2014/main" id="{8DA0B2D8-54E7-457A-8856-0DECBD842E7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703F9ED-CC86-45F9-903A-36E62C0CA44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33 / 40</a:t>
            </a:r>
          </a:p>
        </p:txBody>
      </p:sp>
      <p:sp>
        <p:nvSpPr>
          <p:cNvPr id="5" name="text-4">
            <a:extLst xmlns:a="http://schemas.openxmlformats.org/drawingml/2006/main">
              <a:ext uri="{FF2B5EF4-FFF2-40B4-BE49-F238E27FC236}">
                <a16:creationId xmlns:a16="http://schemas.microsoft.com/office/drawing/2014/main" id="{34B5E74D-2F1B-4E52-963A-F8A596F0982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points of comparison, not interchangeable standards of evidence.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667000"/>
                <a:gridCol w="4724400"/>
              </a:tblGrid>
              <a:tr h="495300">
                <a:tc>
                  <a:txBody>
                    <a:bodyPr lIns="123825" tIns="57150" rIns="95250" bIns="57150">
                      <a:noAutofit/>
                    </a:bodyPr>
                    <a:lstStyle/>
                    <a:p>
                      <a:r>
                        <a:rPr sz="1600" b="1">
                          <a:solidFill>
                            <a:srgbClr val="FFFFFF"/>
                          </a:solidFill>
                          <a:latin typeface="Calibri"/>
                          <a:ea typeface="Calibri"/>
                          <a:cs typeface="Calibri"/>
                        </a:rPr>
                        <a:t>Approach</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Emphasis in the study’s comparison</a:t>
                      </a:r>
                    </a:p>
                  </a:txBody>
                  <a:tcPr marL="91440" marR="91440" marT="45720" marB="45720" anchor="ctr">
                    <a:solidFill>
                      <a:srgbClr val="1E2447"/>
                    </a:solidFill>
                  </a:tcPr>
                </a:tc>
              </a:tr>
              <a:tr h="590550">
                <a:tc>
                  <a:txBody>
                    <a:bodyPr lIns="123825" tIns="57150" rIns="95250" bIns="57150">
                      <a:noAutofit/>
                    </a:bodyPr>
                    <a:lstStyle/>
                    <a:p>
                      <a:r>
                        <a:rPr sz="1650" b="0">
                          <a:solidFill>
                            <a:srgbClr val="303853"/>
                          </a:solidFill>
                          <a:latin typeface="Calibri"/>
                          <a:ea typeface="Calibri"/>
                          <a:cs typeface="Calibri"/>
                        </a:rPr>
                        <a:t>Madhyasth Darshan</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Essentiality, relationship, and continuous fulfilment</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Advaita Vedanta</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Knowledge of the Self, ethical discipline, liberation</a:t>
                      </a:r>
                    </a:p>
                  </a:txBody>
                  <a:tcPr marL="91440" marR="91440" marT="45720" marB="45720" anchor="ctr">
                    <a:solidFill>
                      <a:srgbClr val="F1F3F8"/>
                    </a:solidFill>
                  </a:tcPr>
                </a:tc>
              </a:tr>
              <a:tr h="590550">
                <a:tc>
                  <a:txBody>
                    <a:bodyPr lIns="123825" tIns="57150" rIns="95250" bIns="57150">
                      <a:noAutofit/>
                    </a:bodyPr>
                    <a:lstStyle/>
                    <a:p>
                      <a:r>
                        <a:rPr sz="1650" b="0">
                          <a:solidFill>
                            <a:srgbClr val="303853"/>
                          </a:solidFill>
                          <a:latin typeface="Calibri"/>
                          <a:ea typeface="Calibri"/>
                          <a:cs typeface="Calibri"/>
                        </a:rPr>
                        <a:t>Western value theory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Diverse accounts of good, reasons, virtue, and objectivity</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Natural and social sciences</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Conditions, mechanisms, and measurable outcomes</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27012192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D1E0FF3-7210-4EB2-AB91-073945A62FD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EVIDENCE AND ITS LIMITS</a:t>
            </a:r>
          </a:p>
        </p:txBody>
      </p:sp>
      <p:sp>
        <p:nvSpPr>
          <p:cNvPr id="2" name="text-1">
            <a:extLst xmlns:a="http://schemas.openxmlformats.org/drawingml/2006/main">
              <a:ext uri="{FF2B5EF4-FFF2-40B4-BE49-F238E27FC236}">
                <a16:creationId xmlns:a16="http://schemas.microsoft.com/office/drawing/2014/main" id="{E87E0ED4-76BC-4690-A06D-1144714CFA60}"/>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What conduct can establish</a:t>
            </a:r>
          </a:p>
        </p:txBody>
      </p:sp>
      <p:sp>
        <p:nvSpPr>
          <p:cNvPr id="3" name="text-2">
            <a:extLst xmlns:a="http://schemas.openxmlformats.org/drawingml/2006/main">
              <a:ext uri="{FF2B5EF4-FFF2-40B4-BE49-F238E27FC236}">
                <a16:creationId xmlns:a16="http://schemas.microsoft.com/office/drawing/2014/main" id="{A0138A84-3F53-4D52-A971-4229B0DB894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2C6C2306-BDE7-4D85-8BD4-8F87F4398EF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34 / 40</a:t>
            </a:r>
          </a:p>
        </p:txBody>
      </p:sp>
      <p:sp>
        <p:nvSpPr>
          <p:cNvPr id="5" name="text-4">
            <a:extLst xmlns:a="http://schemas.openxmlformats.org/drawingml/2006/main">
              <a:ext uri="{FF2B5EF4-FFF2-40B4-BE49-F238E27FC236}">
                <a16:creationId xmlns:a16="http://schemas.microsoft.com/office/drawing/2014/main" id="{089BC316-A622-41D6-95A2-BE7A5123949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Successful participation contributes evidence without settling every claim.</a:t>
            </a:r>
          </a:p>
        </p:txBody>
      </p:sp>
      <p:sp>
        <p:nvSpPr>
          <p:cNvPr id="6" name="text-5">
            <a:extLst xmlns:a="http://schemas.openxmlformats.org/drawingml/2006/main">
              <a:ext uri="{FF2B5EF4-FFF2-40B4-BE49-F238E27FC236}">
                <a16:creationId xmlns:a16="http://schemas.microsoft.com/office/drawing/2014/main" id="{E299E79F-C04D-4DCC-9AA7-EBF5D403BFCC}"/>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Evidence in living</a:t>
            </a:r>
          </a:p>
        </p:txBody>
      </p:sp>
      <p:sp>
        <p:nvSpPr>
          <p:cNvPr id="7" name="text-6">
            <a:extLst xmlns:a="http://schemas.openxmlformats.org/drawingml/2006/main">
              <a:ext uri="{FF2B5EF4-FFF2-40B4-BE49-F238E27FC236}">
                <a16:creationId xmlns:a16="http://schemas.microsoft.com/office/drawing/2014/main" id="{FD48EA48-1997-4D4C-8A7B-99C997DC83D9}"/>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The person can explain the meaning.</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Responsibilities receive fulfilment.</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Others can examine conduct and outcomes.</a:t>
            </a:r>
          </a:p>
        </p:txBody>
      </p:sp>
      <p:sp>
        <p:nvSpPr>
          <p:cNvPr id="8" name="text-7">
            <a:extLst xmlns:a="http://schemas.openxmlformats.org/drawingml/2006/main">
              <a:ext uri="{FF2B5EF4-FFF2-40B4-BE49-F238E27FC236}">
                <a16:creationId xmlns:a16="http://schemas.microsoft.com/office/drawing/2014/main" id="{434C40E2-F438-41E9-B9B1-729C7EA46FB5}"/>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Claims needing warrant</a:t>
            </a:r>
          </a:p>
        </p:txBody>
      </p:sp>
      <p:sp>
        <p:nvSpPr>
          <p:cNvPr id="9" name="text-8">
            <a:extLst xmlns:a="http://schemas.openxmlformats.org/drawingml/2006/main">
              <a:ext uri="{FF2B5EF4-FFF2-40B4-BE49-F238E27FC236}">
                <a16:creationId xmlns:a16="http://schemas.microsoft.com/office/drawing/2014/main" id="{D3EBFA05-BA83-47F5-871F-29A275B9F323}"/>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value is objective.</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these capacities are universal.</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How jeevan’s ontology is established.</a:t>
            </a:r>
          </a:p>
        </p:txBody>
      </p:sp>
    </p:spTree>
    <p:extLst>
      <p:ext uri="{BB962C8B-B14F-4D97-AF65-F5344CB8AC3E}">
        <p14:creationId xmlns:p14="http://schemas.microsoft.com/office/powerpoint/2010/main" val="106445722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7857ED9-2A24-469F-AB72-216CFEE2168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AN OPEN PROBLEM</a:t>
            </a:r>
          </a:p>
        </p:txBody>
      </p:sp>
      <p:sp>
        <p:nvSpPr>
          <p:cNvPr id="2" name="text-1">
            <a:extLst xmlns:a="http://schemas.openxmlformats.org/drawingml/2006/main">
              <a:ext uri="{FF2B5EF4-FFF2-40B4-BE49-F238E27FC236}">
                <a16:creationId xmlns:a16="http://schemas.microsoft.com/office/drawing/2014/main" id="{3A200848-ABB1-409B-A5B6-A5EB0A5412B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Two needs, one hour of care</a:t>
            </a:r>
          </a:p>
        </p:txBody>
      </p:sp>
      <p:sp>
        <p:nvSpPr>
          <p:cNvPr id="3" name="text-2">
            <a:extLst xmlns:a="http://schemas.openxmlformats.org/drawingml/2006/main">
              <a:ext uri="{FF2B5EF4-FFF2-40B4-BE49-F238E27FC236}">
                <a16:creationId xmlns:a16="http://schemas.microsoft.com/office/drawing/2014/main" id="{22F7135B-EF8B-4288-A806-50F3BD0D2E0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C62B77A-FAFA-4B47-9389-118C2E2CA53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35 / 40</a:t>
            </a:r>
          </a:p>
        </p:txBody>
      </p:sp>
      <p:sp>
        <p:nvSpPr>
          <p:cNvPr id="5" name="text-4">
            <a:extLst xmlns:a="http://schemas.openxmlformats.org/drawingml/2006/main">
              <a:ext uri="{FF2B5EF4-FFF2-40B4-BE49-F238E27FC236}">
                <a16:creationId xmlns:a16="http://schemas.microsoft.com/office/drawing/2014/main" id="{202B3666-6573-4B58-BC27-B117942EBA32}"/>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value standard must be connected with a defensible decision procedure.</a:t>
            </a:r>
          </a:p>
        </p:txBody>
      </p:sp>
      <p:sp>
        <p:nvSpPr>
          <p:cNvPr id="6" name="text-5">
            <a:extLst xmlns:a="http://schemas.openxmlformats.org/drawingml/2006/main">
              <a:ext uri="{FF2B5EF4-FFF2-40B4-BE49-F238E27FC236}">
                <a16:creationId xmlns:a16="http://schemas.microsoft.com/office/drawing/2014/main" id="{52BCF56C-D924-4127-8C55-45414849221E}"/>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Two people need care. One caregiver has an hour.</a:t>
            </a:r>
          </a:p>
        </p:txBody>
      </p:sp>
      <p:sp>
        <p:nvSpPr>
          <p:cNvPr id="7" name="text-6">
            <a:extLst xmlns:a="http://schemas.openxmlformats.org/drawingml/2006/main">
              <a:ext uri="{FF2B5EF4-FFF2-40B4-BE49-F238E27FC236}">
                <a16:creationId xmlns:a16="http://schemas.microsoft.com/office/drawing/2014/main" id="{ECD36328-0F54-4C47-BB46-7019D0AB8BD8}"/>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Both have standing in the relationship. Their needs differ in urgency and in the kind of help required.</a:t>
            </a:r>
          </a:p>
        </p:txBody>
      </p:sp>
      <p:sp>
        <p:nvSpPr>
          <p:cNvPr id="8" name="text-7">
            <a:extLst xmlns:a="http://schemas.openxmlformats.org/drawingml/2006/main">
              <a:ext uri="{FF2B5EF4-FFF2-40B4-BE49-F238E27FC236}">
                <a16:creationId xmlns:a16="http://schemas.microsoft.com/office/drawing/2014/main" id="{BB7D7487-592F-4BE8-AB14-9940E0A68166}"/>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would justify the allocation?</a:t>
            </a:r>
          </a:p>
        </p:txBody>
      </p:sp>
    </p:spTree>
    <p:extLst>
      <p:ext uri="{BB962C8B-B14F-4D97-AF65-F5344CB8AC3E}">
        <p14:creationId xmlns:p14="http://schemas.microsoft.com/office/powerpoint/2010/main" val="10459169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0ADFFBCD-0678-4ED7-A355-FDADA14E28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DISCUSSION AND RECALL</a:t>
            </a:r>
          </a:p>
        </p:txBody>
      </p:sp>
      <p:sp>
        <p:nvSpPr>
          <p:cNvPr id="2" name="text-1">
            <a:extLst xmlns:a="http://schemas.openxmlformats.org/drawingml/2006/main">
              <a:ext uri="{FF2B5EF4-FFF2-40B4-BE49-F238E27FC236}">
                <a16:creationId xmlns:a16="http://schemas.microsoft.com/office/drawing/2014/main" id="{9E39C462-C6A2-4E4A-A97E-361AEA7CECE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Questions to carry out of the session</a:t>
            </a:r>
          </a:p>
        </p:txBody>
      </p:sp>
      <p:sp>
        <p:nvSpPr>
          <p:cNvPr id="3" name="text-2">
            <a:extLst xmlns:a="http://schemas.openxmlformats.org/drawingml/2006/main">
              <a:ext uri="{FF2B5EF4-FFF2-40B4-BE49-F238E27FC236}">
                <a16:creationId xmlns:a16="http://schemas.microsoft.com/office/drawing/2014/main" id="{43BE7405-0502-4AEE-B04B-8F1CF6FD43B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35822D8-866B-4497-82F9-F1788D8A748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36 / 40</a:t>
            </a:r>
          </a:p>
        </p:txBody>
      </p:sp>
      <p:sp>
        <p:nvSpPr>
          <p:cNvPr id="5" name="text-4">
            <a:extLst xmlns:a="http://schemas.openxmlformats.org/drawingml/2006/main">
              <a:ext uri="{FF2B5EF4-FFF2-40B4-BE49-F238E27FC236}">
                <a16:creationId xmlns:a16="http://schemas.microsoft.com/office/drawing/2014/main" id="{246F12CB-139F-43C8-A830-D2918874DB2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Apply these questions to one relationship or shared task you know well.</a:t>
            </a:r>
          </a:p>
        </p:txBody>
      </p:sp>
      <p:sp>
        <p:nvSpPr>
          <p:cNvPr id="6" name="text-5">
            <a:extLst xmlns:a="http://schemas.openxmlformats.org/drawingml/2006/main">
              <a:ext uri="{FF2B5EF4-FFF2-40B4-BE49-F238E27FC236}">
                <a16:creationId xmlns:a16="http://schemas.microsoft.com/office/drawing/2014/main" id="{5F5F5122-90FC-4359-9A31-6FD337258CF4}"/>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Value</a:t>
            </a:r>
          </a:p>
        </p:txBody>
      </p:sp>
      <p:sp>
        <p:nvSpPr>
          <p:cNvPr id="7" name="text-6">
            <a:extLst xmlns:a="http://schemas.openxmlformats.org/drawingml/2006/main">
              <a:ext uri="{FF2B5EF4-FFF2-40B4-BE49-F238E27FC236}">
                <a16:creationId xmlns:a16="http://schemas.microsoft.com/office/drawing/2014/main" id="{D4058518-C49F-4DA8-886C-7E76C5381587}"/>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makes recognition correct or mistaken?</a:t>
            </a:r>
          </a:p>
        </p:txBody>
      </p:sp>
      <p:sp>
        <p:nvSpPr>
          <p:cNvPr id="8" name="text-7">
            <a:extLst xmlns:a="http://schemas.openxmlformats.org/drawingml/2006/main">
              <a:ext uri="{FF2B5EF4-FFF2-40B4-BE49-F238E27FC236}">
                <a16:creationId xmlns:a16="http://schemas.microsoft.com/office/drawing/2014/main" id="{E1B6477C-EA20-4C86-A500-C8252E12F897}"/>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Correspondence</a:t>
            </a:r>
          </a:p>
        </p:txBody>
      </p:sp>
      <p:sp>
        <p:nvSpPr>
          <p:cNvPr id="9" name="text-8">
            <a:extLst xmlns:a="http://schemas.openxmlformats.org/drawingml/2006/main">
              <a:ext uri="{FF2B5EF4-FFF2-40B4-BE49-F238E27FC236}">
                <a16:creationId xmlns:a16="http://schemas.microsoft.com/office/drawing/2014/main" id="{86984B5F-BD83-470B-8BF2-5142CDD1B8C6}"/>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Which value is established, and what expresses it?</a:t>
            </a:r>
          </a:p>
        </p:txBody>
      </p:sp>
      <p:sp>
        <p:nvSpPr>
          <p:cNvPr id="10" name="text-9">
            <a:extLst xmlns:a="http://schemas.openxmlformats.org/drawingml/2006/main">
              <a:ext uri="{FF2B5EF4-FFF2-40B4-BE49-F238E27FC236}">
                <a16:creationId xmlns:a16="http://schemas.microsoft.com/office/drawing/2014/main" id="{E66F7493-5154-4893-9424-591BBFD52BA7}"/>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Learning</a:t>
            </a:r>
          </a:p>
        </p:txBody>
      </p:sp>
      <p:sp>
        <p:nvSpPr>
          <p:cNvPr id="11" name="text-10">
            <a:extLst xmlns:a="http://schemas.openxmlformats.org/drawingml/2006/main">
              <a:ext uri="{FF2B5EF4-FFF2-40B4-BE49-F238E27FC236}">
                <a16:creationId xmlns:a16="http://schemas.microsoft.com/office/drawing/2014/main" id="{397AD96D-429C-4951-A18C-C9840BCE048A}"/>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How does understanding make fulfilment continuous?</a:t>
            </a:r>
          </a:p>
        </p:txBody>
      </p:sp>
      <p:sp>
        <p:nvSpPr>
          <p:cNvPr id="12" name="text-11">
            <a:extLst xmlns:a="http://schemas.openxmlformats.org/drawingml/2006/main">
              <a:ext uri="{FF2B5EF4-FFF2-40B4-BE49-F238E27FC236}">
                <a16:creationId xmlns:a16="http://schemas.microsoft.com/office/drawing/2014/main" id="{AE3964EB-6EC3-4BDF-AA26-5B12C34D145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Justice</a:t>
            </a:r>
          </a:p>
        </p:txBody>
      </p:sp>
      <p:sp>
        <p:nvSpPr>
          <p:cNvPr id="13" name="text-12">
            <a:extLst xmlns:a="http://schemas.openxmlformats.org/drawingml/2006/main">
              <a:ext uri="{FF2B5EF4-FFF2-40B4-BE49-F238E27FC236}">
                <a16:creationId xmlns:a16="http://schemas.microsoft.com/office/drawing/2014/main" id="{90CD91B6-7747-49C8-B61D-BB804B9B6EC5}"/>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evidence shows that a responsibility was fulfilled?</a:t>
            </a:r>
          </a:p>
        </p:txBody>
      </p:sp>
    </p:spTree>
    <p:extLst>
      <p:ext uri="{BB962C8B-B14F-4D97-AF65-F5344CB8AC3E}">
        <p14:creationId xmlns:p14="http://schemas.microsoft.com/office/powerpoint/2010/main" val="871944212"/>
      </p:ext>
    </p:extLst>
  </p:cSld>
</p:sld>
</file>

<file path=ppt/slides/slide3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045EC8CA-977F-449C-BAF4-DB69EF780014}"/>
              </a:ext>
            </a:extLst>
          </p:cNvPr>
          <p:cNvSpPr>
            <a:spLocks xmlns:a="http://schemas.openxmlformats.org/drawingml/2006/main" noGrp="1"/>
          </p:cNvSpPr>
          <p:nvPr/>
        </p:nvSpPr>
        <p:spPr>
          <a:xfrm xmlns:a="http://schemas.openxmlformats.org/drawingml/2006/main">
            <a:off x="640080" y="1028700"/>
            <a:ext cx="786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1">
                <a:solidFill>
                  <a:srgbClr val="C9821E"/>
                </a:solidFill>
                <a:latin typeface="Calibri"/>
                <a:ea typeface="Calibri"/>
                <a:cs typeface="Calibri"/>
              </a:defRPr>
            </a:pPr>
            <a:r>
              <a:rPr sz="1200" b="1">
                <a:solidFill>
                  <a:srgbClr val="C9821E"/>
                </a:solidFill>
                <a:latin typeface="Calibri"/>
                <a:ea typeface="Calibri"/>
                <a:cs typeface="Calibri"/>
              </a:rPr>
              <a:t>NEXT IN START HERE</a:t>
            </a:r>
          </a:p>
        </p:txBody>
      </p:sp>
      <p:sp>
        <p:nvSpPr>
          <p:cNvPr id="2" name="text-1">
            <a:extLst xmlns:a="http://schemas.openxmlformats.org/drawingml/2006/main">
              <a:ext uri="{FF2B5EF4-FFF2-40B4-BE49-F238E27FC236}">
                <a16:creationId xmlns:a16="http://schemas.microsoft.com/office/drawing/2014/main" id="{FE43D7FF-68F1-473C-89A0-15CB33910DA9}"/>
              </a:ext>
            </a:extLst>
          </p:cNvPr>
          <p:cNvSpPr>
            <a:spLocks xmlns:a="http://schemas.openxmlformats.org/drawingml/2006/main" noGrp="1"/>
          </p:cNvSpPr>
          <p:nvPr/>
        </p:nvSpPr>
        <p:spPr>
          <a:xfrm xmlns:a="http://schemas.openxmlformats.org/drawingml/2006/main">
            <a:off x="640080" y="1628775"/>
            <a:ext cx="7762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Living the values</a:t>
            </a:r>
          </a:p>
        </p:txBody>
      </p:sp>
      <p:sp>
        <p:nvSpPr>
          <p:cNvPr id="3" name="text-2">
            <a:extLst xmlns:a="http://schemas.openxmlformats.org/drawingml/2006/main">
              <a:ext uri="{FF2B5EF4-FFF2-40B4-BE49-F238E27FC236}">
                <a16:creationId xmlns:a16="http://schemas.microsoft.com/office/drawing/2014/main" id="{B45F55DB-EC85-4681-B85E-164A85DA15AC}"/>
              </a:ext>
            </a:extLst>
          </p:cNvPr>
          <p:cNvSpPr>
            <a:spLocks xmlns:a="http://schemas.openxmlformats.org/drawingml/2006/main" noGrp="1"/>
          </p:cNvSpPr>
          <p:nvPr/>
        </p:nvSpPr>
        <p:spPr>
          <a:xfrm xmlns:a="http://schemas.openxmlformats.org/drawingml/2006/main">
            <a:off x="640080" y="2562225"/>
            <a:ext cx="7524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CE3F3"/>
                </a:solidFill>
                <a:latin typeface="Calibri"/>
                <a:ea typeface="Calibri"/>
                <a:cs typeface="Calibri"/>
              </a:defRPr>
            </a:pPr>
            <a:r>
              <a:rPr sz="2250" b="0">
                <a:solidFill>
                  <a:srgbClr val="DCE3F3"/>
                </a:solidFill>
                <a:latin typeface="Calibri"/>
                <a:ea typeface="Calibri"/>
                <a:cs typeface="Calibri"/>
              </a:rPr>
              <a:t>How do family, education, and society make value-fulfilment continuous?</a:t>
            </a:r>
          </a:p>
        </p:txBody>
      </p:sp>
      <p:sp>
        <p:nvSpPr>
          <p:cNvPr id="4" name="text-3">
            <a:extLst xmlns:a="http://schemas.openxmlformats.org/drawingml/2006/main">
              <a:ext uri="{FF2B5EF4-FFF2-40B4-BE49-F238E27FC236}">
                <a16:creationId xmlns:a16="http://schemas.microsoft.com/office/drawing/2014/main" id="{4F7D0840-C727-499E-9A9C-EF131A1E551B}"/>
              </a:ext>
            </a:extLst>
          </p:cNvPr>
          <p:cNvSpPr>
            <a:spLocks xmlns:a="http://schemas.openxmlformats.org/drawingml/2006/main" noGrp="1"/>
          </p:cNvSpPr>
          <p:nvPr/>
        </p:nvSpPr>
        <p:spPr>
          <a:xfrm xmlns:a="http://schemas.openxmlformats.org/drawingml/2006/main">
            <a:off x="640080" y="38004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00" b="0">
                <a:solidFill>
                  <a:srgbClr val="B4C1DF"/>
                </a:solidFill>
                <a:latin typeface="Calibri"/>
                <a:ea typeface="Calibri"/>
                <a:cs typeface="Calibri"/>
              </a:defRPr>
            </a:pPr>
            <a:r>
              <a:rPr sz="1700" b="0">
                <a:solidFill>
                  <a:srgbClr val="B4C1DF"/>
                </a:solidFill>
                <a:latin typeface="Calibri"/>
                <a:ea typeface="Calibri"/>
                <a:cs typeface="Calibri"/>
              </a:rPr>
              <a:t>Next study</a:t>
            </a:r>
          </a:p>
          <a:p xmlns:a="http://schemas.openxmlformats.org/drawingml/2006/main">
            <a:pPr>
              <a:buNone/>
              <a:defRPr sz="1700" b="0">
                <a:solidFill>
                  <a:srgbClr val="B4C1DF"/>
                </a:solidFill>
                <a:latin typeface="Calibri"/>
                <a:ea typeface="Calibri"/>
                <a:cs typeface="Calibri"/>
              </a:defRPr>
            </a:pPr>
            <a:r>
              <a:rPr sz="1700" b="0">
                <a:solidFill>
                  <a:srgbClr val="B4C1DF"/>
                </a:solidFill>
                <a:latin typeface="Calibri"/>
                <a:ea typeface="Calibri"/>
                <a:cs typeface="Calibri"/>
              </a:rPr>
              <a:t>How Undivided Society Is Established</a:t>
            </a:r>
          </a:p>
        </p:txBody>
      </p:sp>
      <p:sp>
        <p:nvSpPr>
          <p:cNvPr id="5" name="text-4">
            <a:extLst xmlns:a="http://schemas.openxmlformats.org/drawingml/2006/main">
              <a:ext uri="{FF2B5EF4-FFF2-40B4-BE49-F238E27FC236}">
                <a16:creationId xmlns:a16="http://schemas.microsoft.com/office/drawing/2014/main" id="{92D9F71D-1798-4AEF-9ED3-BB64C798BF81}"/>
              </a:ext>
            </a:extLst>
          </p:cNvPr>
          <p:cNvSpPr>
            <a:spLocks xmlns:a="http://schemas.openxmlformats.org/drawingml/2006/main" noGrp="1"/>
          </p:cNvSpPr>
          <p:nvPr/>
        </p:nvSpPr>
        <p:spPr>
          <a:xfrm xmlns:a="http://schemas.openxmlformats.org/drawingml/2006/main">
            <a:off x="7743825" y="48101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B4C1DF"/>
                </a:solidFill>
                <a:latin typeface="Calibri"/>
                <a:ea typeface="Calibri"/>
                <a:cs typeface="Calibri"/>
              </a:defRPr>
            </a:pPr>
            <a:r>
              <a:rPr sz="950" b="0">
                <a:solidFill>
                  <a:srgbClr val="B4C1DF"/>
                </a:solidFill>
                <a:latin typeface="Calibri"/>
                <a:ea typeface="Calibri"/>
                <a:cs typeface="Calibri"/>
              </a:rPr>
              <a:t>37 / 40</a:t>
            </a:r>
          </a:p>
        </p:txBody>
      </p:sp>
    </p:spTree>
    <p:extLst>
      <p:ext uri="{BB962C8B-B14F-4D97-AF65-F5344CB8AC3E}">
        <p14:creationId xmlns:p14="http://schemas.microsoft.com/office/powerpoint/2010/main" val="134891412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C343771-3CD3-457D-99BF-AC1239D9401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TERMINOLOGY</a:t>
            </a:r>
          </a:p>
        </p:txBody>
      </p:sp>
      <p:sp>
        <p:nvSpPr>
          <p:cNvPr id="2" name="text-1">
            <a:extLst xmlns:a="http://schemas.openxmlformats.org/drawingml/2006/main">
              <a:ext uri="{FF2B5EF4-FFF2-40B4-BE49-F238E27FC236}">
                <a16:creationId xmlns:a16="http://schemas.microsoft.com/office/drawing/2014/main" id="{4D7645B9-62BB-49D5-94F3-7A4E583EE76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Terms that need careful reading</a:t>
            </a:r>
          </a:p>
        </p:txBody>
      </p:sp>
      <p:sp>
        <p:nvSpPr>
          <p:cNvPr id="3" name="text-2">
            <a:extLst xmlns:a="http://schemas.openxmlformats.org/drawingml/2006/main">
              <a:ext uri="{FF2B5EF4-FFF2-40B4-BE49-F238E27FC236}">
                <a16:creationId xmlns:a16="http://schemas.microsoft.com/office/drawing/2014/main" id="{54107E4C-7B4C-4B23-B46A-891D8F824CA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7A72295-8DB5-4EA1-8BD4-180B2773A04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38 / 40</a:t>
            </a:r>
          </a:p>
        </p:txBody>
      </p:sp>
      <p:sp>
        <p:nvSpPr>
          <p:cNvPr id="5" name="text-4">
            <a:extLst xmlns:a="http://schemas.openxmlformats.org/drawingml/2006/main">
              <a:ext uri="{FF2B5EF4-FFF2-40B4-BE49-F238E27FC236}">
                <a16:creationId xmlns:a16="http://schemas.microsoft.com/office/drawing/2014/main" id="{8762A105-F9F2-4C26-A277-804514A098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Everyday English associations may differ from the source definitions.</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809875"/>
                <a:gridCol w="4581525"/>
              </a:tblGrid>
              <a:tr h="495300">
                <a:tc>
                  <a:txBody>
                    <a:bodyPr lIns="123825" tIns="57150" rIns="95250" bIns="57150">
                      <a:noAutofit/>
                    </a:bodyPr>
                    <a:lstStyle/>
                    <a:p>
                      <a:r>
                        <a:rPr sz="1600" b="1">
                          <a:solidFill>
                            <a:srgbClr val="FFFFFF"/>
                          </a:solidFill>
                          <a:latin typeface="Calibri"/>
                          <a:ea typeface="Calibri"/>
                          <a:cs typeface="Calibri"/>
                        </a:rPr>
                        <a:t>Term</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Meaning in this account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Bal / sthiti</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Strength / state, an active aspect of jeevan</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Shakti / gati</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Power / motion, corresponding expression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Sthapit / shishta values</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Established / expressed or civic values</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Sambandh / sampark</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Relationship / voluntarily specified contact</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Jeevan / body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Conscious unit / instrument of embodied participation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00603793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445B2E0-5D8C-4B70-8F7C-78817828C6F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JEEVAN</a:t>
            </a:r>
          </a:p>
        </p:txBody>
      </p:sp>
      <p:sp>
        <p:nvSpPr>
          <p:cNvPr id="2" name="text-1">
            <a:extLst xmlns:a="http://schemas.openxmlformats.org/drawingml/2006/main">
              <a:ext uri="{FF2B5EF4-FFF2-40B4-BE49-F238E27FC236}">
                <a16:creationId xmlns:a16="http://schemas.microsoft.com/office/drawing/2014/main" id="{6CBF3921-2C96-40EC-8F84-6999E1E7EF7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Faculties and the four harmonies</a:t>
            </a:r>
          </a:p>
        </p:txBody>
      </p:sp>
      <p:sp>
        <p:nvSpPr>
          <p:cNvPr id="3" name="text-2">
            <a:extLst xmlns:a="http://schemas.openxmlformats.org/drawingml/2006/main">
              <a:ext uri="{FF2B5EF4-FFF2-40B4-BE49-F238E27FC236}">
                <a16:creationId xmlns:a16="http://schemas.microsoft.com/office/drawing/2014/main" id="{948B4944-E82C-4049-AC95-FF28D4596016}"/>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D2CE3F-7590-4E7F-A4DB-F7B3EC3ECF9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39 / 40</a:t>
            </a:r>
          </a:p>
        </p:txBody>
      </p:sp>
      <p:sp>
        <p:nvSpPr>
          <p:cNvPr id="5" name="text-4">
            <a:extLst xmlns:a="http://schemas.openxmlformats.org/drawingml/2006/main">
              <a:ext uri="{FF2B5EF4-FFF2-40B4-BE49-F238E27FC236}">
                <a16:creationId xmlns:a16="http://schemas.microsoft.com/office/drawing/2014/main" id="{C1127F3F-499C-4AE3-8380-A959A23712B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preceding knowledge session develops the faculties and their activities.</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238500"/>
                <a:gridCol w="4152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Harmony between faculties</a:t>
                      </a:r>
                    </a:p>
                  </a:txBody>
                  <a:tcPr marL="91440" marR="91440" marT="45720" marB="45720" anchor="ctr">
                    <a:solidFill>
                      <a:srgbClr val="1E2447"/>
                    </a:solidFill>
                  </a:tcPr>
                </a:tc>
              </a:tr>
              <a:tr h="590550">
                <a:tc>
                  <a:txBody>
                    <a:bodyPr lIns="123825" tIns="57150" rIns="95250" bIns="57150">
                      <a:noAutofit/>
                    </a:bodyPr>
                    <a:lstStyle/>
                    <a:p>
                      <a:r>
                        <a:rPr sz="1800" b="0">
                          <a:solidFill>
                            <a:srgbClr val="303853"/>
                          </a:solidFill>
                          <a:latin typeface="Calibri"/>
                          <a:ea typeface="Calibri"/>
                          <a:cs typeface="Calibri"/>
                        </a:rPr>
                        <a:t>Happiness: sukh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mun and vritti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Peace: shanti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vritti and chitta</a:t>
                      </a:r>
                    </a:p>
                  </a:txBody>
                  <a:tcPr marL="91440" marR="91440" marT="45720" marB="45720" anchor="ctr">
                    <a:solidFill>
                      <a:srgbClr val="F1F3F8"/>
                    </a:solidFill>
                  </a:tcPr>
                </a:tc>
              </a:tr>
              <a:tr h="590550">
                <a:tc>
                  <a:txBody>
                    <a:bodyPr lIns="123825" tIns="57150" rIns="95250" bIns="57150">
                      <a:noAutofit/>
                    </a:bodyPr>
                    <a:lstStyle/>
                    <a:p>
                      <a:r>
                        <a:rPr sz="1800" b="0">
                          <a:solidFill>
                            <a:srgbClr val="303853"/>
                          </a:solidFill>
                          <a:latin typeface="Calibri"/>
                          <a:ea typeface="Calibri"/>
                          <a:cs typeface="Calibri"/>
                        </a:rPr>
                        <a:t>Contentment: santosh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chitta and buddhi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Bliss: anand</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buddhi and atma</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123339321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45AB5510-741C-4ADE-BAC4-8CF1056AE9C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READING AND SOURCE LOCATORS</a:t>
            </a:r>
          </a:p>
        </p:txBody>
      </p:sp>
      <p:sp>
        <p:nvSpPr>
          <p:cNvPr id="2" name="text-1">
            <a:extLst xmlns:a="http://schemas.openxmlformats.org/drawingml/2006/main">
              <a:ext uri="{FF2B5EF4-FFF2-40B4-BE49-F238E27FC236}">
                <a16:creationId xmlns:a16="http://schemas.microsoft.com/office/drawing/2014/main" id="{4F009D1C-85B4-4BE8-BC40-AA827A9782E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Study and primary texts</a:t>
            </a:r>
          </a:p>
        </p:txBody>
      </p:sp>
      <p:sp>
        <p:nvSpPr>
          <p:cNvPr id="3" name="text-2">
            <a:extLst xmlns:a="http://schemas.openxmlformats.org/drawingml/2006/main">
              <a:ext uri="{FF2B5EF4-FFF2-40B4-BE49-F238E27FC236}">
                <a16:creationId xmlns:a16="http://schemas.microsoft.com/office/drawing/2014/main" id="{FCE7FE09-996F-42CC-93F1-E98A968A081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B3B1BC49-720D-43CE-AB0D-472C426F285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40 / 40</a:t>
            </a:r>
          </a:p>
        </p:txBody>
      </p:sp>
      <p:sp>
        <p:nvSpPr>
          <p:cNvPr id="5" name="text-4">
            <a:extLst xmlns:a="http://schemas.openxmlformats.org/drawingml/2006/main">
              <a:ext uri="{FF2B5EF4-FFF2-40B4-BE49-F238E27FC236}">
                <a16:creationId xmlns:a16="http://schemas.microsoft.com/office/drawing/2014/main" id="{9A927C60-E31F-4C09-89D4-C39A7C087E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Primary works by Shri A. Nagraj. Page conventions appear in the notes.</a:t>
            </a:r>
          </a:p>
        </p:txBody>
      </p:sp>
      <p:sp>
        <p:nvSpPr>
          <p:cNvPr id="6" name="text-5">
            <a:extLst xmlns:a="http://schemas.openxmlformats.org/drawingml/2006/main">
              <a:ext uri="{FF2B5EF4-FFF2-40B4-BE49-F238E27FC236}">
                <a16:creationId xmlns:a16="http://schemas.microsoft.com/office/drawing/2014/main" id="{644C2237-F759-4058-9573-C7AA3FD94312}"/>
              </a:ext>
            </a:extLst>
          </p:cNvPr>
          <p:cNvSpPr>
            <a:spLocks xmlns:a="http://schemas.openxmlformats.org/drawingml/2006/main" noGrp="1"/>
          </p:cNvSpPr>
          <p:nvPr/>
        </p:nvSpPr>
        <p:spPr>
          <a:xfrm xmlns:a="http://schemas.openxmlformats.org/drawingml/2006/main">
            <a:off x="962025" y="13335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Companion study</a:t>
            </a:r>
          </a:p>
        </p:txBody>
      </p:sp>
      <p:sp>
        <p:nvSpPr>
          <p:cNvPr id="7" name="text-6">
            <a:extLst xmlns:a="http://schemas.openxmlformats.org/drawingml/2006/main">
              <a:ext uri="{FF2B5EF4-FFF2-40B4-BE49-F238E27FC236}">
                <a16:creationId xmlns:a16="http://schemas.microsoft.com/office/drawing/2014/main" id="{E6F5E558-FFE9-41B8-8DA9-3D06632B7400}"/>
              </a:ext>
            </a:extLst>
          </p:cNvPr>
          <p:cNvSpPr>
            <a:spLocks xmlns:a="http://schemas.openxmlformats.org/drawingml/2006/main" noGrp="1"/>
          </p:cNvSpPr>
          <p:nvPr/>
        </p:nvSpPr>
        <p:spPr>
          <a:xfrm xmlns:a="http://schemas.openxmlformats.org/drawingml/2006/main">
            <a:off x="3248025" y="13335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Axiology: Value Theory, §§1–8 and References</a:t>
            </a:r>
          </a:p>
        </p:txBody>
      </p:sp>
      <p:sp>
        <p:nvSpPr>
          <p:cNvPr id="8" name="text-7">
            <a:extLst xmlns:a="http://schemas.openxmlformats.org/drawingml/2006/main">
              <a:ext uri="{FF2B5EF4-FFF2-40B4-BE49-F238E27FC236}">
                <a16:creationId xmlns:a16="http://schemas.microsoft.com/office/drawing/2014/main" id="{9A774118-C1DC-4F9C-A448-C2FE784447DD}"/>
              </a:ext>
            </a:extLst>
          </p:cNvPr>
          <p:cNvSpPr>
            <a:spLocks xmlns:a="http://schemas.openxmlformats.org/drawingml/2006/main" noGrp="1"/>
          </p:cNvSpPr>
          <p:nvPr/>
        </p:nvSpPr>
        <p:spPr>
          <a:xfrm xmlns:a="http://schemas.openxmlformats.org/drawingml/2006/main">
            <a:off x="962025" y="19812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MVD</a:t>
            </a:r>
          </a:p>
        </p:txBody>
      </p:sp>
      <p:sp>
        <p:nvSpPr>
          <p:cNvPr id="9" name="text-8">
            <a:extLst xmlns:a="http://schemas.openxmlformats.org/drawingml/2006/main">
              <a:ext uri="{FF2B5EF4-FFF2-40B4-BE49-F238E27FC236}">
                <a16:creationId xmlns:a16="http://schemas.microsoft.com/office/drawing/2014/main" id="{B7F0E75F-00AC-4FD5-BB8C-C5F6E2DA8E6C}"/>
              </a:ext>
            </a:extLst>
          </p:cNvPr>
          <p:cNvSpPr>
            <a:spLocks xmlns:a="http://schemas.openxmlformats.org/drawingml/2006/main" noGrp="1"/>
          </p:cNvSpPr>
          <p:nvPr/>
        </p:nvSpPr>
        <p:spPr>
          <a:xfrm xmlns:a="http://schemas.openxmlformats.org/drawingml/2006/main">
            <a:off x="3248025" y="19812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Madhyasth Darshan / Coexistentialism</a:t>
            </a:r>
          </a:p>
        </p:txBody>
      </p:sp>
      <p:sp>
        <p:nvSpPr>
          <p:cNvPr id="10" name="text-9">
            <a:extLst xmlns:a="http://schemas.openxmlformats.org/drawingml/2006/main">
              <a:ext uri="{FF2B5EF4-FFF2-40B4-BE49-F238E27FC236}">
                <a16:creationId xmlns:a16="http://schemas.microsoft.com/office/drawing/2014/main" id="{BAA0BD16-43BE-4749-AEAE-A291077AB7B5}"/>
              </a:ext>
            </a:extLst>
          </p:cNvPr>
          <p:cNvSpPr>
            <a:spLocks xmlns:a="http://schemas.openxmlformats.org/drawingml/2006/main" noGrp="1"/>
          </p:cNvSpPr>
          <p:nvPr/>
        </p:nvSpPr>
        <p:spPr>
          <a:xfrm xmlns:a="http://schemas.openxmlformats.org/drawingml/2006/main">
            <a:off x="962025" y="26289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JV and AVD</a:t>
            </a:r>
          </a:p>
        </p:txBody>
      </p:sp>
      <p:sp>
        <p:nvSpPr>
          <p:cNvPr id="11" name="text-10">
            <a:extLst xmlns:a="http://schemas.openxmlformats.org/drawingml/2006/main">
              <a:ext uri="{FF2B5EF4-FFF2-40B4-BE49-F238E27FC236}">
                <a16:creationId xmlns:a16="http://schemas.microsoft.com/office/drawing/2014/main" id="{ABB0ADAC-D4A9-4CFD-BD2B-A76C9AE45F39}"/>
              </a:ext>
            </a:extLst>
          </p:cNvPr>
          <p:cNvSpPr>
            <a:spLocks xmlns:a="http://schemas.openxmlformats.org/drawingml/2006/main" noGrp="1"/>
          </p:cNvSpPr>
          <p:nvPr/>
        </p:nvSpPr>
        <p:spPr>
          <a:xfrm xmlns:a="http://schemas.openxmlformats.org/drawingml/2006/main">
            <a:off x="3248025" y="26289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Jeevan Vidya / Adhyatmvad</a:t>
            </a:r>
          </a:p>
        </p:txBody>
      </p:sp>
      <p:sp>
        <p:nvSpPr>
          <p:cNvPr id="12" name="text-11">
            <a:extLst xmlns:a="http://schemas.openxmlformats.org/drawingml/2006/main">
              <a:ext uri="{FF2B5EF4-FFF2-40B4-BE49-F238E27FC236}">
                <a16:creationId xmlns:a16="http://schemas.microsoft.com/office/drawing/2014/main" id="{D9FDE840-D3E2-4E82-B5DE-B3BACD423DCC}"/>
              </a:ext>
            </a:extLst>
          </p:cNvPr>
          <p:cNvSpPr>
            <a:spLocks xmlns:a="http://schemas.openxmlformats.org/drawingml/2006/main" noGrp="1"/>
          </p:cNvSpPr>
          <p:nvPr/>
        </p:nvSpPr>
        <p:spPr>
          <a:xfrm xmlns:a="http://schemas.openxmlformats.org/drawingml/2006/main">
            <a:off x="962025" y="32766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SB, KD, and MAD</a:t>
            </a:r>
          </a:p>
        </p:txBody>
      </p:sp>
      <p:sp>
        <p:nvSpPr>
          <p:cNvPr id="13" name="text-12">
            <a:extLst xmlns:a="http://schemas.openxmlformats.org/drawingml/2006/main">
              <a:ext uri="{FF2B5EF4-FFF2-40B4-BE49-F238E27FC236}">
                <a16:creationId xmlns:a16="http://schemas.microsoft.com/office/drawing/2014/main" id="{9CB84A94-D4FF-46B6-80BC-31C201C23163}"/>
              </a:ext>
            </a:extLst>
          </p:cNvPr>
          <p:cNvSpPr>
            <a:spLocks xmlns:a="http://schemas.openxmlformats.org/drawingml/2006/main" noGrp="1"/>
          </p:cNvSpPr>
          <p:nvPr/>
        </p:nvSpPr>
        <p:spPr>
          <a:xfrm xmlns:a="http://schemas.openxmlformats.org/drawingml/2006/main">
            <a:off x="3248025" y="32766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Bhautikvad / Karm Darshan / Abhyas Darshan</a:t>
            </a:r>
          </a:p>
        </p:txBody>
      </p:sp>
      <p:sp>
        <p:nvSpPr>
          <p:cNvPr id="14" name="text-13">
            <a:extLst xmlns:a="http://schemas.openxmlformats.org/drawingml/2006/main">
              <a:ext uri="{FF2B5EF4-FFF2-40B4-BE49-F238E27FC236}">
                <a16:creationId xmlns:a16="http://schemas.microsoft.com/office/drawing/2014/main" id="{DBDDB69A-15B7-42CC-A2C2-E69CE6E9C14C}"/>
              </a:ext>
            </a:extLst>
          </p:cNvPr>
          <p:cNvSpPr>
            <a:spLocks xmlns:a="http://schemas.openxmlformats.org/drawingml/2006/main" noGrp="1"/>
          </p:cNvSpPr>
          <p:nvPr/>
        </p:nvSpPr>
        <p:spPr>
          <a:xfrm xmlns:a="http://schemas.openxmlformats.org/drawingml/2006/main">
            <a:off x="962025" y="4010025"/>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9A6414"/>
                </a:solidFill>
                <a:latin typeface="Calibri"/>
                <a:ea typeface="Calibri"/>
                <a:cs typeface="Calibri"/>
              </a:defRPr>
            </a:pPr>
            <a:r>
              <a:rPr sz="1725" b="1">
                <a:solidFill>
                  <a:srgbClr val="9A6414"/>
                </a:solidFill>
                <a:latin typeface="Calibri"/>
                <a:ea typeface="Calibri"/>
                <a:cs typeface="Calibri"/>
                <a:hlinkClick xmlns:r="http://schemas.openxmlformats.org/officeDocument/2006/relationships" r:id="R7541f99a78ed4f3e"/>
              </a:rPr>
              <a:t>Read the study and full bibliography</a:t>
            </a:r>
          </a:p>
        </p:txBody>
      </p:sp>
    </p:spTree>
    <p:extLst>
      <p:ext uri="{BB962C8B-B14F-4D97-AF65-F5344CB8AC3E}">
        <p14:creationId xmlns:p14="http://schemas.microsoft.com/office/powerpoint/2010/main" val="550007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2026-09-05T01:52:24.1290000Z</dcterms:created>
  <dcterms:modified xsi:type="dcterms:W3CDTF">2026-09-05T01:52:24.1290000Z</dcterms:modified>
</coreProperties>
</file>