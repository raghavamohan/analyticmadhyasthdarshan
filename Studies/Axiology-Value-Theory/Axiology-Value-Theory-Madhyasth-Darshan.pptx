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60a0aaa8a5c42cb" /><Relationship Type="http://schemas.openxmlformats.org/officeDocument/2006/relationships/extended-properties" Target="/docProps/app.xml" Id="R7277ce695baf48ec" /><Relationship Type="http://schemas.openxmlformats.org/officeDocument/2006/relationships/officeDocument" Target="/ppt/presentation.xml" Id="Rb5f92438ca924b1a" /></Relationships>
</file>

<file path=ppt/presentation.xml><?xml version="1.0" encoding="utf-8"?>
<p:presentation xmlns:p="http://schemas.openxmlformats.org/presentationml/2006/main">
  <p:sldMasterIdLst>
    <p:sldMasterId xmlns:r="http://schemas.openxmlformats.org/officeDocument/2006/relationships" id="2147483648" r:id="R266d9e46fd2a42e6"/>
  </p:sldMasterIdLst>
  <p:notesMasterIdLst>
    <p:notesMasterId xmlns:r="http://schemas.openxmlformats.org/officeDocument/2006/relationships" r:id="Rf5f2de961fc3442e"/>
  </p:notesMasterIdLst>
  <p:sldIdLst>
    <p:sldId xmlns:r="http://schemas.openxmlformats.org/officeDocument/2006/relationships" id="256" r:id="Raa23a1e82a704b88"/>
    <p:sldId xmlns:r="http://schemas.openxmlformats.org/officeDocument/2006/relationships" id="257" r:id="R1063d23a57594d86"/>
    <p:sldId xmlns:r="http://schemas.openxmlformats.org/officeDocument/2006/relationships" id="258" r:id="R829b8ec2817d4813"/>
    <p:sldId xmlns:r="http://schemas.openxmlformats.org/officeDocument/2006/relationships" id="259" r:id="R5c374e7ecb0f40ca"/>
    <p:sldId xmlns:r="http://schemas.openxmlformats.org/officeDocument/2006/relationships" id="260" r:id="R093984376bb04acb"/>
    <p:sldId xmlns:r="http://schemas.openxmlformats.org/officeDocument/2006/relationships" id="261" r:id="Ra8c5baae061d4272"/>
    <p:sldId xmlns:r="http://schemas.openxmlformats.org/officeDocument/2006/relationships" id="262" r:id="Ra4fcd85cc7d347f0"/>
    <p:sldId xmlns:r="http://schemas.openxmlformats.org/officeDocument/2006/relationships" id="263" r:id="R83d881e2194c41c7"/>
    <p:sldId xmlns:r="http://schemas.openxmlformats.org/officeDocument/2006/relationships" id="264" r:id="R9c584c75e56f4a36"/>
    <p:sldId xmlns:r="http://schemas.openxmlformats.org/officeDocument/2006/relationships" id="265" r:id="R6c785854477548e6"/>
    <p:sldId xmlns:r="http://schemas.openxmlformats.org/officeDocument/2006/relationships" id="266" r:id="Rbdb42b7ec6174845"/>
    <p:sldId xmlns:r="http://schemas.openxmlformats.org/officeDocument/2006/relationships" id="267" r:id="R41d2c715819a43c4"/>
    <p:sldId xmlns:r="http://schemas.openxmlformats.org/officeDocument/2006/relationships" id="268" r:id="R2e8eb07384ef4473"/>
    <p:sldId xmlns:r="http://schemas.openxmlformats.org/officeDocument/2006/relationships" id="269" r:id="Re257c81e34704d8d"/>
    <p:sldId xmlns:r="http://schemas.openxmlformats.org/officeDocument/2006/relationships" id="270" r:id="R99183cce866644d6"/>
    <p:sldId xmlns:r="http://schemas.openxmlformats.org/officeDocument/2006/relationships" id="271" r:id="R3c3c0ef736374dca"/>
    <p:sldId xmlns:r="http://schemas.openxmlformats.org/officeDocument/2006/relationships" id="272" r:id="R6814b86ef3b14bcb"/>
    <p:sldId xmlns:r="http://schemas.openxmlformats.org/officeDocument/2006/relationships" id="273" r:id="R21888b3b20644e76"/>
    <p:sldId xmlns:r="http://schemas.openxmlformats.org/officeDocument/2006/relationships" id="274" r:id="R780e4eda44264fe6"/>
    <p:sldId xmlns:r="http://schemas.openxmlformats.org/officeDocument/2006/relationships" id="275" r:id="R14381f59c4ba4817"/>
    <p:sldId xmlns:r="http://schemas.openxmlformats.org/officeDocument/2006/relationships" id="276" r:id="R804e671ef2ba4c56"/>
    <p:sldId xmlns:r="http://schemas.openxmlformats.org/officeDocument/2006/relationships" id="277" r:id="Rc0be701ec100463e"/>
    <p:sldId xmlns:r="http://schemas.openxmlformats.org/officeDocument/2006/relationships" id="278" r:id="R85ccc3f797b3440b"/>
    <p:sldId xmlns:r="http://schemas.openxmlformats.org/officeDocument/2006/relationships" id="279" r:id="Rf9769284800b4ad9"/>
    <p:sldId xmlns:r="http://schemas.openxmlformats.org/officeDocument/2006/relationships" id="280" r:id="R7313247fe7324b60"/>
    <p:sldId xmlns:r="http://schemas.openxmlformats.org/officeDocument/2006/relationships" id="281" r:id="Rb7f003ea6590429e"/>
    <p:sldId xmlns:r="http://schemas.openxmlformats.org/officeDocument/2006/relationships" id="282" r:id="R149b8d98700f44f3"/>
    <p:sldId xmlns:r="http://schemas.openxmlformats.org/officeDocument/2006/relationships" id="283" r:id="Rd3d875417af4421d"/>
    <p:sldId xmlns:r="http://schemas.openxmlformats.org/officeDocument/2006/relationships" id="284" r:id="Rb620d3826544477b"/>
    <p:sldId xmlns:r="http://schemas.openxmlformats.org/officeDocument/2006/relationships" id="285" r:id="R0debd614258b445a"/>
    <p:sldId xmlns:r="http://schemas.openxmlformats.org/officeDocument/2006/relationships" id="286" r:id="R7994cbd7067947a5"/>
    <p:sldId xmlns:r="http://schemas.openxmlformats.org/officeDocument/2006/relationships" id="287" r:id="R9b043ea157f3496b"/>
    <p:sldId xmlns:r="http://schemas.openxmlformats.org/officeDocument/2006/relationships" id="288" r:id="R896a1ff49da24c80"/>
    <p:sldId xmlns:r="http://schemas.openxmlformats.org/officeDocument/2006/relationships" id="289" r:id="Rfb5a639656624530"/>
    <p:sldId xmlns:r="http://schemas.openxmlformats.org/officeDocument/2006/relationships" id="290" r:id="R17984dd042364a8b"/>
  </p:sldIdLst>
  <p:sldSz cx="9144000" cy="5143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49cc4e59ca14a36" /><Relationship Type="http://schemas.openxmlformats.org/officeDocument/2006/relationships/slideMaster" Target="/ppt/slideMasters/slideMaster1.xml" Id="R266d9e46fd2a42e6" /><Relationship Type="http://schemas.openxmlformats.org/officeDocument/2006/relationships/notesMaster" Target="/ppt/notesMasters/notesMaster1.xml" Id="Rf5f2de961fc3442e" /><Relationship Type="http://schemas.openxmlformats.org/officeDocument/2006/relationships/presProps" Target="/ppt/presProps.xml" Id="Rd0b3bea921a648a1" /><Relationship Type="http://schemas.openxmlformats.org/officeDocument/2006/relationships/tableStyles" Target="/ppt/tableStyles.xml" Id="R4ab09b6e86c940fa" /><Relationship Type="http://schemas.openxmlformats.org/officeDocument/2006/relationships/slide" Target="/ppt/slides/slide1.xml" Id="Raa23a1e82a704b88" /><Relationship Type="http://schemas.openxmlformats.org/officeDocument/2006/relationships/slide" Target="/ppt/slides/slide2.xml" Id="R1063d23a57594d86" /><Relationship Type="http://schemas.openxmlformats.org/officeDocument/2006/relationships/slide" Target="/ppt/slides/slide3.xml" Id="R829b8ec2817d4813" /><Relationship Type="http://schemas.openxmlformats.org/officeDocument/2006/relationships/slide" Target="/ppt/slides/slide4.xml" Id="R5c374e7ecb0f40ca" /><Relationship Type="http://schemas.openxmlformats.org/officeDocument/2006/relationships/slide" Target="/ppt/slides/slide5.xml" Id="R093984376bb04acb" /><Relationship Type="http://schemas.openxmlformats.org/officeDocument/2006/relationships/slide" Target="/ppt/slides/slide6.xml" Id="Ra8c5baae061d4272" /><Relationship Type="http://schemas.openxmlformats.org/officeDocument/2006/relationships/slide" Target="/ppt/slides/slide7.xml" Id="Ra4fcd85cc7d347f0" /><Relationship Type="http://schemas.openxmlformats.org/officeDocument/2006/relationships/slide" Target="/ppt/slides/slide8.xml" Id="R83d881e2194c41c7" /><Relationship Type="http://schemas.openxmlformats.org/officeDocument/2006/relationships/slide" Target="/ppt/slides/slide9.xml" Id="R9c584c75e56f4a36" /><Relationship Type="http://schemas.openxmlformats.org/officeDocument/2006/relationships/slide" Target="/ppt/slides/slide10.xml" Id="R6c785854477548e6" /><Relationship Type="http://schemas.openxmlformats.org/officeDocument/2006/relationships/slide" Target="/ppt/slides/slide11.xml" Id="Rbdb42b7ec6174845" /><Relationship Type="http://schemas.openxmlformats.org/officeDocument/2006/relationships/slide" Target="/ppt/slides/slide12.xml" Id="R41d2c715819a43c4" /><Relationship Type="http://schemas.openxmlformats.org/officeDocument/2006/relationships/slide" Target="/ppt/slides/slide13.xml" Id="R2e8eb07384ef4473" /><Relationship Type="http://schemas.openxmlformats.org/officeDocument/2006/relationships/slide" Target="/ppt/slides/slide14.xml" Id="Re257c81e34704d8d" /><Relationship Type="http://schemas.openxmlformats.org/officeDocument/2006/relationships/slide" Target="/ppt/slides/slide15.xml" Id="R99183cce866644d6" /><Relationship Type="http://schemas.openxmlformats.org/officeDocument/2006/relationships/slide" Target="/ppt/slides/slide16.xml" Id="R3c3c0ef736374dca" /><Relationship Type="http://schemas.openxmlformats.org/officeDocument/2006/relationships/slide" Target="/ppt/slides/slide17.xml" Id="R6814b86ef3b14bcb" /><Relationship Type="http://schemas.openxmlformats.org/officeDocument/2006/relationships/slide" Target="/ppt/slides/slide18.xml" Id="R21888b3b20644e76" /><Relationship Type="http://schemas.openxmlformats.org/officeDocument/2006/relationships/slide" Target="/ppt/slides/slide19.xml" Id="R780e4eda44264fe6" /><Relationship Type="http://schemas.openxmlformats.org/officeDocument/2006/relationships/slide" Target="/ppt/slides/slide20.xml" Id="R14381f59c4ba4817" /><Relationship Type="http://schemas.openxmlformats.org/officeDocument/2006/relationships/slide" Target="/ppt/slides/slide21.xml" Id="R804e671ef2ba4c56" /><Relationship Type="http://schemas.openxmlformats.org/officeDocument/2006/relationships/slide" Target="/ppt/slides/slide22.xml" Id="Rc0be701ec100463e" /><Relationship Type="http://schemas.openxmlformats.org/officeDocument/2006/relationships/slide" Target="/ppt/slides/slide23.xml" Id="R85ccc3f797b3440b" /><Relationship Type="http://schemas.openxmlformats.org/officeDocument/2006/relationships/slide" Target="/ppt/slides/slide24.xml" Id="Rf9769284800b4ad9" /><Relationship Type="http://schemas.openxmlformats.org/officeDocument/2006/relationships/slide" Target="/ppt/slides/slide25.xml" Id="R7313247fe7324b60" /><Relationship Type="http://schemas.openxmlformats.org/officeDocument/2006/relationships/slide" Target="/ppt/slides/slide26.xml" Id="Rb7f003ea6590429e" /><Relationship Type="http://schemas.openxmlformats.org/officeDocument/2006/relationships/slide" Target="/ppt/slides/slide27.xml" Id="R149b8d98700f44f3" /><Relationship Type="http://schemas.openxmlformats.org/officeDocument/2006/relationships/slide" Target="/ppt/slides/slide28.xml" Id="Rd3d875417af4421d" /><Relationship Type="http://schemas.openxmlformats.org/officeDocument/2006/relationships/slide" Target="/ppt/slides/slide29.xml" Id="Rb620d3826544477b" /><Relationship Type="http://schemas.openxmlformats.org/officeDocument/2006/relationships/slide" Target="/ppt/slides/slide30.xml" Id="R0debd614258b445a" /><Relationship Type="http://schemas.openxmlformats.org/officeDocument/2006/relationships/slide" Target="/ppt/slides/slide31.xml" Id="R7994cbd7067947a5" /><Relationship Type="http://schemas.openxmlformats.org/officeDocument/2006/relationships/slide" Target="/ppt/slides/slide32.xml" Id="R9b043ea157f3496b" /><Relationship Type="http://schemas.openxmlformats.org/officeDocument/2006/relationships/slide" Target="/ppt/slides/slide33.xml" Id="R896a1ff49da24c80" /><Relationship Type="http://schemas.openxmlformats.org/officeDocument/2006/relationships/slide" Target="/ppt/slides/slide34.xml" Id="Rfb5a639656624530" /><Relationship Type="http://schemas.openxmlformats.org/officeDocument/2006/relationships/slide" Target="/ppt/slides/slide35.xml" Id="R17984dd042364a8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a14d78a68f4481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ed5e87f61dc49b3" /><Relationship Type="http://schemas.openxmlformats.org/officeDocument/2006/relationships/notesMaster" Target="/ppt/notesMasters/notesMaster1.xml" Id="Rd90a6c8211614dd8" /></Relationships>
</file>

<file path=ppt/notesSlides/_rels/notesSlide2.xml.rels>&#65279;<?xml version="1.0" encoding="utf-8"?><Relationships xmlns="http://schemas.openxmlformats.org/package/2006/relationships"><Relationship Type="http://schemas.openxmlformats.org/officeDocument/2006/relationships/slide" Target="/ppt/slides/slide2.xml" Id="Rae3fed62e80c4cc4" /><Relationship Type="http://schemas.openxmlformats.org/officeDocument/2006/relationships/notesMaster" Target="/ppt/notesMasters/notesMaster1.xml" Id="R20c9a12ca89e451b" /></Relationships>
</file>

<file path=ppt/notesSlides/_rels/notesSlide3.xml.rels>&#65279;<?xml version="1.0" encoding="utf-8"?><Relationships xmlns="http://schemas.openxmlformats.org/package/2006/relationships"><Relationship Type="http://schemas.openxmlformats.org/officeDocument/2006/relationships/slide" Target="/ppt/slides/slide3.xml" Id="Rf430269e3d11486c" /><Relationship Type="http://schemas.openxmlformats.org/officeDocument/2006/relationships/notesMaster" Target="/ppt/notesMasters/notesMaster1.xml" Id="Re6f55dd5ba604393" /></Relationships>
</file>

<file path=ppt/notesSlides/_rels/notesSlide4.xml.rels>&#65279;<?xml version="1.0" encoding="utf-8"?><Relationships xmlns="http://schemas.openxmlformats.org/package/2006/relationships"><Relationship Type="http://schemas.openxmlformats.org/officeDocument/2006/relationships/slide" Target="/ppt/slides/slide4.xml" Id="R458dbb84cc8547e9" /><Relationship Type="http://schemas.openxmlformats.org/officeDocument/2006/relationships/notesMaster" Target="/ppt/notesMasters/notesMaster1.xml" Id="R748deaf239d84e41" /></Relationships>
</file>

<file path=ppt/notesSlides/_rels/notesSlide5.xml.rels>&#65279;<?xml version="1.0" encoding="utf-8"?><Relationships xmlns="http://schemas.openxmlformats.org/package/2006/relationships"><Relationship Type="http://schemas.openxmlformats.org/officeDocument/2006/relationships/slide" Target="/ppt/slides/slide5.xml" Id="R32b83fbf47a24512" /><Relationship Type="http://schemas.openxmlformats.org/officeDocument/2006/relationships/notesMaster" Target="/ppt/notesMasters/notesMaster1.xml" Id="R4532d7cc78fd493d" /></Relationships>
</file>

<file path=ppt/notesSlides/_rels/notesSlide6.xml.rels>&#65279;<?xml version="1.0" encoding="utf-8"?><Relationships xmlns="http://schemas.openxmlformats.org/package/2006/relationships"><Relationship Type="http://schemas.openxmlformats.org/officeDocument/2006/relationships/slide" Target="/ppt/slides/slide6.xml" Id="R85de4ee728b54a4b" /><Relationship Type="http://schemas.openxmlformats.org/officeDocument/2006/relationships/notesMaster" Target="/ppt/notesMasters/notesMaster1.xml" Id="R1f07fdaff9d14124" /></Relationships>
</file>

<file path=ppt/notesSlides/_rels/notesSlide7.xml.rels>&#65279;<?xml version="1.0" encoding="utf-8"?><Relationships xmlns="http://schemas.openxmlformats.org/package/2006/relationships"><Relationship Type="http://schemas.openxmlformats.org/officeDocument/2006/relationships/slide" Target="/ppt/slides/slide7.xml" Id="R51509971bd104134" /><Relationship Type="http://schemas.openxmlformats.org/officeDocument/2006/relationships/notesMaster" Target="/ppt/notesMasters/notesMaster1.xml" Id="R68049dd71749469f" /></Relationships>
</file>

<file path=ppt/notesSlides/_rels/notesSlide8.xml.rels>&#65279;<?xml version="1.0" encoding="utf-8"?><Relationships xmlns="http://schemas.openxmlformats.org/package/2006/relationships"><Relationship Type="http://schemas.openxmlformats.org/officeDocument/2006/relationships/slide" Target="/ppt/slides/slide8.xml" Id="R6ff0ca2cb268433b" /><Relationship Type="http://schemas.openxmlformats.org/officeDocument/2006/relationships/notesMaster" Target="/ppt/notesMasters/notesMaster1.xml" Id="R24d0af0c3176401c" /></Relationships>
</file>

<file path=ppt/notesSlides/_rels/notesSlide9.xml.rels>&#65279;<?xml version="1.0" encoding="utf-8"?><Relationships xmlns="http://schemas.openxmlformats.org/package/2006/relationships"><Relationship Type="http://schemas.openxmlformats.org/officeDocument/2006/relationships/slide" Target="/ppt/slides/slide9.xml" Id="R8e2187332e7842ef" /><Relationship Type="http://schemas.openxmlformats.org/officeDocument/2006/relationships/notesMaster" Target="/ppt/notesMasters/notesMaster1.xml" Id="R5de54c1ee9fb43e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77b5564e6d24749" /><Relationship Type="http://schemas.openxmlformats.org/officeDocument/2006/relationships/notesMaster" Target="/ppt/notesMasters/notesMaster1.xml" Id="Rec544b9bca534ce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a2c6952e7b248ed" /><Relationship Type="http://schemas.openxmlformats.org/officeDocument/2006/relationships/notesMaster" Target="/ppt/notesMasters/notesMaster1.xml" Id="Rcf5aa92b286c407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4be1bb0febf4cac" /><Relationship Type="http://schemas.openxmlformats.org/officeDocument/2006/relationships/notesMaster" Target="/ppt/notesMasters/notesMaster1.xml" Id="R89aac4a15c66427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c602140674b4040" /><Relationship Type="http://schemas.openxmlformats.org/officeDocument/2006/relationships/notesMaster" Target="/ppt/notesMasters/notesMaster1.xml" Id="Rd47a9904ab604c1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801db52454d4ebe" /><Relationship Type="http://schemas.openxmlformats.org/officeDocument/2006/relationships/notesMaster" Target="/ppt/notesMasters/notesMaster1.xml" Id="Ra0a15839793a43e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bab3cb15d8f4a73" /><Relationship Type="http://schemas.openxmlformats.org/officeDocument/2006/relationships/notesMaster" Target="/ppt/notesMasters/notesMaster1.xml" Id="R43e947d6b3f141fe"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e12554d366ea4e8c" /><Relationship Type="http://schemas.openxmlformats.org/officeDocument/2006/relationships/notesMaster" Target="/ppt/notesMasters/notesMaster1.xml" Id="Ref32e05660184340"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2e830a58048f4c2f" /><Relationship Type="http://schemas.openxmlformats.org/officeDocument/2006/relationships/notesMaster" Target="/ppt/notesMasters/notesMaster1.xml" Id="R23435ea4c7bd4cfb"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8382beb6150445d8" /><Relationship Type="http://schemas.openxmlformats.org/officeDocument/2006/relationships/notesMaster" Target="/ppt/notesMasters/notesMaster1.xml" Id="R1bf5336fdc5f46aa"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bbb2be7ebf7467d" /><Relationship Type="http://schemas.openxmlformats.org/officeDocument/2006/relationships/notesMaster" Target="/ppt/notesMasters/notesMaster1.xml" Id="Ra513a7b8218d45f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b56bbb781669488f" /><Relationship Type="http://schemas.openxmlformats.org/officeDocument/2006/relationships/notesMaster" Target="/ppt/notesMasters/notesMaster1.xml" Id="R5e88326387734be5"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7acee22239954b57" /><Relationship Type="http://schemas.openxmlformats.org/officeDocument/2006/relationships/notesMaster" Target="/ppt/notesMasters/notesMaster1.xml" Id="R71bb9b5a29e447bd"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50a35c1279ad4ff2" /><Relationship Type="http://schemas.openxmlformats.org/officeDocument/2006/relationships/notesMaster" Target="/ppt/notesMasters/notesMaster1.xml" Id="R45e8f9b3aada4a0a"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ef4319e183084ce4" /><Relationship Type="http://schemas.openxmlformats.org/officeDocument/2006/relationships/notesMaster" Target="/ppt/notesMasters/notesMaster1.xml" Id="R1fa19192b7104dc8"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d4cb80f712c04c76" /><Relationship Type="http://schemas.openxmlformats.org/officeDocument/2006/relationships/notesMaster" Target="/ppt/notesMasters/notesMaster1.xml" Id="R6b5fcc922025456a"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acb0ee25d8894676" /><Relationship Type="http://schemas.openxmlformats.org/officeDocument/2006/relationships/notesMaster" Target="/ppt/notesMasters/notesMaster1.xml" Id="Rd07246d96cfc4357"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aac251dcdc86429a" /><Relationship Type="http://schemas.openxmlformats.org/officeDocument/2006/relationships/notesMaster" Target="/ppt/notesMasters/notesMaster1.xml" Id="R5793ef8689044f6b"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59b12544a9e840c1" /><Relationship Type="http://schemas.openxmlformats.org/officeDocument/2006/relationships/notesMaster" Target="/ppt/notesMasters/notesMaster1.xml" Id="Rdd84496ca74f43c7"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844157dfb98848a7" /><Relationship Type="http://schemas.openxmlformats.org/officeDocument/2006/relationships/notesMaster" Target="/ppt/notesMasters/notesMaster1.xml" Id="R2ed360eacdb14232"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d116a562edf14d32" /><Relationship Type="http://schemas.openxmlformats.org/officeDocument/2006/relationships/notesMaster" Target="/ppt/notesMasters/notesMaster1.xml" Id="R85042d5476614cae"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2af9e68962fa47cd" /><Relationship Type="http://schemas.openxmlformats.org/officeDocument/2006/relationships/notesMaster" Target="/ppt/notesMasters/notesMaster1.xml" Id="Rc575fc4b71e14b19"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d15301ee1c844250" /><Relationship Type="http://schemas.openxmlformats.org/officeDocument/2006/relationships/notesMaster" Target="/ppt/notesMasters/notesMaster1.xml" Id="R225eaccadd5d45bf"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27da6426aadc4b3d" /><Relationship Type="http://schemas.openxmlformats.org/officeDocument/2006/relationships/notesMaster" Target="/ppt/notesMasters/notesMaster1.xml" Id="R058c4a3c7abb46b7"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eb1620bb645d48b7" /><Relationship Type="http://schemas.openxmlformats.org/officeDocument/2006/relationships/notesMaster" Target="/ppt/notesMasters/notesMaster1.xml" Id="Re5826f987ea94511"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4aa77e5c1f9844db" /><Relationship Type="http://schemas.openxmlformats.org/officeDocument/2006/relationships/notesMaster" Target="/ppt/notesMasters/notesMaster1.xml" Id="R855dc94282004c5c"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2f31509deb5a4ff5" /><Relationship Type="http://schemas.openxmlformats.org/officeDocument/2006/relationships/notesMaster" Target="/ppt/notesMasters/notesMaster1.xml" Id="R463f53d8c3e144f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session asks what makes something valuable, how we can evaluate it correctly, and how understanding value becomes reliable participation. Madhyasth Darshan is the philosophy of coexistence presented by Shri A. Nagraj. We are studying its proposal, including the questions its claims leave open. Familiarity with philosophy is helpful, but no detailed knowledge of its technical vocabulary is assumed. This is the fourth stage of the Start Here teaching sequence. The core session runs through the transition to living, followed by optional terminology and source slides. Allow approximately sixty to seventy-five minutes with discussion. Our central distinction will be between values established in state and their outward expression, including the possibility that learning begins with expression.</a:t>
            </a:r>
          </a:p>
          <a:p xmlns:a="http://schemas.openxmlformats.org/drawingml/2006/main">
            <a:r>
              <a:t/>
            </a:r>
          </a:p>
          <a:p xmlns:a="http://schemas.openxmlformats.org/drawingml/2006/main">
            <a:r>
              <a:t>Source: Axiology: Value Theory, §1 and §§5–7. https://analyticmadhyasthdarshan.org/Studies/Axiology-Value-Theory/Axiology-Value-Theory.html</a:t>
            </a:r>
          </a:p>
          <a:p xmlns:a="http://schemas.openxmlformats.org/drawingml/2006/main">
            <a:r>
              <a:t>Primary-text locators: MVD pp. 124–125, 306; JV p. 108; KD §3.8, p. 84. Printed page numbers, unless a section is specified. English terms follow the study's translations. Examples marked as teaching cases are illustrations, not quotations or empirical findings.</a:t>
            </a:r>
          </a:p>
          <a:p xmlns:a="http://schemas.openxmlformats.org/drawingml/2006/main">
            <a:r>
              <a:t>Image: AI-generated illustrative still life using the built-in image-generation tool. No documentary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series begins with the human being because someone is asking these questions and seeking fulfilment. Ontology examines the existence in which that person participates. Epistemology asks how understanding becomes knowledge and evidence in living. Axiology now makes the evaluative standard explicit. If we understand a relationship, what exactly does fulfilling it require? If we use a resource, what makes that use appropriate? These questions prepare the fifth stage, which studies family, education, and society. Earlier sessions are useful background rather than entrance requirements. For this session, carry forward only the ideas of coexistence, a conscious knower, and understanding evidenced through participation.</a:t>
            </a:r>
          </a:p>
          <a:p xmlns:a="http://schemas.openxmlformats.org/drawingml/2006/main">
            <a:r>
              <a:t/>
            </a:r>
          </a:p>
          <a:p xmlns:a="http://schemas.openxmlformats.org/drawingml/2006/main">
            <a:r>
              <a:t>Sources: Start Here, https://analyticmadhyasthdarshan.org/Studies/ ; companion study introduction and §1.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Imagine an ordinary shared meal. There is enough food, and nobody intends harm. The host follows a familiar routine without noticing that one guest has not received a meal. Ask the audience what has gone wrong. Some may name a poor outcome, others an unfulfilled duty, inattentiveness, or a failure of care. We do not need to decide between those answers yet. The case separates the availability of useful things from the understanding and conduct through which their value is fulfilled. It also shows why good intention is an incomplete evaluation. Later we will return to the guest's situation, the host's responsibility, and the evidence of actual fulfilment.</a:t>
            </a:r>
          </a:p>
          <a:p xmlns:a="http://schemas.openxmlformats.org/drawingml/2006/main">
            <a:r>
              <a:t/>
            </a:r>
          </a:p>
          <a:p xmlns:a="http://schemas.openxmlformats.org/drawingml/2006/main">
            <a:r>
              <a:t>Teaching case devised for this deck. Grounding: study §§1.3–1.4, MVD pp. 61–62, 311, 336.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Coexistence here is an ontological claim about existence, not merely a recommendation that people get along. Jeevan names the conscious unit in Nagraj's account. Human living joins jeevan with the body, which enables embodied participation. Mulya means value, defined through the essentiality of a unit in coexistence. That last phrase needs unpacking, which is the next step. We are introducing the framework on its own terms before asking how its claims can be warranted. We should not silently translate jeevan into a brain mechanism, or treat it as an empirically established entity just because the vocabulary has been defined. Nor should we reduce coexistence to interpersonal friendliness.</a:t>
            </a:r>
          </a:p>
          <a:p xmlns:a="http://schemas.openxmlformats.org/drawingml/2006/main">
            <a:r>
              <a:t/>
            </a:r>
          </a:p>
          <a:p xmlns:a="http://schemas.openxmlformats.org/drawingml/2006/main">
            <a:r>
              <a:t>Source: Axiology: Value Theory, §§1.1–1.2 and §7. https://analyticmadhyasthdarshan.org/Studies/Axiology-Value-Theory/Axiology-Value-Theory.html</a:t>
            </a:r>
          </a:p>
          <a:p xmlns:a="http://schemas.openxmlformats.org/drawingml/2006/main">
            <a:r>
              <a:t>Primary-text locators: SB pp. 50, 87; MVD pp. 124–125, 203; JV pp. 138–139. Printed page numbers, unless a section is specified. English terms follow the study's translations. Examples marked as teaching cases are illustrations, not quotations or empirical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study connects essentiality with essential nature, or swabhav, and dharma. A unit has a form and properties, but the account also asks what its characteristic participation is and what remains inseparable from it. Value names that essentiality in coexistence. This is a realist proposal: value does not wait for a human observer to approve it. Yet its reality is relational because participation is always in coexistence. A useful analogy is the difference between recognising that food nourishes and merely liking its flavour. The analogy illustrates recognition of a contribution. It does not by itself prove the full ontology or exhaust a unit's value. The philosophical question is whether this account can justify definite standards of evaluation.</a:t>
            </a:r>
          </a:p>
          <a:p xmlns:a="http://schemas.openxmlformats.org/drawingml/2006/main">
            <a:r>
              <a:t/>
            </a:r>
          </a:p>
          <a:p xmlns:a="http://schemas.openxmlformats.org/drawingml/2006/main">
            <a:r>
              <a:t>Source: Axiology: Value Theory, §1.1 and §7.1. https://analyticmadhyasthdarshan.org/Studies/Axiology-Value-Theory/Axiology-Value-Theory.html</a:t>
            </a:r>
          </a:p>
          <a:p xmlns:a="http://schemas.openxmlformats.org/drawingml/2006/main">
            <a:r>
              <a:t>Primary-text locators: MVD pp. 47, 124–125; SB pp. 50, 87; AVD p. 184. Printed page numbers, unless a section is specified. English terms follow the study's translations. Examples marked as teaching cases are illustrations, not quotations or empirical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philosophy does not reserve value for human feelings or human-made goods. Its account extends through the material order, the pranic order of growth, the animal order, and the human knowledge order. Their characteristics differ. What distinguishes the human possibility in this argument is the capacity for comprehensive understanding and responsible evaluation. Humans can also misrecognise and act contrary to that responsibility. This matters because the later discussion of material usefulness should not be heard as permission to treat nature solely as a store of inputs. The standard includes regeneration and nurturing the conditions in which the orders participate. A detailed derivation of particular ecological decisions remains a further task.</a:t>
            </a:r>
          </a:p>
          <a:p xmlns:a="http://schemas.openxmlformats.org/drawingml/2006/main">
            <a:r>
              <a:t/>
            </a:r>
          </a:p>
          <a:p xmlns:a="http://schemas.openxmlformats.org/drawingml/2006/main">
            <a:r>
              <a:t>Source: Axiology: Value Theory, §§1.1, 1.6 and §7. https://analyticmadhyasthdarshan.org/Studies/Axiology-Value-Theory/Axiology-Value-Theory.html</a:t>
            </a:r>
          </a:p>
          <a:p xmlns:a="http://schemas.openxmlformats.org/drawingml/2006/main">
            <a:r>
              <a:t>Primary-text locators: SB pp. 141, 179–182, 200–201, 249; MVD p. 125. Printed page numbers, unless a section is specified. English terms follow the study's translations. Examples marked as teaching cases are illustrations, not quotations or empirical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word state can suggest something static or inactive. That would be misleading here. State and motion are inseparable aspects of activity in jeevan. The study uses strength for bal and power for shakti. The detailed faculty account connects realisation with its evidence, understanding with resolve, and other paired activities. For today's central distinction, the established value belongs on the state or strength side, and the expressed value belongs on the motion or power side. Established care is therefore an active understanding and capacity. Its significance concerns the conduct it can sustain. This is the framework within which the named value correspondences and the educational sequence must be understood.</a:t>
            </a:r>
          </a:p>
          <a:p xmlns:a="http://schemas.openxmlformats.org/drawingml/2006/main">
            <a:r>
              <a:t/>
            </a:r>
          </a:p>
          <a:p xmlns:a="http://schemas.openxmlformats.org/drawingml/2006/main">
            <a:r>
              <a:t>Source: Axiology: Value Theory, §§1.2–1.3. https://analyticmadhyasthdarshan.org/Studies/Axiology-Value-Theory/Axiology-Value-Theory.html</a:t>
            </a:r>
          </a:p>
          <a:p xmlns:a="http://schemas.openxmlformats.org/drawingml/2006/main">
            <a:r>
              <a:t>Primary-text locators: KD §3.8, p. 84; MVD p. 323; AVD pp. 91–94. Printed page numbers, unless a section is specified. English terms follow the study's translations. Examples marked as teaching cases are illustrations, not quotations or empirical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Care, mamta, is paired with generosity, udarta. Care concerns nurturing and protection. Generosity makes body, mind, and wealth available as needed for awakening, health, and prosperity. The pair connects an established value in state with its outward expression in motion. Do not make this a loose association among virtues: the study specifies a one-to-one correspondence. At the same time, a single outward act does not let an observer infer established care without further examination. A learner may perform a real act of generosity while still developing the understanding that would make it continuous. We will examine that possible route of learning after seeing the wider set of named pairs.</a:t>
            </a:r>
          </a:p>
          <a:p xmlns:a="http://schemas.openxmlformats.org/drawingml/2006/main">
            <a:r>
              <a:t/>
            </a:r>
          </a:p>
          <a:p xmlns:a="http://schemas.openxmlformats.org/drawingml/2006/main">
            <a:r>
              <a:t>Source: Axiology: Value Theory, §§1.3–1.4. https://analyticmadhyasthdarshan.org/Studies/Axiology-Value-Theory/Axiology-Value-Theory.html</a:t>
            </a:r>
          </a:p>
          <a:p xmlns:a="http://schemas.openxmlformats.org/drawingml/2006/main">
            <a:r>
              <a:t>Primary-text locators: JV p. 108; AVD pp. 91–94; MVD pp. 331–340. Printed page numbers, unless a section is specified. English terms follow the study's translations. Examples marked as teaching cases are illustrations, not quotations or empirical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each row across as a specified correspondence. Care is mamta and generosity is udarta. Guidance is vatsalya and naturalness is sahajta. Trust is vishwas and concordance is saujanyata. Affection is sneha and dedication is nishtha. Gratitude is kritagyata and humility is saumyata. The English words are aids to reading the technical terms. We should not substitute every association an English word happens to carry. For example, concordance here belongs to the stated activity pair. The point for a new audience is to see that the account distinguishes establishment from expression while connecting them systematically. The optional terminology material and source passages support slower study after the session.</a:t>
            </a:r>
          </a:p>
          <a:p xmlns:a="http://schemas.openxmlformats.org/drawingml/2006/main">
            <a:r>
              <a:t/>
            </a:r>
          </a:p>
          <a:p xmlns:a="http://schemas.openxmlformats.org/drawingml/2006/main">
            <a:r>
              <a:t>Source: Axiology: Value Theory, §1.3, correspondence table. https://analyticmadhyasthdarshan.org/Studies/Axiology-Value-Theory/Axiology-Value-Theory.html</a:t>
            </a:r>
          </a:p>
          <a:p xmlns:a="http://schemas.openxmlformats.org/drawingml/2006/main">
            <a:r>
              <a:t>Primary-text locators: JV p. 108; AVD pp. 91–94; MVD pp. 331–340. Printed page numbers, unless a section is specified. English terms follow the study's translations. Examples marked as teaching cases are illustrations, not quotations or empirical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remaining rows are glory, gaurav, with simplicity, saralta; love, prem, with non-otherness, ananyata; reverence, shraddha, with devoutness, pujyata; and respect, samman, with cordiality, sauhardta. Take care with glory and devoutness, which can suggest reputation-seeking or ritual behaviour in ordinary English. Those associations should not replace the meanings in the source activity account. The nine named relationship values do not exhaust every value or every activity of jeevan. The account of awakened activity is wider. For the teaching argument, retain the relation between the two columns and the need to examine how an expression actually fulfils the relationship.</a:t>
            </a:r>
          </a:p>
          <a:p xmlns:a="http://schemas.openxmlformats.org/drawingml/2006/main">
            <a:r>
              <a:t/>
            </a:r>
          </a:p>
          <a:p xmlns:a="http://schemas.openxmlformats.org/drawingml/2006/main">
            <a:r>
              <a:t>Source: Axiology: Value Theory, §§1.2–1.3. https://analyticmadhyasthdarshan.org/Studies/Axiology-Value-Theory/Axiology-Value-Theory.html</a:t>
            </a:r>
          </a:p>
          <a:p xmlns:a="http://schemas.openxmlformats.org/drawingml/2006/main">
            <a:r>
              <a:t>Primary-text locators: JV p. 108; AVD pp. 91–94; MVD pp. 331–340. Printed page numbers, unless a section is specified. English terms follow the study's translations. Examples marked as teaching cases are illustrations, not quotations or empirical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Imagine a learner helping to prepare and distribute a meal. They may learn the outward conduct of generosity before care is established in state. The contribution can be real and useful at that stage. Study and self-evaluation then examine what the other person needs, what responsibility the relationship involves, and whether the act fulfilled it. The learner develops the corresponding understanding and continuity. This is a possible route, not a compulsory timetable for everyone and not an automatic effect of repetition. Outward performance, establishment in state, and continuous awakened evidence remain distinguishable achievements. The photograph is an imagined teaching illustration. It gives us no access to the inner state of the people depicted.</a:t>
            </a:r>
          </a:p>
          <a:p xmlns:a="http://schemas.openxmlformats.org/drawingml/2006/main">
            <a:r>
              <a:t/>
            </a:r>
          </a:p>
          <a:p xmlns:a="http://schemas.openxmlformats.org/drawingml/2006/main">
            <a:r>
              <a:t>Source: Axiology: Value Theory, §§1.3, 1.7. https://analyticmadhyasthdarshan.org/Studies/Axiology-Value-Theory/Axiology-Value-Theory.html</a:t>
            </a:r>
          </a:p>
          <a:p xmlns:a="http://schemas.openxmlformats.org/drawingml/2006/main">
            <a:r>
              <a:t>Primary-text locators: KD pp. 18–19, 37, 112–113; MVD pp. 87, 90, 94. Printed page numbers, unless a section is specified. English terms follow the study's translations. Examples marked as teaching cases are illustrations, not quotations or empirical findings.</a:t>
            </a:r>
          </a:p>
          <a:p xmlns:a="http://schemas.openxmlformats.org/drawingml/2006/main">
            <a:r>
              <a:t>Image: AI-generated teaching illustration using the built-in image-generation tool.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There are two mistakes to avoid when evaluating a learner. One is to dismiss a useful act because the person has not yet reached complete understanding. The other is to treat successful performance as proof that the corresponding value is established in state. The account permits us to recognise the contribution while examining understanding and continuity. Conversely, an assertion of established care calls for examination of actual responsibilities and their fulfilment. Self-examination and the experience of the people involved both matter, although they have different roles. Consistency also depends on real circumstances and available means. We should ask what failed and why rather than making a diagnosis of someone's entire inner life from one act.</a:t>
            </a:r>
          </a:p>
          <a:p xmlns:a="http://schemas.openxmlformats.org/drawingml/2006/main">
            <a:r>
              <a:t/>
            </a:r>
          </a:p>
          <a:p xmlns:a="http://schemas.openxmlformats.org/drawingml/2006/main">
            <a:r>
              <a:t>Source: Axiology: Value Theory, §§1.4, 1.7 and §7. https://analyticmadhyasthdarshan.org/Studies/Axiology-Value-Theory/Axiology-Value-Theory.html</a:t>
            </a:r>
          </a:p>
          <a:p xmlns:a="http://schemas.openxmlformats.org/drawingml/2006/main">
            <a:r>
              <a:t>Primary-text locators: JV pp. 98, 139; MVD pp. 311, 336; KD pp. 112–113. Printed page numbers, unless a section is specified. English terms follow the study's translations. Examples marked as teaching cases are illustrations, not quotations or empirical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study presents justice through recognition of relationships, fulfilment of values, evaluation, and mutual satisfaction. Return to the shared meal. We first recognise the relation and the responsibility it calls for. We then act to provide what is needed, evaluate whether that happened, and examine satisfaction in relation to the values fulfilled. Bare agreement is insufficient if it conceals dependence, ignorance, or an unfulfilled responsibility. The account also distinguishes relationship, sambandh, from contact, sampark. Contact allows voluntarily determined expectations, but those expectations and their fulfilment remain answerable to justice. The four moments give a structure for asking questions. They are not yet an algorithm for every conflict or allocation decision.</a:t>
            </a:r>
          </a:p>
          <a:p xmlns:a="http://schemas.openxmlformats.org/drawingml/2006/main">
            <a:r>
              <a:t/>
            </a:r>
          </a:p>
          <a:p xmlns:a="http://schemas.openxmlformats.org/drawingml/2006/main">
            <a:r>
              <a:t>Source: Axiology: Value Theory, §1.4 and §7. https://analyticmadhyasthdarshan.org/Studies/Axiology-Value-Theory/Axiology-Value-Theory.html</a:t>
            </a:r>
          </a:p>
          <a:p xmlns:a="http://schemas.openxmlformats.org/drawingml/2006/main">
            <a:r>
              <a:t>Primary-text locators: MVD pp. 61–62, 311, 336; KD p. 20. Printed page numbers, unless a section is specified. English terms follow the study's translations. Examples marked as teaching cases are illustrations, not quotations or empirical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suppose the host notices the problem, provides suitable food, and checks that the guest can participate with assurance. Invite the group to identify the evidence. The guest's account matters. So do the suitability and availability of food, the circumstances of the omission, and the host's understanding of responsibility. If the guest says everything is fine out of dependence or embarrassment, the evaluation should not stop there. If there was genuinely too little food, that would introduce a problem of provision and allocation. The example therefore connects value-fulfilment with material conditions and the recipient's situation. It also demonstrates why a warm intention or a polite exchange alone gives an incomplete account of care.</a:t>
            </a:r>
          </a:p>
          <a:p xmlns:a="http://schemas.openxmlformats.org/drawingml/2006/main">
            <a:r>
              <a:t/>
            </a:r>
          </a:p>
          <a:p xmlns:a="http://schemas.openxmlformats.org/drawingml/2006/main">
            <a:r>
              <a:t>Teaching case. Grounding: study §§1.3–1.4, MVD pp. 61, 311, 331, 336.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source account distinguishes over-evaluation, under-evaluation, and mis-evaluation. They concern disproportionate estimation and mistaken recognition. Familiar source examples include a rope mistaken for a snake and iron assigned the worth of gold. At the human level, the study extends the question to relationships, acquisition, and self-assessment. Our example of judging a person's worth by wealth illustrates a category confusion. A bank balance can tell us something about resources while leaving human essentiality and the quality of participation unsettled. Correct evaluation requires a defensible standard, so the definition of these errors brings us back to the theory's claim that value is grounded in essentiality. Naming an error does not remove the need to justify that standard.</a:t>
            </a:r>
          </a:p>
          <a:p xmlns:a="http://schemas.openxmlformats.org/drawingml/2006/main">
            <a:r>
              <a:t/>
            </a:r>
          </a:p>
          <a:p xmlns:a="http://schemas.openxmlformats.org/drawingml/2006/main">
            <a:r>
              <a:t>Source: Axiology: Value Theory, §1.5 and §7. https://analyticmadhyasthdarshan.org/Studies/Axiology-Value-Theory/Axiology-Value-Theory.html</a:t>
            </a:r>
          </a:p>
          <a:p xmlns:a="http://schemas.openxmlformats.org/drawingml/2006/main">
            <a:r>
              <a:t>Primary-text locators: MVD pp. 152, 306; SB p. 146. Printed page numbers, unless a section is specified. English terms follow the study's translations. Examples marked as teaching cases are illustrations, not quotations or empirical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Fear and temptation can produce behaviour, but the primary account does not classify them as fulfilled relationship values. The distinction concerns what governs a relationship. Compliance under threat may occur without recognition or fulfilment of its values. Similarly, promised advantage may secure participation while leaving the relationship instrumental. This claim does not mean every warning about danger is wrong, or every legitimate material provision is temptation. Context and purpose require examination. In education, the issue is whether learners understand a responsibility or merely conform for reward and avoidance of punishment. The positive criterion remains recognition, value-fulfilment, evaluation, and mutual satisfaction. Ask how an observer could distinguish those possibilities without assuming they can read another person's mind.</a:t>
            </a:r>
          </a:p>
          <a:p xmlns:a="http://schemas.openxmlformats.org/drawingml/2006/main">
            <a:r>
              <a:t/>
            </a:r>
          </a:p>
          <a:p xmlns:a="http://schemas.openxmlformats.org/drawingml/2006/main">
            <a:r>
              <a:t>Source: Axiology: Value Theory, §1.5. https://analyticmadhyasthdarshan.org/Studies/Axiology-Value-Theory/Axiology-Value-Theory.html</a:t>
            </a:r>
          </a:p>
          <a:p xmlns:a="http://schemas.openxmlformats.org/drawingml/2006/main">
            <a:r>
              <a:t>Primary-text locators: JV pp. 109–110; MVD p. 199; SB ch. 9, item 11, pp. 290–295. Printed page numbers, unless a section is specified. English terms follow the study's translations. Examples marked as teaching cases are illustrations, not quotations or empirical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four familiar English words have precise places in the philosophy's activity account. They name harmonies between faculties of jeevan, rather than simply four degrees of pleasant sensation. Happiness concerns mun and vritti, peace concerns vritti and chitta, contentment concerns chitta and buddhi, and bliss concerns buddhi and atma. Those faculty terms are collected in an optional reference slide. For the main argument, the key point is that inner harmony connects with purposes fulfilled in living. We should not convert the four values into a numerical psychological scale or claim that the table already proves a strict theory of non-substitution. The next slide presents the cumulative fulfilment given in Karm Darshan.</a:t>
            </a:r>
          </a:p>
          <a:p xmlns:a="http://schemas.openxmlformats.org/drawingml/2006/main">
            <a:r>
              <a:t/>
            </a:r>
          </a:p>
          <a:p xmlns:a="http://schemas.openxmlformats.org/drawingml/2006/main">
            <a:r>
              <a:t>Source: Axiology: Value Theory, §1.3. https://analyticmadhyasthdarshan.org/Studies/Axiology-Value-Theory/Axiology-Value-Theory.html</a:t>
            </a:r>
          </a:p>
          <a:p xmlns:a="http://schemas.openxmlformats.org/drawingml/2006/main">
            <a:r>
              <a:t>Primary-text locators: JV p. 138; KD §3.12, p. 112; MVD pp. 328, 331, 333, 346. Printed page numbers, unless a section is specified. English terms follow the study's translations. Examples marked as teaching cases are illustrations, not quotations or empirical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down the right column carefully. Peace includes resolution and prosperity. Contentment includes both of those and fearlessness. Bliss includes the full set with coexistence. The cumulative structure comes from the cited passage in Karm Darshan and should remain visible when teaching this table. It would be misleading to assign each value exclusively to a separate social level and lose the cumulative relation. Prosperity also has a material meaning here. Contentment includes freedom from the sentiment of lack together with readiness to evidence production beyond need. This is why the account must address work and material provision alongside inner activity. We will take up those topics shortly.</a:t>
            </a:r>
          </a:p>
          <a:p xmlns:a="http://schemas.openxmlformats.org/drawingml/2006/main">
            <a:r>
              <a:t/>
            </a:r>
          </a:p>
          <a:p xmlns:a="http://schemas.openxmlformats.org/drawingml/2006/main">
            <a:r>
              <a:t>Source: Axiology: Value Theory, §1.3. https://analyticmadhyasthdarshan.org/Studies/Axiology-Value-Theory/Axiology-Value-Theory.html</a:t>
            </a:r>
          </a:p>
          <a:p xmlns:a="http://schemas.openxmlformats.org/drawingml/2006/main">
            <a:r>
              <a:t>Primary-text locators: KD §3.12, p. 112; JV p. 138; MVD p. 331. Printed page numbers, unless a section is specified. English terms follow the study's translations. Examples marked as teaching cases are illustrations, not quotations or empirical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six human values articulate the essential nature of humane participation. Fortitude, dhirata, is firmness towards justice. Courage, veerta, deploys intellectual and physical powers so justice becomes available. Generosity, udarta, offers body, mind, and wealth as needed for awakening, health, and prosperity. This definition of courage is more specific than willingness to take a risk, and generosity concerns appropriate provision rather than the sheer quantity given away. The source distinguishes humane and higher-humane expression, with kindness, grace, and compassion in the latter group. We will examine their definitions next because they bring the recipient's receptivity and the means of assistance directly into the argument.</a:t>
            </a:r>
          </a:p>
          <a:p xmlns:a="http://schemas.openxmlformats.org/drawingml/2006/main">
            <a:r>
              <a:t/>
            </a:r>
          </a:p>
          <a:p xmlns:a="http://schemas.openxmlformats.org/drawingml/2006/main">
            <a:r>
              <a:t>Source: Axiology: Value Theory, §1.3. https://analyticmadhyasthdarshan.org/Studies/Axiology-Value-Theory/Axiology-Value-Theory.html</a:t>
            </a:r>
          </a:p>
          <a:p xmlns:a="http://schemas.openxmlformats.org/drawingml/2006/main">
            <a:r>
              <a:t>Primary-text locators: MVD pp. 52, 60–61, 125, 340. Printed page numbers, unless a section is specified. English terms follow the study's translations. Examples marked as teaching cases are illustrations, not quotations or empirical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definitions show why value-fulfilment cannot be reduced to an emotion. Kindness makes content available where receptivity is present but content is lacking. Grace develops receptivity where content is available but the recipient lacks receptivity. Compassion works where both are absent. In a teaching example, someone may be ready to learn but lack access to instruction, or have material available without yet being able to understand it. The actual situation may be more complicated than either case. These examples help us read the distinctions without treating the table as a diagnostic instrument. The philosophical point is that assistance must recognise the recipient's situation and have the means to respond. Love includes the combined expression of these values in the source account.</a:t>
            </a:r>
          </a:p>
          <a:p xmlns:a="http://schemas.openxmlformats.org/drawingml/2006/main">
            <a:r>
              <a:t/>
            </a:r>
          </a:p>
          <a:p xmlns:a="http://schemas.openxmlformats.org/drawingml/2006/main">
            <a:r>
              <a:t>Source: Axiology: Value Theory, §1.3. https://analyticmadhyasthdarshan.org/Studies/Axiology-Value-Theory/Axiology-Value-Theory.html</a:t>
            </a:r>
          </a:p>
          <a:p xmlns:a="http://schemas.openxmlformats.org/drawingml/2006/main">
            <a:r>
              <a:t>Primary-text locators: MVD pp. 61, 331. Printed page numbers, unless a section is specified. English terms follow the study's translations. Examples marked as teaching cases are illustrations, not quotations or empirical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Useful things support nourishment, protection of the body, and participation. The study's examples include food and other products whose usefulness is connected with definite capacities. Labour transforms natural abundance into products with usefulness and aesthetic value. Aesthetic qualification belongs in relation to usefulness and convenience in this account. Consider a drinking vessel. Its appearance, handling, and suitability can make a difference to use, while admiration of it is a separate matter. This is a teaching example, not a complete theory of art. The wider field of aesthetics asks questions that exceed this short account of useful production. Here we are establishing why axiology must address the things people need and the work through which those things become available.</a:t>
            </a:r>
          </a:p>
          <a:p xmlns:a="http://schemas.openxmlformats.org/drawingml/2006/main">
            <a:r>
              <a:t/>
            </a:r>
          </a:p>
          <a:p xmlns:a="http://schemas.openxmlformats.org/drawingml/2006/main">
            <a:r>
              <a:t>Source: Axiology: Value Theory, §1.6. https://analyticmadhyasthdarshan.org/Studies/Axiology-Value-Theory/Axiology-Value-Theory.html</a:t>
            </a:r>
          </a:p>
          <a:p xmlns:a="http://schemas.openxmlformats.org/drawingml/2006/main">
            <a:r>
              <a:t>Primary-text locators: JV pp. 123, 137–138; MVD pp. 56, 268. Printed page numbers, unless a section is specified. English terms follow the study's translations. Examples marked as teaching cases are illustrations, not quotations or empirical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Suppose the price of an unchanged quantity and quality of grain doubles. This is an imagined case, not a price report. The grain's nourishing capacity has not increased merely because its price has changed. For a family with limited resources, access may have become worse. The source calls money symbolic value and discusses how scarcity can increase symbolic valuation while obstructing the availability of needed things. This does not mean every price movement has one cause or that exchange can ignore scarcity. It separates the object, its usefulness, and the symbol through which it is valued in exchange. Ask what prosperity would require: understanding needs, adequate useful provision, the capacity to produce, and right-use.</a:t>
            </a:r>
          </a:p>
          <a:p xmlns:a="http://schemas.openxmlformats.org/drawingml/2006/main">
            <a:r>
              <a:t/>
            </a:r>
          </a:p>
          <a:p xmlns:a="http://schemas.openxmlformats.org/drawingml/2006/main">
            <a:r>
              <a:t>Source: Axiology: Value Theory, §1.6. https://analyticmadhyasthdarshan.org/Studies/Axiology-Value-Theory/Axiology-Value-Theory.html</a:t>
            </a:r>
          </a:p>
          <a:p xmlns:a="http://schemas.openxmlformats.org/drawingml/2006/main">
            <a:r>
              <a:t>Primary-text locators: MVD p. 183; SB pp. 211–212. Printed page numbers, unless a section is specified. English terms follow the study's translations. Examples marked as teaching cases are illustrations, not quotations or empirical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Application and production have distinct definitions. Prayog is the endeavour, continued until success, to establish usefulness and aesthetic value through labour in response to need. Utpadan standardises the successful process. Exchange then has its own responsibility for evaluating labour and making the results available without exploitation. The source proposes exchange of labour-valued goods free from profit and loss. That is a normative institutional proposal, not a description of present markets. Questions about comparing different kinds of labour and allocating scarce goods need further examination. Also, human worth cannot be inferred from current productive capacity. The study includes rightful receiving through remuneration, gift, and award, alongside responsibilities of care.</a:t>
            </a:r>
          </a:p>
          <a:p xmlns:a="http://schemas.openxmlformats.org/drawingml/2006/main">
            <a:r>
              <a:t/>
            </a:r>
          </a:p>
          <a:p xmlns:a="http://schemas.openxmlformats.org/drawingml/2006/main">
            <a:r>
              <a:t>Source: Axiology: Value Theory, §1.6 and §7. https://analyticmadhyasthdarshan.org/Studies/Axiology-Value-Theory/Axiology-Value-Theory.html</a:t>
            </a:r>
          </a:p>
          <a:p xmlns:a="http://schemas.openxmlformats.org/drawingml/2006/main">
            <a:r>
              <a:t>Primary-text locators: MVD pp. 56, 260, 268–269, 331; SB p. 237; AVD p. 170. Printed page numbers, unless a section is specified. English terms follow the study's translations. Examples marked as teaching cases are illustrations, not quotations or empirical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source distinguishes use, right-use, and purposeful-use. Use concerns means in production and service. Right-use directs body, mind, and wealth towards participation in family orderliness. Purposeful-use concerns awakening, undivided society, and universal orderliness. These definitions connect assessment of a thing with the purposes and relationships in which it will participate. For example, a tool may work exactly as designed while the reason for using it remains questionable. Conversely, a worthy purpose may fail without the necessary means and skill. The theory therefore asks about capacity, purpose, conduct, and fulfilment together. The relationship between means and purpose belongs to the evaluation itself.</a:t>
            </a:r>
          </a:p>
          <a:p xmlns:a="http://schemas.openxmlformats.org/drawingml/2006/main">
            <a:r>
              <a:t/>
            </a:r>
          </a:p>
          <a:p xmlns:a="http://schemas.openxmlformats.org/drawingml/2006/main">
            <a:r>
              <a:t>Source: Axiology: Value Theory, §1.6. https://analyticmadhyasthdarshan.org/Studies/Axiology-Value-Theory/Axiology-Value-Theory.html</a:t>
            </a:r>
          </a:p>
          <a:p xmlns:a="http://schemas.openxmlformats.org/drawingml/2006/main">
            <a:r>
              <a:t>Primary-text locators: MVD p. 57. Printed page numbers, unless a section is specified. English terms follow the study's translations. Examples marked as teaching cases are illustrations, not quotations or empirical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evaluation cannot stop with the buyer and seller or the immediate family. Natural abundance is to be used in accordance with usefulness and regeneration, and human beings are to act as nurturers in relation to the other orders. This places the means and consequences of production inside the account of value. We can ask whether soil, water, and living conditions remain capable of sustaining further participation. Those are questions for investigation, not a claim that the theory already supplies a quantitative threshold for every ecological choice. The study explicitly leaves room for work on operational criteria. This distinction between a governing principle and a resolved decision procedure is important when introducing the theory to a philosophy audience.</a:t>
            </a:r>
          </a:p>
          <a:p xmlns:a="http://schemas.openxmlformats.org/drawingml/2006/main">
            <a:r>
              <a:t/>
            </a:r>
          </a:p>
          <a:p xmlns:a="http://schemas.openxmlformats.org/drawingml/2006/main">
            <a:r>
              <a:t>Source: Axiology: Value Theory, §1.6 and §7. https://analyticmadhyasthdarshan.org/Studies/Axiology-Value-Theory/Axiology-Value-Theory.html</a:t>
            </a:r>
          </a:p>
          <a:p xmlns:a="http://schemas.openxmlformats.org/drawingml/2006/main">
            <a:r>
              <a:t>Primary-text locators: SB pp. 141, 200–201. Printed page numbers, unless a section is specified. English terms follow the study's translations. Examples marked as teaching cases are illustrations, not quotations or empirical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Education connects study, instruction, practice, and self-evaluation. The learner can begin with an accessible expression of value, then examine its meaning and the responsibility involved. This educational route is compatible with the one-to-one correspondence because the correspondence and the order of learning answer different questions. The former states which values belong together. The latter concerns how a person may come to establish the value. Karm Darshan further describes evidenced work accepted in understanding and realisation and made available for further expression. We should preserve that role of understood evidence rather than turn it into a generic claim that any repeated habit produces awakening. Continuity in thought, behaviour, and work remains a substantive achievement to be examined.</a:t>
            </a:r>
          </a:p>
          <a:p xmlns:a="http://schemas.openxmlformats.org/drawingml/2006/main">
            <a:r>
              <a:t/>
            </a:r>
          </a:p>
          <a:p xmlns:a="http://schemas.openxmlformats.org/drawingml/2006/main">
            <a:r>
              <a:t>Source: Axiology: Value Theory, §1.7. https://analyticmadhyasthdarshan.org/Studies/Axiology-Value-Theory/Axiology-Value-Theory.html</a:t>
            </a:r>
          </a:p>
          <a:p xmlns:a="http://schemas.openxmlformats.org/drawingml/2006/main">
            <a:r>
              <a:t>Primary-text locators: SB p. 237; KD pp. 18–19, 37, 112–113; MVD pp. 87, 90, 94. Printed page numbers, unless a section is specified. English terms follow the study's translations. Examples marked as teaching cases are illustrations, not quotations or empirical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five dimensions are responsibilities with criteria of success. Education concerns understood meaning. Justice concerns the fulfilment and evaluation of values with mutual satisfaction. Production concerns the family's ability to produce beyond assessed need. Exchange concerns evaluation of labour and the availability of its results. Health concerns the body as an instrument capable of participation and of evidencing awakening. This makes a claim to understanding answerable to institutions and their work. It also prevents axiology from ending with a vocabulary of private virtues. These responsibilities belong together, although identifying them does not establish every institutional arrangement needed to fulfil them. Their organisation is the subject of the next Start Here stage on living and undivided society.</a:t>
            </a:r>
          </a:p>
          <a:p xmlns:a="http://schemas.openxmlformats.org/drawingml/2006/main">
            <a:r>
              <a:t/>
            </a:r>
          </a:p>
          <a:p xmlns:a="http://schemas.openxmlformats.org/drawingml/2006/main">
            <a:r>
              <a:t>Source: Axiology: Value Theory, §1.7. https://analyticmadhyasthdarshan.org/Studies/Axiology-Value-Theory/Axiology-Value-Theory.html</a:t>
            </a:r>
          </a:p>
          <a:p xmlns:a="http://schemas.openxmlformats.org/drawingml/2006/main">
            <a:r>
              <a:t>Primary-text locators: MVD p. 260; AVD pp. 97, 265. Printed page numbers, unless a section is specified. English terms follow the study's translations. Examples marked as teaching cases are illustrations, not quotations or empirical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compressed orientation to the study's comparative sections, not a verdict on entire traditions. Madhyasth Darshan grounds value in coexistence and connects fulfilment with continued participation. Advaita places liberating knowledge of the Self at the centre while retaining ethical preparation, disciplined action, and action for the world's maintenance. Western value theory is plural: realism, subjectivism, theories of virtue, duties, goods, and reasons cannot be reduced to one answer. The sciences investigate evaluative processes and conditions of well-being, but descriptive findings alone do not settle an ultimate normative standard. These traditions can ask useful questions of one another. A claim of difference does not establish superiority, and shared ethical vocabulary does not erase metaphysical differences.</a:t>
            </a:r>
          </a:p>
          <a:p xmlns:a="http://schemas.openxmlformats.org/drawingml/2006/main">
            <a:r>
              <a:t/>
            </a:r>
          </a:p>
          <a:p xmlns:a="http://schemas.openxmlformats.org/drawingml/2006/main">
            <a:r>
              <a:t>Sources: companion study §§2–6. Primary comparison anchors include Brihadaranyaka Upanishad 2.4.5; Bhagavad Gita 3.19–3.26 and 16.1–16.3; Western and scientific works listed in the study's References. https://analyticmadhyasthdarshan.org/Studies/Axiology-Value-Theory/Axiology-Value-Theory.html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study takes conduct seriously as evidence: understanding should be explainable and become visible in relationships, work, and outcomes. But the kind of claim matters. A fulfilled responsibility provides evidence about that participation. It does not by itself prove a universal ontology or a causal explanation of consciousness. Self-evaluation also has a role that differs from publicly inspectable outcomes. The study asks how these forms of evidence can be distinguished and related, including where independent examination is needed. This is especially important in education, because confidence, fluency, or agreement with a teacher should not become substitutes for understanding. We can investigate the proposal while keeping those limits explicit.</a:t>
            </a:r>
          </a:p>
          <a:p xmlns:a="http://schemas.openxmlformats.org/drawingml/2006/main">
            <a:r>
              <a:t/>
            </a:r>
          </a:p>
          <a:p xmlns:a="http://schemas.openxmlformats.org/drawingml/2006/main">
            <a:r>
              <a:t>Source: Axiology: Value Theory, §§1.7, 6–7. https://analyticmadhyasthdarshan.org/Studies/Axiology-Value-Theory/Axiology-Value-Theory.html</a:t>
            </a:r>
          </a:p>
          <a:p xmlns:a="http://schemas.openxmlformats.org/drawingml/2006/main">
            <a:r>
              <a:t>Primary-text locators: KD pp. 112–113; AVD pp. 52, 97, 265; JV p. 139. Printed page numbers, unless a section is specified. English terms follow the study's translations. Examples marked as teaching cases are illustrations, not quotations or empirical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deliberately harder case introduces scarcity. Assume that both people have a legitimate claim to care and that one caregiver has only one hour available. Recognition of their value does not yet specify how to allocate time. The decision may require attention to urgency, severity, available alternatives, dependency, and whose voice is absent. Those considerations are proposed questions for analysis here, not a completed procedure asserted by the primary texts. Ask the group what would justify the decision and how it could be evaluated afterwards. This case tests the explanatory reach of the theory without rejecting its standard of care. It identifies further work needed to connect definite values with difficult practical judgements.</a:t>
            </a:r>
          </a:p>
          <a:p xmlns:a="http://schemas.openxmlformats.org/drawingml/2006/main">
            <a:r>
              <a:t/>
            </a:r>
          </a:p>
          <a:p xmlns:a="http://schemas.openxmlformats.org/drawingml/2006/main">
            <a:r>
              <a:t>Teaching case based on the open problems in companion study §7, especially value conflict, material conditions, and inclusion. https://analyticmadhyasthdarshan.org/Studies/Axiology-Value-Theory/Axiology-Value-Theory.html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Allow participants a few minutes to choose an ordinary relationship or shared task. Ask them to state what is valuable, identify the relevant responsibility, and distinguish an outward expression from the established value to which it corresponds. They should explain how someone could learn the conduct before its counterpart is established in state, and say what evidence would be needed to assess the contribution. If disagreement appears, locate it. Is it about the meaning of a term, the facts of the situation, the value standard, or the adequacy of the response? The exercise checks understanding without asking participants to declare assent to the entire philosophy. Close by identifying one unresolved question that belongs in continued study.</a:t>
            </a:r>
          </a:p>
          <a:p xmlns:a="http://schemas.openxmlformats.org/drawingml/2006/main">
            <a:r>
              <a:t/>
            </a:r>
          </a:p>
          <a:p xmlns:a="http://schemas.openxmlformats.org/drawingml/2006/main">
            <a:r>
              <a:t>Teaching discussion grounded in companion study §§1.3–1.7 and §7. https://analyticmadhyasthdarshan.org/Studies/Axiology-Value-Theory/Axiology-Value-Theory.html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account now has a clear destination. Value belongs to essentiality in coexistence. Human beings recognise, evaluate, and fulfil values through activity. Established and expressed values correspond one-to-one, while learning can begin with outward expression. Justice examines whether responsibilities receive fulfilment, and material provision makes that fulfilment practicable. The next question is how these understandings become a shared, continuous way of living. The fifth Start Here stage examines undivided society through family and social responsibilities. Participants can continue there, or use the optional terminology and sources that follow to revisit today's claims. We should carry both the explanatory proposal and its open questions into that next stage.</a:t>
            </a:r>
          </a:p>
          <a:p xmlns:a="http://schemas.openxmlformats.org/drawingml/2006/main">
            <a:r>
              <a:t/>
            </a:r>
          </a:p>
          <a:p xmlns:a="http://schemas.openxmlformats.org/drawingml/2006/main">
            <a:r>
              <a:t>Sources: companion study §§1.7, 8; Start Here stage five. https://analyticmadhyasthdarshan.org/Studies/How-Undivided-Society-Is-Established/How-Undivided-Society-Is-Established.html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when participants need to revisit the vocabulary. State does not mean inactivity. Civic values here translate the expressed or shishta side of the value pairs, not a separate list of duties of citizenship. Relationship and contact differ in how expectations are specified, while both remain answerable to justice. Jeevan and body name distinct contributions in the philosophy's human account. These distinctions should be read in the primary context instead of inferred solely from English usage. The study's glossary and editorial notes explain the translation choices in greater detail. Transliteration is kept close to the study so participants can search for the same terms.</a:t>
            </a:r>
          </a:p>
          <a:p xmlns:a="http://schemas.openxmlformats.org/drawingml/2006/main">
            <a:r>
              <a:t/>
            </a:r>
          </a:p>
          <a:p xmlns:a="http://schemas.openxmlformats.org/drawingml/2006/main">
            <a:r>
              <a:t>Source: Axiology: Value Theory, §§1.2–1.4, Glossary and Editorial Notes. https://analyticmadhyasthdarshan.org/Studies/Axiology-Value-Theory/Axiology-Value-Theory.html</a:t>
            </a:r>
          </a:p>
          <a:p xmlns:a="http://schemas.openxmlformats.org/drawingml/2006/main">
            <a:r>
              <a:t>Primary-text locators: KD §3.8, p. 84; MVD pp. 61–62, 203; AVD pp. 91–94. Printed page numbers, unless a section is specified. English terms follow the study's translations. Examples marked as teaching cases are illustrations, not quotations or empirical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table supplies the technical mapping used earlier. In the wider account, mun tastes and selects, vritti deliberates and analyses, chitta contemplates and visualises, buddhi understands and resolves, and atma realises and evidences. The harmonies specify relations among these activities. The correspondence pairs also have faculty locations: care, affection, and respect belong at mun; trust, gratitude, and glory at vritti; guidance, love, and reverence at chitta. Their expressed counterparts belong to the corresponding activity pairs. These locations do not turn the faculties into anatomical regions or quantities measured by a psychological instrument. They are part of the primary philosophy's activity account, whose detailed exposition is in the preceding knowledge study.</a:t>
            </a:r>
          </a:p>
          <a:p xmlns:a="http://schemas.openxmlformats.org/drawingml/2006/main">
            <a:r>
              <a:t/>
            </a:r>
          </a:p>
          <a:p xmlns:a="http://schemas.openxmlformats.org/drawingml/2006/main">
            <a:r>
              <a:t>Source: Axiology: Value Theory, §§1.2–1.3. https://analyticmadhyasthdarshan.org/Studies/Axiology-Value-Theory/Axiology-Value-Theory.html</a:t>
            </a:r>
          </a:p>
          <a:p xmlns:a="http://schemas.openxmlformats.org/drawingml/2006/main">
            <a:r>
              <a:t>Primary-text locators: JV pp. 108, 138; AVD pp. 91–94; KD §3.8, p. 84 and §3.12, p. 112; MVD pp. 331–340. Printed page numbers, unless a section is specified. English terms follow the study's translations. Examples marked as teaching cases are illustrations, not quotations or empirical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companion study is the principal guide to this session and contains the complete bibliography, comparative references, glossary, and open problems. For the central topic, read Jeevan Vidya page 108 together with Anubhav Darshan pages 91–94 and Madhyasth Darshan pages 331–340. For strength and power, use Karm Darshan section 3.8, printed page 84. For the cumulative fulfilment and the return of evidenced work into understanding, use Karm Darshan section 3.12, printed pages 112–113. Samadhanik Bhautikvad pages 50 and 87 support the definition of essentiality and value. English wording follows the study's editions and working translations. Karm Darshan's English rendering is a working translation and should be checked against the Hindi source when a disputed term matters.</a:t>
            </a:r>
          </a:p>
          <a:p xmlns:a="http://schemas.openxmlformats.org/drawingml/2006/main">
            <a:r>
              <a:t/>
            </a:r>
          </a:p>
          <a:p xmlns:a="http://schemas.openxmlformats.org/drawingml/2006/main">
            <a:r>
              <a:t>Companion study and full bibliography: https://analyticmadhyasthdarshan.org/Studies/Axiology-Value-Theory/Axiology-Value-Theory.html</a:t>
            </a:r>
          </a:p>
          <a:p xmlns:a="http://schemas.openxmlformats.org/drawingml/2006/main">
            <a:r>
              <a:t>Primary texts by Shri A. Nagraj. MVD, JV, SB, and AVD use the English editions identified in that bibliography. KD locators refer to printed pages in the Hindi source and its local working English translation.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90c81e81e9e4dd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ce406c0252e4fb6" /><Relationship Type="http://schemas.openxmlformats.org/officeDocument/2006/relationships/slideLayout" Target="/ppt/slideLayouts/slideLayout1.xml" Id="Rd6fb106ea368469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6fb106ea368469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9028fd4645d4f19" /><Relationship Type="http://schemas.openxmlformats.org/officeDocument/2006/relationships/image" Target="/ppt/media/image.png" Id="Rac5a7699be3e4af1" /><Relationship Type="http://schemas.openxmlformats.org/officeDocument/2006/relationships/notesSlide" Target="/ppt/notesSlides/notesSlide1.xml" Id="R8f9bfcb39b85450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d9525ba68244074" /><Relationship Type="http://schemas.openxmlformats.org/officeDocument/2006/relationships/notesSlide" Target="/ppt/notesSlides/notesSlide2.xml" Id="R23c4219963c04cdb"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e0c83083f9f48b0" /><Relationship Type="http://schemas.openxmlformats.org/officeDocument/2006/relationships/notesSlide" Target="/ppt/notesSlides/notesSlide3.xml" Id="Racb82baba40f472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96b3e6089834031" /><Relationship Type="http://schemas.openxmlformats.org/officeDocument/2006/relationships/notesSlide" Target="/ppt/notesSlides/notesSlide4.xml" Id="R115ab3dd1415497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49620a629864b5f" /><Relationship Type="http://schemas.openxmlformats.org/officeDocument/2006/relationships/notesSlide" Target="/ppt/notesSlides/notesSlide5.xml" Id="Rfcdf0ea2f0554dec"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185ba1067b9d41f2" /><Relationship Type="http://schemas.openxmlformats.org/officeDocument/2006/relationships/notesSlide" Target="/ppt/notesSlides/notesSlide6.xml" Id="R492c105cafb140c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3a85c8e5cd3f4b20" /><Relationship Type="http://schemas.openxmlformats.org/officeDocument/2006/relationships/notesSlide" Target="/ppt/notesSlides/notesSlide7.xml" Id="Redd6d453fa7742b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c7a383dc8d64cc2" /><Relationship Type="http://schemas.openxmlformats.org/officeDocument/2006/relationships/notesSlide" Target="/ppt/notesSlides/notesSlide8.xml" Id="R0e2bd692efb544e4"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4135956f0f98428a" /><Relationship Type="http://schemas.openxmlformats.org/officeDocument/2006/relationships/notesSlide" Target="/ppt/notesSlides/notesSlide9.xml" Id="R8cc2ec7c1b4a44a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dbb1632966ba4cf1" /><Relationship Type="http://schemas.openxmlformats.org/officeDocument/2006/relationships/notesSlide" Target="/ppt/notesSlides/notesSlide10.xml" Id="R4f9995aa5e1b417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fe56d5bfe0e94308" /><Relationship Type="http://schemas.openxmlformats.org/officeDocument/2006/relationships/image" Target="/ppt/media/image2.png" Id="R321103e5e27849af" /><Relationship Type="http://schemas.openxmlformats.org/officeDocument/2006/relationships/notesSlide" Target="/ppt/notesSlides/notesSlide11.xml" Id="Rf3b97582eb3a403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9aee7abfa43747c4" /><Relationship Type="http://schemas.openxmlformats.org/officeDocument/2006/relationships/notesSlide" Target="/ppt/notesSlides/notesSlide12.xml" Id="R746f79ed6d11482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2e7275fdfdd24e1e" /><Relationship Type="http://schemas.openxmlformats.org/officeDocument/2006/relationships/notesSlide" Target="/ppt/notesSlides/notesSlide13.xml" Id="R749b9d89295944b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0355c3774c3a417c" /><Relationship Type="http://schemas.openxmlformats.org/officeDocument/2006/relationships/notesSlide" Target="/ppt/notesSlides/notesSlide14.xml" Id="R2d4efcbd2f1440e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d5c128bf30b94b08" /><Relationship Type="http://schemas.openxmlformats.org/officeDocument/2006/relationships/notesSlide" Target="/ppt/notesSlides/notesSlide15.xml" Id="Rc5a23aff6af048d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8010a8d277b04d45" /><Relationship Type="http://schemas.openxmlformats.org/officeDocument/2006/relationships/notesSlide" Target="/ppt/notesSlides/notesSlide16.xml" Id="R0bd626490b634f69"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5b9ea08925ad470b" /><Relationship Type="http://schemas.openxmlformats.org/officeDocument/2006/relationships/notesSlide" Target="/ppt/notesSlides/notesSlide17.xml" Id="Rd0738eaace3647f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198567bc3b594790" /><Relationship Type="http://schemas.openxmlformats.org/officeDocument/2006/relationships/notesSlide" Target="/ppt/notesSlides/notesSlide18.xml" Id="R6cb62db0701f49d9"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0f064c0876614712" /><Relationship Type="http://schemas.openxmlformats.org/officeDocument/2006/relationships/notesSlide" Target="/ppt/notesSlides/notesSlide19.xml" Id="Rba9aaa4525614998"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c40ffcaed3434213" /><Relationship Type="http://schemas.openxmlformats.org/officeDocument/2006/relationships/notesSlide" Target="/ppt/notesSlides/notesSlide20.xml" Id="Rfca8163277554aa9"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342ccb6f241d4df1" /><Relationship Type="http://schemas.openxmlformats.org/officeDocument/2006/relationships/notesSlide" Target="/ppt/notesSlides/notesSlide21.xml" Id="Ra65153db39ef416a"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2e56104ee3f940d9" /><Relationship Type="http://schemas.openxmlformats.org/officeDocument/2006/relationships/notesSlide" Target="/ppt/notesSlides/notesSlide22.xml" Id="Rd2910117be8e4a2a"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8b257f1bdfe64fa2" /><Relationship Type="http://schemas.openxmlformats.org/officeDocument/2006/relationships/notesSlide" Target="/ppt/notesSlides/notesSlide23.xml" Id="R4db666091f5d4bbe"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d5db89db28fc4053" /><Relationship Type="http://schemas.openxmlformats.org/officeDocument/2006/relationships/notesSlide" Target="/ppt/notesSlides/notesSlide24.xml" Id="R6e9efba37af84a61"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e0a955db17e84080" /><Relationship Type="http://schemas.openxmlformats.org/officeDocument/2006/relationships/notesSlide" Target="/ppt/notesSlides/notesSlide25.xml" Id="R31a778bcfbd74344"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67ebee6f9376430a" /><Relationship Type="http://schemas.openxmlformats.org/officeDocument/2006/relationships/notesSlide" Target="/ppt/notesSlides/notesSlide26.xml" Id="R0e5841ca9c664f96"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c0ef8a632ca54ebf" /><Relationship Type="http://schemas.openxmlformats.org/officeDocument/2006/relationships/notesSlide" Target="/ppt/notesSlides/notesSlide27.xml" Id="R686ee18c85504a41"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15f78423db8e41a4" /><Relationship Type="http://schemas.openxmlformats.org/officeDocument/2006/relationships/notesSlide" Target="/ppt/notesSlides/notesSlide28.xml" Id="Rb9be80b436654aa1"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1b643325a1044ce3" /><Relationship Type="http://schemas.openxmlformats.org/officeDocument/2006/relationships/notesSlide" Target="/ppt/notesSlides/notesSlide29.xml" Id="R63df26ec54d04829"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2c0d26cfe13c4081" /><Relationship Type="http://schemas.openxmlformats.org/officeDocument/2006/relationships/notesSlide" Target="/ppt/notesSlides/notesSlide30.xml" Id="R00297bda7e654032"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e93870c1b6184ade" /><Relationship Type="http://schemas.openxmlformats.org/officeDocument/2006/relationships/notesSlide" Target="/ppt/notesSlides/notesSlide31.xml" Id="R58bddb9166e14188"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d265d450f6f84cc6" /><Relationship Type="http://schemas.openxmlformats.org/officeDocument/2006/relationships/notesSlide" Target="/ppt/notesSlides/notesSlide32.xml" Id="R2856e96b1a594bd6"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90f60353eb17426c" /><Relationship Type="http://schemas.openxmlformats.org/officeDocument/2006/relationships/notesSlide" Target="/ppt/notesSlides/notesSlide33.xml" Id="R54e320d173d14415"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8a15aa9e5ed24d74" /><Relationship Type="http://schemas.openxmlformats.org/officeDocument/2006/relationships/notesSlide" Target="/ppt/notesSlides/notesSlide34.xml" Id="Rc65fa0299db84e1b"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58c3a538c6ec499a" /><Relationship Type="http://schemas.openxmlformats.org/officeDocument/2006/relationships/hyperlink" Target="https://analyticmadhyasthdarshan.org/Studies/Axiology-Value-Theory/Axiology-Value-Theory.html" TargetMode="External" Id="Rcf60b78bd56344bf" /><Relationship Type="http://schemas.openxmlformats.org/officeDocument/2006/relationships/notesSlide" Target="/ppt/notesSlides/notesSlide35.xml" Id="R44364567709444ae" /></Relationships>
</file>

<file path=ppt/slides/slide1.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ac5a7699be3e4af1"/>
          <a:srcRect xmlns:a="http://schemas.openxmlformats.org/drawingml/2006/main" l="0" t="27" r="0" b="27"/>
          <a:stretch xmlns:a="http://schemas.openxmlformats.org/drawingml/2006/main">
            <a:fillRect l="0" t="0" r="0" b="0"/>
          </a:stretch>
        </p:blipFill>
        <p:spPr>
          <a:xfrm xmlns:a="http://schemas.openxmlformats.org/drawingml/2006/main">
            <a:off x="0" y="0"/>
            <a:ext cx="9144000" cy="5143500"/>
          </a:xfrm>
          <a:prstGeom xmlns:a="http://schemas.openxmlformats.org/drawingml/2006/main" prst="rect">
            <a:avLst/>
          </a:prstGeom>
        </p:spPr>
      </p:pic>
      <p:sp>
        <p:nvSpPr>
          <p:cNvPr id="2" name="text-0">
            <a:extLst xmlns:a="http://schemas.openxmlformats.org/drawingml/2006/main">
              <a:ext uri="{FF2B5EF4-FFF2-40B4-BE49-F238E27FC236}">
                <a16:creationId xmlns:a16="http://schemas.microsoft.com/office/drawing/2014/main" id="{5E0912C4-03B9-4CE8-8825-F69B6CB236DA}"/>
              </a:ext>
            </a:extLst>
          </p:cNvPr>
          <p:cNvSpPr>
            <a:spLocks xmlns:a="http://schemas.openxmlformats.org/drawingml/2006/main" noGrp="1"/>
          </p:cNvSpPr>
          <p:nvPr/>
        </p:nvSpPr>
        <p:spPr>
          <a:xfrm xmlns:a="http://schemas.openxmlformats.org/drawingml/2006/main">
            <a:off x="640080" y="1114425"/>
            <a:ext cx="54768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00" b="1">
                <a:solidFill>
                  <a:srgbClr val="C9821E"/>
                </a:solidFill>
                <a:latin typeface="Calibri"/>
                <a:ea typeface="Calibri"/>
                <a:cs typeface="Calibri"/>
              </a:defRPr>
            </a:pPr>
            <a:r>
              <a:rPr sz="1200" b="1">
                <a:solidFill>
                  <a:srgbClr val="C9821E"/>
                </a:solidFill>
                <a:latin typeface="Calibri"/>
                <a:ea typeface="Calibri"/>
                <a:cs typeface="Calibri"/>
              </a:rPr>
              <a:t>START HERE   4. VALUE</a:t>
            </a:r>
          </a:p>
        </p:txBody>
      </p:sp>
      <p:sp>
        <p:nvSpPr>
          <p:cNvPr id="3" name="text-1">
            <a:extLst xmlns:a="http://schemas.openxmlformats.org/drawingml/2006/main">
              <a:ext uri="{FF2B5EF4-FFF2-40B4-BE49-F238E27FC236}">
                <a16:creationId xmlns:a16="http://schemas.microsoft.com/office/drawing/2014/main" id="{EF45389D-4DE1-45F0-9C5A-6D1F290E2CCD}"/>
              </a:ext>
            </a:extLst>
          </p:cNvPr>
          <p:cNvSpPr>
            <a:spLocks xmlns:a="http://schemas.openxmlformats.org/drawingml/2006/main" noGrp="1"/>
          </p:cNvSpPr>
          <p:nvPr/>
        </p:nvSpPr>
        <p:spPr>
          <a:xfrm xmlns:a="http://schemas.openxmlformats.org/drawingml/2006/main">
            <a:off x="640080" y="1562100"/>
            <a:ext cx="5286375"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4400" b="1">
                <a:solidFill>
                  <a:srgbClr val="FFFFFF"/>
                </a:solidFill>
                <a:latin typeface="Cambria"/>
                <a:ea typeface="Cambria"/>
                <a:cs typeface="Cambria"/>
              </a:defRPr>
            </a:pPr>
            <a:r>
              <a:rPr sz="4400" b="1">
                <a:solidFill>
                  <a:srgbClr val="FFFFFF"/>
                </a:solidFill>
                <a:latin typeface="Cambria"/>
                <a:ea typeface="Cambria"/>
                <a:cs typeface="Cambria"/>
              </a:rPr>
              <a:t>Axiology</a:t>
            </a:r>
          </a:p>
          <a:p xmlns:a="http://schemas.openxmlformats.org/drawingml/2006/main">
            <a:pPr>
              <a:defRPr sz="4400" b="1">
                <a:solidFill>
                  <a:srgbClr val="FFFFFF"/>
                </a:solidFill>
                <a:latin typeface="Cambria"/>
                <a:ea typeface="Cambria"/>
                <a:cs typeface="Cambria"/>
              </a:defRPr>
            </a:pPr>
            <a:r>
              <a:rPr sz="4400" b="1">
                <a:solidFill>
                  <a:srgbClr val="FFFFFF"/>
                </a:solidFill>
                <a:latin typeface="Cambria"/>
                <a:ea typeface="Cambria"/>
                <a:cs typeface="Cambria"/>
              </a:rPr>
              <a:t>Value Theory</a:t>
            </a:r>
          </a:p>
        </p:txBody>
      </p:sp>
      <p:sp>
        <p:nvSpPr>
          <p:cNvPr id="4" name="text-2">
            <a:extLst xmlns:a="http://schemas.openxmlformats.org/drawingml/2006/main">
              <a:ext uri="{FF2B5EF4-FFF2-40B4-BE49-F238E27FC236}">
                <a16:creationId xmlns:a16="http://schemas.microsoft.com/office/drawing/2014/main" id="{0D94B9AF-6621-4B0F-B402-5298A078264B}"/>
              </a:ext>
            </a:extLst>
          </p:cNvPr>
          <p:cNvSpPr>
            <a:spLocks xmlns:a="http://schemas.openxmlformats.org/drawingml/2006/main" noGrp="1"/>
          </p:cNvSpPr>
          <p:nvPr/>
        </p:nvSpPr>
        <p:spPr>
          <a:xfrm xmlns:a="http://schemas.openxmlformats.org/drawingml/2006/main">
            <a:off x="640080" y="3133725"/>
            <a:ext cx="52863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00" b="0">
                <a:solidFill>
                  <a:srgbClr val="DCE3F3"/>
                </a:solidFill>
                <a:latin typeface="Calibri"/>
                <a:ea typeface="Calibri"/>
                <a:cs typeface="Calibri"/>
              </a:defRPr>
            </a:pPr>
            <a:r>
              <a:rPr sz="2000" b="0">
                <a:solidFill>
                  <a:srgbClr val="DCE3F3"/>
                </a:solidFill>
                <a:latin typeface="Calibri"/>
                <a:ea typeface="Calibri"/>
                <a:cs typeface="Calibri"/>
              </a:rPr>
              <a:t>Based on Madhyasth Darshan</a:t>
            </a:r>
          </a:p>
        </p:txBody>
      </p:sp>
      <p:sp>
        <p:nvSpPr>
          <p:cNvPr id="5" name="text-3">
            <a:extLst xmlns:a="http://schemas.openxmlformats.org/drawingml/2006/main">
              <a:ext uri="{FF2B5EF4-FFF2-40B4-BE49-F238E27FC236}">
                <a16:creationId xmlns:a16="http://schemas.microsoft.com/office/drawing/2014/main" id="{BB293BCE-74CC-4FDB-B565-F8B98B895B0A}"/>
              </a:ext>
            </a:extLst>
          </p:cNvPr>
          <p:cNvSpPr>
            <a:spLocks xmlns:a="http://schemas.openxmlformats.org/drawingml/2006/main" noGrp="1"/>
          </p:cNvSpPr>
          <p:nvPr/>
        </p:nvSpPr>
        <p:spPr>
          <a:xfrm xmlns:a="http://schemas.openxmlformats.org/drawingml/2006/main">
            <a:off x="640080" y="41624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50" b="0">
                <a:solidFill>
                  <a:srgbClr val="B4C1DF"/>
                </a:solidFill>
                <a:latin typeface="Calibri"/>
                <a:ea typeface="Calibri"/>
                <a:cs typeface="Calibri"/>
              </a:defRPr>
            </a:pPr>
            <a:r>
              <a:rPr sz="1150" b="0">
                <a:solidFill>
                  <a:srgbClr val="B4C1DF"/>
                </a:solidFill>
                <a:latin typeface="Calibri"/>
                <a:ea typeface="Calibri"/>
                <a:cs typeface="Calibri"/>
              </a:rPr>
              <a:t>Teaching series based on the studies</a:t>
            </a:r>
          </a:p>
        </p:txBody>
      </p:sp>
      <p:sp>
        <p:nvSpPr>
          <p:cNvPr id="6" name="text-4">
            <a:extLst xmlns:a="http://schemas.openxmlformats.org/drawingml/2006/main">
              <a:ext uri="{FF2B5EF4-FFF2-40B4-BE49-F238E27FC236}">
                <a16:creationId xmlns:a16="http://schemas.microsoft.com/office/drawing/2014/main" id="{3CF6FB87-FC58-499F-94B7-A7FF82176D27}"/>
              </a:ext>
            </a:extLst>
          </p:cNvPr>
          <p:cNvSpPr>
            <a:spLocks xmlns:a="http://schemas.openxmlformats.org/drawingml/2006/main" noGrp="1"/>
          </p:cNvSpPr>
          <p:nvPr/>
        </p:nvSpPr>
        <p:spPr>
          <a:xfrm xmlns:a="http://schemas.openxmlformats.org/drawingml/2006/main">
            <a:off x="640080" y="44386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50" b="0">
                <a:solidFill>
                  <a:srgbClr val="B4C1DF"/>
                </a:solidFill>
                <a:latin typeface="Calibri"/>
                <a:ea typeface="Calibri"/>
                <a:cs typeface="Calibri"/>
              </a:defRPr>
            </a:pPr>
            <a:r>
              <a:rPr sz="1150" b="0">
                <a:solidFill>
                  <a:srgbClr val="B4C1DF"/>
                </a:solidFill>
                <a:latin typeface="Calibri"/>
                <a:ea typeface="Calibri"/>
                <a:cs typeface="Calibri"/>
              </a:rPr>
              <a:t>AnalyticMadhyasthDarshan.org     1 / 35</a:t>
            </a:r>
          </a:p>
        </p:txBody>
      </p:sp>
    </p:spTree>
    <p:extLst>
      <p:ext uri="{BB962C8B-B14F-4D97-AF65-F5344CB8AC3E}">
        <p14:creationId xmlns:p14="http://schemas.microsoft.com/office/powerpoint/2010/main" val="86362641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text-0">
            <a:extLst xmlns:a="http://schemas.openxmlformats.org/drawingml/2006/main">
              <a:ext uri="{FF2B5EF4-FFF2-40B4-BE49-F238E27FC236}">
                <a16:creationId xmlns:a16="http://schemas.microsoft.com/office/drawing/2014/main" id="{B8CF6228-F671-4F8C-BE8B-C074034A1DD8}"/>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9A6414"/>
                </a:solidFill>
                <a:latin typeface="Calibri"/>
                <a:ea typeface="Calibri"/>
                <a:cs typeface="Calibri"/>
              </a:defRPr>
            </a:pPr>
            <a:r>
              <a:rPr sz="1050" b="1">
                <a:solidFill>
                  <a:srgbClr val="9A6414"/>
                </a:solidFill>
                <a:latin typeface="Calibri"/>
                <a:ea typeface="Calibri"/>
                <a:cs typeface="Calibri"/>
              </a:rPr>
              <a:t>START HERE · STAGE FOUR</a:t>
            </a:r>
          </a:p>
        </p:txBody>
      </p:sp>
      <p:sp>
        <p:nvSpPr>
          <p:cNvPr id="2" name="text-1">
            <a:extLst xmlns:a="http://schemas.openxmlformats.org/drawingml/2006/main">
              <a:ext uri="{FF2B5EF4-FFF2-40B4-BE49-F238E27FC236}">
                <a16:creationId xmlns:a16="http://schemas.microsoft.com/office/drawing/2014/main" id="{5D9B690A-FAD2-458B-AF65-B3AA3940482B}"/>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3000" b="1">
                <a:solidFill>
                  <a:srgbClr val="1E2447"/>
                </a:solidFill>
                <a:latin typeface="Cambria"/>
                <a:ea typeface="Cambria"/>
                <a:cs typeface="Cambria"/>
              </a:defRPr>
            </a:pPr>
            <a:r>
              <a:rPr sz="3000" b="1">
                <a:solidFill>
                  <a:srgbClr val="1E2447"/>
                </a:solidFill>
                <a:latin typeface="Cambria"/>
                <a:ea typeface="Cambria"/>
                <a:cs typeface="Cambria"/>
              </a:rPr>
              <a:t>The place of value in the sequence</a:t>
            </a:r>
          </a:p>
        </p:txBody>
      </p:sp>
      <p:sp>
        <p:nvSpPr>
          <p:cNvPr id="3" name="text-2">
            <a:extLst xmlns:a="http://schemas.openxmlformats.org/drawingml/2006/main">
              <a:ext uri="{FF2B5EF4-FFF2-40B4-BE49-F238E27FC236}">
                <a16:creationId xmlns:a16="http://schemas.microsoft.com/office/drawing/2014/main" id="{1A983B1F-2631-4F1F-88CE-A0EC2ABCBE1E}"/>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0BA6CABA-19F3-40BE-9161-7F841780BAF7}"/>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50" b="0">
                <a:solidFill>
                  <a:srgbClr val="626C85"/>
                </a:solidFill>
                <a:latin typeface="Calibri"/>
                <a:ea typeface="Calibri"/>
                <a:cs typeface="Calibri"/>
              </a:defRPr>
            </a:pPr>
            <a:r>
              <a:rPr sz="950" b="0">
                <a:solidFill>
                  <a:srgbClr val="626C85"/>
                </a:solidFill>
                <a:latin typeface="Calibri"/>
                <a:ea typeface="Calibri"/>
                <a:cs typeface="Calibri"/>
              </a:rPr>
              <a:t>2 / 35</a:t>
            </a:r>
          </a:p>
        </p:txBody>
      </p:sp>
      <p:sp>
        <p:nvSpPr>
          <p:cNvPr id="5" name="text-4">
            <a:extLst xmlns:a="http://schemas.openxmlformats.org/drawingml/2006/main">
              <a:ext uri="{FF2B5EF4-FFF2-40B4-BE49-F238E27FC236}">
                <a16:creationId xmlns:a16="http://schemas.microsoft.com/office/drawing/2014/main" id="{3395F9F3-6542-46E5-A9B7-7550E48AFA49}"/>
              </a:ext>
            </a:extLst>
          </p:cNvPr>
          <p:cNvSpPr>
            <a:spLocks xmlns:a="http://schemas.openxmlformats.org/drawingml/2006/main" noGrp="1"/>
          </p:cNvSpPr>
          <p:nvPr/>
        </p:nvSpPr>
        <p:spPr>
          <a:xfrm xmlns:a="http://schemas.openxmlformats.org/drawingml/2006/main">
            <a:off x="962025" y="1314450"/>
            <a:ext cx="3238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1">
                <a:solidFill>
                  <a:srgbClr val="626C85"/>
                </a:solidFill>
                <a:latin typeface="Cambria"/>
                <a:ea typeface="Cambria"/>
                <a:cs typeface="Cambria"/>
              </a:defRPr>
            </a:pPr>
            <a:r>
              <a:rPr sz="2100" b="1">
                <a:solidFill>
                  <a:srgbClr val="626C85"/>
                </a:solidFill>
                <a:latin typeface="Cambria"/>
                <a:ea typeface="Cambria"/>
                <a:cs typeface="Cambria"/>
              </a:rPr>
              <a:t>1</a:t>
            </a:r>
          </a:p>
        </p:txBody>
      </p:sp>
      <p:sp>
        <p:nvSpPr>
          <p:cNvPr id="6" name="text-5">
            <a:extLst xmlns:a="http://schemas.openxmlformats.org/drawingml/2006/main">
              <a:ext uri="{FF2B5EF4-FFF2-40B4-BE49-F238E27FC236}">
                <a16:creationId xmlns:a16="http://schemas.microsoft.com/office/drawing/2014/main" id="{C21C49CB-807F-405E-A976-71940465A118}"/>
              </a:ext>
            </a:extLst>
          </p:cNvPr>
          <p:cNvSpPr>
            <a:spLocks xmlns:a="http://schemas.openxmlformats.org/drawingml/2006/main" noGrp="1"/>
          </p:cNvSpPr>
          <p:nvPr/>
        </p:nvSpPr>
        <p:spPr>
          <a:xfrm xmlns:a="http://schemas.openxmlformats.org/drawingml/2006/main">
            <a:off x="1533525" y="1314450"/>
            <a:ext cx="16668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1E2447"/>
                </a:solidFill>
                <a:latin typeface="Calibri"/>
                <a:ea typeface="Calibri"/>
                <a:cs typeface="Calibri"/>
              </a:defRPr>
            </a:pPr>
            <a:r>
              <a:rPr sz="2025" b="1">
                <a:solidFill>
                  <a:srgbClr val="1E2447"/>
                </a:solidFill>
                <a:latin typeface="Calibri"/>
                <a:ea typeface="Calibri"/>
                <a:cs typeface="Calibri"/>
              </a:rPr>
              <a:t>Human</a:t>
            </a:r>
          </a:p>
        </p:txBody>
      </p:sp>
      <p:sp>
        <p:nvSpPr>
          <p:cNvPr id="7" name="text-6">
            <a:extLst xmlns:a="http://schemas.openxmlformats.org/drawingml/2006/main">
              <a:ext uri="{FF2B5EF4-FFF2-40B4-BE49-F238E27FC236}">
                <a16:creationId xmlns:a16="http://schemas.microsoft.com/office/drawing/2014/main" id="{B63ADDE5-683A-4A79-8479-B047991BEB39}"/>
              </a:ext>
            </a:extLst>
          </p:cNvPr>
          <p:cNvSpPr>
            <a:spLocks xmlns:a="http://schemas.openxmlformats.org/drawingml/2006/main" noGrp="1"/>
          </p:cNvSpPr>
          <p:nvPr/>
        </p:nvSpPr>
        <p:spPr>
          <a:xfrm xmlns:a="http://schemas.openxmlformats.org/drawingml/2006/main">
            <a:off x="3476625" y="1333500"/>
            <a:ext cx="49815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303853"/>
                </a:solidFill>
                <a:latin typeface="Calibri"/>
                <a:ea typeface="Calibri"/>
                <a:cs typeface="Calibri"/>
              </a:defRPr>
            </a:pPr>
            <a:r>
              <a:rPr sz="1800" b="0">
                <a:solidFill>
                  <a:srgbClr val="303853"/>
                </a:solidFill>
                <a:latin typeface="Calibri"/>
                <a:ea typeface="Calibri"/>
                <a:cs typeface="Calibri"/>
              </a:rPr>
              <a:t>Who understands and seeks happiness?</a:t>
            </a:r>
          </a:p>
        </p:txBody>
      </p:sp>
      <p:sp>
        <p:nvSpPr>
          <p:cNvPr id="8" name="text-7">
            <a:extLst xmlns:a="http://schemas.openxmlformats.org/drawingml/2006/main">
              <a:ext uri="{FF2B5EF4-FFF2-40B4-BE49-F238E27FC236}">
                <a16:creationId xmlns:a16="http://schemas.microsoft.com/office/drawing/2014/main" id="{F712029D-626A-447B-A7A9-C97B62FF83BF}"/>
              </a:ext>
            </a:extLst>
          </p:cNvPr>
          <p:cNvSpPr>
            <a:spLocks xmlns:a="http://schemas.openxmlformats.org/drawingml/2006/main" noGrp="1"/>
          </p:cNvSpPr>
          <p:nvPr/>
        </p:nvSpPr>
        <p:spPr>
          <a:xfrm xmlns:a="http://schemas.openxmlformats.org/drawingml/2006/main">
            <a:off x="962025" y="1895475"/>
            <a:ext cx="3238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1">
                <a:solidFill>
                  <a:srgbClr val="626C85"/>
                </a:solidFill>
                <a:latin typeface="Cambria"/>
                <a:ea typeface="Cambria"/>
                <a:cs typeface="Cambria"/>
              </a:defRPr>
            </a:pPr>
            <a:r>
              <a:rPr sz="2100" b="1">
                <a:solidFill>
                  <a:srgbClr val="626C85"/>
                </a:solidFill>
                <a:latin typeface="Cambria"/>
                <a:ea typeface="Cambria"/>
                <a:cs typeface="Cambria"/>
              </a:rPr>
              <a:t>2</a:t>
            </a:r>
          </a:p>
        </p:txBody>
      </p:sp>
      <p:sp>
        <p:nvSpPr>
          <p:cNvPr id="9" name="text-8">
            <a:extLst xmlns:a="http://schemas.openxmlformats.org/drawingml/2006/main">
              <a:ext uri="{FF2B5EF4-FFF2-40B4-BE49-F238E27FC236}">
                <a16:creationId xmlns:a16="http://schemas.microsoft.com/office/drawing/2014/main" id="{96BE9824-7768-47CB-B790-1CAA4FFADA1E}"/>
              </a:ext>
            </a:extLst>
          </p:cNvPr>
          <p:cNvSpPr>
            <a:spLocks xmlns:a="http://schemas.openxmlformats.org/drawingml/2006/main" noGrp="1"/>
          </p:cNvSpPr>
          <p:nvPr/>
        </p:nvSpPr>
        <p:spPr>
          <a:xfrm xmlns:a="http://schemas.openxmlformats.org/drawingml/2006/main">
            <a:off x="1533525" y="1895475"/>
            <a:ext cx="16668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1E2447"/>
                </a:solidFill>
                <a:latin typeface="Calibri"/>
                <a:ea typeface="Calibri"/>
                <a:cs typeface="Calibri"/>
              </a:defRPr>
            </a:pPr>
            <a:r>
              <a:rPr sz="2025" b="1">
                <a:solidFill>
                  <a:srgbClr val="1E2447"/>
                </a:solidFill>
                <a:latin typeface="Calibri"/>
                <a:ea typeface="Calibri"/>
                <a:cs typeface="Calibri"/>
              </a:rPr>
              <a:t>Existence</a:t>
            </a:r>
          </a:p>
        </p:txBody>
      </p:sp>
      <p:sp>
        <p:nvSpPr>
          <p:cNvPr id="10" name="text-9">
            <a:extLst xmlns:a="http://schemas.openxmlformats.org/drawingml/2006/main">
              <a:ext uri="{FF2B5EF4-FFF2-40B4-BE49-F238E27FC236}">
                <a16:creationId xmlns:a16="http://schemas.microsoft.com/office/drawing/2014/main" id="{26735EF0-D8A0-463D-8154-81C27CDE6534}"/>
              </a:ext>
            </a:extLst>
          </p:cNvPr>
          <p:cNvSpPr>
            <a:spLocks xmlns:a="http://schemas.openxmlformats.org/drawingml/2006/main" noGrp="1"/>
          </p:cNvSpPr>
          <p:nvPr/>
        </p:nvSpPr>
        <p:spPr>
          <a:xfrm xmlns:a="http://schemas.openxmlformats.org/drawingml/2006/main">
            <a:off x="3476625" y="1914525"/>
            <a:ext cx="49815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303853"/>
                </a:solidFill>
                <a:latin typeface="Calibri"/>
                <a:ea typeface="Calibri"/>
                <a:cs typeface="Calibri"/>
              </a:defRPr>
            </a:pPr>
            <a:r>
              <a:rPr sz="1800" b="0">
                <a:solidFill>
                  <a:srgbClr val="303853"/>
                </a:solidFill>
                <a:latin typeface="Calibri"/>
                <a:ea typeface="Calibri"/>
                <a:cs typeface="Calibri"/>
              </a:rPr>
              <a:t>What is there, and how does it participate?</a:t>
            </a:r>
          </a:p>
        </p:txBody>
      </p:sp>
      <p:sp>
        <p:nvSpPr>
          <p:cNvPr id="11" name="text-10">
            <a:extLst xmlns:a="http://schemas.openxmlformats.org/drawingml/2006/main">
              <a:ext uri="{FF2B5EF4-FFF2-40B4-BE49-F238E27FC236}">
                <a16:creationId xmlns:a16="http://schemas.microsoft.com/office/drawing/2014/main" id="{D8E6760D-B4D2-4BFF-B833-9DC80289BFC0}"/>
              </a:ext>
            </a:extLst>
          </p:cNvPr>
          <p:cNvSpPr>
            <a:spLocks xmlns:a="http://schemas.openxmlformats.org/drawingml/2006/main" noGrp="1"/>
          </p:cNvSpPr>
          <p:nvPr/>
        </p:nvSpPr>
        <p:spPr>
          <a:xfrm xmlns:a="http://schemas.openxmlformats.org/drawingml/2006/main">
            <a:off x="962025" y="2476500"/>
            <a:ext cx="3238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1">
                <a:solidFill>
                  <a:srgbClr val="626C85"/>
                </a:solidFill>
                <a:latin typeface="Cambria"/>
                <a:ea typeface="Cambria"/>
                <a:cs typeface="Cambria"/>
              </a:defRPr>
            </a:pPr>
            <a:r>
              <a:rPr sz="2100" b="1">
                <a:solidFill>
                  <a:srgbClr val="626C85"/>
                </a:solidFill>
                <a:latin typeface="Cambria"/>
                <a:ea typeface="Cambria"/>
                <a:cs typeface="Cambria"/>
              </a:rPr>
              <a:t>3</a:t>
            </a:r>
          </a:p>
        </p:txBody>
      </p:sp>
      <p:sp>
        <p:nvSpPr>
          <p:cNvPr id="12" name="text-11">
            <a:extLst xmlns:a="http://schemas.openxmlformats.org/drawingml/2006/main">
              <a:ext uri="{FF2B5EF4-FFF2-40B4-BE49-F238E27FC236}">
                <a16:creationId xmlns:a16="http://schemas.microsoft.com/office/drawing/2014/main" id="{C0F91A9D-31B1-437F-95D3-BEFB7C2B44D5}"/>
              </a:ext>
            </a:extLst>
          </p:cNvPr>
          <p:cNvSpPr>
            <a:spLocks xmlns:a="http://schemas.openxmlformats.org/drawingml/2006/main" noGrp="1"/>
          </p:cNvSpPr>
          <p:nvPr/>
        </p:nvSpPr>
        <p:spPr>
          <a:xfrm xmlns:a="http://schemas.openxmlformats.org/drawingml/2006/main">
            <a:off x="1533525" y="2476500"/>
            <a:ext cx="16668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1E2447"/>
                </a:solidFill>
                <a:latin typeface="Calibri"/>
                <a:ea typeface="Calibri"/>
                <a:cs typeface="Calibri"/>
              </a:defRPr>
            </a:pPr>
            <a:r>
              <a:rPr sz="2025" b="1">
                <a:solidFill>
                  <a:srgbClr val="1E2447"/>
                </a:solidFill>
                <a:latin typeface="Calibri"/>
                <a:ea typeface="Calibri"/>
                <a:cs typeface="Calibri"/>
              </a:rPr>
              <a:t>Knowledge</a:t>
            </a:r>
          </a:p>
        </p:txBody>
      </p:sp>
      <p:sp>
        <p:nvSpPr>
          <p:cNvPr id="13" name="text-12">
            <a:extLst xmlns:a="http://schemas.openxmlformats.org/drawingml/2006/main">
              <a:ext uri="{FF2B5EF4-FFF2-40B4-BE49-F238E27FC236}">
                <a16:creationId xmlns:a16="http://schemas.microsoft.com/office/drawing/2014/main" id="{E0B9E467-9FD3-48A8-AB60-FA5D39A6AB62}"/>
              </a:ext>
            </a:extLst>
          </p:cNvPr>
          <p:cNvSpPr>
            <a:spLocks xmlns:a="http://schemas.openxmlformats.org/drawingml/2006/main" noGrp="1"/>
          </p:cNvSpPr>
          <p:nvPr/>
        </p:nvSpPr>
        <p:spPr>
          <a:xfrm xmlns:a="http://schemas.openxmlformats.org/drawingml/2006/main">
            <a:off x="3476625" y="2495550"/>
            <a:ext cx="49815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303853"/>
                </a:solidFill>
                <a:latin typeface="Calibri"/>
                <a:ea typeface="Calibri"/>
                <a:cs typeface="Calibri"/>
              </a:defRPr>
            </a:pPr>
            <a:r>
              <a:rPr sz="1800" b="0">
                <a:solidFill>
                  <a:srgbClr val="303853"/>
                </a:solidFill>
                <a:latin typeface="Calibri"/>
                <a:ea typeface="Calibri"/>
                <a:cs typeface="Calibri"/>
              </a:rPr>
              <a:t>How does understanding become evidence?</a:t>
            </a:r>
          </a:p>
        </p:txBody>
      </p:sp>
      <p:sp>
        <p:nvSpPr>
          <p:cNvPr id="14" name="text-13">
            <a:extLst xmlns:a="http://schemas.openxmlformats.org/drawingml/2006/main">
              <a:ext uri="{FF2B5EF4-FFF2-40B4-BE49-F238E27FC236}">
                <a16:creationId xmlns:a16="http://schemas.microsoft.com/office/drawing/2014/main" id="{E2E5FE78-307B-4908-855A-4C53286E7CA4}"/>
              </a:ext>
            </a:extLst>
          </p:cNvPr>
          <p:cNvSpPr>
            <a:spLocks xmlns:a="http://schemas.openxmlformats.org/drawingml/2006/main" noGrp="1"/>
          </p:cNvSpPr>
          <p:nvPr/>
        </p:nvSpPr>
        <p:spPr>
          <a:xfrm xmlns:a="http://schemas.openxmlformats.org/drawingml/2006/main">
            <a:off x="962025" y="3057525"/>
            <a:ext cx="3238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1">
                <a:solidFill>
                  <a:srgbClr val="9A6414"/>
                </a:solidFill>
                <a:latin typeface="Cambria"/>
                <a:ea typeface="Cambria"/>
                <a:cs typeface="Cambria"/>
              </a:defRPr>
            </a:pPr>
            <a:r>
              <a:rPr sz="2100" b="1">
                <a:solidFill>
                  <a:srgbClr val="9A6414"/>
                </a:solidFill>
                <a:latin typeface="Cambria"/>
                <a:ea typeface="Cambria"/>
                <a:cs typeface="Cambria"/>
              </a:rPr>
              <a:t>4</a:t>
            </a:r>
          </a:p>
        </p:txBody>
      </p:sp>
      <p:sp>
        <p:nvSpPr>
          <p:cNvPr id="15" name="text-14">
            <a:extLst xmlns:a="http://schemas.openxmlformats.org/drawingml/2006/main">
              <a:ext uri="{FF2B5EF4-FFF2-40B4-BE49-F238E27FC236}">
                <a16:creationId xmlns:a16="http://schemas.microsoft.com/office/drawing/2014/main" id="{F358759F-855A-4947-B5C8-61A0158F62EA}"/>
              </a:ext>
            </a:extLst>
          </p:cNvPr>
          <p:cNvSpPr>
            <a:spLocks xmlns:a="http://schemas.openxmlformats.org/drawingml/2006/main" noGrp="1"/>
          </p:cNvSpPr>
          <p:nvPr/>
        </p:nvSpPr>
        <p:spPr>
          <a:xfrm xmlns:a="http://schemas.openxmlformats.org/drawingml/2006/main">
            <a:off x="1533525" y="3057525"/>
            <a:ext cx="16668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9A6414"/>
                </a:solidFill>
                <a:latin typeface="Calibri"/>
                <a:ea typeface="Calibri"/>
                <a:cs typeface="Calibri"/>
              </a:defRPr>
            </a:pPr>
            <a:r>
              <a:rPr sz="2025" b="1">
                <a:solidFill>
                  <a:srgbClr val="9A6414"/>
                </a:solidFill>
                <a:latin typeface="Calibri"/>
                <a:ea typeface="Calibri"/>
                <a:cs typeface="Calibri"/>
              </a:rPr>
              <a:t>Value</a:t>
            </a:r>
          </a:p>
        </p:txBody>
      </p:sp>
      <p:sp>
        <p:nvSpPr>
          <p:cNvPr id="16" name="text-15">
            <a:extLst xmlns:a="http://schemas.openxmlformats.org/drawingml/2006/main">
              <a:ext uri="{FF2B5EF4-FFF2-40B4-BE49-F238E27FC236}">
                <a16:creationId xmlns:a16="http://schemas.microsoft.com/office/drawing/2014/main" id="{0C8EE52E-A6A9-47D2-BADA-1EEEF0256910}"/>
              </a:ext>
            </a:extLst>
          </p:cNvPr>
          <p:cNvSpPr>
            <a:spLocks xmlns:a="http://schemas.openxmlformats.org/drawingml/2006/main" noGrp="1"/>
          </p:cNvSpPr>
          <p:nvPr/>
        </p:nvSpPr>
        <p:spPr>
          <a:xfrm xmlns:a="http://schemas.openxmlformats.org/drawingml/2006/main">
            <a:off x="3476625" y="3076575"/>
            <a:ext cx="49815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1">
                <a:solidFill>
                  <a:srgbClr val="9A6414"/>
                </a:solidFill>
                <a:latin typeface="Calibri"/>
                <a:ea typeface="Calibri"/>
                <a:cs typeface="Calibri"/>
              </a:defRPr>
            </a:pPr>
            <a:r>
              <a:rPr sz="1800" b="1">
                <a:solidFill>
                  <a:srgbClr val="9A6414"/>
                </a:solidFill>
                <a:latin typeface="Calibri"/>
                <a:ea typeface="Calibri"/>
                <a:cs typeface="Calibri"/>
              </a:rPr>
              <a:t>What makes evaluation correct?</a:t>
            </a:r>
          </a:p>
        </p:txBody>
      </p:sp>
      <p:sp>
        <p:nvSpPr>
          <p:cNvPr id="17" name="text-16">
            <a:extLst xmlns:a="http://schemas.openxmlformats.org/drawingml/2006/main">
              <a:ext uri="{FF2B5EF4-FFF2-40B4-BE49-F238E27FC236}">
                <a16:creationId xmlns:a16="http://schemas.microsoft.com/office/drawing/2014/main" id="{4C233476-AC3F-448E-A904-4797225D3399}"/>
              </a:ext>
            </a:extLst>
          </p:cNvPr>
          <p:cNvSpPr>
            <a:spLocks xmlns:a="http://schemas.openxmlformats.org/drawingml/2006/main" noGrp="1"/>
          </p:cNvSpPr>
          <p:nvPr/>
        </p:nvSpPr>
        <p:spPr>
          <a:xfrm xmlns:a="http://schemas.openxmlformats.org/drawingml/2006/main">
            <a:off x="962025" y="3638550"/>
            <a:ext cx="3238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1">
                <a:solidFill>
                  <a:srgbClr val="626C85"/>
                </a:solidFill>
                <a:latin typeface="Cambria"/>
                <a:ea typeface="Cambria"/>
                <a:cs typeface="Cambria"/>
              </a:defRPr>
            </a:pPr>
            <a:r>
              <a:rPr sz="2100" b="1">
                <a:solidFill>
                  <a:srgbClr val="626C85"/>
                </a:solidFill>
                <a:latin typeface="Cambria"/>
                <a:ea typeface="Cambria"/>
                <a:cs typeface="Cambria"/>
              </a:rPr>
              <a:t>5</a:t>
            </a:r>
          </a:p>
        </p:txBody>
      </p:sp>
      <p:sp>
        <p:nvSpPr>
          <p:cNvPr id="18" name="text-17">
            <a:extLst xmlns:a="http://schemas.openxmlformats.org/drawingml/2006/main">
              <a:ext uri="{FF2B5EF4-FFF2-40B4-BE49-F238E27FC236}">
                <a16:creationId xmlns:a16="http://schemas.microsoft.com/office/drawing/2014/main" id="{C01F2C6E-C44F-41C3-88F1-EDC49B483C02}"/>
              </a:ext>
            </a:extLst>
          </p:cNvPr>
          <p:cNvSpPr>
            <a:spLocks xmlns:a="http://schemas.openxmlformats.org/drawingml/2006/main" noGrp="1"/>
          </p:cNvSpPr>
          <p:nvPr/>
        </p:nvSpPr>
        <p:spPr>
          <a:xfrm xmlns:a="http://schemas.openxmlformats.org/drawingml/2006/main">
            <a:off x="1533525" y="3638550"/>
            <a:ext cx="16668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1E2447"/>
                </a:solidFill>
                <a:latin typeface="Calibri"/>
                <a:ea typeface="Calibri"/>
                <a:cs typeface="Calibri"/>
              </a:defRPr>
            </a:pPr>
            <a:r>
              <a:rPr sz="2025" b="1">
                <a:solidFill>
                  <a:srgbClr val="1E2447"/>
                </a:solidFill>
                <a:latin typeface="Calibri"/>
                <a:ea typeface="Calibri"/>
                <a:cs typeface="Calibri"/>
              </a:rPr>
              <a:t>Living</a:t>
            </a:r>
          </a:p>
        </p:txBody>
      </p:sp>
      <p:sp>
        <p:nvSpPr>
          <p:cNvPr id="19" name="text-18">
            <a:extLst xmlns:a="http://schemas.openxmlformats.org/drawingml/2006/main">
              <a:ext uri="{FF2B5EF4-FFF2-40B4-BE49-F238E27FC236}">
                <a16:creationId xmlns:a16="http://schemas.microsoft.com/office/drawing/2014/main" id="{8985DAF0-2349-4018-A7FC-497DC4DC1313}"/>
              </a:ext>
            </a:extLst>
          </p:cNvPr>
          <p:cNvSpPr>
            <a:spLocks xmlns:a="http://schemas.openxmlformats.org/drawingml/2006/main" noGrp="1"/>
          </p:cNvSpPr>
          <p:nvPr/>
        </p:nvSpPr>
        <p:spPr>
          <a:xfrm xmlns:a="http://schemas.openxmlformats.org/drawingml/2006/main">
            <a:off x="3476625" y="3657600"/>
            <a:ext cx="49815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303853"/>
                </a:solidFill>
                <a:latin typeface="Calibri"/>
                <a:ea typeface="Calibri"/>
                <a:cs typeface="Calibri"/>
              </a:defRPr>
            </a:pPr>
            <a:r>
              <a:rPr sz="1800" b="0">
                <a:solidFill>
                  <a:srgbClr val="303853"/>
                </a:solidFill>
                <a:latin typeface="Calibri"/>
                <a:ea typeface="Calibri"/>
                <a:cs typeface="Calibri"/>
              </a:rPr>
              <a:t>How do values become a shared way of life?</a:t>
            </a:r>
          </a:p>
        </p:txBody>
      </p:sp>
    </p:spTree>
    <p:extLst>
      <p:ext uri="{BB962C8B-B14F-4D97-AF65-F5344CB8AC3E}">
        <p14:creationId xmlns:p14="http://schemas.microsoft.com/office/powerpoint/2010/main" val="163724338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E6BF2C75-452A-4E19-BA68-604F7C99885B}"/>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9A6414"/>
                </a:solidFill>
                <a:latin typeface="Calibri"/>
                <a:ea typeface="Calibri"/>
                <a:cs typeface="Calibri"/>
              </a:defRPr>
            </a:pPr>
            <a:r>
              <a:rPr sz="1050" b="1">
                <a:solidFill>
                  <a:srgbClr val="9A6414"/>
                </a:solidFill>
                <a:latin typeface="Calibri"/>
                <a:ea typeface="Calibri"/>
                <a:cs typeface="Calibri"/>
              </a:rPr>
              <a:t>OPENING CASE</a:t>
            </a:r>
          </a:p>
        </p:txBody>
      </p:sp>
      <p:sp>
        <p:nvSpPr>
          <p:cNvPr id="2" name="text-1">
            <a:extLst xmlns:a="http://schemas.openxmlformats.org/drawingml/2006/main">
              <a:ext uri="{FF2B5EF4-FFF2-40B4-BE49-F238E27FC236}">
                <a16:creationId xmlns:a16="http://schemas.microsoft.com/office/drawing/2014/main" id="{B247C04C-0ADA-4B36-A867-E19A93134A89}"/>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3000" b="1">
                <a:solidFill>
                  <a:srgbClr val="1E2447"/>
                </a:solidFill>
                <a:latin typeface="Cambria"/>
                <a:ea typeface="Cambria"/>
                <a:cs typeface="Cambria"/>
              </a:defRPr>
            </a:pPr>
            <a:r>
              <a:rPr sz="3000" b="1">
                <a:solidFill>
                  <a:srgbClr val="1E2447"/>
                </a:solidFill>
                <a:latin typeface="Cambria"/>
                <a:ea typeface="Cambria"/>
                <a:cs typeface="Cambria"/>
              </a:rPr>
              <a:t>A shared meal</a:t>
            </a:r>
          </a:p>
        </p:txBody>
      </p:sp>
      <p:sp>
        <p:nvSpPr>
          <p:cNvPr id="3" name="text-2">
            <a:extLst xmlns:a="http://schemas.openxmlformats.org/drawingml/2006/main">
              <a:ext uri="{FF2B5EF4-FFF2-40B4-BE49-F238E27FC236}">
                <a16:creationId xmlns:a16="http://schemas.microsoft.com/office/drawing/2014/main" id="{457476D4-5B5B-4E59-A0F4-83C3F2990970}"/>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6FD994E2-1202-4EFB-97FF-B705C3285418}"/>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50" b="0">
                <a:solidFill>
                  <a:srgbClr val="626C85"/>
                </a:solidFill>
                <a:latin typeface="Calibri"/>
                <a:ea typeface="Calibri"/>
                <a:cs typeface="Calibri"/>
              </a:defRPr>
            </a:pPr>
            <a:r>
              <a:rPr sz="950" b="0">
                <a:solidFill>
                  <a:srgbClr val="626C85"/>
                </a:solidFill>
                <a:latin typeface="Calibri"/>
                <a:ea typeface="Calibri"/>
                <a:cs typeface="Calibri"/>
              </a:rPr>
              <a:t>3 / 35</a:t>
            </a:r>
          </a:p>
        </p:txBody>
      </p:sp>
      <p:sp>
        <p:nvSpPr>
          <p:cNvPr id="5" name="text-4">
            <a:extLst xmlns:a="http://schemas.openxmlformats.org/drawingml/2006/main">
              <a:ext uri="{FF2B5EF4-FFF2-40B4-BE49-F238E27FC236}">
                <a16:creationId xmlns:a16="http://schemas.microsoft.com/office/drawing/2014/main" id="{322AA0C5-FB53-4FE2-ADEA-FF4D99D9C683}"/>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00" b="0" i="1">
                <a:solidFill>
                  <a:srgbClr val="9A6414"/>
                </a:solidFill>
                <a:latin typeface="Calibri"/>
                <a:ea typeface="Calibri"/>
                <a:cs typeface="Calibri"/>
              </a:defRPr>
            </a:pPr>
            <a:r>
              <a:rPr sz="1300" b="0" i="1">
                <a:solidFill>
                  <a:srgbClr val="9A6414"/>
                </a:solidFill>
                <a:latin typeface="Calibri"/>
                <a:ea typeface="Calibri"/>
                <a:cs typeface="Calibri"/>
              </a:rPr>
              <a:t>Keep the case in view as the account develops.</a:t>
            </a:r>
          </a:p>
        </p:txBody>
      </p:sp>
      <p:sp>
        <p:nvSpPr>
          <p:cNvPr id="6" name="text-5">
            <a:extLst xmlns:a="http://schemas.openxmlformats.org/drawingml/2006/main">
              <a:ext uri="{FF2B5EF4-FFF2-40B4-BE49-F238E27FC236}">
                <a16:creationId xmlns:a16="http://schemas.microsoft.com/office/drawing/2014/main" id="{DC439AA1-6202-485F-8FF6-0393E834C286}"/>
              </a:ext>
            </a:extLst>
          </p:cNvPr>
          <p:cNvSpPr>
            <a:spLocks xmlns:a="http://schemas.openxmlformats.org/drawingml/2006/main" noGrp="1"/>
          </p:cNvSpPr>
          <p:nvPr/>
        </p:nvSpPr>
        <p:spPr>
          <a:xfrm xmlns:a="http://schemas.openxmlformats.org/drawingml/2006/main">
            <a:off x="962025" y="1381125"/>
            <a:ext cx="752475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E2447"/>
                </a:solidFill>
                <a:latin typeface="Cambria"/>
                <a:ea typeface="Cambria"/>
                <a:cs typeface="Cambria"/>
              </a:defRPr>
            </a:pPr>
            <a:r>
              <a:rPr sz="2700" b="0">
                <a:solidFill>
                  <a:srgbClr val="1E2447"/>
                </a:solidFill>
                <a:latin typeface="Cambria"/>
                <a:ea typeface="Cambria"/>
                <a:cs typeface="Cambria"/>
              </a:rPr>
              <a:t>There is enough food. One person goes hungry.</a:t>
            </a:r>
          </a:p>
        </p:txBody>
      </p:sp>
      <p:sp>
        <p:nvSpPr>
          <p:cNvPr id="7" name="text-6">
            <a:extLst xmlns:a="http://schemas.openxmlformats.org/drawingml/2006/main">
              <a:ext uri="{FF2B5EF4-FFF2-40B4-BE49-F238E27FC236}">
                <a16:creationId xmlns:a16="http://schemas.microsoft.com/office/drawing/2014/main" id="{44C8F4BB-D646-4BB1-B36B-FB92E0455116}"/>
              </a:ext>
            </a:extLst>
          </p:cNvPr>
          <p:cNvSpPr>
            <a:spLocks xmlns:a="http://schemas.openxmlformats.org/drawingml/2006/main" noGrp="1"/>
          </p:cNvSpPr>
          <p:nvPr/>
        </p:nvSpPr>
        <p:spPr>
          <a:xfrm xmlns:a="http://schemas.openxmlformats.org/drawingml/2006/main">
            <a:off x="962025" y="2552700"/>
            <a:ext cx="75247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303853"/>
                </a:solidFill>
                <a:latin typeface="Calibri"/>
                <a:ea typeface="Calibri"/>
                <a:cs typeface="Calibri"/>
              </a:defRPr>
            </a:pPr>
            <a:r>
              <a:rPr sz="1950" b="0">
                <a:solidFill>
                  <a:srgbClr val="303853"/>
                </a:solidFill>
                <a:latin typeface="Calibri"/>
                <a:ea typeface="Calibri"/>
                <a:cs typeface="Calibri"/>
              </a:rPr>
              <a:t>A host follows a familiar routine and overlooks a guest’s need.</a:t>
            </a:r>
          </a:p>
        </p:txBody>
      </p:sp>
      <p:sp>
        <p:nvSpPr>
          <p:cNvPr id="8" name="text-7">
            <a:extLst xmlns:a="http://schemas.openxmlformats.org/drawingml/2006/main">
              <a:ext uri="{FF2B5EF4-FFF2-40B4-BE49-F238E27FC236}">
                <a16:creationId xmlns:a16="http://schemas.microsoft.com/office/drawing/2014/main" id="{0788661C-7C4E-44BA-99C9-BBB101D8871F}"/>
              </a:ext>
            </a:extLst>
          </p:cNvPr>
          <p:cNvSpPr>
            <a:spLocks xmlns:a="http://schemas.openxmlformats.org/drawingml/2006/main" noGrp="1"/>
          </p:cNvSpPr>
          <p:nvPr/>
        </p:nvSpPr>
        <p:spPr>
          <a:xfrm xmlns:a="http://schemas.openxmlformats.org/drawingml/2006/main">
            <a:off x="962025" y="3590925"/>
            <a:ext cx="75247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1">
                <a:solidFill>
                  <a:srgbClr val="9A6414"/>
                </a:solidFill>
                <a:latin typeface="Calibri"/>
                <a:ea typeface="Calibri"/>
                <a:cs typeface="Calibri"/>
              </a:defRPr>
            </a:pPr>
            <a:r>
              <a:rPr sz="2100" b="1">
                <a:solidFill>
                  <a:srgbClr val="9A6414"/>
                </a:solidFill>
                <a:latin typeface="Calibri"/>
                <a:ea typeface="Calibri"/>
                <a:cs typeface="Calibri"/>
              </a:rPr>
              <a:t>Where does the failure lie?</a:t>
            </a:r>
          </a:p>
        </p:txBody>
      </p:sp>
    </p:spTree>
    <p:extLst>
      <p:ext uri="{BB962C8B-B14F-4D97-AF65-F5344CB8AC3E}">
        <p14:creationId xmlns:p14="http://schemas.microsoft.com/office/powerpoint/2010/main" val="85826656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28485D33-20F2-4188-A428-AC11D4F5264B}"/>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9A6414"/>
                </a:solidFill>
                <a:latin typeface="Calibri"/>
                <a:ea typeface="Calibri"/>
                <a:cs typeface="Calibri"/>
              </a:defRPr>
            </a:pPr>
            <a:r>
              <a:rPr sz="1050" b="1">
                <a:solidFill>
                  <a:srgbClr val="9A6414"/>
                </a:solidFill>
                <a:latin typeface="Calibri"/>
                <a:ea typeface="Calibri"/>
                <a:cs typeface="Calibri"/>
              </a:rPr>
              <a:t>THE MINIMUM BACKGROUND</a:t>
            </a:r>
          </a:p>
        </p:txBody>
      </p:sp>
      <p:sp>
        <p:nvSpPr>
          <p:cNvPr id="2" name="text-1">
            <a:extLst xmlns:a="http://schemas.openxmlformats.org/drawingml/2006/main">
              <a:ext uri="{FF2B5EF4-FFF2-40B4-BE49-F238E27FC236}">
                <a16:creationId xmlns:a16="http://schemas.microsoft.com/office/drawing/2014/main" id="{6CEBD779-1CFB-4A3F-AB0B-99C7A5D5564F}"/>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3000" b="1">
                <a:solidFill>
                  <a:srgbClr val="1E2447"/>
                </a:solidFill>
                <a:latin typeface="Cambria"/>
                <a:ea typeface="Cambria"/>
                <a:cs typeface="Cambria"/>
              </a:defRPr>
            </a:pPr>
            <a:r>
              <a:rPr sz="3000" b="1">
                <a:solidFill>
                  <a:srgbClr val="1E2447"/>
                </a:solidFill>
                <a:latin typeface="Cambria"/>
                <a:ea typeface="Cambria"/>
                <a:cs typeface="Cambria"/>
              </a:rPr>
              <a:t>Three terms in Madhyasth Darshan</a:t>
            </a:r>
          </a:p>
        </p:txBody>
      </p:sp>
      <p:sp>
        <p:nvSpPr>
          <p:cNvPr id="3" name="text-2">
            <a:extLst xmlns:a="http://schemas.openxmlformats.org/drawingml/2006/main">
              <a:ext uri="{FF2B5EF4-FFF2-40B4-BE49-F238E27FC236}">
                <a16:creationId xmlns:a16="http://schemas.microsoft.com/office/drawing/2014/main" id="{44AD05E5-C357-4317-A865-8BCCFFAD0B02}"/>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A7169A6B-3780-4DE8-ACF7-D47ECC680A31}"/>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50" b="0">
                <a:solidFill>
                  <a:srgbClr val="626C85"/>
                </a:solidFill>
                <a:latin typeface="Calibri"/>
                <a:ea typeface="Calibri"/>
                <a:cs typeface="Calibri"/>
              </a:defRPr>
            </a:pPr>
            <a:r>
              <a:rPr sz="950" b="0">
                <a:solidFill>
                  <a:srgbClr val="626C85"/>
                </a:solidFill>
                <a:latin typeface="Calibri"/>
                <a:ea typeface="Calibri"/>
                <a:cs typeface="Calibri"/>
              </a:rPr>
              <a:t>4 / 35</a:t>
            </a:r>
          </a:p>
        </p:txBody>
      </p:sp>
      <p:sp>
        <p:nvSpPr>
          <p:cNvPr id="5" name="text-4">
            <a:extLst xmlns:a="http://schemas.openxmlformats.org/drawingml/2006/main">
              <a:ext uri="{FF2B5EF4-FFF2-40B4-BE49-F238E27FC236}">
                <a16:creationId xmlns:a16="http://schemas.microsoft.com/office/drawing/2014/main" id="{D078E54D-7A1E-40D0-8C32-24C5A3765CD6}"/>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00" b="0" i="1">
                <a:solidFill>
                  <a:srgbClr val="9A6414"/>
                </a:solidFill>
                <a:latin typeface="Calibri"/>
                <a:ea typeface="Calibri"/>
                <a:cs typeface="Calibri"/>
              </a:defRPr>
            </a:pPr>
            <a:r>
              <a:rPr sz="1300" b="0" i="1">
                <a:solidFill>
                  <a:srgbClr val="9A6414"/>
                </a:solidFill>
                <a:latin typeface="Calibri"/>
                <a:ea typeface="Calibri"/>
                <a:cs typeface="Calibri"/>
              </a:rPr>
              <a:t>These are the philosophy’s starting claims for inquiry.</a:t>
            </a:r>
          </a:p>
        </p:txBody>
      </p:sp>
      <p:sp>
        <p:nvSpPr>
          <p:cNvPr id="6" name="text-5">
            <a:extLst xmlns:a="http://schemas.openxmlformats.org/drawingml/2006/main">
              <a:ext uri="{FF2B5EF4-FFF2-40B4-BE49-F238E27FC236}">
                <a16:creationId xmlns:a16="http://schemas.microsoft.com/office/drawing/2014/main" id="{BABAAFA6-CDF2-4911-AED4-35296AB70780}"/>
              </a:ext>
            </a:extLst>
          </p:cNvPr>
          <p:cNvSpPr>
            <a:spLocks xmlns:a="http://schemas.openxmlformats.org/drawingml/2006/main" noGrp="1"/>
          </p:cNvSpPr>
          <p:nvPr/>
        </p:nvSpPr>
        <p:spPr>
          <a:xfrm xmlns:a="http://schemas.openxmlformats.org/drawingml/2006/main">
            <a:off x="962025" y="1352550"/>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1E2447"/>
                </a:solidFill>
                <a:latin typeface="Calibri"/>
                <a:ea typeface="Calibri"/>
                <a:cs typeface="Calibri"/>
              </a:defRPr>
            </a:pPr>
            <a:r>
              <a:rPr sz="1875" b="1">
                <a:solidFill>
                  <a:srgbClr val="1E2447"/>
                </a:solidFill>
                <a:latin typeface="Calibri"/>
                <a:ea typeface="Calibri"/>
                <a:cs typeface="Calibri"/>
              </a:rPr>
              <a:t>Coexistence</a:t>
            </a:r>
          </a:p>
        </p:txBody>
      </p:sp>
      <p:sp>
        <p:nvSpPr>
          <p:cNvPr id="7" name="text-6">
            <a:extLst xmlns:a="http://schemas.openxmlformats.org/drawingml/2006/main">
              <a:ext uri="{FF2B5EF4-FFF2-40B4-BE49-F238E27FC236}">
                <a16:creationId xmlns:a16="http://schemas.microsoft.com/office/drawing/2014/main" id="{476211D1-C422-4B8F-99BE-9BC8B3B314B8}"/>
              </a:ext>
            </a:extLst>
          </p:cNvPr>
          <p:cNvSpPr>
            <a:spLocks xmlns:a="http://schemas.openxmlformats.org/drawingml/2006/main" noGrp="1"/>
          </p:cNvSpPr>
          <p:nvPr/>
        </p:nvSpPr>
        <p:spPr>
          <a:xfrm xmlns:a="http://schemas.openxmlformats.org/drawingml/2006/main">
            <a:off x="962025" y="1695450"/>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303853"/>
                </a:solidFill>
                <a:latin typeface="Calibri"/>
                <a:ea typeface="Calibri"/>
                <a:cs typeface="Calibri"/>
              </a:defRPr>
            </a:pPr>
            <a:r>
              <a:rPr sz="1800" b="0">
                <a:solidFill>
                  <a:srgbClr val="303853"/>
                </a:solidFill>
                <a:latin typeface="Calibri"/>
                <a:ea typeface="Calibri"/>
                <a:cs typeface="Calibri"/>
              </a:rPr>
              <a:t>Units exist and participate in relationship.</a:t>
            </a:r>
          </a:p>
        </p:txBody>
      </p:sp>
      <p:sp>
        <p:nvSpPr>
          <p:cNvPr id="8" name="text-7">
            <a:extLst xmlns:a="http://schemas.openxmlformats.org/drawingml/2006/main">
              <a:ext uri="{FF2B5EF4-FFF2-40B4-BE49-F238E27FC236}">
                <a16:creationId xmlns:a16="http://schemas.microsoft.com/office/drawing/2014/main" id="{683DA100-15AC-410C-AC0A-27B30E8B5219}"/>
              </a:ext>
            </a:extLst>
          </p:cNvPr>
          <p:cNvSpPr>
            <a:spLocks xmlns:a="http://schemas.openxmlformats.org/drawingml/2006/main" noGrp="1"/>
          </p:cNvSpPr>
          <p:nvPr/>
        </p:nvSpPr>
        <p:spPr>
          <a:xfrm xmlns:a="http://schemas.openxmlformats.org/drawingml/2006/main">
            <a:off x="962025" y="2257425"/>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1E2447"/>
                </a:solidFill>
                <a:latin typeface="Calibri"/>
                <a:ea typeface="Calibri"/>
                <a:cs typeface="Calibri"/>
              </a:defRPr>
            </a:pPr>
            <a:r>
              <a:rPr sz="1875" b="1">
                <a:solidFill>
                  <a:srgbClr val="1E2447"/>
                </a:solidFill>
                <a:latin typeface="Calibri"/>
                <a:ea typeface="Calibri"/>
                <a:cs typeface="Calibri"/>
              </a:rPr>
              <a:t>Jeevan</a:t>
            </a:r>
          </a:p>
        </p:txBody>
      </p:sp>
      <p:sp>
        <p:nvSpPr>
          <p:cNvPr id="9" name="text-8">
            <a:extLst xmlns:a="http://schemas.openxmlformats.org/drawingml/2006/main">
              <a:ext uri="{FF2B5EF4-FFF2-40B4-BE49-F238E27FC236}">
                <a16:creationId xmlns:a16="http://schemas.microsoft.com/office/drawing/2014/main" id="{876484A7-D414-4E7B-8B38-58A29AC71E41}"/>
              </a:ext>
            </a:extLst>
          </p:cNvPr>
          <p:cNvSpPr>
            <a:spLocks xmlns:a="http://schemas.openxmlformats.org/drawingml/2006/main" noGrp="1"/>
          </p:cNvSpPr>
          <p:nvPr/>
        </p:nvSpPr>
        <p:spPr>
          <a:xfrm xmlns:a="http://schemas.openxmlformats.org/drawingml/2006/main">
            <a:off x="962025" y="2600325"/>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303853"/>
                </a:solidFill>
                <a:latin typeface="Calibri"/>
                <a:ea typeface="Calibri"/>
                <a:cs typeface="Calibri"/>
              </a:defRPr>
            </a:pPr>
            <a:r>
              <a:rPr sz="1800" b="0">
                <a:solidFill>
                  <a:srgbClr val="303853"/>
                </a:solidFill>
                <a:latin typeface="Calibri"/>
                <a:ea typeface="Calibri"/>
                <a:cs typeface="Calibri"/>
              </a:rPr>
              <a:t>The conscious unit that knows, evaluates, and fulfils.</a:t>
            </a:r>
          </a:p>
        </p:txBody>
      </p:sp>
      <p:sp>
        <p:nvSpPr>
          <p:cNvPr id="10" name="text-9">
            <a:extLst xmlns:a="http://schemas.openxmlformats.org/drawingml/2006/main">
              <a:ext uri="{FF2B5EF4-FFF2-40B4-BE49-F238E27FC236}">
                <a16:creationId xmlns:a16="http://schemas.microsoft.com/office/drawing/2014/main" id="{449AFAB2-E6C7-4D89-A87C-6A20671D0FD4}"/>
              </a:ext>
            </a:extLst>
          </p:cNvPr>
          <p:cNvSpPr>
            <a:spLocks xmlns:a="http://schemas.openxmlformats.org/drawingml/2006/main" noGrp="1"/>
          </p:cNvSpPr>
          <p:nvPr/>
        </p:nvSpPr>
        <p:spPr>
          <a:xfrm xmlns:a="http://schemas.openxmlformats.org/drawingml/2006/main">
            <a:off x="962025" y="3162300"/>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1E2447"/>
                </a:solidFill>
                <a:latin typeface="Calibri"/>
                <a:ea typeface="Calibri"/>
                <a:cs typeface="Calibri"/>
              </a:defRPr>
            </a:pPr>
            <a:r>
              <a:rPr sz="1875" b="1">
                <a:solidFill>
                  <a:srgbClr val="1E2447"/>
                </a:solidFill>
                <a:latin typeface="Calibri"/>
                <a:ea typeface="Calibri"/>
                <a:cs typeface="Calibri"/>
              </a:rPr>
              <a:t>Mulya, or value</a:t>
            </a:r>
          </a:p>
        </p:txBody>
      </p:sp>
      <p:sp>
        <p:nvSpPr>
          <p:cNvPr id="11" name="text-10">
            <a:extLst xmlns:a="http://schemas.openxmlformats.org/drawingml/2006/main">
              <a:ext uri="{FF2B5EF4-FFF2-40B4-BE49-F238E27FC236}">
                <a16:creationId xmlns:a16="http://schemas.microsoft.com/office/drawing/2014/main" id="{4CB38532-25CA-4C9B-8FA0-668E3BC368F0}"/>
              </a:ext>
            </a:extLst>
          </p:cNvPr>
          <p:cNvSpPr>
            <a:spLocks xmlns:a="http://schemas.openxmlformats.org/drawingml/2006/main" noGrp="1"/>
          </p:cNvSpPr>
          <p:nvPr/>
        </p:nvSpPr>
        <p:spPr>
          <a:xfrm xmlns:a="http://schemas.openxmlformats.org/drawingml/2006/main">
            <a:off x="962025" y="3505200"/>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303853"/>
                </a:solidFill>
                <a:latin typeface="Calibri"/>
                <a:ea typeface="Calibri"/>
                <a:cs typeface="Calibri"/>
              </a:defRPr>
            </a:pPr>
            <a:r>
              <a:rPr sz="1800" b="0">
                <a:solidFill>
                  <a:srgbClr val="303853"/>
                </a:solidFill>
                <a:latin typeface="Calibri"/>
                <a:ea typeface="Calibri"/>
                <a:cs typeface="Calibri"/>
              </a:rPr>
              <a:t>A unit’s essentiality in coexistence.</a:t>
            </a:r>
          </a:p>
        </p:txBody>
      </p:sp>
    </p:spTree>
    <p:extLst>
      <p:ext uri="{BB962C8B-B14F-4D97-AF65-F5344CB8AC3E}">
        <p14:creationId xmlns:p14="http://schemas.microsoft.com/office/powerpoint/2010/main" val="102897839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text-0">
            <a:extLst xmlns:a="http://schemas.openxmlformats.org/drawingml/2006/main">
              <a:ext uri="{FF2B5EF4-FFF2-40B4-BE49-F238E27FC236}">
                <a16:creationId xmlns:a16="http://schemas.microsoft.com/office/drawing/2014/main" id="{8DCF34A1-AA22-4917-A196-D0D177A9068B}"/>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9A6414"/>
                </a:solidFill>
                <a:latin typeface="Calibri"/>
                <a:ea typeface="Calibri"/>
                <a:cs typeface="Calibri"/>
              </a:defRPr>
            </a:pPr>
            <a:r>
              <a:rPr sz="1050" b="1">
                <a:solidFill>
                  <a:srgbClr val="9A6414"/>
                </a:solidFill>
                <a:latin typeface="Calibri"/>
                <a:ea typeface="Calibri"/>
                <a:cs typeface="Calibri"/>
              </a:rPr>
              <a:t>WHAT VALUE MEANS</a:t>
            </a:r>
          </a:p>
        </p:txBody>
      </p:sp>
      <p:sp>
        <p:nvSpPr>
          <p:cNvPr id="2" name="text-1">
            <a:extLst xmlns:a="http://schemas.openxmlformats.org/drawingml/2006/main">
              <a:ext uri="{FF2B5EF4-FFF2-40B4-BE49-F238E27FC236}">
                <a16:creationId xmlns:a16="http://schemas.microsoft.com/office/drawing/2014/main" id="{6C2BB3C4-A5CB-4005-A20D-B147EB7F726C}"/>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3000" b="1">
                <a:solidFill>
                  <a:srgbClr val="1E2447"/>
                </a:solidFill>
                <a:latin typeface="Cambria"/>
                <a:ea typeface="Cambria"/>
                <a:cs typeface="Cambria"/>
              </a:defRPr>
            </a:pPr>
            <a:r>
              <a:rPr sz="3000" b="1">
                <a:solidFill>
                  <a:srgbClr val="1E2447"/>
                </a:solidFill>
                <a:latin typeface="Cambria"/>
                <a:ea typeface="Cambria"/>
                <a:cs typeface="Cambria"/>
              </a:rPr>
              <a:t>Essentiality and participation</a:t>
            </a:r>
          </a:p>
        </p:txBody>
      </p:sp>
      <p:sp>
        <p:nvSpPr>
          <p:cNvPr id="3" name="text-2">
            <a:extLst xmlns:a="http://schemas.openxmlformats.org/drawingml/2006/main">
              <a:ext uri="{FF2B5EF4-FFF2-40B4-BE49-F238E27FC236}">
                <a16:creationId xmlns:a16="http://schemas.microsoft.com/office/drawing/2014/main" id="{9FA66073-C641-48E3-91C0-C6D842E75BDB}"/>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4A537B8A-D693-42E3-80D4-6A55CA7F364C}"/>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50" b="0">
                <a:solidFill>
                  <a:srgbClr val="626C85"/>
                </a:solidFill>
                <a:latin typeface="Calibri"/>
                <a:ea typeface="Calibri"/>
                <a:cs typeface="Calibri"/>
              </a:defRPr>
            </a:pPr>
            <a:r>
              <a:rPr sz="950" b="0">
                <a:solidFill>
                  <a:srgbClr val="626C85"/>
                </a:solidFill>
                <a:latin typeface="Calibri"/>
                <a:ea typeface="Calibri"/>
                <a:cs typeface="Calibri"/>
              </a:rPr>
              <a:t>5 / 35</a:t>
            </a:r>
          </a:p>
        </p:txBody>
      </p:sp>
      <p:sp>
        <p:nvSpPr>
          <p:cNvPr id="5" name="text-4">
            <a:extLst xmlns:a="http://schemas.openxmlformats.org/drawingml/2006/main">
              <a:ext uri="{FF2B5EF4-FFF2-40B4-BE49-F238E27FC236}">
                <a16:creationId xmlns:a16="http://schemas.microsoft.com/office/drawing/2014/main" id="{BB8B35C0-60E3-457A-859C-24D02C8877CC}"/>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00" b="0" i="1">
                <a:solidFill>
                  <a:srgbClr val="9A6414"/>
                </a:solidFill>
                <a:latin typeface="Calibri"/>
                <a:ea typeface="Calibri"/>
                <a:cs typeface="Calibri"/>
              </a:defRPr>
            </a:pPr>
            <a:r>
              <a:rPr sz="1300" b="0" i="1">
                <a:solidFill>
                  <a:srgbClr val="9A6414"/>
                </a:solidFill>
                <a:latin typeface="Calibri"/>
                <a:ea typeface="Calibri"/>
                <a:cs typeface="Calibri"/>
              </a:rPr>
              <a:t>Recognition can be correct or mistaken. Approval does not create value.</a:t>
            </a:r>
          </a:p>
        </p:txBody>
      </p:sp>
      <p:sp>
        <p:nvSpPr>
          <p:cNvPr id="6" name="text-5">
            <a:extLst xmlns:a="http://schemas.openxmlformats.org/drawingml/2006/main">
              <a:ext uri="{FF2B5EF4-FFF2-40B4-BE49-F238E27FC236}">
                <a16:creationId xmlns:a16="http://schemas.microsoft.com/office/drawing/2014/main" id="{85550140-07C0-4B08-8F39-1F850B10D2DF}"/>
              </a:ext>
            </a:extLst>
          </p:cNvPr>
          <p:cNvSpPr>
            <a:spLocks xmlns:a="http://schemas.openxmlformats.org/drawingml/2006/main" noGrp="1"/>
          </p:cNvSpPr>
          <p:nvPr/>
        </p:nvSpPr>
        <p:spPr>
          <a:xfrm xmlns:a="http://schemas.openxmlformats.org/drawingml/2006/main">
            <a:off x="962025" y="1362075"/>
            <a:ext cx="7543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E2447"/>
                </a:solidFill>
                <a:latin typeface="Cambria"/>
                <a:ea typeface="Cambria"/>
                <a:cs typeface="Cambria"/>
              </a:defRPr>
            </a:pPr>
            <a:r>
              <a:rPr sz="2325" b="0">
                <a:solidFill>
                  <a:srgbClr val="1E2447"/>
                </a:solidFill>
                <a:latin typeface="Cambria"/>
                <a:ea typeface="Cambria"/>
                <a:cs typeface="Cambria"/>
              </a:rPr>
              <a:t>Value belongs to what a unit is and how it participates in coexistence.</a:t>
            </a:r>
          </a:p>
        </p:txBody>
      </p:sp>
      <p:sp>
        <p:nvSpPr>
          <p:cNvPr id="7" name="text-6">
            <a:extLst xmlns:a="http://schemas.openxmlformats.org/drawingml/2006/main">
              <a:ext uri="{FF2B5EF4-FFF2-40B4-BE49-F238E27FC236}">
                <a16:creationId xmlns:a16="http://schemas.microsoft.com/office/drawing/2014/main" id="{42511E9F-5B4B-4AA1-AB02-69B8C2993BD9}"/>
              </a:ext>
            </a:extLst>
          </p:cNvPr>
          <p:cNvSpPr>
            <a:spLocks xmlns:a="http://schemas.openxmlformats.org/drawingml/2006/main" noGrp="1"/>
          </p:cNvSpPr>
          <p:nvPr/>
        </p:nvSpPr>
        <p:spPr>
          <a:xfrm xmlns:a="http://schemas.openxmlformats.org/drawingml/2006/main">
            <a:off x="962025" y="2619375"/>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1E2447"/>
                </a:solidFill>
                <a:latin typeface="Calibri"/>
                <a:ea typeface="Calibri"/>
                <a:cs typeface="Calibri"/>
              </a:defRPr>
            </a:pPr>
            <a:r>
              <a:rPr sz="1875" b="1">
                <a:solidFill>
                  <a:srgbClr val="1E2447"/>
                </a:solidFill>
                <a:latin typeface="Calibri"/>
                <a:ea typeface="Calibri"/>
                <a:cs typeface="Calibri"/>
              </a:rPr>
              <a:t>Essential nature</a:t>
            </a:r>
          </a:p>
        </p:txBody>
      </p:sp>
      <p:sp>
        <p:nvSpPr>
          <p:cNvPr id="8" name="text-7">
            <a:extLst xmlns:a="http://schemas.openxmlformats.org/drawingml/2006/main">
              <a:ext uri="{FF2B5EF4-FFF2-40B4-BE49-F238E27FC236}">
                <a16:creationId xmlns:a16="http://schemas.microsoft.com/office/drawing/2014/main" id="{A0C401D1-AB89-43C4-9D90-83BF8E8A950D}"/>
              </a:ext>
            </a:extLst>
          </p:cNvPr>
          <p:cNvSpPr>
            <a:spLocks xmlns:a="http://schemas.openxmlformats.org/drawingml/2006/main" noGrp="1"/>
          </p:cNvSpPr>
          <p:nvPr/>
        </p:nvSpPr>
        <p:spPr>
          <a:xfrm xmlns:a="http://schemas.openxmlformats.org/drawingml/2006/main">
            <a:off x="962025" y="2962275"/>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303853"/>
                </a:solidFill>
                <a:latin typeface="Calibri"/>
                <a:ea typeface="Calibri"/>
                <a:cs typeface="Calibri"/>
              </a:defRPr>
            </a:pPr>
            <a:r>
              <a:rPr sz="1800" b="0">
                <a:solidFill>
                  <a:srgbClr val="303853"/>
                </a:solidFill>
                <a:latin typeface="Calibri"/>
                <a:ea typeface="Calibri"/>
                <a:cs typeface="Calibri"/>
              </a:rPr>
              <a:t>Its characteristic participation.</a:t>
            </a:r>
          </a:p>
        </p:txBody>
      </p:sp>
      <p:sp>
        <p:nvSpPr>
          <p:cNvPr id="9" name="text-8">
            <a:extLst xmlns:a="http://schemas.openxmlformats.org/drawingml/2006/main">
              <a:ext uri="{FF2B5EF4-FFF2-40B4-BE49-F238E27FC236}">
                <a16:creationId xmlns:a16="http://schemas.microsoft.com/office/drawing/2014/main" id="{7D8BD532-A076-4554-B5CA-BCA34DD37FE5}"/>
              </a:ext>
            </a:extLst>
          </p:cNvPr>
          <p:cNvSpPr>
            <a:spLocks xmlns:a="http://schemas.openxmlformats.org/drawingml/2006/main" noGrp="1"/>
          </p:cNvSpPr>
          <p:nvPr/>
        </p:nvSpPr>
        <p:spPr>
          <a:xfrm xmlns:a="http://schemas.openxmlformats.org/drawingml/2006/main">
            <a:off x="962025" y="3429000"/>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1E2447"/>
                </a:solidFill>
                <a:latin typeface="Calibri"/>
                <a:ea typeface="Calibri"/>
                <a:cs typeface="Calibri"/>
              </a:defRPr>
            </a:pPr>
            <a:r>
              <a:rPr sz="1875" b="1">
                <a:solidFill>
                  <a:srgbClr val="1E2447"/>
                </a:solidFill>
                <a:latin typeface="Calibri"/>
                <a:ea typeface="Calibri"/>
                <a:cs typeface="Calibri"/>
              </a:rPr>
              <a:t>Dharma</a:t>
            </a:r>
          </a:p>
        </p:txBody>
      </p:sp>
      <p:sp>
        <p:nvSpPr>
          <p:cNvPr id="10" name="text-9">
            <a:extLst xmlns:a="http://schemas.openxmlformats.org/drawingml/2006/main">
              <a:ext uri="{FF2B5EF4-FFF2-40B4-BE49-F238E27FC236}">
                <a16:creationId xmlns:a16="http://schemas.microsoft.com/office/drawing/2014/main" id="{87472478-B367-49AE-B244-D4027D93B349}"/>
              </a:ext>
            </a:extLst>
          </p:cNvPr>
          <p:cNvSpPr>
            <a:spLocks xmlns:a="http://schemas.openxmlformats.org/drawingml/2006/main" noGrp="1"/>
          </p:cNvSpPr>
          <p:nvPr/>
        </p:nvSpPr>
        <p:spPr>
          <a:xfrm xmlns:a="http://schemas.openxmlformats.org/drawingml/2006/main">
            <a:off x="962025" y="3771900"/>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303853"/>
                </a:solidFill>
                <a:latin typeface="Calibri"/>
                <a:ea typeface="Calibri"/>
                <a:cs typeface="Calibri"/>
              </a:defRPr>
            </a:pPr>
            <a:r>
              <a:rPr sz="1800" b="0">
                <a:solidFill>
                  <a:srgbClr val="303853"/>
                </a:solidFill>
                <a:latin typeface="Calibri"/>
                <a:ea typeface="Calibri"/>
                <a:cs typeface="Calibri"/>
              </a:rPr>
              <a:t>Its inseparable identity or purpose in its order.</a:t>
            </a:r>
          </a:p>
        </p:txBody>
      </p:sp>
    </p:spTree>
    <p:extLst>
      <p:ext uri="{BB962C8B-B14F-4D97-AF65-F5344CB8AC3E}">
        <p14:creationId xmlns:p14="http://schemas.microsoft.com/office/powerpoint/2010/main" val="210585546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96BA8A7F-930B-465A-8CCC-D2F81AC63C79}"/>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9A6414"/>
                </a:solidFill>
                <a:latin typeface="Calibri"/>
                <a:ea typeface="Calibri"/>
                <a:cs typeface="Calibri"/>
              </a:defRPr>
            </a:pPr>
            <a:r>
              <a:rPr sz="1050" b="1">
                <a:solidFill>
                  <a:srgbClr val="9A6414"/>
                </a:solidFill>
                <a:latin typeface="Calibri"/>
                <a:ea typeface="Calibri"/>
                <a:cs typeface="Calibri"/>
              </a:rPr>
              <a:t>VALUE ACROSS EXISTENCE</a:t>
            </a:r>
          </a:p>
        </p:txBody>
      </p:sp>
      <p:sp>
        <p:nvSpPr>
          <p:cNvPr id="2" name="text-1">
            <a:extLst xmlns:a="http://schemas.openxmlformats.org/drawingml/2006/main">
              <a:ext uri="{FF2B5EF4-FFF2-40B4-BE49-F238E27FC236}">
                <a16:creationId xmlns:a16="http://schemas.microsoft.com/office/drawing/2014/main" id="{97FDD099-77C4-4466-AC0C-4DF8B8D9797C}"/>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3000" b="1">
                <a:solidFill>
                  <a:srgbClr val="1E2447"/>
                </a:solidFill>
                <a:latin typeface="Cambria"/>
                <a:ea typeface="Cambria"/>
                <a:cs typeface="Cambria"/>
              </a:defRPr>
            </a:pPr>
            <a:r>
              <a:rPr sz="3000" b="1">
                <a:solidFill>
                  <a:srgbClr val="1E2447"/>
                </a:solidFill>
                <a:latin typeface="Cambria"/>
                <a:ea typeface="Cambria"/>
                <a:cs typeface="Cambria"/>
              </a:rPr>
              <a:t>Human responsibility within nature</a:t>
            </a:r>
          </a:p>
        </p:txBody>
      </p:sp>
      <p:sp>
        <p:nvSpPr>
          <p:cNvPr id="3" name="text-2">
            <a:extLst xmlns:a="http://schemas.openxmlformats.org/drawingml/2006/main">
              <a:ext uri="{FF2B5EF4-FFF2-40B4-BE49-F238E27FC236}">
                <a16:creationId xmlns:a16="http://schemas.microsoft.com/office/drawing/2014/main" id="{40FBA9EA-0D96-4F11-B211-85CDAF1FF320}"/>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8F105510-32BD-4060-B55E-332B0C0DA068}"/>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50" b="0">
                <a:solidFill>
                  <a:srgbClr val="626C85"/>
                </a:solidFill>
                <a:latin typeface="Calibri"/>
                <a:ea typeface="Calibri"/>
                <a:cs typeface="Calibri"/>
              </a:defRPr>
            </a:pPr>
            <a:r>
              <a:rPr sz="950" b="0">
                <a:solidFill>
                  <a:srgbClr val="626C85"/>
                </a:solidFill>
                <a:latin typeface="Calibri"/>
                <a:ea typeface="Calibri"/>
                <a:cs typeface="Calibri"/>
              </a:rPr>
              <a:t>6 / 35</a:t>
            </a:r>
          </a:p>
        </p:txBody>
      </p:sp>
      <p:sp>
        <p:nvSpPr>
          <p:cNvPr id="5" name="text-4">
            <a:extLst xmlns:a="http://schemas.openxmlformats.org/drawingml/2006/main">
              <a:ext uri="{FF2B5EF4-FFF2-40B4-BE49-F238E27FC236}">
                <a16:creationId xmlns:a16="http://schemas.microsoft.com/office/drawing/2014/main" id="{9C8AEAE4-B962-418A-955F-578612CC8BB5}"/>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00" b="0" i="1">
                <a:solidFill>
                  <a:srgbClr val="9A6414"/>
                </a:solidFill>
                <a:latin typeface="Calibri"/>
                <a:ea typeface="Calibri"/>
                <a:cs typeface="Calibri"/>
              </a:defRPr>
            </a:pPr>
            <a:r>
              <a:rPr sz="1300" b="0" i="1">
                <a:solidFill>
                  <a:srgbClr val="9A6414"/>
                </a:solidFill>
                <a:latin typeface="Calibri"/>
                <a:ea typeface="Calibri"/>
                <a:cs typeface="Calibri"/>
              </a:rPr>
              <a:t>Human development carries a responsibility towards coexistence.</a:t>
            </a:r>
          </a:p>
        </p:txBody>
      </p:sp>
      <p:sp>
        <p:nvSpPr>
          <p:cNvPr id="6" name="text-5">
            <a:extLst xmlns:a="http://schemas.openxmlformats.org/drawingml/2006/main">
              <a:ext uri="{FF2B5EF4-FFF2-40B4-BE49-F238E27FC236}">
                <a16:creationId xmlns:a16="http://schemas.microsoft.com/office/drawing/2014/main" id="{B07BFCAB-E9B3-4C3D-B8F7-D02FC8678994}"/>
              </a:ext>
            </a:extLst>
          </p:cNvPr>
          <p:cNvSpPr>
            <a:spLocks xmlns:a="http://schemas.openxmlformats.org/drawingml/2006/main" noGrp="1"/>
          </p:cNvSpPr>
          <p:nvPr/>
        </p:nvSpPr>
        <p:spPr>
          <a:xfrm xmlns:a="http://schemas.openxmlformats.org/drawingml/2006/main">
            <a:off x="962025" y="1352550"/>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1E2447"/>
                </a:solidFill>
                <a:latin typeface="Calibri"/>
                <a:ea typeface="Calibri"/>
                <a:cs typeface="Calibri"/>
              </a:defRPr>
            </a:pPr>
            <a:r>
              <a:rPr sz="1875" b="1">
                <a:solidFill>
                  <a:srgbClr val="1E2447"/>
                </a:solidFill>
                <a:latin typeface="Calibri"/>
                <a:ea typeface="Calibri"/>
                <a:cs typeface="Calibri"/>
              </a:rPr>
              <a:t>All four orders have value</a:t>
            </a:r>
          </a:p>
        </p:txBody>
      </p:sp>
      <p:sp>
        <p:nvSpPr>
          <p:cNvPr id="7" name="text-6">
            <a:extLst xmlns:a="http://schemas.openxmlformats.org/drawingml/2006/main">
              <a:ext uri="{FF2B5EF4-FFF2-40B4-BE49-F238E27FC236}">
                <a16:creationId xmlns:a16="http://schemas.microsoft.com/office/drawing/2014/main" id="{20599B15-9C45-41C8-9D0E-6B342819425F}"/>
              </a:ext>
            </a:extLst>
          </p:cNvPr>
          <p:cNvSpPr>
            <a:spLocks xmlns:a="http://schemas.openxmlformats.org/drawingml/2006/main" noGrp="1"/>
          </p:cNvSpPr>
          <p:nvPr/>
        </p:nvSpPr>
        <p:spPr>
          <a:xfrm xmlns:a="http://schemas.openxmlformats.org/drawingml/2006/main">
            <a:off x="962025" y="1695450"/>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303853"/>
                </a:solidFill>
                <a:latin typeface="Calibri"/>
                <a:ea typeface="Calibri"/>
                <a:cs typeface="Calibri"/>
              </a:defRPr>
            </a:pPr>
            <a:r>
              <a:rPr sz="1800" b="0">
                <a:solidFill>
                  <a:srgbClr val="303853"/>
                </a:solidFill>
                <a:latin typeface="Calibri"/>
                <a:ea typeface="Calibri"/>
                <a:cs typeface="Calibri"/>
              </a:rPr>
              <a:t>Material, pranic, animal, and knowledge orders participate.</a:t>
            </a:r>
          </a:p>
        </p:txBody>
      </p:sp>
      <p:sp>
        <p:nvSpPr>
          <p:cNvPr id="8" name="text-7">
            <a:extLst xmlns:a="http://schemas.openxmlformats.org/drawingml/2006/main">
              <a:ext uri="{FF2B5EF4-FFF2-40B4-BE49-F238E27FC236}">
                <a16:creationId xmlns:a16="http://schemas.microsoft.com/office/drawing/2014/main" id="{8A1EEF07-99FA-4B38-B6C1-F2D25EE48473}"/>
              </a:ext>
            </a:extLst>
          </p:cNvPr>
          <p:cNvSpPr>
            <a:spLocks xmlns:a="http://schemas.openxmlformats.org/drawingml/2006/main" noGrp="1"/>
          </p:cNvSpPr>
          <p:nvPr/>
        </p:nvSpPr>
        <p:spPr>
          <a:xfrm xmlns:a="http://schemas.openxmlformats.org/drawingml/2006/main">
            <a:off x="962025" y="2257425"/>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1E2447"/>
                </a:solidFill>
                <a:latin typeface="Calibri"/>
                <a:ea typeface="Calibri"/>
                <a:cs typeface="Calibri"/>
              </a:defRPr>
            </a:pPr>
            <a:r>
              <a:rPr sz="1875" b="1">
                <a:solidFill>
                  <a:srgbClr val="1E2447"/>
                </a:solidFill>
                <a:latin typeface="Calibri"/>
                <a:ea typeface="Calibri"/>
                <a:cs typeface="Calibri"/>
              </a:rPr>
              <a:t>Humans can understand and misrecognise</a:t>
            </a:r>
          </a:p>
        </p:txBody>
      </p:sp>
      <p:sp>
        <p:nvSpPr>
          <p:cNvPr id="9" name="text-8">
            <a:extLst xmlns:a="http://schemas.openxmlformats.org/drawingml/2006/main">
              <a:ext uri="{FF2B5EF4-FFF2-40B4-BE49-F238E27FC236}">
                <a16:creationId xmlns:a16="http://schemas.microsoft.com/office/drawing/2014/main" id="{921980CC-2042-4736-A85D-978E36AF358C}"/>
              </a:ext>
            </a:extLst>
          </p:cNvPr>
          <p:cNvSpPr>
            <a:spLocks xmlns:a="http://schemas.openxmlformats.org/drawingml/2006/main" noGrp="1"/>
          </p:cNvSpPr>
          <p:nvPr/>
        </p:nvSpPr>
        <p:spPr>
          <a:xfrm xmlns:a="http://schemas.openxmlformats.org/drawingml/2006/main">
            <a:off x="962025" y="2600325"/>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303853"/>
                </a:solidFill>
                <a:latin typeface="Calibri"/>
                <a:ea typeface="Calibri"/>
                <a:cs typeface="Calibri"/>
              </a:defRPr>
            </a:pPr>
            <a:r>
              <a:rPr sz="1800" b="0">
                <a:solidFill>
                  <a:srgbClr val="303853"/>
                </a:solidFill>
                <a:latin typeface="Calibri"/>
                <a:ea typeface="Calibri"/>
                <a:cs typeface="Calibri"/>
              </a:rPr>
              <a:t>Evaluation concerns form, properties, essential nature, and dharma.</a:t>
            </a:r>
          </a:p>
        </p:txBody>
      </p:sp>
      <p:sp>
        <p:nvSpPr>
          <p:cNvPr id="10" name="text-9">
            <a:extLst xmlns:a="http://schemas.openxmlformats.org/drawingml/2006/main">
              <a:ext uri="{FF2B5EF4-FFF2-40B4-BE49-F238E27FC236}">
                <a16:creationId xmlns:a16="http://schemas.microsoft.com/office/drawing/2014/main" id="{19D17B2A-5EB3-4012-BBDF-E9F50DFCA526}"/>
              </a:ext>
            </a:extLst>
          </p:cNvPr>
          <p:cNvSpPr>
            <a:spLocks xmlns:a="http://schemas.openxmlformats.org/drawingml/2006/main" noGrp="1"/>
          </p:cNvSpPr>
          <p:nvPr/>
        </p:nvSpPr>
        <p:spPr>
          <a:xfrm xmlns:a="http://schemas.openxmlformats.org/drawingml/2006/main">
            <a:off x="962025" y="3162300"/>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1E2447"/>
                </a:solidFill>
                <a:latin typeface="Calibri"/>
                <a:ea typeface="Calibri"/>
                <a:cs typeface="Calibri"/>
              </a:defRPr>
            </a:pPr>
            <a:r>
              <a:rPr sz="1875" b="1">
                <a:solidFill>
                  <a:srgbClr val="1E2447"/>
                </a:solidFill>
                <a:latin typeface="Calibri"/>
                <a:ea typeface="Calibri"/>
                <a:cs typeface="Calibri"/>
              </a:rPr>
              <a:t>Responsibility follows this capacity</a:t>
            </a:r>
          </a:p>
        </p:txBody>
      </p:sp>
      <p:sp>
        <p:nvSpPr>
          <p:cNvPr id="11" name="text-10">
            <a:extLst xmlns:a="http://schemas.openxmlformats.org/drawingml/2006/main">
              <a:ext uri="{FF2B5EF4-FFF2-40B4-BE49-F238E27FC236}">
                <a16:creationId xmlns:a16="http://schemas.microsoft.com/office/drawing/2014/main" id="{3BF7BB73-B09B-4D46-A94B-3E006FAF32BE}"/>
              </a:ext>
            </a:extLst>
          </p:cNvPr>
          <p:cNvSpPr>
            <a:spLocks xmlns:a="http://schemas.openxmlformats.org/drawingml/2006/main" noGrp="1"/>
          </p:cNvSpPr>
          <p:nvPr/>
        </p:nvSpPr>
        <p:spPr>
          <a:xfrm xmlns:a="http://schemas.openxmlformats.org/drawingml/2006/main">
            <a:off x="962025" y="3505200"/>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303853"/>
                </a:solidFill>
                <a:latin typeface="Calibri"/>
                <a:ea typeface="Calibri"/>
                <a:cs typeface="Calibri"/>
              </a:defRPr>
            </a:pPr>
            <a:r>
              <a:rPr sz="1800" b="0">
                <a:solidFill>
                  <a:srgbClr val="303853"/>
                </a:solidFill>
                <a:latin typeface="Calibri"/>
                <a:ea typeface="Calibri"/>
                <a:cs typeface="Calibri"/>
              </a:rPr>
              <a:t>Human participation should nurture the other orders.</a:t>
            </a:r>
          </a:p>
        </p:txBody>
      </p:sp>
    </p:spTree>
    <p:extLst>
      <p:ext uri="{BB962C8B-B14F-4D97-AF65-F5344CB8AC3E}">
        <p14:creationId xmlns:p14="http://schemas.microsoft.com/office/powerpoint/2010/main" val="186726281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97CC95AE-49BE-457E-8F8D-041EE3B6E518}"/>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9A6414"/>
                </a:solidFill>
                <a:latin typeface="Calibri"/>
                <a:ea typeface="Calibri"/>
                <a:cs typeface="Calibri"/>
              </a:defRPr>
            </a:pPr>
            <a:r>
              <a:rPr sz="1050" b="1">
                <a:solidFill>
                  <a:srgbClr val="9A6414"/>
                </a:solidFill>
                <a:latin typeface="Calibri"/>
                <a:ea typeface="Calibri"/>
                <a:cs typeface="Calibri"/>
              </a:rPr>
              <a:t>VALUE IN JEEVAN</a:t>
            </a:r>
          </a:p>
        </p:txBody>
      </p:sp>
      <p:sp>
        <p:nvSpPr>
          <p:cNvPr id="2" name="text-1">
            <a:extLst xmlns:a="http://schemas.openxmlformats.org/drawingml/2006/main">
              <a:ext uri="{FF2B5EF4-FFF2-40B4-BE49-F238E27FC236}">
                <a16:creationId xmlns:a16="http://schemas.microsoft.com/office/drawing/2014/main" id="{6E86407E-F66E-429A-91DA-33910088848B}"/>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3000" b="1">
                <a:solidFill>
                  <a:srgbClr val="1E2447"/>
                </a:solidFill>
                <a:latin typeface="Cambria"/>
                <a:ea typeface="Cambria"/>
                <a:cs typeface="Cambria"/>
              </a:defRPr>
            </a:pPr>
            <a:r>
              <a:rPr sz="3000" b="1">
                <a:solidFill>
                  <a:srgbClr val="1E2447"/>
                </a:solidFill>
                <a:latin typeface="Cambria"/>
                <a:ea typeface="Cambria"/>
                <a:cs typeface="Cambria"/>
              </a:rPr>
              <a:t>State and motion are active</a:t>
            </a:r>
          </a:p>
        </p:txBody>
      </p:sp>
      <p:sp>
        <p:nvSpPr>
          <p:cNvPr id="3" name="text-2">
            <a:extLst xmlns:a="http://schemas.openxmlformats.org/drawingml/2006/main">
              <a:ext uri="{FF2B5EF4-FFF2-40B4-BE49-F238E27FC236}">
                <a16:creationId xmlns:a16="http://schemas.microsoft.com/office/drawing/2014/main" id="{235C00A4-99D2-4D3D-AE77-5538B033EDFE}"/>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72571F0D-C4CB-4AAA-9D01-3C79A12CC42E}"/>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50" b="0">
                <a:solidFill>
                  <a:srgbClr val="626C85"/>
                </a:solidFill>
                <a:latin typeface="Calibri"/>
                <a:ea typeface="Calibri"/>
                <a:cs typeface="Calibri"/>
              </a:defRPr>
            </a:pPr>
            <a:r>
              <a:rPr sz="950" b="0">
                <a:solidFill>
                  <a:srgbClr val="626C85"/>
                </a:solidFill>
                <a:latin typeface="Calibri"/>
                <a:ea typeface="Calibri"/>
                <a:cs typeface="Calibri"/>
              </a:rPr>
              <a:t>7 / 35</a:t>
            </a:r>
          </a:p>
        </p:txBody>
      </p:sp>
      <p:sp>
        <p:nvSpPr>
          <p:cNvPr id="5" name="text-4">
            <a:extLst xmlns:a="http://schemas.openxmlformats.org/drawingml/2006/main">
              <a:ext uri="{FF2B5EF4-FFF2-40B4-BE49-F238E27FC236}">
                <a16:creationId xmlns:a16="http://schemas.microsoft.com/office/drawing/2014/main" id="{55A0987D-D931-4481-913C-68F014925F84}"/>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00" b="0" i="1">
                <a:solidFill>
                  <a:srgbClr val="9A6414"/>
                </a:solidFill>
                <a:latin typeface="Calibri"/>
                <a:ea typeface="Calibri"/>
                <a:cs typeface="Calibri"/>
              </a:defRPr>
            </a:pPr>
            <a:r>
              <a:rPr sz="1300" b="0" i="1">
                <a:solidFill>
                  <a:srgbClr val="9A6414"/>
                </a:solidFill>
                <a:latin typeface="Calibri"/>
                <a:ea typeface="Calibri"/>
                <a:cs typeface="Calibri"/>
              </a:rPr>
              <a:t>State and motion are inseparable aspects of activity.</a:t>
            </a:r>
          </a:p>
        </p:txBody>
      </p:sp>
      <p:graphicFrame>
        <p:nvGraphicFramePr>
          <p:cNvPr id="12" name=""/>
          <p:cNvGraphicFramePr/>
          <p:nvPr/>
        </p:nvGraphicFramePr>
        <p:xfrm>
          <a:off xmlns:a="http://schemas.openxmlformats.org/drawingml/2006/main" x="962025" y="1362075"/>
          <a:ext xmlns:a="http://schemas.openxmlformats.org/drawingml/2006/main" cx="7391400" cy="2857500"/>
        </p:xfrm>
        <a:graphic xmlns:a="http://schemas.openxmlformats.org/drawingml/2006/main">
          <a:graphicData uri="http://schemas.openxmlformats.org/drawingml/2006/table">
            <a:tbl>
              <a:tblPr firstRow="1" bandRow="0"/>
              <a:tblGrid>
                <a:gridCol w="3695700"/>
                <a:gridCol w="3695700"/>
              </a:tblGrid>
              <a:tr h="495300">
                <a:tc>
                  <a:txBody>
                    <a:bodyPr lIns="123825" tIns="57150" rIns="95250" bIns="57150">
                      <a:noAutofit/>
                    </a:bodyPr>
                    <a:lstStyle/>
                    <a:p>
                      <a:r>
                        <a:rPr sz="1600" b="1">
                          <a:solidFill>
                            <a:srgbClr val="FFFFFF"/>
                          </a:solidFill>
                          <a:latin typeface="Calibri"/>
                          <a:ea typeface="Calibri"/>
                          <a:cs typeface="Calibri"/>
                        </a:rPr>
                        <a:t>State: sthiti</a:t>
                      </a:r>
                    </a:p>
                  </a:txBody>
                  <a:tcPr marL="91440" marR="91440" marT="45720" marB="45720" anchor="ctr">
                    <a:solidFill>
                      <a:srgbClr val="1E2447"/>
                    </a:solidFill>
                  </a:tcPr>
                </a:tc>
                <a:tc>
                  <a:txBody>
                    <a:bodyPr lIns="123825" tIns="57150" rIns="95250" bIns="57150">
                      <a:noAutofit/>
                    </a:bodyPr>
                    <a:lstStyle/>
                    <a:p>
                      <a:r>
                        <a:rPr sz="1600" b="1">
                          <a:solidFill>
                            <a:srgbClr val="FFFFFF"/>
                          </a:solidFill>
                          <a:latin typeface="Calibri"/>
                          <a:ea typeface="Calibri"/>
                          <a:cs typeface="Calibri"/>
                        </a:rPr>
                        <a:t>Motion: gati</a:t>
                      </a:r>
                    </a:p>
                  </a:txBody>
                  <a:tcPr marL="91440" marR="91440" marT="45720" marB="45720" anchor="ctr">
                    <a:solidFill>
                      <a:srgbClr val="1E2447"/>
                    </a:solidFill>
                  </a:tcPr>
                </a:tc>
              </a:tr>
              <a:tr h="787400">
                <a:tc>
                  <a:txBody>
                    <a:bodyPr lIns="123825" tIns="57150" rIns="95250" bIns="57150">
                      <a:noAutofit/>
                    </a:bodyPr>
                    <a:lstStyle/>
                    <a:p>
                      <a:r>
                        <a:rPr sz="1800" b="0">
                          <a:solidFill>
                            <a:srgbClr val="303853"/>
                          </a:solidFill>
                          <a:latin typeface="Calibri"/>
                          <a:ea typeface="Calibri"/>
                          <a:cs typeface="Calibri"/>
                        </a:rPr>
                        <a:t>Strength: bal</a:t>
                      </a:r>
                    </a:p>
                  </a:txBody>
                  <a:tcPr marL="91440" marR="91440" marT="45720" marB="45720" anchor="ctr">
                    <a:solidFill>
                      <a:srgbClr val="FFFFFF"/>
                    </a:solidFill>
                  </a:tcPr>
                </a:tc>
                <a:tc>
                  <a:txBody>
                    <a:bodyPr lIns="123825" tIns="57150" rIns="95250" bIns="57150">
                      <a:noAutofit/>
                    </a:bodyPr>
                    <a:lstStyle/>
                    <a:p>
                      <a:r>
                        <a:rPr sz="1800" b="0">
                          <a:solidFill>
                            <a:srgbClr val="303853"/>
                          </a:solidFill>
                          <a:latin typeface="Calibri"/>
                          <a:ea typeface="Calibri"/>
                          <a:cs typeface="Calibri"/>
                        </a:rPr>
                        <a:t>Power: shakti</a:t>
                      </a:r>
                    </a:p>
                  </a:txBody>
                  <a:tcPr marL="91440" marR="91440" marT="45720" marB="45720" anchor="ctr">
                    <a:solidFill>
                      <a:srgbClr val="FFFFFF"/>
                    </a:solidFill>
                  </a:tcPr>
                </a:tc>
              </a:tr>
              <a:tr h="787400">
                <a:tc>
                  <a:txBody>
                    <a:bodyPr lIns="123825" tIns="57150" rIns="95250" bIns="57150">
                      <a:noAutofit/>
                    </a:bodyPr>
                    <a:lstStyle/>
                    <a:p>
                      <a:r>
                        <a:rPr sz="1800" b="0">
                          <a:solidFill>
                            <a:srgbClr val="303853"/>
                          </a:solidFill>
                          <a:latin typeface="Calibri"/>
                          <a:ea typeface="Calibri"/>
                          <a:cs typeface="Calibri"/>
                        </a:rPr>
                        <a:t>The established side of activity</a:t>
                      </a:r>
                    </a:p>
                  </a:txBody>
                  <a:tcPr marL="91440" marR="91440" marT="45720" marB="45720" anchor="ctr">
                    <a:solidFill>
                      <a:srgbClr val="F1F3F8"/>
                    </a:solidFill>
                  </a:tcPr>
                </a:tc>
                <a:tc>
                  <a:txBody>
                    <a:bodyPr lIns="123825" tIns="57150" rIns="95250" bIns="57150">
                      <a:noAutofit/>
                    </a:bodyPr>
                    <a:lstStyle/>
                    <a:p>
                      <a:r>
                        <a:rPr sz="1800" b="0">
                          <a:solidFill>
                            <a:srgbClr val="303853"/>
                          </a:solidFill>
                          <a:latin typeface="Calibri"/>
                          <a:ea typeface="Calibri"/>
                          <a:cs typeface="Calibri"/>
                        </a:rPr>
                        <a:t>Its corresponding expression</a:t>
                      </a:r>
                    </a:p>
                  </a:txBody>
                  <a:tcPr marL="91440" marR="91440" marT="45720" marB="45720" anchor="ctr">
                    <a:solidFill>
                      <a:srgbClr val="F1F3F8"/>
                    </a:solidFill>
                  </a:tcPr>
                </a:tc>
              </a:tr>
              <a:tr h="787400">
                <a:tc>
                  <a:txBody>
                    <a:bodyPr lIns="123825" tIns="57150" rIns="95250" bIns="57150">
                      <a:noAutofit/>
                    </a:bodyPr>
                    <a:lstStyle/>
                    <a:p>
                      <a:r>
                        <a:rPr sz="1800" b="0">
                          <a:solidFill>
                            <a:srgbClr val="303853"/>
                          </a:solidFill>
                          <a:latin typeface="Calibri"/>
                          <a:ea typeface="Calibri"/>
                          <a:cs typeface="Calibri"/>
                        </a:rPr>
                        <a:t>Understanding and capacity</a:t>
                      </a:r>
                    </a:p>
                  </a:txBody>
                  <a:tcPr marL="91440" marR="91440" marT="45720" marB="45720" anchor="ctr">
                    <a:solidFill>
                      <a:srgbClr val="FFFFFF"/>
                    </a:solidFill>
                  </a:tcPr>
                </a:tc>
                <a:tc>
                  <a:txBody>
                    <a:bodyPr lIns="123825" tIns="57150" rIns="95250" bIns="57150">
                      <a:noAutofit/>
                    </a:bodyPr>
                    <a:lstStyle/>
                    <a:p>
                      <a:r>
                        <a:rPr sz="1800" b="0">
                          <a:solidFill>
                            <a:srgbClr val="303853"/>
                          </a:solidFill>
                          <a:latin typeface="Calibri"/>
                          <a:ea typeface="Calibri"/>
                          <a:cs typeface="Calibri"/>
                        </a:rPr>
                        <a:t>Evidence in thought, behaviour, and work</a:t>
                      </a:r>
                    </a:p>
                  </a:txBody>
                  <a:tcPr marL="91440" marR="91440" marT="45720" marB="45720" anchor="ctr">
                    <a:solidFill>
                      <a:srgbClr val="FFFFFF"/>
                    </a:solidFill>
                  </a:tcPr>
                </a:tc>
              </a:tr>
            </a:tbl>
          </a:graphicData>
        </a:graphic>
      </p:graphicFrame>
    </p:spTree>
    <p:extLst>
      <p:ext uri="{BB962C8B-B14F-4D97-AF65-F5344CB8AC3E}">
        <p14:creationId xmlns:p14="http://schemas.microsoft.com/office/powerpoint/2010/main" val="114767786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0">
            <a:extLst xmlns:a="http://schemas.openxmlformats.org/drawingml/2006/main">
              <a:ext uri="{FF2B5EF4-FFF2-40B4-BE49-F238E27FC236}">
                <a16:creationId xmlns:a16="http://schemas.microsoft.com/office/drawing/2014/main" id="{691A0230-9F7F-4D04-91C8-A4A9C3BDE14E}"/>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9A6414"/>
                </a:solidFill>
                <a:latin typeface="Calibri"/>
                <a:ea typeface="Calibri"/>
                <a:cs typeface="Calibri"/>
              </a:defRPr>
            </a:pPr>
            <a:r>
              <a:rPr sz="1050" b="1">
                <a:solidFill>
                  <a:srgbClr val="9A6414"/>
                </a:solidFill>
                <a:latin typeface="Calibri"/>
                <a:ea typeface="Calibri"/>
                <a:cs typeface="Calibri"/>
              </a:rPr>
              <a:t>ONE CORRESPONDING PAIR</a:t>
            </a:r>
          </a:p>
        </p:txBody>
      </p:sp>
      <p:sp>
        <p:nvSpPr>
          <p:cNvPr id="2" name="text-1">
            <a:extLst xmlns:a="http://schemas.openxmlformats.org/drawingml/2006/main">
              <a:ext uri="{FF2B5EF4-FFF2-40B4-BE49-F238E27FC236}">
                <a16:creationId xmlns:a16="http://schemas.microsoft.com/office/drawing/2014/main" id="{0C69D320-D8CF-44AE-8980-8972E5021AF1}"/>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3000" b="1">
                <a:solidFill>
                  <a:srgbClr val="1E2447"/>
                </a:solidFill>
                <a:latin typeface="Cambria"/>
                <a:ea typeface="Cambria"/>
                <a:cs typeface="Cambria"/>
              </a:defRPr>
            </a:pPr>
            <a:r>
              <a:rPr sz="3000" b="1">
                <a:solidFill>
                  <a:srgbClr val="1E2447"/>
                </a:solidFill>
                <a:latin typeface="Cambria"/>
                <a:ea typeface="Cambria"/>
                <a:cs typeface="Cambria"/>
              </a:rPr>
              <a:t>Care and generosity</a:t>
            </a:r>
          </a:p>
        </p:txBody>
      </p:sp>
      <p:sp>
        <p:nvSpPr>
          <p:cNvPr id="3" name="text-2">
            <a:extLst xmlns:a="http://schemas.openxmlformats.org/drawingml/2006/main">
              <a:ext uri="{FF2B5EF4-FFF2-40B4-BE49-F238E27FC236}">
                <a16:creationId xmlns:a16="http://schemas.microsoft.com/office/drawing/2014/main" id="{993FC410-75AB-4321-A8C2-1EF006D8C0F7}"/>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9356E219-4AE2-41FA-B499-9371B8B42799}"/>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50" b="0">
                <a:solidFill>
                  <a:srgbClr val="626C85"/>
                </a:solidFill>
                <a:latin typeface="Calibri"/>
                <a:ea typeface="Calibri"/>
                <a:cs typeface="Calibri"/>
              </a:defRPr>
            </a:pPr>
            <a:r>
              <a:rPr sz="950" b="0">
                <a:solidFill>
                  <a:srgbClr val="626C85"/>
                </a:solidFill>
                <a:latin typeface="Calibri"/>
                <a:ea typeface="Calibri"/>
                <a:cs typeface="Calibri"/>
              </a:rPr>
              <a:t>8 / 35</a:t>
            </a:r>
          </a:p>
        </p:txBody>
      </p:sp>
      <p:sp>
        <p:nvSpPr>
          <p:cNvPr id="5" name="text-4">
            <a:extLst xmlns:a="http://schemas.openxmlformats.org/drawingml/2006/main">
              <a:ext uri="{FF2B5EF4-FFF2-40B4-BE49-F238E27FC236}">
                <a16:creationId xmlns:a16="http://schemas.microsoft.com/office/drawing/2014/main" id="{D1C5AC0F-1B54-4B3F-AC30-DB22F33DDB59}"/>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00" b="0" i="1">
                <a:solidFill>
                  <a:srgbClr val="9A6414"/>
                </a:solidFill>
                <a:latin typeface="Calibri"/>
                <a:ea typeface="Calibri"/>
                <a:cs typeface="Calibri"/>
              </a:defRPr>
            </a:pPr>
            <a:r>
              <a:rPr sz="1300" b="0" i="1">
                <a:solidFill>
                  <a:srgbClr val="9A6414"/>
                </a:solidFill>
                <a:latin typeface="Calibri"/>
                <a:ea typeface="Calibri"/>
                <a:cs typeface="Calibri"/>
              </a:rPr>
              <a:t>One-to-one correspondence connects the established and expressed values.</a:t>
            </a:r>
          </a:p>
        </p:txBody>
      </p:sp>
      <p:sp>
        <p:nvSpPr>
          <p:cNvPr id="6" name="text-5">
            <a:extLst xmlns:a="http://schemas.openxmlformats.org/drawingml/2006/main">
              <a:ext uri="{FF2B5EF4-FFF2-40B4-BE49-F238E27FC236}">
                <a16:creationId xmlns:a16="http://schemas.microsoft.com/office/drawing/2014/main" id="{1C2A59FC-46B7-4AD1-A5CC-376F98652ED5}"/>
              </a:ext>
            </a:extLst>
          </p:cNvPr>
          <p:cNvSpPr>
            <a:spLocks xmlns:a="http://schemas.openxmlformats.org/drawingml/2006/main" noGrp="1"/>
          </p:cNvSpPr>
          <p:nvPr/>
        </p:nvSpPr>
        <p:spPr>
          <a:xfrm xmlns:a="http://schemas.openxmlformats.org/drawingml/2006/main">
            <a:off x="962025" y="1466850"/>
            <a:ext cx="35623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150" b="1">
                <a:solidFill>
                  <a:srgbClr val="1E2447"/>
                </a:solidFill>
                <a:latin typeface="Cambria"/>
                <a:ea typeface="Cambria"/>
                <a:cs typeface="Cambria"/>
              </a:defRPr>
            </a:pPr>
            <a:r>
              <a:rPr sz="3150" b="1">
                <a:solidFill>
                  <a:srgbClr val="1E2447"/>
                </a:solidFill>
                <a:latin typeface="Cambria"/>
                <a:ea typeface="Cambria"/>
                <a:cs typeface="Cambria"/>
              </a:rPr>
              <a:t>Care</a:t>
            </a:r>
          </a:p>
        </p:txBody>
      </p:sp>
      <p:sp>
        <p:nvSpPr>
          <p:cNvPr id="7" name="text-6">
            <a:extLst xmlns:a="http://schemas.openxmlformats.org/drawingml/2006/main">
              <a:ext uri="{FF2B5EF4-FFF2-40B4-BE49-F238E27FC236}">
                <a16:creationId xmlns:a16="http://schemas.microsoft.com/office/drawing/2014/main" id="{56571739-1B90-4D64-86B3-488A013B121A}"/>
              </a:ext>
            </a:extLst>
          </p:cNvPr>
          <p:cNvSpPr>
            <a:spLocks xmlns:a="http://schemas.openxmlformats.org/drawingml/2006/main" noGrp="1"/>
          </p:cNvSpPr>
          <p:nvPr/>
        </p:nvSpPr>
        <p:spPr>
          <a:xfrm xmlns:a="http://schemas.openxmlformats.org/drawingml/2006/main">
            <a:off x="962025" y="2105025"/>
            <a:ext cx="3562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i="1">
                <a:solidFill>
                  <a:srgbClr val="9A6414"/>
                </a:solidFill>
                <a:latin typeface="Calibri"/>
                <a:ea typeface="Calibri"/>
                <a:cs typeface="Calibri"/>
              </a:defRPr>
            </a:pPr>
            <a:r>
              <a:rPr sz="1800" b="0" i="1">
                <a:solidFill>
                  <a:srgbClr val="9A6414"/>
                </a:solidFill>
                <a:latin typeface="Calibri"/>
                <a:ea typeface="Calibri"/>
                <a:cs typeface="Calibri"/>
              </a:rPr>
              <a:t>mamta</a:t>
            </a:r>
          </a:p>
        </p:txBody>
      </p:sp>
      <p:sp>
        <p:nvSpPr>
          <p:cNvPr id="8" name="text-7">
            <a:extLst xmlns:a="http://schemas.openxmlformats.org/drawingml/2006/main">
              <a:ext uri="{FF2B5EF4-FFF2-40B4-BE49-F238E27FC236}">
                <a16:creationId xmlns:a16="http://schemas.microsoft.com/office/drawing/2014/main" id="{E71DBC18-B059-4F52-8559-EF86DB63FAE2}"/>
              </a:ext>
            </a:extLst>
          </p:cNvPr>
          <p:cNvSpPr>
            <a:spLocks xmlns:a="http://schemas.openxmlformats.org/drawingml/2006/main" noGrp="1"/>
          </p:cNvSpPr>
          <p:nvPr/>
        </p:nvSpPr>
        <p:spPr>
          <a:xfrm xmlns:a="http://schemas.openxmlformats.org/drawingml/2006/main">
            <a:off x="962025" y="2552700"/>
            <a:ext cx="35623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303853"/>
                </a:solidFill>
                <a:latin typeface="Calibri"/>
                <a:ea typeface="Calibri"/>
                <a:cs typeface="Calibri"/>
              </a:defRPr>
            </a:pPr>
            <a:r>
              <a:rPr sz="1800" b="0">
                <a:solidFill>
                  <a:srgbClr val="303853"/>
                </a:solidFill>
                <a:latin typeface="Calibri"/>
                <a:ea typeface="Calibri"/>
                <a:cs typeface="Calibri"/>
              </a:rPr>
              <a:t>Established in bal / sthiti</a:t>
            </a:r>
          </a:p>
        </p:txBody>
      </p:sp>
      <p:sp>
        <p:nvSpPr>
          <p:cNvPr id="9" name="text-8">
            <a:extLst xmlns:a="http://schemas.openxmlformats.org/drawingml/2006/main">
              <a:ext uri="{FF2B5EF4-FFF2-40B4-BE49-F238E27FC236}">
                <a16:creationId xmlns:a16="http://schemas.microsoft.com/office/drawing/2014/main" id="{AC5B3988-A27C-496C-A714-D59E703645C7}"/>
              </a:ext>
            </a:extLst>
          </p:cNvPr>
          <p:cNvSpPr>
            <a:spLocks xmlns:a="http://schemas.openxmlformats.org/drawingml/2006/main" noGrp="1"/>
          </p:cNvSpPr>
          <p:nvPr/>
        </p:nvSpPr>
        <p:spPr>
          <a:xfrm xmlns:a="http://schemas.openxmlformats.org/drawingml/2006/main">
            <a:off x="4905375" y="1466850"/>
            <a:ext cx="35623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150" b="1">
                <a:solidFill>
                  <a:srgbClr val="1E2447"/>
                </a:solidFill>
                <a:latin typeface="Cambria"/>
                <a:ea typeface="Cambria"/>
                <a:cs typeface="Cambria"/>
              </a:defRPr>
            </a:pPr>
            <a:r>
              <a:rPr sz="3150" b="1">
                <a:solidFill>
                  <a:srgbClr val="1E2447"/>
                </a:solidFill>
                <a:latin typeface="Cambria"/>
                <a:ea typeface="Cambria"/>
                <a:cs typeface="Cambria"/>
              </a:rPr>
              <a:t>Generosity</a:t>
            </a:r>
          </a:p>
        </p:txBody>
      </p:sp>
      <p:sp>
        <p:nvSpPr>
          <p:cNvPr id="10" name="text-9">
            <a:extLst xmlns:a="http://schemas.openxmlformats.org/drawingml/2006/main">
              <a:ext uri="{FF2B5EF4-FFF2-40B4-BE49-F238E27FC236}">
                <a16:creationId xmlns:a16="http://schemas.microsoft.com/office/drawing/2014/main" id="{C546495F-520A-431D-95F0-4FD4A1E656EF}"/>
              </a:ext>
            </a:extLst>
          </p:cNvPr>
          <p:cNvSpPr>
            <a:spLocks xmlns:a="http://schemas.openxmlformats.org/drawingml/2006/main" noGrp="1"/>
          </p:cNvSpPr>
          <p:nvPr/>
        </p:nvSpPr>
        <p:spPr>
          <a:xfrm xmlns:a="http://schemas.openxmlformats.org/drawingml/2006/main">
            <a:off x="4905375" y="2105025"/>
            <a:ext cx="3562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i="1">
                <a:solidFill>
                  <a:srgbClr val="9A6414"/>
                </a:solidFill>
                <a:latin typeface="Calibri"/>
                <a:ea typeface="Calibri"/>
                <a:cs typeface="Calibri"/>
              </a:defRPr>
            </a:pPr>
            <a:r>
              <a:rPr sz="1800" b="0" i="1">
                <a:solidFill>
                  <a:srgbClr val="9A6414"/>
                </a:solidFill>
                <a:latin typeface="Calibri"/>
                <a:ea typeface="Calibri"/>
                <a:cs typeface="Calibri"/>
              </a:rPr>
              <a:t>udarta</a:t>
            </a:r>
          </a:p>
        </p:txBody>
      </p:sp>
      <p:sp>
        <p:nvSpPr>
          <p:cNvPr id="11" name="text-10">
            <a:extLst xmlns:a="http://schemas.openxmlformats.org/drawingml/2006/main">
              <a:ext uri="{FF2B5EF4-FFF2-40B4-BE49-F238E27FC236}">
                <a16:creationId xmlns:a16="http://schemas.microsoft.com/office/drawing/2014/main" id="{E2DA04A3-C0D7-45E8-B5B3-7DA7DCC536CC}"/>
              </a:ext>
            </a:extLst>
          </p:cNvPr>
          <p:cNvSpPr>
            <a:spLocks xmlns:a="http://schemas.openxmlformats.org/drawingml/2006/main" noGrp="1"/>
          </p:cNvSpPr>
          <p:nvPr/>
        </p:nvSpPr>
        <p:spPr>
          <a:xfrm xmlns:a="http://schemas.openxmlformats.org/drawingml/2006/main">
            <a:off x="4905375" y="2552700"/>
            <a:ext cx="35623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303853"/>
                </a:solidFill>
                <a:latin typeface="Calibri"/>
                <a:ea typeface="Calibri"/>
                <a:cs typeface="Calibri"/>
              </a:defRPr>
            </a:pPr>
            <a:r>
              <a:rPr sz="1800" b="0">
                <a:solidFill>
                  <a:srgbClr val="303853"/>
                </a:solidFill>
                <a:latin typeface="Calibri"/>
                <a:ea typeface="Calibri"/>
                <a:cs typeface="Calibri"/>
              </a:rPr>
              <a:t>Expressed in gati / shakti</a:t>
            </a:r>
          </a:p>
        </p:txBody>
      </p:sp>
      <p:sp>
        <p:nvSpPr>
          <p:cNvPr id="12" name="text-11">
            <a:extLst xmlns:a="http://schemas.openxmlformats.org/drawingml/2006/main">
              <a:ext uri="{FF2B5EF4-FFF2-40B4-BE49-F238E27FC236}">
                <a16:creationId xmlns:a16="http://schemas.microsoft.com/office/drawing/2014/main" id="{206E084B-B301-4064-8788-39F9CA693D6B}"/>
              </a:ext>
            </a:extLst>
          </p:cNvPr>
          <p:cNvSpPr>
            <a:spLocks xmlns:a="http://schemas.openxmlformats.org/drawingml/2006/main" noGrp="1"/>
          </p:cNvSpPr>
          <p:nvPr/>
        </p:nvSpPr>
        <p:spPr>
          <a:xfrm xmlns:a="http://schemas.openxmlformats.org/drawingml/2006/main">
            <a:off x="962025" y="3476625"/>
            <a:ext cx="7524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303853"/>
                </a:solidFill>
                <a:latin typeface="Calibri"/>
                <a:ea typeface="Calibri"/>
                <a:cs typeface="Calibri"/>
              </a:defRPr>
            </a:pPr>
            <a:r>
              <a:rPr sz="1950" b="0">
                <a:solidFill>
                  <a:srgbClr val="303853"/>
                </a:solidFill>
                <a:latin typeface="Calibri"/>
                <a:ea typeface="Calibri"/>
                <a:cs typeface="Calibri"/>
              </a:rPr>
              <a:t>Care concerns the other’s nurturing and protection.</a:t>
            </a:r>
          </a:p>
          <a:p xmlns:a="http://schemas.openxmlformats.org/drawingml/2006/main">
            <a:pPr>
              <a:defRPr sz="1950" b="0">
                <a:solidFill>
                  <a:srgbClr val="303853"/>
                </a:solidFill>
                <a:latin typeface="Calibri"/>
                <a:ea typeface="Calibri"/>
                <a:cs typeface="Calibri"/>
              </a:defRPr>
            </a:pPr>
            <a:r>
              <a:rPr sz="1950" b="0">
                <a:solidFill>
                  <a:srgbClr val="303853"/>
                </a:solidFill>
                <a:latin typeface="Calibri"/>
                <a:ea typeface="Calibri"/>
                <a:cs typeface="Calibri"/>
              </a:rPr>
              <a:t>Generosity offers body, mind, and wealth as needed.</a:t>
            </a:r>
          </a:p>
        </p:txBody>
      </p:sp>
    </p:spTree>
    <p:extLst>
      <p:ext uri="{BB962C8B-B14F-4D97-AF65-F5344CB8AC3E}">
        <p14:creationId xmlns:p14="http://schemas.microsoft.com/office/powerpoint/2010/main" val="122799533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29AC5F9F-5B9D-42DB-8C76-E80B37A3B161}"/>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9A6414"/>
                </a:solidFill>
                <a:latin typeface="Calibri"/>
                <a:ea typeface="Calibri"/>
                <a:cs typeface="Calibri"/>
              </a:defRPr>
            </a:pPr>
            <a:r>
              <a:rPr sz="1050" b="1">
                <a:solidFill>
                  <a:srgbClr val="9A6414"/>
                </a:solidFill>
                <a:latin typeface="Calibri"/>
                <a:ea typeface="Calibri"/>
                <a:cs typeface="Calibri"/>
              </a:rPr>
              <a:t>ESTABLISHED AND EXPRESSED VALUES</a:t>
            </a:r>
          </a:p>
        </p:txBody>
      </p:sp>
      <p:sp>
        <p:nvSpPr>
          <p:cNvPr id="2" name="text-1">
            <a:extLst xmlns:a="http://schemas.openxmlformats.org/drawingml/2006/main">
              <a:ext uri="{FF2B5EF4-FFF2-40B4-BE49-F238E27FC236}">
                <a16:creationId xmlns:a16="http://schemas.microsoft.com/office/drawing/2014/main" id="{2D38E6E9-BDE7-493F-A35A-72B7DBB0B5E3}"/>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3000" b="1">
                <a:solidFill>
                  <a:srgbClr val="1E2447"/>
                </a:solidFill>
                <a:latin typeface="Cambria"/>
                <a:ea typeface="Cambria"/>
                <a:cs typeface="Cambria"/>
              </a:defRPr>
            </a:pPr>
            <a:r>
              <a:rPr sz="3000" b="1">
                <a:solidFill>
                  <a:srgbClr val="1E2447"/>
                </a:solidFill>
                <a:latin typeface="Cambria"/>
                <a:ea typeface="Cambria"/>
                <a:cs typeface="Cambria"/>
              </a:rPr>
              <a:t>Nine corresponding pairs (1)</a:t>
            </a:r>
          </a:p>
        </p:txBody>
      </p:sp>
      <p:sp>
        <p:nvSpPr>
          <p:cNvPr id="3" name="text-2">
            <a:extLst xmlns:a="http://schemas.openxmlformats.org/drawingml/2006/main">
              <a:ext uri="{FF2B5EF4-FFF2-40B4-BE49-F238E27FC236}">
                <a16:creationId xmlns:a16="http://schemas.microsoft.com/office/drawing/2014/main" id="{ACF5A092-6B87-4AD1-A86B-EB07CE04D72D}"/>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DD2C05A6-BD27-4535-A44E-0FA0CB886E4D}"/>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50" b="0">
                <a:solidFill>
                  <a:srgbClr val="626C85"/>
                </a:solidFill>
                <a:latin typeface="Calibri"/>
                <a:ea typeface="Calibri"/>
                <a:cs typeface="Calibri"/>
              </a:defRPr>
            </a:pPr>
            <a:r>
              <a:rPr sz="950" b="0">
                <a:solidFill>
                  <a:srgbClr val="626C85"/>
                </a:solidFill>
                <a:latin typeface="Calibri"/>
                <a:ea typeface="Calibri"/>
                <a:cs typeface="Calibri"/>
              </a:rPr>
              <a:t>9 / 35</a:t>
            </a:r>
          </a:p>
        </p:txBody>
      </p:sp>
      <p:sp>
        <p:nvSpPr>
          <p:cNvPr id="5" name="text-4">
            <a:extLst xmlns:a="http://schemas.openxmlformats.org/drawingml/2006/main">
              <a:ext uri="{FF2B5EF4-FFF2-40B4-BE49-F238E27FC236}">
                <a16:creationId xmlns:a16="http://schemas.microsoft.com/office/drawing/2014/main" id="{2743C503-A2F9-4D1B-A36F-4A5EBACD6EA4}"/>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00" b="0" i="1">
                <a:solidFill>
                  <a:srgbClr val="9A6414"/>
                </a:solidFill>
                <a:latin typeface="Calibri"/>
                <a:ea typeface="Calibri"/>
                <a:cs typeface="Calibri"/>
              </a:defRPr>
            </a:pPr>
            <a:r>
              <a:rPr sz="1300" b="0" i="1">
                <a:solidFill>
                  <a:srgbClr val="9A6414"/>
                </a:solidFill>
                <a:latin typeface="Calibri"/>
                <a:ea typeface="Calibri"/>
                <a:cs typeface="Calibri"/>
              </a:rPr>
              <a:t>Expressed values are also called civic or shishta values.</a:t>
            </a:r>
          </a:p>
        </p:txBody>
      </p:sp>
      <p:graphicFrame>
        <p:nvGraphicFramePr>
          <p:cNvPr id="12" name=""/>
          <p:cNvGraphicFramePr/>
          <p:nvPr/>
        </p:nvGraphicFramePr>
        <p:xfrm>
          <a:off xmlns:a="http://schemas.openxmlformats.org/drawingml/2006/main" x="962025" y="1362075"/>
          <a:ext xmlns:a="http://schemas.openxmlformats.org/drawingml/2006/main" cx="7391400" cy="2914650"/>
        </p:xfrm>
        <a:graphic xmlns:a="http://schemas.openxmlformats.org/drawingml/2006/main">
          <a:graphicData uri="http://schemas.openxmlformats.org/drawingml/2006/table">
            <a:tbl>
              <a:tblPr firstRow="1" bandRow="0"/>
              <a:tblGrid>
                <a:gridCol w="3695700"/>
                <a:gridCol w="3695700"/>
              </a:tblGrid>
              <a:tr h="495300">
                <a:tc>
                  <a:txBody>
                    <a:bodyPr lIns="123825" tIns="57150" rIns="95250" bIns="57150">
                      <a:noAutofit/>
                    </a:bodyPr>
                    <a:lstStyle/>
                    <a:p>
                      <a:r>
                        <a:rPr sz="1600" b="1">
                          <a:solidFill>
                            <a:srgbClr val="FFFFFF"/>
                          </a:solidFill>
                          <a:latin typeface="Calibri"/>
                          <a:ea typeface="Calibri"/>
                          <a:cs typeface="Calibri"/>
                        </a:rPr>
                        <a:t>Established in bal / sthiti</a:t>
                      </a:r>
                    </a:p>
                  </a:txBody>
                  <a:tcPr marL="91440" marR="91440" marT="45720" marB="45720" anchor="ctr">
                    <a:solidFill>
                      <a:srgbClr val="1E2447"/>
                    </a:solidFill>
                  </a:tcPr>
                </a:tc>
                <a:tc>
                  <a:txBody>
                    <a:bodyPr lIns="123825" tIns="57150" rIns="95250" bIns="57150">
                      <a:noAutofit/>
                    </a:bodyPr>
                    <a:lstStyle/>
                    <a:p>
                      <a:r>
                        <a:rPr sz="1600" b="1">
                          <a:solidFill>
                            <a:srgbClr val="FFFFFF"/>
                          </a:solidFill>
                          <a:latin typeface="Calibri"/>
                          <a:ea typeface="Calibri"/>
                          <a:cs typeface="Calibri"/>
                        </a:rPr>
                        <a:t>Expressed in gati</a:t>
                      </a:r>
                    </a:p>
                  </a:txBody>
                  <a:tcPr marL="91440" marR="91440" marT="45720" marB="45720" anchor="ctr">
                    <a:solidFill>
                      <a:srgbClr val="1E2447"/>
                    </a:solidFill>
                  </a:tcPr>
                </a:tc>
              </a:tr>
              <a:tr h="483870">
                <a:tc>
                  <a:txBody>
                    <a:bodyPr lIns="123825" tIns="57150" rIns="95250" bIns="57150">
                      <a:noAutofit/>
                    </a:bodyPr>
                    <a:lstStyle/>
                    <a:p>
                      <a:r>
                        <a:rPr sz="1800" b="0">
                          <a:solidFill>
                            <a:srgbClr val="303853"/>
                          </a:solidFill>
                          <a:latin typeface="Calibri"/>
                          <a:ea typeface="Calibri"/>
                          <a:cs typeface="Calibri"/>
                        </a:rPr>
                        <a:t>Care</a:t>
                      </a:r>
                    </a:p>
                  </a:txBody>
                  <a:tcPr marL="91440" marR="91440" marT="45720" marB="45720" anchor="ctr">
                    <a:solidFill>
                      <a:srgbClr val="FFFFFF"/>
                    </a:solidFill>
                  </a:tcPr>
                </a:tc>
                <a:tc>
                  <a:txBody>
                    <a:bodyPr lIns="123825" tIns="57150" rIns="95250" bIns="57150">
                      <a:noAutofit/>
                    </a:bodyPr>
                    <a:lstStyle/>
                    <a:p>
                      <a:r>
                        <a:rPr sz="1800" b="0">
                          <a:solidFill>
                            <a:srgbClr val="303853"/>
                          </a:solidFill>
                          <a:latin typeface="Calibri"/>
                          <a:ea typeface="Calibri"/>
                          <a:cs typeface="Calibri"/>
                        </a:rPr>
                        <a:t>Generosity</a:t>
                      </a:r>
                    </a:p>
                  </a:txBody>
                  <a:tcPr marL="91440" marR="91440" marT="45720" marB="45720" anchor="ctr">
                    <a:solidFill>
                      <a:srgbClr val="FFFFFF"/>
                    </a:solidFill>
                  </a:tcPr>
                </a:tc>
              </a:tr>
              <a:tr h="483870">
                <a:tc>
                  <a:txBody>
                    <a:bodyPr lIns="123825" tIns="57150" rIns="95250" bIns="57150">
                      <a:noAutofit/>
                    </a:bodyPr>
                    <a:lstStyle/>
                    <a:p>
                      <a:r>
                        <a:rPr sz="1800" b="0">
                          <a:solidFill>
                            <a:srgbClr val="303853"/>
                          </a:solidFill>
                          <a:latin typeface="Calibri"/>
                          <a:ea typeface="Calibri"/>
                          <a:cs typeface="Calibri"/>
                        </a:rPr>
                        <a:t>Guidance</a:t>
                      </a:r>
                    </a:p>
                  </a:txBody>
                  <a:tcPr marL="91440" marR="91440" marT="45720" marB="45720" anchor="ctr">
                    <a:solidFill>
                      <a:srgbClr val="F1F3F8"/>
                    </a:solidFill>
                  </a:tcPr>
                </a:tc>
                <a:tc>
                  <a:txBody>
                    <a:bodyPr lIns="123825" tIns="57150" rIns="95250" bIns="57150">
                      <a:noAutofit/>
                    </a:bodyPr>
                    <a:lstStyle/>
                    <a:p>
                      <a:r>
                        <a:rPr sz="1800" b="0">
                          <a:solidFill>
                            <a:srgbClr val="303853"/>
                          </a:solidFill>
                          <a:latin typeface="Calibri"/>
                          <a:ea typeface="Calibri"/>
                          <a:cs typeface="Calibri"/>
                        </a:rPr>
                        <a:t>Naturalness</a:t>
                      </a:r>
                    </a:p>
                  </a:txBody>
                  <a:tcPr marL="91440" marR="91440" marT="45720" marB="45720" anchor="ctr">
                    <a:solidFill>
                      <a:srgbClr val="F1F3F8"/>
                    </a:solidFill>
                  </a:tcPr>
                </a:tc>
              </a:tr>
              <a:tr h="483870">
                <a:tc>
                  <a:txBody>
                    <a:bodyPr lIns="123825" tIns="57150" rIns="95250" bIns="57150">
                      <a:noAutofit/>
                    </a:bodyPr>
                    <a:lstStyle/>
                    <a:p>
                      <a:r>
                        <a:rPr sz="1800" b="0">
                          <a:solidFill>
                            <a:srgbClr val="303853"/>
                          </a:solidFill>
                          <a:latin typeface="Calibri"/>
                          <a:ea typeface="Calibri"/>
                          <a:cs typeface="Calibri"/>
                        </a:rPr>
                        <a:t>Trust</a:t>
                      </a:r>
                    </a:p>
                  </a:txBody>
                  <a:tcPr marL="91440" marR="91440" marT="45720" marB="45720" anchor="ctr">
                    <a:solidFill>
                      <a:srgbClr val="FFFFFF"/>
                    </a:solidFill>
                  </a:tcPr>
                </a:tc>
                <a:tc>
                  <a:txBody>
                    <a:bodyPr lIns="123825" tIns="57150" rIns="95250" bIns="57150">
                      <a:noAutofit/>
                    </a:bodyPr>
                    <a:lstStyle/>
                    <a:p>
                      <a:r>
                        <a:rPr sz="1800" b="0">
                          <a:solidFill>
                            <a:srgbClr val="303853"/>
                          </a:solidFill>
                          <a:latin typeface="Calibri"/>
                          <a:ea typeface="Calibri"/>
                          <a:cs typeface="Calibri"/>
                        </a:rPr>
                        <a:t>Concordance</a:t>
                      </a:r>
                    </a:p>
                  </a:txBody>
                  <a:tcPr marL="91440" marR="91440" marT="45720" marB="45720" anchor="ctr">
                    <a:solidFill>
                      <a:srgbClr val="FFFFFF"/>
                    </a:solidFill>
                  </a:tcPr>
                </a:tc>
              </a:tr>
              <a:tr h="483870">
                <a:tc>
                  <a:txBody>
                    <a:bodyPr lIns="123825" tIns="57150" rIns="95250" bIns="57150">
                      <a:noAutofit/>
                    </a:bodyPr>
                    <a:lstStyle/>
                    <a:p>
                      <a:r>
                        <a:rPr sz="1800" b="0">
                          <a:solidFill>
                            <a:srgbClr val="303853"/>
                          </a:solidFill>
                          <a:latin typeface="Calibri"/>
                          <a:ea typeface="Calibri"/>
                          <a:cs typeface="Calibri"/>
                        </a:rPr>
                        <a:t>Affection</a:t>
                      </a:r>
                    </a:p>
                  </a:txBody>
                  <a:tcPr marL="91440" marR="91440" marT="45720" marB="45720" anchor="ctr">
                    <a:solidFill>
                      <a:srgbClr val="F1F3F8"/>
                    </a:solidFill>
                  </a:tcPr>
                </a:tc>
                <a:tc>
                  <a:txBody>
                    <a:bodyPr lIns="123825" tIns="57150" rIns="95250" bIns="57150">
                      <a:noAutofit/>
                    </a:bodyPr>
                    <a:lstStyle/>
                    <a:p>
                      <a:r>
                        <a:rPr sz="1800" b="0">
                          <a:solidFill>
                            <a:srgbClr val="303853"/>
                          </a:solidFill>
                          <a:latin typeface="Calibri"/>
                          <a:ea typeface="Calibri"/>
                          <a:cs typeface="Calibri"/>
                        </a:rPr>
                        <a:t>Dedication</a:t>
                      </a:r>
                    </a:p>
                  </a:txBody>
                  <a:tcPr marL="91440" marR="91440" marT="45720" marB="45720" anchor="ctr">
                    <a:solidFill>
                      <a:srgbClr val="F1F3F8"/>
                    </a:solidFill>
                  </a:tcPr>
                </a:tc>
              </a:tr>
              <a:tr h="483870">
                <a:tc>
                  <a:txBody>
                    <a:bodyPr lIns="123825" tIns="57150" rIns="95250" bIns="57150">
                      <a:noAutofit/>
                    </a:bodyPr>
                    <a:lstStyle/>
                    <a:p>
                      <a:r>
                        <a:rPr sz="1800" b="0">
                          <a:solidFill>
                            <a:srgbClr val="303853"/>
                          </a:solidFill>
                          <a:latin typeface="Calibri"/>
                          <a:ea typeface="Calibri"/>
                          <a:cs typeface="Calibri"/>
                        </a:rPr>
                        <a:t>Gratitude</a:t>
                      </a:r>
                    </a:p>
                  </a:txBody>
                  <a:tcPr marL="91440" marR="91440" marT="45720" marB="45720" anchor="ctr">
                    <a:solidFill>
                      <a:srgbClr val="FFFFFF"/>
                    </a:solidFill>
                  </a:tcPr>
                </a:tc>
                <a:tc>
                  <a:txBody>
                    <a:bodyPr lIns="123825" tIns="57150" rIns="95250" bIns="57150">
                      <a:noAutofit/>
                    </a:bodyPr>
                    <a:lstStyle/>
                    <a:p>
                      <a:r>
                        <a:rPr sz="1800" b="0">
                          <a:solidFill>
                            <a:srgbClr val="303853"/>
                          </a:solidFill>
                          <a:latin typeface="Calibri"/>
                          <a:ea typeface="Calibri"/>
                          <a:cs typeface="Calibri"/>
                        </a:rPr>
                        <a:t>Humility</a:t>
                      </a:r>
                    </a:p>
                  </a:txBody>
                  <a:tcPr marL="91440" marR="91440" marT="45720" marB="45720" anchor="ctr">
                    <a:solidFill>
                      <a:srgbClr val="FFFFFF"/>
                    </a:solidFill>
                  </a:tcPr>
                </a:tc>
              </a:tr>
            </a:tbl>
          </a:graphicData>
        </a:graphic>
      </p:graphicFrame>
    </p:spTree>
    <p:extLst>
      <p:ext uri="{BB962C8B-B14F-4D97-AF65-F5344CB8AC3E}">
        <p14:creationId xmlns:p14="http://schemas.microsoft.com/office/powerpoint/2010/main" val="202378289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06662B11-1F34-454B-880B-C810A1D6BF96}"/>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9A6414"/>
                </a:solidFill>
                <a:latin typeface="Calibri"/>
                <a:ea typeface="Calibri"/>
                <a:cs typeface="Calibri"/>
              </a:defRPr>
            </a:pPr>
            <a:r>
              <a:rPr sz="1050" b="1">
                <a:solidFill>
                  <a:srgbClr val="9A6414"/>
                </a:solidFill>
                <a:latin typeface="Calibri"/>
                <a:ea typeface="Calibri"/>
                <a:cs typeface="Calibri"/>
              </a:rPr>
              <a:t>ESTABLISHED AND EXPRESSED VALUES</a:t>
            </a:r>
          </a:p>
        </p:txBody>
      </p:sp>
      <p:sp>
        <p:nvSpPr>
          <p:cNvPr id="2" name="text-1">
            <a:extLst xmlns:a="http://schemas.openxmlformats.org/drawingml/2006/main">
              <a:ext uri="{FF2B5EF4-FFF2-40B4-BE49-F238E27FC236}">
                <a16:creationId xmlns:a16="http://schemas.microsoft.com/office/drawing/2014/main" id="{7C9A92A4-A7E9-4860-A802-2DBC72A1C005}"/>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3000" b="1">
                <a:solidFill>
                  <a:srgbClr val="1E2447"/>
                </a:solidFill>
                <a:latin typeface="Cambria"/>
                <a:ea typeface="Cambria"/>
                <a:cs typeface="Cambria"/>
              </a:defRPr>
            </a:pPr>
            <a:r>
              <a:rPr sz="3000" b="1">
                <a:solidFill>
                  <a:srgbClr val="1E2447"/>
                </a:solidFill>
                <a:latin typeface="Cambria"/>
                <a:ea typeface="Cambria"/>
                <a:cs typeface="Cambria"/>
              </a:rPr>
              <a:t>Nine corresponding pairs (2)</a:t>
            </a:r>
          </a:p>
        </p:txBody>
      </p:sp>
      <p:sp>
        <p:nvSpPr>
          <p:cNvPr id="3" name="text-2">
            <a:extLst xmlns:a="http://schemas.openxmlformats.org/drawingml/2006/main">
              <a:ext uri="{FF2B5EF4-FFF2-40B4-BE49-F238E27FC236}">
                <a16:creationId xmlns:a16="http://schemas.microsoft.com/office/drawing/2014/main" id="{519F2CBF-0B05-4740-A51D-C4713B27AA15}"/>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D9CA4A7E-71FE-46DD-BA5E-3634A164B184}"/>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50" b="0">
                <a:solidFill>
                  <a:srgbClr val="626C85"/>
                </a:solidFill>
                <a:latin typeface="Calibri"/>
                <a:ea typeface="Calibri"/>
                <a:cs typeface="Calibri"/>
              </a:defRPr>
            </a:pPr>
            <a:r>
              <a:rPr sz="950" b="0">
                <a:solidFill>
                  <a:srgbClr val="626C85"/>
                </a:solidFill>
                <a:latin typeface="Calibri"/>
                <a:ea typeface="Calibri"/>
                <a:cs typeface="Calibri"/>
              </a:rPr>
              <a:t>10 / 35</a:t>
            </a:r>
          </a:p>
        </p:txBody>
      </p:sp>
      <p:sp>
        <p:nvSpPr>
          <p:cNvPr id="5" name="text-4">
            <a:extLst xmlns:a="http://schemas.openxmlformats.org/drawingml/2006/main">
              <a:ext uri="{FF2B5EF4-FFF2-40B4-BE49-F238E27FC236}">
                <a16:creationId xmlns:a16="http://schemas.microsoft.com/office/drawing/2014/main" id="{9E0A205B-5212-457D-A35B-B4ED80806783}"/>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00" b="0" i="1">
                <a:solidFill>
                  <a:srgbClr val="9A6414"/>
                </a:solidFill>
                <a:latin typeface="Calibri"/>
                <a:ea typeface="Calibri"/>
                <a:cs typeface="Calibri"/>
              </a:defRPr>
            </a:pPr>
            <a:r>
              <a:rPr sz="1300" b="0" i="1">
                <a:solidFill>
                  <a:srgbClr val="9A6414"/>
                </a:solidFill>
                <a:latin typeface="Calibri"/>
                <a:ea typeface="Calibri"/>
                <a:cs typeface="Calibri"/>
              </a:rPr>
              <a:t>These nine named relationship pairs belong to a wider activity account.</a:t>
            </a:r>
          </a:p>
        </p:txBody>
      </p:sp>
      <p:graphicFrame>
        <p:nvGraphicFramePr>
          <p:cNvPr id="12" name=""/>
          <p:cNvGraphicFramePr/>
          <p:nvPr/>
        </p:nvGraphicFramePr>
        <p:xfrm>
          <a:off xmlns:a="http://schemas.openxmlformats.org/drawingml/2006/main" x="962025" y="1362075"/>
          <a:ext xmlns:a="http://schemas.openxmlformats.org/drawingml/2006/main" cx="7391400" cy="2857500"/>
        </p:xfrm>
        <a:graphic xmlns:a="http://schemas.openxmlformats.org/drawingml/2006/main">
          <a:graphicData uri="http://schemas.openxmlformats.org/drawingml/2006/table">
            <a:tbl>
              <a:tblPr firstRow="1" bandRow="0"/>
              <a:tblGrid>
                <a:gridCol w="3695700"/>
                <a:gridCol w="3695700"/>
              </a:tblGrid>
              <a:tr h="495300">
                <a:tc>
                  <a:txBody>
                    <a:bodyPr lIns="123825" tIns="57150" rIns="95250" bIns="57150">
                      <a:noAutofit/>
                    </a:bodyPr>
                    <a:lstStyle/>
                    <a:p>
                      <a:r>
                        <a:rPr sz="1600" b="1">
                          <a:solidFill>
                            <a:srgbClr val="FFFFFF"/>
                          </a:solidFill>
                          <a:latin typeface="Calibri"/>
                          <a:ea typeface="Calibri"/>
                          <a:cs typeface="Calibri"/>
                        </a:rPr>
                        <a:t>Established in bal / sthiti</a:t>
                      </a:r>
                    </a:p>
                  </a:txBody>
                  <a:tcPr marL="91440" marR="91440" marT="45720" marB="45720" anchor="ctr">
                    <a:solidFill>
                      <a:srgbClr val="1E2447"/>
                    </a:solidFill>
                  </a:tcPr>
                </a:tc>
                <a:tc>
                  <a:txBody>
                    <a:bodyPr lIns="123825" tIns="57150" rIns="95250" bIns="57150">
                      <a:noAutofit/>
                    </a:bodyPr>
                    <a:lstStyle/>
                    <a:p>
                      <a:r>
                        <a:rPr sz="1600" b="1">
                          <a:solidFill>
                            <a:srgbClr val="FFFFFF"/>
                          </a:solidFill>
                          <a:latin typeface="Calibri"/>
                          <a:ea typeface="Calibri"/>
                          <a:cs typeface="Calibri"/>
                        </a:rPr>
                        <a:t>Expressed in gati</a:t>
                      </a:r>
                    </a:p>
                  </a:txBody>
                  <a:tcPr marL="91440" marR="91440" marT="45720" marB="45720" anchor="ctr">
                    <a:solidFill>
                      <a:srgbClr val="1E2447"/>
                    </a:solidFill>
                  </a:tcPr>
                </a:tc>
              </a:tr>
              <a:tr h="590550">
                <a:tc>
                  <a:txBody>
                    <a:bodyPr lIns="123825" tIns="57150" rIns="95250" bIns="57150">
                      <a:noAutofit/>
                    </a:bodyPr>
                    <a:lstStyle/>
                    <a:p>
                      <a:r>
                        <a:rPr sz="1875" b="0">
                          <a:solidFill>
                            <a:srgbClr val="303853"/>
                          </a:solidFill>
                          <a:latin typeface="Calibri"/>
                          <a:ea typeface="Calibri"/>
                          <a:cs typeface="Calibri"/>
                        </a:rPr>
                        <a:t>Glory</a:t>
                      </a:r>
                    </a:p>
                  </a:txBody>
                  <a:tcPr marL="91440" marR="91440" marT="45720" marB="45720" anchor="ctr">
                    <a:solidFill>
                      <a:srgbClr val="FFFFFF"/>
                    </a:solidFill>
                  </a:tcPr>
                </a:tc>
                <a:tc>
                  <a:txBody>
                    <a:bodyPr lIns="123825" tIns="57150" rIns="95250" bIns="57150">
                      <a:noAutofit/>
                    </a:bodyPr>
                    <a:lstStyle/>
                    <a:p>
                      <a:r>
                        <a:rPr sz="1875" b="0">
                          <a:solidFill>
                            <a:srgbClr val="303853"/>
                          </a:solidFill>
                          <a:latin typeface="Calibri"/>
                          <a:ea typeface="Calibri"/>
                          <a:cs typeface="Calibri"/>
                        </a:rPr>
                        <a:t>Simplicity</a:t>
                      </a:r>
                    </a:p>
                  </a:txBody>
                  <a:tcPr marL="91440" marR="91440" marT="45720" marB="45720" anchor="ctr">
                    <a:solidFill>
                      <a:srgbClr val="FFFFFF"/>
                    </a:solidFill>
                  </a:tcPr>
                </a:tc>
              </a:tr>
              <a:tr h="590550">
                <a:tc>
                  <a:txBody>
                    <a:bodyPr lIns="123825" tIns="57150" rIns="95250" bIns="57150">
                      <a:noAutofit/>
                    </a:bodyPr>
                    <a:lstStyle/>
                    <a:p>
                      <a:r>
                        <a:rPr sz="1875" b="0">
                          <a:solidFill>
                            <a:srgbClr val="303853"/>
                          </a:solidFill>
                          <a:latin typeface="Calibri"/>
                          <a:ea typeface="Calibri"/>
                          <a:cs typeface="Calibri"/>
                        </a:rPr>
                        <a:t>Love</a:t>
                      </a:r>
                    </a:p>
                  </a:txBody>
                  <a:tcPr marL="91440" marR="91440" marT="45720" marB="45720" anchor="ctr">
                    <a:solidFill>
                      <a:srgbClr val="F1F3F8"/>
                    </a:solidFill>
                  </a:tcPr>
                </a:tc>
                <a:tc>
                  <a:txBody>
                    <a:bodyPr lIns="123825" tIns="57150" rIns="95250" bIns="57150">
                      <a:noAutofit/>
                    </a:bodyPr>
                    <a:lstStyle/>
                    <a:p>
                      <a:r>
                        <a:rPr sz="1875" b="0">
                          <a:solidFill>
                            <a:srgbClr val="303853"/>
                          </a:solidFill>
                          <a:latin typeface="Calibri"/>
                          <a:ea typeface="Calibri"/>
                          <a:cs typeface="Calibri"/>
                        </a:rPr>
                        <a:t>Non-otherness</a:t>
                      </a:r>
                    </a:p>
                  </a:txBody>
                  <a:tcPr marL="91440" marR="91440" marT="45720" marB="45720" anchor="ctr">
                    <a:solidFill>
                      <a:srgbClr val="F1F3F8"/>
                    </a:solidFill>
                  </a:tcPr>
                </a:tc>
              </a:tr>
              <a:tr h="590550">
                <a:tc>
                  <a:txBody>
                    <a:bodyPr lIns="123825" tIns="57150" rIns="95250" bIns="57150">
                      <a:noAutofit/>
                    </a:bodyPr>
                    <a:lstStyle/>
                    <a:p>
                      <a:r>
                        <a:rPr sz="1875" b="0">
                          <a:solidFill>
                            <a:srgbClr val="303853"/>
                          </a:solidFill>
                          <a:latin typeface="Calibri"/>
                          <a:ea typeface="Calibri"/>
                          <a:cs typeface="Calibri"/>
                        </a:rPr>
                        <a:t>Reverence</a:t>
                      </a:r>
                    </a:p>
                  </a:txBody>
                  <a:tcPr marL="91440" marR="91440" marT="45720" marB="45720" anchor="ctr">
                    <a:solidFill>
                      <a:srgbClr val="FFFFFF"/>
                    </a:solidFill>
                  </a:tcPr>
                </a:tc>
                <a:tc>
                  <a:txBody>
                    <a:bodyPr lIns="123825" tIns="57150" rIns="95250" bIns="57150">
                      <a:noAutofit/>
                    </a:bodyPr>
                    <a:lstStyle/>
                    <a:p>
                      <a:r>
                        <a:rPr sz="1875" b="0">
                          <a:solidFill>
                            <a:srgbClr val="303853"/>
                          </a:solidFill>
                          <a:latin typeface="Calibri"/>
                          <a:ea typeface="Calibri"/>
                          <a:cs typeface="Calibri"/>
                        </a:rPr>
                        <a:t>Devoutness</a:t>
                      </a:r>
                    </a:p>
                  </a:txBody>
                  <a:tcPr marL="91440" marR="91440" marT="45720" marB="45720" anchor="ctr">
                    <a:solidFill>
                      <a:srgbClr val="FFFFFF"/>
                    </a:solidFill>
                  </a:tcPr>
                </a:tc>
              </a:tr>
              <a:tr h="590550">
                <a:tc>
                  <a:txBody>
                    <a:bodyPr lIns="123825" tIns="57150" rIns="95250" bIns="57150">
                      <a:noAutofit/>
                    </a:bodyPr>
                    <a:lstStyle/>
                    <a:p>
                      <a:r>
                        <a:rPr sz="1875" b="0">
                          <a:solidFill>
                            <a:srgbClr val="303853"/>
                          </a:solidFill>
                          <a:latin typeface="Calibri"/>
                          <a:ea typeface="Calibri"/>
                          <a:cs typeface="Calibri"/>
                        </a:rPr>
                        <a:t>Respect</a:t>
                      </a:r>
                    </a:p>
                  </a:txBody>
                  <a:tcPr marL="91440" marR="91440" marT="45720" marB="45720" anchor="ctr">
                    <a:solidFill>
                      <a:srgbClr val="F1F3F8"/>
                    </a:solidFill>
                  </a:tcPr>
                </a:tc>
                <a:tc>
                  <a:txBody>
                    <a:bodyPr lIns="123825" tIns="57150" rIns="95250" bIns="57150">
                      <a:noAutofit/>
                    </a:bodyPr>
                    <a:lstStyle/>
                    <a:p>
                      <a:r>
                        <a:rPr sz="1875" b="0">
                          <a:solidFill>
                            <a:srgbClr val="303853"/>
                          </a:solidFill>
                          <a:latin typeface="Calibri"/>
                          <a:ea typeface="Calibri"/>
                          <a:cs typeface="Calibri"/>
                        </a:rPr>
                        <a:t>Cordiality</a:t>
                      </a:r>
                    </a:p>
                  </a:txBody>
                  <a:tcPr marL="91440" marR="91440" marT="45720" marB="45720" anchor="ctr">
                    <a:solidFill>
                      <a:srgbClr val="F1F3F8"/>
                    </a:solidFill>
                  </a:tcPr>
                </a:tc>
              </a:tr>
            </a:tbl>
          </a:graphicData>
        </a:graphic>
      </p:graphicFrame>
    </p:spTree>
    <p:extLst>
      <p:ext uri="{BB962C8B-B14F-4D97-AF65-F5344CB8AC3E}">
        <p14:creationId xmlns:p14="http://schemas.microsoft.com/office/powerpoint/2010/main" val="880945417"/>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0">
            <a:extLst xmlns:a="http://schemas.openxmlformats.org/drawingml/2006/main">
              <a:ext uri="{FF2B5EF4-FFF2-40B4-BE49-F238E27FC236}">
                <a16:creationId xmlns:a16="http://schemas.microsoft.com/office/drawing/2014/main" id="{06E03809-F289-4F0E-89A6-BFEA02D32100}"/>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9A6414"/>
                </a:solidFill>
                <a:latin typeface="Calibri"/>
                <a:ea typeface="Calibri"/>
                <a:cs typeface="Calibri"/>
              </a:defRPr>
            </a:pPr>
            <a:r>
              <a:rPr sz="1050" b="1">
                <a:solidFill>
                  <a:srgbClr val="9A6414"/>
                </a:solidFill>
                <a:latin typeface="Calibri"/>
                <a:ea typeface="Calibri"/>
                <a:cs typeface="Calibri"/>
              </a:rPr>
              <a:t>HOW VALUES CAN BE LEARNT</a:t>
            </a:r>
          </a:p>
        </p:txBody>
      </p:sp>
      <p:sp>
        <p:nvSpPr>
          <p:cNvPr id="2" name="text-1">
            <a:extLst xmlns:a="http://schemas.openxmlformats.org/drawingml/2006/main">
              <a:ext uri="{FF2B5EF4-FFF2-40B4-BE49-F238E27FC236}">
                <a16:creationId xmlns:a16="http://schemas.microsoft.com/office/drawing/2014/main" id="{BF573115-8063-4868-9240-B2DFD0530F09}"/>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3000" b="1">
                <a:solidFill>
                  <a:srgbClr val="1E2447"/>
                </a:solidFill>
                <a:latin typeface="Cambria"/>
                <a:ea typeface="Cambria"/>
                <a:cs typeface="Cambria"/>
              </a:defRPr>
            </a:pPr>
            <a:r>
              <a:rPr sz="3000" b="1">
                <a:solidFill>
                  <a:srgbClr val="1E2447"/>
                </a:solidFill>
                <a:latin typeface="Cambria"/>
                <a:ea typeface="Cambria"/>
                <a:cs typeface="Cambria"/>
              </a:rPr>
              <a:t>Expression can come first</a:t>
            </a:r>
          </a:p>
        </p:txBody>
      </p:sp>
      <p:sp>
        <p:nvSpPr>
          <p:cNvPr id="3" name="text-2">
            <a:extLst xmlns:a="http://schemas.openxmlformats.org/drawingml/2006/main">
              <a:ext uri="{FF2B5EF4-FFF2-40B4-BE49-F238E27FC236}">
                <a16:creationId xmlns:a16="http://schemas.microsoft.com/office/drawing/2014/main" id="{05BF9CD9-AC17-4E99-94D1-1003783F98B1}"/>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A3AC8507-9AE2-4234-9F6D-67285A6540A2}"/>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50" b="0">
                <a:solidFill>
                  <a:srgbClr val="626C85"/>
                </a:solidFill>
                <a:latin typeface="Calibri"/>
                <a:ea typeface="Calibri"/>
                <a:cs typeface="Calibri"/>
              </a:defRPr>
            </a:pPr>
            <a:r>
              <a:rPr sz="950" b="0">
                <a:solidFill>
                  <a:srgbClr val="626C85"/>
                </a:solidFill>
                <a:latin typeface="Calibri"/>
                <a:ea typeface="Calibri"/>
                <a:cs typeface="Calibri"/>
              </a:rPr>
              <a:t>11 / 35</a:t>
            </a:r>
          </a:p>
        </p:txBody>
      </p:sp>
      <p:sp>
        <p:nvSpPr>
          <p:cNvPr id="5" name="text-4">
            <a:extLst xmlns:a="http://schemas.openxmlformats.org/drawingml/2006/main">
              <a:ext uri="{FF2B5EF4-FFF2-40B4-BE49-F238E27FC236}">
                <a16:creationId xmlns:a16="http://schemas.microsoft.com/office/drawing/2014/main" id="{5CFF1889-7C67-40E5-A73D-0AAF1FD8C767}"/>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00" b="0" i="1">
                <a:solidFill>
                  <a:srgbClr val="9A6414"/>
                </a:solidFill>
                <a:latin typeface="Calibri"/>
                <a:ea typeface="Calibri"/>
                <a:cs typeface="Calibri"/>
              </a:defRPr>
            </a:pPr>
            <a:r>
              <a:rPr sz="1300" b="0" i="1">
                <a:solidFill>
                  <a:srgbClr val="9A6414"/>
                </a:solidFill>
                <a:latin typeface="Calibri"/>
                <a:ea typeface="Calibri"/>
                <a:cs typeface="Calibri"/>
              </a:rPr>
              <a:t>A possible route of learning. Practice alone does not guarantee establishment.</a:t>
            </a:r>
          </a:p>
        </p:txBody>
      </p:sp>
      <p:sp>
        <p:nvSpPr>
          <p:cNvPr id="6" name="text-5">
            <a:extLst xmlns:a="http://schemas.openxmlformats.org/drawingml/2006/main">
              <a:ext uri="{FF2B5EF4-FFF2-40B4-BE49-F238E27FC236}">
                <a16:creationId xmlns:a16="http://schemas.microsoft.com/office/drawing/2014/main" id="{6A08F155-1030-4065-942F-A86732D63F57}"/>
              </a:ext>
            </a:extLst>
          </p:cNvPr>
          <p:cNvSpPr>
            <a:spLocks xmlns:a="http://schemas.openxmlformats.org/drawingml/2006/main" noGrp="1"/>
          </p:cNvSpPr>
          <p:nvPr/>
        </p:nvSpPr>
        <p:spPr>
          <a:xfrm xmlns:a="http://schemas.openxmlformats.org/drawingml/2006/main">
            <a:off x="962025" y="1352550"/>
            <a:ext cx="4057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1">
                <a:solidFill>
                  <a:srgbClr val="1E2447"/>
                </a:solidFill>
                <a:latin typeface="Calibri"/>
                <a:ea typeface="Calibri"/>
                <a:cs typeface="Calibri"/>
              </a:defRPr>
            </a:pPr>
            <a:r>
              <a:rPr sz="1800" b="1">
                <a:solidFill>
                  <a:srgbClr val="1E2447"/>
                </a:solidFill>
                <a:latin typeface="Calibri"/>
                <a:ea typeface="Calibri"/>
                <a:cs typeface="Calibri"/>
              </a:rPr>
              <a:t>First participation</a:t>
            </a:r>
          </a:p>
        </p:txBody>
      </p:sp>
      <p:sp>
        <p:nvSpPr>
          <p:cNvPr id="7" name="text-6">
            <a:extLst xmlns:a="http://schemas.openxmlformats.org/drawingml/2006/main">
              <a:ext uri="{FF2B5EF4-FFF2-40B4-BE49-F238E27FC236}">
                <a16:creationId xmlns:a16="http://schemas.microsoft.com/office/drawing/2014/main" id="{AF0BC267-50EE-418B-B735-8C4308424BDC}"/>
              </a:ext>
            </a:extLst>
          </p:cNvPr>
          <p:cNvSpPr>
            <a:spLocks xmlns:a="http://schemas.openxmlformats.org/drawingml/2006/main" noGrp="1"/>
          </p:cNvSpPr>
          <p:nvPr/>
        </p:nvSpPr>
        <p:spPr>
          <a:xfrm xmlns:a="http://schemas.openxmlformats.org/drawingml/2006/main">
            <a:off x="962025" y="1695450"/>
            <a:ext cx="40576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303853"/>
                </a:solidFill>
                <a:latin typeface="Calibri"/>
                <a:ea typeface="Calibri"/>
                <a:cs typeface="Calibri"/>
              </a:defRPr>
            </a:pPr>
            <a:r>
              <a:rPr sz="1725" b="0">
                <a:solidFill>
                  <a:srgbClr val="303853"/>
                </a:solidFill>
                <a:latin typeface="Calibri"/>
                <a:ea typeface="Calibri"/>
                <a:cs typeface="Calibri"/>
              </a:rPr>
              <a:t>A learner practises generosity in preparing and sharing a meal.</a:t>
            </a:r>
          </a:p>
        </p:txBody>
      </p:sp>
      <p:sp>
        <p:nvSpPr>
          <p:cNvPr id="8" name="text-7">
            <a:extLst xmlns:a="http://schemas.openxmlformats.org/drawingml/2006/main">
              <a:ext uri="{FF2B5EF4-FFF2-40B4-BE49-F238E27FC236}">
                <a16:creationId xmlns:a16="http://schemas.microsoft.com/office/drawing/2014/main" id="{297EA3A6-50ED-4B50-9138-7E5C9F65F20B}"/>
              </a:ext>
            </a:extLst>
          </p:cNvPr>
          <p:cNvSpPr>
            <a:spLocks xmlns:a="http://schemas.openxmlformats.org/drawingml/2006/main" noGrp="1"/>
          </p:cNvSpPr>
          <p:nvPr/>
        </p:nvSpPr>
        <p:spPr>
          <a:xfrm xmlns:a="http://schemas.openxmlformats.org/drawingml/2006/main">
            <a:off x="962025" y="2333625"/>
            <a:ext cx="4057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1">
                <a:solidFill>
                  <a:srgbClr val="1E2447"/>
                </a:solidFill>
                <a:latin typeface="Calibri"/>
                <a:ea typeface="Calibri"/>
                <a:cs typeface="Calibri"/>
              </a:defRPr>
            </a:pPr>
            <a:r>
              <a:rPr sz="1800" b="1">
                <a:solidFill>
                  <a:srgbClr val="1E2447"/>
                </a:solidFill>
                <a:latin typeface="Calibri"/>
                <a:ea typeface="Calibri"/>
                <a:cs typeface="Calibri"/>
              </a:rPr>
              <a:t>Further understanding</a:t>
            </a:r>
          </a:p>
        </p:txBody>
      </p:sp>
      <p:sp>
        <p:nvSpPr>
          <p:cNvPr id="9" name="text-8">
            <a:extLst xmlns:a="http://schemas.openxmlformats.org/drawingml/2006/main">
              <a:ext uri="{FF2B5EF4-FFF2-40B4-BE49-F238E27FC236}">
                <a16:creationId xmlns:a16="http://schemas.microsoft.com/office/drawing/2014/main" id="{0512F8B4-9F52-4E4D-BF3C-DDF7591710B7}"/>
              </a:ext>
            </a:extLst>
          </p:cNvPr>
          <p:cNvSpPr>
            <a:spLocks xmlns:a="http://schemas.openxmlformats.org/drawingml/2006/main" noGrp="1"/>
          </p:cNvSpPr>
          <p:nvPr/>
        </p:nvSpPr>
        <p:spPr>
          <a:xfrm xmlns:a="http://schemas.openxmlformats.org/drawingml/2006/main">
            <a:off x="962025" y="2676525"/>
            <a:ext cx="40576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303853"/>
                </a:solidFill>
                <a:latin typeface="Calibri"/>
                <a:ea typeface="Calibri"/>
                <a:cs typeface="Calibri"/>
              </a:defRPr>
            </a:pPr>
            <a:r>
              <a:rPr sz="1725" b="0">
                <a:solidFill>
                  <a:srgbClr val="303853"/>
                </a:solidFill>
                <a:latin typeface="Calibri"/>
                <a:ea typeface="Calibri"/>
                <a:cs typeface="Calibri"/>
              </a:rPr>
              <a:t>The learner examines need, responsibility, and the outcome.</a:t>
            </a:r>
          </a:p>
        </p:txBody>
      </p:sp>
      <p:sp>
        <p:nvSpPr>
          <p:cNvPr id="10" name="text-9">
            <a:extLst xmlns:a="http://schemas.openxmlformats.org/drawingml/2006/main">
              <a:ext uri="{FF2B5EF4-FFF2-40B4-BE49-F238E27FC236}">
                <a16:creationId xmlns:a16="http://schemas.microsoft.com/office/drawing/2014/main" id="{537132DB-0502-477B-B401-AADD0D875744}"/>
              </a:ext>
            </a:extLst>
          </p:cNvPr>
          <p:cNvSpPr>
            <a:spLocks xmlns:a="http://schemas.openxmlformats.org/drawingml/2006/main" noGrp="1"/>
          </p:cNvSpPr>
          <p:nvPr/>
        </p:nvSpPr>
        <p:spPr>
          <a:xfrm xmlns:a="http://schemas.openxmlformats.org/drawingml/2006/main">
            <a:off x="962025" y="3314700"/>
            <a:ext cx="4057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1">
                <a:solidFill>
                  <a:srgbClr val="1E2447"/>
                </a:solidFill>
                <a:latin typeface="Calibri"/>
                <a:ea typeface="Calibri"/>
                <a:cs typeface="Calibri"/>
              </a:defRPr>
            </a:pPr>
            <a:r>
              <a:rPr sz="1800" b="1">
                <a:solidFill>
                  <a:srgbClr val="1E2447"/>
                </a:solidFill>
                <a:latin typeface="Calibri"/>
                <a:ea typeface="Calibri"/>
                <a:cs typeface="Calibri"/>
              </a:rPr>
              <a:t>Establishment in state</a:t>
            </a:r>
          </a:p>
        </p:txBody>
      </p:sp>
      <p:sp>
        <p:nvSpPr>
          <p:cNvPr id="11" name="text-10">
            <a:extLst xmlns:a="http://schemas.openxmlformats.org/drawingml/2006/main">
              <a:ext uri="{FF2B5EF4-FFF2-40B4-BE49-F238E27FC236}">
                <a16:creationId xmlns:a16="http://schemas.microsoft.com/office/drawing/2014/main" id="{A7C28E40-7EF4-426D-9998-0888434111CE}"/>
              </a:ext>
            </a:extLst>
          </p:cNvPr>
          <p:cNvSpPr>
            <a:spLocks xmlns:a="http://schemas.openxmlformats.org/drawingml/2006/main" noGrp="1"/>
          </p:cNvSpPr>
          <p:nvPr/>
        </p:nvSpPr>
        <p:spPr>
          <a:xfrm xmlns:a="http://schemas.openxmlformats.org/drawingml/2006/main">
            <a:off x="962025" y="3657600"/>
            <a:ext cx="40576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303853"/>
                </a:solidFill>
                <a:latin typeface="Calibri"/>
                <a:ea typeface="Calibri"/>
                <a:cs typeface="Calibri"/>
              </a:defRPr>
            </a:pPr>
            <a:r>
              <a:rPr sz="1725" b="0">
                <a:solidFill>
                  <a:srgbClr val="303853"/>
                </a:solidFill>
                <a:latin typeface="Calibri"/>
                <a:ea typeface="Calibri"/>
                <a:cs typeface="Calibri"/>
              </a:rPr>
              <a:t>Care becomes understood and sustained.</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321103e5e27849af"/>
          <a:stretch xmlns:a="http://schemas.openxmlformats.org/drawingml/2006/main"/>
        </p:blipFill>
        <p:spPr>
          <a:xfrm xmlns:a="http://schemas.openxmlformats.org/drawingml/2006/main">
            <a:off x="5705054" y="1304925"/>
            <a:ext cx="2363042" cy="2952750"/>
          </a:xfrm>
          <a:prstGeom xmlns:a="http://schemas.openxmlformats.org/drawingml/2006/main" prst="rect">
            <a:avLst/>
          </a:prstGeom>
        </p:spPr>
      </p:pic>
    </p:spTree>
    <p:extLst>
      <p:ext uri="{BB962C8B-B14F-4D97-AF65-F5344CB8AC3E}">
        <p14:creationId xmlns:p14="http://schemas.microsoft.com/office/powerpoint/2010/main" val="208118358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90CB6D38-C1AB-4A47-B09B-CA7963212BD3}"/>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9A6414"/>
                </a:solidFill>
                <a:latin typeface="Calibri"/>
                <a:ea typeface="Calibri"/>
                <a:cs typeface="Calibri"/>
              </a:defRPr>
            </a:pPr>
            <a:r>
              <a:rPr sz="1050" b="1">
                <a:solidFill>
                  <a:srgbClr val="9A6414"/>
                </a:solidFill>
                <a:latin typeface="Calibri"/>
                <a:ea typeface="Calibri"/>
                <a:cs typeface="Calibri"/>
              </a:rPr>
              <a:t>EVALUATING THE LEARNER</a:t>
            </a:r>
          </a:p>
        </p:txBody>
      </p:sp>
      <p:sp>
        <p:nvSpPr>
          <p:cNvPr id="2" name="text-1">
            <a:extLst xmlns:a="http://schemas.openxmlformats.org/drawingml/2006/main">
              <a:ext uri="{FF2B5EF4-FFF2-40B4-BE49-F238E27FC236}">
                <a16:creationId xmlns:a16="http://schemas.microsoft.com/office/drawing/2014/main" id="{74DE7723-3635-4A80-8996-F13CBD46864E}"/>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3000" b="1">
                <a:solidFill>
                  <a:srgbClr val="1E2447"/>
                </a:solidFill>
                <a:latin typeface="Cambria"/>
                <a:ea typeface="Cambria"/>
                <a:cs typeface="Cambria"/>
              </a:defRPr>
            </a:pPr>
            <a:r>
              <a:rPr sz="3000" b="1">
                <a:solidFill>
                  <a:srgbClr val="1E2447"/>
                </a:solidFill>
                <a:latin typeface="Cambria"/>
                <a:ea typeface="Cambria"/>
                <a:cs typeface="Cambria"/>
              </a:rPr>
              <a:t>Conduct and establishment</a:t>
            </a:r>
          </a:p>
        </p:txBody>
      </p:sp>
      <p:sp>
        <p:nvSpPr>
          <p:cNvPr id="3" name="text-2">
            <a:extLst xmlns:a="http://schemas.openxmlformats.org/drawingml/2006/main">
              <a:ext uri="{FF2B5EF4-FFF2-40B4-BE49-F238E27FC236}">
                <a16:creationId xmlns:a16="http://schemas.microsoft.com/office/drawing/2014/main" id="{FC9C8E33-5FC6-4D74-94B6-F523CEC65350}"/>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4A4BCFDC-E224-4C19-A579-79D6542D579C}"/>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50" b="0">
                <a:solidFill>
                  <a:srgbClr val="626C85"/>
                </a:solidFill>
                <a:latin typeface="Calibri"/>
                <a:ea typeface="Calibri"/>
                <a:cs typeface="Calibri"/>
              </a:defRPr>
            </a:pPr>
            <a:r>
              <a:rPr sz="950" b="0">
                <a:solidFill>
                  <a:srgbClr val="626C85"/>
                </a:solidFill>
                <a:latin typeface="Calibri"/>
                <a:ea typeface="Calibri"/>
                <a:cs typeface="Calibri"/>
              </a:rPr>
              <a:t>12 / 35</a:t>
            </a:r>
          </a:p>
        </p:txBody>
      </p:sp>
      <p:sp>
        <p:nvSpPr>
          <p:cNvPr id="5" name="text-4">
            <a:extLst xmlns:a="http://schemas.openxmlformats.org/drawingml/2006/main">
              <a:ext uri="{FF2B5EF4-FFF2-40B4-BE49-F238E27FC236}">
                <a16:creationId xmlns:a16="http://schemas.microsoft.com/office/drawing/2014/main" id="{765BF105-C696-4E80-8AB6-B2696A7AEE20}"/>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00" b="0" i="1">
                <a:solidFill>
                  <a:srgbClr val="9A6414"/>
                </a:solidFill>
                <a:latin typeface="Calibri"/>
                <a:ea typeface="Calibri"/>
                <a:cs typeface="Calibri"/>
              </a:defRPr>
            </a:pPr>
            <a:r>
              <a:rPr sz="1300" b="0" i="1">
                <a:solidFill>
                  <a:srgbClr val="9A6414"/>
                </a:solidFill>
                <a:latin typeface="Calibri"/>
                <a:ea typeface="Calibri"/>
                <a:cs typeface="Calibri"/>
              </a:rPr>
              <a:t>An outward contribution deserves recognition while learning continues.</a:t>
            </a:r>
          </a:p>
        </p:txBody>
      </p:sp>
      <p:sp>
        <p:nvSpPr>
          <p:cNvPr id="6" name="text-5">
            <a:extLst xmlns:a="http://schemas.openxmlformats.org/drawingml/2006/main">
              <a:ext uri="{FF2B5EF4-FFF2-40B4-BE49-F238E27FC236}">
                <a16:creationId xmlns:a16="http://schemas.microsoft.com/office/drawing/2014/main" id="{2B843E8E-D6DC-4F37-9B35-C24ADDA54CF9}"/>
              </a:ext>
            </a:extLst>
          </p:cNvPr>
          <p:cNvSpPr>
            <a:spLocks xmlns:a="http://schemas.openxmlformats.org/drawingml/2006/main" noGrp="1"/>
          </p:cNvSpPr>
          <p:nvPr/>
        </p:nvSpPr>
        <p:spPr>
          <a:xfrm xmlns:a="http://schemas.openxmlformats.org/drawingml/2006/main">
            <a:off x="962025" y="1504950"/>
            <a:ext cx="352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1">
                <a:solidFill>
                  <a:srgbClr val="1E2447"/>
                </a:solidFill>
                <a:latin typeface="Cambria"/>
                <a:ea typeface="Cambria"/>
                <a:cs typeface="Cambria"/>
              </a:defRPr>
            </a:pPr>
            <a:r>
              <a:rPr sz="2325" b="1">
                <a:solidFill>
                  <a:srgbClr val="1E2447"/>
                </a:solidFill>
                <a:latin typeface="Cambria"/>
                <a:ea typeface="Cambria"/>
                <a:cs typeface="Cambria"/>
              </a:rPr>
              <a:t>What an act can show</a:t>
            </a:r>
          </a:p>
        </p:txBody>
      </p:sp>
      <p:sp>
        <p:nvSpPr>
          <p:cNvPr id="7" name="text-6">
            <a:extLst xmlns:a="http://schemas.openxmlformats.org/drawingml/2006/main">
              <a:ext uri="{FF2B5EF4-FFF2-40B4-BE49-F238E27FC236}">
                <a16:creationId xmlns:a16="http://schemas.microsoft.com/office/drawing/2014/main" id="{2C3D1072-D1AB-4817-98C3-12CD72EEDF14}"/>
              </a:ext>
            </a:extLst>
          </p:cNvPr>
          <p:cNvSpPr>
            <a:spLocks xmlns:a="http://schemas.openxmlformats.org/drawingml/2006/main" noGrp="1"/>
          </p:cNvSpPr>
          <p:nvPr/>
        </p:nvSpPr>
        <p:spPr>
          <a:xfrm xmlns:a="http://schemas.openxmlformats.org/drawingml/2006/main">
            <a:off x="962025" y="2266950"/>
            <a:ext cx="3429000" cy="1962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303853"/>
                </a:solidFill>
                <a:latin typeface="Calibri"/>
                <a:ea typeface="Calibri"/>
                <a:cs typeface="Calibri"/>
              </a:defRPr>
            </a:pPr>
            <a:r>
              <a:rPr sz="1875" b="0">
                <a:solidFill>
                  <a:srgbClr val="303853"/>
                </a:solidFill>
                <a:latin typeface="Calibri"/>
                <a:ea typeface="Calibri"/>
                <a:cs typeface="Calibri"/>
              </a:rPr>
              <a:t>A responsibility was fulfilled.</a:t>
            </a:r>
          </a:p>
          <a:p xmlns:a="http://schemas.openxmlformats.org/drawingml/2006/main">
            <a:pPr>
              <a:defRPr sz="1875" b="0">
                <a:solidFill>
                  <a:srgbClr val="303853"/>
                </a:solidFill>
                <a:latin typeface="Calibri"/>
                <a:ea typeface="Calibri"/>
                <a:cs typeface="Calibri"/>
              </a:defRPr>
            </a:pPr>
            <a:r>
              <a:rPr sz="1875" b="0">
                <a:solidFill>
                  <a:srgbClr val="303853"/>
                </a:solidFill>
                <a:latin typeface="Calibri"/>
                <a:ea typeface="Calibri"/>
                <a:cs typeface="Calibri"/>
              </a:rPr>
              <a:t>Someone received real help.</a:t>
            </a:r>
          </a:p>
          <a:p xmlns:a="http://schemas.openxmlformats.org/drawingml/2006/main">
            <a:pPr>
              <a:defRPr sz="1875" b="0">
                <a:solidFill>
                  <a:srgbClr val="303853"/>
                </a:solidFill>
                <a:latin typeface="Calibri"/>
                <a:ea typeface="Calibri"/>
                <a:cs typeface="Calibri"/>
              </a:defRPr>
            </a:pPr>
            <a:r>
              <a:rPr sz="1875" b="0">
                <a:solidFill>
                  <a:srgbClr val="303853"/>
                </a:solidFill>
                <a:latin typeface="Calibri"/>
                <a:ea typeface="Calibri"/>
                <a:cs typeface="Calibri"/>
              </a:rPr>
              <a:t>A skill or understanding became evident.</a:t>
            </a:r>
          </a:p>
        </p:txBody>
      </p:sp>
      <p:sp>
        <p:nvSpPr>
          <p:cNvPr id="8" name="text-7">
            <a:extLst xmlns:a="http://schemas.openxmlformats.org/drawingml/2006/main">
              <a:ext uri="{FF2B5EF4-FFF2-40B4-BE49-F238E27FC236}">
                <a16:creationId xmlns:a16="http://schemas.microsoft.com/office/drawing/2014/main" id="{A82CEF4F-02B6-46C1-94A7-C33C136A66F0}"/>
              </a:ext>
            </a:extLst>
          </p:cNvPr>
          <p:cNvSpPr>
            <a:spLocks xmlns:a="http://schemas.openxmlformats.org/drawingml/2006/main" noGrp="1"/>
          </p:cNvSpPr>
          <p:nvPr/>
        </p:nvSpPr>
        <p:spPr>
          <a:xfrm xmlns:a="http://schemas.openxmlformats.org/drawingml/2006/main">
            <a:off x="4962525" y="1504950"/>
            <a:ext cx="352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1">
                <a:solidFill>
                  <a:srgbClr val="1E2447"/>
                </a:solidFill>
                <a:latin typeface="Cambria"/>
                <a:ea typeface="Cambria"/>
                <a:cs typeface="Cambria"/>
              </a:defRPr>
            </a:pPr>
            <a:r>
              <a:rPr sz="2325" b="1">
                <a:solidFill>
                  <a:srgbClr val="1E2447"/>
                </a:solidFill>
                <a:latin typeface="Cambria"/>
                <a:ea typeface="Cambria"/>
                <a:cs typeface="Cambria"/>
              </a:rPr>
              <a:t>Further examination</a:t>
            </a:r>
          </a:p>
        </p:txBody>
      </p:sp>
      <p:sp>
        <p:nvSpPr>
          <p:cNvPr id="9" name="text-8">
            <a:extLst xmlns:a="http://schemas.openxmlformats.org/drawingml/2006/main">
              <a:ext uri="{FF2B5EF4-FFF2-40B4-BE49-F238E27FC236}">
                <a16:creationId xmlns:a16="http://schemas.microsoft.com/office/drawing/2014/main" id="{45F9B8C4-8753-43E6-AC62-0D3D820CB487}"/>
              </a:ext>
            </a:extLst>
          </p:cNvPr>
          <p:cNvSpPr>
            <a:spLocks xmlns:a="http://schemas.openxmlformats.org/drawingml/2006/main" noGrp="1"/>
          </p:cNvSpPr>
          <p:nvPr/>
        </p:nvSpPr>
        <p:spPr>
          <a:xfrm xmlns:a="http://schemas.openxmlformats.org/drawingml/2006/main">
            <a:off x="4962525" y="2266950"/>
            <a:ext cx="3429000" cy="1962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303853"/>
                </a:solidFill>
                <a:latin typeface="Calibri"/>
                <a:ea typeface="Calibri"/>
                <a:cs typeface="Calibri"/>
              </a:defRPr>
            </a:pPr>
            <a:r>
              <a:rPr sz="1875" b="0">
                <a:solidFill>
                  <a:srgbClr val="303853"/>
                </a:solidFill>
                <a:latin typeface="Calibri"/>
                <a:ea typeface="Calibri"/>
                <a:cs typeface="Calibri"/>
              </a:rPr>
              <a:t>Why the person acted.</a:t>
            </a:r>
          </a:p>
          <a:p xmlns:a="http://schemas.openxmlformats.org/drawingml/2006/main">
            <a:pPr>
              <a:defRPr sz="1875" b="0">
                <a:solidFill>
                  <a:srgbClr val="303853"/>
                </a:solidFill>
                <a:latin typeface="Calibri"/>
                <a:ea typeface="Calibri"/>
                <a:cs typeface="Calibri"/>
              </a:defRPr>
            </a:pPr>
            <a:r>
              <a:rPr sz="1875" b="0">
                <a:solidFill>
                  <a:srgbClr val="303853"/>
                </a:solidFill>
                <a:latin typeface="Calibri"/>
                <a:ea typeface="Calibri"/>
                <a:cs typeface="Calibri"/>
              </a:rPr>
              <a:t>What they understood.</a:t>
            </a:r>
          </a:p>
          <a:p xmlns:a="http://schemas.openxmlformats.org/drawingml/2006/main">
            <a:pPr>
              <a:defRPr sz="1875" b="0">
                <a:solidFill>
                  <a:srgbClr val="303853"/>
                </a:solidFill>
                <a:latin typeface="Calibri"/>
                <a:ea typeface="Calibri"/>
                <a:cs typeface="Calibri"/>
              </a:defRPr>
            </a:pPr>
            <a:r>
              <a:rPr sz="1875" b="0">
                <a:solidFill>
                  <a:srgbClr val="303853"/>
                </a:solidFill>
                <a:latin typeface="Calibri"/>
                <a:ea typeface="Calibri"/>
                <a:cs typeface="Calibri"/>
              </a:rPr>
              <a:t>Whether the value remains continuous.</a:t>
            </a:r>
          </a:p>
        </p:txBody>
      </p:sp>
    </p:spTree>
    <p:extLst>
      <p:ext uri="{BB962C8B-B14F-4D97-AF65-F5344CB8AC3E}">
        <p14:creationId xmlns:p14="http://schemas.microsoft.com/office/powerpoint/2010/main" val="151417987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0">
            <a:extLst xmlns:a="http://schemas.openxmlformats.org/drawingml/2006/main">
              <a:ext uri="{FF2B5EF4-FFF2-40B4-BE49-F238E27FC236}">
                <a16:creationId xmlns:a16="http://schemas.microsoft.com/office/drawing/2014/main" id="{D1B3CA58-A28F-4CAE-B7B6-78341A07E483}"/>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9A6414"/>
                </a:solidFill>
                <a:latin typeface="Calibri"/>
                <a:ea typeface="Calibri"/>
                <a:cs typeface="Calibri"/>
              </a:defRPr>
            </a:pPr>
            <a:r>
              <a:rPr sz="1050" b="1">
                <a:solidFill>
                  <a:srgbClr val="9A6414"/>
                </a:solidFill>
                <a:latin typeface="Calibri"/>
                <a:ea typeface="Calibri"/>
                <a:cs typeface="Calibri"/>
              </a:rPr>
              <a:t>RELATIONSHIPS AND JUSTICE</a:t>
            </a:r>
          </a:p>
        </p:txBody>
      </p:sp>
      <p:sp>
        <p:nvSpPr>
          <p:cNvPr id="2" name="text-1">
            <a:extLst xmlns:a="http://schemas.openxmlformats.org/drawingml/2006/main">
              <a:ext uri="{FF2B5EF4-FFF2-40B4-BE49-F238E27FC236}">
                <a16:creationId xmlns:a16="http://schemas.microsoft.com/office/drawing/2014/main" id="{3B228F05-BC4D-4242-B247-579D1129EB5A}"/>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3000" b="1">
                <a:solidFill>
                  <a:srgbClr val="1E2447"/>
                </a:solidFill>
                <a:latin typeface="Cambria"/>
                <a:ea typeface="Cambria"/>
                <a:cs typeface="Cambria"/>
              </a:defRPr>
            </a:pPr>
            <a:r>
              <a:rPr sz="3000" b="1">
                <a:solidFill>
                  <a:srgbClr val="1E2447"/>
                </a:solidFill>
                <a:latin typeface="Cambria"/>
                <a:ea typeface="Cambria"/>
                <a:cs typeface="Cambria"/>
              </a:rPr>
              <a:t>Justice has four moments</a:t>
            </a:r>
          </a:p>
        </p:txBody>
      </p:sp>
      <p:sp>
        <p:nvSpPr>
          <p:cNvPr id="3" name="text-2">
            <a:extLst xmlns:a="http://schemas.openxmlformats.org/drawingml/2006/main">
              <a:ext uri="{FF2B5EF4-FFF2-40B4-BE49-F238E27FC236}">
                <a16:creationId xmlns:a16="http://schemas.microsoft.com/office/drawing/2014/main" id="{36A6E25B-5363-40CD-AEF8-F309A7451322}"/>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9A1260BB-F872-4F55-8C9D-C324E8592CCE}"/>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50" b="0">
                <a:solidFill>
                  <a:srgbClr val="626C85"/>
                </a:solidFill>
                <a:latin typeface="Calibri"/>
                <a:ea typeface="Calibri"/>
                <a:cs typeface="Calibri"/>
              </a:defRPr>
            </a:pPr>
            <a:r>
              <a:rPr sz="950" b="0">
                <a:solidFill>
                  <a:srgbClr val="626C85"/>
                </a:solidFill>
                <a:latin typeface="Calibri"/>
                <a:ea typeface="Calibri"/>
                <a:cs typeface="Calibri"/>
              </a:rPr>
              <a:t>13 / 35</a:t>
            </a:r>
          </a:p>
        </p:txBody>
      </p:sp>
      <p:sp>
        <p:nvSpPr>
          <p:cNvPr id="5" name="text-4">
            <a:extLst xmlns:a="http://schemas.openxmlformats.org/drawingml/2006/main">
              <a:ext uri="{FF2B5EF4-FFF2-40B4-BE49-F238E27FC236}">
                <a16:creationId xmlns:a16="http://schemas.microsoft.com/office/drawing/2014/main" id="{E9B7A9E9-6AF8-42B1-99DD-CE613A897A65}"/>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00" b="0" i="1">
                <a:solidFill>
                  <a:srgbClr val="9A6414"/>
                </a:solidFill>
                <a:latin typeface="Calibri"/>
                <a:ea typeface="Calibri"/>
                <a:cs typeface="Calibri"/>
              </a:defRPr>
            </a:pPr>
            <a:r>
              <a:rPr sz="1300" b="0" i="1">
                <a:solidFill>
                  <a:srgbClr val="9A6414"/>
                </a:solidFill>
                <a:latin typeface="Calibri"/>
                <a:ea typeface="Calibri"/>
                <a:cs typeface="Calibri"/>
              </a:rPr>
              <a:t>Mutual satisfaction has a normative standard beyond bare agreement.</a:t>
            </a:r>
          </a:p>
        </p:txBody>
      </p:sp>
      <p:sp>
        <p:nvSpPr>
          <p:cNvPr id="6" name="text-5">
            <a:extLst xmlns:a="http://schemas.openxmlformats.org/drawingml/2006/main">
              <a:ext uri="{FF2B5EF4-FFF2-40B4-BE49-F238E27FC236}">
                <a16:creationId xmlns:a16="http://schemas.microsoft.com/office/drawing/2014/main" id="{B9A4232F-4488-4BC2-863D-6093D0AB67DC}"/>
              </a:ext>
            </a:extLst>
          </p:cNvPr>
          <p:cNvSpPr>
            <a:spLocks xmlns:a="http://schemas.openxmlformats.org/drawingml/2006/main" noGrp="1"/>
          </p:cNvSpPr>
          <p:nvPr/>
        </p:nvSpPr>
        <p:spPr>
          <a:xfrm xmlns:a="http://schemas.openxmlformats.org/drawingml/2006/main">
            <a:off x="962025" y="1362075"/>
            <a:ext cx="2047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1">
                <a:solidFill>
                  <a:srgbClr val="1E2447"/>
                </a:solidFill>
                <a:latin typeface="Calibri"/>
                <a:ea typeface="Calibri"/>
                <a:cs typeface="Calibri"/>
              </a:defRPr>
            </a:pPr>
            <a:r>
              <a:rPr sz="1800" b="1">
                <a:solidFill>
                  <a:srgbClr val="1E2447"/>
                </a:solidFill>
                <a:latin typeface="Calibri"/>
                <a:ea typeface="Calibri"/>
                <a:cs typeface="Calibri"/>
              </a:rPr>
              <a:t>Recognition</a:t>
            </a:r>
          </a:p>
        </p:txBody>
      </p:sp>
      <p:sp>
        <p:nvSpPr>
          <p:cNvPr id="7" name="text-6">
            <a:extLst xmlns:a="http://schemas.openxmlformats.org/drawingml/2006/main">
              <a:ext uri="{FF2B5EF4-FFF2-40B4-BE49-F238E27FC236}">
                <a16:creationId xmlns:a16="http://schemas.microsoft.com/office/drawing/2014/main" id="{0CD86E26-AC30-4E5C-9528-E8272C7D1F78}"/>
              </a:ext>
            </a:extLst>
          </p:cNvPr>
          <p:cNvSpPr>
            <a:spLocks xmlns:a="http://schemas.openxmlformats.org/drawingml/2006/main" noGrp="1"/>
          </p:cNvSpPr>
          <p:nvPr/>
        </p:nvSpPr>
        <p:spPr>
          <a:xfrm xmlns:a="http://schemas.openxmlformats.org/drawingml/2006/main">
            <a:off x="3248025" y="1362075"/>
            <a:ext cx="52578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303853"/>
                </a:solidFill>
                <a:latin typeface="Calibri"/>
                <a:ea typeface="Calibri"/>
                <a:cs typeface="Calibri"/>
              </a:defRPr>
            </a:pPr>
            <a:r>
              <a:rPr sz="1725" b="0">
                <a:solidFill>
                  <a:srgbClr val="303853"/>
                </a:solidFill>
                <a:latin typeface="Calibri"/>
                <a:ea typeface="Calibri"/>
                <a:cs typeface="Calibri"/>
              </a:rPr>
              <a:t>What relationship and responsibility are present?</a:t>
            </a:r>
          </a:p>
        </p:txBody>
      </p:sp>
      <p:sp>
        <p:nvSpPr>
          <p:cNvPr id="8" name="text-7">
            <a:extLst xmlns:a="http://schemas.openxmlformats.org/drawingml/2006/main">
              <a:ext uri="{FF2B5EF4-FFF2-40B4-BE49-F238E27FC236}">
                <a16:creationId xmlns:a16="http://schemas.microsoft.com/office/drawing/2014/main" id="{1E930D77-963E-4D7E-AC9A-F30DE8E78569}"/>
              </a:ext>
            </a:extLst>
          </p:cNvPr>
          <p:cNvSpPr>
            <a:spLocks xmlns:a="http://schemas.openxmlformats.org/drawingml/2006/main" noGrp="1"/>
          </p:cNvSpPr>
          <p:nvPr/>
        </p:nvSpPr>
        <p:spPr>
          <a:xfrm xmlns:a="http://schemas.openxmlformats.org/drawingml/2006/main">
            <a:off x="962025" y="2085975"/>
            <a:ext cx="2047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1">
                <a:solidFill>
                  <a:srgbClr val="1E2447"/>
                </a:solidFill>
                <a:latin typeface="Calibri"/>
                <a:ea typeface="Calibri"/>
                <a:cs typeface="Calibri"/>
              </a:defRPr>
            </a:pPr>
            <a:r>
              <a:rPr sz="1800" b="1">
                <a:solidFill>
                  <a:srgbClr val="1E2447"/>
                </a:solidFill>
                <a:latin typeface="Calibri"/>
                <a:ea typeface="Calibri"/>
                <a:cs typeface="Calibri"/>
              </a:rPr>
              <a:t>Fulfilment</a:t>
            </a:r>
          </a:p>
        </p:txBody>
      </p:sp>
      <p:sp>
        <p:nvSpPr>
          <p:cNvPr id="9" name="text-8">
            <a:extLst xmlns:a="http://schemas.openxmlformats.org/drawingml/2006/main">
              <a:ext uri="{FF2B5EF4-FFF2-40B4-BE49-F238E27FC236}">
                <a16:creationId xmlns:a16="http://schemas.microsoft.com/office/drawing/2014/main" id="{61B5918A-E5D8-4141-8DE9-AEC43477D813}"/>
              </a:ext>
            </a:extLst>
          </p:cNvPr>
          <p:cNvSpPr>
            <a:spLocks xmlns:a="http://schemas.openxmlformats.org/drawingml/2006/main" noGrp="1"/>
          </p:cNvSpPr>
          <p:nvPr/>
        </p:nvSpPr>
        <p:spPr>
          <a:xfrm xmlns:a="http://schemas.openxmlformats.org/drawingml/2006/main">
            <a:off x="3248025" y="2085975"/>
            <a:ext cx="52578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303853"/>
                </a:solidFill>
                <a:latin typeface="Calibri"/>
                <a:ea typeface="Calibri"/>
                <a:cs typeface="Calibri"/>
              </a:defRPr>
            </a:pPr>
            <a:r>
              <a:rPr sz="1725" b="0">
                <a:solidFill>
                  <a:srgbClr val="303853"/>
                </a:solidFill>
                <a:latin typeface="Calibri"/>
                <a:ea typeface="Calibri"/>
                <a:cs typeface="Calibri"/>
              </a:rPr>
              <a:t>Which values must become evident in conduct?</a:t>
            </a:r>
          </a:p>
        </p:txBody>
      </p:sp>
      <p:sp>
        <p:nvSpPr>
          <p:cNvPr id="10" name="text-9">
            <a:extLst xmlns:a="http://schemas.openxmlformats.org/drawingml/2006/main">
              <a:ext uri="{FF2B5EF4-FFF2-40B4-BE49-F238E27FC236}">
                <a16:creationId xmlns:a16="http://schemas.microsoft.com/office/drawing/2014/main" id="{521CD9AF-11B3-453C-BD55-F0DB7A692508}"/>
              </a:ext>
            </a:extLst>
          </p:cNvPr>
          <p:cNvSpPr>
            <a:spLocks xmlns:a="http://schemas.openxmlformats.org/drawingml/2006/main" noGrp="1"/>
          </p:cNvSpPr>
          <p:nvPr/>
        </p:nvSpPr>
        <p:spPr>
          <a:xfrm xmlns:a="http://schemas.openxmlformats.org/drawingml/2006/main">
            <a:off x="962025" y="2809875"/>
            <a:ext cx="2047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1">
                <a:solidFill>
                  <a:srgbClr val="1E2447"/>
                </a:solidFill>
                <a:latin typeface="Calibri"/>
                <a:ea typeface="Calibri"/>
                <a:cs typeface="Calibri"/>
              </a:defRPr>
            </a:pPr>
            <a:r>
              <a:rPr sz="1800" b="1">
                <a:solidFill>
                  <a:srgbClr val="1E2447"/>
                </a:solidFill>
                <a:latin typeface="Calibri"/>
                <a:ea typeface="Calibri"/>
                <a:cs typeface="Calibri"/>
              </a:rPr>
              <a:t>Evaluation</a:t>
            </a:r>
          </a:p>
        </p:txBody>
      </p:sp>
      <p:sp>
        <p:nvSpPr>
          <p:cNvPr id="11" name="text-10">
            <a:extLst xmlns:a="http://schemas.openxmlformats.org/drawingml/2006/main">
              <a:ext uri="{FF2B5EF4-FFF2-40B4-BE49-F238E27FC236}">
                <a16:creationId xmlns:a16="http://schemas.microsoft.com/office/drawing/2014/main" id="{23FCCD12-82F7-413F-BCD5-CA1CB18195E0}"/>
              </a:ext>
            </a:extLst>
          </p:cNvPr>
          <p:cNvSpPr>
            <a:spLocks xmlns:a="http://schemas.openxmlformats.org/drawingml/2006/main" noGrp="1"/>
          </p:cNvSpPr>
          <p:nvPr/>
        </p:nvSpPr>
        <p:spPr>
          <a:xfrm xmlns:a="http://schemas.openxmlformats.org/drawingml/2006/main">
            <a:off x="3248025" y="2809875"/>
            <a:ext cx="52578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303853"/>
                </a:solidFill>
                <a:latin typeface="Calibri"/>
                <a:ea typeface="Calibri"/>
                <a:cs typeface="Calibri"/>
              </a:defRPr>
            </a:pPr>
            <a:r>
              <a:rPr sz="1725" b="0">
                <a:solidFill>
                  <a:srgbClr val="303853"/>
                </a:solidFill>
                <a:latin typeface="Calibri"/>
                <a:ea typeface="Calibri"/>
                <a:cs typeface="Calibri"/>
              </a:rPr>
              <a:t>Did the conduct fulfil that responsibility?</a:t>
            </a:r>
          </a:p>
        </p:txBody>
      </p:sp>
      <p:sp>
        <p:nvSpPr>
          <p:cNvPr id="12" name="text-11">
            <a:extLst xmlns:a="http://schemas.openxmlformats.org/drawingml/2006/main">
              <a:ext uri="{FF2B5EF4-FFF2-40B4-BE49-F238E27FC236}">
                <a16:creationId xmlns:a16="http://schemas.microsoft.com/office/drawing/2014/main" id="{16702FBB-2894-44DE-85CC-864465485BEC}"/>
              </a:ext>
            </a:extLst>
          </p:cNvPr>
          <p:cNvSpPr>
            <a:spLocks xmlns:a="http://schemas.openxmlformats.org/drawingml/2006/main" noGrp="1"/>
          </p:cNvSpPr>
          <p:nvPr/>
        </p:nvSpPr>
        <p:spPr>
          <a:xfrm xmlns:a="http://schemas.openxmlformats.org/drawingml/2006/main">
            <a:off x="962025" y="3533775"/>
            <a:ext cx="2047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1">
                <a:solidFill>
                  <a:srgbClr val="1E2447"/>
                </a:solidFill>
                <a:latin typeface="Calibri"/>
                <a:ea typeface="Calibri"/>
                <a:cs typeface="Calibri"/>
              </a:defRPr>
            </a:pPr>
            <a:r>
              <a:rPr sz="1800" b="1">
                <a:solidFill>
                  <a:srgbClr val="1E2447"/>
                </a:solidFill>
                <a:latin typeface="Calibri"/>
                <a:ea typeface="Calibri"/>
                <a:cs typeface="Calibri"/>
              </a:rPr>
              <a:t>Mutual satisfaction</a:t>
            </a:r>
          </a:p>
        </p:txBody>
      </p:sp>
      <p:sp>
        <p:nvSpPr>
          <p:cNvPr id="13" name="text-12">
            <a:extLst xmlns:a="http://schemas.openxmlformats.org/drawingml/2006/main">
              <a:ext uri="{FF2B5EF4-FFF2-40B4-BE49-F238E27FC236}">
                <a16:creationId xmlns:a16="http://schemas.microsoft.com/office/drawing/2014/main" id="{1B40A485-8FF6-4446-A43D-1BAC1D11BA09}"/>
              </a:ext>
            </a:extLst>
          </p:cNvPr>
          <p:cNvSpPr>
            <a:spLocks xmlns:a="http://schemas.openxmlformats.org/drawingml/2006/main" noGrp="1"/>
          </p:cNvSpPr>
          <p:nvPr/>
        </p:nvSpPr>
        <p:spPr>
          <a:xfrm xmlns:a="http://schemas.openxmlformats.org/drawingml/2006/main">
            <a:off x="3248025" y="3533775"/>
            <a:ext cx="52578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303853"/>
                </a:solidFill>
                <a:latin typeface="Calibri"/>
                <a:ea typeface="Calibri"/>
                <a:cs typeface="Calibri"/>
              </a:defRPr>
            </a:pPr>
            <a:r>
              <a:rPr sz="1725" b="0">
                <a:solidFill>
                  <a:srgbClr val="303853"/>
                </a:solidFill>
                <a:latin typeface="Calibri"/>
                <a:ea typeface="Calibri"/>
                <a:cs typeface="Calibri"/>
              </a:rPr>
              <a:t>Does fulfilment accord with the relationship’s values?</a:t>
            </a:r>
          </a:p>
        </p:txBody>
      </p:sp>
    </p:spTree>
    <p:extLst>
      <p:ext uri="{BB962C8B-B14F-4D97-AF65-F5344CB8AC3E}">
        <p14:creationId xmlns:p14="http://schemas.microsoft.com/office/powerpoint/2010/main" val="755823382"/>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0428866E-3097-47D7-A7DB-90F81F488674}"/>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9A6414"/>
                </a:solidFill>
                <a:latin typeface="Calibri"/>
                <a:ea typeface="Calibri"/>
                <a:cs typeface="Calibri"/>
              </a:defRPr>
            </a:pPr>
            <a:r>
              <a:rPr sz="1050" b="1">
                <a:solidFill>
                  <a:srgbClr val="9A6414"/>
                </a:solidFill>
                <a:latin typeface="Calibri"/>
                <a:ea typeface="Calibri"/>
                <a:cs typeface="Calibri"/>
              </a:rPr>
              <a:t>RETURN TO THE SHARED MEAL</a:t>
            </a:r>
          </a:p>
        </p:txBody>
      </p:sp>
      <p:sp>
        <p:nvSpPr>
          <p:cNvPr id="2" name="text-1">
            <a:extLst xmlns:a="http://schemas.openxmlformats.org/drawingml/2006/main">
              <a:ext uri="{FF2B5EF4-FFF2-40B4-BE49-F238E27FC236}">
                <a16:creationId xmlns:a16="http://schemas.microsoft.com/office/drawing/2014/main" id="{5B6BE853-5FE3-4D46-ABC1-A7CEEC65549C}"/>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3000" b="1">
                <a:solidFill>
                  <a:srgbClr val="1E2447"/>
                </a:solidFill>
                <a:latin typeface="Cambria"/>
                <a:ea typeface="Cambria"/>
                <a:cs typeface="Cambria"/>
              </a:defRPr>
            </a:pPr>
            <a:r>
              <a:rPr sz="3000" b="1">
                <a:solidFill>
                  <a:srgbClr val="1E2447"/>
                </a:solidFill>
                <a:latin typeface="Cambria"/>
                <a:ea typeface="Cambria"/>
                <a:cs typeface="Cambria"/>
              </a:rPr>
              <a:t>Evaluation asks what was fulfilled</a:t>
            </a:r>
          </a:p>
        </p:txBody>
      </p:sp>
      <p:sp>
        <p:nvSpPr>
          <p:cNvPr id="3" name="text-2">
            <a:extLst xmlns:a="http://schemas.openxmlformats.org/drawingml/2006/main">
              <a:ext uri="{FF2B5EF4-FFF2-40B4-BE49-F238E27FC236}">
                <a16:creationId xmlns:a16="http://schemas.microsoft.com/office/drawing/2014/main" id="{AB0799E0-AF22-4B6A-A9EC-0D03210D27AE}"/>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9057B2FA-792A-4641-8F82-4B8B4C254F1D}"/>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50" b="0">
                <a:solidFill>
                  <a:srgbClr val="626C85"/>
                </a:solidFill>
                <a:latin typeface="Calibri"/>
                <a:ea typeface="Calibri"/>
                <a:cs typeface="Calibri"/>
              </a:defRPr>
            </a:pPr>
            <a:r>
              <a:rPr sz="950" b="0">
                <a:solidFill>
                  <a:srgbClr val="626C85"/>
                </a:solidFill>
                <a:latin typeface="Calibri"/>
                <a:ea typeface="Calibri"/>
                <a:cs typeface="Calibri"/>
              </a:rPr>
              <a:t>14 / 35</a:t>
            </a:r>
          </a:p>
        </p:txBody>
      </p:sp>
      <p:sp>
        <p:nvSpPr>
          <p:cNvPr id="5" name="text-4">
            <a:extLst xmlns:a="http://schemas.openxmlformats.org/drawingml/2006/main">
              <a:ext uri="{FF2B5EF4-FFF2-40B4-BE49-F238E27FC236}">
                <a16:creationId xmlns:a16="http://schemas.microsoft.com/office/drawing/2014/main" id="{E0A56A6A-8C84-47BC-A0BB-429935890073}"/>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00" b="0" i="1">
                <a:solidFill>
                  <a:srgbClr val="9A6414"/>
                </a:solidFill>
                <a:latin typeface="Calibri"/>
                <a:ea typeface="Calibri"/>
                <a:cs typeface="Calibri"/>
              </a:defRPr>
            </a:pPr>
            <a:r>
              <a:rPr sz="1300" b="0" i="1">
                <a:solidFill>
                  <a:srgbClr val="9A6414"/>
                </a:solidFill>
                <a:latin typeface="Calibri"/>
                <a:ea typeface="Calibri"/>
                <a:cs typeface="Calibri"/>
              </a:rPr>
              <a:t>Intention, resources, conduct, and outcome each matter.</a:t>
            </a:r>
          </a:p>
        </p:txBody>
      </p:sp>
      <p:sp>
        <p:nvSpPr>
          <p:cNvPr id="6" name="text-5">
            <a:extLst xmlns:a="http://schemas.openxmlformats.org/drawingml/2006/main">
              <a:ext uri="{FF2B5EF4-FFF2-40B4-BE49-F238E27FC236}">
                <a16:creationId xmlns:a16="http://schemas.microsoft.com/office/drawing/2014/main" id="{ED18F993-F308-48AF-B7E2-7305B31C0128}"/>
              </a:ext>
            </a:extLst>
          </p:cNvPr>
          <p:cNvSpPr>
            <a:spLocks xmlns:a="http://schemas.openxmlformats.org/drawingml/2006/main" noGrp="1"/>
          </p:cNvSpPr>
          <p:nvPr/>
        </p:nvSpPr>
        <p:spPr>
          <a:xfrm xmlns:a="http://schemas.openxmlformats.org/drawingml/2006/main">
            <a:off x="962025" y="1381125"/>
            <a:ext cx="752475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E2447"/>
                </a:solidFill>
                <a:latin typeface="Cambria"/>
                <a:ea typeface="Cambria"/>
                <a:cs typeface="Cambria"/>
              </a:defRPr>
            </a:pPr>
            <a:r>
              <a:rPr sz="2700" b="0">
                <a:solidFill>
                  <a:srgbClr val="1E2447"/>
                </a:solidFill>
                <a:latin typeface="Cambria"/>
                <a:ea typeface="Cambria"/>
                <a:cs typeface="Cambria"/>
              </a:rPr>
              <a:t>The guest receives a suitable meal and participates with assurance.</a:t>
            </a:r>
          </a:p>
        </p:txBody>
      </p:sp>
      <p:sp>
        <p:nvSpPr>
          <p:cNvPr id="7" name="text-6">
            <a:extLst xmlns:a="http://schemas.openxmlformats.org/drawingml/2006/main">
              <a:ext uri="{FF2B5EF4-FFF2-40B4-BE49-F238E27FC236}">
                <a16:creationId xmlns:a16="http://schemas.microsoft.com/office/drawing/2014/main" id="{C28C2742-9111-4044-BB39-5E62EB15F811}"/>
              </a:ext>
            </a:extLst>
          </p:cNvPr>
          <p:cNvSpPr>
            <a:spLocks xmlns:a="http://schemas.openxmlformats.org/drawingml/2006/main" noGrp="1"/>
          </p:cNvSpPr>
          <p:nvPr/>
        </p:nvSpPr>
        <p:spPr>
          <a:xfrm xmlns:a="http://schemas.openxmlformats.org/drawingml/2006/main">
            <a:off x="962025" y="2552700"/>
            <a:ext cx="75247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303853"/>
                </a:solidFill>
                <a:latin typeface="Calibri"/>
                <a:ea typeface="Calibri"/>
                <a:cs typeface="Calibri"/>
              </a:defRPr>
            </a:pPr>
            <a:r>
              <a:rPr sz="1950" b="0">
                <a:solidFill>
                  <a:srgbClr val="303853"/>
                </a:solidFill>
                <a:latin typeface="Calibri"/>
                <a:ea typeface="Calibri"/>
                <a:cs typeface="Calibri"/>
              </a:rPr>
              <a:t>Provision responds to need. Recognition includes the guest. The host examines whether the response was adequate.</a:t>
            </a:r>
          </a:p>
        </p:txBody>
      </p:sp>
      <p:sp>
        <p:nvSpPr>
          <p:cNvPr id="8" name="text-7">
            <a:extLst xmlns:a="http://schemas.openxmlformats.org/drawingml/2006/main">
              <a:ext uri="{FF2B5EF4-FFF2-40B4-BE49-F238E27FC236}">
                <a16:creationId xmlns:a16="http://schemas.microsoft.com/office/drawing/2014/main" id="{C97BDC8D-3E36-482C-B5F2-66F92E3953BE}"/>
              </a:ext>
            </a:extLst>
          </p:cNvPr>
          <p:cNvSpPr>
            <a:spLocks xmlns:a="http://schemas.openxmlformats.org/drawingml/2006/main" noGrp="1"/>
          </p:cNvSpPr>
          <p:nvPr/>
        </p:nvSpPr>
        <p:spPr>
          <a:xfrm xmlns:a="http://schemas.openxmlformats.org/drawingml/2006/main">
            <a:off x="962025" y="3590925"/>
            <a:ext cx="75247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1">
                <a:solidFill>
                  <a:srgbClr val="9A6414"/>
                </a:solidFill>
                <a:latin typeface="Calibri"/>
                <a:ea typeface="Calibri"/>
                <a:cs typeface="Calibri"/>
              </a:defRPr>
            </a:pPr>
            <a:r>
              <a:rPr sz="2100" b="1">
                <a:solidFill>
                  <a:srgbClr val="9A6414"/>
                </a:solidFill>
                <a:latin typeface="Calibri"/>
                <a:ea typeface="Calibri"/>
                <a:cs typeface="Calibri"/>
              </a:rPr>
              <a:t>What evidence would support that assessment?</a:t>
            </a:r>
          </a:p>
        </p:txBody>
      </p:sp>
    </p:spTree>
    <p:extLst>
      <p:ext uri="{BB962C8B-B14F-4D97-AF65-F5344CB8AC3E}">
        <p14:creationId xmlns:p14="http://schemas.microsoft.com/office/powerpoint/2010/main" val="2090987798"/>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B7DDA7D0-9B0E-4623-B9BB-2C1E4ACAEFE9}"/>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9A6414"/>
                </a:solidFill>
                <a:latin typeface="Calibri"/>
                <a:ea typeface="Calibri"/>
                <a:cs typeface="Calibri"/>
              </a:defRPr>
            </a:pPr>
            <a:r>
              <a:rPr sz="1050" b="1">
                <a:solidFill>
                  <a:srgbClr val="9A6414"/>
                </a:solidFill>
                <a:latin typeface="Calibri"/>
                <a:ea typeface="Calibri"/>
                <a:cs typeface="Calibri"/>
              </a:rPr>
              <a:t>EVALUATIVE ERROR</a:t>
            </a:r>
          </a:p>
        </p:txBody>
      </p:sp>
      <p:sp>
        <p:nvSpPr>
          <p:cNvPr id="2" name="text-1">
            <a:extLst xmlns:a="http://schemas.openxmlformats.org/drawingml/2006/main">
              <a:ext uri="{FF2B5EF4-FFF2-40B4-BE49-F238E27FC236}">
                <a16:creationId xmlns:a16="http://schemas.microsoft.com/office/drawing/2014/main" id="{7D79FA78-9639-44B2-B113-5DB2DD17A819}"/>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3000" b="1">
                <a:solidFill>
                  <a:srgbClr val="1E2447"/>
                </a:solidFill>
                <a:latin typeface="Cambria"/>
                <a:ea typeface="Cambria"/>
                <a:cs typeface="Cambria"/>
              </a:defRPr>
            </a:pPr>
            <a:r>
              <a:rPr sz="3000" b="1">
                <a:solidFill>
                  <a:srgbClr val="1E2447"/>
                </a:solidFill>
                <a:latin typeface="Cambria"/>
                <a:ea typeface="Cambria"/>
                <a:cs typeface="Cambria"/>
              </a:rPr>
              <a:t>Three ways evaluation goes wrong</a:t>
            </a:r>
          </a:p>
        </p:txBody>
      </p:sp>
      <p:sp>
        <p:nvSpPr>
          <p:cNvPr id="3" name="text-2">
            <a:extLst xmlns:a="http://schemas.openxmlformats.org/drawingml/2006/main">
              <a:ext uri="{FF2B5EF4-FFF2-40B4-BE49-F238E27FC236}">
                <a16:creationId xmlns:a16="http://schemas.microsoft.com/office/drawing/2014/main" id="{D632B313-F578-4F43-ACD4-F9DF7CDFB1E5}"/>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E3FF9916-F0F5-4716-9898-1582FA6588E8}"/>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50" b="0">
                <a:solidFill>
                  <a:srgbClr val="626C85"/>
                </a:solidFill>
                <a:latin typeface="Calibri"/>
                <a:ea typeface="Calibri"/>
                <a:cs typeface="Calibri"/>
              </a:defRPr>
            </a:pPr>
            <a:r>
              <a:rPr sz="950" b="0">
                <a:solidFill>
                  <a:srgbClr val="626C85"/>
                </a:solidFill>
                <a:latin typeface="Calibri"/>
                <a:ea typeface="Calibri"/>
                <a:cs typeface="Calibri"/>
              </a:rPr>
              <a:t>15 / 35</a:t>
            </a:r>
          </a:p>
        </p:txBody>
      </p:sp>
      <p:sp>
        <p:nvSpPr>
          <p:cNvPr id="5" name="text-4">
            <a:extLst xmlns:a="http://schemas.openxmlformats.org/drawingml/2006/main">
              <a:ext uri="{FF2B5EF4-FFF2-40B4-BE49-F238E27FC236}">
                <a16:creationId xmlns:a16="http://schemas.microsoft.com/office/drawing/2014/main" id="{6737FFBA-5C8E-4CFA-99FB-BF48152C199C}"/>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00" b="0" i="1">
                <a:solidFill>
                  <a:srgbClr val="9A6414"/>
                </a:solidFill>
                <a:latin typeface="Calibri"/>
                <a:ea typeface="Calibri"/>
                <a:cs typeface="Calibri"/>
              </a:defRPr>
            </a:pPr>
            <a:r>
              <a:rPr sz="1300" b="0" i="1">
                <a:solidFill>
                  <a:srgbClr val="9A6414"/>
                </a:solidFill>
                <a:latin typeface="Calibri"/>
                <a:ea typeface="Calibri"/>
                <a:cs typeface="Calibri"/>
              </a:rPr>
              <a:t>Teaching example: judging a person’s worth by wealth confuses categories.</a:t>
            </a:r>
          </a:p>
        </p:txBody>
      </p:sp>
      <p:sp>
        <p:nvSpPr>
          <p:cNvPr id="6" name="text-5">
            <a:extLst xmlns:a="http://schemas.openxmlformats.org/drawingml/2006/main">
              <a:ext uri="{FF2B5EF4-FFF2-40B4-BE49-F238E27FC236}">
                <a16:creationId xmlns:a16="http://schemas.microsoft.com/office/drawing/2014/main" id="{1E0EC061-F2D5-4303-A09C-E8659675E141}"/>
              </a:ext>
            </a:extLst>
          </p:cNvPr>
          <p:cNvSpPr>
            <a:spLocks xmlns:a="http://schemas.openxmlformats.org/drawingml/2006/main" noGrp="1"/>
          </p:cNvSpPr>
          <p:nvPr/>
        </p:nvSpPr>
        <p:spPr>
          <a:xfrm xmlns:a="http://schemas.openxmlformats.org/drawingml/2006/main">
            <a:off x="962025" y="1352550"/>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1E2447"/>
                </a:solidFill>
                <a:latin typeface="Calibri"/>
                <a:ea typeface="Calibri"/>
                <a:cs typeface="Calibri"/>
              </a:defRPr>
            </a:pPr>
            <a:r>
              <a:rPr sz="1875" b="1">
                <a:solidFill>
                  <a:srgbClr val="1E2447"/>
                </a:solidFill>
                <a:latin typeface="Calibri"/>
                <a:ea typeface="Calibri"/>
                <a:cs typeface="Calibri"/>
              </a:rPr>
              <a:t>Over-evaluation</a:t>
            </a:r>
          </a:p>
        </p:txBody>
      </p:sp>
      <p:sp>
        <p:nvSpPr>
          <p:cNvPr id="7" name="text-6">
            <a:extLst xmlns:a="http://schemas.openxmlformats.org/drawingml/2006/main">
              <a:ext uri="{FF2B5EF4-FFF2-40B4-BE49-F238E27FC236}">
                <a16:creationId xmlns:a16="http://schemas.microsoft.com/office/drawing/2014/main" id="{C05D4F1A-112F-4127-B3FD-7DF4F546779F}"/>
              </a:ext>
            </a:extLst>
          </p:cNvPr>
          <p:cNvSpPr>
            <a:spLocks xmlns:a="http://schemas.openxmlformats.org/drawingml/2006/main" noGrp="1"/>
          </p:cNvSpPr>
          <p:nvPr/>
        </p:nvSpPr>
        <p:spPr>
          <a:xfrm xmlns:a="http://schemas.openxmlformats.org/drawingml/2006/main">
            <a:off x="962025" y="1695450"/>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303853"/>
                </a:solidFill>
                <a:latin typeface="Calibri"/>
                <a:ea typeface="Calibri"/>
                <a:cs typeface="Calibri"/>
              </a:defRPr>
            </a:pPr>
            <a:r>
              <a:rPr sz="1800" b="0">
                <a:solidFill>
                  <a:srgbClr val="303853"/>
                </a:solidFill>
                <a:latin typeface="Calibri"/>
                <a:ea typeface="Calibri"/>
                <a:cs typeface="Calibri"/>
              </a:rPr>
              <a:t>Assigning greater significance than essentiality warrants.</a:t>
            </a:r>
          </a:p>
        </p:txBody>
      </p:sp>
      <p:sp>
        <p:nvSpPr>
          <p:cNvPr id="8" name="text-7">
            <a:extLst xmlns:a="http://schemas.openxmlformats.org/drawingml/2006/main">
              <a:ext uri="{FF2B5EF4-FFF2-40B4-BE49-F238E27FC236}">
                <a16:creationId xmlns:a16="http://schemas.microsoft.com/office/drawing/2014/main" id="{7EABB62A-5494-4279-8766-E53C8AC4904C}"/>
              </a:ext>
            </a:extLst>
          </p:cNvPr>
          <p:cNvSpPr>
            <a:spLocks xmlns:a="http://schemas.openxmlformats.org/drawingml/2006/main" noGrp="1"/>
          </p:cNvSpPr>
          <p:nvPr/>
        </p:nvSpPr>
        <p:spPr>
          <a:xfrm xmlns:a="http://schemas.openxmlformats.org/drawingml/2006/main">
            <a:off x="962025" y="2257425"/>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1E2447"/>
                </a:solidFill>
                <a:latin typeface="Calibri"/>
                <a:ea typeface="Calibri"/>
                <a:cs typeface="Calibri"/>
              </a:defRPr>
            </a:pPr>
            <a:r>
              <a:rPr sz="1875" b="1">
                <a:solidFill>
                  <a:srgbClr val="1E2447"/>
                </a:solidFill>
                <a:latin typeface="Calibri"/>
                <a:ea typeface="Calibri"/>
                <a:cs typeface="Calibri"/>
              </a:rPr>
              <a:t>Under-evaluation</a:t>
            </a:r>
          </a:p>
        </p:txBody>
      </p:sp>
      <p:sp>
        <p:nvSpPr>
          <p:cNvPr id="9" name="text-8">
            <a:extLst xmlns:a="http://schemas.openxmlformats.org/drawingml/2006/main">
              <a:ext uri="{FF2B5EF4-FFF2-40B4-BE49-F238E27FC236}">
                <a16:creationId xmlns:a16="http://schemas.microsoft.com/office/drawing/2014/main" id="{0D71B3AD-AD8C-4597-9217-6D5531DD658A}"/>
              </a:ext>
            </a:extLst>
          </p:cNvPr>
          <p:cNvSpPr>
            <a:spLocks xmlns:a="http://schemas.openxmlformats.org/drawingml/2006/main" noGrp="1"/>
          </p:cNvSpPr>
          <p:nvPr/>
        </p:nvSpPr>
        <p:spPr>
          <a:xfrm xmlns:a="http://schemas.openxmlformats.org/drawingml/2006/main">
            <a:off x="962025" y="2600325"/>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303853"/>
                </a:solidFill>
                <a:latin typeface="Calibri"/>
                <a:ea typeface="Calibri"/>
                <a:cs typeface="Calibri"/>
              </a:defRPr>
            </a:pPr>
            <a:r>
              <a:rPr sz="1800" b="0">
                <a:solidFill>
                  <a:srgbClr val="303853"/>
                </a:solidFill>
                <a:latin typeface="Calibri"/>
                <a:ea typeface="Calibri"/>
                <a:cs typeface="Calibri"/>
              </a:rPr>
              <a:t>Assigning less significance than essentiality warrants.</a:t>
            </a:r>
          </a:p>
        </p:txBody>
      </p:sp>
      <p:sp>
        <p:nvSpPr>
          <p:cNvPr id="10" name="text-9">
            <a:extLst xmlns:a="http://schemas.openxmlformats.org/drawingml/2006/main">
              <a:ext uri="{FF2B5EF4-FFF2-40B4-BE49-F238E27FC236}">
                <a16:creationId xmlns:a16="http://schemas.microsoft.com/office/drawing/2014/main" id="{6EA2DF8D-025C-40BB-9853-AEC8AC4F61D7}"/>
              </a:ext>
            </a:extLst>
          </p:cNvPr>
          <p:cNvSpPr>
            <a:spLocks xmlns:a="http://schemas.openxmlformats.org/drawingml/2006/main" noGrp="1"/>
          </p:cNvSpPr>
          <p:nvPr/>
        </p:nvSpPr>
        <p:spPr>
          <a:xfrm xmlns:a="http://schemas.openxmlformats.org/drawingml/2006/main">
            <a:off x="962025" y="3162300"/>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1E2447"/>
                </a:solidFill>
                <a:latin typeface="Calibri"/>
                <a:ea typeface="Calibri"/>
                <a:cs typeface="Calibri"/>
              </a:defRPr>
            </a:pPr>
            <a:r>
              <a:rPr sz="1875" b="1">
                <a:solidFill>
                  <a:srgbClr val="1E2447"/>
                </a:solidFill>
                <a:latin typeface="Calibri"/>
                <a:ea typeface="Calibri"/>
                <a:cs typeface="Calibri"/>
              </a:rPr>
              <a:t>Mis-evaluation</a:t>
            </a:r>
          </a:p>
        </p:txBody>
      </p:sp>
      <p:sp>
        <p:nvSpPr>
          <p:cNvPr id="11" name="text-10">
            <a:extLst xmlns:a="http://schemas.openxmlformats.org/drawingml/2006/main">
              <a:ext uri="{FF2B5EF4-FFF2-40B4-BE49-F238E27FC236}">
                <a16:creationId xmlns:a16="http://schemas.microsoft.com/office/drawing/2014/main" id="{610BD62D-C4EA-40C3-B995-B42D572B3082}"/>
              </a:ext>
            </a:extLst>
          </p:cNvPr>
          <p:cNvSpPr>
            <a:spLocks xmlns:a="http://schemas.openxmlformats.org/drawingml/2006/main" noGrp="1"/>
          </p:cNvSpPr>
          <p:nvPr/>
        </p:nvSpPr>
        <p:spPr>
          <a:xfrm xmlns:a="http://schemas.openxmlformats.org/drawingml/2006/main">
            <a:off x="962025" y="3505200"/>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303853"/>
                </a:solidFill>
                <a:latin typeface="Calibri"/>
                <a:ea typeface="Calibri"/>
                <a:cs typeface="Calibri"/>
              </a:defRPr>
            </a:pPr>
            <a:r>
              <a:rPr sz="1800" b="0">
                <a:solidFill>
                  <a:srgbClr val="303853"/>
                </a:solidFill>
                <a:latin typeface="Calibri"/>
                <a:ea typeface="Calibri"/>
                <a:cs typeface="Calibri"/>
              </a:rPr>
              <a:t>Recognising something as other than what it is.</a:t>
            </a:r>
          </a:p>
        </p:txBody>
      </p:sp>
    </p:spTree>
    <p:extLst>
      <p:ext uri="{BB962C8B-B14F-4D97-AF65-F5344CB8AC3E}">
        <p14:creationId xmlns:p14="http://schemas.microsoft.com/office/powerpoint/2010/main" val="129879455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30107661-CB2D-4F53-B32B-307FB5D5DA2E}"/>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9A6414"/>
                </a:solidFill>
                <a:latin typeface="Calibri"/>
                <a:ea typeface="Calibri"/>
                <a:cs typeface="Calibri"/>
              </a:defRPr>
            </a:pPr>
            <a:r>
              <a:rPr sz="1050" b="1">
                <a:solidFill>
                  <a:srgbClr val="9A6414"/>
                </a:solidFill>
                <a:latin typeface="Calibri"/>
                <a:ea typeface="Calibri"/>
                <a:cs typeface="Calibri"/>
              </a:rPr>
              <a:t>WHAT GUIDES A RELATIONSHIP</a:t>
            </a:r>
          </a:p>
        </p:txBody>
      </p:sp>
      <p:sp>
        <p:nvSpPr>
          <p:cNvPr id="2" name="text-1">
            <a:extLst xmlns:a="http://schemas.openxmlformats.org/drawingml/2006/main">
              <a:ext uri="{FF2B5EF4-FFF2-40B4-BE49-F238E27FC236}">
                <a16:creationId xmlns:a16="http://schemas.microsoft.com/office/drawing/2014/main" id="{A16749CD-669B-470C-8D79-05CD190A5046}"/>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3000" b="1">
                <a:solidFill>
                  <a:srgbClr val="1E2447"/>
                </a:solidFill>
                <a:latin typeface="Cambria"/>
                <a:ea typeface="Cambria"/>
                <a:cs typeface="Cambria"/>
              </a:defRPr>
            </a:pPr>
            <a:r>
              <a:rPr sz="3000" b="1">
                <a:solidFill>
                  <a:srgbClr val="1E2447"/>
                </a:solidFill>
                <a:latin typeface="Cambria"/>
                <a:ea typeface="Cambria"/>
                <a:cs typeface="Cambria"/>
              </a:rPr>
              <a:t>Fear and temptation</a:t>
            </a:r>
          </a:p>
        </p:txBody>
      </p:sp>
      <p:sp>
        <p:nvSpPr>
          <p:cNvPr id="3" name="text-2">
            <a:extLst xmlns:a="http://schemas.openxmlformats.org/drawingml/2006/main">
              <a:ext uri="{FF2B5EF4-FFF2-40B4-BE49-F238E27FC236}">
                <a16:creationId xmlns:a16="http://schemas.microsoft.com/office/drawing/2014/main" id="{57383B7E-5372-4426-AE53-F4E0E202BAF8}"/>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F66C4741-E3DB-4339-B60D-CCD41FEFF5E0}"/>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50" b="0">
                <a:solidFill>
                  <a:srgbClr val="626C85"/>
                </a:solidFill>
                <a:latin typeface="Calibri"/>
                <a:ea typeface="Calibri"/>
                <a:cs typeface="Calibri"/>
              </a:defRPr>
            </a:pPr>
            <a:r>
              <a:rPr sz="950" b="0">
                <a:solidFill>
                  <a:srgbClr val="626C85"/>
                </a:solidFill>
                <a:latin typeface="Calibri"/>
                <a:ea typeface="Calibri"/>
                <a:cs typeface="Calibri"/>
              </a:rPr>
              <a:t>16 / 35</a:t>
            </a:r>
          </a:p>
        </p:txBody>
      </p:sp>
      <p:sp>
        <p:nvSpPr>
          <p:cNvPr id="5" name="text-4">
            <a:extLst xmlns:a="http://schemas.openxmlformats.org/drawingml/2006/main">
              <a:ext uri="{FF2B5EF4-FFF2-40B4-BE49-F238E27FC236}">
                <a16:creationId xmlns:a16="http://schemas.microsoft.com/office/drawing/2014/main" id="{C274DF74-1A48-4E51-9077-3AD47740C3DC}"/>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00" b="0" i="1">
                <a:solidFill>
                  <a:srgbClr val="9A6414"/>
                </a:solidFill>
                <a:latin typeface="Calibri"/>
                <a:ea typeface="Calibri"/>
                <a:cs typeface="Calibri"/>
              </a:defRPr>
            </a:pPr>
            <a:r>
              <a:rPr sz="1300" b="0" i="1">
                <a:solidFill>
                  <a:srgbClr val="9A6414"/>
                </a:solidFill>
                <a:latin typeface="Calibri"/>
                <a:ea typeface="Calibri"/>
                <a:cs typeface="Calibri"/>
              </a:rPr>
              <a:t>Madhyasth Darshan excludes fear and temptation as relationship values.</a:t>
            </a:r>
          </a:p>
        </p:txBody>
      </p:sp>
      <p:sp>
        <p:nvSpPr>
          <p:cNvPr id="6" name="text-5">
            <a:extLst xmlns:a="http://schemas.openxmlformats.org/drawingml/2006/main">
              <a:ext uri="{FF2B5EF4-FFF2-40B4-BE49-F238E27FC236}">
                <a16:creationId xmlns:a16="http://schemas.microsoft.com/office/drawing/2014/main" id="{87087713-374B-4BBF-83E0-A9282E6FA5C1}"/>
              </a:ext>
            </a:extLst>
          </p:cNvPr>
          <p:cNvSpPr>
            <a:spLocks xmlns:a="http://schemas.openxmlformats.org/drawingml/2006/main" noGrp="1"/>
          </p:cNvSpPr>
          <p:nvPr/>
        </p:nvSpPr>
        <p:spPr>
          <a:xfrm xmlns:a="http://schemas.openxmlformats.org/drawingml/2006/main">
            <a:off x="962025" y="1504950"/>
            <a:ext cx="352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1">
                <a:solidFill>
                  <a:srgbClr val="1E2447"/>
                </a:solidFill>
                <a:latin typeface="Cambria"/>
                <a:ea typeface="Cambria"/>
                <a:cs typeface="Cambria"/>
              </a:defRPr>
            </a:pPr>
            <a:r>
              <a:rPr sz="2325" b="1">
                <a:solidFill>
                  <a:srgbClr val="1E2447"/>
                </a:solidFill>
                <a:latin typeface="Cambria"/>
                <a:ea typeface="Cambria"/>
                <a:cs typeface="Cambria"/>
              </a:rPr>
              <a:t>Threatened harm</a:t>
            </a:r>
          </a:p>
        </p:txBody>
      </p:sp>
      <p:sp>
        <p:nvSpPr>
          <p:cNvPr id="7" name="text-6">
            <a:extLst xmlns:a="http://schemas.openxmlformats.org/drawingml/2006/main">
              <a:ext uri="{FF2B5EF4-FFF2-40B4-BE49-F238E27FC236}">
                <a16:creationId xmlns:a16="http://schemas.microsoft.com/office/drawing/2014/main" id="{E1150032-BA74-4CB4-A0E3-281BCD7D67EA}"/>
              </a:ext>
            </a:extLst>
          </p:cNvPr>
          <p:cNvSpPr>
            <a:spLocks xmlns:a="http://schemas.openxmlformats.org/drawingml/2006/main" noGrp="1"/>
          </p:cNvSpPr>
          <p:nvPr/>
        </p:nvSpPr>
        <p:spPr>
          <a:xfrm xmlns:a="http://schemas.openxmlformats.org/drawingml/2006/main">
            <a:off x="962025" y="2266950"/>
            <a:ext cx="3429000" cy="1962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303853"/>
                </a:solidFill>
                <a:latin typeface="Calibri"/>
                <a:ea typeface="Calibri"/>
                <a:cs typeface="Calibri"/>
              </a:defRPr>
            </a:pPr>
            <a:r>
              <a:rPr sz="1875" b="0">
                <a:solidFill>
                  <a:srgbClr val="303853"/>
                </a:solidFill>
                <a:latin typeface="Calibri"/>
                <a:ea typeface="Calibri"/>
                <a:cs typeface="Calibri"/>
              </a:rPr>
              <a:t>A person complies because they fear what another may do.</a:t>
            </a:r>
          </a:p>
        </p:txBody>
      </p:sp>
      <p:sp>
        <p:nvSpPr>
          <p:cNvPr id="8" name="text-7">
            <a:extLst xmlns:a="http://schemas.openxmlformats.org/drawingml/2006/main">
              <a:ext uri="{FF2B5EF4-FFF2-40B4-BE49-F238E27FC236}">
                <a16:creationId xmlns:a16="http://schemas.microsoft.com/office/drawing/2014/main" id="{F1D6049F-2CEB-41D2-82B9-409C708AA039}"/>
              </a:ext>
            </a:extLst>
          </p:cNvPr>
          <p:cNvSpPr>
            <a:spLocks xmlns:a="http://schemas.openxmlformats.org/drawingml/2006/main" noGrp="1"/>
          </p:cNvSpPr>
          <p:nvPr/>
        </p:nvSpPr>
        <p:spPr>
          <a:xfrm xmlns:a="http://schemas.openxmlformats.org/drawingml/2006/main">
            <a:off x="4962525" y="1504950"/>
            <a:ext cx="352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1">
                <a:solidFill>
                  <a:srgbClr val="1E2447"/>
                </a:solidFill>
                <a:latin typeface="Cambria"/>
                <a:ea typeface="Cambria"/>
                <a:cs typeface="Cambria"/>
              </a:defRPr>
            </a:pPr>
            <a:r>
              <a:rPr sz="2325" b="1">
                <a:solidFill>
                  <a:srgbClr val="1E2447"/>
                </a:solidFill>
                <a:latin typeface="Cambria"/>
                <a:ea typeface="Cambria"/>
                <a:cs typeface="Cambria"/>
              </a:rPr>
              <a:t>Promised acquisition</a:t>
            </a:r>
          </a:p>
        </p:txBody>
      </p:sp>
      <p:sp>
        <p:nvSpPr>
          <p:cNvPr id="9" name="text-8">
            <a:extLst xmlns:a="http://schemas.openxmlformats.org/drawingml/2006/main">
              <a:ext uri="{FF2B5EF4-FFF2-40B4-BE49-F238E27FC236}">
                <a16:creationId xmlns:a16="http://schemas.microsoft.com/office/drawing/2014/main" id="{B51E8C2E-1060-4BC3-B9D2-5C0CDAA15DCF}"/>
              </a:ext>
            </a:extLst>
          </p:cNvPr>
          <p:cNvSpPr>
            <a:spLocks xmlns:a="http://schemas.openxmlformats.org/drawingml/2006/main" noGrp="1"/>
          </p:cNvSpPr>
          <p:nvPr/>
        </p:nvSpPr>
        <p:spPr>
          <a:xfrm xmlns:a="http://schemas.openxmlformats.org/drawingml/2006/main">
            <a:off x="4962525" y="2266950"/>
            <a:ext cx="3429000" cy="1962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303853"/>
                </a:solidFill>
                <a:latin typeface="Calibri"/>
                <a:ea typeface="Calibri"/>
                <a:cs typeface="Calibri"/>
              </a:defRPr>
            </a:pPr>
            <a:r>
              <a:rPr sz="1875" b="0">
                <a:solidFill>
                  <a:srgbClr val="303853"/>
                </a:solidFill>
                <a:latin typeface="Calibri"/>
                <a:ea typeface="Calibri"/>
                <a:cs typeface="Calibri"/>
              </a:rPr>
              <a:t>A person participates to obtain the offered advantage.</a:t>
            </a:r>
          </a:p>
        </p:txBody>
      </p:sp>
    </p:spTree>
    <p:extLst>
      <p:ext uri="{BB962C8B-B14F-4D97-AF65-F5344CB8AC3E}">
        <p14:creationId xmlns:p14="http://schemas.microsoft.com/office/powerpoint/2010/main" val="180077097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text-0">
            <a:extLst xmlns:a="http://schemas.openxmlformats.org/drawingml/2006/main">
              <a:ext uri="{FF2B5EF4-FFF2-40B4-BE49-F238E27FC236}">
                <a16:creationId xmlns:a16="http://schemas.microsoft.com/office/drawing/2014/main" id="{051CF693-4BC6-486E-97B6-C8B0C7A4A277}"/>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9A6414"/>
                </a:solidFill>
                <a:latin typeface="Calibri"/>
                <a:ea typeface="Calibri"/>
                <a:cs typeface="Calibri"/>
              </a:defRPr>
            </a:pPr>
            <a:r>
              <a:rPr sz="1050" b="1">
                <a:solidFill>
                  <a:srgbClr val="9A6414"/>
                </a:solidFill>
                <a:latin typeface="Calibri"/>
                <a:ea typeface="Calibri"/>
                <a:cs typeface="Calibri"/>
              </a:rPr>
              <a:t>JEEVAN VALUES</a:t>
            </a:r>
          </a:p>
        </p:txBody>
      </p:sp>
      <p:sp>
        <p:nvSpPr>
          <p:cNvPr id="2" name="text-1">
            <a:extLst xmlns:a="http://schemas.openxmlformats.org/drawingml/2006/main">
              <a:ext uri="{FF2B5EF4-FFF2-40B4-BE49-F238E27FC236}">
                <a16:creationId xmlns:a16="http://schemas.microsoft.com/office/drawing/2014/main" id="{A1025C25-7830-440D-88B0-E7B9A7D01B75}"/>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3000" b="1">
                <a:solidFill>
                  <a:srgbClr val="1E2447"/>
                </a:solidFill>
                <a:latin typeface="Cambria"/>
                <a:ea typeface="Cambria"/>
                <a:cs typeface="Cambria"/>
              </a:defRPr>
            </a:pPr>
            <a:r>
              <a:rPr sz="3000" b="1">
                <a:solidFill>
                  <a:srgbClr val="1E2447"/>
                </a:solidFill>
                <a:latin typeface="Cambria"/>
                <a:ea typeface="Cambria"/>
                <a:cs typeface="Cambria"/>
              </a:rPr>
              <a:t>Four forms of inner harmony</a:t>
            </a:r>
          </a:p>
        </p:txBody>
      </p:sp>
      <p:sp>
        <p:nvSpPr>
          <p:cNvPr id="3" name="text-2">
            <a:extLst xmlns:a="http://schemas.openxmlformats.org/drawingml/2006/main">
              <a:ext uri="{FF2B5EF4-FFF2-40B4-BE49-F238E27FC236}">
                <a16:creationId xmlns:a16="http://schemas.microsoft.com/office/drawing/2014/main" id="{8F03ADC2-1930-4CB8-B6F1-DE25301D36A4}"/>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FF30F8F8-5031-45D7-881A-691A91789DF9}"/>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50" b="0">
                <a:solidFill>
                  <a:srgbClr val="626C85"/>
                </a:solidFill>
                <a:latin typeface="Calibri"/>
                <a:ea typeface="Calibri"/>
                <a:cs typeface="Calibri"/>
              </a:defRPr>
            </a:pPr>
            <a:r>
              <a:rPr sz="950" b="0">
                <a:solidFill>
                  <a:srgbClr val="626C85"/>
                </a:solidFill>
                <a:latin typeface="Calibri"/>
                <a:ea typeface="Calibri"/>
                <a:cs typeface="Calibri"/>
              </a:rPr>
              <a:t>17 / 35</a:t>
            </a:r>
          </a:p>
        </p:txBody>
      </p:sp>
      <p:sp>
        <p:nvSpPr>
          <p:cNvPr id="5" name="text-4">
            <a:extLst xmlns:a="http://schemas.openxmlformats.org/drawingml/2006/main">
              <a:ext uri="{FF2B5EF4-FFF2-40B4-BE49-F238E27FC236}">
                <a16:creationId xmlns:a16="http://schemas.microsoft.com/office/drawing/2014/main" id="{0EC121EB-EEAA-42EC-8E48-4B0E4CCF6C8F}"/>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00" b="0" i="1">
                <a:solidFill>
                  <a:srgbClr val="9A6414"/>
                </a:solidFill>
                <a:latin typeface="Calibri"/>
                <a:ea typeface="Calibri"/>
                <a:cs typeface="Calibri"/>
              </a:defRPr>
            </a:pPr>
            <a:r>
              <a:rPr sz="1300" b="0" i="1">
                <a:solidFill>
                  <a:srgbClr val="9A6414"/>
                </a:solidFill>
                <a:latin typeface="Calibri"/>
                <a:ea typeface="Calibri"/>
                <a:cs typeface="Calibri"/>
              </a:rPr>
              <a:t>Their fulfilment also has a definite expression in living.</a:t>
            </a:r>
          </a:p>
        </p:txBody>
      </p:sp>
      <p:sp>
        <p:nvSpPr>
          <p:cNvPr id="6" name="text-5">
            <a:extLst xmlns:a="http://schemas.openxmlformats.org/drawingml/2006/main">
              <a:ext uri="{FF2B5EF4-FFF2-40B4-BE49-F238E27FC236}">
                <a16:creationId xmlns:a16="http://schemas.microsoft.com/office/drawing/2014/main" id="{7270807F-A474-44AC-A197-672A9C6B311D}"/>
              </a:ext>
            </a:extLst>
          </p:cNvPr>
          <p:cNvSpPr>
            <a:spLocks xmlns:a="http://schemas.openxmlformats.org/drawingml/2006/main" noGrp="1"/>
          </p:cNvSpPr>
          <p:nvPr/>
        </p:nvSpPr>
        <p:spPr>
          <a:xfrm xmlns:a="http://schemas.openxmlformats.org/drawingml/2006/main">
            <a:off x="962025" y="1428750"/>
            <a:ext cx="35242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1">
                <a:solidFill>
                  <a:srgbClr val="1E2447"/>
                </a:solidFill>
                <a:latin typeface="Cambria"/>
                <a:ea typeface="Cambria"/>
                <a:cs typeface="Cambria"/>
              </a:defRPr>
            </a:pPr>
            <a:r>
              <a:rPr sz="2700" b="1">
                <a:solidFill>
                  <a:srgbClr val="1E2447"/>
                </a:solidFill>
                <a:latin typeface="Cambria"/>
                <a:ea typeface="Cambria"/>
                <a:cs typeface="Cambria"/>
              </a:rPr>
              <a:t>Happiness</a:t>
            </a:r>
          </a:p>
        </p:txBody>
      </p:sp>
      <p:sp>
        <p:nvSpPr>
          <p:cNvPr id="7" name="text-6">
            <a:extLst xmlns:a="http://schemas.openxmlformats.org/drawingml/2006/main">
              <a:ext uri="{FF2B5EF4-FFF2-40B4-BE49-F238E27FC236}">
                <a16:creationId xmlns:a16="http://schemas.microsoft.com/office/drawing/2014/main" id="{7853AAB6-D8BE-49D9-8238-19F062A7979D}"/>
              </a:ext>
            </a:extLst>
          </p:cNvPr>
          <p:cNvSpPr>
            <a:spLocks xmlns:a="http://schemas.openxmlformats.org/drawingml/2006/main" noGrp="1"/>
          </p:cNvSpPr>
          <p:nvPr/>
        </p:nvSpPr>
        <p:spPr>
          <a:xfrm xmlns:a="http://schemas.openxmlformats.org/drawingml/2006/main">
            <a:off x="962025" y="1924050"/>
            <a:ext cx="352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i="1">
                <a:solidFill>
                  <a:srgbClr val="9A6414"/>
                </a:solidFill>
                <a:latin typeface="Calibri"/>
                <a:ea typeface="Calibri"/>
                <a:cs typeface="Calibri"/>
              </a:defRPr>
            </a:pPr>
            <a:r>
              <a:rPr sz="1800" b="0" i="1">
                <a:solidFill>
                  <a:srgbClr val="9A6414"/>
                </a:solidFill>
                <a:latin typeface="Calibri"/>
                <a:ea typeface="Calibri"/>
                <a:cs typeface="Calibri"/>
              </a:rPr>
              <a:t>sukh</a:t>
            </a:r>
          </a:p>
        </p:txBody>
      </p:sp>
      <p:sp>
        <p:nvSpPr>
          <p:cNvPr id="8" name="text-7">
            <a:extLst xmlns:a="http://schemas.openxmlformats.org/drawingml/2006/main">
              <a:ext uri="{FF2B5EF4-FFF2-40B4-BE49-F238E27FC236}">
                <a16:creationId xmlns:a16="http://schemas.microsoft.com/office/drawing/2014/main" id="{C5CD8B89-AFDB-4643-A7A9-EA1990C5FB63}"/>
              </a:ext>
            </a:extLst>
          </p:cNvPr>
          <p:cNvSpPr>
            <a:spLocks xmlns:a="http://schemas.openxmlformats.org/drawingml/2006/main" noGrp="1"/>
          </p:cNvSpPr>
          <p:nvPr/>
        </p:nvSpPr>
        <p:spPr>
          <a:xfrm xmlns:a="http://schemas.openxmlformats.org/drawingml/2006/main">
            <a:off x="4905375" y="1428750"/>
            <a:ext cx="35242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1">
                <a:solidFill>
                  <a:srgbClr val="1E2447"/>
                </a:solidFill>
                <a:latin typeface="Cambria"/>
                <a:ea typeface="Cambria"/>
                <a:cs typeface="Cambria"/>
              </a:defRPr>
            </a:pPr>
            <a:r>
              <a:rPr sz="2700" b="1">
                <a:solidFill>
                  <a:srgbClr val="1E2447"/>
                </a:solidFill>
                <a:latin typeface="Cambria"/>
                <a:ea typeface="Cambria"/>
                <a:cs typeface="Cambria"/>
              </a:rPr>
              <a:t>Peace</a:t>
            </a:r>
          </a:p>
        </p:txBody>
      </p:sp>
      <p:sp>
        <p:nvSpPr>
          <p:cNvPr id="9" name="text-8">
            <a:extLst xmlns:a="http://schemas.openxmlformats.org/drawingml/2006/main">
              <a:ext uri="{FF2B5EF4-FFF2-40B4-BE49-F238E27FC236}">
                <a16:creationId xmlns:a16="http://schemas.microsoft.com/office/drawing/2014/main" id="{6BF1A54A-CD61-4FD8-AACD-CE5B5D45B1F9}"/>
              </a:ext>
            </a:extLst>
          </p:cNvPr>
          <p:cNvSpPr>
            <a:spLocks xmlns:a="http://schemas.openxmlformats.org/drawingml/2006/main" noGrp="1"/>
          </p:cNvSpPr>
          <p:nvPr/>
        </p:nvSpPr>
        <p:spPr>
          <a:xfrm xmlns:a="http://schemas.openxmlformats.org/drawingml/2006/main">
            <a:off x="4905375" y="1924050"/>
            <a:ext cx="352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i="1">
                <a:solidFill>
                  <a:srgbClr val="9A6414"/>
                </a:solidFill>
                <a:latin typeface="Calibri"/>
                <a:ea typeface="Calibri"/>
                <a:cs typeface="Calibri"/>
              </a:defRPr>
            </a:pPr>
            <a:r>
              <a:rPr sz="1800" b="0" i="1">
                <a:solidFill>
                  <a:srgbClr val="9A6414"/>
                </a:solidFill>
                <a:latin typeface="Calibri"/>
                <a:ea typeface="Calibri"/>
                <a:cs typeface="Calibri"/>
              </a:rPr>
              <a:t>shanti</a:t>
            </a:r>
          </a:p>
        </p:txBody>
      </p:sp>
      <p:sp>
        <p:nvSpPr>
          <p:cNvPr id="10" name="text-9">
            <a:extLst xmlns:a="http://schemas.openxmlformats.org/drawingml/2006/main">
              <a:ext uri="{FF2B5EF4-FFF2-40B4-BE49-F238E27FC236}">
                <a16:creationId xmlns:a16="http://schemas.microsoft.com/office/drawing/2014/main" id="{24454A65-F713-475E-B709-8EC10FD08442}"/>
              </a:ext>
            </a:extLst>
          </p:cNvPr>
          <p:cNvSpPr>
            <a:spLocks xmlns:a="http://schemas.openxmlformats.org/drawingml/2006/main" noGrp="1"/>
          </p:cNvSpPr>
          <p:nvPr/>
        </p:nvSpPr>
        <p:spPr>
          <a:xfrm xmlns:a="http://schemas.openxmlformats.org/drawingml/2006/main">
            <a:off x="962025" y="2447925"/>
            <a:ext cx="35242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1">
                <a:solidFill>
                  <a:srgbClr val="1E2447"/>
                </a:solidFill>
                <a:latin typeface="Cambria"/>
                <a:ea typeface="Cambria"/>
                <a:cs typeface="Cambria"/>
              </a:defRPr>
            </a:pPr>
            <a:r>
              <a:rPr sz="2700" b="1">
                <a:solidFill>
                  <a:srgbClr val="1E2447"/>
                </a:solidFill>
                <a:latin typeface="Cambria"/>
                <a:ea typeface="Cambria"/>
                <a:cs typeface="Cambria"/>
              </a:rPr>
              <a:t>Contentment</a:t>
            </a:r>
          </a:p>
        </p:txBody>
      </p:sp>
      <p:sp>
        <p:nvSpPr>
          <p:cNvPr id="11" name="text-10">
            <a:extLst xmlns:a="http://schemas.openxmlformats.org/drawingml/2006/main">
              <a:ext uri="{FF2B5EF4-FFF2-40B4-BE49-F238E27FC236}">
                <a16:creationId xmlns:a16="http://schemas.microsoft.com/office/drawing/2014/main" id="{2B458A98-E4D1-47BA-B754-67C6B8BF34C8}"/>
              </a:ext>
            </a:extLst>
          </p:cNvPr>
          <p:cNvSpPr>
            <a:spLocks xmlns:a="http://schemas.openxmlformats.org/drawingml/2006/main" noGrp="1"/>
          </p:cNvSpPr>
          <p:nvPr/>
        </p:nvSpPr>
        <p:spPr>
          <a:xfrm xmlns:a="http://schemas.openxmlformats.org/drawingml/2006/main">
            <a:off x="962025" y="2943225"/>
            <a:ext cx="352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i="1">
                <a:solidFill>
                  <a:srgbClr val="9A6414"/>
                </a:solidFill>
                <a:latin typeface="Calibri"/>
                <a:ea typeface="Calibri"/>
                <a:cs typeface="Calibri"/>
              </a:defRPr>
            </a:pPr>
            <a:r>
              <a:rPr sz="1800" b="0" i="1">
                <a:solidFill>
                  <a:srgbClr val="9A6414"/>
                </a:solidFill>
                <a:latin typeface="Calibri"/>
                <a:ea typeface="Calibri"/>
                <a:cs typeface="Calibri"/>
              </a:rPr>
              <a:t>santosh</a:t>
            </a:r>
          </a:p>
        </p:txBody>
      </p:sp>
      <p:sp>
        <p:nvSpPr>
          <p:cNvPr id="12" name="text-11">
            <a:extLst xmlns:a="http://schemas.openxmlformats.org/drawingml/2006/main">
              <a:ext uri="{FF2B5EF4-FFF2-40B4-BE49-F238E27FC236}">
                <a16:creationId xmlns:a16="http://schemas.microsoft.com/office/drawing/2014/main" id="{961840FB-ECD5-4281-AE28-3DB082CDAE99}"/>
              </a:ext>
            </a:extLst>
          </p:cNvPr>
          <p:cNvSpPr>
            <a:spLocks xmlns:a="http://schemas.openxmlformats.org/drawingml/2006/main" noGrp="1"/>
          </p:cNvSpPr>
          <p:nvPr/>
        </p:nvSpPr>
        <p:spPr>
          <a:xfrm xmlns:a="http://schemas.openxmlformats.org/drawingml/2006/main">
            <a:off x="4905375" y="2447925"/>
            <a:ext cx="35242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1">
                <a:solidFill>
                  <a:srgbClr val="1E2447"/>
                </a:solidFill>
                <a:latin typeface="Cambria"/>
                <a:ea typeface="Cambria"/>
                <a:cs typeface="Cambria"/>
              </a:defRPr>
            </a:pPr>
            <a:r>
              <a:rPr sz="2700" b="1">
                <a:solidFill>
                  <a:srgbClr val="1E2447"/>
                </a:solidFill>
                <a:latin typeface="Cambria"/>
                <a:ea typeface="Cambria"/>
                <a:cs typeface="Cambria"/>
              </a:rPr>
              <a:t>Bliss</a:t>
            </a:r>
          </a:p>
        </p:txBody>
      </p:sp>
      <p:sp>
        <p:nvSpPr>
          <p:cNvPr id="13" name="text-12">
            <a:extLst xmlns:a="http://schemas.openxmlformats.org/drawingml/2006/main">
              <a:ext uri="{FF2B5EF4-FFF2-40B4-BE49-F238E27FC236}">
                <a16:creationId xmlns:a16="http://schemas.microsoft.com/office/drawing/2014/main" id="{533C58BB-FE17-4353-8E33-CA46D37573BD}"/>
              </a:ext>
            </a:extLst>
          </p:cNvPr>
          <p:cNvSpPr>
            <a:spLocks xmlns:a="http://schemas.openxmlformats.org/drawingml/2006/main" noGrp="1"/>
          </p:cNvSpPr>
          <p:nvPr/>
        </p:nvSpPr>
        <p:spPr>
          <a:xfrm xmlns:a="http://schemas.openxmlformats.org/drawingml/2006/main">
            <a:off x="4905375" y="2943225"/>
            <a:ext cx="352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i="1">
                <a:solidFill>
                  <a:srgbClr val="9A6414"/>
                </a:solidFill>
                <a:latin typeface="Calibri"/>
                <a:ea typeface="Calibri"/>
                <a:cs typeface="Calibri"/>
              </a:defRPr>
            </a:pPr>
            <a:r>
              <a:rPr sz="1800" b="0" i="1">
                <a:solidFill>
                  <a:srgbClr val="9A6414"/>
                </a:solidFill>
                <a:latin typeface="Calibri"/>
                <a:ea typeface="Calibri"/>
                <a:cs typeface="Calibri"/>
              </a:rPr>
              <a:t>anand</a:t>
            </a:r>
          </a:p>
        </p:txBody>
      </p:sp>
      <p:sp>
        <p:nvSpPr>
          <p:cNvPr id="14" name="text-13">
            <a:extLst xmlns:a="http://schemas.openxmlformats.org/drawingml/2006/main">
              <a:ext uri="{FF2B5EF4-FFF2-40B4-BE49-F238E27FC236}">
                <a16:creationId xmlns:a16="http://schemas.microsoft.com/office/drawing/2014/main" id="{B4F518C0-E7C7-4B8A-8B29-C3CBB5C7EE85}"/>
              </a:ext>
            </a:extLst>
          </p:cNvPr>
          <p:cNvSpPr>
            <a:spLocks xmlns:a="http://schemas.openxmlformats.org/drawingml/2006/main" noGrp="1"/>
          </p:cNvSpPr>
          <p:nvPr/>
        </p:nvSpPr>
        <p:spPr>
          <a:xfrm xmlns:a="http://schemas.openxmlformats.org/drawingml/2006/main">
            <a:off x="962025" y="3810000"/>
            <a:ext cx="7524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303853"/>
                </a:solidFill>
                <a:latin typeface="Calibri"/>
                <a:ea typeface="Calibri"/>
                <a:cs typeface="Calibri"/>
              </a:defRPr>
            </a:pPr>
            <a:r>
              <a:rPr sz="2025" b="0">
                <a:solidFill>
                  <a:srgbClr val="303853"/>
                </a:solidFill>
                <a:latin typeface="Calibri"/>
                <a:ea typeface="Calibri"/>
                <a:cs typeface="Calibri"/>
              </a:rPr>
              <a:t>Each names harmony between activities of jeevan.</a:t>
            </a:r>
          </a:p>
        </p:txBody>
      </p:sp>
    </p:spTree>
    <p:extLst>
      <p:ext uri="{BB962C8B-B14F-4D97-AF65-F5344CB8AC3E}">
        <p14:creationId xmlns:p14="http://schemas.microsoft.com/office/powerpoint/2010/main" val="710754842"/>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2D44C03D-69D8-4C78-8336-C5356C337AA4}"/>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9A6414"/>
                </a:solidFill>
                <a:latin typeface="Calibri"/>
                <a:ea typeface="Calibri"/>
                <a:cs typeface="Calibri"/>
              </a:defRPr>
            </a:pPr>
            <a:r>
              <a:rPr sz="1050" b="1">
                <a:solidFill>
                  <a:srgbClr val="9A6414"/>
                </a:solidFill>
                <a:latin typeface="Calibri"/>
                <a:ea typeface="Calibri"/>
                <a:cs typeface="Calibri"/>
              </a:rPr>
              <a:t>FULFILMENT IN LIVING</a:t>
            </a:r>
          </a:p>
        </p:txBody>
      </p:sp>
      <p:sp>
        <p:nvSpPr>
          <p:cNvPr id="2" name="text-1">
            <a:extLst xmlns:a="http://schemas.openxmlformats.org/drawingml/2006/main">
              <a:ext uri="{FF2B5EF4-FFF2-40B4-BE49-F238E27FC236}">
                <a16:creationId xmlns:a16="http://schemas.microsoft.com/office/drawing/2014/main" id="{687F934B-4C56-40EA-A53B-A0046799792C}"/>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3000" b="1">
                <a:solidFill>
                  <a:srgbClr val="1E2447"/>
                </a:solidFill>
                <a:latin typeface="Cambria"/>
                <a:ea typeface="Cambria"/>
                <a:cs typeface="Cambria"/>
              </a:defRPr>
            </a:pPr>
            <a:r>
              <a:rPr sz="3000" b="1">
                <a:solidFill>
                  <a:srgbClr val="1E2447"/>
                </a:solidFill>
                <a:latin typeface="Cambria"/>
                <a:ea typeface="Cambria"/>
                <a:cs typeface="Cambria"/>
              </a:rPr>
              <a:t>The fulfilment is cumulative</a:t>
            </a:r>
          </a:p>
        </p:txBody>
      </p:sp>
      <p:sp>
        <p:nvSpPr>
          <p:cNvPr id="3" name="text-2">
            <a:extLst xmlns:a="http://schemas.openxmlformats.org/drawingml/2006/main">
              <a:ext uri="{FF2B5EF4-FFF2-40B4-BE49-F238E27FC236}">
                <a16:creationId xmlns:a16="http://schemas.microsoft.com/office/drawing/2014/main" id="{4E8AFE67-E612-437C-B1F4-71FF4ACC0E2D}"/>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511B2EBE-7C45-42DF-95EC-D16F56C3C4C2}"/>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50" b="0">
                <a:solidFill>
                  <a:srgbClr val="626C85"/>
                </a:solidFill>
                <a:latin typeface="Calibri"/>
                <a:ea typeface="Calibri"/>
                <a:cs typeface="Calibri"/>
              </a:defRPr>
            </a:pPr>
            <a:r>
              <a:rPr sz="950" b="0">
                <a:solidFill>
                  <a:srgbClr val="626C85"/>
                </a:solidFill>
                <a:latin typeface="Calibri"/>
                <a:ea typeface="Calibri"/>
                <a:cs typeface="Calibri"/>
              </a:rPr>
              <a:t>18 / 35</a:t>
            </a:r>
          </a:p>
        </p:txBody>
      </p:sp>
      <p:sp>
        <p:nvSpPr>
          <p:cNvPr id="5" name="text-4">
            <a:extLst xmlns:a="http://schemas.openxmlformats.org/drawingml/2006/main">
              <a:ext uri="{FF2B5EF4-FFF2-40B4-BE49-F238E27FC236}">
                <a16:creationId xmlns:a16="http://schemas.microsoft.com/office/drawing/2014/main" id="{6FB8D8BC-DF44-4288-A3F1-CDAD85966A08}"/>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00" b="0" i="1">
                <a:solidFill>
                  <a:srgbClr val="9A6414"/>
                </a:solidFill>
                <a:latin typeface="Calibri"/>
                <a:ea typeface="Calibri"/>
                <a:cs typeface="Calibri"/>
              </a:defRPr>
            </a:pPr>
            <a:r>
              <a:rPr sz="1300" b="0" i="1">
                <a:solidFill>
                  <a:srgbClr val="9A6414"/>
                </a:solidFill>
                <a:latin typeface="Calibri"/>
                <a:ea typeface="Calibri"/>
                <a:cs typeface="Calibri"/>
              </a:rPr>
              <a:t>The rows retain the earlier terms as fulfilment becomes more comprehensive.</a:t>
            </a:r>
          </a:p>
        </p:txBody>
      </p:sp>
      <p:graphicFrame>
        <p:nvGraphicFramePr>
          <p:cNvPr id="12" name=""/>
          <p:cNvGraphicFramePr/>
          <p:nvPr/>
        </p:nvGraphicFramePr>
        <p:xfrm>
          <a:off xmlns:a="http://schemas.openxmlformats.org/drawingml/2006/main" x="962025" y="1362075"/>
          <a:ext xmlns:a="http://schemas.openxmlformats.org/drawingml/2006/main" cx="7391400" cy="2857500"/>
        </p:xfrm>
        <a:graphic xmlns:a="http://schemas.openxmlformats.org/drawingml/2006/main">
          <a:graphicData uri="http://schemas.openxmlformats.org/drawingml/2006/table">
            <a:tbl>
              <a:tblPr firstRow="1" bandRow="0"/>
              <a:tblGrid>
                <a:gridCol w="2095500"/>
                <a:gridCol w="5295900"/>
              </a:tblGrid>
              <a:tr h="495300">
                <a:tc>
                  <a:txBody>
                    <a:bodyPr lIns="123825" tIns="57150" rIns="95250" bIns="57150">
                      <a:noAutofit/>
                    </a:bodyPr>
                    <a:lstStyle/>
                    <a:p>
                      <a:r>
                        <a:rPr sz="1600" b="1">
                          <a:solidFill>
                            <a:srgbClr val="FFFFFF"/>
                          </a:solidFill>
                          <a:latin typeface="Calibri"/>
                          <a:ea typeface="Calibri"/>
                          <a:cs typeface="Calibri"/>
                        </a:rPr>
                        <a:t>Jeevan value</a:t>
                      </a:r>
                    </a:p>
                  </a:txBody>
                  <a:tcPr marL="91440" marR="91440" marT="45720" marB="45720" anchor="ctr">
                    <a:solidFill>
                      <a:srgbClr val="1E2447"/>
                    </a:solidFill>
                  </a:tcPr>
                </a:tc>
                <a:tc>
                  <a:txBody>
                    <a:bodyPr lIns="123825" tIns="57150" rIns="95250" bIns="57150">
                      <a:noAutofit/>
                    </a:bodyPr>
                    <a:lstStyle/>
                    <a:p>
                      <a:r>
                        <a:rPr sz="1600" b="1">
                          <a:solidFill>
                            <a:srgbClr val="FFFFFF"/>
                          </a:solidFill>
                          <a:latin typeface="Calibri"/>
                          <a:ea typeface="Calibri"/>
                          <a:cs typeface="Calibri"/>
                        </a:rPr>
                        <a:t>Cumulative fulfilment</a:t>
                      </a:r>
                    </a:p>
                  </a:txBody>
                  <a:tcPr marL="91440" marR="91440" marT="45720" marB="45720" anchor="ctr">
                    <a:solidFill>
                      <a:srgbClr val="1E2447"/>
                    </a:solidFill>
                  </a:tcPr>
                </a:tc>
              </a:tr>
              <a:tr h="590550">
                <a:tc>
                  <a:txBody>
                    <a:bodyPr lIns="123825" tIns="57150" rIns="95250" bIns="57150">
                      <a:noAutofit/>
                    </a:bodyPr>
                    <a:lstStyle/>
                    <a:p>
                      <a:r>
                        <a:rPr sz="1725" b="0">
                          <a:solidFill>
                            <a:srgbClr val="303853"/>
                          </a:solidFill>
                          <a:latin typeface="Calibri"/>
                          <a:ea typeface="Calibri"/>
                          <a:cs typeface="Calibri"/>
                        </a:rPr>
                        <a:t>Happiness</a:t>
                      </a:r>
                    </a:p>
                  </a:txBody>
                  <a:tcPr marL="91440" marR="91440" marT="45720" marB="45720" anchor="ctr">
                    <a:solidFill>
                      <a:srgbClr val="FFFFFF"/>
                    </a:solidFill>
                  </a:tcPr>
                </a:tc>
                <a:tc>
                  <a:txBody>
                    <a:bodyPr lIns="123825" tIns="57150" rIns="95250" bIns="57150">
                      <a:noAutofit/>
                    </a:bodyPr>
                    <a:lstStyle/>
                    <a:p>
                      <a:r>
                        <a:rPr sz="1725" b="0">
                          <a:solidFill>
                            <a:srgbClr val="303853"/>
                          </a:solidFill>
                          <a:latin typeface="Calibri"/>
                          <a:ea typeface="Calibri"/>
                          <a:cs typeface="Calibri"/>
                        </a:rPr>
                        <a:t>Resolution</a:t>
                      </a:r>
                    </a:p>
                  </a:txBody>
                  <a:tcPr marL="91440" marR="91440" marT="45720" marB="45720" anchor="ctr">
                    <a:solidFill>
                      <a:srgbClr val="FFFFFF"/>
                    </a:solidFill>
                  </a:tcPr>
                </a:tc>
              </a:tr>
              <a:tr h="590550">
                <a:tc>
                  <a:txBody>
                    <a:bodyPr lIns="123825" tIns="57150" rIns="95250" bIns="57150">
                      <a:noAutofit/>
                    </a:bodyPr>
                    <a:lstStyle/>
                    <a:p>
                      <a:r>
                        <a:rPr sz="1725" b="0">
                          <a:solidFill>
                            <a:srgbClr val="303853"/>
                          </a:solidFill>
                          <a:latin typeface="Calibri"/>
                          <a:ea typeface="Calibri"/>
                          <a:cs typeface="Calibri"/>
                        </a:rPr>
                        <a:t>Peace</a:t>
                      </a:r>
                    </a:p>
                  </a:txBody>
                  <a:tcPr marL="91440" marR="91440" marT="45720" marB="45720" anchor="ctr">
                    <a:solidFill>
                      <a:srgbClr val="F1F3F8"/>
                    </a:solidFill>
                  </a:tcPr>
                </a:tc>
                <a:tc>
                  <a:txBody>
                    <a:bodyPr lIns="123825" tIns="57150" rIns="95250" bIns="57150">
                      <a:noAutofit/>
                    </a:bodyPr>
                    <a:lstStyle/>
                    <a:p>
                      <a:r>
                        <a:rPr sz="1725" b="0">
                          <a:solidFill>
                            <a:srgbClr val="303853"/>
                          </a:solidFill>
                          <a:latin typeface="Calibri"/>
                          <a:ea typeface="Calibri"/>
                          <a:cs typeface="Calibri"/>
                        </a:rPr>
                        <a:t>Resolution and prosperity</a:t>
                      </a:r>
                    </a:p>
                  </a:txBody>
                  <a:tcPr marL="91440" marR="91440" marT="45720" marB="45720" anchor="ctr">
                    <a:solidFill>
                      <a:srgbClr val="F1F3F8"/>
                    </a:solidFill>
                  </a:tcPr>
                </a:tc>
              </a:tr>
              <a:tr h="590550">
                <a:tc>
                  <a:txBody>
                    <a:bodyPr lIns="123825" tIns="57150" rIns="95250" bIns="57150">
                      <a:noAutofit/>
                    </a:bodyPr>
                    <a:lstStyle/>
                    <a:p>
                      <a:r>
                        <a:rPr sz="1725" b="0">
                          <a:solidFill>
                            <a:srgbClr val="303853"/>
                          </a:solidFill>
                          <a:latin typeface="Calibri"/>
                          <a:ea typeface="Calibri"/>
                          <a:cs typeface="Calibri"/>
                        </a:rPr>
                        <a:t>Contentment</a:t>
                      </a:r>
                    </a:p>
                  </a:txBody>
                  <a:tcPr marL="91440" marR="91440" marT="45720" marB="45720" anchor="ctr">
                    <a:solidFill>
                      <a:srgbClr val="FFFFFF"/>
                    </a:solidFill>
                  </a:tcPr>
                </a:tc>
                <a:tc>
                  <a:txBody>
                    <a:bodyPr lIns="123825" tIns="57150" rIns="95250" bIns="57150">
                      <a:noAutofit/>
                    </a:bodyPr>
                    <a:lstStyle/>
                    <a:p>
                      <a:r>
                        <a:rPr sz="1725" b="0">
                          <a:solidFill>
                            <a:srgbClr val="303853"/>
                          </a:solidFill>
                          <a:latin typeface="Calibri"/>
                          <a:ea typeface="Calibri"/>
                          <a:cs typeface="Calibri"/>
                        </a:rPr>
                        <a:t>Resolution, prosperity, and fearlessness</a:t>
                      </a:r>
                    </a:p>
                  </a:txBody>
                  <a:tcPr marL="91440" marR="91440" marT="45720" marB="45720" anchor="ctr">
                    <a:solidFill>
                      <a:srgbClr val="FFFFFF"/>
                    </a:solidFill>
                  </a:tcPr>
                </a:tc>
              </a:tr>
              <a:tr h="590550">
                <a:tc>
                  <a:txBody>
                    <a:bodyPr lIns="123825" tIns="57150" rIns="95250" bIns="57150">
                      <a:noAutofit/>
                    </a:bodyPr>
                    <a:lstStyle/>
                    <a:p>
                      <a:r>
                        <a:rPr sz="1725" b="0">
                          <a:solidFill>
                            <a:srgbClr val="303853"/>
                          </a:solidFill>
                          <a:latin typeface="Calibri"/>
                          <a:ea typeface="Calibri"/>
                          <a:cs typeface="Calibri"/>
                        </a:rPr>
                        <a:t>Bliss</a:t>
                      </a:r>
                    </a:p>
                  </a:txBody>
                  <a:tcPr marL="91440" marR="91440" marT="45720" marB="45720" anchor="ctr">
                    <a:solidFill>
                      <a:srgbClr val="F1F3F8"/>
                    </a:solidFill>
                  </a:tcPr>
                </a:tc>
                <a:tc>
                  <a:txBody>
                    <a:bodyPr lIns="123825" tIns="57150" rIns="95250" bIns="57150">
                      <a:noAutofit/>
                    </a:bodyPr>
                    <a:lstStyle/>
                    <a:p>
                      <a:r>
                        <a:rPr sz="1725" b="0">
                          <a:solidFill>
                            <a:srgbClr val="303853"/>
                          </a:solidFill>
                          <a:latin typeface="Calibri"/>
                          <a:ea typeface="Calibri"/>
                          <a:cs typeface="Calibri"/>
                        </a:rPr>
                        <a:t>Resolution, prosperity, fearlessness,</a:t>
                      </a:r>
                    </a:p>
                    <a:p>
                      <a:r>
                        <a:rPr sz="1725" b="0">
                          <a:solidFill>
                            <a:srgbClr val="303853"/>
                          </a:solidFill>
                          <a:latin typeface="Calibri"/>
                          <a:ea typeface="Calibri"/>
                          <a:cs typeface="Calibri"/>
                        </a:rPr>
                        <a:t>and coexistence</a:t>
                      </a:r>
                    </a:p>
                  </a:txBody>
                  <a:tcPr marL="91440" marR="91440" marT="45720" marB="45720" anchor="ctr">
                    <a:solidFill>
                      <a:srgbClr val="F1F3F8"/>
                    </a:solidFill>
                  </a:tcPr>
                </a:tc>
              </a:tr>
            </a:tbl>
          </a:graphicData>
        </a:graphic>
      </p:graphicFrame>
    </p:spTree>
    <p:extLst>
      <p:ext uri="{BB962C8B-B14F-4D97-AF65-F5344CB8AC3E}">
        <p14:creationId xmlns:p14="http://schemas.microsoft.com/office/powerpoint/2010/main" val="310943142"/>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537D8B61-709A-48BB-81E3-28E2A75D8A94}"/>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9A6414"/>
                </a:solidFill>
                <a:latin typeface="Calibri"/>
                <a:ea typeface="Calibri"/>
                <a:cs typeface="Calibri"/>
              </a:defRPr>
            </a:pPr>
            <a:r>
              <a:rPr sz="1050" b="1">
                <a:solidFill>
                  <a:srgbClr val="9A6414"/>
                </a:solidFill>
                <a:latin typeface="Calibri"/>
                <a:ea typeface="Calibri"/>
                <a:cs typeface="Calibri"/>
              </a:rPr>
              <a:t>HUMAN ESSENTIAL NATURE</a:t>
            </a:r>
          </a:p>
        </p:txBody>
      </p:sp>
      <p:sp>
        <p:nvSpPr>
          <p:cNvPr id="2" name="text-1">
            <a:extLst xmlns:a="http://schemas.openxmlformats.org/drawingml/2006/main">
              <a:ext uri="{FF2B5EF4-FFF2-40B4-BE49-F238E27FC236}">
                <a16:creationId xmlns:a16="http://schemas.microsoft.com/office/drawing/2014/main" id="{073D2AFF-7BF6-48F0-A1DC-E5B5145F6B28}"/>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3000" b="1">
                <a:solidFill>
                  <a:srgbClr val="1E2447"/>
                </a:solidFill>
                <a:latin typeface="Cambria"/>
                <a:ea typeface="Cambria"/>
                <a:cs typeface="Cambria"/>
              </a:defRPr>
            </a:pPr>
            <a:r>
              <a:rPr sz="3000" b="1">
                <a:solidFill>
                  <a:srgbClr val="1E2447"/>
                </a:solidFill>
                <a:latin typeface="Cambria"/>
                <a:ea typeface="Cambria"/>
                <a:cs typeface="Cambria"/>
              </a:rPr>
              <a:t>Fortitude, courage, generosity</a:t>
            </a:r>
          </a:p>
        </p:txBody>
      </p:sp>
      <p:sp>
        <p:nvSpPr>
          <p:cNvPr id="3" name="text-2">
            <a:extLst xmlns:a="http://schemas.openxmlformats.org/drawingml/2006/main">
              <a:ext uri="{FF2B5EF4-FFF2-40B4-BE49-F238E27FC236}">
                <a16:creationId xmlns:a16="http://schemas.microsoft.com/office/drawing/2014/main" id="{A55E429B-39F5-4E05-806D-D4BF98FC2A72}"/>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0B01DF65-7DAE-4070-AAD2-915C4FB9D8F8}"/>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50" b="0">
                <a:solidFill>
                  <a:srgbClr val="626C85"/>
                </a:solidFill>
                <a:latin typeface="Calibri"/>
                <a:ea typeface="Calibri"/>
                <a:cs typeface="Calibri"/>
              </a:defRPr>
            </a:pPr>
            <a:r>
              <a:rPr sz="950" b="0">
                <a:solidFill>
                  <a:srgbClr val="626C85"/>
                </a:solidFill>
                <a:latin typeface="Calibri"/>
                <a:ea typeface="Calibri"/>
                <a:cs typeface="Calibri"/>
              </a:rPr>
              <a:t>19 / 35</a:t>
            </a:r>
          </a:p>
        </p:txBody>
      </p:sp>
      <p:sp>
        <p:nvSpPr>
          <p:cNvPr id="5" name="text-4">
            <a:extLst xmlns:a="http://schemas.openxmlformats.org/drawingml/2006/main">
              <a:ext uri="{FF2B5EF4-FFF2-40B4-BE49-F238E27FC236}">
                <a16:creationId xmlns:a16="http://schemas.microsoft.com/office/drawing/2014/main" id="{F8432AD5-8EBF-4764-859D-27F1A9049C6B}"/>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00" b="0" i="1">
                <a:solidFill>
                  <a:srgbClr val="9A6414"/>
                </a:solidFill>
                <a:latin typeface="Calibri"/>
                <a:ea typeface="Calibri"/>
                <a:cs typeface="Calibri"/>
              </a:defRPr>
            </a:pPr>
            <a:r>
              <a:rPr sz="1300" b="0" i="1">
                <a:solidFill>
                  <a:srgbClr val="9A6414"/>
                </a:solidFill>
                <a:latin typeface="Calibri"/>
                <a:ea typeface="Calibri"/>
                <a:cs typeface="Calibri"/>
              </a:rPr>
              <a:t>Kindness, grace, and compassion extend this humane expression.</a:t>
            </a:r>
          </a:p>
        </p:txBody>
      </p:sp>
      <p:sp>
        <p:nvSpPr>
          <p:cNvPr id="6" name="text-5">
            <a:extLst xmlns:a="http://schemas.openxmlformats.org/drawingml/2006/main">
              <a:ext uri="{FF2B5EF4-FFF2-40B4-BE49-F238E27FC236}">
                <a16:creationId xmlns:a16="http://schemas.microsoft.com/office/drawing/2014/main" id="{9C1758A9-29BF-4625-BA56-8AE49789353F}"/>
              </a:ext>
            </a:extLst>
          </p:cNvPr>
          <p:cNvSpPr>
            <a:spLocks xmlns:a="http://schemas.openxmlformats.org/drawingml/2006/main" noGrp="1"/>
          </p:cNvSpPr>
          <p:nvPr/>
        </p:nvSpPr>
        <p:spPr>
          <a:xfrm xmlns:a="http://schemas.openxmlformats.org/drawingml/2006/main">
            <a:off x="962025" y="1352550"/>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1E2447"/>
                </a:solidFill>
                <a:latin typeface="Calibri"/>
                <a:ea typeface="Calibri"/>
                <a:cs typeface="Calibri"/>
              </a:defRPr>
            </a:pPr>
            <a:r>
              <a:rPr sz="1875" b="1">
                <a:solidFill>
                  <a:srgbClr val="1E2447"/>
                </a:solidFill>
                <a:latin typeface="Calibri"/>
                <a:ea typeface="Calibri"/>
                <a:cs typeface="Calibri"/>
              </a:rPr>
              <a:t>Fortitude: dhirata</a:t>
            </a:r>
          </a:p>
        </p:txBody>
      </p:sp>
      <p:sp>
        <p:nvSpPr>
          <p:cNvPr id="7" name="text-6">
            <a:extLst xmlns:a="http://schemas.openxmlformats.org/drawingml/2006/main">
              <a:ext uri="{FF2B5EF4-FFF2-40B4-BE49-F238E27FC236}">
                <a16:creationId xmlns:a16="http://schemas.microsoft.com/office/drawing/2014/main" id="{582B73B4-1B4D-4A01-B132-9031EF47E6E2}"/>
              </a:ext>
            </a:extLst>
          </p:cNvPr>
          <p:cNvSpPr>
            <a:spLocks xmlns:a="http://schemas.openxmlformats.org/drawingml/2006/main" noGrp="1"/>
          </p:cNvSpPr>
          <p:nvPr/>
        </p:nvSpPr>
        <p:spPr>
          <a:xfrm xmlns:a="http://schemas.openxmlformats.org/drawingml/2006/main">
            <a:off x="962025" y="1695450"/>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303853"/>
                </a:solidFill>
                <a:latin typeface="Calibri"/>
                <a:ea typeface="Calibri"/>
                <a:cs typeface="Calibri"/>
              </a:defRPr>
            </a:pPr>
            <a:r>
              <a:rPr sz="1800" b="0">
                <a:solidFill>
                  <a:srgbClr val="303853"/>
                </a:solidFill>
                <a:latin typeface="Calibri"/>
                <a:ea typeface="Calibri"/>
                <a:cs typeface="Calibri"/>
              </a:rPr>
              <a:t>Firmness towards justice.</a:t>
            </a:r>
          </a:p>
        </p:txBody>
      </p:sp>
      <p:sp>
        <p:nvSpPr>
          <p:cNvPr id="8" name="text-7">
            <a:extLst xmlns:a="http://schemas.openxmlformats.org/drawingml/2006/main">
              <a:ext uri="{FF2B5EF4-FFF2-40B4-BE49-F238E27FC236}">
                <a16:creationId xmlns:a16="http://schemas.microsoft.com/office/drawing/2014/main" id="{01E6DC4B-4AC8-4A73-ABFB-46DFE5B3DBFE}"/>
              </a:ext>
            </a:extLst>
          </p:cNvPr>
          <p:cNvSpPr>
            <a:spLocks xmlns:a="http://schemas.openxmlformats.org/drawingml/2006/main" noGrp="1"/>
          </p:cNvSpPr>
          <p:nvPr/>
        </p:nvSpPr>
        <p:spPr>
          <a:xfrm xmlns:a="http://schemas.openxmlformats.org/drawingml/2006/main">
            <a:off x="962025" y="2257425"/>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1E2447"/>
                </a:solidFill>
                <a:latin typeface="Calibri"/>
                <a:ea typeface="Calibri"/>
                <a:cs typeface="Calibri"/>
              </a:defRPr>
            </a:pPr>
            <a:r>
              <a:rPr sz="1875" b="1">
                <a:solidFill>
                  <a:srgbClr val="1E2447"/>
                </a:solidFill>
                <a:latin typeface="Calibri"/>
                <a:ea typeface="Calibri"/>
                <a:cs typeface="Calibri"/>
              </a:rPr>
              <a:t>Courage: veerta</a:t>
            </a:r>
          </a:p>
        </p:txBody>
      </p:sp>
      <p:sp>
        <p:nvSpPr>
          <p:cNvPr id="9" name="text-8">
            <a:extLst xmlns:a="http://schemas.openxmlformats.org/drawingml/2006/main">
              <a:ext uri="{FF2B5EF4-FFF2-40B4-BE49-F238E27FC236}">
                <a16:creationId xmlns:a16="http://schemas.microsoft.com/office/drawing/2014/main" id="{C163C9D5-69E5-4137-BAEE-CDEDDC35F903}"/>
              </a:ext>
            </a:extLst>
          </p:cNvPr>
          <p:cNvSpPr>
            <a:spLocks xmlns:a="http://schemas.openxmlformats.org/drawingml/2006/main" noGrp="1"/>
          </p:cNvSpPr>
          <p:nvPr/>
        </p:nvSpPr>
        <p:spPr>
          <a:xfrm xmlns:a="http://schemas.openxmlformats.org/drawingml/2006/main">
            <a:off x="962025" y="2600325"/>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303853"/>
                </a:solidFill>
                <a:latin typeface="Calibri"/>
                <a:ea typeface="Calibri"/>
                <a:cs typeface="Calibri"/>
              </a:defRPr>
            </a:pPr>
            <a:r>
              <a:rPr sz="1800" b="0">
                <a:solidFill>
                  <a:srgbClr val="303853"/>
                </a:solidFill>
                <a:latin typeface="Calibri"/>
                <a:ea typeface="Calibri"/>
                <a:cs typeface="Calibri"/>
              </a:rPr>
              <a:t>Intellectual and physical powers that make justice available.</a:t>
            </a:r>
          </a:p>
        </p:txBody>
      </p:sp>
      <p:sp>
        <p:nvSpPr>
          <p:cNvPr id="10" name="text-9">
            <a:extLst xmlns:a="http://schemas.openxmlformats.org/drawingml/2006/main">
              <a:ext uri="{FF2B5EF4-FFF2-40B4-BE49-F238E27FC236}">
                <a16:creationId xmlns:a16="http://schemas.microsoft.com/office/drawing/2014/main" id="{CBF84E39-7CFC-46B1-8259-403A910473FB}"/>
              </a:ext>
            </a:extLst>
          </p:cNvPr>
          <p:cNvSpPr>
            <a:spLocks xmlns:a="http://schemas.openxmlformats.org/drawingml/2006/main" noGrp="1"/>
          </p:cNvSpPr>
          <p:nvPr/>
        </p:nvSpPr>
        <p:spPr>
          <a:xfrm xmlns:a="http://schemas.openxmlformats.org/drawingml/2006/main">
            <a:off x="962025" y="3162300"/>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1E2447"/>
                </a:solidFill>
                <a:latin typeface="Calibri"/>
                <a:ea typeface="Calibri"/>
                <a:cs typeface="Calibri"/>
              </a:defRPr>
            </a:pPr>
            <a:r>
              <a:rPr sz="1875" b="1">
                <a:solidFill>
                  <a:srgbClr val="1E2447"/>
                </a:solidFill>
                <a:latin typeface="Calibri"/>
                <a:ea typeface="Calibri"/>
                <a:cs typeface="Calibri"/>
              </a:rPr>
              <a:t>Generosity: udarta</a:t>
            </a:r>
          </a:p>
        </p:txBody>
      </p:sp>
      <p:sp>
        <p:nvSpPr>
          <p:cNvPr id="11" name="text-10">
            <a:extLst xmlns:a="http://schemas.openxmlformats.org/drawingml/2006/main">
              <a:ext uri="{FF2B5EF4-FFF2-40B4-BE49-F238E27FC236}">
                <a16:creationId xmlns:a16="http://schemas.microsoft.com/office/drawing/2014/main" id="{EE448AD6-A3E2-45D7-9E37-61DF4B5DD1E2}"/>
              </a:ext>
            </a:extLst>
          </p:cNvPr>
          <p:cNvSpPr>
            <a:spLocks xmlns:a="http://schemas.openxmlformats.org/drawingml/2006/main" noGrp="1"/>
          </p:cNvSpPr>
          <p:nvPr/>
        </p:nvSpPr>
        <p:spPr>
          <a:xfrm xmlns:a="http://schemas.openxmlformats.org/drawingml/2006/main">
            <a:off x="962025" y="3505200"/>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303853"/>
                </a:solidFill>
                <a:latin typeface="Calibri"/>
                <a:ea typeface="Calibri"/>
                <a:cs typeface="Calibri"/>
              </a:defRPr>
            </a:pPr>
            <a:r>
              <a:rPr sz="1800" b="0">
                <a:solidFill>
                  <a:srgbClr val="303853"/>
                </a:solidFill>
                <a:latin typeface="Calibri"/>
                <a:ea typeface="Calibri"/>
                <a:cs typeface="Calibri"/>
              </a:rPr>
              <a:t>Body, mind, and wealth offered as needed.</a:t>
            </a:r>
          </a:p>
        </p:txBody>
      </p:sp>
    </p:spTree>
    <p:extLst>
      <p:ext uri="{BB962C8B-B14F-4D97-AF65-F5344CB8AC3E}">
        <p14:creationId xmlns:p14="http://schemas.microsoft.com/office/powerpoint/2010/main" val="1720224187"/>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55CBF0B9-6393-409A-9BD8-F9532B5DA43C}"/>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9A6414"/>
                </a:solidFill>
                <a:latin typeface="Calibri"/>
                <a:ea typeface="Calibri"/>
                <a:cs typeface="Calibri"/>
              </a:defRPr>
            </a:pPr>
            <a:r>
              <a:rPr sz="1050" b="1">
                <a:solidFill>
                  <a:srgbClr val="9A6414"/>
                </a:solidFill>
                <a:latin typeface="Calibri"/>
                <a:ea typeface="Calibri"/>
                <a:cs typeface="Calibri"/>
              </a:rPr>
              <a:t>THE RECIPIENT’S SITUATION</a:t>
            </a:r>
          </a:p>
        </p:txBody>
      </p:sp>
      <p:sp>
        <p:nvSpPr>
          <p:cNvPr id="2" name="text-1">
            <a:extLst xmlns:a="http://schemas.openxmlformats.org/drawingml/2006/main">
              <a:ext uri="{FF2B5EF4-FFF2-40B4-BE49-F238E27FC236}">
                <a16:creationId xmlns:a16="http://schemas.microsoft.com/office/drawing/2014/main" id="{A9A5C60D-E085-4967-A273-9869386E9032}"/>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3000" b="1">
                <a:solidFill>
                  <a:srgbClr val="1E2447"/>
                </a:solidFill>
                <a:latin typeface="Cambria"/>
                <a:ea typeface="Cambria"/>
                <a:cs typeface="Cambria"/>
              </a:defRPr>
            </a:pPr>
            <a:r>
              <a:rPr sz="3000" b="1">
                <a:solidFill>
                  <a:srgbClr val="1E2447"/>
                </a:solidFill>
                <a:latin typeface="Cambria"/>
                <a:ea typeface="Cambria"/>
                <a:cs typeface="Cambria"/>
              </a:rPr>
              <a:t>Kindness, grace, compassion</a:t>
            </a:r>
          </a:p>
        </p:txBody>
      </p:sp>
      <p:sp>
        <p:nvSpPr>
          <p:cNvPr id="3" name="text-2">
            <a:extLst xmlns:a="http://schemas.openxmlformats.org/drawingml/2006/main">
              <a:ext uri="{FF2B5EF4-FFF2-40B4-BE49-F238E27FC236}">
                <a16:creationId xmlns:a16="http://schemas.microsoft.com/office/drawing/2014/main" id="{B0791113-3178-4F34-83EC-76A56FDCF45C}"/>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F7B20D7C-7C79-4634-A84B-DB79DA45E9FA}"/>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50" b="0">
                <a:solidFill>
                  <a:srgbClr val="626C85"/>
                </a:solidFill>
                <a:latin typeface="Calibri"/>
                <a:ea typeface="Calibri"/>
                <a:cs typeface="Calibri"/>
              </a:defRPr>
            </a:pPr>
            <a:r>
              <a:rPr sz="950" b="0">
                <a:solidFill>
                  <a:srgbClr val="626C85"/>
                </a:solidFill>
                <a:latin typeface="Calibri"/>
                <a:ea typeface="Calibri"/>
                <a:cs typeface="Calibri"/>
              </a:rPr>
              <a:t>20 / 35</a:t>
            </a:r>
          </a:p>
        </p:txBody>
      </p:sp>
      <p:sp>
        <p:nvSpPr>
          <p:cNvPr id="5" name="text-4">
            <a:extLst xmlns:a="http://schemas.openxmlformats.org/drawingml/2006/main">
              <a:ext uri="{FF2B5EF4-FFF2-40B4-BE49-F238E27FC236}">
                <a16:creationId xmlns:a16="http://schemas.microsoft.com/office/drawing/2014/main" id="{38808125-0235-4D22-A7A1-87E2413402D9}"/>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00" b="0" i="1">
                <a:solidFill>
                  <a:srgbClr val="9A6414"/>
                </a:solidFill>
                <a:latin typeface="Calibri"/>
                <a:ea typeface="Calibri"/>
                <a:cs typeface="Calibri"/>
              </a:defRPr>
            </a:pPr>
            <a:r>
              <a:rPr sz="1300" b="0" i="1">
                <a:solidFill>
                  <a:srgbClr val="9A6414"/>
                </a:solidFill>
                <a:latin typeface="Calibri"/>
                <a:ea typeface="Calibri"/>
                <a:cs typeface="Calibri"/>
              </a:rPr>
              <a:t>Fulfilling a value requires an adequate response to actual circumstances.</a:t>
            </a:r>
          </a:p>
        </p:txBody>
      </p:sp>
      <p:graphicFrame>
        <p:nvGraphicFramePr>
          <p:cNvPr id="12" name=""/>
          <p:cNvGraphicFramePr/>
          <p:nvPr/>
        </p:nvGraphicFramePr>
        <p:xfrm>
          <a:off xmlns:a="http://schemas.openxmlformats.org/drawingml/2006/main" x="962025" y="1362075"/>
          <a:ext xmlns:a="http://schemas.openxmlformats.org/drawingml/2006/main" cx="7391400" cy="2857500"/>
        </p:xfrm>
        <a:graphic xmlns:a="http://schemas.openxmlformats.org/drawingml/2006/main">
          <a:graphicData uri="http://schemas.openxmlformats.org/drawingml/2006/table">
            <a:tbl>
              <a:tblPr firstRow="1" bandRow="0"/>
              <a:tblGrid>
                <a:gridCol w="1704975"/>
                <a:gridCol w="1600200"/>
                <a:gridCol w="1514475"/>
                <a:gridCol w="2571750"/>
              </a:tblGrid>
              <a:tr h="495300">
                <a:tc>
                  <a:txBody>
                    <a:bodyPr lIns="123825" tIns="57150" rIns="95250" bIns="57150">
                      <a:noAutofit/>
                    </a:bodyPr>
                    <a:lstStyle/>
                    <a:p>
                      <a:r>
                        <a:rPr sz="1600" b="1">
                          <a:solidFill>
                            <a:srgbClr val="FFFFFF"/>
                          </a:solidFill>
                          <a:latin typeface="Calibri"/>
                          <a:ea typeface="Calibri"/>
                          <a:cs typeface="Calibri"/>
                        </a:rPr>
                        <a:t>Value</a:t>
                      </a:r>
                    </a:p>
                  </a:txBody>
                  <a:tcPr marL="91440" marR="91440" marT="45720" marB="45720" anchor="ctr">
                    <a:solidFill>
                      <a:srgbClr val="1E2447"/>
                    </a:solidFill>
                  </a:tcPr>
                </a:tc>
                <a:tc>
                  <a:txBody>
                    <a:bodyPr lIns="123825" tIns="57150" rIns="95250" bIns="57150">
                      <a:noAutofit/>
                    </a:bodyPr>
                    <a:lstStyle/>
                    <a:p>
                      <a:r>
                        <a:rPr sz="1600" b="1">
                          <a:solidFill>
                            <a:srgbClr val="FFFFFF"/>
                          </a:solidFill>
                          <a:latin typeface="Calibri"/>
                          <a:ea typeface="Calibri"/>
                          <a:cs typeface="Calibri"/>
                        </a:rPr>
                        <a:t>Receptivity</a:t>
                      </a:r>
                    </a:p>
                  </a:txBody>
                  <a:tcPr marL="91440" marR="91440" marT="45720" marB="45720" anchor="ctr">
                    <a:solidFill>
                      <a:srgbClr val="1E2447"/>
                    </a:solidFill>
                  </a:tcPr>
                </a:tc>
                <a:tc>
                  <a:txBody>
                    <a:bodyPr lIns="123825" tIns="57150" rIns="95250" bIns="57150">
                      <a:noAutofit/>
                    </a:bodyPr>
                    <a:lstStyle/>
                    <a:p>
                      <a:r>
                        <a:rPr sz="1600" b="1">
                          <a:solidFill>
                            <a:srgbClr val="FFFFFF"/>
                          </a:solidFill>
                          <a:latin typeface="Calibri"/>
                          <a:ea typeface="Calibri"/>
                          <a:cs typeface="Calibri"/>
                        </a:rPr>
                        <a:t>Content</a:t>
                      </a:r>
                    </a:p>
                  </a:txBody>
                  <a:tcPr marL="91440" marR="91440" marT="45720" marB="45720" anchor="ctr">
                    <a:solidFill>
                      <a:srgbClr val="1E2447"/>
                    </a:solidFill>
                  </a:tcPr>
                </a:tc>
                <a:tc>
                  <a:txBody>
                    <a:bodyPr lIns="123825" tIns="57150" rIns="95250" bIns="57150">
                      <a:noAutofit/>
                    </a:bodyPr>
                    <a:lstStyle/>
                    <a:p>
                      <a:r>
                        <a:rPr sz="1600" b="1">
                          <a:solidFill>
                            <a:srgbClr val="FFFFFF"/>
                          </a:solidFill>
                          <a:latin typeface="Calibri"/>
                          <a:ea typeface="Calibri"/>
                          <a:cs typeface="Calibri"/>
                        </a:rPr>
                        <a:t>Response</a:t>
                      </a:r>
                    </a:p>
                  </a:txBody>
                  <a:tcPr marL="91440" marR="91440" marT="45720" marB="45720" anchor="ctr">
                    <a:solidFill>
                      <a:srgbClr val="1E2447"/>
                    </a:solidFill>
                  </a:tcPr>
                </a:tc>
              </a:tr>
              <a:tr h="787400">
                <a:tc>
                  <a:txBody>
                    <a:bodyPr lIns="123825" tIns="57150" rIns="95250" bIns="57150">
                      <a:noAutofit/>
                    </a:bodyPr>
                    <a:lstStyle/>
                    <a:p>
                      <a:r>
                        <a:rPr sz="1725" b="0">
                          <a:solidFill>
                            <a:srgbClr val="303853"/>
                          </a:solidFill>
                          <a:latin typeface="Calibri"/>
                          <a:ea typeface="Calibri"/>
                          <a:cs typeface="Calibri"/>
                        </a:rPr>
                        <a:t>Kindness</a:t>
                      </a:r>
                    </a:p>
                    <a:p>
                      <a:r>
                        <a:rPr sz="1725" b="0">
                          <a:solidFill>
                            <a:srgbClr val="303853"/>
                          </a:solidFill>
                          <a:latin typeface="Calibri"/>
                          <a:ea typeface="Calibri"/>
                          <a:cs typeface="Calibri"/>
                        </a:rPr>
                        <a:t>daya</a:t>
                      </a:r>
                    </a:p>
                  </a:txBody>
                  <a:tcPr marL="91440" marR="91440" marT="45720" marB="45720" anchor="ctr">
                    <a:solidFill>
                      <a:srgbClr val="FFFFFF"/>
                    </a:solidFill>
                  </a:tcPr>
                </a:tc>
                <a:tc>
                  <a:txBody>
                    <a:bodyPr lIns="123825" tIns="57150" rIns="95250" bIns="57150">
                      <a:noAutofit/>
                    </a:bodyPr>
                    <a:lstStyle/>
                    <a:p>
                      <a:r>
                        <a:rPr sz="1725" b="0">
                          <a:solidFill>
                            <a:srgbClr val="303853"/>
                          </a:solidFill>
                          <a:latin typeface="Calibri"/>
                          <a:ea typeface="Calibri"/>
                          <a:cs typeface="Calibri"/>
                        </a:rPr>
                        <a:t>Present</a:t>
                      </a:r>
                    </a:p>
                  </a:txBody>
                  <a:tcPr marL="91440" marR="91440" marT="45720" marB="45720" anchor="ctr">
                    <a:solidFill>
                      <a:srgbClr val="FFFFFF"/>
                    </a:solidFill>
                  </a:tcPr>
                </a:tc>
                <a:tc>
                  <a:txBody>
                    <a:bodyPr lIns="123825" tIns="57150" rIns="95250" bIns="57150">
                      <a:noAutofit/>
                    </a:bodyPr>
                    <a:lstStyle/>
                    <a:p>
                      <a:r>
                        <a:rPr sz="1725" b="0">
                          <a:solidFill>
                            <a:srgbClr val="303853"/>
                          </a:solidFill>
                          <a:latin typeface="Calibri"/>
                          <a:ea typeface="Calibri"/>
                          <a:cs typeface="Calibri"/>
                        </a:rPr>
                        <a:t>Lacking</a:t>
                      </a:r>
                    </a:p>
                  </a:txBody>
                  <a:tcPr marL="91440" marR="91440" marT="45720" marB="45720" anchor="ctr">
                    <a:solidFill>
                      <a:srgbClr val="FFFFFF"/>
                    </a:solidFill>
                  </a:tcPr>
                </a:tc>
                <a:tc>
                  <a:txBody>
                    <a:bodyPr lIns="123825" tIns="57150" rIns="95250" bIns="57150">
                      <a:noAutofit/>
                    </a:bodyPr>
                    <a:lstStyle/>
                    <a:p>
                      <a:r>
                        <a:rPr sz="1725" b="0">
                          <a:solidFill>
                            <a:srgbClr val="303853"/>
                          </a:solidFill>
                          <a:latin typeface="Calibri"/>
                          <a:ea typeface="Calibri"/>
                          <a:cs typeface="Calibri"/>
                        </a:rPr>
                        <a:t>Make content</a:t>
                      </a:r>
                    </a:p>
                    <a:p>
                      <a:r>
                        <a:rPr sz="1725" b="0">
                          <a:solidFill>
                            <a:srgbClr val="303853"/>
                          </a:solidFill>
                          <a:latin typeface="Calibri"/>
                          <a:ea typeface="Calibri"/>
                          <a:cs typeface="Calibri"/>
                        </a:rPr>
                        <a:t>available</a:t>
                      </a:r>
                    </a:p>
                  </a:txBody>
                  <a:tcPr marL="91440" marR="91440" marT="45720" marB="45720" anchor="ctr">
                    <a:solidFill>
                      <a:srgbClr val="FFFFFF"/>
                    </a:solidFill>
                  </a:tcPr>
                </a:tc>
              </a:tr>
              <a:tr h="787400">
                <a:tc>
                  <a:txBody>
                    <a:bodyPr lIns="123825" tIns="57150" rIns="95250" bIns="57150">
                      <a:noAutofit/>
                    </a:bodyPr>
                    <a:lstStyle/>
                    <a:p>
                      <a:r>
                        <a:rPr sz="1725" b="0">
                          <a:solidFill>
                            <a:srgbClr val="303853"/>
                          </a:solidFill>
                          <a:latin typeface="Calibri"/>
                          <a:ea typeface="Calibri"/>
                          <a:cs typeface="Calibri"/>
                        </a:rPr>
                        <a:t>Grace</a:t>
                      </a:r>
                    </a:p>
                    <a:p>
                      <a:r>
                        <a:rPr sz="1725" b="0">
                          <a:solidFill>
                            <a:srgbClr val="303853"/>
                          </a:solidFill>
                          <a:latin typeface="Calibri"/>
                          <a:ea typeface="Calibri"/>
                          <a:cs typeface="Calibri"/>
                        </a:rPr>
                        <a:t>kripa</a:t>
                      </a:r>
                    </a:p>
                  </a:txBody>
                  <a:tcPr marL="91440" marR="91440" marT="45720" marB="45720" anchor="ctr">
                    <a:solidFill>
                      <a:srgbClr val="F1F3F8"/>
                    </a:solidFill>
                  </a:tcPr>
                </a:tc>
                <a:tc>
                  <a:txBody>
                    <a:bodyPr lIns="123825" tIns="57150" rIns="95250" bIns="57150">
                      <a:noAutofit/>
                    </a:bodyPr>
                    <a:lstStyle/>
                    <a:p>
                      <a:r>
                        <a:rPr sz="1725" b="0">
                          <a:solidFill>
                            <a:srgbClr val="303853"/>
                          </a:solidFill>
                          <a:latin typeface="Calibri"/>
                          <a:ea typeface="Calibri"/>
                          <a:cs typeface="Calibri"/>
                        </a:rPr>
                        <a:t>Lacking</a:t>
                      </a:r>
                    </a:p>
                  </a:txBody>
                  <a:tcPr marL="91440" marR="91440" marT="45720" marB="45720" anchor="ctr">
                    <a:solidFill>
                      <a:srgbClr val="F1F3F8"/>
                    </a:solidFill>
                  </a:tcPr>
                </a:tc>
                <a:tc>
                  <a:txBody>
                    <a:bodyPr lIns="123825" tIns="57150" rIns="95250" bIns="57150">
                      <a:noAutofit/>
                    </a:bodyPr>
                    <a:lstStyle/>
                    <a:p>
                      <a:r>
                        <a:rPr sz="1725" b="0">
                          <a:solidFill>
                            <a:srgbClr val="303853"/>
                          </a:solidFill>
                          <a:latin typeface="Calibri"/>
                          <a:ea typeface="Calibri"/>
                          <a:cs typeface="Calibri"/>
                        </a:rPr>
                        <a:t>Available</a:t>
                      </a:r>
                    </a:p>
                  </a:txBody>
                  <a:tcPr marL="91440" marR="91440" marT="45720" marB="45720" anchor="ctr">
                    <a:solidFill>
                      <a:srgbClr val="F1F3F8"/>
                    </a:solidFill>
                  </a:tcPr>
                </a:tc>
                <a:tc>
                  <a:txBody>
                    <a:bodyPr lIns="123825" tIns="57150" rIns="95250" bIns="57150">
                      <a:noAutofit/>
                    </a:bodyPr>
                    <a:lstStyle/>
                    <a:p>
                      <a:r>
                        <a:rPr sz="1725" b="0">
                          <a:solidFill>
                            <a:srgbClr val="303853"/>
                          </a:solidFill>
                          <a:latin typeface="Calibri"/>
                          <a:ea typeface="Calibri"/>
                          <a:cs typeface="Calibri"/>
                        </a:rPr>
                        <a:t>Develop</a:t>
                      </a:r>
                    </a:p>
                    <a:p>
                      <a:r>
                        <a:rPr sz="1725" b="0">
                          <a:solidFill>
                            <a:srgbClr val="303853"/>
                          </a:solidFill>
                          <a:latin typeface="Calibri"/>
                          <a:ea typeface="Calibri"/>
                          <a:cs typeface="Calibri"/>
                        </a:rPr>
                        <a:t>receptivity</a:t>
                      </a:r>
                    </a:p>
                  </a:txBody>
                  <a:tcPr marL="91440" marR="91440" marT="45720" marB="45720" anchor="ctr">
                    <a:solidFill>
                      <a:srgbClr val="F1F3F8"/>
                    </a:solidFill>
                  </a:tcPr>
                </a:tc>
              </a:tr>
              <a:tr h="787400">
                <a:tc>
                  <a:txBody>
                    <a:bodyPr lIns="123825" tIns="57150" rIns="95250" bIns="57150">
                      <a:noAutofit/>
                    </a:bodyPr>
                    <a:lstStyle/>
                    <a:p>
                      <a:r>
                        <a:rPr sz="1725" b="0">
                          <a:solidFill>
                            <a:srgbClr val="303853"/>
                          </a:solidFill>
                          <a:latin typeface="Calibri"/>
                          <a:ea typeface="Calibri"/>
                          <a:cs typeface="Calibri"/>
                        </a:rPr>
                        <a:t>Compassion</a:t>
                      </a:r>
                    </a:p>
                    <a:p>
                      <a:r>
                        <a:rPr sz="1725" b="0">
                          <a:solidFill>
                            <a:srgbClr val="303853"/>
                          </a:solidFill>
                          <a:latin typeface="Calibri"/>
                          <a:ea typeface="Calibri"/>
                          <a:cs typeface="Calibri"/>
                        </a:rPr>
                        <a:t>karuna</a:t>
                      </a:r>
                    </a:p>
                  </a:txBody>
                  <a:tcPr marL="91440" marR="91440" marT="45720" marB="45720" anchor="ctr">
                    <a:solidFill>
                      <a:srgbClr val="FFFFFF"/>
                    </a:solidFill>
                  </a:tcPr>
                </a:tc>
                <a:tc>
                  <a:txBody>
                    <a:bodyPr lIns="123825" tIns="57150" rIns="95250" bIns="57150">
                      <a:noAutofit/>
                    </a:bodyPr>
                    <a:lstStyle/>
                    <a:p>
                      <a:r>
                        <a:rPr sz="1725" b="0">
                          <a:solidFill>
                            <a:srgbClr val="303853"/>
                          </a:solidFill>
                          <a:latin typeface="Calibri"/>
                          <a:ea typeface="Calibri"/>
                          <a:cs typeface="Calibri"/>
                        </a:rPr>
                        <a:t>Lacking</a:t>
                      </a:r>
                    </a:p>
                  </a:txBody>
                  <a:tcPr marL="91440" marR="91440" marT="45720" marB="45720" anchor="ctr">
                    <a:solidFill>
                      <a:srgbClr val="FFFFFF"/>
                    </a:solidFill>
                  </a:tcPr>
                </a:tc>
                <a:tc>
                  <a:txBody>
                    <a:bodyPr lIns="123825" tIns="57150" rIns="95250" bIns="57150">
                      <a:noAutofit/>
                    </a:bodyPr>
                    <a:lstStyle/>
                    <a:p>
                      <a:r>
                        <a:rPr sz="1725" b="0">
                          <a:solidFill>
                            <a:srgbClr val="303853"/>
                          </a:solidFill>
                          <a:latin typeface="Calibri"/>
                          <a:ea typeface="Calibri"/>
                          <a:cs typeface="Calibri"/>
                        </a:rPr>
                        <a:t>Lacking</a:t>
                      </a:r>
                    </a:p>
                  </a:txBody>
                  <a:tcPr marL="91440" marR="91440" marT="45720" marB="45720" anchor="ctr">
                    <a:solidFill>
                      <a:srgbClr val="FFFFFF"/>
                    </a:solidFill>
                  </a:tcPr>
                </a:tc>
                <a:tc>
                  <a:txBody>
                    <a:bodyPr lIns="123825" tIns="57150" rIns="95250" bIns="57150">
                      <a:noAutofit/>
                    </a:bodyPr>
                    <a:lstStyle/>
                    <a:p>
                      <a:r>
                        <a:rPr sz="1725" b="0">
                          <a:solidFill>
                            <a:srgbClr val="303853"/>
                          </a:solidFill>
                          <a:latin typeface="Calibri"/>
                          <a:ea typeface="Calibri"/>
                          <a:cs typeface="Calibri"/>
                        </a:rPr>
                        <a:t>Develop and</a:t>
                      </a:r>
                    </a:p>
                    <a:p>
                      <a:r>
                        <a:rPr sz="1725" b="0">
                          <a:solidFill>
                            <a:srgbClr val="303853"/>
                          </a:solidFill>
                          <a:latin typeface="Calibri"/>
                          <a:ea typeface="Calibri"/>
                          <a:cs typeface="Calibri"/>
                        </a:rPr>
                        <a:t>provide both</a:t>
                      </a:r>
                    </a:p>
                  </a:txBody>
                  <a:tcPr marL="91440" marR="91440" marT="45720" marB="45720" anchor="ctr">
                    <a:solidFill>
                      <a:srgbClr val="FFFFFF"/>
                    </a:solidFill>
                  </a:tcPr>
                </a:tc>
              </a:tr>
            </a:tbl>
          </a:graphicData>
        </a:graphic>
      </p:graphicFrame>
    </p:spTree>
    <p:extLst>
      <p:ext uri="{BB962C8B-B14F-4D97-AF65-F5344CB8AC3E}">
        <p14:creationId xmlns:p14="http://schemas.microsoft.com/office/powerpoint/2010/main" val="1394319181"/>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473847E5-D33A-4B9A-838A-537DE0BA5334}"/>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9A6414"/>
                </a:solidFill>
                <a:latin typeface="Calibri"/>
                <a:ea typeface="Calibri"/>
                <a:cs typeface="Calibri"/>
              </a:defRPr>
            </a:pPr>
            <a:r>
              <a:rPr sz="1050" b="1">
                <a:solidFill>
                  <a:srgbClr val="9A6414"/>
                </a:solidFill>
                <a:latin typeface="Calibri"/>
                <a:ea typeface="Calibri"/>
                <a:cs typeface="Calibri"/>
              </a:rPr>
              <a:t>VALUE IN THINGS AND WORK</a:t>
            </a:r>
          </a:p>
        </p:txBody>
      </p:sp>
      <p:sp>
        <p:nvSpPr>
          <p:cNvPr id="2" name="text-1">
            <a:extLst xmlns:a="http://schemas.openxmlformats.org/drawingml/2006/main">
              <a:ext uri="{FF2B5EF4-FFF2-40B4-BE49-F238E27FC236}">
                <a16:creationId xmlns:a16="http://schemas.microsoft.com/office/drawing/2014/main" id="{A0C3BBA7-F01E-45EB-AA49-2123F91AB8FF}"/>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3000" b="1">
                <a:solidFill>
                  <a:srgbClr val="1E2447"/>
                </a:solidFill>
                <a:latin typeface="Cambria"/>
                <a:ea typeface="Cambria"/>
                <a:cs typeface="Cambria"/>
              </a:defRPr>
            </a:pPr>
            <a:r>
              <a:rPr sz="3000" b="1">
                <a:solidFill>
                  <a:srgbClr val="1E2447"/>
                </a:solidFill>
                <a:latin typeface="Cambria"/>
                <a:ea typeface="Cambria"/>
                <a:cs typeface="Cambria"/>
              </a:rPr>
              <a:t>Usefulness and aesthetic value</a:t>
            </a:r>
          </a:p>
        </p:txBody>
      </p:sp>
      <p:sp>
        <p:nvSpPr>
          <p:cNvPr id="3" name="text-2">
            <a:extLst xmlns:a="http://schemas.openxmlformats.org/drawingml/2006/main">
              <a:ext uri="{FF2B5EF4-FFF2-40B4-BE49-F238E27FC236}">
                <a16:creationId xmlns:a16="http://schemas.microsoft.com/office/drawing/2014/main" id="{1E72A59D-05F1-48D8-A594-EEEAC5BE132E}"/>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AB832611-F02E-47A9-87BA-0FE472F6B5A2}"/>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50" b="0">
                <a:solidFill>
                  <a:srgbClr val="626C85"/>
                </a:solidFill>
                <a:latin typeface="Calibri"/>
                <a:ea typeface="Calibri"/>
                <a:cs typeface="Calibri"/>
              </a:defRPr>
            </a:pPr>
            <a:r>
              <a:rPr sz="950" b="0">
                <a:solidFill>
                  <a:srgbClr val="626C85"/>
                </a:solidFill>
                <a:latin typeface="Calibri"/>
                <a:ea typeface="Calibri"/>
                <a:cs typeface="Calibri"/>
              </a:rPr>
              <a:t>21 / 35</a:t>
            </a:r>
          </a:p>
        </p:txBody>
      </p:sp>
      <p:sp>
        <p:nvSpPr>
          <p:cNvPr id="5" name="text-4">
            <a:extLst xmlns:a="http://schemas.openxmlformats.org/drawingml/2006/main">
              <a:ext uri="{FF2B5EF4-FFF2-40B4-BE49-F238E27FC236}">
                <a16:creationId xmlns:a16="http://schemas.microsoft.com/office/drawing/2014/main" id="{B17D7672-B70F-40A4-8295-7E789C29237D}"/>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00" b="0" i="1">
                <a:solidFill>
                  <a:srgbClr val="9A6414"/>
                </a:solidFill>
                <a:latin typeface="Calibri"/>
                <a:ea typeface="Calibri"/>
                <a:cs typeface="Calibri"/>
              </a:defRPr>
            </a:pPr>
            <a:r>
              <a:rPr sz="1300" b="0" i="1">
                <a:solidFill>
                  <a:srgbClr val="9A6414"/>
                </a:solidFill>
                <a:latin typeface="Calibri"/>
                <a:ea typeface="Calibri"/>
                <a:cs typeface="Calibri"/>
              </a:rPr>
              <a:t>The assessment begins with human need and purpose.</a:t>
            </a:r>
          </a:p>
        </p:txBody>
      </p:sp>
      <p:sp>
        <p:nvSpPr>
          <p:cNvPr id="6" name="text-5">
            <a:extLst xmlns:a="http://schemas.openxmlformats.org/drawingml/2006/main">
              <a:ext uri="{FF2B5EF4-FFF2-40B4-BE49-F238E27FC236}">
                <a16:creationId xmlns:a16="http://schemas.microsoft.com/office/drawing/2014/main" id="{9CA316D1-FFD1-45F2-9686-96BCF8268F93}"/>
              </a:ext>
            </a:extLst>
          </p:cNvPr>
          <p:cNvSpPr>
            <a:spLocks xmlns:a="http://schemas.openxmlformats.org/drawingml/2006/main" noGrp="1"/>
          </p:cNvSpPr>
          <p:nvPr/>
        </p:nvSpPr>
        <p:spPr>
          <a:xfrm xmlns:a="http://schemas.openxmlformats.org/drawingml/2006/main">
            <a:off x="962025" y="1504950"/>
            <a:ext cx="352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1">
                <a:solidFill>
                  <a:srgbClr val="1E2447"/>
                </a:solidFill>
                <a:latin typeface="Cambria"/>
                <a:ea typeface="Cambria"/>
                <a:cs typeface="Cambria"/>
              </a:defRPr>
            </a:pPr>
            <a:r>
              <a:rPr sz="2325" b="1">
                <a:solidFill>
                  <a:srgbClr val="1E2447"/>
                </a:solidFill>
                <a:latin typeface="Cambria"/>
                <a:ea typeface="Cambria"/>
                <a:cs typeface="Cambria"/>
              </a:rPr>
              <a:t>Usefulness</a:t>
            </a:r>
          </a:p>
        </p:txBody>
      </p:sp>
      <p:sp>
        <p:nvSpPr>
          <p:cNvPr id="7" name="text-6">
            <a:extLst xmlns:a="http://schemas.openxmlformats.org/drawingml/2006/main">
              <a:ext uri="{FF2B5EF4-FFF2-40B4-BE49-F238E27FC236}">
                <a16:creationId xmlns:a16="http://schemas.microsoft.com/office/drawing/2014/main" id="{BEF2D90E-3C44-4697-9004-0F373E96B361}"/>
              </a:ext>
            </a:extLst>
          </p:cNvPr>
          <p:cNvSpPr>
            <a:spLocks xmlns:a="http://schemas.openxmlformats.org/drawingml/2006/main" noGrp="1"/>
          </p:cNvSpPr>
          <p:nvPr/>
        </p:nvSpPr>
        <p:spPr>
          <a:xfrm xmlns:a="http://schemas.openxmlformats.org/drawingml/2006/main">
            <a:off x="962025" y="2266950"/>
            <a:ext cx="3429000" cy="1962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303853"/>
                </a:solidFill>
                <a:latin typeface="Calibri"/>
                <a:ea typeface="Calibri"/>
                <a:cs typeface="Calibri"/>
              </a:defRPr>
            </a:pPr>
            <a:r>
              <a:rPr sz="1875" b="0">
                <a:solidFill>
                  <a:srgbClr val="303853"/>
                </a:solidFill>
                <a:latin typeface="Calibri"/>
                <a:ea typeface="Calibri"/>
                <a:cs typeface="Calibri"/>
              </a:rPr>
              <a:t>What a thing enables in nourishment, protection, and participation.</a:t>
            </a:r>
          </a:p>
        </p:txBody>
      </p:sp>
      <p:sp>
        <p:nvSpPr>
          <p:cNvPr id="8" name="text-7">
            <a:extLst xmlns:a="http://schemas.openxmlformats.org/drawingml/2006/main">
              <a:ext uri="{FF2B5EF4-FFF2-40B4-BE49-F238E27FC236}">
                <a16:creationId xmlns:a16="http://schemas.microsoft.com/office/drawing/2014/main" id="{76376C41-562D-43CC-8F7D-FB625F88D999}"/>
              </a:ext>
            </a:extLst>
          </p:cNvPr>
          <p:cNvSpPr>
            <a:spLocks xmlns:a="http://schemas.openxmlformats.org/drawingml/2006/main" noGrp="1"/>
          </p:cNvSpPr>
          <p:nvPr/>
        </p:nvSpPr>
        <p:spPr>
          <a:xfrm xmlns:a="http://schemas.openxmlformats.org/drawingml/2006/main">
            <a:off x="4962525" y="1504950"/>
            <a:ext cx="352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1">
                <a:solidFill>
                  <a:srgbClr val="1E2447"/>
                </a:solidFill>
                <a:latin typeface="Cambria"/>
                <a:ea typeface="Cambria"/>
                <a:cs typeface="Cambria"/>
              </a:defRPr>
            </a:pPr>
            <a:r>
              <a:rPr sz="2325" b="1">
                <a:solidFill>
                  <a:srgbClr val="1E2447"/>
                </a:solidFill>
                <a:latin typeface="Cambria"/>
                <a:ea typeface="Cambria"/>
                <a:cs typeface="Cambria"/>
              </a:rPr>
              <a:t>Aesthetic value</a:t>
            </a:r>
          </a:p>
        </p:txBody>
      </p:sp>
      <p:sp>
        <p:nvSpPr>
          <p:cNvPr id="9" name="text-8">
            <a:extLst xmlns:a="http://schemas.openxmlformats.org/drawingml/2006/main">
              <a:ext uri="{FF2B5EF4-FFF2-40B4-BE49-F238E27FC236}">
                <a16:creationId xmlns:a16="http://schemas.microsoft.com/office/drawing/2014/main" id="{E6692646-BBE8-4B1D-8807-B53F5D896D6E}"/>
              </a:ext>
            </a:extLst>
          </p:cNvPr>
          <p:cNvSpPr>
            <a:spLocks xmlns:a="http://schemas.openxmlformats.org/drawingml/2006/main" noGrp="1"/>
          </p:cNvSpPr>
          <p:nvPr/>
        </p:nvSpPr>
        <p:spPr>
          <a:xfrm xmlns:a="http://schemas.openxmlformats.org/drawingml/2006/main">
            <a:off x="4962525" y="2266950"/>
            <a:ext cx="3429000" cy="1962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303853"/>
                </a:solidFill>
                <a:latin typeface="Calibri"/>
                <a:ea typeface="Calibri"/>
                <a:cs typeface="Calibri"/>
              </a:defRPr>
            </a:pPr>
            <a:r>
              <a:rPr sz="1875" b="0">
                <a:solidFill>
                  <a:srgbClr val="303853"/>
                </a:solidFill>
                <a:latin typeface="Calibri"/>
                <a:ea typeface="Calibri"/>
                <a:cs typeface="Calibri"/>
              </a:rPr>
              <a:t>Form and finish added through labour, aligned with usefulness and convenience.</a:t>
            </a:r>
          </a:p>
        </p:txBody>
      </p:sp>
    </p:spTree>
    <p:extLst>
      <p:ext uri="{BB962C8B-B14F-4D97-AF65-F5344CB8AC3E}">
        <p14:creationId xmlns:p14="http://schemas.microsoft.com/office/powerpoint/2010/main" val="1047965463"/>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0881AD5A-506F-476E-958B-D38CA84A5549}"/>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9A6414"/>
                </a:solidFill>
                <a:latin typeface="Calibri"/>
                <a:ea typeface="Calibri"/>
                <a:cs typeface="Calibri"/>
              </a:defRPr>
            </a:pPr>
            <a:r>
              <a:rPr sz="1050" b="1">
                <a:solidFill>
                  <a:srgbClr val="9A6414"/>
                </a:solidFill>
                <a:latin typeface="Calibri"/>
                <a:ea typeface="Calibri"/>
                <a:cs typeface="Calibri"/>
              </a:rPr>
              <a:t>VALUE AND SYMBOLIC VALUATION</a:t>
            </a:r>
          </a:p>
        </p:txBody>
      </p:sp>
      <p:sp>
        <p:nvSpPr>
          <p:cNvPr id="2" name="text-1">
            <a:extLst xmlns:a="http://schemas.openxmlformats.org/drawingml/2006/main">
              <a:ext uri="{FF2B5EF4-FFF2-40B4-BE49-F238E27FC236}">
                <a16:creationId xmlns:a16="http://schemas.microsoft.com/office/drawing/2014/main" id="{127E6BF2-AA35-4153-AFA7-F6951631A611}"/>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3000" b="1">
                <a:solidFill>
                  <a:srgbClr val="1E2447"/>
                </a:solidFill>
                <a:latin typeface="Cambria"/>
                <a:ea typeface="Cambria"/>
                <a:cs typeface="Cambria"/>
              </a:defRPr>
            </a:pPr>
            <a:r>
              <a:rPr sz="3000" b="1">
                <a:solidFill>
                  <a:srgbClr val="1E2447"/>
                </a:solidFill>
                <a:latin typeface="Cambria"/>
                <a:ea typeface="Cambria"/>
                <a:cs typeface="Cambria"/>
              </a:rPr>
              <a:t>A higher price, the same grain</a:t>
            </a:r>
          </a:p>
        </p:txBody>
      </p:sp>
      <p:sp>
        <p:nvSpPr>
          <p:cNvPr id="3" name="text-2">
            <a:extLst xmlns:a="http://schemas.openxmlformats.org/drawingml/2006/main">
              <a:ext uri="{FF2B5EF4-FFF2-40B4-BE49-F238E27FC236}">
                <a16:creationId xmlns:a16="http://schemas.microsoft.com/office/drawing/2014/main" id="{0113072F-AC96-4366-BA69-59A27EB9CB4E}"/>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3D57DB9D-D476-4435-8796-789EBAA29157}"/>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50" b="0">
                <a:solidFill>
                  <a:srgbClr val="626C85"/>
                </a:solidFill>
                <a:latin typeface="Calibri"/>
                <a:ea typeface="Calibri"/>
                <a:cs typeface="Calibri"/>
              </a:defRPr>
            </a:pPr>
            <a:r>
              <a:rPr sz="950" b="0">
                <a:solidFill>
                  <a:srgbClr val="626C85"/>
                </a:solidFill>
                <a:latin typeface="Calibri"/>
                <a:ea typeface="Calibri"/>
                <a:cs typeface="Calibri"/>
              </a:rPr>
              <a:t>22 / 35</a:t>
            </a:r>
          </a:p>
        </p:txBody>
      </p:sp>
      <p:sp>
        <p:nvSpPr>
          <p:cNvPr id="5" name="text-4">
            <a:extLst xmlns:a="http://schemas.openxmlformats.org/drawingml/2006/main">
              <a:ext uri="{FF2B5EF4-FFF2-40B4-BE49-F238E27FC236}">
                <a16:creationId xmlns:a16="http://schemas.microsoft.com/office/drawing/2014/main" id="{BDECC059-7962-4D2D-964F-517862622384}"/>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00" b="0" i="1">
                <a:solidFill>
                  <a:srgbClr val="9A6414"/>
                </a:solidFill>
                <a:latin typeface="Calibri"/>
                <a:ea typeface="Calibri"/>
                <a:cs typeface="Calibri"/>
              </a:defRPr>
            </a:pPr>
            <a:r>
              <a:rPr sz="1300" b="0" i="1">
                <a:solidFill>
                  <a:srgbClr val="9A6414"/>
                </a:solidFill>
                <a:latin typeface="Calibri"/>
                <a:ea typeface="Calibri"/>
                <a:cs typeface="Calibri"/>
              </a:rPr>
              <a:t>Need, production, availability, and right-use guide the assessment.</a:t>
            </a:r>
          </a:p>
        </p:txBody>
      </p:sp>
      <p:sp>
        <p:nvSpPr>
          <p:cNvPr id="6" name="text-5">
            <a:extLst xmlns:a="http://schemas.openxmlformats.org/drawingml/2006/main">
              <a:ext uri="{FF2B5EF4-FFF2-40B4-BE49-F238E27FC236}">
                <a16:creationId xmlns:a16="http://schemas.microsoft.com/office/drawing/2014/main" id="{8AEE8D99-24CC-41A0-8283-ECE6068BBC60}"/>
              </a:ext>
            </a:extLst>
          </p:cNvPr>
          <p:cNvSpPr>
            <a:spLocks xmlns:a="http://schemas.openxmlformats.org/drawingml/2006/main" noGrp="1"/>
          </p:cNvSpPr>
          <p:nvPr/>
        </p:nvSpPr>
        <p:spPr>
          <a:xfrm xmlns:a="http://schemas.openxmlformats.org/drawingml/2006/main">
            <a:off x="962025" y="1381125"/>
            <a:ext cx="752475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E2447"/>
                </a:solidFill>
                <a:latin typeface="Cambria"/>
                <a:ea typeface="Cambria"/>
                <a:cs typeface="Cambria"/>
              </a:defRPr>
            </a:pPr>
            <a:r>
              <a:rPr sz="2700" b="0">
                <a:solidFill>
                  <a:srgbClr val="1E2447"/>
                </a:solidFill>
                <a:latin typeface="Cambria"/>
                <a:ea typeface="Cambria"/>
                <a:cs typeface="Cambria"/>
              </a:rPr>
              <a:t>The price doubles. The grain’s nourishing capacity remains the same.</a:t>
            </a:r>
          </a:p>
        </p:txBody>
      </p:sp>
      <p:sp>
        <p:nvSpPr>
          <p:cNvPr id="7" name="text-6">
            <a:extLst xmlns:a="http://schemas.openxmlformats.org/drawingml/2006/main">
              <a:ext uri="{FF2B5EF4-FFF2-40B4-BE49-F238E27FC236}">
                <a16:creationId xmlns:a16="http://schemas.microsoft.com/office/drawing/2014/main" id="{516EC340-7605-4BF0-A55E-5556949C5203}"/>
              </a:ext>
            </a:extLst>
          </p:cNvPr>
          <p:cNvSpPr>
            <a:spLocks xmlns:a="http://schemas.openxmlformats.org/drawingml/2006/main" noGrp="1"/>
          </p:cNvSpPr>
          <p:nvPr/>
        </p:nvSpPr>
        <p:spPr>
          <a:xfrm xmlns:a="http://schemas.openxmlformats.org/drawingml/2006/main">
            <a:off x="962025" y="2552700"/>
            <a:ext cx="75247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303853"/>
                </a:solidFill>
                <a:latin typeface="Calibri"/>
                <a:ea typeface="Calibri"/>
                <a:cs typeface="Calibri"/>
              </a:defRPr>
            </a:pPr>
            <a:r>
              <a:rPr sz="1950" b="0">
                <a:solidFill>
                  <a:srgbClr val="303853"/>
                </a:solidFill>
                <a:latin typeface="Calibri"/>
                <a:ea typeface="Calibri"/>
                <a:cs typeface="Calibri"/>
              </a:rPr>
              <a:t>Money is symbolic value. Access can change without a change in usefulness.</a:t>
            </a:r>
          </a:p>
        </p:txBody>
      </p:sp>
      <p:sp>
        <p:nvSpPr>
          <p:cNvPr id="8" name="text-7">
            <a:extLst xmlns:a="http://schemas.openxmlformats.org/drawingml/2006/main">
              <a:ext uri="{FF2B5EF4-FFF2-40B4-BE49-F238E27FC236}">
                <a16:creationId xmlns:a16="http://schemas.microsoft.com/office/drawing/2014/main" id="{3A848456-E207-4EAB-9936-99B3BA9AF8AA}"/>
              </a:ext>
            </a:extLst>
          </p:cNvPr>
          <p:cNvSpPr>
            <a:spLocks xmlns:a="http://schemas.openxmlformats.org/drawingml/2006/main" noGrp="1"/>
          </p:cNvSpPr>
          <p:nvPr/>
        </p:nvSpPr>
        <p:spPr>
          <a:xfrm xmlns:a="http://schemas.openxmlformats.org/drawingml/2006/main">
            <a:off x="962025" y="3590925"/>
            <a:ext cx="75247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1">
                <a:solidFill>
                  <a:srgbClr val="9A6414"/>
                </a:solidFill>
                <a:latin typeface="Calibri"/>
                <a:ea typeface="Calibri"/>
                <a:cs typeface="Calibri"/>
              </a:defRPr>
            </a:pPr>
            <a:r>
              <a:rPr sz="2100" b="1">
                <a:solidFill>
                  <a:srgbClr val="9A6414"/>
                </a:solidFill>
                <a:latin typeface="Calibri"/>
                <a:ea typeface="Calibri"/>
                <a:cs typeface="Calibri"/>
              </a:rPr>
              <a:t>What would make this family prosperous?</a:t>
            </a:r>
          </a:p>
        </p:txBody>
      </p:sp>
    </p:spTree>
    <p:extLst>
      <p:ext uri="{BB962C8B-B14F-4D97-AF65-F5344CB8AC3E}">
        <p14:creationId xmlns:p14="http://schemas.microsoft.com/office/powerpoint/2010/main" val="1243617614"/>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463A9280-610B-4A07-A65A-FA45A39E8F3B}"/>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9A6414"/>
                </a:solidFill>
                <a:latin typeface="Calibri"/>
                <a:ea typeface="Calibri"/>
                <a:cs typeface="Calibri"/>
              </a:defRPr>
            </a:pPr>
            <a:r>
              <a:rPr sz="1050" b="1">
                <a:solidFill>
                  <a:srgbClr val="9A6414"/>
                </a:solidFill>
                <a:latin typeface="Calibri"/>
                <a:ea typeface="Calibri"/>
                <a:cs typeface="Calibri"/>
              </a:rPr>
              <a:t>MATERIAL PROVISION</a:t>
            </a:r>
          </a:p>
        </p:txBody>
      </p:sp>
      <p:sp>
        <p:nvSpPr>
          <p:cNvPr id="2" name="text-1">
            <a:extLst xmlns:a="http://schemas.openxmlformats.org/drawingml/2006/main">
              <a:ext uri="{FF2B5EF4-FFF2-40B4-BE49-F238E27FC236}">
                <a16:creationId xmlns:a16="http://schemas.microsoft.com/office/drawing/2014/main" id="{D4F0EDAE-43D3-460A-93EC-0642613C44A5}"/>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3000" b="1">
                <a:solidFill>
                  <a:srgbClr val="1E2447"/>
                </a:solidFill>
                <a:latin typeface="Cambria"/>
                <a:ea typeface="Cambria"/>
                <a:cs typeface="Cambria"/>
              </a:defRPr>
            </a:pPr>
            <a:r>
              <a:rPr sz="3000" b="1">
                <a:solidFill>
                  <a:srgbClr val="1E2447"/>
                </a:solidFill>
                <a:latin typeface="Cambria"/>
                <a:ea typeface="Cambria"/>
                <a:cs typeface="Cambria"/>
              </a:rPr>
              <a:t>Production and exchange</a:t>
            </a:r>
          </a:p>
        </p:txBody>
      </p:sp>
      <p:sp>
        <p:nvSpPr>
          <p:cNvPr id="3" name="text-2">
            <a:extLst xmlns:a="http://schemas.openxmlformats.org/drawingml/2006/main">
              <a:ext uri="{FF2B5EF4-FFF2-40B4-BE49-F238E27FC236}">
                <a16:creationId xmlns:a16="http://schemas.microsoft.com/office/drawing/2014/main" id="{1F6AD4A2-D4A1-478C-B46C-FD9A028FB809}"/>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D71AC2BF-A487-43A1-AA0A-7381F7DB3605}"/>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50" b="0">
                <a:solidFill>
                  <a:srgbClr val="626C85"/>
                </a:solidFill>
                <a:latin typeface="Calibri"/>
                <a:ea typeface="Calibri"/>
                <a:cs typeface="Calibri"/>
              </a:defRPr>
            </a:pPr>
            <a:r>
              <a:rPr sz="950" b="0">
                <a:solidFill>
                  <a:srgbClr val="626C85"/>
                </a:solidFill>
                <a:latin typeface="Calibri"/>
                <a:ea typeface="Calibri"/>
                <a:cs typeface="Calibri"/>
              </a:rPr>
              <a:t>23 / 35</a:t>
            </a:r>
          </a:p>
        </p:txBody>
      </p:sp>
      <p:sp>
        <p:nvSpPr>
          <p:cNvPr id="5" name="text-4">
            <a:extLst xmlns:a="http://schemas.openxmlformats.org/drawingml/2006/main">
              <a:ext uri="{FF2B5EF4-FFF2-40B4-BE49-F238E27FC236}">
                <a16:creationId xmlns:a16="http://schemas.microsoft.com/office/drawing/2014/main" id="{74AF126A-C3F5-46BC-BD5E-F0EB507E9A0E}"/>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00" b="0" i="1">
                <a:solidFill>
                  <a:srgbClr val="9A6414"/>
                </a:solidFill>
                <a:latin typeface="Calibri"/>
                <a:ea typeface="Calibri"/>
                <a:cs typeface="Calibri"/>
              </a:defRPr>
            </a:pPr>
            <a:r>
              <a:rPr sz="1300" b="0" i="1">
                <a:solidFill>
                  <a:srgbClr val="9A6414"/>
                </a:solidFill>
                <a:latin typeface="Calibri"/>
                <a:ea typeface="Calibri"/>
                <a:cs typeface="Calibri"/>
              </a:rPr>
              <a:t>Prosperity includes the ability and readiness to produce beyond need.</a:t>
            </a:r>
          </a:p>
        </p:txBody>
      </p:sp>
      <p:sp>
        <p:nvSpPr>
          <p:cNvPr id="6" name="text-5">
            <a:extLst xmlns:a="http://schemas.openxmlformats.org/drawingml/2006/main">
              <a:ext uri="{FF2B5EF4-FFF2-40B4-BE49-F238E27FC236}">
                <a16:creationId xmlns:a16="http://schemas.microsoft.com/office/drawing/2014/main" id="{7867ADF7-3BB0-48EA-BF43-8C2C9C53B147}"/>
              </a:ext>
            </a:extLst>
          </p:cNvPr>
          <p:cNvSpPr>
            <a:spLocks xmlns:a="http://schemas.openxmlformats.org/drawingml/2006/main" noGrp="1"/>
          </p:cNvSpPr>
          <p:nvPr/>
        </p:nvSpPr>
        <p:spPr>
          <a:xfrm xmlns:a="http://schemas.openxmlformats.org/drawingml/2006/main">
            <a:off x="962025" y="1352550"/>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1E2447"/>
                </a:solidFill>
                <a:latin typeface="Calibri"/>
                <a:ea typeface="Calibri"/>
                <a:cs typeface="Calibri"/>
              </a:defRPr>
            </a:pPr>
            <a:r>
              <a:rPr sz="1875" b="1">
                <a:solidFill>
                  <a:srgbClr val="1E2447"/>
                </a:solidFill>
                <a:latin typeface="Calibri"/>
                <a:ea typeface="Calibri"/>
                <a:cs typeface="Calibri"/>
              </a:rPr>
              <a:t>Application: prayog</a:t>
            </a:r>
          </a:p>
        </p:txBody>
      </p:sp>
      <p:sp>
        <p:nvSpPr>
          <p:cNvPr id="7" name="text-6">
            <a:extLst xmlns:a="http://schemas.openxmlformats.org/drawingml/2006/main">
              <a:ext uri="{FF2B5EF4-FFF2-40B4-BE49-F238E27FC236}">
                <a16:creationId xmlns:a16="http://schemas.microsoft.com/office/drawing/2014/main" id="{FFE369DC-3A88-435D-8BD3-76EFB236FBCF}"/>
              </a:ext>
            </a:extLst>
          </p:cNvPr>
          <p:cNvSpPr>
            <a:spLocks xmlns:a="http://schemas.openxmlformats.org/drawingml/2006/main" noGrp="1"/>
          </p:cNvSpPr>
          <p:nvPr/>
        </p:nvSpPr>
        <p:spPr>
          <a:xfrm xmlns:a="http://schemas.openxmlformats.org/drawingml/2006/main">
            <a:off x="962025" y="1695450"/>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303853"/>
                </a:solidFill>
                <a:latin typeface="Calibri"/>
                <a:ea typeface="Calibri"/>
                <a:cs typeface="Calibri"/>
              </a:defRPr>
            </a:pPr>
            <a:r>
              <a:rPr sz="1800" b="0">
                <a:solidFill>
                  <a:srgbClr val="303853"/>
                </a:solidFill>
                <a:latin typeface="Calibri"/>
                <a:ea typeface="Calibri"/>
                <a:cs typeface="Calibri"/>
              </a:rPr>
              <a:t>Labour establishes usefulness and aesthetic value in response to need.</a:t>
            </a:r>
          </a:p>
        </p:txBody>
      </p:sp>
      <p:sp>
        <p:nvSpPr>
          <p:cNvPr id="8" name="text-7">
            <a:extLst xmlns:a="http://schemas.openxmlformats.org/drawingml/2006/main">
              <a:ext uri="{FF2B5EF4-FFF2-40B4-BE49-F238E27FC236}">
                <a16:creationId xmlns:a16="http://schemas.microsoft.com/office/drawing/2014/main" id="{56B92F85-4B4C-4B76-94B6-5FB7E6D8D71C}"/>
              </a:ext>
            </a:extLst>
          </p:cNvPr>
          <p:cNvSpPr>
            <a:spLocks xmlns:a="http://schemas.openxmlformats.org/drawingml/2006/main" noGrp="1"/>
          </p:cNvSpPr>
          <p:nvPr/>
        </p:nvSpPr>
        <p:spPr>
          <a:xfrm xmlns:a="http://schemas.openxmlformats.org/drawingml/2006/main">
            <a:off x="962025" y="2257425"/>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1E2447"/>
                </a:solidFill>
                <a:latin typeface="Calibri"/>
                <a:ea typeface="Calibri"/>
                <a:cs typeface="Calibri"/>
              </a:defRPr>
            </a:pPr>
            <a:r>
              <a:rPr sz="1875" b="1">
                <a:solidFill>
                  <a:srgbClr val="1E2447"/>
                </a:solidFill>
                <a:latin typeface="Calibri"/>
                <a:ea typeface="Calibri"/>
                <a:cs typeface="Calibri"/>
              </a:rPr>
              <a:t>Production: utpadan</a:t>
            </a:r>
          </a:p>
        </p:txBody>
      </p:sp>
      <p:sp>
        <p:nvSpPr>
          <p:cNvPr id="9" name="text-8">
            <a:extLst xmlns:a="http://schemas.openxmlformats.org/drawingml/2006/main">
              <a:ext uri="{FF2B5EF4-FFF2-40B4-BE49-F238E27FC236}">
                <a16:creationId xmlns:a16="http://schemas.microsoft.com/office/drawing/2014/main" id="{BD8BBE55-875A-4956-A175-95D45DFA7380}"/>
              </a:ext>
            </a:extLst>
          </p:cNvPr>
          <p:cNvSpPr>
            <a:spLocks xmlns:a="http://schemas.openxmlformats.org/drawingml/2006/main" noGrp="1"/>
          </p:cNvSpPr>
          <p:nvPr/>
        </p:nvSpPr>
        <p:spPr>
          <a:xfrm xmlns:a="http://schemas.openxmlformats.org/drawingml/2006/main">
            <a:off x="962025" y="2600325"/>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303853"/>
                </a:solidFill>
                <a:latin typeface="Calibri"/>
                <a:ea typeface="Calibri"/>
                <a:cs typeface="Calibri"/>
              </a:defRPr>
            </a:pPr>
            <a:r>
              <a:rPr sz="1800" b="0">
                <a:solidFill>
                  <a:srgbClr val="303853"/>
                </a:solidFill>
                <a:latin typeface="Calibri"/>
                <a:ea typeface="Calibri"/>
                <a:cs typeface="Calibri"/>
              </a:rPr>
              <a:t>A successful process becomes standardised and productive.</a:t>
            </a:r>
          </a:p>
        </p:txBody>
      </p:sp>
      <p:sp>
        <p:nvSpPr>
          <p:cNvPr id="10" name="text-9">
            <a:extLst xmlns:a="http://schemas.openxmlformats.org/drawingml/2006/main">
              <a:ext uri="{FF2B5EF4-FFF2-40B4-BE49-F238E27FC236}">
                <a16:creationId xmlns:a16="http://schemas.microsoft.com/office/drawing/2014/main" id="{83603965-EBDA-4FE3-B335-2EFD9542440F}"/>
              </a:ext>
            </a:extLst>
          </p:cNvPr>
          <p:cNvSpPr>
            <a:spLocks xmlns:a="http://schemas.openxmlformats.org/drawingml/2006/main" noGrp="1"/>
          </p:cNvSpPr>
          <p:nvPr/>
        </p:nvSpPr>
        <p:spPr>
          <a:xfrm xmlns:a="http://schemas.openxmlformats.org/drawingml/2006/main">
            <a:off x="962025" y="3162300"/>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1E2447"/>
                </a:solidFill>
                <a:latin typeface="Calibri"/>
                <a:ea typeface="Calibri"/>
                <a:cs typeface="Calibri"/>
              </a:defRPr>
            </a:pPr>
            <a:r>
              <a:rPr sz="1875" b="1">
                <a:solidFill>
                  <a:srgbClr val="1E2447"/>
                </a:solidFill>
                <a:latin typeface="Calibri"/>
                <a:ea typeface="Calibri"/>
                <a:cs typeface="Calibri"/>
              </a:rPr>
              <a:t>Exchange</a:t>
            </a:r>
          </a:p>
        </p:txBody>
      </p:sp>
      <p:sp>
        <p:nvSpPr>
          <p:cNvPr id="11" name="text-10">
            <a:extLst xmlns:a="http://schemas.openxmlformats.org/drawingml/2006/main">
              <a:ext uri="{FF2B5EF4-FFF2-40B4-BE49-F238E27FC236}">
                <a16:creationId xmlns:a16="http://schemas.microsoft.com/office/drawing/2014/main" id="{EA54C9B5-14E4-4071-BE46-690DA3A9808D}"/>
              </a:ext>
            </a:extLst>
          </p:cNvPr>
          <p:cNvSpPr>
            <a:spLocks xmlns:a="http://schemas.openxmlformats.org/drawingml/2006/main" noGrp="1"/>
          </p:cNvSpPr>
          <p:nvPr/>
        </p:nvSpPr>
        <p:spPr>
          <a:xfrm xmlns:a="http://schemas.openxmlformats.org/drawingml/2006/main">
            <a:off x="962025" y="3505200"/>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303853"/>
                </a:solidFill>
                <a:latin typeface="Calibri"/>
                <a:ea typeface="Calibri"/>
                <a:cs typeface="Calibri"/>
              </a:defRPr>
            </a:pPr>
            <a:r>
              <a:rPr sz="1800" b="0">
                <a:solidFill>
                  <a:srgbClr val="303853"/>
                </a:solidFill>
                <a:latin typeface="Calibri"/>
                <a:ea typeface="Calibri"/>
                <a:cs typeface="Calibri"/>
              </a:rPr>
              <a:t>Labour-value assessment protects labour and its fruits from exploitation.</a:t>
            </a:r>
          </a:p>
        </p:txBody>
      </p:sp>
    </p:spTree>
    <p:extLst>
      <p:ext uri="{BB962C8B-B14F-4D97-AF65-F5344CB8AC3E}">
        <p14:creationId xmlns:p14="http://schemas.microsoft.com/office/powerpoint/2010/main" val="136719352"/>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6A3D2421-1C36-4455-8578-D70AF201792D}"/>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9A6414"/>
                </a:solidFill>
                <a:latin typeface="Calibri"/>
                <a:ea typeface="Calibri"/>
                <a:cs typeface="Calibri"/>
              </a:defRPr>
            </a:pPr>
            <a:r>
              <a:rPr sz="1050" b="1">
                <a:solidFill>
                  <a:srgbClr val="9A6414"/>
                </a:solidFill>
                <a:latin typeface="Calibri"/>
                <a:ea typeface="Calibri"/>
                <a:cs typeface="Calibri"/>
              </a:rPr>
              <a:t>THE PURPOSE OF MEANS</a:t>
            </a:r>
          </a:p>
        </p:txBody>
      </p:sp>
      <p:sp>
        <p:nvSpPr>
          <p:cNvPr id="2" name="text-1">
            <a:extLst xmlns:a="http://schemas.openxmlformats.org/drawingml/2006/main">
              <a:ext uri="{FF2B5EF4-FFF2-40B4-BE49-F238E27FC236}">
                <a16:creationId xmlns:a16="http://schemas.microsoft.com/office/drawing/2014/main" id="{488D8AB2-D83D-4318-BC2A-528D2E7020BC}"/>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3000" b="1">
                <a:solidFill>
                  <a:srgbClr val="1E2447"/>
                </a:solidFill>
                <a:latin typeface="Cambria"/>
                <a:ea typeface="Cambria"/>
                <a:cs typeface="Cambria"/>
              </a:defRPr>
            </a:pPr>
            <a:r>
              <a:rPr sz="3000" b="1">
                <a:solidFill>
                  <a:srgbClr val="1E2447"/>
                </a:solidFill>
                <a:latin typeface="Cambria"/>
                <a:ea typeface="Cambria"/>
                <a:cs typeface="Cambria"/>
              </a:rPr>
              <a:t>Use, right-use, purposeful-use</a:t>
            </a:r>
          </a:p>
        </p:txBody>
      </p:sp>
      <p:sp>
        <p:nvSpPr>
          <p:cNvPr id="3" name="text-2">
            <a:extLst xmlns:a="http://schemas.openxmlformats.org/drawingml/2006/main">
              <a:ext uri="{FF2B5EF4-FFF2-40B4-BE49-F238E27FC236}">
                <a16:creationId xmlns:a16="http://schemas.microsoft.com/office/drawing/2014/main" id="{D3FBAD5E-9122-459C-916A-5CB65EB211AA}"/>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9D9F74C4-8255-4D1A-B960-CB771A1DCE23}"/>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50" b="0">
                <a:solidFill>
                  <a:srgbClr val="626C85"/>
                </a:solidFill>
                <a:latin typeface="Calibri"/>
                <a:ea typeface="Calibri"/>
                <a:cs typeface="Calibri"/>
              </a:defRPr>
            </a:pPr>
            <a:r>
              <a:rPr sz="950" b="0">
                <a:solidFill>
                  <a:srgbClr val="626C85"/>
                </a:solidFill>
                <a:latin typeface="Calibri"/>
                <a:ea typeface="Calibri"/>
                <a:cs typeface="Calibri"/>
              </a:rPr>
              <a:t>24 / 35</a:t>
            </a:r>
          </a:p>
        </p:txBody>
      </p:sp>
      <p:sp>
        <p:nvSpPr>
          <p:cNvPr id="5" name="text-4">
            <a:extLst xmlns:a="http://schemas.openxmlformats.org/drawingml/2006/main">
              <a:ext uri="{FF2B5EF4-FFF2-40B4-BE49-F238E27FC236}">
                <a16:creationId xmlns:a16="http://schemas.microsoft.com/office/drawing/2014/main" id="{7BF55E30-D88D-4786-8045-0F9098DD586A}"/>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00" b="0" i="1">
                <a:solidFill>
                  <a:srgbClr val="9A6414"/>
                </a:solidFill>
                <a:latin typeface="Calibri"/>
                <a:ea typeface="Calibri"/>
                <a:cs typeface="Calibri"/>
              </a:defRPr>
            </a:pPr>
            <a:r>
              <a:rPr sz="1300" b="0" i="1">
                <a:solidFill>
                  <a:srgbClr val="9A6414"/>
                </a:solidFill>
                <a:latin typeface="Calibri"/>
                <a:ea typeface="Calibri"/>
                <a:cs typeface="Calibri"/>
              </a:rPr>
              <a:t>A useful means still calls for evaluation of its purpose.</a:t>
            </a:r>
          </a:p>
        </p:txBody>
      </p:sp>
      <p:sp>
        <p:nvSpPr>
          <p:cNvPr id="6" name="text-5">
            <a:extLst xmlns:a="http://schemas.openxmlformats.org/drawingml/2006/main">
              <a:ext uri="{FF2B5EF4-FFF2-40B4-BE49-F238E27FC236}">
                <a16:creationId xmlns:a16="http://schemas.microsoft.com/office/drawing/2014/main" id="{EEE2A4F4-8B90-4159-BCDD-9BCE76DAD7C4}"/>
              </a:ext>
            </a:extLst>
          </p:cNvPr>
          <p:cNvSpPr>
            <a:spLocks xmlns:a="http://schemas.openxmlformats.org/drawingml/2006/main" noGrp="1"/>
          </p:cNvSpPr>
          <p:nvPr/>
        </p:nvSpPr>
        <p:spPr>
          <a:xfrm xmlns:a="http://schemas.openxmlformats.org/drawingml/2006/main">
            <a:off x="962025" y="1352550"/>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1E2447"/>
                </a:solidFill>
                <a:latin typeface="Calibri"/>
                <a:ea typeface="Calibri"/>
                <a:cs typeface="Calibri"/>
              </a:defRPr>
            </a:pPr>
            <a:r>
              <a:rPr sz="1875" b="1">
                <a:solidFill>
                  <a:srgbClr val="1E2447"/>
                </a:solidFill>
                <a:latin typeface="Calibri"/>
                <a:ea typeface="Calibri"/>
                <a:cs typeface="Calibri"/>
              </a:rPr>
              <a:t>Use</a:t>
            </a:r>
          </a:p>
        </p:txBody>
      </p:sp>
      <p:sp>
        <p:nvSpPr>
          <p:cNvPr id="7" name="text-6">
            <a:extLst xmlns:a="http://schemas.openxmlformats.org/drawingml/2006/main">
              <a:ext uri="{FF2B5EF4-FFF2-40B4-BE49-F238E27FC236}">
                <a16:creationId xmlns:a16="http://schemas.microsoft.com/office/drawing/2014/main" id="{C7AB0F92-8D24-4F1A-9A28-4C665CDB5DDA}"/>
              </a:ext>
            </a:extLst>
          </p:cNvPr>
          <p:cNvSpPr>
            <a:spLocks xmlns:a="http://schemas.openxmlformats.org/drawingml/2006/main" noGrp="1"/>
          </p:cNvSpPr>
          <p:nvPr/>
        </p:nvSpPr>
        <p:spPr>
          <a:xfrm xmlns:a="http://schemas.openxmlformats.org/drawingml/2006/main">
            <a:off x="962025" y="1695450"/>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303853"/>
                </a:solidFill>
                <a:latin typeface="Calibri"/>
                <a:ea typeface="Calibri"/>
                <a:cs typeface="Calibri"/>
              </a:defRPr>
            </a:pPr>
            <a:r>
              <a:rPr sz="1800" b="0">
                <a:solidFill>
                  <a:srgbClr val="303853"/>
                </a:solidFill>
                <a:latin typeface="Calibri"/>
                <a:ea typeface="Calibri"/>
                <a:cs typeface="Calibri"/>
              </a:rPr>
              <a:t>Means deployed in production and service.</a:t>
            </a:r>
          </a:p>
        </p:txBody>
      </p:sp>
      <p:sp>
        <p:nvSpPr>
          <p:cNvPr id="8" name="text-7">
            <a:extLst xmlns:a="http://schemas.openxmlformats.org/drawingml/2006/main">
              <a:ext uri="{FF2B5EF4-FFF2-40B4-BE49-F238E27FC236}">
                <a16:creationId xmlns:a16="http://schemas.microsoft.com/office/drawing/2014/main" id="{1FEB42D1-AC88-425E-98A5-FA6803834A63}"/>
              </a:ext>
            </a:extLst>
          </p:cNvPr>
          <p:cNvSpPr>
            <a:spLocks xmlns:a="http://schemas.openxmlformats.org/drawingml/2006/main" noGrp="1"/>
          </p:cNvSpPr>
          <p:nvPr/>
        </p:nvSpPr>
        <p:spPr>
          <a:xfrm xmlns:a="http://schemas.openxmlformats.org/drawingml/2006/main">
            <a:off x="962025" y="2257425"/>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1E2447"/>
                </a:solidFill>
                <a:latin typeface="Calibri"/>
                <a:ea typeface="Calibri"/>
                <a:cs typeface="Calibri"/>
              </a:defRPr>
            </a:pPr>
            <a:r>
              <a:rPr sz="1875" b="1">
                <a:solidFill>
                  <a:srgbClr val="1E2447"/>
                </a:solidFill>
                <a:latin typeface="Calibri"/>
                <a:ea typeface="Calibri"/>
                <a:cs typeface="Calibri"/>
              </a:rPr>
              <a:t>Right-use: sadupyog</a:t>
            </a:r>
          </a:p>
        </p:txBody>
      </p:sp>
      <p:sp>
        <p:nvSpPr>
          <p:cNvPr id="9" name="text-8">
            <a:extLst xmlns:a="http://schemas.openxmlformats.org/drawingml/2006/main">
              <a:ext uri="{FF2B5EF4-FFF2-40B4-BE49-F238E27FC236}">
                <a16:creationId xmlns:a16="http://schemas.microsoft.com/office/drawing/2014/main" id="{E413E8C4-983E-41CE-981F-18C69308C0C5}"/>
              </a:ext>
            </a:extLst>
          </p:cNvPr>
          <p:cNvSpPr>
            <a:spLocks xmlns:a="http://schemas.openxmlformats.org/drawingml/2006/main" noGrp="1"/>
          </p:cNvSpPr>
          <p:nvPr/>
        </p:nvSpPr>
        <p:spPr>
          <a:xfrm xmlns:a="http://schemas.openxmlformats.org/drawingml/2006/main">
            <a:off x="962025" y="2600325"/>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303853"/>
                </a:solidFill>
                <a:latin typeface="Calibri"/>
                <a:ea typeface="Calibri"/>
                <a:cs typeface="Calibri"/>
              </a:defRPr>
            </a:pPr>
            <a:r>
              <a:rPr sz="1800" b="0">
                <a:solidFill>
                  <a:srgbClr val="303853"/>
                </a:solidFill>
                <a:latin typeface="Calibri"/>
                <a:ea typeface="Calibri"/>
                <a:cs typeface="Calibri"/>
              </a:rPr>
              <a:t>Body, mind, and wealth in family orderliness.</a:t>
            </a:r>
          </a:p>
        </p:txBody>
      </p:sp>
      <p:sp>
        <p:nvSpPr>
          <p:cNvPr id="10" name="text-9">
            <a:extLst xmlns:a="http://schemas.openxmlformats.org/drawingml/2006/main">
              <a:ext uri="{FF2B5EF4-FFF2-40B4-BE49-F238E27FC236}">
                <a16:creationId xmlns:a16="http://schemas.microsoft.com/office/drawing/2014/main" id="{919B471D-7676-4632-A8F5-04AC41813E2E}"/>
              </a:ext>
            </a:extLst>
          </p:cNvPr>
          <p:cNvSpPr>
            <a:spLocks xmlns:a="http://schemas.openxmlformats.org/drawingml/2006/main" noGrp="1"/>
          </p:cNvSpPr>
          <p:nvPr/>
        </p:nvSpPr>
        <p:spPr>
          <a:xfrm xmlns:a="http://schemas.openxmlformats.org/drawingml/2006/main">
            <a:off x="962025" y="3162300"/>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1E2447"/>
                </a:solidFill>
                <a:latin typeface="Calibri"/>
                <a:ea typeface="Calibri"/>
                <a:cs typeface="Calibri"/>
              </a:defRPr>
            </a:pPr>
            <a:r>
              <a:rPr sz="1875" b="1">
                <a:solidFill>
                  <a:srgbClr val="1E2447"/>
                </a:solidFill>
                <a:latin typeface="Calibri"/>
                <a:ea typeface="Calibri"/>
                <a:cs typeface="Calibri"/>
              </a:rPr>
              <a:t>Purposeful-use: prayojansheelta</a:t>
            </a:r>
          </a:p>
        </p:txBody>
      </p:sp>
      <p:sp>
        <p:nvSpPr>
          <p:cNvPr id="11" name="text-10">
            <a:extLst xmlns:a="http://schemas.openxmlformats.org/drawingml/2006/main">
              <a:ext uri="{FF2B5EF4-FFF2-40B4-BE49-F238E27FC236}">
                <a16:creationId xmlns:a16="http://schemas.microsoft.com/office/drawing/2014/main" id="{2B4F3040-8629-4811-9A7E-0E5ADF8652C6}"/>
              </a:ext>
            </a:extLst>
          </p:cNvPr>
          <p:cNvSpPr>
            <a:spLocks xmlns:a="http://schemas.openxmlformats.org/drawingml/2006/main" noGrp="1"/>
          </p:cNvSpPr>
          <p:nvPr/>
        </p:nvSpPr>
        <p:spPr>
          <a:xfrm xmlns:a="http://schemas.openxmlformats.org/drawingml/2006/main">
            <a:off x="962025" y="3505200"/>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303853"/>
                </a:solidFill>
                <a:latin typeface="Calibri"/>
                <a:ea typeface="Calibri"/>
                <a:cs typeface="Calibri"/>
              </a:defRPr>
            </a:pPr>
            <a:r>
              <a:rPr sz="1800" b="0">
                <a:solidFill>
                  <a:srgbClr val="303853"/>
                </a:solidFill>
                <a:latin typeface="Calibri"/>
                <a:ea typeface="Calibri"/>
                <a:cs typeface="Calibri"/>
              </a:rPr>
              <a:t>Participation in awakening, undivided society, and universal orderliness.</a:t>
            </a:r>
          </a:p>
        </p:txBody>
      </p:sp>
    </p:spTree>
    <p:extLst>
      <p:ext uri="{BB962C8B-B14F-4D97-AF65-F5344CB8AC3E}">
        <p14:creationId xmlns:p14="http://schemas.microsoft.com/office/powerpoint/2010/main" val="1381155616"/>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text-0">
            <a:extLst xmlns:a="http://schemas.openxmlformats.org/drawingml/2006/main">
              <a:ext uri="{FF2B5EF4-FFF2-40B4-BE49-F238E27FC236}">
                <a16:creationId xmlns:a16="http://schemas.microsoft.com/office/drawing/2014/main" id="{A7CFEE83-9AD5-4335-BF16-98ED514294A2}"/>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9A6414"/>
                </a:solidFill>
                <a:latin typeface="Calibri"/>
                <a:ea typeface="Calibri"/>
                <a:cs typeface="Calibri"/>
              </a:defRPr>
            </a:pPr>
            <a:r>
              <a:rPr sz="1050" b="1">
                <a:solidFill>
                  <a:srgbClr val="9A6414"/>
                </a:solidFill>
                <a:latin typeface="Calibri"/>
                <a:ea typeface="Calibri"/>
                <a:cs typeface="Calibri"/>
              </a:rPr>
              <a:t>THE WIDER CONSEQUENCES</a:t>
            </a:r>
          </a:p>
        </p:txBody>
      </p:sp>
      <p:sp>
        <p:nvSpPr>
          <p:cNvPr id="2" name="text-1">
            <a:extLst xmlns:a="http://schemas.openxmlformats.org/drawingml/2006/main">
              <a:ext uri="{FF2B5EF4-FFF2-40B4-BE49-F238E27FC236}">
                <a16:creationId xmlns:a16="http://schemas.microsoft.com/office/drawing/2014/main" id="{E08AE14A-8492-4E18-B149-5245BC7BEAC7}"/>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3000" b="1">
                <a:solidFill>
                  <a:srgbClr val="1E2447"/>
                </a:solidFill>
                <a:latin typeface="Cambria"/>
                <a:ea typeface="Cambria"/>
                <a:cs typeface="Cambria"/>
              </a:defRPr>
            </a:pPr>
            <a:r>
              <a:rPr sz="3000" b="1">
                <a:solidFill>
                  <a:srgbClr val="1E2447"/>
                </a:solidFill>
                <a:latin typeface="Cambria"/>
                <a:ea typeface="Cambria"/>
                <a:cs typeface="Cambria"/>
              </a:rPr>
              <a:t>Regeneration and the other orders</a:t>
            </a:r>
          </a:p>
        </p:txBody>
      </p:sp>
      <p:sp>
        <p:nvSpPr>
          <p:cNvPr id="3" name="text-2">
            <a:extLst xmlns:a="http://schemas.openxmlformats.org/drawingml/2006/main">
              <a:ext uri="{FF2B5EF4-FFF2-40B4-BE49-F238E27FC236}">
                <a16:creationId xmlns:a16="http://schemas.microsoft.com/office/drawing/2014/main" id="{3977CD5C-3A68-40F1-B735-ABF9F8FBD5DB}"/>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E1621ACF-F5D4-426B-9F32-9FCAFCD691C1}"/>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50" b="0">
                <a:solidFill>
                  <a:srgbClr val="626C85"/>
                </a:solidFill>
                <a:latin typeface="Calibri"/>
                <a:ea typeface="Calibri"/>
                <a:cs typeface="Calibri"/>
              </a:defRPr>
            </a:pPr>
            <a:r>
              <a:rPr sz="950" b="0">
                <a:solidFill>
                  <a:srgbClr val="626C85"/>
                </a:solidFill>
                <a:latin typeface="Calibri"/>
                <a:ea typeface="Calibri"/>
                <a:cs typeface="Calibri"/>
              </a:rPr>
              <a:t>25 / 35</a:t>
            </a:r>
          </a:p>
        </p:txBody>
      </p:sp>
      <p:sp>
        <p:nvSpPr>
          <p:cNvPr id="5" name="text-4">
            <a:extLst xmlns:a="http://schemas.openxmlformats.org/drawingml/2006/main">
              <a:ext uri="{FF2B5EF4-FFF2-40B4-BE49-F238E27FC236}">
                <a16:creationId xmlns:a16="http://schemas.microsoft.com/office/drawing/2014/main" id="{908B76C8-486C-43F5-A396-9A387E9603DF}"/>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00" b="0" i="1">
                <a:solidFill>
                  <a:srgbClr val="9A6414"/>
                </a:solidFill>
                <a:latin typeface="Calibri"/>
                <a:ea typeface="Calibri"/>
                <a:cs typeface="Calibri"/>
              </a:defRPr>
            </a:pPr>
            <a:r>
              <a:rPr sz="1300" b="0" i="1">
                <a:solidFill>
                  <a:srgbClr val="9A6414"/>
                </a:solidFill>
                <a:latin typeface="Calibri"/>
                <a:ea typeface="Calibri"/>
                <a:cs typeface="Calibri"/>
              </a:rPr>
              <a:t>A beneficial exchange between two people can still leave wider effects unresolved.</a:t>
            </a:r>
          </a:p>
        </p:txBody>
      </p:sp>
      <p:sp>
        <p:nvSpPr>
          <p:cNvPr id="6" name="text-5">
            <a:extLst xmlns:a="http://schemas.openxmlformats.org/drawingml/2006/main">
              <a:ext uri="{FF2B5EF4-FFF2-40B4-BE49-F238E27FC236}">
                <a16:creationId xmlns:a16="http://schemas.microsoft.com/office/drawing/2014/main" id="{842E571E-1552-4169-8A44-03DEFE4E66E3}"/>
              </a:ext>
            </a:extLst>
          </p:cNvPr>
          <p:cNvSpPr>
            <a:spLocks xmlns:a="http://schemas.openxmlformats.org/drawingml/2006/main" noGrp="1"/>
          </p:cNvSpPr>
          <p:nvPr/>
        </p:nvSpPr>
        <p:spPr>
          <a:xfrm xmlns:a="http://schemas.openxmlformats.org/drawingml/2006/main">
            <a:off x="962025" y="1362075"/>
            <a:ext cx="7543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E2447"/>
                </a:solidFill>
                <a:latin typeface="Cambria"/>
                <a:ea typeface="Cambria"/>
                <a:cs typeface="Cambria"/>
              </a:defRPr>
            </a:pPr>
            <a:r>
              <a:rPr sz="2325" b="0">
                <a:solidFill>
                  <a:srgbClr val="1E2447"/>
                </a:solidFill>
                <a:latin typeface="Cambria"/>
                <a:ea typeface="Cambria"/>
                <a:cs typeface="Cambria"/>
              </a:rPr>
              <a:t>Useful production remains answerable to the conditions of coexistence.</a:t>
            </a:r>
          </a:p>
        </p:txBody>
      </p:sp>
      <p:sp>
        <p:nvSpPr>
          <p:cNvPr id="7" name="text-6">
            <a:extLst xmlns:a="http://schemas.openxmlformats.org/drawingml/2006/main">
              <a:ext uri="{FF2B5EF4-FFF2-40B4-BE49-F238E27FC236}">
                <a16:creationId xmlns:a16="http://schemas.microsoft.com/office/drawing/2014/main" id="{BB6802D5-A5A4-457E-B91C-DEC5097A82C0}"/>
              </a:ext>
            </a:extLst>
          </p:cNvPr>
          <p:cNvSpPr>
            <a:spLocks xmlns:a="http://schemas.openxmlformats.org/drawingml/2006/main" noGrp="1"/>
          </p:cNvSpPr>
          <p:nvPr/>
        </p:nvSpPr>
        <p:spPr>
          <a:xfrm xmlns:a="http://schemas.openxmlformats.org/drawingml/2006/main">
            <a:off x="962025" y="2619375"/>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1E2447"/>
                </a:solidFill>
                <a:latin typeface="Calibri"/>
                <a:ea typeface="Calibri"/>
                <a:cs typeface="Calibri"/>
              </a:defRPr>
            </a:pPr>
            <a:r>
              <a:rPr sz="1875" b="1">
                <a:solidFill>
                  <a:srgbClr val="1E2447"/>
                </a:solidFill>
                <a:latin typeface="Calibri"/>
                <a:ea typeface="Calibri"/>
                <a:cs typeface="Calibri"/>
              </a:rPr>
              <a:t>Immediate fulfilment</a:t>
            </a:r>
          </a:p>
        </p:txBody>
      </p:sp>
      <p:sp>
        <p:nvSpPr>
          <p:cNvPr id="8" name="text-7">
            <a:extLst xmlns:a="http://schemas.openxmlformats.org/drawingml/2006/main">
              <a:ext uri="{FF2B5EF4-FFF2-40B4-BE49-F238E27FC236}">
                <a16:creationId xmlns:a16="http://schemas.microsoft.com/office/drawing/2014/main" id="{347450EA-B23C-4C6F-99C0-90314ACB1586}"/>
              </a:ext>
            </a:extLst>
          </p:cNvPr>
          <p:cNvSpPr>
            <a:spLocks xmlns:a="http://schemas.openxmlformats.org/drawingml/2006/main" noGrp="1"/>
          </p:cNvSpPr>
          <p:nvPr/>
        </p:nvSpPr>
        <p:spPr>
          <a:xfrm xmlns:a="http://schemas.openxmlformats.org/drawingml/2006/main">
            <a:off x="962025" y="2962275"/>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303853"/>
                </a:solidFill>
                <a:latin typeface="Calibri"/>
                <a:ea typeface="Calibri"/>
                <a:cs typeface="Calibri"/>
              </a:defRPr>
            </a:pPr>
            <a:r>
              <a:rPr sz="1800" b="0">
                <a:solidFill>
                  <a:srgbClr val="303853"/>
                </a:solidFill>
                <a:latin typeface="Calibri"/>
                <a:ea typeface="Calibri"/>
                <a:cs typeface="Calibri"/>
              </a:rPr>
              <a:t>What need does the product meet?</a:t>
            </a:r>
          </a:p>
        </p:txBody>
      </p:sp>
      <p:sp>
        <p:nvSpPr>
          <p:cNvPr id="9" name="text-8">
            <a:extLst xmlns:a="http://schemas.openxmlformats.org/drawingml/2006/main">
              <a:ext uri="{FF2B5EF4-FFF2-40B4-BE49-F238E27FC236}">
                <a16:creationId xmlns:a16="http://schemas.microsoft.com/office/drawing/2014/main" id="{EA963B40-FB19-4716-A05D-1452BE013C2C}"/>
              </a:ext>
            </a:extLst>
          </p:cNvPr>
          <p:cNvSpPr>
            <a:spLocks xmlns:a="http://schemas.openxmlformats.org/drawingml/2006/main" noGrp="1"/>
          </p:cNvSpPr>
          <p:nvPr/>
        </p:nvSpPr>
        <p:spPr>
          <a:xfrm xmlns:a="http://schemas.openxmlformats.org/drawingml/2006/main">
            <a:off x="962025" y="3429000"/>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1E2447"/>
                </a:solidFill>
                <a:latin typeface="Calibri"/>
                <a:ea typeface="Calibri"/>
                <a:cs typeface="Calibri"/>
              </a:defRPr>
            </a:pPr>
            <a:r>
              <a:rPr sz="1875" b="1">
                <a:solidFill>
                  <a:srgbClr val="1E2447"/>
                </a:solidFill>
                <a:latin typeface="Calibri"/>
                <a:ea typeface="Calibri"/>
                <a:cs typeface="Calibri"/>
              </a:rPr>
              <a:t>Wider participation</a:t>
            </a:r>
          </a:p>
        </p:txBody>
      </p:sp>
      <p:sp>
        <p:nvSpPr>
          <p:cNvPr id="10" name="text-9">
            <a:extLst xmlns:a="http://schemas.openxmlformats.org/drawingml/2006/main">
              <a:ext uri="{FF2B5EF4-FFF2-40B4-BE49-F238E27FC236}">
                <a16:creationId xmlns:a16="http://schemas.microsoft.com/office/drawing/2014/main" id="{09A4C135-6258-469E-AF48-7F7D47DC9F7C}"/>
              </a:ext>
            </a:extLst>
          </p:cNvPr>
          <p:cNvSpPr>
            <a:spLocks xmlns:a="http://schemas.openxmlformats.org/drawingml/2006/main" noGrp="1"/>
          </p:cNvSpPr>
          <p:nvPr/>
        </p:nvSpPr>
        <p:spPr>
          <a:xfrm xmlns:a="http://schemas.openxmlformats.org/drawingml/2006/main">
            <a:off x="962025" y="3771900"/>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303853"/>
                </a:solidFill>
                <a:latin typeface="Calibri"/>
                <a:ea typeface="Calibri"/>
                <a:cs typeface="Calibri"/>
              </a:defRPr>
            </a:pPr>
            <a:r>
              <a:rPr sz="1800" b="0">
                <a:solidFill>
                  <a:srgbClr val="303853"/>
                </a:solidFill>
                <a:latin typeface="Calibri"/>
                <a:ea typeface="Calibri"/>
                <a:cs typeface="Calibri"/>
              </a:rPr>
              <a:t>What does its production do to the other orders?</a:t>
            </a:r>
          </a:p>
        </p:txBody>
      </p:sp>
    </p:spTree>
    <p:extLst>
      <p:ext uri="{BB962C8B-B14F-4D97-AF65-F5344CB8AC3E}">
        <p14:creationId xmlns:p14="http://schemas.microsoft.com/office/powerpoint/2010/main" val="1126430514"/>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0">
            <a:extLst xmlns:a="http://schemas.openxmlformats.org/drawingml/2006/main">
              <a:ext uri="{FF2B5EF4-FFF2-40B4-BE49-F238E27FC236}">
                <a16:creationId xmlns:a16="http://schemas.microsoft.com/office/drawing/2014/main" id="{89A87F38-28E2-440A-8399-AFB76C869D99}"/>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9A6414"/>
                </a:solidFill>
                <a:latin typeface="Calibri"/>
                <a:ea typeface="Calibri"/>
                <a:cs typeface="Calibri"/>
              </a:defRPr>
            </a:pPr>
            <a:r>
              <a:rPr sz="1050" b="1">
                <a:solidFill>
                  <a:srgbClr val="9A6414"/>
                </a:solidFill>
                <a:latin typeface="Calibri"/>
                <a:ea typeface="Calibri"/>
                <a:cs typeface="Calibri"/>
              </a:rPr>
              <a:t>EDUCATION AND CONTINUITY</a:t>
            </a:r>
          </a:p>
        </p:txBody>
      </p:sp>
      <p:sp>
        <p:nvSpPr>
          <p:cNvPr id="2" name="text-1">
            <a:extLst xmlns:a="http://schemas.openxmlformats.org/drawingml/2006/main">
              <a:ext uri="{FF2B5EF4-FFF2-40B4-BE49-F238E27FC236}">
                <a16:creationId xmlns:a16="http://schemas.microsoft.com/office/drawing/2014/main" id="{82A58EEB-4944-4684-B6C2-585A5EE9EBCF}"/>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3000" b="1">
                <a:solidFill>
                  <a:srgbClr val="1E2447"/>
                </a:solidFill>
                <a:latin typeface="Cambria"/>
                <a:ea typeface="Cambria"/>
                <a:cs typeface="Cambria"/>
              </a:defRPr>
            </a:pPr>
            <a:r>
              <a:rPr sz="3000" b="1">
                <a:solidFill>
                  <a:srgbClr val="1E2447"/>
                </a:solidFill>
                <a:latin typeface="Cambria"/>
                <a:ea typeface="Cambria"/>
                <a:cs typeface="Cambria"/>
              </a:rPr>
              <a:t>Learning through participation</a:t>
            </a:r>
          </a:p>
        </p:txBody>
      </p:sp>
      <p:sp>
        <p:nvSpPr>
          <p:cNvPr id="3" name="text-2">
            <a:extLst xmlns:a="http://schemas.openxmlformats.org/drawingml/2006/main">
              <a:ext uri="{FF2B5EF4-FFF2-40B4-BE49-F238E27FC236}">
                <a16:creationId xmlns:a16="http://schemas.microsoft.com/office/drawing/2014/main" id="{54A84BAA-8675-4B21-9CDA-4E2C13F906FB}"/>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8FEC5152-85FD-451E-BCFC-973DD56DC783}"/>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50" b="0">
                <a:solidFill>
                  <a:srgbClr val="626C85"/>
                </a:solidFill>
                <a:latin typeface="Calibri"/>
                <a:ea typeface="Calibri"/>
                <a:cs typeface="Calibri"/>
              </a:defRPr>
            </a:pPr>
            <a:r>
              <a:rPr sz="950" b="0">
                <a:solidFill>
                  <a:srgbClr val="626C85"/>
                </a:solidFill>
                <a:latin typeface="Calibri"/>
                <a:ea typeface="Calibri"/>
                <a:cs typeface="Calibri"/>
              </a:rPr>
              <a:t>26 / 35</a:t>
            </a:r>
          </a:p>
        </p:txBody>
      </p:sp>
      <p:sp>
        <p:nvSpPr>
          <p:cNvPr id="5" name="text-4">
            <a:extLst xmlns:a="http://schemas.openxmlformats.org/drawingml/2006/main">
              <a:ext uri="{FF2B5EF4-FFF2-40B4-BE49-F238E27FC236}">
                <a16:creationId xmlns:a16="http://schemas.microsoft.com/office/drawing/2014/main" id="{33A09012-8745-406F-834B-B4B3EF861C4F}"/>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00" b="0" i="1">
                <a:solidFill>
                  <a:srgbClr val="9A6414"/>
                </a:solidFill>
                <a:latin typeface="Calibri"/>
                <a:ea typeface="Calibri"/>
                <a:cs typeface="Calibri"/>
              </a:defRPr>
            </a:pPr>
            <a:r>
              <a:rPr sz="1300" b="0" i="1">
                <a:solidFill>
                  <a:srgbClr val="9A6414"/>
                </a:solidFill>
                <a:latin typeface="Calibri"/>
                <a:ea typeface="Calibri"/>
                <a:cs typeface="Calibri"/>
              </a:rPr>
              <a:t>Repetition supports inquiry only when its meaning and results are examined.</a:t>
            </a:r>
          </a:p>
        </p:txBody>
      </p:sp>
      <p:sp>
        <p:nvSpPr>
          <p:cNvPr id="6" name="text-5">
            <a:extLst xmlns:a="http://schemas.openxmlformats.org/drawingml/2006/main">
              <a:ext uri="{FF2B5EF4-FFF2-40B4-BE49-F238E27FC236}">
                <a16:creationId xmlns:a16="http://schemas.microsoft.com/office/drawing/2014/main" id="{B95F7163-806F-49F0-85B0-830EFB5FE1F3}"/>
              </a:ext>
            </a:extLst>
          </p:cNvPr>
          <p:cNvSpPr>
            <a:spLocks xmlns:a="http://schemas.openxmlformats.org/drawingml/2006/main" noGrp="1"/>
          </p:cNvSpPr>
          <p:nvPr/>
        </p:nvSpPr>
        <p:spPr>
          <a:xfrm xmlns:a="http://schemas.openxmlformats.org/drawingml/2006/main">
            <a:off x="962025" y="1362075"/>
            <a:ext cx="2047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1">
                <a:solidFill>
                  <a:srgbClr val="1E2447"/>
                </a:solidFill>
                <a:latin typeface="Calibri"/>
                <a:ea typeface="Calibri"/>
                <a:cs typeface="Calibri"/>
              </a:defRPr>
            </a:pPr>
            <a:r>
              <a:rPr sz="1800" b="1">
                <a:solidFill>
                  <a:srgbClr val="1E2447"/>
                </a:solidFill>
                <a:latin typeface="Calibri"/>
                <a:ea typeface="Calibri"/>
                <a:cs typeface="Calibri"/>
              </a:rPr>
              <a:t>Study and inquiry</a:t>
            </a:r>
          </a:p>
        </p:txBody>
      </p:sp>
      <p:sp>
        <p:nvSpPr>
          <p:cNvPr id="7" name="text-6">
            <a:extLst xmlns:a="http://schemas.openxmlformats.org/drawingml/2006/main">
              <a:ext uri="{FF2B5EF4-FFF2-40B4-BE49-F238E27FC236}">
                <a16:creationId xmlns:a16="http://schemas.microsoft.com/office/drawing/2014/main" id="{3CE6CAE2-B123-4376-AED6-ED185C393365}"/>
              </a:ext>
            </a:extLst>
          </p:cNvPr>
          <p:cNvSpPr>
            <a:spLocks xmlns:a="http://schemas.openxmlformats.org/drawingml/2006/main" noGrp="1"/>
          </p:cNvSpPr>
          <p:nvPr/>
        </p:nvSpPr>
        <p:spPr>
          <a:xfrm xmlns:a="http://schemas.openxmlformats.org/drawingml/2006/main">
            <a:off x="3248025" y="1362075"/>
            <a:ext cx="52578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303853"/>
                </a:solidFill>
                <a:latin typeface="Calibri"/>
                <a:ea typeface="Calibri"/>
                <a:cs typeface="Calibri"/>
              </a:defRPr>
            </a:pPr>
            <a:r>
              <a:rPr sz="1725" b="0">
                <a:solidFill>
                  <a:srgbClr val="303853"/>
                </a:solidFill>
                <a:latin typeface="Calibri"/>
                <a:ea typeface="Calibri"/>
                <a:cs typeface="Calibri"/>
              </a:rPr>
              <a:t>The learner examines the meaning of the proposal.</a:t>
            </a:r>
          </a:p>
        </p:txBody>
      </p:sp>
      <p:sp>
        <p:nvSpPr>
          <p:cNvPr id="8" name="text-7">
            <a:extLst xmlns:a="http://schemas.openxmlformats.org/drawingml/2006/main">
              <a:ext uri="{FF2B5EF4-FFF2-40B4-BE49-F238E27FC236}">
                <a16:creationId xmlns:a16="http://schemas.microsoft.com/office/drawing/2014/main" id="{0A8FFC14-FC09-4E1E-8744-E75AC82926A6}"/>
              </a:ext>
            </a:extLst>
          </p:cNvPr>
          <p:cNvSpPr>
            <a:spLocks xmlns:a="http://schemas.openxmlformats.org/drawingml/2006/main" noGrp="1"/>
          </p:cNvSpPr>
          <p:nvPr/>
        </p:nvSpPr>
        <p:spPr>
          <a:xfrm xmlns:a="http://schemas.openxmlformats.org/drawingml/2006/main">
            <a:off x="962025" y="2085975"/>
            <a:ext cx="2047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1">
                <a:solidFill>
                  <a:srgbClr val="1E2447"/>
                </a:solidFill>
                <a:latin typeface="Calibri"/>
                <a:ea typeface="Calibri"/>
                <a:cs typeface="Calibri"/>
              </a:defRPr>
            </a:pPr>
            <a:r>
              <a:rPr sz="1800" b="1">
                <a:solidFill>
                  <a:srgbClr val="1E2447"/>
                </a:solidFill>
                <a:latin typeface="Calibri"/>
                <a:ea typeface="Calibri"/>
                <a:cs typeface="Calibri"/>
              </a:rPr>
              <a:t>Practice</a:t>
            </a:r>
          </a:p>
        </p:txBody>
      </p:sp>
      <p:sp>
        <p:nvSpPr>
          <p:cNvPr id="9" name="text-8">
            <a:extLst xmlns:a="http://schemas.openxmlformats.org/drawingml/2006/main">
              <a:ext uri="{FF2B5EF4-FFF2-40B4-BE49-F238E27FC236}">
                <a16:creationId xmlns:a16="http://schemas.microsoft.com/office/drawing/2014/main" id="{90C77C94-F397-425D-A38F-426A3A516714}"/>
              </a:ext>
            </a:extLst>
          </p:cNvPr>
          <p:cNvSpPr>
            <a:spLocks xmlns:a="http://schemas.openxmlformats.org/drawingml/2006/main" noGrp="1"/>
          </p:cNvSpPr>
          <p:nvPr/>
        </p:nvSpPr>
        <p:spPr>
          <a:xfrm xmlns:a="http://schemas.openxmlformats.org/drawingml/2006/main">
            <a:off x="3248025" y="2085975"/>
            <a:ext cx="52578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303853"/>
                </a:solidFill>
                <a:latin typeface="Calibri"/>
                <a:ea typeface="Calibri"/>
                <a:cs typeface="Calibri"/>
              </a:defRPr>
            </a:pPr>
            <a:r>
              <a:rPr sz="1725" b="0">
                <a:solidFill>
                  <a:srgbClr val="303853"/>
                </a:solidFill>
                <a:latin typeface="Calibri"/>
                <a:ea typeface="Calibri"/>
                <a:cs typeface="Calibri"/>
              </a:rPr>
              <a:t>Outward participation can begin before establishment.</a:t>
            </a:r>
          </a:p>
        </p:txBody>
      </p:sp>
      <p:sp>
        <p:nvSpPr>
          <p:cNvPr id="10" name="text-9">
            <a:extLst xmlns:a="http://schemas.openxmlformats.org/drawingml/2006/main">
              <a:ext uri="{FF2B5EF4-FFF2-40B4-BE49-F238E27FC236}">
                <a16:creationId xmlns:a16="http://schemas.microsoft.com/office/drawing/2014/main" id="{A3232600-E755-43DA-B339-5926434E5530}"/>
              </a:ext>
            </a:extLst>
          </p:cNvPr>
          <p:cNvSpPr>
            <a:spLocks xmlns:a="http://schemas.openxmlformats.org/drawingml/2006/main" noGrp="1"/>
          </p:cNvSpPr>
          <p:nvPr/>
        </p:nvSpPr>
        <p:spPr>
          <a:xfrm xmlns:a="http://schemas.openxmlformats.org/drawingml/2006/main">
            <a:off x="962025" y="2809875"/>
            <a:ext cx="2047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1">
                <a:solidFill>
                  <a:srgbClr val="1E2447"/>
                </a:solidFill>
                <a:latin typeface="Calibri"/>
                <a:ea typeface="Calibri"/>
                <a:cs typeface="Calibri"/>
              </a:defRPr>
            </a:pPr>
            <a:r>
              <a:rPr sz="1800" b="1">
                <a:solidFill>
                  <a:srgbClr val="1E2447"/>
                </a:solidFill>
                <a:latin typeface="Calibri"/>
                <a:ea typeface="Calibri"/>
                <a:cs typeface="Calibri"/>
              </a:rPr>
              <a:t>Self-evaluation</a:t>
            </a:r>
          </a:p>
        </p:txBody>
      </p:sp>
      <p:sp>
        <p:nvSpPr>
          <p:cNvPr id="11" name="text-10">
            <a:extLst xmlns:a="http://schemas.openxmlformats.org/drawingml/2006/main">
              <a:ext uri="{FF2B5EF4-FFF2-40B4-BE49-F238E27FC236}">
                <a16:creationId xmlns:a16="http://schemas.microsoft.com/office/drawing/2014/main" id="{90182758-3254-46BE-9133-391E5ABFF9C8}"/>
              </a:ext>
            </a:extLst>
          </p:cNvPr>
          <p:cNvSpPr>
            <a:spLocks xmlns:a="http://schemas.openxmlformats.org/drawingml/2006/main" noGrp="1"/>
          </p:cNvSpPr>
          <p:nvPr/>
        </p:nvSpPr>
        <p:spPr>
          <a:xfrm xmlns:a="http://schemas.openxmlformats.org/drawingml/2006/main">
            <a:off x="3248025" y="2809875"/>
            <a:ext cx="52578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303853"/>
                </a:solidFill>
                <a:latin typeface="Calibri"/>
                <a:ea typeface="Calibri"/>
                <a:cs typeface="Calibri"/>
              </a:defRPr>
            </a:pPr>
            <a:r>
              <a:rPr sz="1725" b="0">
                <a:solidFill>
                  <a:srgbClr val="303853"/>
                </a:solidFill>
                <a:latin typeface="Calibri"/>
                <a:ea typeface="Calibri"/>
                <a:cs typeface="Calibri"/>
              </a:rPr>
              <a:t>The learner examines understanding and fulfilment.</a:t>
            </a:r>
          </a:p>
        </p:txBody>
      </p:sp>
      <p:sp>
        <p:nvSpPr>
          <p:cNvPr id="12" name="text-11">
            <a:extLst xmlns:a="http://schemas.openxmlformats.org/drawingml/2006/main">
              <a:ext uri="{FF2B5EF4-FFF2-40B4-BE49-F238E27FC236}">
                <a16:creationId xmlns:a16="http://schemas.microsoft.com/office/drawing/2014/main" id="{93CF1612-4DB1-48CA-A530-7C91A97DD73D}"/>
              </a:ext>
            </a:extLst>
          </p:cNvPr>
          <p:cNvSpPr>
            <a:spLocks xmlns:a="http://schemas.openxmlformats.org/drawingml/2006/main" noGrp="1"/>
          </p:cNvSpPr>
          <p:nvPr/>
        </p:nvSpPr>
        <p:spPr>
          <a:xfrm xmlns:a="http://schemas.openxmlformats.org/drawingml/2006/main">
            <a:off x="962025" y="3533775"/>
            <a:ext cx="2047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1">
                <a:solidFill>
                  <a:srgbClr val="1E2447"/>
                </a:solidFill>
                <a:latin typeface="Calibri"/>
                <a:ea typeface="Calibri"/>
                <a:cs typeface="Calibri"/>
              </a:defRPr>
            </a:pPr>
            <a:r>
              <a:rPr sz="1800" b="1">
                <a:solidFill>
                  <a:srgbClr val="1E2447"/>
                </a:solidFill>
                <a:latin typeface="Calibri"/>
                <a:ea typeface="Calibri"/>
                <a:cs typeface="Calibri"/>
              </a:rPr>
              <a:t>Continuity</a:t>
            </a:r>
          </a:p>
        </p:txBody>
      </p:sp>
      <p:sp>
        <p:nvSpPr>
          <p:cNvPr id="13" name="text-12">
            <a:extLst xmlns:a="http://schemas.openxmlformats.org/drawingml/2006/main">
              <a:ext uri="{FF2B5EF4-FFF2-40B4-BE49-F238E27FC236}">
                <a16:creationId xmlns:a16="http://schemas.microsoft.com/office/drawing/2014/main" id="{27A356DC-5A16-4306-BAE2-0CC158E7CBB8}"/>
              </a:ext>
            </a:extLst>
          </p:cNvPr>
          <p:cNvSpPr>
            <a:spLocks xmlns:a="http://schemas.openxmlformats.org/drawingml/2006/main" noGrp="1"/>
          </p:cNvSpPr>
          <p:nvPr/>
        </p:nvSpPr>
        <p:spPr>
          <a:xfrm xmlns:a="http://schemas.openxmlformats.org/drawingml/2006/main">
            <a:off x="3248025" y="3533775"/>
            <a:ext cx="52578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303853"/>
                </a:solidFill>
                <a:latin typeface="Calibri"/>
                <a:ea typeface="Calibri"/>
                <a:cs typeface="Calibri"/>
              </a:defRPr>
            </a:pPr>
            <a:r>
              <a:rPr sz="1725" b="0">
                <a:solidFill>
                  <a:srgbClr val="303853"/>
                </a:solidFill>
                <a:latin typeface="Calibri"/>
                <a:ea typeface="Calibri"/>
                <a:cs typeface="Calibri"/>
              </a:rPr>
              <a:t>Understanding becomes sustained evidence in living.</a:t>
            </a:r>
          </a:p>
        </p:txBody>
      </p:sp>
    </p:spTree>
    <p:extLst>
      <p:ext uri="{BB962C8B-B14F-4D97-AF65-F5344CB8AC3E}">
        <p14:creationId xmlns:p14="http://schemas.microsoft.com/office/powerpoint/2010/main" val="1556008602"/>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DC14BA65-6874-41ED-92B4-0331626800B8}"/>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9A6414"/>
                </a:solidFill>
                <a:latin typeface="Calibri"/>
                <a:ea typeface="Calibri"/>
                <a:cs typeface="Calibri"/>
              </a:defRPr>
            </a:pPr>
            <a:r>
              <a:rPr sz="1050" b="1">
                <a:solidFill>
                  <a:srgbClr val="9A6414"/>
                </a:solidFill>
                <a:latin typeface="Calibri"/>
                <a:ea typeface="Calibri"/>
                <a:cs typeface="Calibri"/>
              </a:rPr>
              <a:t>VALUES AND SOCIAL RESPONSIBILITY</a:t>
            </a:r>
          </a:p>
        </p:txBody>
      </p:sp>
      <p:sp>
        <p:nvSpPr>
          <p:cNvPr id="2" name="text-1">
            <a:extLst xmlns:a="http://schemas.openxmlformats.org/drawingml/2006/main">
              <a:ext uri="{FF2B5EF4-FFF2-40B4-BE49-F238E27FC236}">
                <a16:creationId xmlns:a16="http://schemas.microsoft.com/office/drawing/2014/main" id="{D5313E4B-0243-4C58-8A6B-097EEFE967F2}"/>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3000" b="1">
                <a:solidFill>
                  <a:srgbClr val="1E2447"/>
                </a:solidFill>
                <a:latin typeface="Cambria"/>
                <a:ea typeface="Cambria"/>
                <a:cs typeface="Cambria"/>
              </a:defRPr>
            </a:pPr>
            <a:r>
              <a:rPr sz="3000" b="1">
                <a:solidFill>
                  <a:srgbClr val="1E2447"/>
                </a:solidFill>
                <a:latin typeface="Cambria"/>
                <a:ea typeface="Cambria"/>
                <a:cs typeface="Cambria"/>
              </a:rPr>
              <a:t>Institutions have work to fulfil</a:t>
            </a:r>
          </a:p>
        </p:txBody>
      </p:sp>
      <p:sp>
        <p:nvSpPr>
          <p:cNvPr id="3" name="text-2">
            <a:extLst xmlns:a="http://schemas.openxmlformats.org/drawingml/2006/main">
              <a:ext uri="{FF2B5EF4-FFF2-40B4-BE49-F238E27FC236}">
                <a16:creationId xmlns:a16="http://schemas.microsoft.com/office/drawing/2014/main" id="{78CB73A2-0588-4D70-85DB-D608CBA0959F}"/>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3BDABC35-B2A9-4B64-A2D0-10509168C562}"/>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50" b="0">
                <a:solidFill>
                  <a:srgbClr val="626C85"/>
                </a:solidFill>
                <a:latin typeface="Calibri"/>
                <a:ea typeface="Calibri"/>
                <a:cs typeface="Calibri"/>
              </a:defRPr>
            </a:pPr>
            <a:r>
              <a:rPr sz="950" b="0">
                <a:solidFill>
                  <a:srgbClr val="626C85"/>
                </a:solidFill>
                <a:latin typeface="Calibri"/>
                <a:ea typeface="Calibri"/>
                <a:cs typeface="Calibri"/>
              </a:rPr>
              <a:t>27 / 35</a:t>
            </a:r>
          </a:p>
        </p:txBody>
      </p:sp>
      <p:sp>
        <p:nvSpPr>
          <p:cNvPr id="5" name="text-4">
            <a:extLst xmlns:a="http://schemas.openxmlformats.org/drawingml/2006/main">
              <a:ext uri="{FF2B5EF4-FFF2-40B4-BE49-F238E27FC236}">
                <a16:creationId xmlns:a16="http://schemas.microsoft.com/office/drawing/2014/main" id="{F17F5224-D115-4079-9BCB-921A4EDC031A}"/>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00" b="0" i="1">
                <a:solidFill>
                  <a:srgbClr val="9A6414"/>
                </a:solidFill>
                <a:latin typeface="Calibri"/>
                <a:ea typeface="Calibri"/>
                <a:cs typeface="Calibri"/>
              </a:defRPr>
            </a:pPr>
            <a:r>
              <a:rPr sz="1300" b="0" i="1">
                <a:solidFill>
                  <a:srgbClr val="9A6414"/>
                </a:solidFill>
                <a:latin typeface="Calibri"/>
                <a:ea typeface="Calibri"/>
                <a:cs typeface="Calibri"/>
              </a:rPr>
              <a:t>The next stage studies how these responsibilities become a shared order.</a:t>
            </a:r>
          </a:p>
        </p:txBody>
      </p:sp>
      <p:graphicFrame>
        <p:nvGraphicFramePr>
          <p:cNvPr id="12" name=""/>
          <p:cNvGraphicFramePr/>
          <p:nvPr/>
        </p:nvGraphicFramePr>
        <p:xfrm>
          <a:off xmlns:a="http://schemas.openxmlformats.org/drawingml/2006/main" x="962025" y="1362075"/>
          <a:ext xmlns:a="http://schemas.openxmlformats.org/drawingml/2006/main" cx="7391400" cy="2914650"/>
        </p:xfrm>
        <a:graphic xmlns:a="http://schemas.openxmlformats.org/drawingml/2006/main">
          <a:graphicData uri="http://schemas.openxmlformats.org/drawingml/2006/table">
            <a:tbl>
              <a:tblPr firstRow="1" bandRow="0"/>
              <a:tblGrid>
                <a:gridCol w="2971800"/>
                <a:gridCol w="4419600"/>
              </a:tblGrid>
              <a:tr h="495300">
                <a:tc>
                  <a:txBody>
                    <a:bodyPr lIns="123825" tIns="57150" rIns="95250" bIns="57150">
                      <a:noAutofit/>
                    </a:bodyPr>
                    <a:lstStyle/>
                    <a:p>
                      <a:r>
                        <a:rPr sz="1600" b="1">
                          <a:solidFill>
                            <a:srgbClr val="FFFFFF"/>
                          </a:solidFill>
                          <a:latin typeface="Calibri"/>
                          <a:ea typeface="Calibri"/>
                          <a:cs typeface="Calibri"/>
                        </a:rPr>
                        <a:t>Dimension of orderliness</a:t>
                      </a:r>
                    </a:p>
                  </a:txBody>
                  <a:tcPr marL="91440" marR="91440" marT="45720" marB="45720" anchor="ctr">
                    <a:solidFill>
                      <a:srgbClr val="1E2447"/>
                    </a:solidFill>
                  </a:tcPr>
                </a:tc>
                <a:tc>
                  <a:txBody>
                    <a:bodyPr lIns="123825" tIns="57150" rIns="95250" bIns="57150">
                      <a:noAutofit/>
                    </a:bodyPr>
                    <a:lstStyle/>
                    <a:p>
                      <a:r>
                        <a:rPr sz="1600" b="1">
                          <a:solidFill>
                            <a:srgbClr val="FFFFFF"/>
                          </a:solidFill>
                          <a:latin typeface="Calibri"/>
                          <a:ea typeface="Calibri"/>
                          <a:cs typeface="Calibri"/>
                        </a:rPr>
                        <a:t>Criterion of fulfilment</a:t>
                      </a:r>
                    </a:p>
                  </a:txBody>
                  <a:tcPr marL="91440" marR="91440" marT="45720" marB="45720" anchor="ctr">
                    <a:solidFill>
                      <a:srgbClr val="1E2447"/>
                    </a:solidFill>
                  </a:tcPr>
                </a:tc>
              </a:tr>
              <a:tr h="483870">
                <a:tc>
                  <a:txBody>
                    <a:bodyPr lIns="123825" tIns="57150" rIns="95250" bIns="57150">
                      <a:noAutofit/>
                    </a:bodyPr>
                    <a:lstStyle/>
                    <a:p>
                      <a:r>
                        <a:rPr sz="1650" b="0">
                          <a:solidFill>
                            <a:srgbClr val="303853"/>
                          </a:solidFill>
                          <a:latin typeface="Calibri"/>
                          <a:ea typeface="Calibri"/>
                          <a:cs typeface="Calibri"/>
                        </a:rPr>
                        <a:t>Education–sanskar</a:t>
                      </a:r>
                    </a:p>
                  </a:txBody>
                  <a:tcPr marL="91440" marR="91440" marT="45720" marB="45720" anchor="ctr">
                    <a:solidFill>
                      <a:srgbClr val="FFFFFF"/>
                    </a:solidFill>
                  </a:tcPr>
                </a:tc>
                <a:tc>
                  <a:txBody>
                    <a:bodyPr lIns="123825" tIns="57150" rIns="95250" bIns="57150">
                      <a:noAutofit/>
                    </a:bodyPr>
                    <a:lstStyle/>
                    <a:p>
                      <a:r>
                        <a:rPr sz="1650" b="0">
                          <a:solidFill>
                            <a:srgbClr val="303853"/>
                          </a:solidFill>
                          <a:latin typeface="Calibri"/>
                          <a:ea typeface="Calibri"/>
                          <a:cs typeface="Calibri"/>
                        </a:rPr>
                        <a:t>Understood meaning</a:t>
                      </a:r>
                    </a:p>
                  </a:txBody>
                  <a:tcPr marL="91440" marR="91440" marT="45720" marB="45720" anchor="ctr">
                    <a:solidFill>
                      <a:srgbClr val="FFFFFF"/>
                    </a:solidFill>
                  </a:tcPr>
                </a:tc>
              </a:tr>
              <a:tr h="483870">
                <a:tc>
                  <a:txBody>
                    <a:bodyPr lIns="123825" tIns="57150" rIns="95250" bIns="57150">
                      <a:noAutofit/>
                    </a:bodyPr>
                    <a:lstStyle/>
                    <a:p>
                      <a:r>
                        <a:rPr sz="1650" b="0">
                          <a:solidFill>
                            <a:srgbClr val="303853"/>
                          </a:solidFill>
                          <a:latin typeface="Calibri"/>
                          <a:ea typeface="Calibri"/>
                          <a:cs typeface="Calibri"/>
                        </a:rPr>
                        <a:t>Justice–preservation</a:t>
                      </a:r>
                    </a:p>
                  </a:txBody>
                  <a:tcPr marL="91440" marR="91440" marT="45720" marB="45720" anchor="ctr">
                    <a:solidFill>
                      <a:srgbClr val="F1F3F8"/>
                    </a:solidFill>
                  </a:tcPr>
                </a:tc>
                <a:tc>
                  <a:txBody>
                    <a:bodyPr lIns="123825" tIns="57150" rIns="95250" bIns="57150">
                      <a:noAutofit/>
                    </a:bodyPr>
                    <a:lstStyle/>
                    <a:p>
                      <a:r>
                        <a:rPr sz="1650" b="0">
                          <a:solidFill>
                            <a:srgbClr val="303853"/>
                          </a:solidFill>
                          <a:latin typeface="Calibri"/>
                          <a:ea typeface="Calibri"/>
                          <a:cs typeface="Calibri"/>
                        </a:rPr>
                        <a:t>Value-fulfilment and mutual satisfaction</a:t>
                      </a:r>
                    </a:p>
                  </a:txBody>
                  <a:tcPr marL="91440" marR="91440" marT="45720" marB="45720" anchor="ctr">
                    <a:solidFill>
                      <a:srgbClr val="F1F3F8"/>
                    </a:solidFill>
                  </a:tcPr>
                </a:tc>
              </a:tr>
              <a:tr h="483870">
                <a:tc>
                  <a:txBody>
                    <a:bodyPr lIns="123825" tIns="57150" rIns="95250" bIns="57150">
                      <a:noAutofit/>
                    </a:bodyPr>
                    <a:lstStyle/>
                    <a:p>
                      <a:r>
                        <a:rPr sz="1650" b="0">
                          <a:solidFill>
                            <a:srgbClr val="303853"/>
                          </a:solidFill>
                          <a:latin typeface="Calibri"/>
                          <a:ea typeface="Calibri"/>
                          <a:cs typeface="Calibri"/>
                        </a:rPr>
                        <a:t>Production–work</a:t>
                      </a:r>
                    </a:p>
                  </a:txBody>
                  <a:tcPr marL="91440" marR="91440" marT="45720" marB="45720" anchor="ctr">
                    <a:solidFill>
                      <a:srgbClr val="FFFFFF"/>
                    </a:solidFill>
                  </a:tcPr>
                </a:tc>
                <a:tc>
                  <a:txBody>
                    <a:bodyPr lIns="123825" tIns="57150" rIns="95250" bIns="57150">
                      <a:noAutofit/>
                    </a:bodyPr>
                    <a:lstStyle/>
                    <a:p>
                      <a:r>
                        <a:rPr sz="1650" b="0">
                          <a:solidFill>
                            <a:srgbClr val="303853"/>
                          </a:solidFill>
                          <a:latin typeface="Calibri"/>
                          <a:ea typeface="Calibri"/>
                          <a:cs typeface="Calibri"/>
                        </a:rPr>
                        <a:t>Family production beyond need</a:t>
                      </a:r>
                    </a:p>
                  </a:txBody>
                  <a:tcPr marL="91440" marR="91440" marT="45720" marB="45720" anchor="ctr">
                    <a:solidFill>
                      <a:srgbClr val="FFFFFF"/>
                    </a:solidFill>
                  </a:tcPr>
                </a:tc>
              </a:tr>
              <a:tr h="483870">
                <a:tc>
                  <a:txBody>
                    <a:bodyPr lIns="123825" tIns="57150" rIns="95250" bIns="57150">
                      <a:noAutofit/>
                    </a:bodyPr>
                    <a:lstStyle/>
                    <a:p>
                      <a:r>
                        <a:rPr sz="1650" b="0">
                          <a:solidFill>
                            <a:srgbClr val="303853"/>
                          </a:solidFill>
                          <a:latin typeface="Calibri"/>
                          <a:ea typeface="Calibri"/>
                          <a:cs typeface="Calibri"/>
                        </a:rPr>
                        <a:t>Exchange–storage</a:t>
                      </a:r>
                    </a:p>
                  </a:txBody>
                  <a:tcPr marL="91440" marR="91440" marT="45720" marB="45720" anchor="ctr">
                    <a:solidFill>
                      <a:srgbClr val="F1F3F8"/>
                    </a:solidFill>
                  </a:tcPr>
                </a:tc>
                <a:tc>
                  <a:txBody>
                    <a:bodyPr lIns="123825" tIns="57150" rIns="95250" bIns="57150">
                      <a:noAutofit/>
                    </a:bodyPr>
                    <a:lstStyle/>
                    <a:p>
                      <a:r>
                        <a:rPr sz="1650" b="0">
                          <a:solidFill>
                            <a:srgbClr val="303853"/>
                          </a:solidFill>
                          <a:latin typeface="Calibri"/>
                          <a:ea typeface="Calibri"/>
                          <a:cs typeface="Calibri"/>
                        </a:rPr>
                        <a:t>Labour evaluation and exchange</a:t>
                      </a:r>
                    </a:p>
                  </a:txBody>
                  <a:tcPr marL="91440" marR="91440" marT="45720" marB="45720" anchor="ctr">
                    <a:solidFill>
                      <a:srgbClr val="F1F3F8"/>
                    </a:solidFill>
                  </a:tcPr>
                </a:tc>
              </a:tr>
              <a:tr h="483870">
                <a:tc>
                  <a:txBody>
                    <a:bodyPr lIns="123825" tIns="57150" rIns="95250" bIns="57150">
                      <a:noAutofit/>
                    </a:bodyPr>
                    <a:lstStyle/>
                    <a:p>
                      <a:r>
                        <a:rPr sz="1650" b="0">
                          <a:solidFill>
                            <a:srgbClr val="303853"/>
                          </a:solidFill>
                          <a:latin typeface="Calibri"/>
                          <a:ea typeface="Calibri"/>
                          <a:cs typeface="Calibri"/>
                        </a:rPr>
                        <a:t>Health–restraint</a:t>
                      </a:r>
                    </a:p>
                  </a:txBody>
                  <a:tcPr marL="91440" marR="91440" marT="45720" marB="45720" anchor="ctr">
                    <a:solidFill>
                      <a:srgbClr val="FFFFFF"/>
                    </a:solidFill>
                  </a:tcPr>
                </a:tc>
                <a:tc>
                  <a:txBody>
                    <a:bodyPr lIns="123825" tIns="57150" rIns="95250" bIns="57150">
                      <a:noAutofit/>
                    </a:bodyPr>
                    <a:lstStyle/>
                    <a:p>
                      <a:r>
                        <a:rPr sz="1650" b="0">
                          <a:solidFill>
                            <a:srgbClr val="303853"/>
                          </a:solidFill>
                          <a:latin typeface="Calibri"/>
                          <a:ea typeface="Calibri"/>
                          <a:cs typeface="Calibri"/>
                        </a:rPr>
                        <a:t>A body capable of evidencing awakening</a:t>
                      </a:r>
                    </a:p>
                  </a:txBody>
                  <a:tcPr marL="91440" marR="91440" marT="45720" marB="45720" anchor="ctr">
                    <a:solidFill>
                      <a:srgbClr val="FFFFFF"/>
                    </a:solidFill>
                  </a:tcPr>
                </a:tc>
              </a:tr>
            </a:tbl>
          </a:graphicData>
        </a:graphic>
      </p:graphicFrame>
    </p:spTree>
    <p:extLst>
      <p:ext uri="{BB962C8B-B14F-4D97-AF65-F5344CB8AC3E}">
        <p14:creationId xmlns:p14="http://schemas.microsoft.com/office/powerpoint/2010/main" val="740832103"/>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D85FCF58-2D7B-43C5-AB8E-D25B98A92458}"/>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9A6414"/>
                </a:solidFill>
                <a:latin typeface="Calibri"/>
                <a:ea typeface="Calibri"/>
                <a:cs typeface="Calibri"/>
              </a:defRPr>
            </a:pPr>
            <a:r>
              <a:rPr sz="1050" b="1">
                <a:solidFill>
                  <a:srgbClr val="9A6414"/>
                </a:solidFill>
                <a:latin typeface="Calibri"/>
                <a:ea typeface="Calibri"/>
                <a:cs typeface="Calibri"/>
              </a:rPr>
              <a:t>PHILOSOPHICAL COMPARISON</a:t>
            </a:r>
          </a:p>
        </p:txBody>
      </p:sp>
      <p:sp>
        <p:nvSpPr>
          <p:cNvPr id="2" name="text-1">
            <a:extLst xmlns:a="http://schemas.openxmlformats.org/drawingml/2006/main">
              <a:ext uri="{FF2B5EF4-FFF2-40B4-BE49-F238E27FC236}">
                <a16:creationId xmlns:a16="http://schemas.microsoft.com/office/drawing/2014/main" id="{8F2F1AC0-D614-444B-A700-AC4989843745}"/>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3000" b="1">
                <a:solidFill>
                  <a:srgbClr val="1E2447"/>
                </a:solidFill>
                <a:latin typeface="Cambria"/>
                <a:ea typeface="Cambria"/>
                <a:cs typeface="Cambria"/>
              </a:defRPr>
            </a:pPr>
            <a:r>
              <a:rPr sz="3000" b="1">
                <a:solidFill>
                  <a:srgbClr val="1E2447"/>
                </a:solidFill>
                <a:latin typeface="Cambria"/>
                <a:ea typeface="Cambria"/>
                <a:cs typeface="Cambria"/>
              </a:rPr>
              <a:t>Where the account sits</a:t>
            </a:r>
          </a:p>
        </p:txBody>
      </p:sp>
      <p:sp>
        <p:nvSpPr>
          <p:cNvPr id="3" name="text-2">
            <a:extLst xmlns:a="http://schemas.openxmlformats.org/drawingml/2006/main">
              <a:ext uri="{FF2B5EF4-FFF2-40B4-BE49-F238E27FC236}">
                <a16:creationId xmlns:a16="http://schemas.microsoft.com/office/drawing/2014/main" id="{8DA0B2D8-54E7-457A-8856-0DECBD842E7D}"/>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8703F9ED-CC86-45F9-903A-36E62C0CA441}"/>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50" b="0">
                <a:solidFill>
                  <a:srgbClr val="626C85"/>
                </a:solidFill>
                <a:latin typeface="Calibri"/>
                <a:ea typeface="Calibri"/>
                <a:cs typeface="Calibri"/>
              </a:defRPr>
            </a:pPr>
            <a:r>
              <a:rPr sz="950" b="0">
                <a:solidFill>
                  <a:srgbClr val="626C85"/>
                </a:solidFill>
                <a:latin typeface="Calibri"/>
                <a:ea typeface="Calibri"/>
                <a:cs typeface="Calibri"/>
              </a:rPr>
              <a:t>28 / 35</a:t>
            </a:r>
          </a:p>
        </p:txBody>
      </p:sp>
      <p:sp>
        <p:nvSpPr>
          <p:cNvPr id="5" name="text-4">
            <a:extLst xmlns:a="http://schemas.openxmlformats.org/drawingml/2006/main">
              <a:ext uri="{FF2B5EF4-FFF2-40B4-BE49-F238E27FC236}">
                <a16:creationId xmlns:a16="http://schemas.microsoft.com/office/drawing/2014/main" id="{34B5E74D-2F1B-4E52-963A-F8A596F0982F}"/>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00" b="0" i="1">
                <a:solidFill>
                  <a:srgbClr val="9A6414"/>
                </a:solidFill>
                <a:latin typeface="Calibri"/>
                <a:ea typeface="Calibri"/>
                <a:cs typeface="Calibri"/>
              </a:defRPr>
            </a:pPr>
            <a:r>
              <a:rPr sz="1300" b="0" i="1">
                <a:solidFill>
                  <a:srgbClr val="9A6414"/>
                </a:solidFill>
                <a:latin typeface="Calibri"/>
                <a:ea typeface="Calibri"/>
                <a:cs typeface="Calibri"/>
              </a:rPr>
              <a:t>These are points of comparison, not interchangeable standards of evidence.</a:t>
            </a:r>
          </a:p>
        </p:txBody>
      </p:sp>
      <p:graphicFrame>
        <p:nvGraphicFramePr>
          <p:cNvPr id="12" name=""/>
          <p:cNvGraphicFramePr/>
          <p:nvPr/>
        </p:nvGraphicFramePr>
        <p:xfrm>
          <a:off xmlns:a="http://schemas.openxmlformats.org/drawingml/2006/main" x="962025" y="1362075"/>
          <a:ext xmlns:a="http://schemas.openxmlformats.org/drawingml/2006/main" cx="7391400" cy="2857500"/>
        </p:xfrm>
        <a:graphic xmlns:a="http://schemas.openxmlformats.org/drawingml/2006/main">
          <a:graphicData uri="http://schemas.openxmlformats.org/drawingml/2006/table">
            <a:tbl>
              <a:tblPr firstRow="1" bandRow="0"/>
              <a:tblGrid>
                <a:gridCol w="2667000"/>
                <a:gridCol w="4724400"/>
              </a:tblGrid>
              <a:tr h="495300">
                <a:tc>
                  <a:txBody>
                    <a:bodyPr lIns="123825" tIns="57150" rIns="95250" bIns="57150">
                      <a:noAutofit/>
                    </a:bodyPr>
                    <a:lstStyle/>
                    <a:p>
                      <a:r>
                        <a:rPr sz="1600" b="1">
                          <a:solidFill>
                            <a:srgbClr val="FFFFFF"/>
                          </a:solidFill>
                          <a:latin typeface="Calibri"/>
                          <a:ea typeface="Calibri"/>
                          <a:cs typeface="Calibri"/>
                        </a:rPr>
                        <a:t>Approach</a:t>
                      </a:r>
                    </a:p>
                  </a:txBody>
                  <a:tcPr marL="91440" marR="91440" marT="45720" marB="45720" anchor="ctr">
                    <a:solidFill>
                      <a:srgbClr val="1E2447"/>
                    </a:solidFill>
                  </a:tcPr>
                </a:tc>
                <a:tc>
                  <a:txBody>
                    <a:bodyPr lIns="123825" tIns="57150" rIns="95250" bIns="57150">
                      <a:noAutofit/>
                    </a:bodyPr>
                    <a:lstStyle/>
                    <a:p>
                      <a:r>
                        <a:rPr sz="1600" b="1">
                          <a:solidFill>
                            <a:srgbClr val="FFFFFF"/>
                          </a:solidFill>
                          <a:latin typeface="Calibri"/>
                          <a:ea typeface="Calibri"/>
                          <a:cs typeface="Calibri"/>
                        </a:rPr>
                        <a:t>Emphasis in the study’s comparison</a:t>
                      </a:r>
                    </a:p>
                  </a:txBody>
                  <a:tcPr marL="91440" marR="91440" marT="45720" marB="45720" anchor="ctr">
                    <a:solidFill>
                      <a:srgbClr val="1E2447"/>
                    </a:solidFill>
                  </a:tcPr>
                </a:tc>
              </a:tr>
              <a:tr h="590550">
                <a:tc>
                  <a:txBody>
                    <a:bodyPr lIns="123825" tIns="57150" rIns="95250" bIns="57150">
                      <a:noAutofit/>
                    </a:bodyPr>
                    <a:lstStyle/>
                    <a:p>
                      <a:r>
                        <a:rPr sz="1650" b="0">
                          <a:solidFill>
                            <a:srgbClr val="303853"/>
                          </a:solidFill>
                          <a:latin typeface="Calibri"/>
                          <a:ea typeface="Calibri"/>
                          <a:cs typeface="Calibri"/>
                        </a:rPr>
                        <a:t>Madhyasth Darshan</a:t>
                      </a:r>
                    </a:p>
                  </a:txBody>
                  <a:tcPr marL="91440" marR="91440" marT="45720" marB="45720" anchor="ctr">
                    <a:solidFill>
                      <a:srgbClr val="FFFFFF"/>
                    </a:solidFill>
                  </a:tcPr>
                </a:tc>
                <a:tc>
                  <a:txBody>
                    <a:bodyPr lIns="123825" tIns="57150" rIns="95250" bIns="57150">
                      <a:noAutofit/>
                    </a:bodyPr>
                    <a:lstStyle/>
                    <a:p>
                      <a:r>
                        <a:rPr sz="1650" b="0">
                          <a:solidFill>
                            <a:srgbClr val="303853"/>
                          </a:solidFill>
                          <a:latin typeface="Calibri"/>
                          <a:ea typeface="Calibri"/>
                          <a:cs typeface="Calibri"/>
                        </a:rPr>
                        <a:t>Essentiality, relationship, and continuous fulfilment</a:t>
                      </a:r>
                    </a:p>
                  </a:txBody>
                  <a:tcPr marL="91440" marR="91440" marT="45720" marB="45720" anchor="ctr">
                    <a:solidFill>
                      <a:srgbClr val="FFFFFF"/>
                    </a:solidFill>
                  </a:tcPr>
                </a:tc>
              </a:tr>
              <a:tr h="590550">
                <a:tc>
                  <a:txBody>
                    <a:bodyPr lIns="123825" tIns="57150" rIns="95250" bIns="57150">
                      <a:noAutofit/>
                    </a:bodyPr>
                    <a:lstStyle/>
                    <a:p>
                      <a:r>
                        <a:rPr sz="1650" b="0">
                          <a:solidFill>
                            <a:srgbClr val="303853"/>
                          </a:solidFill>
                          <a:latin typeface="Calibri"/>
                          <a:ea typeface="Calibri"/>
                          <a:cs typeface="Calibri"/>
                        </a:rPr>
                        <a:t>Advaita Vedanta</a:t>
                      </a:r>
                    </a:p>
                  </a:txBody>
                  <a:tcPr marL="91440" marR="91440" marT="45720" marB="45720" anchor="ctr">
                    <a:solidFill>
                      <a:srgbClr val="F1F3F8"/>
                    </a:solidFill>
                  </a:tcPr>
                </a:tc>
                <a:tc>
                  <a:txBody>
                    <a:bodyPr lIns="123825" tIns="57150" rIns="95250" bIns="57150">
                      <a:noAutofit/>
                    </a:bodyPr>
                    <a:lstStyle/>
                    <a:p>
                      <a:r>
                        <a:rPr sz="1650" b="0">
                          <a:solidFill>
                            <a:srgbClr val="303853"/>
                          </a:solidFill>
                          <a:latin typeface="Calibri"/>
                          <a:ea typeface="Calibri"/>
                          <a:cs typeface="Calibri"/>
                        </a:rPr>
                        <a:t>Knowledge of the Self, ethical discipline, liberation</a:t>
                      </a:r>
                    </a:p>
                  </a:txBody>
                  <a:tcPr marL="91440" marR="91440" marT="45720" marB="45720" anchor="ctr">
                    <a:solidFill>
                      <a:srgbClr val="F1F3F8"/>
                    </a:solidFill>
                  </a:tcPr>
                </a:tc>
              </a:tr>
              <a:tr h="590550">
                <a:tc>
                  <a:txBody>
                    <a:bodyPr lIns="123825" tIns="57150" rIns="95250" bIns="57150">
                      <a:noAutofit/>
                    </a:bodyPr>
                    <a:lstStyle/>
                    <a:p>
                      <a:r>
                        <a:rPr sz="1650" b="0">
                          <a:solidFill>
                            <a:srgbClr val="303853"/>
                          </a:solidFill>
                          <a:latin typeface="Calibri"/>
                          <a:ea typeface="Calibri"/>
                          <a:cs typeface="Calibri"/>
                        </a:rPr>
                        <a:t>Western value theory</a:t>
                      </a:r>
                    </a:p>
                  </a:txBody>
                  <a:tcPr marL="91440" marR="91440" marT="45720" marB="45720" anchor="ctr">
                    <a:solidFill>
                      <a:srgbClr val="FFFFFF"/>
                    </a:solidFill>
                  </a:tcPr>
                </a:tc>
                <a:tc>
                  <a:txBody>
                    <a:bodyPr lIns="123825" tIns="57150" rIns="95250" bIns="57150">
                      <a:noAutofit/>
                    </a:bodyPr>
                    <a:lstStyle/>
                    <a:p>
                      <a:r>
                        <a:rPr sz="1650" b="0">
                          <a:solidFill>
                            <a:srgbClr val="303853"/>
                          </a:solidFill>
                          <a:latin typeface="Calibri"/>
                          <a:ea typeface="Calibri"/>
                          <a:cs typeface="Calibri"/>
                        </a:rPr>
                        <a:t>Diverse accounts of good, reasons, virtue, and objectivity</a:t>
                      </a:r>
                    </a:p>
                  </a:txBody>
                  <a:tcPr marL="91440" marR="91440" marT="45720" marB="45720" anchor="ctr">
                    <a:solidFill>
                      <a:srgbClr val="FFFFFF"/>
                    </a:solidFill>
                  </a:tcPr>
                </a:tc>
              </a:tr>
              <a:tr h="590550">
                <a:tc>
                  <a:txBody>
                    <a:bodyPr lIns="123825" tIns="57150" rIns="95250" bIns="57150">
                      <a:noAutofit/>
                    </a:bodyPr>
                    <a:lstStyle/>
                    <a:p>
                      <a:r>
                        <a:rPr sz="1650" b="0">
                          <a:solidFill>
                            <a:srgbClr val="303853"/>
                          </a:solidFill>
                          <a:latin typeface="Calibri"/>
                          <a:ea typeface="Calibri"/>
                          <a:cs typeface="Calibri"/>
                        </a:rPr>
                        <a:t>Natural and social sciences</a:t>
                      </a:r>
                    </a:p>
                  </a:txBody>
                  <a:tcPr marL="91440" marR="91440" marT="45720" marB="45720" anchor="ctr">
                    <a:solidFill>
                      <a:srgbClr val="F1F3F8"/>
                    </a:solidFill>
                  </a:tcPr>
                </a:tc>
                <a:tc>
                  <a:txBody>
                    <a:bodyPr lIns="123825" tIns="57150" rIns="95250" bIns="57150">
                      <a:noAutofit/>
                    </a:bodyPr>
                    <a:lstStyle/>
                    <a:p>
                      <a:r>
                        <a:rPr sz="1650" b="0">
                          <a:solidFill>
                            <a:srgbClr val="303853"/>
                          </a:solidFill>
                          <a:latin typeface="Calibri"/>
                          <a:ea typeface="Calibri"/>
                          <a:cs typeface="Calibri"/>
                        </a:rPr>
                        <a:t>Conditions, mechanisms, and measurable outcomes</a:t>
                      </a:r>
                    </a:p>
                  </a:txBody>
                  <a:tcPr marL="91440" marR="91440" marT="45720" marB="45720" anchor="ctr">
                    <a:solidFill>
                      <a:srgbClr val="F1F3F8"/>
                    </a:solidFill>
                  </a:tcPr>
                </a:tc>
              </a:tr>
            </a:tbl>
          </a:graphicData>
        </a:graphic>
      </p:graphicFrame>
    </p:spTree>
    <p:extLst>
      <p:ext uri="{BB962C8B-B14F-4D97-AF65-F5344CB8AC3E}">
        <p14:creationId xmlns:p14="http://schemas.microsoft.com/office/powerpoint/2010/main" val="270121920"/>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3D1E0FF3-7210-4EB2-AB91-073945A62FD0}"/>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9A6414"/>
                </a:solidFill>
                <a:latin typeface="Calibri"/>
                <a:ea typeface="Calibri"/>
                <a:cs typeface="Calibri"/>
              </a:defRPr>
            </a:pPr>
            <a:r>
              <a:rPr sz="1050" b="1">
                <a:solidFill>
                  <a:srgbClr val="9A6414"/>
                </a:solidFill>
                <a:latin typeface="Calibri"/>
                <a:ea typeface="Calibri"/>
                <a:cs typeface="Calibri"/>
              </a:rPr>
              <a:t>EVIDENCE AND ITS LIMITS</a:t>
            </a:r>
          </a:p>
        </p:txBody>
      </p:sp>
      <p:sp>
        <p:nvSpPr>
          <p:cNvPr id="2" name="text-1">
            <a:extLst xmlns:a="http://schemas.openxmlformats.org/drawingml/2006/main">
              <a:ext uri="{FF2B5EF4-FFF2-40B4-BE49-F238E27FC236}">
                <a16:creationId xmlns:a16="http://schemas.microsoft.com/office/drawing/2014/main" id="{E87E0ED4-76BC-4690-A06D-1144714CFA60}"/>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3000" b="1">
                <a:solidFill>
                  <a:srgbClr val="1E2447"/>
                </a:solidFill>
                <a:latin typeface="Cambria"/>
                <a:ea typeface="Cambria"/>
                <a:cs typeface="Cambria"/>
              </a:defRPr>
            </a:pPr>
            <a:r>
              <a:rPr sz="3000" b="1">
                <a:solidFill>
                  <a:srgbClr val="1E2447"/>
                </a:solidFill>
                <a:latin typeface="Cambria"/>
                <a:ea typeface="Cambria"/>
                <a:cs typeface="Cambria"/>
              </a:rPr>
              <a:t>What conduct can establish</a:t>
            </a:r>
          </a:p>
        </p:txBody>
      </p:sp>
      <p:sp>
        <p:nvSpPr>
          <p:cNvPr id="3" name="text-2">
            <a:extLst xmlns:a="http://schemas.openxmlformats.org/drawingml/2006/main">
              <a:ext uri="{FF2B5EF4-FFF2-40B4-BE49-F238E27FC236}">
                <a16:creationId xmlns:a16="http://schemas.microsoft.com/office/drawing/2014/main" id="{A0138A84-3F53-4D52-A971-4229B0DB8949}"/>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2C6C2306-BDE7-4D85-8BD4-8F87F4398EF3}"/>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50" b="0">
                <a:solidFill>
                  <a:srgbClr val="626C85"/>
                </a:solidFill>
                <a:latin typeface="Calibri"/>
                <a:ea typeface="Calibri"/>
                <a:cs typeface="Calibri"/>
              </a:defRPr>
            </a:pPr>
            <a:r>
              <a:rPr sz="950" b="0">
                <a:solidFill>
                  <a:srgbClr val="626C85"/>
                </a:solidFill>
                <a:latin typeface="Calibri"/>
                <a:ea typeface="Calibri"/>
                <a:cs typeface="Calibri"/>
              </a:rPr>
              <a:t>29 / 35</a:t>
            </a:r>
          </a:p>
        </p:txBody>
      </p:sp>
      <p:sp>
        <p:nvSpPr>
          <p:cNvPr id="5" name="text-4">
            <a:extLst xmlns:a="http://schemas.openxmlformats.org/drawingml/2006/main">
              <a:ext uri="{FF2B5EF4-FFF2-40B4-BE49-F238E27FC236}">
                <a16:creationId xmlns:a16="http://schemas.microsoft.com/office/drawing/2014/main" id="{089BC316-A622-41D6-95A2-BE7A51239496}"/>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00" b="0" i="1">
                <a:solidFill>
                  <a:srgbClr val="9A6414"/>
                </a:solidFill>
                <a:latin typeface="Calibri"/>
                <a:ea typeface="Calibri"/>
                <a:cs typeface="Calibri"/>
              </a:defRPr>
            </a:pPr>
            <a:r>
              <a:rPr sz="1300" b="0" i="1">
                <a:solidFill>
                  <a:srgbClr val="9A6414"/>
                </a:solidFill>
                <a:latin typeface="Calibri"/>
                <a:ea typeface="Calibri"/>
                <a:cs typeface="Calibri"/>
              </a:rPr>
              <a:t>Successful participation contributes evidence without settling every claim.</a:t>
            </a:r>
          </a:p>
        </p:txBody>
      </p:sp>
      <p:sp>
        <p:nvSpPr>
          <p:cNvPr id="6" name="text-5">
            <a:extLst xmlns:a="http://schemas.openxmlformats.org/drawingml/2006/main">
              <a:ext uri="{FF2B5EF4-FFF2-40B4-BE49-F238E27FC236}">
                <a16:creationId xmlns:a16="http://schemas.microsoft.com/office/drawing/2014/main" id="{E299E79F-C04D-4DCC-9AA7-EBF5D403BFCC}"/>
              </a:ext>
            </a:extLst>
          </p:cNvPr>
          <p:cNvSpPr>
            <a:spLocks xmlns:a="http://schemas.openxmlformats.org/drawingml/2006/main" noGrp="1"/>
          </p:cNvSpPr>
          <p:nvPr/>
        </p:nvSpPr>
        <p:spPr>
          <a:xfrm xmlns:a="http://schemas.openxmlformats.org/drawingml/2006/main">
            <a:off x="962025" y="1504950"/>
            <a:ext cx="352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1">
                <a:solidFill>
                  <a:srgbClr val="1E2447"/>
                </a:solidFill>
                <a:latin typeface="Cambria"/>
                <a:ea typeface="Cambria"/>
                <a:cs typeface="Cambria"/>
              </a:defRPr>
            </a:pPr>
            <a:r>
              <a:rPr sz="2325" b="1">
                <a:solidFill>
                  <a:srgbClr val="1E2447"/>
                </a:solidFill>
                <a:latin typeface="Cambria"/>
                <a:ea typeface="Cambria"/>
                <a:cs typeface="Cambria"/>
              </a:rPr>
              <a:t>Evidence in living</a:t>
            </a:r>
          </a:p>
        </p:txBody>
      </p:sp>
      <p:sp>
        <p:nvSpPr>
          <p:cNvPr id="7" name="text-6">
            <a:extLst xmlns:a="http://schemas.openxmlformats.org/drawingml/2006/main">
              <a:ext uri="{FF2B5EF4-FFF2-40B4-BE49-F238E27FC236}">
                <a16:creationId xmlns:a16="http://schemas.microsoft.com/office/drawing/2014/main" id="{FD48EA48-1997-4D4C-8A7B-99C997DC83D9}"/>
              </a:ext>
            </a:extLst>
          </p:cNvPr>
          <p:cNvSpPr>
            <a:spLocks xmlns:a="http://schemas.openxmlformats.org/drawingml/2006/main" noGrp="1"/>
          </p:cNvSpPr>
          <p:nvPr/>
        </p:nvSpPr>
        <p:spPr>
          <a:xfrm xmlns:a="http://schemas.openxmlformats.org/drawingml/2006/main">
            <a:off x="962025" y="2266950"/>
            <a:ext cx="3429000" cy="1962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303853"/>
                </a:solidFill>
                <a:latin typeface="Calibri"/>
                <a:ea typeface="Calibri"/>
                <a:cs typeface="Calibri"/>
              </a:defRPr>
            </a:pPr>
            <a:r>
              <a:rPr sz="1875" b="0">
                <a:solidFill>
                  <a:srgbClr val="303853"/>
                </a:solidFill>
                <a:latin typeface="Calibri"/>
                <a:ea typeface="Calibri"/>
                <a:cs typeface="Calibri"/>
              </a:rPr>
              <a:t>The person can explain the meaning.</a:t>
            </a:r>
          </a:p>
          <a:p xmlns:a="http://schemas.openxmlformats.org/drawingml/2006/main">
            <a:pPr>
              <a:defRPr sz="1875" b="0">
                <a:solidFill>
                  <a:srgbClr val="303853"/>
                </a:solidFill>
                <a:latin typeface="Calibri"/>
                <a:ea typeface="Calibri"/>
                <a:cs typeface="Calibri"/>
              </a:defRPr>
            </a:pPr>
            <a:r>
              <a:rPr sz="1875" b="0">
                <a:solidFill>
                  <a:srgbClr val="303853"/>
                </a:solidFill>
                <a:latin typeface="Calibri"/>
                <a:ea typeface="Calibri"/>
                <a:cs typeface="Calibri"/>
              </a:rPr>
              <a:t>Responsibilities receive fulfilment.</a:t>
            </a:r>
          </a:p>
          <a:p xmlns:a="http://schemas.openxmlformats.org/drawingml/2006/main">
            <a:pPr>
              <a:defRPr sz="1875" b="0">
                <a:solidFill>
                  <a:srgbClr val="303853"/>
                </a:solidFill>
                <a:latin typeface="Calibri"/>
                <a:ea typeface="Calibri"/>
                <a:cs typeface="Calibri"/>
              </a:defRPr>
            </a:pPr>
            <a:r>
              <a:rPr sz="1875" b="0">
                <a:solidFill>
                  <a:srgbClr val="303853"/>
                </a:solidFill>
                <a:latin typeface="Calibri"/>
                <a:ea typeface="Calibri"/>
                <a:cs typeface="Calibri"/>
              </a:rPr>
              <a:t>Others can examine conduct and outcomes.</a:t>
            </a:r>
          </a:p>
        </p:txBody>
      </p:sp>
      <p:sp>
        <p:nvSpPr>
          <p:cNvPr id="8" name="text-7">
            <a:extLst xmlns:a="http://schemas.openxmlformats.org/drawingml/2006/main">
              <a:ext uri="{FF2B5EF4-FFF2-40B4-BE49-F238E27FC236}">
                <a16:creationId xmlns:a16="http://schemas.microsoft.com/office/drawing/2014/main" id="{434C40E2-F438-41E9-B9B1-729C7EA46FB5}"/>
              </a:ext>
            </a:extLst>
          </p:cNvPr>
          <p:cNvSpPr>
            <a:spLocks xmlns:a="http://schemas.openxmlformats.org/drawingml/2006/main" noGrp="1"/>
          </p:cNvSpPr>
          <p:nvPr/>
        </p:nvSpPr>
        <p:spPr>
          <a:xfrm xmlns:a="http://schemas.openxmlformats.org/drawingml/2006/main">
            <a:off x="4962525" y="1504950"/>
            <a:ext cx="352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1">
                <a:solidFill>
                  <a:srgbClr val="1E2447"/>
                </a:solidFill>
                <a:latin typeface="Cambria"/>
                <a:ea typeface="Cambria"/>
                <a:cs typeface="Cambria"/>
              </a:defRPr>
            </a:pPr>
            <a:r>
              <a:rPr sz="2325" b="1">
                <a:solidFill>
                  <a:srgbClr val="1E2447"/>
                </a:solidFill>
                <a:latin typeface="Cambria"/>
                <a:ea typeface="Cambria"/>
                <a:cs typeface="Cambria"/>
              </a:rPr>
              <a:t>Claims needing warrant</a:t>
            </a:r>
          </a:p>
        </p:txBody>
      </p:sp>
      <p:sp>
        <p:nvSpPr>
          <p:cNvPr id="9" name="text-8">
            <a:extLst xmlns:a="http://schemas.openxmlformats.org/drawingml/2006/main">
              <a:ext uri="{FF2B5EF4-FFF2-40B4-BE49-F238E27FC236}">
                <a16:creationId xmlns:a16="http://schemas.microsoft.com/office/drawing/2014/main" id="{D3EBFA05-BA83-47F5-871F-29A275B9F323}"/>
              </a:ext>
            </a:extLst>
          </p:cNvPr>
          <p:cNvSpPr>
            <a:spLocks xmlns:a="http://schemas.openxmlformats.org/drawingml/2006/main" noGrp="1"/>
          </p:cNvSpPr>
          <p:nvPr/>
        </p:nvSpPr>
        <p:spPr>
          <a:xfrm xmlns:a="http://schemas.openxmlformats.org/drawingml/2006/main">
            <a:off x="4962525" y="2266950"/>
            <a:ext cx="3429000" cy="1962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303853"/>
                </a:solidFill>
                <a:latin typeface="Calibri"/>
                <a:ea typeface="Calibri"/>
                <a:cs typeface="Calibri"/>
              </a:defRPr>
            </a:pPr>
            <a:r>
              <a:rPr sz="1875" b="0">
                <a:solidFill>
                  <a:srgbClr val="303853"/>
                </a:solidFill>
                <a:latin typeface="Calibri"/>
                <a:ea typeface="Calibri"/>
                <a:cs typeface="Calibri"/>
              </a:rPr>
              <a:t>Why value is objective.</a:t>
            </a:r>
          </a:p>
          <a:p xmlns:a="http://schemas.openxmlformats.org/drawingml/2006/main">
            <a:pPr>
              <a:defRPr sz="1875" b="0">
                <a:solidFill>
                  <a:srgbClr val="303853"/>
                </a:solidFill>
                <a:latin typeface="Calibri"/>
                <a:ea typeface="Calibri"/>
                <a:cs typeface="Calibri"/>
              </a:defRPr>
            </a:pPr>
            <a:r>
              <a:rPr sz="1875" b="0">
                <a:solidFill>
                  <a:srgbClr val="303853"/>
                </a:solidFill>
                <a:latin typeface="Calibri"/>
                <a:ea typeface="Calibri"/>
                <a:cs typeface="Calibri"/>
              </a:rPr>
              <a:t>Why these capacities are universal.</a:t>
            </a:r>
          </a:p>
          <a:p xmlns:a="http://schemas.openxmlformats.org/drawingml/2006/main">
            <a:pPr>
              <a:defRPr sz="1875" b="0">
                <a:solidFill>
                  <a:srgbClr val="303853"/>
                </a:solidFill>
                <a:latin typeface="Calibri"/>
                <a:ea typeface="Calibri"/>
                <a:cs typeface="Calibri"/>
              </a:defRPr>
            </a:pPr>
            <a:r>
              <a:rPr sz="1875" b="0">
                <a:solidFill>
                  <a:srgbClr val="303853"/>
                </a:solidFill>
                <a:latin typeface="Calibri"/>
                <a:ea typeface="Calibri"/>
                <a:cs typeface="Calibri"/>
              </a:rPr>
              <a:t>How jeevan’s ontology is established.</a:t>
            </a:r>
          </a:p>
        </p:txBody>
      </p:sp>
    </p:spTree>
    <p:extLst>
      <p:ext uri="{BB962C8B-B14F-4D97-AF65-F5344CB8AC3E}">
        <p14:creationId xmlns:p14="http://schemas.microsoft.com/office/powerpoint/2010/main" val="1064457222"/>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E7857ED9-2A24-469F-AB72-216CFEE21686}"/>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9A6414"/>
                </a:solidFill>
                <a:latin typeface="Calibri"/>
                <a:ea typeface="Calibri"/>
                <a:cs typeface="Calibri"/>
              </a:defRPr>
            </a:pPr>
            <a:r>
              <a:rPr sz="1050" b="1">
                <a:solidFill>
                  <a:srgbClr val="9A6414"/>
                </a:solidFill>
                <a:latin typeface="Calibri"/>
                <a:ea typeface="Calibri"/>
                <a:cs typeface="Calibri"/>
              </a:rPr>
              <a:t>AN OPEN PROBLEM</a:t>
            </a:r>
          </a:p>
        </p:txBody>
      </p:sp>
      <p:sp>
        <p:nvSpPr>
          <p:cNvPr id="2" name="text-1">
            <a:extLst xmlns:a="http://schemas.openxmlformats.org/drawingml/2006/main">
              <a:ext uri="{FF2B5EF4-FFF2-40B4-BE49-F238E27FC236}">
                <a16:creationId xmlns:a16="http://schemas.microsoft.com/office/drawing/2014/main" id="{3A200848-ABB1-409B-A5B6-A5EB0A5412BE}"/>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3000" b="1">
                <a:solidFill>
                  <a:srgbClr val="1E2447"/>
                </a:solidFill>
                <a:latin typeface="Cambria"/>
                <a:ea typeface="Cambria"/>
                <a:cs typeface="Cambria"/>
              </a:defRPr>
            </a:pPr>
            <a:r>
              <a:rPr sz="3000" b="1">
                <a:solidFill>
                  <a:srgbClr val="1E2447"/>
                </a:solidFill>
                <a:latin typeface="Cambria"/>
                <a:ea typeface="Cambria"/>
                <a:cs typeface="Cambria"/>
              </a:rPr>
              <a:t>Two needs, one hour of care</a:t>
            </a:r>
          </a:p>
        </p:txBody>
      </p:sp>
      <p:sp>
        <p:nvSpPr>
          <p:cNvPr id="3" name="text-2">
            <a:extLst xmlns:a="http://schemas.openxmlformats.org/drawingml/2006/main">
              <a:ext uri="{FF2B5EF4-FFF2-40B4-BE49-F238E27FC236}">
                <a16:creationId xmlns:a16="http://schemas.microsoft.com/office/drawing/2014/main" id="{22F7135B-EF8B-4288-A806-50F3BD0D2E0D}"/>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5C62B77A-FAFA-4B47-9389-118C2E2CA532}"/>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50" b="0">
                <a:solidFill>
                  <a:srgbClr val="626C85"/>
                </a:solidFill>
                <a:latin typeface="Calibri"/>
                <a:ea typeface="Calibri"/>
                <a:cs typeface="Calibri"/>
              </a:defRPr>
            </a:pPr>
            <a:r>
              <a:rPr sz="950" b="0">
                <a:solidFill>
                  <a:srgbClr val="626C85"/>
                </a:solidFill>
                <a:latin typeface="Calibri"/>
                <a:ea typeface="Calibri"/>
                <a:cs typeface="Calibri"/>
              </a:rPr>
              <a:t>30 / 35</a:t>
            </a:r>
          </a:p>
        </p:txBody>
      </p:sp>
      <p:sp>
        <p:nvSpPr>
          <p:cNvPr id="5" name="text-4">
            <a:extLst xmlns:a="http://schemas.openxmlformats.org/drawingml/2006/main">
              <a:ext uri="{FF2B5EF4-FFF2-40B4-BE49-F238E27FC236}">
                <a16:creationId xmlns:a16="http://schemas.microsoft.com/office/drawing/2014/main" id="{202B3666-6573-4B58-BC27-B117942EBA32}"/>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00" b="0" i="1">
                <a:solidFill>
                  <a:srgbClr val="9A6414"/>
                </a:solidFill>
                <a:latin typeface="Calibri"/>
                <a:ea typeface="Calibri"/>
                <a:cs typeface="Calibri"/>
              </a:defRPr>
            </a:pPr>
            <a:r>
              <a:rPr sz="1300" b="0" i="1">
                <a:solidFill>
                  <a:srgbClr val="9A6414"/>
                </a:solidFill>
                <a:latin typeface="Calibri"/>
                <a:ea typeface="Calibri"/>
                <a:cs typeface="Calibri"/>
              </a:rPr>
              <a:t>A value standard must be connected with a defensible decision procedure.</a:t>
            </a:r>
          </a:p>
        </p:txBody>
      </p:sp>
      <p:sp>
        <p:nvSpPr>
          <p:cNvPr id="6" name="text-5">
            <a:extLst xmlns:a="http://schemas.openxmlformats.org/drawingml/2006/main">
              <a:ext uri="{FF2B5EF4-FFF2-40B4-BE49-F238E27FC236}">
                <a16:creationId xmlns:a16="http://schemas.microsoft.com/office/drawing/2014/main" id="{52BCF56C-D924-4127-8C55-45414849221E}"/>
              </a:ext>
            </a:extLst>
          </p:cNvPr>
          <p:cNvSpPr>
            <a:spLocks xmlns:a="http://schemas.openxmlformats.org/drawingml/2006/main" noGrp="1"/>
          </p:cNvSpPr>
          <p:nvPr/>
        </p:nvSpPr>
        <p:spPr>
          <a:xfrm xmlns:a="http://schemas.openxmlformats.org/drawingml/2006/main">
            <a:off x="962025" y="1381125"/>
            <a:ext cx="752475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E2447"/>
                </a:solidFill>
                <a:latin typeface="Cambria"/>
                <a:ea typeface="Cambria"/>
                <a:cs typeface="Cambria"/>
              </a:defRPr>
            </a:pPr>
            <a:r>
              <a:rPr sz="2700" b="0">
                <a:solidFill>
                  <a:srgbClr val="1E2447"/>
                </a:solidFill>
                <a:latin typeface="Cambria"/>
                <a:ea typeface="Cambria"/>
                <a:cs typeface="Cambria"/>
              </a:rPr>
              <a:t>Two people need care. One caregiver has an hour.</a:t>
            </a:r>
          </a:p>
        </p:txBody>
      </p:sp>
      <p:sp>
        <p:nvSpPr>
          <p:cNvPr id="7" name="text-6">
            <a:extLst xmlns:a="http://schemas.openxmlformats.org/drawingml/2006/main">
              <a:ext uri="{FF2B5EF4-FFF2-40B4-BE49-F238E27FC236}">
                <a16:creationId xmlns:a16="http://schemas.microsoft.com/office/drawing/2014/main" id="{ECD36328-0F54-4C47-BB46-7019D0AB8BD8}"/>
              </a:ext>
            </a:extLst>
          </p:cNvPr>
          <p:cNvSpPr>
            <a:spLocks xmlns:a="http://schemas.openxmlformats.org/drawingml/2006/main" noGrp="1"/>
          </p:cNvSpPr>
          <p:nvPr/>
        </p:nvSpPr>
        <p:spPr>
          <a:xfrm xmlns:a="http://schemas.openxmlformats.org/drawingml/2006/main">
            <a:off x="962025" y="2552700"/>
            <a:ext cx="75247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303853"/>
                </a:solidFill>
                <a:latin typeface="Calibri"/>
                <a:ea typeface="Calibri"/>
                <a:cs typeface="Calibri"/>
              </a:defRPr>
            </a:pPr>
            <a:r>
              <a:rPr sz="1950" b="0">
                <a:solidFill>
                  <a:srgbClr val="303853"/>
                </a:solidFill>
                <a:latin typeface="Calibri"/>
                <a:ea typeface="Calibri"/>
                <a:cs typeface="Calibri"/>
              </a:rPr>
              <a:t>Both have standing in the relationship. Their needs differ in urgency and in the kind of help required.</a:t>
            </a:r>
          </a:p>
        </p:txBody>
      </p:sp>
      <p:sp>
        <p:nvSpPr>
          <p:cNvPr id="8" name="text-7">
            <a:extLst xmlns:a="http://schemas.openxmlformats.org/drawingml/2006/main">
              <a:ext uri="{FF2B5EF4-FFF2-40B4-BE49-F238E27FC236}">
                <a16:creationId xmlns:a16="http://schemas.microsoft.com/office/drawing/2014/main" id="{BB7D7487-592F-4BE8-AB14-9940E0A68166}"/>
              </a:ext>
            </a:extLst>
          </p:cNvPr>
          <p:cNvSpPr>
            <a:spLocks xmlns:a="http://schemas.openxmlformats.org/drawingml/2006/main" noGrp="1"/>
          </p:cNvSpPr>
          <p:nvPr/>
        </p:nvSpPr>
        <p:spPr>
          <a:xfrm xmlns:a="http://schemas.openxmlformats.org/drawingml/2006/main">
            <a:off x="962025" y="3590925"/>
            <a:ext cx="75247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1">
                <a:solidFill>
                  <a:srgbClr val="9A6414"/>
                </a:solidFill>
                <a:latin typeface="Calibri"/>
                <a:ea typeface="Calibri"/>
                <a:cs typeface="Calibri"/>
              </a:defRPr>
            </a:pPr>
            <a:r>
              <a:rPr sz="2100" b="1">
                <a:solidFill>
                  <a:srgbClr val="9A6414"/>
                </a:solidFill>
                <a:latin typeface="Calibri"/>
                <a:ea typeface="Calibri"/>
                <a:cs typeface="Calibri"/>
              </a:rPr>
              <a:t>What would justify the allocation?</a:t>
            </a:r>
          </a:p>
        </p:txBody>
      </p:sp>
    </p:spTree>
    <p:extLst>
      <p:ext uri="{BB962C8B-B14F-4D97-AF65-F5344CB8AC3E}">
        <p14:creationId xmlns:p14="http://schemas.microsoft.com/office/powerpoint/2010/main" val="104591698"/>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0">
            <a:extLst xmlns:a="http://schemas.openxmlformats.org/drawingml/2006/main">
              <a:ext uri="{FF2B5EF4-FFF2-40B4-BE49-F238E27FC236}">
                <a16:creationId xmlns:a16="http://schemas.microsoft.com/office/drawing/2014/main" id="{0ADFFBCD-0678-4ED7-A355-FDADA14E2879}"/>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9A6414"/>
                </a:solidFill>
                <a:latin typeface="Calibri"/>
                <a:ea typeface="Calibri"/>
                <a:cs typeface="Calibri"/>
              </a:defRPr>
            </a:pPr>
            <a:r>
              <a:rPr sz="1050" b="1">
                <a:solidFill>
                  <a:srgbClr val="9A6414"/>
                </a:solidFill>
                <a:latin typeface="Calibri"/>
                <a:ea typeface="Calibri"/>
                <a:cs typeface="Calibri"/>
              </a:rPr>
              <a:t>DISCUSSION AND RECALL</a:t>
            </a:r>
          </a:p>
        </p:txBody>
      </p:sp>
      <p:sp>
        <p:nvSpPr>
          <p:cNvPr id="2" name="text-1">
            <a:extLst xmlns:a="http://schemas.openxmlformats.org/drawingml/2006/main">
              <a:ext uri="{FF2B5EF4-FFF2-40B4-BE49-F238E27FC236}">
                <a16:creationId xmlns:a16="http://schemas.microsoft.com/office/drawing/2014/main" id="{9E39C462-C6A2-4E4A-A97E-361AEA7CECEE}"/>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3000" b="1">
                <a:solidFill>
                  <a:srgbClr val="1E2447"/>
                </a:solidFill>
                <a:latin typeface="Cambria"/>
                <a:ea typeface="Cambria"/>
                <a:cs typeface="Cambria"/>
              </a:defRPr>
            </a:pPr>
            <a:r>
              <a:rPr sz="3000" b="1">
                <a:solidFill>
                  <a:srgbClr val="1E2447"/>
                </a:solidFill>
                <a:latin typeface="Cambria"/>
                <a:ea typeface="Cambria"/>
                <a:cs typeface="Cambria"/>
              </a:rPr>
              <a:t>Questions to carry out of the session</a:t>
            </a:r>
          </a:p>
        </p:txBody>
      </p:sp>
      <p:sp>
        <p:nvSpPr>
          <p:cNvPr id="3" name="text-2">
            <a:extLst xmlns:a="http://schemas.openxmlformats.org/drawingml/2006/main">
              <a:ext uri="{FF2B5EF4-FFF2-40B4-BE49-F238E27FC236}">
                <a16:creationId xmlns:a16="http://schemas.microsoft.com/office/drawing/2014/main" id="{43BE7405-0502-4AEE-B04B-8F1CF6FD43B0}"/>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D35822D8-866B-4497-82F9-F1788D8A748E}"/>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50" b="0">
                <a:solidFill>
                  <a:srgbClr val="626C85"/>
                </a:solidFill>
                <a:latin typeface="Calibri"/>
                <a:ea typeface="Calibri"/>
                <a:cs typeface="Calibri"/>
              </a:defRPr>
            </a:pPr>
            <a:r>
              <a:rPr sz="950" b="0">
                <a:solidFill>
                  <a:srgbClr val="626C85"/>
                </a:solidFill>
                <a:latin typeface="Calibri"/>
                <a:ea typeface="Calibri"/>
                <a:cs typeface="Calibri"/>
              </a:rPr>
              <a:t>31 / 35</a:t>
            </a:r>
          </a:p>
        </p:txBody>
      </p:sp>
      <p:sp>
        <p:nvSpPr>
          <p:cNvPr id="5" name="text-4">
            <a:extLst xmlns:a="http://schemas.openxmlformats.org/drawingml/2006/main">
              <a:ext uri="{FF2B5EF4-FFF2-40B4-BE49-F238E27FC236}">
                <a16:creationId xmlns:a16="http://schemas.microsoft.com/office/drawing/2014/main" id="{246F12CB-139F-43C8-A830-D2918874DB25}"/>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00" b="0" i="1">
                <a:solidFill>
                  <a:srgbClr val="9A6414"/>
                </a:solidFill>
                <a:latin typeface="Calibri"/>
                <a:ea typeface="Calibri"/>
                <a:cs typeface="Calibri"/>
              </a:defRPr>
            </a:pPr>
            <a:r>
              <a:rPr sz="1300" b="0" i="1">
                <a:solidFill>
                  <a:srgbClr val="9A6414"/>
                </a:solidFill>
                <a:latin typeface="Calibri"/>
                <a:ea typeface="Calibri"/>
                <a:cs typeface="Calibri"/>
              </a:rPr>
              <a:t>Apply these questions to one relationship or shared task you know well.</a:t>
            </a:r>
          </a:p>
        </p:txBody>
      </p:sp>
      <p:sp>
        <p:nvSpPr>
          <p:cNvPr id="6" name="text-5">
            <a:extLst xmlns:a="http://schemas.openxmlformats.org/drawingml/2006/main">
              <a:ext uri="{FF2B5EF4-FFF2-40B4-BE49-F238E27FC236}">
                <a16:creationId xmlns:a16="http://schemas.microsoft.com/office/drawing/2014/main" id="{5F5F5122-90FC-4359-9A31-6FD337258CF4}"/>
              </a:ext>
            </a:extLst>
          </p:cNvPr>
          <p:cNvSpPr>
            <a:spLocks xmlns:a="http://schemas.openxmlformats.org/drawingml/2006/main" noGrp="1"/>
          </p:cNvSpPr>
          <p:nvPr/>
        </p:nvSpPr>
        <p:spPr>
          <a:xfrm xmlns:a="http://schemas.openxmlformats.org/drawingml/2006/main">
            <a:off x="962025" y="1362075"/>
            <a:ext cx="2047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1">
                <a:solidFill>
                  <a:srgbClr val="1E2447"/>
                </a:solidFill>
                <a:latin typeface="Calibri"/>
                <a:ea typeface="Calibri"/>
                <a:cs typeface="Calibri"/>
              </a:defRPr>
            </a:pPr>
            <a:r>
              <a:rPr sz="1800" b="1">
                <a:solidFill>
                  <a:srgbClr val="1E2447"/>
                </a:solidFill>
                <a:latin typeface="Calibri"/>
                <a:ea typeface="Calibri"/>
                <a:cs typeface="Calibri"/>
              </a:rPr>
              <a:t>Value</a:t>
            </a:r>
          </a:p>
        </p:txBody>
      </p:sp>
      <p:sp>
        <p:nvSpPr>
          <p:cNvPr id="7" name="text-6">
            <a:extLst xmlns:a="http://schemas.openxmlformats.org/drawingml/2006/main">
              <a:ext uri="{FF2B5EF4-FFF2-40B4-BE49-F238E27FC236}">
                <a16:creationId xmlns:a16="http://schemas.microsoft.com/office/drawing/2014/main" id="{D4058518-C49F-4DA8-886C-7E76C5381587}"/>
              </a:ext>
            </a:extLst>
          </p:cNvPr>
          <p:cNvSpPr>
            <a:spLocks xmlns:a="http://schemas.openxmlformats.org/drawingml/2006/main" noGrp="1"/>
          </p:cNvSpPr>
          <p:nvPr/>
        </p:nvSpPr>
        <p:spPr>
          <a:xfrm xmlns:a="http://schemas.openxmlformats.org/drawingml/2006/main">
            <a:off x="3248025" y="1362075"/>
            <a:ext cx="52578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303853"/>
                </a:solidFill>
                <a:latin typeface="Calibri"/>
                <a:ea typeface="Calibri"/>
                <a:cs typeface="Calibri"/>
              </a:defRPr>
            </a:pPr>
            <a:r>
              <a:rPr sz="1725" b="0">
                <a:solidFill>
                  <a:srgbClr val="303853"/>
                </a:solidFill>
                <a:latin typeface="Calibri"/>
                <a:ea typeface="Calibri"/>
                <a:cs typeface="Calibri"/>
              </a:rPr>
              <a:t>What makes recognition correct or mistaken?</a:t>
            </a:r>
          </a:p>
        </p:txBody>
      </p:sp>
      <p:sp>
        <p:nvSpPr>
          <p:cNvPr id="8" name="text-7">
            <a:extLst xmlns:a="http://schemas.openxmlformats.org/drawingml/2006/main">
              <a:ext uri="{FF2B5EF4-FFF2-40B4-BE49-F238E27FC236}">
                <a16:creationId xmlns:a16="http://schemas.microsoft.com/office/drawing/2014/main" id="{E1B6477C-EA20-4C86-A500-C8252E12F897}"/>
              </a:ext>
            </a:extLst>
          </p:cNvPr>
          <p:cNvSpPr>
            <a:spLocks xmlns:a="http://schemas.openxmlformats.org/drawingml/2006/main" noGrp="1"/>
          </p:cNvSpPr>
          <p:nvPr/>
        </p:nvSpPr>
        <p:spPr>
          <a:xfrm xmlns:a="http://schemas.openxmlformats.org/drawingml/2006/main">
            <a:off x="962025" y="2085975"/>
            <a:ext cx="2047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1">
                <a:solidFill>
                  <a:srgbClr val="1E2447"/>
                </a:solidFill>
                <a:latin typeface="Calibri"/>
                <a:ea typeface="Calibri"/>
                <a:cs typeface="Calibri"/>
              </a:defRPr>
            </a:pPr>
            <a:r>
              <a:rPr sz="1800" b="1">
                <a:solidFill>
                  <a:srgbClr val="1E2447"/>
                </a:solidFill>
                <a:latin typeface="Calibri"/>
                <a:ea typeface="Calibri"/>
                <a:cs typeface="Calibri"/>
              </a:rPr>
              <a:t>Correspondence</a:t>
            </a:r>
          </a:p>
        </p:txBody>
      </p:sp>
      <p:sp>
        <p:nvSpPr>
          <p:cNvPr id="9" name="text-8">
            <a:extLst xmlns:a="http://schemas.openxmlformats.org/drawingml/2006/main">
              <a:ext uri="{FF2B5EF4-FFF2-40B4-BE49-F238E27FC236}">
                <a16:creationId xmlns:a16="http://schemas.microsoft.com/office/drawing/2014/main" id="{86984B5F-BD83-470B-8BF2-5142CDD1B8C6}"/>
              </a:ext>
            </a:extLst>
          </p:cNvPr>
          <p:cNvSpPr>
            <a:spLocks xmlns:a="http://schemas.openxmlformats.org/drawingml/2006/main" noGrp="1"/>
          </p:cNvSpPr>
          <p:nvPr/>
        </p:nvSpPr>
        <p:spPr>
          <a:xfrm xmlns:a="http://schemas.openxmlformats.org/drawingml/2006/main">
            <a:off x="3248025" y="2085975"/>
            <a:ext cx="52578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303853"/>
                </a:solidFill>
                <a:latin typeface="Calibri"/>
                <a:ea typeface="Calibri"/>
                <a:cs typeface="Calibri"/>
              </a:defRPr>
            </a:pPr>
            <a:r>
              <a:rPr sz="1725" b="0">
                <a:solidFill>
                  <a:srgbClr val="303853"/>
                </a:solidFill>
                <a:latin typeface="Calibri"/>
                <a:ea typeface="Calibri"/>
                <a:cs typeface="Calibri"/>
              </a:rPr>
              <a:t>Which value is established, and what expresses it?</a:t>
            </a:r>
          </a:p>
        </p:txBody>
      </p:sp>
      <p:sp>
        <p:nvSpPr>
          <p:cNvPr id="10" name="text-9">
            <a:extLst xmlns:a="http://schemas.openxmlformats.org/drawingml/2006/main">
              <a:ext uri="{FF2B5EF4-FFF2-40B4-BE49-F238E27FC236}">
                <a16:creationId xmlns:a16="http://schemas.microsoft.com/office/drawing/2014/main" id="{E66F7493-5154-4893-9424-591BBFD52BA7}"/>
              </a:ext>
            </a:extLst>
          </p:cNvPr>
          <p:cNvSpPr>
            <a:spLocks xmlns:a="http://schemas.openxmlformats.org/drawingml/2006/main" noGrp="1"/>
          </p:cNvSpPr>
          <p:nvPr/>
        </p:nvSpPr>
        <p:spPr>
          <a:xfrm xmlns:a="http://schemas.openxmlformats.org/drawingml/2006/main">
            <a:off x="962025" y="2809875"/>
            <a:ext cx="2047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1">
                <a:solidFill>
                  <a:srgbClr val="1E2447"/>
                </a:solidFill>
                <a:latin typeface="Calibri"/>
                <a:ea typeface="Calibri"/>
                <a:cs typeface="Calibri"/>
              </a:defRPr>
            </a:pPr>
            <a:r>
              <a:rPr sz="1800" b="1">
                <a:solidFill>
                  <a:srgbClr val="1E2447"/>
                </a:solidFill>
                <a:latin typeface="Calibri"/>
                <a:ea typeface="Calibri"/>
                <a:cs typeface="Calibri"/>
              </a:rPr>
              <a:t>Learning</a:t>
            </a:r>
          </a:p>
        </p:txBody>
      </p:sp>
      <p:sp>
        <p:nvSpPr>
          <p:cNvPr id="11" name="text-10">
            <a:extLst xmlns:a="http://schemas.openxmlformats.org/drawingml/2006/main">
              <a:ext uri="{FF2B5EF4-FFF2-40B4-BE49-F238E27FC236}">
                <a16:creationId xmlns:a16="http://schemas.microsoft.com/office/drawing/2014/main" id="{397AD96D-429C-4951-A18C-C9840BCE048A}"/>
              </a:ext>
            </a:extLst>
          </p:cNvPr>
          <p:cNvSpPr>
            <a:spLocks xmlns:a="http://schemas.openxmlformats.org/drawingml/2006/main" noGrp="1"/>
          </p:cNvSpPr>
          <p:nvPr/>
        </p:nvSpPr>
        <p:spPr>
          <a:xfrm xmlns:a="http://schemas.openxmlformats.org/drawingml/2006/main">
            <a:off x="3248025" y="2809875"/>
            <a:ext cx="52578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303853"/>
                </a:solidFill>
                <a:latin typeface="Calibri"/>
                <a:ea typeface="Calibri"/>
                <a:cs typeface="Calibri"/>
              </a:defRPr>
            </a:pPr>
            <a:r>
              <a:rPr sz="1725" b="0">
                <a:solidFill>
                  <a:srgbClr val="303853"/>
                </a:solidFill>
                <a:latin typeface="Calibri"/>
                <a:ea typeface="Calibri"/>
                <a:cs typeface="Calibri"/>
              </a:rPr>
              <a:t>How can expression precede establishment?</a:t>
            </a:r>
          </a:p>
        </p:txBody>
      </p:sp>
      <p:sp>
        <p:nvSpPr>
          <p:cNvPr id="12" name="text-11">
            <a:extLst xmlns:a="http://schemas.openxmlformats.org/drawingml/2006/main">
              <a:ext uri="{FF2B5EF4-FFF2-40B4-BE49-F238E27FC236}">
                <a16:creationId xmlns:a16="http://schemas.microsoft.com/office/drawing/2014/main" id="{AE3964EB-6EC3-4BDF-AA26-5B12C34D145C}"/>
              </a:ext>
            </a:extLst>
          </p:cNvPr>
          <p:cNvSpPr>
            <a:spLocks xmlns:a="http://schemas.openxmlformats.org/drawingml/2006/main" noGrp="1"/>
          </p:cNvSpPr>
          <p:nvPr/>
        </p:nvSpPr>
        <p:spPr>
          <a:xfrm xmlns:a="http://schemas.openxmlformats.org/drawingml/2006/main">
            <a:off x="962025" y="3533775"/>
            <a:ext cx="2047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1">
                <a:solidFill>
                  <a:srgbClr val="1E2447"/>
                </a:solidFill>
                <a:latin typeface="Calibri"/>
                <a:ea typeface="Calibri"/>
                <a:cs typeface="Calibri"/>
              </a:defRPr>
            </a:pPr>
            <a:r>
              <a:rPr sz="1800" b="1">
                <a:solidFill>
                  <a:srgbClr val="1E2447"/>
                </a:solidFill>
                <a:latin typeface="Calibri"/>
                <a:ea typeface="Calibri"/>
                <a:cs typeface="Calibri"/>
              </a:rPr>
              <a:t>Justice</a:t>
            </a:r>
          </a:p>
        </p:txBody>
      </p:sp>
      <p:sp>
        <p:nvSpPr>
          <p:cNvPr id="13" name="text-12">
            <a:extLst xmlns:a="http://schemas.openxmlformats.org/drawingml/2006/main">
              <a:ext uri="{FF2B5EF4-FFF2-40B4-BE49-F238E27FC236}">
                <a16:creationId xmlns:a16="http://schemas.microsoft.com/office/drawing/2014/main" id="{90CD91B6-7747-49C8-B61D-BB804B9B6EC5}"/>
              </a:ext>
            </a:extLst>
          </p:cNvPr>
          <p:cNvSpPr>
            <a:spLocks xmlns:a="http://schemas.openxmlformats.org/drawingml/2006/main" noGrp="1"/>
          </p:cNvSpPr>
          <p:nvPr/>
        </p:nvSpPr>
        <p:spPr>
          <a:xfrm xmlns:a="http://schemas.openxmlformats.org/drawingml/2006/main">
            <a:off x="3248025" y="3533775"/>
            <a:ext cx="52578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303853"/>
                </a:solidFill>
                <a:latin typeface="Calibri"/>
                <a:ea typeface="Calibri"/>
                <a:cs typeface="Calibri"/>
              </a:defRPr>
            </a:pPr>
            <a:r>
              <a:rPr sz="1725" b="0">
                <a:solidFill>
                  <a:srgbClr val="303853"/>
                </a:solidFill>
                <a:latin typeface="Calibri"/>
                <a:ea typeface="Calibri"/>
                <a:cs typeface="Calibri"/>
              </a:rPr>
              <a:t>What evidence shows that a responsibility was fulfilled?</a:t>
            </a:r>
          </a:p>
        </p:txBody>
      </p:sp>
    </p:spTree>
    <p:extLst>
      <p:ext uri="{BB962C8B-B14F-4D97-AF65-F5344CB8AC3E}">
        <p14:creationId xmlns:p14="http://schemas.microsoft.com/office/powerpoint/2010/main" val="871944212"/>
      </p:ext>
    </p:extLst>
  </p:cSld>
</p:sld>
</file>

<file path=ppt/slides/slide32.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6" name="text-0">
            <a:extLst xmlns:a="http://schemas.openxmlformats.org/drawingml/2006/main">
              <a:ext uri="{FF2B5EF4-FFF2-40B4-BE49-F238E27FC236}">
                <a16:creationId xmlns:a16="http://schemas.microsoft.com/office/drawing/2014/main" id="{045EC8CA-977F-449C-BAF4-DB69EF780014}"/>
              </a:ext>
            </a:extLst>
          </p:cNvPr>
          <p:cNvSpPr>
            <a:spLocks xmlns:a="http://schemas.openxmlformats.org/drawingml/2006/main" noGrp="1"/>
          </p:cNvSpPr>
          <p:nvPr/>
        </p:nvSpPr>
        <p:spPr>
          <a:xfrm xmlns:a="http://schemas.openxmlformats.org/drawingml/2006/main">
            <a:off x="640080" y="1028700"/>
            <a:ext cx="786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00" b="1">
                <a:solidFill>
                  <a:srgbClr val="C9821E"/>
                </a:solidFill>
                <a:latin typeface="Calibri"/>
                <a:ea typeface="Calibri"/>
                <a:cs typeface="Calibri"/>
              </a:defRPr>
            </a:pPr>
            <a:r>
              <a:rPr sz="1200" b="1">
                <a:solidFill>
                  <a:srgbClr val="C9821E"/>
                </a:solidFill>
                <a:latin typeface="Calibri"/>
                <a:ea typeface="Calibri"/>
                <a:cs typeface="Calibri"/>
              </a:rPr>
              <a:t>NEXT IN START HERE</a:t>
            </a:r>
          </a:p>
        </p:txBody>
      </p:sp>
      <p:sp>
        <p:nvSpPr>
          <p:cNvPr id="2" name="text-1">
            <a:extLst xmlns:a="http://schemas.openxmlformats.org/drawingml/2006/main">
              <a:ext uri="{FF2B5EF4-FFF2-40B4-BE49-F238E27FC236}">
                <a16:creationId xmlns:a16="http://schemas.microsoft.com/office/drawing/2014/main" id="{FE43D7FF-68F1-473C-89A0-15CB33910DA9}"/>
              </a:ext>
            </a:extLst>
          </p:cNvPr>
          <p:cNvSpPr>
            <a:spLocks xmlns:a="http://schemas.openxmlformats.org/drawingml/2006/main" noGrp="1"/>
          </p:cNvSpPr>
          <p:nvPr/>
        </p:nvSpPr>
        <p:spPr>
          <a:xfrm xmlns:a="http://schemas.openxmlformats.org/drawingml/2006/main">
            <a:off x="640080" y="1628775"/>
            <a:ext cx="7762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4400" b="1">
                <a:solidFill>
                  <a:srgbClr val="FFFFFF"/>
                </a:solidFill>
                <a:latin typeface="Cambria"/>
                <a:ea typeface="Cambria"/>
                <a:cs typeface="Cambria"/>
              </a:defRPr>
            </a:pPr>
            <a:r>
              <a:rPr sz="4400" b="1">
                <a:solidFill>
                  <a:srgbClr val="FFFFFF"/>
                </a:solidFill>
                <a:latin typeface="Cambria"/>
                <a:ea typeface="Cambria"/>
                <a:cs typeface="Cambria"/>
              </a:rPr>
              <a:t>Living the values</a:t>
            </a:r>
          </a:p>
        </p:txBody>
      </p:sp>
      <p:sp>
        <p:nvSpPr>
          <p:cNvPr id="3" name="text-2">
            <a:extLst xmlns:a="http://schemas.openxmlformats.org/drawingml/2006/main">
              <a:ext uri="{FF2B5EF4-FFF2-40B4-BE49-F238E27FC236}">
                <a16:creationId xmlns:a16="http://schemas.microsoft.com/office/drawing/2014/main" id="{B45F55DB-EC85-4681-B85E-164A85DA15AC}"/>
              </a:ext>
            </a:extLst>
          </p:cNvPr>
          <p:cNvSpPr>
            <a:spLocks xmlns:a="http://schemas.openxmlformats.org/drawingml/2006/main" noGrp="1"/>
          </p:cNvSpPr>
          <p:nvPr/>
        </p:nvSpPr>
        <p:spPr>
          <a:xfrm xmlns:a="http://schemas.openxmlformats.org/drawingml/2006/main">
            <a:off x="640080" y="2562225"/>
            <a:ext cx="7524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DCE3F3"/>
                </a:solidFill>
                <a:latin typeface="Calibri"/>
                <a:ea typeface="Calibri"/>
                <a:cs typeface="Calibri"/>
              </a:defRPr>
            </a:pPr>
            <a:r>
              <a:rPr sz="2250" b="0">
                <a:solidFill>
                  <a:srgbClr val="DCE3F3"/>
                </a:solidFill>
                <a:latin typeface="Calibri"/>
                <a:ea typeface="Calibri"/>
                <a:cs typeface="Calibri"/>
              </a:rPr>
              <a:t>How do family, education, and society make value-fulfilment continuous?</a:t>
            </a:r>
          </a:p>
        </p:txBody>
      </p:sp>
      <p:sp>
        <p:nvSpPr>
          <p:cNvPr id="4" name="text-3">
            <a:extLst xmlns:a="http://schemas.openxmlformats.org/drawingml/2006/main">
              <a:ext uri="{FF2B5EF4-FFF2-40B4-BE49-F238E27FC236}">
                <a16:creationId xmlns:a16="http://schemas.microsoft.com/office/drawing/2014/main" id="{4F7D0840-C727-499E-9A9C-EF131A1E551B}"/>
              </a:ext>
            </a:extLst>
          </p:cNvPr>
          <p:cNvSpPr>
            <a:spLocks xmlns:a="http://schemas.openxmlformats.org/drawingml/2006/main" noGrp="1"/>
          </p:cNvSpPr>
          <p:nvPr/>
        </p:nvSpPr>
        <p:spPr>
          <a:xfrm xmlns:a="http://schemas.openxmlformats.org/drawingml/2006/main">
            <a:off x="640080" y="3800475"/>
            <a:ext cx="7524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00" b="0">
                <a:solidFill>
                  <a:srgbClr val="B4C1DF"/>
                </a:solidFill>
                <a:latin typeface="Calibri"/>
                <a:ea typeface="Calibri"/>
                <a:cs typeface="Calibri"/>
              </a:defRPr>
            </a:pPr>
            <a:r>
              <a:rPr sz="1700" b="0">
                <a:solidFill>
                  <a:srgbClr val="B4C1DF"/>
                </a:solidFill>
                <a:latin typeface="Calibri"/>
                <a:ea typeface="Calibri"/>
                <a:cs typeface="Calibri"/>
              </a:rPr>
              <a:t>Next study</a:t>
            </a:r>
          </a:p>
          <a:p xmlns:a="http://schemas.openxmlformats.org/drawingml/2006/main">
            <a:pPr>
              <a:defRPr sz="1700" b="0">
                <a:solidFill>
                  <a:srgbClr val="B4C1DF"/>
                </a:solidFill>
                <a:latin typeface="Calibri"/>
                <a:ea typeface="Calibri"/>
                <a:cs typeface="Calibri"/>
              </a:defRPr>
            </a:pPr>
            <a:r>
              <a:rPr sz="1700" b="0">
                <a:solidFill>
                  <a:srgbClr val="B4C1DF"/>
                </a:solidFill>
                <a:latin typeface="Calibri"/>
                <a:ea typeface="Calibri"/>
                <a:cs typeface="Calibri"/>
              </a:rPr>
              <a:t>How Undivided Society Is Established</a:t>
            </a:r>
          </a:p>
        </p:txBody>
      </p:sp>
      <p:sp>
        <p:nvSpPr>
          <p:cNvPr id="5" name="text-4">
            <a:extLst xmlns:a="http://schemas.openxmlformats.org/drawingml/2006/main">
              <a:ext uri="{FF2B5EF4-FFF2-40B4-BE49-F238E27FC236}">
                <a16:creationId xmlns:a16="http://schemas.microsoft.com/office/drawing/2014/main" id="{92D9F71D-1798-4AEF-9ED3-BB64C798BF81}"/>
              </a:ext>
            </a:extLst>
          </p:cNvPr>
          <p:cNvSpPr>
            <a:spLocks xmlns:a="http://schemas.openxmlformats.org/drawingml/2006/main" noGrp="1"/>
          </p:cNvSpPr>
          <p:nvPr/>
        </p:nvSpPr>
        <p:spPr>
          <a:xfrm xmlns:a="http://schemas.openxmlformats.org/drawingml/2006/main">
            <a:off x="7743825" y="4810125"/>
            <a:ext cx="8763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50" b="0">
                <a:solidFill>
                  <a:srgbClr val="B4C1DF"/>
                </a:solidFill>
                <a:latin typeface="Calibri"/>
                <a:ea typeface="Calibri"/>
                <a:cs typeface="Calibri"/>
              </a:defRPr>
            </a:pPr>
            <a:r>
              <a:rPr sz="950" b="0">
                <a:solidFill>
                  <a:srgbClr val="B4C1DF"/>
                </a:solidFill>
                <a:latin typeface="Calibri"/>
                <a:ea typeface="Calibri"/>
                <a:cs typeface="Calibri"/>
              </a:rPr>
              <a:t>32 / 35</a:t>
            </a:r>
          </a:p>
        </p:txBody>
      </p:sp>
    </p:spTree>
    <p:extLst>
      <p:ext uri="{BB962C8B-B14F-4D97-AF65-F5344CB8AC3E}">
        <p14:creationId xmlns:p14="http://schemas.microsoft.com/office/powerpoint/2010/main" val="1348914122"/>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0C343771-3CD3-457D-99BF-AC1239D94014}"/>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9A6414"/>
                </a:solidFill>
                <a:latin typeface="Calibri"/>
                <a:ea typeface="Calibri"/>
                <a:cs typeface="Calibri"/>
              </a:defRPr>
            </a:pPr>
            <a:r>
              <a:rPr sz="1050" b="1">
                <a:solidFill>
                  <a:srgbClr val="9A6414"/>
                </a:solidFill>
                <a:latin typeface="Calibri"/>
                <a:ea typeface="Calibri"/>
                <a:cs typeface="Calibri"/>
              </a:rPr>
              <a:t>OPTIONAL REFERENCE · TERMINOLOGY</a:t>
            </a:r>
          </a:p>
        </p:txBody>
      </p:sp>
      <p:sp>
        <p:nvSpPr>
          <p:cNvPr id="2" name="text-1">
            <a:extLst xmlns:a="http://schemas.openxmlformats.org/drawingml/2006/main">
              <a:ext uri="{FF2B5EF4-FFF2-40B4-BE49-F238E27FC236}">
                <a16:creationId xmlns:a16="http://schemas.microsoft.com/office/drawing/2014/main" id="{4D7645B9-62BB-49D5-94F3-7A4E583EE761}"/>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3000" b="1">
                <a:solidFill>
                  <a:srgbClr val="1E2447"/>
                </a:solidFill>
                <a:latin typeface="Cambria"/>
                <a:ea typeface="Cambria"/>
                <a:cs typeface="Cambria"/>
              </a:defRPr>
            </a:pPr>
            <a:r>
              <a:rPr sz="3000" b="1">
                <a:solidFill>
                  <a:srgbClr val="1E2447"/>
                </a:solidFill>
                <a:latin typeface="Cambria"/>
                <a:ea typeface="Cambria"/>
                <a:cs typeface="Cambria"/>
              </a:rPr>
              <a:t>Terms that need careful reading</a:t>
            </a:r>
          </a:p>
        </p:txBody>
      </p:sp>
      <p:sp>
        <p:nvSpPr>
          <p:cNvPr id="3" name="text-2">
            <a:extLst xmlns:a="http://schemas.openxmlformats.org/drawingml/2006/main">
              <a:ext uri="{FF2B5EF4-FFF2-40B4-BE49-F238E27FC236}">
                <a16:creationId xmlns:a16="http://schemas.microsoft.com/office/drawing/2014/main" id="{54107E4C-7B4C-4B23-B46A-891D8F824CAD}"/>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47A72295-8DB5-4EA1-8BD4-180B2773A042}"/>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50" b="0">
                <a:solidFill>
                  <a:srgbClr val="626C85"/>
                </a:solidFill>
                <a:latin typeface="Calibri"/>
                <a:ea typeface="Calibri"/>
                <a:cs typeface="Calibri"/>
              </a:defRPr>
            </a:pPr>
            <a:r>
              <a:rPr sz="950" b="0">
                <a:solidFill>
                  <a:srgbClr val="626C85"/>
                </a:solidFill>
                <a:latin typeface="Calibri"/>
                <a:ea typeface="Calibri"/>
                <a:cs typeface="Calibri"/>
              </a:rPr>
              <a:t>33 / 35</a:t>
            </a:r>
          </a:p>
        </p:txBody>
      </p:sp>
      <p:sp>
        <p:nvSpPr>
          <p:cNvPr id="5" name="text-4">
            <a:extLst xmlns:a="http://schemas.openxmlformats.org/drawingml/2006/main">
              <a:ext uri="{FF2B5EF4-FFF2-40B4-BE49-F238E27FC236}">
                <a16:creationId xmlns:a16="http://schemas.microsoft.com/office/drawing/2014/main" id="{8762A105-F9F2-4C26-A277-804514A0984F}"/>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00" b="0" i="1">
                <a:solidFill>
                  <a:srgbClr val="9A6414"/>
                </a:solidFill>
                <a:latin typeface="Calibri"/>
                <a:ea typeface="Calibri"/>
                <a:cs typeface="Calibri"/>
              </a:defRPr>
            </a:pPr>
            <a:r>
              <a:rPr sz="1300" b="0" i="1">
                <a:solidFill>
                  <a:srgbClr val="9A6414"/>
                </a:solidFill>
                <a:latin typeface="Calibri"/>
                <a:ea typeface="Calibri"/>
                <a:cs typeface="Calibri"/>
              </a:rPr>
              <a:t>Everyday English associations may differ from the source definitions.</a:t>
            </a:r>
          </a:p>
        </p:txBody>
      </p:sp>
      <p:graphicFrame>
        <p:nvGraphicFramePr>
          <p:cNvPr id="12" name=""/>
          <p:cNvGraphicFramePr/>
          <p:nvPr/>
        </p:nvGraphicFramePr>
        <p:xfrm>
          <a:off xmlns:a="http://schemas.openxmlformats.org/drawingml/2006/main" x="962025" y="1362075"/>
          <a:ext xmlns:a="http://schemas.openxmlformats.org/drawingml/2006/main" cx="7391400" cy="2914650"/>
        </p:xfrm>
        <a:graphic xmlns:a="http://schemas.openxmlformats.org/drawingml/2006/main">
          <a:graphicData uri="http://schemas.openxmlformats.org/drawingml/2006/table">
            <a:tbl>
              <a:tblPr firstRow="1" bandRow="0"/>
              <a:tblGrid>
                <a:gridCol w="2809875"/>
                <a:gridCol w="4581525"/>
              </a:tblGrid>
              <a:tr h="495300">
                <a:tc>
                  <a:txBody>
                    <a:bodyPr lIns="123825" tIns="57150" rIns="95250" bIns="57150">
                      <a:noAutofit/>
                    </a:bodyPr>
                    <a:lstStyle/>
                    <a:p>
                      <a:r>
                        <a:rPr sz="1600" b="1">
                          <a:solidFill>
                            <a:srgbClr val="FFFFFF"/>
                          </a:solidFill>
                          <a:latin typeface="Calibri"/>
                          <a:ea typeface="Calibri"/>
                          <a:cs typeface="Calibri"/>
                        </a:rPr>
                        <a:t>Term</a:t>
                      </a:r>
                    </a:p>
                  </a:txBody>
                  <a:tcPr marL="91440" marR="91440" marT="45720" marB="45720" anchor="ctr">
                    <a:solidFill>
                      <a:srgbClr val="1E2447"/>
                    </a:solidFill>
                  </a:tcPr>
                </a:tc>
                <a:tc>
                  <a:txBody>
                    <a:bodyPr lIns="123825" tIns="57150" rIns="95250" bIns="57150">
                      <a:noAutofit/>
                    </a:bodyPr>
                    <a:lstStyle/>
                    <a:p>
                      <a:r>
                        <a:rPr sz="1600" b="1">
                          <a:solidFill>
                            <a:srgbClr val="FFFFFF"/>
                          </a:solidFill>
                          <a:latin typeface="Calibri"/>
                          <a:ea typeface="Calibri"/>
                          <a:cs typeface="Calibri"/>
                        </a:rPr>
                        <a:t>Meaning in this account</a:t>
                      </a:r>
                    </a:p>
                  </a:txBody>
                  <a:tcPr marL="91440" marR="91440" marT="45720" marB="45720" anchor="ctr">
                    <a:solidFill>
                      <a:srgbClr val="1E2447"/>
                    </a:solidFill>
                  </a:tcPr>
                </a:tc>
              </a:tr>
              <a:tr h="483870">
                <a:tc>
                  <a:txBody>
                    <a:bodyPr lIns="123825" tIns="57150" rIns="95250" bIns="57150">
                      <a:noAutofit/>
                    </a:bodyPr>
                    <a:lstStyle/>
                    <a:p>
                      <a:r>
                        <a:rPr sz="1650" b="0">
                          <a:solidFill>
                            <a:srgbClr val="303853"/>
                          </a:solidFill>
                          <a:latin typeface="Calibri"/>
                          <a:ea typeface="Calibri"/>
                          <a:cs typeface="Calibri"/>
                        </a:rPr>
                        <a:t>Bal / sthiti</a:t>
                      </a:r>
                    </a:p>
                  </a:txBody>
                  <a:tcPr marL="91440" marR="91440" marT="45720" marB="45720" anchor="ctr">
                    <a:solidFill>
                      <a:srgbClr val="FFFFFF"/>
                    </a:solidFill>
                  </a:tcPr>
                </a:tc>
                <a:tc>
                  <a:txBody>
                    <a:bodyPr lIns="123825" tIns="57150" rIns="95250" bIns="57150">
                      <a:noAutofit/>
                    </a:bodyPr>
                    <a:lstStyle/>
                    <a:p>
                      <a:r>
                        <a:rPr sz="1650" b="0">
                          <a:solidFill>
                            <a:srgbClr val="303853"/>
                          </a:solidFill>
                          <a:latin typeface="Calibri"/>
                          <a:ea typeface="Calibri"/>
                          <a:cs typeface="Calibri"/>
                        </a:rPr>
                        <a:t>Strength / state, an active aspect of jeevan</a:t>
                      </a:r>
                    </a:p>
                  </a:txBody>
                  <a:tcPr marL="91440" marR="91440" marT="45720" marB="45720" anchor="ctr">
                    <a:solidFill>
                      <a:srgbClr val="FFFFFF"/>
                    </a:solidFill>
                  </a:tcPr>
                </a:tc>
              </a:tr>
              <a:tr h="483870">
                <a:tc>
                  <a:txBody>
                    <a:bodyPr lIns="123825" tIns="57150" rIns="95250" bIns="57150">
                      <a:noAutofit/>
                    </a:bodyPr>
                    <a:lstStyle/>
                    <a:p>
                      <a:r>
                        <a:rPr sz="1650" b="0">
                          <a:solidFill>
                            <a:srgbClr val="303853"/>
                          </a:solidFill>
                          <a:latin typeface="Calibri"/>
                          <a:ea typeface="Calibri"/>
                          <a:cs typeface="Calibri"/>
                        </a:rPr>
                        <a:t>Shakti / gati</a:t>
                      </a:r>
                    </a:p>
                  </a:txBody>
                  <a:tcPr marL="91440" marR="91440" marT="45720" marB="45720" anchor="ctr">
                    <a:solidFill>
                      <a:srgbClr val="F1F3F8"/>
                    </a:solidFill>
                  </a:tcPr>
                </a:tc>
                <a:tc>
                  <a:txBody>
                    <a:bodyPr lIns="123825" tIns="57150" rIns="95250" bIns="57150">
                      <a:noAutofit/>
                    </a:bodyPr>
                    <a:lstStyle/>
                    <a:p>
                      <a:r>
                        <a:rPr sz="1650" b="0">
                          <a:solidFill>
                            <a:srgbClr val="303853"/>
                          </a:solidFill>
                          <a:latin typeface="Calibri"/>
                          <a:ea typeface="Calibri"/>
                          <a:cs typeface="Calibri"/>
                        </a:rPr>
                        <a:t>Power / motion, corresponding expression</a:t>
                      </a:r>
                    </a:p>
                  </a:txBody>
                  <a:tcPr marL="91440" marR="91440" marT="45720" marB="45720" anchor="ctr">
                    <a:solidFill>
                      <a:srgbClr val="F1F3F8"/>
                    </a:solidFill>
                  </a:tcPr>
                </a:tc>
              </a:tr>
              <a:tr h="483870">
                <a:tc>
                  <a:txBody>
                    <a:bodyPr lIns="123825" tIns="57150" rIns="95250" bIns="57150">
                      <a:noAutofit/>
                    </a:bodyPr>
                    <a:lstStyle/>
                    <a:p>
                      <a:r>
                        <a:rPr sz="1650" b="0">
                          <a:solidFill>
                            <a:srgbClr val="303853"/>
                          </a:solidFill>
                          <a:latin typeface="Calibri"/>
                          <a:ea typeface="Calibri"/>
                          <a:cs typeface="Calibri"/>
                        </a:rPr>
                        <a:t>Sthapit / shishta values</a:t>
                      </a:r>
                    </a:p>
                  </a:txBody>
                  <a:tcPr marL="91440" marR="91440" marT="45720" marB="45720" anchor="ctr">
                    <a:solidFill>
                      <a:srgbClr val="FFFFFF"/>
                    </a:solidFill>
                  </a:tcPr>
                </a:tc>
                <a:tc>
                  <a:txBody>
                    <a:bodyPr lIns="123825" tIns="57150" rIns="95250" bIns="57150">
                      <a:noAutofit/>
                    </a:bodyPr>
                    <a:lstStyle/>
                    <a:p>
                      <a:r>
                        <a:rPr sz="1650" b="0">
                          <a:solidFill>
                            <a:srgbClr val="303853"/>
                          </a:solidFill>
                          <a:latin typeface="Calibri"/>
                          <a:ea typeface="Calibri"/>
                          <a:cs typeface="Calibri"/>
                        </a:rPr>
                        <a:t>Established / expressed or civic values</a:t>
                      </a:r>
                    </a:p>
                  </a:txBody>
                  <a:tcPr marL="91440" marR="91440" marT="45720" marB="45720" anchor="ctr">
                    <a:solidFill>
                      <a:srgbClr val="FFFFFF"/>
                    </a:solidFill>
                  </a:tcPr>
                </a:tc>
              </a:tr>
              <a:tr h="483870">
                <a:tc>
                  <a:txBody>
                    <a:bodyPr lIns="123825" tIns="57150" rIns="95250" bIns="57150">
                      <a:noAutofit/>
                    </a:bodyPr>
                    <a:lstStyle/>
                    <a:p>
                      <a:r>
                        <a:rPr sz="1650" b="0">
                          <a:solidFill>
                            <a:srgbClr val="303853"/>
                          </a:solidFill>
                          <a:latin typeface="Calibri"/>
                          <a:ea typeface="Calibri"/>
                          <a:cs typeface="Calibri"/>
                        </a:rPr>
                        <a:t>Sambandh / sampark</a:t>
                      </a:r>
                    </a:p>
                  </a:txBody>
                  <a:tcPr marL="91440" marR="91440" marT="45720" marB="45720" anchor="ctr">
                    <a:solidFill>
                      <a:srgbClr val="F1F3F8"/>
                    </a:solidFill>
                  </a:tcPr>
                </a:tc>
                <a:tc>
                  <a:txBody>
                    <a:bodyPr lIns="123825" tIns="57150" rIns="95250" bIns="57150">
                      <a:noAutofit/>
                    </a:bodyPr>
                    <a:lstStyle/>
                    <a:p>
                      <a:r>
                        <a:rPr sz="1650" b="0">
                          <a:solidFill>
                            <a:srgbClr val="303853"/>
                          </a:solidFill>
                          <a:latin typeface="Calibri"/>
                          <a:ea typeface="Calibri"/>
                          <a:cs typeface="Calibri"/>
                        </a:rPr>
                        <a:t>Relationship / voluntarily specified contact</a:t>
                      </a:r>
                    </a:p>
                  </a:txBody>
                  <a:tcPr marL="91440" marR="91440" marT="45720" marB="45720" anchor="ctr">
                    <a:solidFill>
                      <a:srgbClr val="F1F3F8"/>
                    </a:solidFill>
                  </a:tcPr>
                </a:tc>
              </a:tr>
              <a:tr h="483870">
                <a:tc>
                  <a:txBody>
                    <a:bodyPr lIns="123825" tIns="57150" rIns="95250" bIns="57150">
                      <a:noAutofit/>
                    </a:bodyPr>
                    <a:lstStyle/>
                    <a:p>
                      <a:r>
                        <a:rPr sz="1650" b="0">
                          <a:solidFill>
                            <a:srgbClr val="303853"/>
                          </a:solidFill>
                          <a:latin typeface="Calibri"/>
                          <a:ea typeface="Calibri"/>
                          <a:cs typeface="Calibri"/>
                        </a:rPr>
                        <a:t>Jeevan / body</a:t>
                      </a:r>
                    </a:p>
                  </a:txBody>
                  <a:tcPr marL="91440" marR="91440" marT="45720" marB="45720" anchor="ctr">
                    <a:solidFill>
                      <a:srgbClr val="FFFFFF"/>
                    </a:solidFill>
                  </a:tcPr>
                </a:tc>
                <a:tc>
                  <a:txBody>
                    <a:bodyPr lIns="123825" tIns="57150" rIns="95250" bIns="57150">
                      <a:noAutofit/>
                    </a:bodyPr>
                    <a:lstStyle/>
                    <a:p>
                      <a:r>
                        <a:rPr sz="1650" b="0">
                          <a:solidFill>
                            <a:srgbClr val="303853"/>
                          </a:solidFill>
                          <a:latin typeface="Calibri"/>
                          <a:ea typeface="Calibri"/>
                          <a:cs typeface="Calibri"/>
                        </a:rPr>
                        <a:t>Conscious unit / instrument of embodied participation</a:t>
                      </a:r>
                    </a:p>
                  </a:txBody>
                  <a:tcPr marL="91440" marR="91440" marT="45720" marB="45720" anchor="ctr">
                    <a:solidFill>
                      <a:srgbClr val="FFFFFF"/>
                    </a:solidFill>
                  </a:tcPr>
                </a:tc>
              </a:tr>
            </a:tbl>
          </a:graphicData>
        </a:graphic>
      </p:graphicFrame>
    </p:spTree>
    <p:extLst>
      <p:ext uri="{BB962C8B-B14F-4D97-AF65-F5344CB8AC3E}">
        <p14:creationId xmlns:p14="http://schemas.microsoft.com/office/powerpoint/2010/main" val="1006037936"/>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1445B2E0-5D8C-4B70-8F7C-78817828C6FC}"/>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9A6414"/>
                </a:solidFill>
                <a:latin typeface="Calibri"/>
                <a:ea typeface="Calibri"/>
                <a:cs typeface="Calibri"/>
              </a:defRPr>
            </a:pPr>
            <a:r>
              <a:rPr sz="1050" b="1">
                <a:solidFill>
                  <a:srgbClr val="9A6414"/>
                </a:solidFill>
                <a:latin typeface="Calibri"/>
                <a:ea typeface="Calibri"/>
                <a:cs typeface="Calibri"/>
              </a:rPr>
              <a:t>OPTIONAL REFERENCE · JEEVAN</a:t>
            </a:r>
          </a:p>
        </p:txBody>
      </p:sp>
      <p:sp>
        <p:nvSpPr>
          <p:cNvPr id="2" name="text-1">
            <a:extLst xmlns:a="http://schemas.openxmlformats.org/drawingml/2006/main">
              <a:ext uri="{FF2B5EF4-FFF2-40B4-BE49-F238E27FC236}">
                <a16:creationId xmlns:a16="http://schemas.microsoft.com/office/drawing/2014/main" id="{6CBF3921-2C96-40EC-8F84-6999E1E7EF72}"/>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3000" b="1">
                <a:solidFill>
                  <a:srgbClr val="1E2447"/>
                </a:solidFill>
                <a:latin typeface="Cambria"/>
                <a:ea typeface="Cambria"/>
                <a:cs typeface="Cambria"/>
              </a:defRPr>
            </a:pPr>
            <a:r>
              <a:rPr sz="3000" b="1">
                <a:solidFill>
                  <a:srgbClr val="1E2447"/>
                </a:solidFill>
                <a:latin typeface="Cambria"/>
                <a:ea typeface="Cambria"/>
                <a:cs typeface="Cambria"/>
              </a:rPr>
              <a:t>Faculties and the four harmonies</a:t>
            </a:r>
          </a:p>
        </p:txBody>
      </p:sp>
      <p:sp>
        <p:nvSpPr>
          <p:cNvPr id="3" name="text-2">
            <a:extLst xmlns:a="http://schemas.openxmlformats.org/drawingml/2006/main">
              <a:ext uri="{FF2B5EF4-FFF2-40B4-BE49-F238E27FC236}">
                <a16:creationId xmlns:a16="http://schemas.microsoft.com/office/drawing/2014/main" id="{948B4944-E82C-4049-AC95-FF28D4596016}"/>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93D2CE3F-7590-4E7F-A4DB-F7B3EC3ECF92}"/>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50" b="0">
                <a:solidFill>
                  <a:srgbClr val="626C85"/>
                </a:solidFill>
                <a:latin typeface="Calibri"/>
                <a:ea typeface="Calibri"/>
                <a:cs typeface="Calibri"/>
              </a:defRPr>
            </a:pPr>
            <a:r>
              <a:rPr sz="950" b="0">
                <a:solidFill>
                  <a:srgbClr val="626C85"/>
                </a:solidFill>
                <a:latin typeface="Calibri"/>
                <a:ea typeface="Calibri"/>
                <a:cs typeface="Calibri"/>
              </a:rPr>
              <a:t>34 / 35</a:t>
            </a:r>
          </a:p>
        </p:txBody>
      </p:sp>
      <p:sp>
        <p:nvSpPr>
          <p:cNvPr id="5" name="text-4">
            <a:extLst xmlns:a="http://schemas.openxmlformats.org/drawingml/2006/main">
              <a:ext uri="{FF2B5EF4-FFF2-40B4-BE49-F238E27FC236}">
                <a16:creationId xmlns:a16="http://schemas.microsoft.com/office/drawing/2014/main" id="{C1127F3F-499C-4AE3-8380-A959A23712B0}"/>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00" b="0" i="1">
                <a:solidFill>
                  <a:srgbClr val="9A6414"/>
                </a:solidFill>
                <a:latin typeface="Calibri"/>
                <a:ea typeface="Calibri"/>
                <a:cs typeface="Calibri"/>
              </a:defRPr>
            </a:pPr>
            <a:r>
              <a:rPr sz="1300" b="0" i="1">
                <a:solidFill>
                  <a:srgbClr val="9A6414"/>
                </a:solidFill>
                <a:latin typeface="Calibri"/>
                <a:ea typeface="Calibri"/>
                <a:cs typeface="Calibri"/>
              </a:rPr>
              <a:t>The preceding knowledge session develops the faculties and their activities.</a:t>
            </a:r>
          </a:p>
        </p:txBody>
      </p:sp>
      <p:graphicFrame>
        <p:nvGraphicFramePr>
          <p:cNvPr id="12" name=""/>
          <p:cNvGraphicFramePr/>
          <p:nvPr/>
        </p:nvGraphicFramePr>
        <p:xfrm>
          <a:off xmlns:a="http://schemas.openxmlformats.org/drawingml/2006/main" x="962025" y="1362075"/>
          <a:ext xmlns:a="http://schemas.openxmlformats.org/drawingml/2006/main" cx="7391400" cy="2857500"/>
        </p:xfrm>
        <a:graphic xmlns:a="http://schemas.openxmlformats.org/drawingml/2006/main">
          <a:graphicData uri="http://schemas.openxmlformats.org/drawingml/2006/table">
            <a:tbl>
              <a:tblPr firstRow="1" bandRow="0"/>
              <a:tblGrid>
                <a:gridCol w="3238500"/>
                <a:gridCol w="4152900"/>
              </a:tblGrid>
              <a:tr h="495300">
                <a:tc>
                  <a:txBody>
                    <a:bodyPr lIns="123825" tIns="57150" rIns="95250" bIns="57150">
                      <a:noAutofit/>
                    </a:bodyPr>
                    <a:lstStyle/>
                    <a:p>
                      <a:r>
                        <a:rPr sz="1600" b="1">
                          <a:solidFill>
                            <a:srgbClr val="FFFFFF"/>
                          </a:solidFill>
                          <a:latin typeface="Calibri"/>
                          <a:ea typeface="Calibri"/>
                          <a:cs typeface="Calibri"/>
                        </a:rPr>
                        <a:t>Jeevan value</a:t>
                      </a:r>
                    </a:p>
                  </a:txBody>
                  <a:tcPr marL="91440" marR="91440" marT="45720" marB="45720" anchor="ctr">
                    <a:solidFill>
                      <a:srgbClr val="1E2447"/>
                    </a:solidFill>
                  </a:tcPr>
                </a:tc>
                <a:tc>
                  <a:txBody>
                    <a:bodyPr lIns="123825" tIns="57150" rIns="95250" bIns="57150">
                      <a:noAutofit/>
                    </a:bodyPr>
                    <a:lstStyle/>
                    <a:p>
                      <a:r>
                        <a:rPr sz="1600" b="1">
                          <a:solidFill>
                            <a:srgbClr val="FFFFFF"/>
                          </a:solidFill>
                          <a:latin typeface="Calibri"/>
                          <a:ea typeface="Calibri"/>
                          <a:cs typeface="Calibri"/>
                        </a:rPr>
                        <a:t>Harmony between faculties</a:t>
                      </a:r>
                    </a:p>
                  </a:txBody>
                  <a:tcPr marL="91440" marR="91440" marT="45720" marB="45720" anchor="ctr">
                    <a:solidFill>
                      <a:srgbClr val="1E2447"/>
                    </a:solidFill>
                  </a:tcPr>
                </a:tc>
              </a:tr>
              <a:tr h="590550">
                <a:tc>
                  <a:txBody>
                    <a:bodyPr lIns="123825" tIns="57150" rIns="95250" bIns="57150">
                      <a:noAutofit/>
                    </a:bodyPr>
                    <a:lstStyle/>
                    <a:p>
                      <a:r>
                        <a:rPr sz="1800" b="0">
                          <a:solidFill>
                            <a:srgbClr val="303853"/>
                          </a:solidFill>
                          <a:latin typeface="Calibri"/>
                          <a:ea typeface="Calibri"/>
                          <a:cs typeface="Calibri"/>
                        </a:rPr>
                        <a:t>Happiness: sukh</a:t>
                      </a:r>
                    </a:p>
                  </a:txBody>
                  <a:tcPr marL="91440" marR="91440" marT="45720" marB="45720" anchor="ctr">
                    <a:solidFill>
                      <a:srgbClr val="FFFFFF"/>
                    </a:solidFill>
                  </a:tcPr>
                </a:tc>
                <a:tc>
                  <a:txBody>
                    <a:bodyPr lIns="123825" tIns="57150" rIns="95250" bIns="57150">
                      <a:noAutofit/>
                    </a:bodyPr>
                    <a:lstStyle/>
                    <a:p>
                      <a:r>
                        <a:rPr sz="1800" b="0">
                          <a:solidFill>
                            <a:srgbClr val="303853"/>
                          </a:solidFill>
                          <a:latin typeface="Calibri"/>
                          <a:ea typeface="Calibri"/>
                          <a:cs typeface="Calibri"/>
                        </a:rPr>
                        <a:t>mun and vritti</a:t>
                      </a:r>
                    </a:p>
                  </a:txBody>
                  <a:tcPr marL="91440" marR="91440" marT="45720" marB="45720" anchor="ctr">
                    <a:solidFill>
                      <a:srgbClr val="FFFFFF"/>
                    </a:solidFill>
                  </a:tcPr>
                </a:tc>
              </a:tr>
              <a:tr h="590550">
                <a:tc>
                  <a:txBody>
                    <a:bodyPr lIns="123825" tIns="57150" rIns="95250" bIns="57150">
                      <a:noAutofit/>
                    </a:bodyPr>
                    <a:lstStyle/>
                    <a:p>
                      <a:r>
                        <a:rPr sz="1800" b="0">
                          <a:solidFill>
                            <a:srgbClr val="303853"/>
                          </a:solidFill>
                          <a:latin typeface="Calibri"/>
                          <a:ea typeface="Calibri"/>
                          <a:cs typeface="Calibri"/>
                        </a:rPr>
                        <a:t>Peace: shanti</a:t>
                      </a:r>
                    </a:p>
                  </a:txBody>
                  <a:tcPr marL="91440" marR="91440" marT="45720" marB="45720" anchor="ctr">
                    <a:solidFill>
                      <a:srgbClr val="F1F3F8"/>
                    </a:solidFill>
                  </a:tcPr>
                </a:tc>
                <a:tc>
                  <a:txBody>
                    <a:bodyPr lIns="123825" tIns="57150" rIns="95250" bIns="57150">
                      <a:noAutofit/>
                    </a:bodyPr>
                    <a:lstStyle/>
                    <a:p>
                      <a:r>
                        <a:rPr sz="1800" b="0">
                          <a:solidFill>
                            <a:srgbClr val="303853"/>
                          </a:solidFill>
                          <a:latin typeface="Calibri"/>
                          <a:ea typeface="Calibri"/>
                          <a:cs typeface="Calibri"/>
                        </a:rPr>
                        <a:t>vritti and chitta</a:t>
                      </a:r>
                    </a:p>
                  </a:txBody>
                  <a:tcPr marL="91440" marR="91440" marT="45720" marB="45720" anchor="ctr">
                    <a:solidFill>
                      <a:srgbClr val="F1F3F8"/>
                    </a:solidFill>
                  </a:tcPr>
                </a:tc>
              </a:tr>
              <a:tr h="590550">
                <a:tc>
                  <a:txBody>
                    <a:bodyPr lIns="123825" tIns="57150" rIns="95250" bIns="57150">
                      <a:noAutofit/>
                    </a:bodyPr>
                    <a:lstStyle/>
                    <a:p>
                      <a:r>
                        <a:rPr sz="1800" b="0">
                          <a:solidFill>
                            <a:srgbClr val="303853"/>
                          </a:solidFill>
                          <a:latin typeface="Calibri"/>
                          <a:ea typeface="Calibri"/>
                          <a:cs typeface="Calibri"/>
                        </a:rPr>
                        <a:t>Contentment: santosh</a:t>
                      </a:r>
                    </a:p>
                  </a:txBody>
                  <a:tcPr marL="91440" marR="91440" marT="45720" marB="45720" anchor="ctr">
                    <a:solidFill>
                      <a:srgbClr val="FFFFFF"/>
                    </a:solidFill>
                  </a:tcPr>
                </a:tc>
                <a:tc>
                  <a:txBody>
                    <a:bodyPr lIns="123825" tIns="57150" rIns="95250" bIns="57150">
                      <a:noAutofit/>
                    </a:bodyPr>
                    <a:lstStyle/>
                    <a:p>
                      <a:r>
                        <a:rPr sz="1800" b="0">
                          <a:solidFill>
                            <a:srgbClr val="303853"/>
                          </a:solidFill>
                          <a:latin typeface="Calibri"/>
                          <a:ea typeface="Calibri"/>
                          <a:cs typeface="Calibri"/>
                        </a:rPr>
                        <a:t>chitta and buddhi</a:t>
                      </a:r>
                    </a:p>
                  </a:txBody>
                  <a:tcPr marL="91440" marR="91440" marT="45720" marB="45720" anchor="ctr">
                    <a:solidFill>
                      <a:srgbClr val="FFFFFF"/>
                    </a:solidFill>
                  </a:tcPr>
                </a:tc>
              </a:tr>
              <a:tr h="590550">
                <a:tc>
                  <a:txBody>
                    <a:bodyPr lIns="123825" tIns="57150" rIns="95250" bIns="57150">
                      <a:noAutofit/>
                    </a:bodyPr>
                    <a:lstStyle/>
                    <a:p>
                      <a:r>
                        <a:rPr sz="1800" b="0">
                          <a:solidFill>
                            <a:srgbClr val="303853"/>
                          </a:solidFill>
                          <a:latin typeface="Calibri"/>
                          <a:ea typeface="Calibri"/>
                          <a:cs typeface="Calibri"/>
                        </a:rPr>
                        <a:t>Bliss: anand</a:t>
                      </a:r>
                    </a:p>
                  </a:txBody>
                  <a:tcPr marL="91440" marR="91440" marT="45720" marB="45720" anchor="ctr">
                    <a:solidFill>
                      <a:srgbClr val="F1F3F8"/>
                    </a:solidFill>
                  </a:tcPr>
                </a:tc>
                <a:tc>
                  <a:txBody>
                    <a:bodyPr lIns="123825" tIns="57150" rIns="95250" bIns="57150">
                      <a:noAutofit/>
                    </a:bodyPr>
                    <a:lstStyle/>
                    <a:p>
                      <a:r>
                        <a:rPr sz="1800" b="0">
                          <a:solidFill>
                            <a:srgbClr val="303853"/>
                          </a:solidFill>
                          <a:latin typeface="Calibri"/>
                          <a:ea typeface="Calibri"/>
                          <a:cs typeface="Calibri"/>
                        </a:rPr>
                        <a:t>buddhi and atma</a:t>
                      </a:r>
                    </a:p>
                  </a:txBody>
                  <a:tcPr marL="91440" marR="91440" marT="45720" marB="45720" anchor="ctr">
                    <a:solidFill>
                      <a:srgbClr val="F1F3F8"/>
                    </a:solidFill>
                  </a:tcPr>
                </a:tc>
              </a:tr>
            </a:tbl>
          </a:graphicData>
        </a:graphic>
      </p:graphicFrame>
    </p:spTree>
    <p:extLst>
      <p:ext uri="{BB962C8B-B14F-4D97-AF65-F5344CB8AC3E}">
        <p14:creationId xmlns:p14="http://schemas.microsoft.com/office/powerpoint/2010/main" val="1233393219"/>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text-0">
            <a:extLst xmlns:a="http://schemas.openxmlformats.org/drawingml/2006/main">
              <a:ext uri="{FF2B5EF4-FFF2-40B4-BE49-F238E27FC236}">
                <a16:creationId xmlns:a16="http://schemas.microsoft.com/office/drawing/2014/main" id="{45AB5510-741C-4ADE-BAC4-8CF1056AE9C4}"/>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9A6414"/>
                </a:solidFill>
                <a:latin typeface="Calibri"/>
                <a:ea typeface="Calibri"/>
                <a:cs typeface="Calibri"/>
              </a:defRPr>
            </a:pPr>
            <a:r>
              <a:rPr sz="1050" b="1">
                <a:solidFill>
                  <a:srgbClr val="9A6414"/>
                </a:solidFill>
                <a:latin typeface="Calibri"/>
                <a:ea typeface="Calibri"/>
                <a:cs typeface="Calibri"/>
              </a:rPr>
              <a:t>READING AND SOURCE LOCATORS</a:t>
            </a:r>
          </a:p>
        </p:txBody>
      </p:sp>
      <p:sp>
        <p:nvSpPr>
          <p:cNvPr id="2" name="text-1">
            <a:extLst xmlns:a="http://schemas.openxmlformats.org/drawingml/2006/main">
              <a:ext uri="{FF2B5EF4-FFF2-40B4-BE49-F238E27FC236}">
                <a16:creationId xmlns:a16="http://schemas.microsoft.com/office/drawing/2014/main" id="{4F009D1C-85B4-4BE8-BC40-AA827A9782E2}"/>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3000" b="1">
                <a:solidFill>
                  <a:srgbClr val="1E2447"/>
                </a:solidFill>
                <a:latin typeface="Cambria"/>
                <a:ea typeface="Cambria"/>
                <a:cs typeface="Cambria"/>
              </a:defRPr>
            </a:pPr>
            <a:r>
              <a:rPr sz="3000" b="1">
                <a:solidFill>
                  <a:srgbClr val="1E2447"/>
                </a:solidFill>
                <a:latin typeface="Cambria"/>
                <a:ea typeface="Cambria"/>
                <a:cs typeface="Cambria"/>
              </a:rPr>
              <a:t>Study and primary texts</a:t>
            </a:r>
          </a:p>
        </p:txBody>
      </p:sp>
      <p:sp>
        <p:nvSpPr>
          <p:cNvPr id="3" name="text-2">
            <a:extLst xmlns:a="http://schemas.openxmlformats.org/drawingml/2006/main">
              <a:ext uri="{FF2B5EF4-FFF2-40B4-BE49-F238E27FC236}">
                <a16:creationId xmlns:a16="http://schemas.microsoft.com/office/drawing/2014/main" id="{FCE7FE09-996F-42CC-93F1-E98A968A0811}"/>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B3B1BC49-720D-43CE-AB0D-472C426F285C}"/>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50" b="0">
                <a:solidFill>
                  <a:srgbClr val="626C85"/>
                </a:solidFill>
                <a:latin typeface="Calibri"/>
                <a:ea typeface="Calibri"/>
                <a:cs typeface="Calibri"/>
              </a:defRPr>
            </a:pPr>
            <a:r>
              <a:rPr sz="950" b="0">
                <a:solidFill>
                  <a:srgbClr val="626C85"/>
                </a:solidFill>
                <a:latin typeface="Calibri"/>
                <a:ea typeface="Calibri"/>
                <a:cs typeface="Calibri"/>
              </a:rPr>
              <a:t>35 / 35</a:t>
            </a:r>
          </a:p>
        </p:txBody>
      </p:sp>
      <p:sp>
        <p:nvSpPr>
          <p:cNvPr id="5" name="text-4">
            <a:extLst xmlns:a="http://schemas.openxmlformats.org/drawingml/2006/main">
              <a:ext uri="{FF2B5EF4-FFF2-40B4-BE49-F238E27FC236}">
                <a16:creationId xmlns:a16="http://schemas.microsoft.com/office/drawing/2014/main" id="{9A927C60-E31F-4C09-89D4-C39A7C087E65}"/>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00" b="0" i="1">
                <a:solidFill>
                  <a:srgbClr val="9A6414"/>
                </a:solidFill>
                <a:latin typeface="Calibri"/>
                <a:ea typeface="Calibri"/>
                <a:cs typeface="Calibri"/>
              </a:defRPr>
            </a:pPr>
            <a:r>
              <a:rPr sz="1300" b="0" i="1">
                <a:solidFill>
                  <a:srgbClr val="9A6414"/>
                </a:solidFill>
                <a:latin typeface="Calibri"/>
                <a:ea typeface="Calibri"/>
                <a:cs typeface="Calibri"/>
              </a:rPr>
              <a:t>Primary works by Shri A. Nagraj. Printed-page locators appear in the notes.</a:t>
            </a:r>
          </a:p>
        </p:txBody>
      </p:sp>
      <p:sp>
        <p:nvSpPr>
          <p:cNvPr id="6" name="text-5">
            <a:extLst xmlns:a="http://schemas.openxmlformats.org/drawingml/2006/main">
              <a:ext uri="{FF2B5EF4-FFF2-40B4-BE49-F238E27FC236}">
                <a16:creationId xmlns:a16="http://schemas.microsoft.com/office/drawing/2014/main" id="{644C2237-F759-4058-9573-C7AA3FD94312}"/>
              </a:ext>
            </a:extLst>
          </p:cNvPr>
          <p:cNvSpPr>
            <a:spLocks xmlns:a="http://schemas.openxmlformats.org/drawingml/2006/main" noGrp="1"/>
          </p:cNvSpPr>
          <p:nvPr/>
        </p:nvSpPr>
        <p:spPr>
          <a:xfrm xmlns:a="http://schemas.openxmlformats.org/drawingml/2006/main">
            <a:off x="962025" y="1333500"/>
            <a:ext cx="2047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1">
                <a:solidFill>
                  <a:srgbClr val="1E2447"/>
                </a:solidFill>
                <a:latin typeface="Calibri"/>
                <a:ea typeface="Calibri"/>
                <a:cs typeface="Calibri"/>
              </a:defRPr>
            </a:pPr>
            <a:r>
              <a:rPr sz="1725" b="1">
                <a:solidFill>
                  <a:srgbClr val="1E2447"/>
                </a:solidFill>
                <a:latin typeface="Calibri"/>
                <a:ea typeface="Calibri"/>
                <a:cs typeface="Calibri"/>
              </a:rPr>
              <a:t>Companion study</a:t>
            </a:r>
          </a:p>
        </p:txBody>
      </p:sp>
      <p:sp>
        <p:nvSpPr>
          <p:cNvPr id="7" name="text-6">
            <a:extLst xmlns:a="http://schemas.openxmlformats.org/drawingml/2006/main">
              <a:ext uri="{FF2B5EF4-FFF2-40B4-BE49-F238E27FC236}">
                <a16:creationId xmlns:a16="http://schemas.microsoft.com/office/drawing/2014/main" id="{E6F5E558-FFE9-41B8-8DA9-3D06632B7400}"/>
              </a:ext>
            </a:extLst>
          </p:cNvPr>
          <p:cNvSpPr>
            <a:spLocks xmlns:a="http://schemas.openxmlformats.org/drawingml/2006/main" noGrp="1"/>
          </p:cNvSpPr>
          <p:nvPr/>
        </p:nvSpPr>
        <p:spPr>
          <a:xfrm xmlns:a="http://schemas.openxmlformats.org/drawingml/2006/main">
            <a:off x="3248025" y="1333500"/>
            <a:ext cx="52578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303853"/>
                </a:solidFill>
                <a:latin typeface="Calibri"/>
                <a:ea typeface="Calibri"/>
                <a:cs typeface="Calibri"/>
              </a:defRPr>
            </a:pPr>
            <a:r>
              <a:rPr sz="1725" b="0">
                <a:solidFill>
                  <a:srgbClr val="303853"/>
                </a:solidFill>
                <a:latin typeface="Calibri"/>
                <a:ea typeface="Calibri"/>
                <a:cs typeface="Calibri"/>
              </a:rPr>
              <a:t>Axiology: Value Theory, §§1–8 and References</a:t>
            </a:r>
          </a:p>
        </p:txBody>
      </p:sp>
      <p:sp>
        <p:nvSpPr>
          <p:cNvPr id="8" name="text-7">
            <a:extLst xmlns:a="http://schemas.openxmlformats.org/drawingml/2006/main">
              <a:ext uri="{FF2B5EF4-FFF2-40B4-BE49-F238E27FC236}">
                <a16:creationId xmlns:a16="http://schemas.microsoft.com/office/drawing/2014/main" id="{9A774118-C1DC-4F9C-A448-C2FE784447DD}"/>
              </a:ext>
            </a:extLst>
          </p:cNvPr>
          <p:cNvSpPr>
            <a:spLocks xmlns:a="http://schemas.openxmlformats.org/drawingml/2006/main" noGrp="1"/>
          </p:cNvSpPr>
          <p:nvPr/>
        </p:nvSpPr>
        <p:spPr>
          <a:xfrm xmlns:a="http://schemas.openxmlformats.org/drawingml/2006/main">
            <a:off x="962025" y="1981200"/>
            <a:ext cx="2047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1">
                <a:solidFill>
                  <a:srgbClr val="1E2447"/>
                </a:solidFill>
                <a:latin typeface="Calibri"/>
                <a:ea typeface="Calibri"/>
                <a:cs typeface="Calibri"/>
              </a:defRPr>
            </a:pPr>
            <a:r>
              <a:rPr sz="1725" b="1">
                <a:solidFill>
                  <a:srgbClr val="1E2447"/>
                </a:solidFill>
                <a:latin typeface="Calibri"/>
                <a:ea typeface="Calibri"/>
                <a:cs typeface="Calibri"/>
              </a:rPr>
              <a:t>MVD</a:t>
            </a:r>
          </a:p>
        </p:txBody>
      </p:sp>
      <p:sp>
        <p:nvSpPr>
          <p:cNvPr id="9" name="text-8">
            <a:extLst xmlns:a="http://schemas.openxmlformats.org/drawingml/2006/main">
              <a:ext uri="{FF2B5EF4-FFF2-40B4-BE49-F238E27FC236}">
                <a16:creationId xmlns:a16="http://schemas.microsoft.com/office/drawing/2014/main" id="{B7F0E75F-00AC-4FD5-BB8C-C5F6E2DA8E6C}"/>
              </a:ext>
            </a:extLst>
          </p:cNvPr>
          <p:cNvSpPr>
            <a:spLocks xmlns:a="http://schemas.openxmlformats.org/drawingml/2006/main" noGrp="1"/>
          </p:cNvSpPr>
          <p:nvPr/>
        </p:nvSpPr>
        <p:spPr>
          <a:xfrm xmlns:a="http://schemas.openxmlformats.org/drawingml/2006/main">
            <a:off x="3248025" y="1981200"/>
            <a:ext cx="52578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303853"/>
                </a:solidFill>
                <a:latin typeface="Calibri"/>
                <a:ea typeface="Calibri"/>
                <a:cs typeface="Calibri"/>
              </a:defRPr>
            </a:pPr>
            <a:r>
              <a:rPr sz="1725" b="0">
                <a:solidFill>
                  <a:srgbClr val="303853"/>
                </a:solidFill>
                <a:latin typeface="Calibri"/>
                <a:ea typeface="Calibri"/>
                <a:cs typeface="Calibri"/>
              </a:rPr>
              <a:t>Madhyasth Darshan / Coexistentialism</a:t>
            </a:r>
          </a:p>
        </p:txBody>
      </p:sp>
      <p:sp>
        <p:nvSpPr>
          <p:cNvPr id="10" name="text-9">
            <a:extLst xmlns:a="http://schemas.openxmlformats.org/drawingml/2006/main">
              <a:ext uri="{FF2B5EF4-FFF2-40B4-BE49-F238E27FC236}">
                <a16:creationId xmlns:a16="http://schemas.microsoft.com/office/drawing/2014/main" id="{BAA0BD16-43BE-4749-AEAE-A291077AB7B5}"/>
              </a:ext>
            </a:extLst>
          </p:cNvPr>
          <p:cNvSpPr>
            <a:spLocks xmlns:a="http://schemas.openxmlformats.org/drawingml/2006/main" noGrp="1"/>
          </p:cNvSpPr>
          <p:nvPr/>
        </p:nvSpPr>
        <p:spPr>
          <a:xfrm xmlns:a="http://schemas.openxmlformats.org/drawingml/2006/main">
            <a:off x="962025" y="2628900"/>
            <a:ext cx="2047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1">
                <a:solidFill>
                  <a:srgbClr val="1E2447"/>
                </a:solidFill>
                <a:latin typeface="Calibri"/>
                <a:ea typeface="Calibri"/>
                <a:cs typeface="Calibri"/>
              </a:defRPr>
            </a:pPr>
            <a:r>
              <a:rPr sz="1725" b="1">
                <a:solidFill>
                  <a:srgbClr val="1E2447"/>
                </a:solidFill>
                <a:latin typeface="Calibri"/>
                <a:ea typeface="Calibri"/>
                <a:cs typeface="Calibri"/>
              </a:rPr>
              <a:t>JV and AVD</a:t>
            </a:r>
          </a:p>
        </p:txBody>
      </p:sp>
      <p:sp>
        <p:nvSpPr>
          <p:cNvPr id="11" name="text-10">
            <a:extLst xmlns:a="http://schemas.openxmlformats.org/drawingml/2006/main">
              <a:ext uri="{FF2B5EF4-FFF2-40B4-BE49-F238E27FC236}">
                <a16:creationId xmlns:a16="http://schemas.microsoft.com/office/drawing/2014/main" id="{ABB0ADAC-D4A9-4CFD-BD2B-A76C9AE45F39}"/>
              </a:ext>
            </a:extLst>
          </p:cNvPr>
          <p:cNvSpPr>
            <a:spLocks xmlns:a="http://schemas.openxmlformats.org/drawingml/2006/main" noGrp="1"/>
          </p:cNvSpPr>
          <p:nvPr/>
        </p:nvSpPr>
        <p:spPr>
          <a:xfrm xmlns:a="http://schemas.openxmlformats.org/drawingml/2006/main">
            <a:off x="3248025" y="2628900"/>
            <a:ext cx="52578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303853"/>
                </a:solidFill>
                <a:latin typeface="Calibri"/>
                <a:ea typeface="Calibri"/>
                <a:cs typeface="Calibri"/>
              </a:defRPr>
            </a:pPr>
            <a:r>
              <a:rPr sz="1725" b="0">
                <a:solidFill>
                  <a:srgbClr val="303853"/>
                </a:solidFill>
                <a:latin typeface="Calibri"/>
                <a:ea typeface="Calibri"/>
                <a:cs typeface="Calibri"/>
              </a:rPr>
              <a:t>Jeevan Vidya / Anubhav Darshan</a:t>
            </a:r>
          </a:p>
        </p:txBody>
      </p:sp>
      <p:sp>
        <p:nvSpPr>
          <p:cNvPr id="12" name="text-11">
            <a:extLst xmlns:a="http://schemas.openxmlformats.org/drawingml/2006/main">
              <a:ext uri="{FF2B5EF4-FFF2-40B4-BE49-F238E27FC236}">
                <a16:creationId xmlns:a16="http://schemas.microsoft.com/office/drawing/2014/main" id="{D9FDE840-D3E2-4E82-B5DE-B3BACD423DCC}"/>
              </a:ext>
            </a:extLst>
          </p:cNvPr>
          <p:cNvSpPr>
            <a:spLocks xmlns:a="http://schemas.openxmlformats.org/drawingml/2006/main" noGrp="1"/>
          </p:cNvSpPr>
          <p:nvPr/>
        </p:nvSpPr>
        <p:spPr>
          <a:xfrm xmlns:a="http://schemas.openxmlformats.org/drawingml/2006/main">
            <a:off x="962025" y="3276600"/>
            <a:ext cx="2047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1">
                <a:solidFill>
                  <a:srgbClr val="1E2447"/>
                </a:solidFill>
                <a:latin typeface="Calibri"/>
                <a:ea typeface="Calibri"/>
                <a:cs typeface="Calibri"/>
              </a:defRPr>
            </a:pPr>
            <a:r>
              <a:rPr sz="1725" b="1">
                <a:solidFill>
                  <a:srgbClr val="1E2447"/>
                </a:solidFill>
                <a:latin typeface="Calibri"/>
                <a:ea typeface="Calibri"/>
                <a:cs typeface="Calibri"/>
              </a:rPr>
              <a:t>SB and KD</a:t>
            </a:r>
          </a:p>
        </p:txBody>
      </p:sp>
      <p:sp>
        <p:nvSpPr>
          <p:cNvPr id="13" name="text-12">
            <a:extLst xmlns:a="http://schemas.openxmlformats.org/drawingml/2006/main">
              <a:ext uri="{FF2B5EF4-FFF2-40B4-BE49-F238E27FC236}">
                <a16:creationId xmlns:a16="http://schemas.microsoft.com/office/drawing/2014/main" id="{9CB84A94-D4FF-46B6-80BC-31C201C23163}"/>
              </a:ext>
            </a:extLst>
          </p:cNvPr>
          <p:cNvSpPr>
            <a:spLocks xmlns:a="http://schemas.openxmlformats.org/drawingml/2006/main" noGrp="1"/>
          </p:cNvSpPr>
          <p:nvPr/>
        </p:nvSpPr>
        <p:spPr>
          <a:xfrm xmlns:a="http://schemas.openxmlformats.org/drawingml/2006/main">
            <a:off x="3248025" y="3276600"/>
            <a:ext cx="52578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303853"/>
                </a:solidFill>
                <a:latin typeface="Calibri"/>
                <a:ea typeface="Calibri"/>
                <a:cs typeface="Calibri"/>
              </a:defRPr>
            </a:pPr>
            <a:r>
              <a:rPr sz="1725" b="0">
                <a:solidFill>
                  <a:srgbClr val="303853"/>
                </a:solidFill>
                <a:latin typeface="Calibri"/>
                <a:ea typeface="Calibri"/>
                <a:cs typeface="Calibri"/>
              </a:rPr>
              <a:t>Samadhanik Bhautikvad / Karm Darshan</a:t>
            </a:r>
          </a:p>
        </p:txBody>
      </p:sp>
      <p:sp>
        <p:nvSpPr>
          <p:cNvPr id="14" name="text-13">
            <a:extLst xmlns:a="http://schemas.openxmlformats.org/drawingml/2006/main">
              <a:ext uri="{FF2B5EF4-FFF2-40B4-BE49-F238E27FC236}">
                <a16:creationId xmlns:a16="http://schemas.microsoft.com/office/drawing/2014/main" id="{DBDDB69A-15B7-42CC-A2C2-E69CE6E9C14C}"/>
              </a:ext>
            </a:extLst>
          </p:cNvPr>
          <p:cNvSpPr>
            <a:spLocks xmlns:a="http://schemas.openxmlformats.org/drawingml/2006/main" noGrp="1"/>
          </p:cNvSpPr>
          <p:nvPr/>
        </p:nvSpPr>
        <p:spPr>
          <a:xfrm xmlns:a="http://schemas.openxmlformats.org/drawingml/2006/main">
            <a:off x="962025" y="4010025"/>
            <a:ext cx="75723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1">
                <a:solidFill>
                  <a:srgbClr val="9A6414"/>
                </a:solidFill>
                <a:latin typeface="Calibri"/>
                <a:ea typeface="Calibri"/>
                <a:cs typeface="Calibri"/>
              </a:defRPr>
            </a:pPr>
            <a:r>
              <a:rPr sz="1725" b="1">
                <a:solidFill>
                  <a:srgbClr val="9A6414"/>
                </a:solidFill>
                <a:latin typeface="Calibri"/>
                <a:ea typeface="Calibri"/>
                <a:cs typeface="Calibri"/>
                <a:hlinkClick xmlns:r="http://schemas.openxmlformats.org/officeDocument/2006/relationships" r:id="Rcf60b78bd56344bf"/>
              </a:rPr>
              <a:t>Read the study and full bibliography</a:t>
            </a:r>
          </a:p>
        </p:txBody>
      </p:sp>
    </p:spTree>
    <p:extLst>
      <p:ext uri="{BB962C8B-B14F-4D97-AF65-F5344CB8AC3E}">
        <p14:creationId xmlns:p14="http://schemas.microsoft.com/office/powerpoint/2010/main" val="55000771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2026-09-05T00:22:04.5110000Z</dcterms:created>
  <dcterms:modified xsi:type="dcterms:W3CDTF">2026-09-05T00:22:04.5110000Z</dcterms:modified>
</coreProperties>
</file>