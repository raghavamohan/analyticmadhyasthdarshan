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7545bd12054159" /><Relationship Type="http://schemas.openxmlformats.org/officeDocument/2006/relationships/extended-properties" Target="/docProps/app.xml" Id="R9baef25322b849fd" /><Relationship Type="http://schemas.openxmlformats.org/officeDocument/2006/relationships/officeDocument" Target="/ppt/presentation.xml" Id="R3a811b2448964aa1" /></Relationships>
</file>

<file path=ppt/presentation.xml><?xml version="1.0" encoding="utf-8"?>
<p:presentation xmlns:p="http://schemas.openxmlformats.org/presentationml/2006/main">
  <p:sldMasterIdLst>
    <p:sldMasterId xmlns:r="http://schemas.openxmlformats.org/officeDocument/2006/relationships" id="2147483648" r:id="R39afcdd053054c19"/>
  </p:sldMasterIdLst>
  <p:notesMasterIdLst>
    <p:notesMasterId xmlns:r="http://schemas.openxmlformats.org/officeDocument/2006/relationships" r:id="R1a021c973824451e"/>
  </p:notesMasterIdLst>
  <p:sldIdLst>
    <p:sldId xmlns:r="http://schemas.openxmlformats.org/officeDocument/2006/relationships" id="256" r:id="R9bc6bd0ddfdd4272"/>
    <p:sldId xmlns:r="http://schemas.openxmlformats.org/officeDocument/2006/relationships" id="257" r:id="R7b395d64eede431a"/>
    <p:sldId xmlns:r="http://schemas.openxmlformats.org/officeDocument/2006/relationships" id="258" r:id="Re5bdb7189d5a4e7a"/>
    <p:sldId xmlns:r="http://schemas.openxmlformats.org/officeDocument/2006/relationships" id="259" r:id="Rc25a4f30a9094050"/>
    <p:sldId xmlns:r="http://schemas.openxmlformats.org/officeDocument/2006/relationships" id="260" r:id="R91a66ff2596247ed"/>
    <p:sldId xmlns:r="http://schemas.openxmlformats.org/officeDocument/2006/relationships" id="261" r:id="Re9c48810dd274689"/>
    <p:sldId xmlns:r="http://schemas.openxmlformats.org/officeDocument/2006/relationships" id="262" r:id="R290df74c368c4e05"/>
    <p:sldId xmlns:r="http://schemas.openxmlformats.org/officeDocument/2006/relationships" id="263" r:id="R6b8fe5a744094897"/>
    <p:sldId xmlns:r="http://schemas.openxmlformats.org/officeDocument/2006/relationships" id="264" r:id="Rf726bc82279a481b"/>
    <p:sldId xmlns:r="http://schemas.openxmlformats.org/officeDocument/2006/relationships" id="265" r:id="R77fa9a3fe3ca48d9"/>
    <p:sldId xmlns:r="http://schemas.openxmlformats.org/officeDocument/2006/relationships" id="266" r:id="Rad818b1758ba4265"/>
    <p:sldId xmlns:r="http://schemas.openxmlformats.org/officeDocument/2006/relationships" id="267" r:id="R1853857bd7974dfe"/>
    <p:sldId xmlns:r="http://schemas.openxmlformats.org/officeDocument/2006/relationships" id="268" r:id="Ra1c2ae65a4d74d2b"/>
    <p:sldId xmlns:r="http://schemas.openxmlformats.org/officeDocument/2006/relationships" id="269" r:id="Reb0a3d35f11c4b41"/>
    <p:sldId xmlns:r="http://schemas.openxmlformats.org/officeDocument/2006/relationships" id="270" r:id="R02d77dd0b2cb4fb7"/>
    <p:sldId xmlns:r="http://schemas.openxmlformats.org/officeDocument/2006/relationships" id="271" r:id="R7c4b54e0d78c4c53"/>
    <p:sldId xmlns:r="http://schemas.openxmlformats.org/officeDocument/2006/relationships" id="272" r:id="R5ff6503c17e5467d"/>
    <p:sldId xmlns:r="http://schemas.openxmlformats.org/officeDocument/2006/relationships" id="273" r:id="R64620f5f20ef4076"/>
    <p:sldId xmlns:r="http://schemas.openxmlformats.org/officeDocument/2006/relationships" id="274" r:id="R3a8b99e6e47b4308"/>
    <p:sldId xmlns:r="http://schemas.openxmlformats.org/officeDocument/2006/relationships" id="275" r:id="R738e631d5699441c"/>
    <p:sldId xmlns:r="http://schemas.openxmlformats.org/officeDocument/2006/relationships" id="276" r:id="R19b315cfde064d62"/>
    <p:sldId xmlns:r="http://schemas.openxmlformats.org/officeDocument/2006/relationships" id="277" r:id="R773d55dbade94941"/>
    <p:sldId xmlns:r="http://schemas.openxmlformats.org/officeDocument/2006/relationships" id="278" r:id="R01fc86f59bf240c4"/>
    <p:sldId xmlns:r="http://schemas.openxmlformats.org/officeDocument/2006/relationships" id="279" r:id="Rf961b4b019fd4077"/>
    <p:sldId xmlns:r="http://schemas.openxmlformats.org/officeDocument/2006/relationships" id="280" r:id="Refccc7afb5bb418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316ab7457c4e4e" /><Relationship Type="http://schemas.openxmlformats.org/officeDocument/2006/relationships/slideMaster" Target="/ppt/slideMasters/slideMaster1.xml" Id="R39afcdd053054c19" /><Relationship Type="http://schemas.openxmlformats.org/officeDocument/2006/relationships/notesMaster" Target="/ppt/notesMasters/notesMaster1.xml" Id="R1a021c973824451e" /><Relationship Type="http://schemas.openxmlformats.org/officeDocument/2006/relationships/presProps" Target="/ppt/presProps.xml" Id="Ree539d4d8a4f42ea" /><Relationship Type="http://schemas.openxmlformats.org/officeDocument/2006/relationships/tableStyles" Target="/ppt/tableStyles.xml" Id="R0c787ec8a00b4eae" /><Relationship Type="http://schemas.openxmlformats.org/officeDocument/2006/relationships/slide" Target="/ppt/slides/slide1.xml" Id="R9bc6bd0ddfdd4272" /><Relationship Type="http://schemas.openxmlformats.org/officeDocument/2006/relationships/slide" Target="/ppt/slides/slide2.xml" Id="R7b395d64eede431a" /><Relationship Type="http://schemas.openxmlformats.org/officeDocument/2006/relationships/slide" Target="/ppt/slides/slide3.xml" Id="Re5bdb7189d5a4e7a" /><Relationship Type="http://schemas.openxmlformats.org/officeDocument/2006/relationships/slide" Target="/ppt/slides/slide4.xml" Id="Rc25a4f30a9094050" /><Relationship Type="http://schemas.openxmlformats.org/officeDocument/2006/relationships/slide" Target="/ppt/slides/slide5.xml" Id="R91a66ff2596247ed" /><Relationship Type="http://schemas.openxmlformats.org/officeDocument/2006/relationships/slide" Target="/ppt/slides/slide6.xml" Id="Re9c48810dd274689" /><Relationship Type="http://schemas.openxmlformats.org/officeDocument/2006/relationships/slide" Target="/ppt/slides/slide7.xml" Id="R290df74c368c4e05" /><Relationship Type="http://schemas.openxmlformats.org/officeDocument/2006/relationships/slide" Target="/ppt/slides/slide8.xml" Id="R6b8fe5a744094897" /><Relationship Type="http://schemas.openxmlformats.org/officeDocument/2006/relationships/slide" Target="/ppt/slides/slide9.xml" Id="Rf726bc82279a481b" /><Relationship Type="http://schemas.openxmlformats.org/officeDocument/2006/relationships/slide" Target="/ppt/slides/slide10.xml" Id="R77fa9a3fe3ca48d9" /><Relationship Type="http://schemas.openxmlformats.org/officeDocument/2006/relationships/slide" Target="/ppt/slides/slide11.xml" Id="Rad818b1758ba4265" /><Relationship Type="http://schemas.openxmlformats.org/officeDocument/2006/relationships/slide" Target="/ppt/slides/slide12.xml" Id="R1853857bd7974dfe" /><Relationship Type="http://schemas.openxmlformats.org/officeDocument/2006/relationships/slide" Target="/ppt/slides/slide13.xml" Id="Ra1c2ae65a4d74d2b" /><Relationship Type="http://schemas.openxmlformats.org/officeDocument/2006/relationships/slide" Target="/ppt/slides/slide14.xml" Id="Reb0a3d35f11c4b41" /><Relationship Type="http://schemas.openxmlformats.org/officeDocument/2006/relationships/slide" Target="/ppt/slides/slide15.xml" Id="R02d77dd0b2cb4fb7" /><Relationship Type="http://schemas.openxmlformats.org/officeDocument/2006/relationships/slide" Target="/ppt/slides/slide16.xml" Id="R7c4b54e0d78c4c53" /><Relationship Type="http://schemas.openxmlformats.org/officeDocument/2006/relationships/slide" Target="/ppt/slides/slide17.xml" Id="R5ff6503c17e5467d" /><Relationship Type="http://schemas.openxmlformats.org/officeDocument/2006/relationships/slide" Target="/ppt/slides/slide18.xml" Id="R64620f5f20ef4076" /><Relationship Type="http://schemas.openxmlformats.org/officeDocument/2006/relationships/slide" Target="/ppt/slides/slide19.xml" Id="R3a8b99e6e47b4308" /><Relationship Type="http://schemas.openxmlformats.org/officeDocument/2006/relationships/slide" Target="/ppt/slides/slide20.xml" Id="R738e631d5699441c" /><Relationship Type="http://schemas.openxmlformats.org/officeDocument/2006/relationships/slide" Target="/ppt/slides/slide21.xml" Id="R19b315cfde064d62" /><Relationship Type="http://schemas.openxmlformats.org/officeDocument/2006/relationships/slide" Target="/ppt/slides/slide22.xml" Id="R773d55dbade94941" /><Relationship Type="http://schemas.openxmlformats.org/officeDocument/2006/relationships/slide" Target="/ppt/slides/slide23.xml" Id="R01fc86f59bf240c4" /><Relationship Type="http://schemas.openxmlformats.org/officeDocument/2006/relationships/slide" Target="/ppt/slides/slide24.xml" Id="Rf961b4b019fd4077" /><Relationship Type="http://schemas.openxmlformats.org/officeDocument/2006/relationships/slide" Target="/ppt/slides/slide25.xml" Id="Refccc7afb5bb41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2a04447bf445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a0f1072e494b78" /><Relationship Type="http://schemas.openxmlformats.org/officeDocument/2006/relationships/notesMaster" Target="/ppt/notesMasters/notesMaster1.xml" Id="R474b5d362bbc45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5e792c5c7f422b" /><Relationship Type="http://schemas.openxmlformats.org/officeDocument/2006/relationships/notesMaster" Target="/ppt/notesMasters/notesMaster1.xml" Id="R45c742e773814e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99a5c931684a09" /><Relationship Type="http://schemas.openxmlformats.org/officeDocument/2006/relationships/notesMaster" Target="/ppt/notesMasters/notesMaster1.xml" Id="R31a851c37d9b4a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4dfc03f63c4c29" /><Relationship Type="http://schemas.openxmlformats.org/officeDocument/2006/relationships/notesMaster" Target="/ppt/notesMasters/notesMaster1.xml" Id="Rae6360915803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cdf8965dfa4934" /><Relationship Type="http://schemas.openxmlformats.org/officeDocument/2006/relationships/notesMaster" Target="/ppt/notesMasters/notesMaster1.xml" Id="Rd31c0f63584c4b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1b05a04aa74161" /><Relationship Type="http://schemas.openxmlformats.org/officeDocument/2006/relationships/notesMaster" Target="/ppt/notesMasters/notesMaster1.xml" Id="R70116393917a4f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908ff77fc34ac1" /><Relationship Type="http://schemas.openxmlformats.org/officeDocument/2006/relationships/notesMaster" Target="/ppt/notesMasters/notesMaster1.xml" Id="R533e1569099f49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4a5bb1c2f34fc2" /><Relationship Type="http://schemas.openxmlformats.org/officeDocument/2006/relationships/notesMaster" Target="/ppt/notesMasters/notesMaster1.xml" Id="R16edd28a84f843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338f5b8c584f21" /><Relationship Type="http://schemas.openxmlformats.org/officeDocument/2006/relationships/notesMaster" Target="/ppt/notesMasters/notesMaster1.xml" Id="R051c46ea79134d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ff86682ac54fc2" /><Relationship Type="http://schemas.openxmlformats.org/officeDocument/2006/relationships/notesMaster" Target="/ppt/notesMasters/notesMaster1.xml" Id="Rcdb7a5b711a144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80149a1f1d4fc0" /><Relationship Type="http://schemas.openxmlformats.org/officeDocument/2006/relationships/notesMaster" Target="/ppt/notesMasters/notesMaster1.xml" Id="Ra787cd52bcc340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bcfe05c5014d30" /><Relationship Type="http://schemas.openxmlformats.org/officeDocument/2006/relationships/notesMaster" Target="/ppt/notesMasters/notesMaster1.xml" Id="R96fd596ea9d249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de0babae814394" /><Relationship Type="http://schemas.openxmlformats.org/officeDocument/2006/relationships/notesMaster" Target="/ppt/notesMasters/notesMaster1.xml" Id="R3f7c0717d49241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1547fdf6a1424d" /><Relationship Type="http://schemas.openxmlformats.org/officeDocument/2006/relationships/notesMaster" Target="/ppt/notesMasters/notesMaster1.xml" Id="R0de25718ac2e42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7caf01d8be4b5e" /><Relationship Type="http://schemas.openxmlformats.org/officeDocument/2006/relationships/notesMaster" Target="/ppt/notesMasters/notesMaster1.xml" Id="R80a5e556ea1047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ad337f45364a13" /><Relationship Type="http://schemas.openxmlformats.org/officeDocument/2006/relationships/notesMaster" Target="/ppt/notesMasters/notesMaster1.xml" Id="R59327bc8f7ab4e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d7370ff3a545fc" /><Relationship Type="http://schemas.openxmlformats.org/officeDocument/2006/relationships/notesMaster" Target="/ppt/notesMasters/notesMaster1.xml" Id="Rca54948e725849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a9e39197ef49b1" /><Relationship Type="http://schemas.openxmlformats.org/officeDocument/2006/relationships/notesMaster" Target="/ppt/notesMasters/notesMaster1.xml" Id="R10ca332263024f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21cd5a154f4f2d" /><Relationship Type="http://schemas.openxmlformats.org/officeDocument/2006/relationships/notesMaster" Target="/ppt/notesMasters/notesMaster1.xml" Id="R757db18ad89e49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7bbc0203044baa" /><Relationship Type="http://schemas.openxmlformats.org/officeDocument/2006/relationships/notesMaster" Target="/ppt/notesMasters/notesMaster1.xml" Id="Rfa0ba08f77e046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43d7f91a7d443f" /><Relationship Type="http://schemas.openxmlformats.org/officeDocument/2006/relationships/notesMaster" Target="/ppt/notesMasters/notesMaster1.xml" Id="R3b53a8961dfd407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ae3bd72aa754b58" /><Relationship Type="http://schemas.openxmlformats.org/officeDocument/2006/relationships/notesMaster" Target="/ppt/notesMasters/notesMaster1.xml" Id="Recb45ceabe6d469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a59674029cf49ac" /><Relationship Type="http://schemas.openxmlformats.org/officeDocument/2006/relationships/notesMaster" Target="/ppt/notesMasters/notesMaster1.xml" Id="Rbce0ab26a52842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bb024e074994be5" /><Relationship Type="http://schemas.openxmlformats.org/officeDocument/2006/relationships/notesMaster" Target="/ppt/notesMasters/notesMaster1.xml" Id="R04a6d4a1644640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6014423291a4dae" /><Relationship Type="http://schemas.openxmlformats.org/officeDocument/2006/relationships/notesMaster" Target="/ppt/notesMasters/notesMaster1.xml" Id="R3ba49471ff6e4a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session follows the value framework of Madhyasth Darshan through essentiality, the activities of jeevan, relationships, and material provision. The thirty-value canon and its principal expression across four dimensions form one connected account of living.</a:t>
            </a:r>
          </a:p>
          <a:p xmlns:a="http://schemas.openxmlformats.org/drawingml/2006/main">
            <a:r>
              <a:t/>
            </a:r>
          </a:p>
          <a:p xmlns:a="http://schemas.openxmlformats.org/drawingml/2006/main">
            <a:r>
              <a:t>Sources: Study Introduction and §§1.1–1.8.</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Essentiality belongs to units in existence. Its active expression concerns characteristic participation in orderliness. This account brings nature and dharma together with the fulfilment of value in conscious living. Human evaluation may be adequate or distorted; participation must therefore be understood and examined.</a:t>
            </a:r>
          </a:p>
          <a:p xmlns:a="http://schemas.openxmlformats.org/drawingml/2006/main">
            <a:r>
              <a:t/>
            </a:r>
          </a:p>
          <a:p xmlns:a="http://schemas.openxmlformats.org/drawingml/2006/main">
            <a:r>
              <a:t>Sources: Study §1.1; MVD pp. 47, 124–125; SB pp. 50, 87; AVD p. 184.</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orders have definite characteristic participation. Formation and dissolution both belong to orderliness. Pranic effects can vitalise or devitalise; animal conduct can be cruel or uncruel. A plant may nourish one body and be poisonous to another. Human living offers the possibility of understanding and voluntary humane participation. Animals also involve jeevan; the distinction is not a different set of conscious faculties.</a:t>
            </a:r>
          </a:p>
          <a:p xmlns:a="http://schemas.openxmlformats.org/drawingml/2006/main">
            <a:r>
              <a:t/>
            </a:r>
          </a:p>
          <a:p xmlns:a="http://schemas.openxmlformats.org/drawingml/2006/main">
            <a:r>
              <a:t>Sources: Study §1.1; MVD pp. 51–52; SB pp. 179–182, 249.</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properties, nature and dharma are inseparable aspects of the active unit. Value exposition attends especially to swabhav and dharma. Human swabhav is expressed through humane character; human dharma remains happiness even when conduct is deluded. These are distinctions within the account, not a claim that physical science ignores all function or organisation.</a:t>
            </a:r>
          </a:p>
          <a:p xmlns:a="http://schemas.openxmlformats.org/drawingml/2006/main">
            <a:r>
              <a:t/>
            </a:r>
          </a:p>
          <a:p xmlns:a="http://schemas.openxmlformats.org/drawingml/2006/main">
            <a:r>
              <a:t>Sources: Study §1.1; MVD pp. 47, 51–52, 124–125; SB pp. 179–182.</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meal illustrates the connected dimensions. Useful food, the caregiver’s humane purpose, care expressed through generosity, and the participants’ experience belong together. Assessing fulfilment includes what was intended, what was provided, and what the recipient actually needed. This is an illustrative application of the framework.</a:t>
            </a:r>
          </a:p>
          <a:p xmlns:a="http://schemas.openxmlformats.org/drawingml/2006/main">
            <a:r>
              <a:t/>
            </a:r>
          </a:p>
          <a:p xmlns:a="http://schemas.openxmlformats.org/drawingml/2006/main">
            <a:r>
              <a:t>Sources: Study §§1.3–1.5; MVD pp. 61–62, 331–340; JV pp. 98, 137–139.</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faculties belong to one jeevan. Constitutional completeness concerns its settled constitution; activity completeness concerns freedom from delusion; conduct completeness concerns continuity of understood living. Sentiment activity can proceed under awakening or delusion. Chetana names actionless knowledge in relation to chaitanya, while realisation belongs to the activity of jeevan.</a:t>
            </a:r>
          </a:p>
          <a:p xmlns:a="http://schemas.openxmlformats.org/drawingml/2006/main">
            <a:r>
              <a:t/>
            </a:r>
          </a:p>
          <a:p xmlns:a="http://schemas.openxmlformats.org/drawingml/2006/main">
            <a:r>
              <a:t>Sources: Study §1.2; MVD pp. 35, 74–75, 83, 99–100, 203; JV pp. 137–139.</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faculty has an activity in state as strength and an activity in motion as power. The checked Hindi account pairs tasting with selection, deliberation with analysis, contemplation with visualisation, comprehension with resolve, and realisation with evidence. These are coordinated conscious activities, not a sequence of isolated compartments. Here praman follows KD’s evidence-power wording at atma. MVD and SB name its outward activity pramanikta, authenticity. Faculty, characteristic power and paired activity are related distinctions; evidence must not be relocated to buddhi.</a:t>
            </a:r>
          </a:p>
          <a:p xmlns:a="http://schemas.openxmlformats.org/drawingml/2006/main">
            <a:r>
              <a:t/>
            </a:r>
          </a:p>
          <a:p xmlns:a="http://schemas.openxmlformats.org/drawingml/2006/main">
            <a:r>
              <a:t>Sources: Study §1.2 and Editorial Note 2; KD §3.8, p. 84.</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developmental direction from sensory dominance to relationship value and the comprehensive human goal is retained. The three forms describe what is relished and what governs living. Learning changes the orientation of tasting; sensory enjoyment remains included within understood purpose. They need not be treated as three independently completed stages or as an automatic guarantee of bliss.</a:t>
            </a:r>
          </a:p>
          <a:p xmlns:a="http://schemas.openxmlformats.org/drawingml/2006/main">
            <a:r>
              <a:t/>
            </a:r>
          </a:p>
          <a:p xmlns:a="http://schemas.openxmlformats.org/drawingml/2006/main">
            <a:r>
              <a:t>Sources: Study §1.2; PS pp. 40–41; MVD pp. 124, 203, 343, 346; JV pp. 138–140.</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harmony has definite content. Their cumulative fulfilment is resolution; resolution with prosperity; those two with fearlessness; and all three with coexistence. Each wider fulfilment retains the preceding content. Anand is borne at Buddhi in harmony with Atma. Paramanand belongs to realisation at Atma, with authenticity as its expression. The distinction preserves the specific activity positions while connecting the whole jeevan.</a:t>
            </a:r>
          </a:p>
          <a:p xmlns:a="http://schemas.openxmlformats.org/drawingml/2006/main">
            <a:r>
              <a:t/>
            </a:r>
          </a:p>
          <a:p xmlns:a="http://schemas.openxmlformats.org/drawingml/2006/main">
            <a:r>
              <a:t>Sources: Study §1.2; MVD pp. 327–328, 331, 333, 346; JV p. 138; MAD reader p. 47; KD §3.12, p. 112.</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Awakening changes the governing basis of evaluation from pleasantness, bodily advantage and gain towards justice, resolution and coexistence as truth. Bodily needs continue to matter within this comprehensive purpose. Humane tendencies already include the eshanas of progeny, wealth and renown directed through understanding; wider participation develops through higher-humane living.</a:t>
            </a:r>
          </a:p>
          <a:p xmlns:a="http://schemas.openxmlformats.org/drawingml/2006/main">
            <a:r>
              <a:t/>
            </a:r>
          </a:p>
          <a:p xmlns:a="http://schemas.openxmlformats.org/drawingml/2006/main">
            <a:r>
              <a:t>Sources: Study §§1.2, 1.7; MVD pp. 58, 60, 65–66, 304, 319, 321, 336–337; JV pp. 139–140.</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mapping identifies each group’s principal expression within one coordinated life: jeevan values in anubhav, human values in vichar, relationships in vyavahar, and object values in karya. Realisation grounds understanding, thought directs participation, behaviour fulfils relationships, and work supplies useful means. Care for a child engages all four together. The dimensions are connected, and the map does not confine a value to an isolated compartment.</a:t>
            </a:r>
          </a:p>
          <a:p xmlns:a="http://schemas.openxmlformats.org/drawingml/2006/main">
            <a:r>
              <a:t/>
            </a:r>
          </a:p>
          <a:p xmlns:a="http://schemas.openxmlformats.org/drawingml/2006/main">
            <a:r>
              <a:t>Sources: Study §1.3; PS pp. 78, 93, 149, 151, 154, 179; MVD pp. 18, 94, 125, 137, 156, 306; JV pp. 137–139.</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Paribhasha Samhita explicitly enumerates thirty values. The count is four jeevan, six human, nine established, nine expressed and two object value positions. Udarta occurs both as a human value and as the expression of care; the count therefore concerns enumerated positions. Other terms, such as need value, labour-value and symbolic valuation, explain relations of fulfilment and exchange within the wider account. The canon is valid without treating every occurrence of mulya elsewhere as an additional canon entry.</a:t>
            </a:r>
          </a:p>
          <a:p xmlns:a="http://schemas.openxmlformats.org/drawingml/2006/main">
            <a:r>
              <a:t/>
            </a:r>
          </a:p>
          <a:p xmlns:a="http://schemas.openxmlformats.org/drawingml/2006/main">
            <a:r>
              <a:t>Sources: Study §1.3 and Editorial Note 1; PS printed pp. 151, 154; MAD reader p. 34.</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triad concerns justice and the dedication of resources. The second distinguishes humane receptivity from the content or means available to support it. Appropriate assistance depends on which is present and which needs development. These distinctions are more precise than generic capacity and possessions. Love encompasses their combined expression and continuity.</a:t>
            </a:r>
          </a:p>
          <a:p xmlns:a="http://schemas.openxmlformats.org/drawingml/2006/main">
            <a:r>
              <a:t/>
            </a:r>
          </a:p>
          <a:p xmlns:a="http://schemas.openxmlformats.org/drawingml/2006/main">
            <a:r>
              <a:t>Sources: Study §1.3; MVD pp. 52, 60–61, 125, 331, 340.</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Established values are active strengths in state; their paired expressions are powers in motion. Reverence corresponds to devoutness at Chitta. Gratitude corresponds to humility at Vritti. Love and non-otherness belong at Chitta. Naturalness concerns clarity, authenticity and coherence of behaviour, norm, thought and realisation; humility includes voluntary self-restraint and civility; cordiality faithfully presents what is understood and accepted. The correspondence specifies meaningful conduct, whose actual fulfilment must still be examined in living.</a:t>
            </a:r>
          </a:p>
          <a:p xmlns:a="http://schemas.openxmlformats.org/drawingml/2006/main">
            <a:r>
              <a:t/>
            </a:r>
          </a:p>
          <a:p xmlns:a="http://schemas.openxmlformats.org/drawingml/2006/main">
            <a:r>
              <a:t>Sources: Study §1.3; MAD reader p. 30; JV p. 108; MVD pp. 331–340; KD §3.8, p. 84.</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is common because its fulfilment is required across relationships. The primary account includes fulfilling values and communicating resolution, beyond an assumption about another’s intention alone. Love is complete through the breadth and continuity of non-otherness. Trust and love give a connected orientation to the relationship values without requiring seven intermediate values to be acquired in a rigid sequence.</a:t>
            </a:r>
          </a:p>
          <a:p xmlns:a="http://schemas.openxmlformats.org/drawingml/2006/main">
            <a:r>
              <a:t/>
            </a:r>
          </a:p>
          <a:p xmlns:a="http://schemas.openxmlformats.org/drawingml/2006/main">
            <a:r>
              <a:t>Sources: Study §§1.3, 1.6; MAD reader pp. 30, 43; MVD pp. 331, 336.</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Justice comprises recognition, fulfilment, evaluation and mutual satisfaction. Recognition concerns the relationship and its purpose. Fulfilment supplies appropriate bodily, material and intellectual contributions. Evaluation examines both sides, including the recipient’s situation and the actual result. Mutual satisfaction concerns fulfilled responsibilities whose correctness is recognised; an agreement or pleasant feeling alone does not establish that they were fulfilled.</a:t>
            </a:r>
          </a:p>
          <a:p xmlns:a="http://schemas.openxmlformats.org/drawingml/2006/main">
            <a:r>
              <a:t/>
            </a:r>
          </a:p>
          <a:p xmlns:a="http://schemas.openxmlformats.org/drawingml/2006/main">
            <a:r>
              <a:t>Sources: Study §1.4; MVD pp. 311, 336; JV pp. 98, 138–139.</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Nirmulyan concerns a mistaken identity, illustrated by rope and snake; it is not simply refusal to assign any value. Self-evaluation examines understanding and participation. Nirakarshan develops from partial fulfilment in the humane-human stage towards complete fulfilment in the divine-human stage. This allows learning and correction within humane participation rather than demanding total freedom from every distortion before any adequate evaluation.</a:t>
            </a:r>
          </a:p>
          <a:p xmlns:a="http://schemas.openxmlformats.org/drawingml/2006/main">
            <a:r>
              <a:t/>
            </a:r>
          </a:p>
          <a:p xmlns:a="http://schemas.openxmlformats.org/drawingml/2006/main">
            <a:r>
              <a:t>Sources: Study §1.7; MVD pp. 87, 152–153, 203, 306; SB p. 146.</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 and guidance retain their definite meaning while their fulfilment responds to the recipient. Food, shelter and warmth suit an infant; explanations and opportunities suit a developing learner. Receptivity, skill and resources affect what can actually be fulfilled. Enduring responsibility and adaptable provision belong to the same activity of justice.</a:t>
            </a:r>
          </a:p>
          <a:p xmlns:a="http://schemas.openxmlformats.org/drawingml/2006/main">
            <a:r>
              <a:t/>
            </a:r>
          </a:p>
          <a:p xmlns:a="http://schemas.openxmlformats.org/drawingml/2006/main">
            <a:r>
              <a:t>Sources: Study §1.4; MAD reader p. 51; MVD pp. 61–62, 331–340.</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Usefulness is definite in the function a thing can fulfil; a price change alone does not alter that capacity. Material condition, actual need and circumstances can alter fulfilment, and material usefulness and beauty are temporal. Use deploys means for production and service; right-use directs resources through family-based self-governing orderliness; purposeful-use directs them towards undivided society and universal orderliness.</a:t>
            </a:r>
          </a:p>
          <a:p xmlns:a="http://schemas.openxmlformats.org/drawingml/2006/main">
            <a:r>
              <a:t/>
            </a:r>
          </a:p>
          <a:p xmlns:a="http://schemas.openxmlformats.org/drawingml/2006/main">
            <a:r>
              <a:t>Sources: Study §1.5; JV pp. 123, 137–138; MVD pp. 56–57; MAD reader p. 51.</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is endeavour continued until success in response to need. Production generalises successful application through organised labour. Prosperity includes assessment, production beyond need and recognition of availability. Cyclical economics also attends to regeneration of productive conditions. Symbolic valuation helps account for exchange but can rise without greater usefulness. Rightful wealth includes remuneration of labour, a freely conferred gift, or an award; this account does not attribute every economic crisis to money alone.</a:t>
            </a:r>
          </a:p>
          <a:p xmlns:a="http://schemas.openxmlformats.org/drawingml/2006/main">
            <a:r>
              <a:t/>
            </a:r>
          </a:p>
          <a:p xmlns:a="http://schemas.openxmlformats.org/drawingml/2006/main">
            <a:r>
              <a:t>Sources: Study §1.5; MVD pp. 56, 183, 260, 268–269, 331; JV pp. 137–138; SB pp. 200–201, 211–212, 237; AVD p. 170.</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linked hierarchy is usefulness to need, need to expressed value, expressed to established value, established to human value, and human to jeevan value. More comprehensive purpose governs its supporting means. Guru mulyan specifically concerns lasting result or non-transformability. Inclusion concerns the more developed order retaining the preceding contents, and cumulative human fulfilment retains resolution through prosperity, fearlessness and coexistence. Dedication, endurance and inclusion belong together while answering distinct questions.</a:t>
            </a:r>
          </a:p>
          <a:p xmlns:a="http://schemas.openxmlformats.org/drawingml/2006/main">
            <a:r>
              <a:t/>
            </a:r>
          </a:p>
          <a:p xmlns:a="http://schemas.openxmlformats.org/drawingml/2006/main">
            <a:r>
              <a:t>Sources: Study §§1.2, 1.6; MAD reader p. 34; MVD pp. 43, 47, 51, 56–58, 110, 126; KD pp. 37, 112.</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Sanskar concerns formed acceptances, not merely an inherent potential. Aapyayan names reception and assimilation in the learner, while supportive surroundings make it possible. Contact and participation can awaken an aspiration to understand; observing, practising and examining conduct, with reflection on its purpose, develops independent understanding. Parimarjan concerns qualitative refinement of hope, thought, desire and resolve. Realisation-based understanding then supports expression and continuity.</a:t>
            </a:r>
          </a:p>
          <a:p xmlns:a="http://schemas.openxmlformats.org/drawingml/2006/main">
            <a:r>
              <a:t/>
            </a:r>
          </a:p>
          <a:p xmlns:a="http://schemas.openxmlformats.org/drawingml/2006/main">
            <a:r>
              <a:t>Sources: Study §1.8; MVD pp. 83, 90, 94, 99–100; MAD reader p. 45; KD pp. 18–19, 112–113.</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Education–sanskar, health–restraint, production–work, justice–security and exchange–storage are the five systems of human orderliness. They organise continuing responsibilities through which understanding and value fulfilment can become available to every generation. Personal understanding and appropriate institutional provision support each other; neither the name of an institution nor its declared intention alone proves fulfilment.</a:t>
            </a:r>
          </a:p>
          <a:p xmlns:a="http://schemas.openxmlformats.org/drawingml/2006/main">
            <a:r>
              <a:t/>
            </a:r>
          </a:p>
          <a:p xmlns:a="http://schemas.openxmlformats.org/drawingml/2006/main">
            <a:r>
              <a:t>Sources: Study §1.8; MVD p. 260; AVD p. 265.</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Advaita distinguishes ultimate reality from empirical life, where duties and ethical preparation remain meaningful. Calling the empirical world mithya does not make it sheer nonexistence or erase responsibility. Western value theory includes realist and non-realist approaches to goods, duties, virtue and preference. Scientific inquiry studies mechanisms and measurable outcomes; those explanations do not by themselves decide whether value is wholly reducible to them. Madhyasth Darshan offers its own affirmative account of real units and understood participation, which must be assessed on its arguments and evidence.</a:t>
            </a:r>
          </a:p>
          <a:p xmlns:a="http://schemas.openxmlformats.org/drawingml/2006/main">
            <a:r>
              <a:t/>
            </a:r>
          </a:p>
          <a:p xmlns:a="http://schemas.openxmlformats.org/drawingml/2006/main">
            <a:r>
              <a:t>Sources: Study §§2–6 and bibliography for the primary sources discussed there.</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comprehensive human goal connects resolution in the individual, prosperity in the family, fearlessness through trust in society, and coexistence in participation with nature. Coexistence is already the reality of existence in this account; awakened living understands and fulfils that reality in human participation. The four dimensions and thirty values explain coordinated responsibilities within this whole.</a:t>
            </a:r>
          </a:p>
          <a:p xmlns:a="http://schemas.openxmlformats.org/drawingml/2006/main">
            <a:r>
              <a:t/>
            </a:r>
          </a:p>
          <a:p xmlns:a="http://schemas.openxmlformats.org/drawingml/2006/main">
            <a:r>
              <a:t>Sources: Study §§1.2–1.8, 8; PS pp. 151, 154; KD §3.12, p. 112.</a:t>
            </a:r>
          </a:p>
          <a:p xmlns:a="http://schemas.openxmlformats.org/drawingml/2006/main">
            <a:r>
              <a:t>Companion study: https://analyticmadhyasthdarshan.org/Studies/Axiology-Value-Theory/Axiology-Value-Theory.html</a:t>
            </a:r>
          </a:p>
          <a:p xmlns:a="http://schemas.openxmlformats.org/drawingml/2006/main">
            <a:r>
              <a:t>Page convention: MVD, SB, JV and AVD use PDF positions; KD and PS use printed pages; MAD uses native reader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9395aa940c44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3bb817f89a4b19" /><Relationship Type="http://schemas.openxmlformats.org/officeDocument/2006/relationships/slideLayout" Target="/ppt/slideLayouts/slideLayout1.xml" Id="R0d997120c65b4d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997120c65b4d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22bcb8fdda47e1" /><Relationship Type="http://schemas.openxmlformats.org/officeDocument/2006/relationships/image" Target="/ppt/media/image.png" Id="Rfcee3a20c7a34b1e" /><Relationship Type="http://schemas.openxmlformats.org/officeDocument/2006/relationships/notesSlide" Target="/ppt/notesSlides/notesSlide1.xml" Id="Rbcca0ea80fb24f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9fe80db70043f1" /><Relationship Type="http://schemas.openxmlformats.org/officeDocument/2006/relationships/notesSlide" Target="/ppt/notesSlides/notesSlide2.xml" Id="R22bf3bb2058848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d7a4c664314169" /><Relationship Type="http://schemas.openxmlformats.org/officeDocument/2006/relationships/notesSlide" Target="/ppt/notesSlides/notesSlide3.xml" Id="Rb442e7947e6a4d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c4deacf43e48d6" /><Relationship Type="http://schemas.openxmlformats.org/officeDocument/2006/relationships/notesSlide" Target="/ppt/notesSlides/notesSlide4.xml" Id="Rd5aee77ffee64d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587bcc6a10a4435" /><Relationship Type="http://schemas.openxmlformats.org/officeDocument/2006/relationships/notesSlide" Target="/ppt/notesSlides/notesSlide5.xml" Id="R087580685ee946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f1d4b7ad274cfe" /><Relationship Type="http://schemas.openxmlformats.org/officeDocument/2006/relationships/notesSlide" Target="/ppt/notesSlides/notesSlide6.xml" Id="R5eb3c1ea699440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f4bad045864266" /><Relationship Type="http://schemas.openxmlformats.org/officeDocument/2006/relationships/notesSlide" Target="/ppt/notesSlides/notesSlide7.xml" Id="R675c0616dca341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42279f19d348a7" /><Relationship Type="http://schemas.openxmlformats.org/officeDocument/2006/relationships/notesSlide" Target="/ppt/notesSlides/notesSlide8.xml" Id="Rb207910883bc44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8bef52cbf54255" /><Relationship Type="http://schemas.openxmlformats.org/officeDocument/2006/relationships/notesSlide" Target="/ppt/notesSlides/notesSlide9.xml" Id="R039c245332c44a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4847bfc8d14c1a" /><Relationship Type="http://schemas.openxmlformats.org/officeDocument/2006/relationships/notesSlide" Target="/ppt/notesSlides/notesSlide10.xml" Id="Rd60c40ac75d241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0fb9e07cb9f432d" /><Relationship Type="http://schemas.openxmlformats.org/officeDocument/2006/relationships/notesSlide" Target="/ppt/notesSlides/notesSlide11.xml" Id="R1d95718f2ed94d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508130664144515" /><Relationship Type="http://schemas.openxmlformats.org/officeDocument/2006/relationships/notesSlide" Target="/ppt/notesSlides/notesSlide12.xml" Id="Rc2566faa1f254b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0a8afaa74b4366" /><Relationship Type="http://schemas.openxmlformats.org/officeDocument/2006/relationships/notesSlide" Target="/ppt/notesSlides/notesSlide13.xml" Id="R38dfa9d67e5d4e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fae1c4f2154d59" /><Relationship Type="http://schemas.openxmlformats.org/officeDocument/2006/relationships/notesSlide" Target="/ppt/notesSlides/notesSlide14.xml" Id="Rd70611f4b34741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8c7bdd011c4ad0" /><Relationship Type="http://schemas.openxmlformats.org/officeDocument/2006/relationships/notesSlide" Target="/ppt/notesSlides/notesSlide15.xml" Id="R4917e1a82fa748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bc9d6d10e742e2" /><Relationship Type="http://schemas.openxmlformats.org/officeDocument/2006/relationships/notesSlide" Target="/ppt/notesSlides/notesSlide16.xml" Id="Re7232d60970f4f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e4232bb4e04850" /><Relationship Type="http://schemas.openxmlformats.org/officeDocument/2006/relationships/notesSlide" Target="/ppt/notesSlides/notesSlide17.xml" Id="R2c74d4ff216147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86704116c1341dc" /><Relationship Type="http://schemas.openxmlformats.org/officeDocument/2006/relationships/notesSlide" Target="/ppt/notesSlides/notesSlide18.xml" Id="R0861a6fa5d1d463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e44093d191545c4" /><Relationship Type="http://schemas.openxmlformats.org/officeDocument/2006/relationships/notesSlide" Target="/ppt/notesSlides/notesSlide19.xml" Id="R9f0fc10598e34d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55afff38b3b44b7" /><Relationship Type="http://schemas.openxmlformats.org/officeDocument/2006/relationships/notesSlide" Target="/ppt/notesSlides/notesSlide20.xml" Id="Rae7d1e752cc346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2e1b3ac3cdc4698" /><Relationship Type="http://schemas.openxmlformats.org/officeDocument/2006/relationships/notesSlide" Target="/ppt/notesSlides/notesSlide21.xml" Id="R4f8bea320ef44f5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4f8a290d0945ac" /><Relationship Type="http://schemas.openxmlformats.org/officeDocument/2006/relationships/notesSlide" Target="/ppt/notesSlides/notesSlide22.xml" Id="R6a46e2b306c64c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2de167cd8cc4725" /><Relationship Type="http://schemas.openxmlformats.org/officeDocument/2006/relationships/notesSlide" Target="/ppt/notesSlides/notesSlide23.xml" Id="R4b959abcaeba4e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1d368dc17c84c27" /><Relationship Type="http://schemas.openxmlformats.org/officeDocument/2006/relationships/notesSlide" Target="/ppt/notesSlides/notesSlide24.xml" Id="R2c58c846a002476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f46605200f42b5" /><Relationship Type="http://schemas.openxmlformats.org/officeDocument/2006/relationships/notesSlide" Target="/ppt/notesSlides/notesSlide25.xml" Id="R30840a22407048b2" /></Relationships>
</file>

<file path=ppt/slides/slide1.xml><?xml version="1.0" encoding="utf-8"?>
<p:sld xmlns:p="http://schemas.openxmlformats.org/presentationml/2006/main">
  <p:cSld>
    <p:bg>
      <p:bgPr>
        <a:solidFill xmlns:a="http://schemas.openxmlformats.org/drawingml/2006/main">
          <a:srgbClr val="1E2447"/>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cee3a20c7a34b1e"/>
          <a:srcRect xmlns:a="http://schemas.openxmlformats.org/drawingml/2006/main" l="0" t="27" r="0" b="27"/>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5E0912C4-03B9-4CE8-8825-F69B6CB236DA}"/>
              </a:ext>
            </a:extLst>
          </p:cNvPr>
          <p:cNvSpPr>
            <a:spLocks xmlns:a="http://schemas.openxmlformats.org/drawingml/2006/main" noGrp="1"/>
          </p:cNvSpPr>
          <p:nvPr/>
        </p:nvSpPr>
        <p:spPr>
          <a:xfrm xmlns:a="http://schemas.openxmlformats.org/drawingml/2006/main">
            <a:off x="640080" y="1114425"/>
            <a:ext cx="547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D7A746"/>
                </a:solidFill>
                <a:latin typeface="Calibri"/>
                <a:ea typeface="Calibri"/>
                <a:cs typeface="Calibri"/>
              </a:defRPr>
            </a:pPr>
            <a:r>
              <a:rPr sz="1050" b="1">
                <a:solidFill>
                  <a:srgbClr val="D7A746"/>
                </a:solidFill>
                <a:latin typeface="Calibri"/>
                <a:ea typeface="Calibri"/>
                <a:cs typeface="Calibri"/>
              </a:rPr>
              <a:t>MADHYASTH DARSHAN · VALUE FRAMEWORK</a:t>
            </a:r>
          </a:p>
        </p:txBody>
      </p:sp>
      <p:sp>
        <p:nvSpPr>
          <p:cNvPr id="3" name="text-1">
            <a:extLst xmlns:a="http://schemas.openxmlformats.org/drawingml/2006/main">
              <a:ext uri="{FF2B5EF4-FFF2-40B4-BE49-F238E27FC236}">
                <a16:creationId xmlns:a16="http://schemas.microsoft.com/office/drawing/2014/main" id="{EF45389D-4DE1-45F0-9C5A-6D1F290E2CCD}"/>
              </a:ext>
            </a:extLst>
          </p:cNvPr>
          <p:cNvSpPr>
            <a:spLocks xmlns:a="http://schemas.openxmlformats.org/drawingml/2006/main" noGrp="1"/>
          </p:cNvSpPr>
          <p:nvPr/>
        </p:nvSpPr>
        <p:spPr>
          <a:xfrm xmlns:a="http://schemas.openxmlformats.org/drawingml/2006/main">
            <a:off x="640080" y="1562100"/>
            <a:ext cx="5286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400" b="1">
                <a:solidFill>
                  <a:srgbClr val="FFFFFF"/>
                </a:solidFill>
                <a:latin typeface="Cambria"/>
                <a:ea typeface="Cambria"/>
                <a:cs typeface="Cambria"/>
              </a:defRPr>
            </a:pPr>
            <a:r>
              <a:rPr sz="4400" b="1">
                <a:solidFill>
                  <a:srgbClr val="FFFFFF"/>
                </a:solidFill>
                <a:latin typeface="Cambria"/>
                <a:ea typeface="Cambria"/>
                <a:cs typeface="Cambria"/>
              </a:rPr>
              <a:t>Axiology</a:t>
            </a:r>
          </a:p>
          <a:p xmlns:a="http://schemas.openxmlformats.org/drawingml/2006/main">
            <a:pPr>
              <a:buNone/>
              <a:defRPr sz="4400" b="1">
                <a:solidFill>
                  <a:srgbClr val="FFFFFF"/>
                </a:solidFill>
                <a:latin typeface="Cambria"/>
                <a:ea typeface="Cambria"/>
                <a:cs typeface="Cambria"/>
              </a:defRPr>
            </a:pPr>
            <a:r>
              <a:rPr sz="4400" b="1">
                <a:solidFill>
                  <a:srgbClr val="FFFFFF"/>
                </a:solidFill>
                <a:latin typeface="Cambria"/>
                <a:ea typeface="Cambria"/>
                <a:cs typeface="Cambria"/>
              </a:rPr>
              <a:t>Value Theory</a:t>
            </a:r>
          </a:p>
        </p:txBody>
      </p:sp>
      <p:sp>
        <p:nvSpPr>
          <p:cNvPr id="4" name="text-2">
            <a:extLst xmlns:a="http://schemas.openxmlformats.org/drawingml/2006/main">
              <a:ext uri="{FF2B5EF4-FFF2-40B4-BE49-F238E27FC236}">
                <a16:creationId xmlns:a16="http://schemas.microsoft.com/office/drawing/2014/main" id="{0D94B9AF-6621-4B0F-B402-5298A078264B}"/>
              </a:ext>
            </a:extLst>
          </p:cNvPr>
          <p:cNvSpPr>
            <a:spLocks xmlns:a="http://schemas.openxmlformats.org/drawingml/2006/main" noGrp="1"/>
          </p:cNvSpPr>
          <p:nvPr/>
        </p:nvSpPr>
        <p:spPr>
          <a:xfrm xmlns:a="http://schemas.openxmlformats.org/drawingml/2006/main">
            <a:off x="640080" y="313372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FFFFFF"/>
                </a:solidFill>
                <a:latin typeface="Calibri"/>
                <a:ea typeface="Calibri"/>
                <a:cs typeface="Calibri"/>
              </a:defRPr>
            </a:pPr>
            <a:r>
              <a:rPr sz="1800" b="0">
                <a:solidFill>
                  <a:srgbClr val="FFFFFF"/>
                </a:solidFill>
                <a:latin typeface="Calibri"/>
                <a:ea typeface="Calibri"/>
                <a:cs typeface="Calibri"/>
              </a:rPr>
              <a:t>Essentiality, understanding and fulfilment</a:t>
            </a:r>
          </a:p>
        </p:txBody>
      </p:sp>
      <p:sp>
        <p:nvSpPr>
          <p:cNvPr id="5" name="text-3">
            <a:extLst xmlns:a="http://schemas.openxmlformats.org/drawingml/2006/main">
              <a:ext uri="{FF2B5EF4-FFF2-40B4-BE49-F238E27FC236}">
                <a16:creationId xmlns:a16="http://schemas.microsoft.com/office/drawing/2014/main" id="{BB293BCE-74CC-4FDB-B565-F8B98B895B0A}"/>
              </a:ext>
            </a:extLst>
          </p:cNvPr>
          <p:cNvSpPr>
            <a:spLocks xmlns:a="http://schemas.openxmlformats.org/drawingml/2006/main" noGrp="1"/>
          </p:cNvSpPr>
          <p:nvPr/>
        </p:nvSpPr>
        <p:spPr>
          <a:xfrm xmlns:a="http://schemas.openxmlformats.org/drawingml/2006/main">
            <a:off x="640080" y="4162425"/>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150" b="0">
                <a:solidFill>
                  <a:srgbClr val="E5E9F3"/>
                </a:solidFill>
                <a:latin typeface="Calibri"/>
                <a:ea typeface="Calibri"/>
                <a:cs typeface="Calibri"/>
              </a:defRPr>
            </a:pPr>
            <a:r>
              <a:rPr sz="1150" b="0">
                <a:solidFill>
                  <a:srgbClr val="E5E9F3"/>
                </a:solidFill>
                <a:latin typeface="Calibri"/>
                <a:ea typeface="Calibri"/>
                <a:cs typeface="Calibri"/>
              </a:rPr>
              <a:t>Companion to Axiology: Value Theory</a:t>
            </a:r>
          </a:p>
        </p:txBody>
      </p:sp>
      <p:sp>
        <p:nvSpPr>
          <p:cNvPr id="6" name="text-4">
            <a:extLst xmlns:a="http://schemas.openxmlformats.org/drawingml/2006/main">
              <a:ext uri="{FF2B5EF4-FFF2-40B4-BE49-F238E27FC236}">
                <a16:creationId xmlns:a16="http://schemas.microsoft.com/office/drawing/2014/main" id="{3CF6FB87-FC58-499F-94B7-A7FF82176D27}"/>
              </a:ext>
            </a:extLst>
          </p:cNvPr>
          <p:cNvSpPr>
            <a:spLocks xmlns:a="http://schemas.openxmlformats.org/drawingml/2006/main" noGrp="1"/>
          </p:cNvSpPr>
          <p:nvPr/>
        </p:nvSpPr>
        <p:spPr>
          <a:xfrm xmlns:a="http://schemas.openxmlformats.org/drawingml/2006/main">
            <a:off x="640080" y="44386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150" b="0">
                <a:solidFill>
                  <a:srgbClr val="9A6414"/>
                </a:solidFill>
                <a:latin typeface="Calibri"/>
                <a:ea typeface="Calibri"/>
                <a:cs typeface="Calibri"/>
              </a:defRPr>
            </a:pPr>
            <a:r>
              <a:rPr sz="1150" b="0">
                <a:solidFill>
                  <a:srgbClr val="9A6414"/>
                </a:solidFill>
                <a:latin typeface="Calibri"/>
                <a:ea typeface="Calibri"/>
                <a:cs typeface="Calibri"/>
              </a:rPr>
              <a:t>AnalyticMadhyasthDarshan.org     1 / 25</a:t>
            </a:r>
          </a:p>
        </p:txBody>
      </p:sp>
    </p:spTree>
    <p:extLst>
      <p:ext uri="{BB962C8B-B14F-4D97-AF65-F5344CB8AC3E}">
        <p14:creationId xmlns:p14="http://schemas.microsoft.com/office/powerpoint/2010/main" val="8636264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DCF34A1-AA22-4917-A196-D0D177A9068B}"/>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ORIENTATION · THE FOURTH STUDY</a:t>
            </a:r>
          </a:p>
        </p:txBody>
      </p:sp>
      <p:sp>
        <p:nvSpPr>
          <p:cNvPr id="2" name="text-1">
            <a:extLst xmlns:a="http://schemas.openxmlformats.org/drawingml/2006/main">
              <a:ext uri="{FF2B5EF4-FFF2-40B4-BE49-F238E27FC236}">
                <a16:creationId xmlns:a16="http://schemas.microsoft.com/office/drawing/2014/main" id="{6C2BB3C4-A5CB-4005-A20D-B147EB7F726C}"/>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Value as Essentiality and Activity</a:t>
            </a:r>
          </a:p>
        </p:txBody>
      </p:sp>
      <p:sp>
        <p:nvSpPr>
          <p:cNvPr id="3" name="text-2">
            <a:extLst xmlns:a="http://schemas.openxmlformats.org/drawingml/2006/main">
              <a:ext uri="{FF2B5EF4-FFF2-40B4-BE49-F238E27FC236}">
                <a16:creationId xmlns:a16="http://schemas.microsoft.com/office/drawing/2014/main" id="{9FA66073-C641-48E3-91C0-C6D842E75BDB}"/>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4A537B8A-D693-42E3-80D4-6A55CA7F364C}"/>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 / 25</a:t>
            </a:r>
          </a:p>
        </p:txBody>
      </p:sp>
      <p:sp>
        <p:nvSpPr>
          <p:cNvPr id="5" name="text-4">
            <a:extLst xmlns:a="http://schemas.openxmlformats.org/drawingml/2006/main">
              <a:ext uri="{FF2B5EF4-FFF2-40B4-BE49-F238E27FC236}">
                <a16:creationId xmlns:a16="http://schemas.microsoft.com/office/drawing/2014/main" id="{BB8B35C0-60E3-457A-859C-24D02C8877CC}"/>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§1.1; MVD pp. 47, 124–125; SB pp. 50, 87; AVD p. 184</a:t>
            </a:r>
          </a:p>
        </p:txBody>
      </p:sp>
      <p:sp>
        <p:nvSpPr>
          <p:cNvPr id="12" name="topic-0">
            <a:extLst xmlns:a="http://schemas.openxmlformats.org/drawingml/2006/main">
              <a:ext uri="{FF2B5EF4-FFF2-40B4-BE49-F238E27FC236}">
                <a16:creationId xmlns:a16="http://schemas.microsoft.com/office/drawing/2014/main" id="{97B0B247-5AA5-4933-B32B-442C089EBF68}"/>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Value in existence</a:t>
            </a:r>
          </a:p>
        </p:txBody>
      </p:sp>
      <p:sp>
        <p:nvSpPr>
          <p:cNvPr id="13" name="detail-0">
            <a:extLst xmlns:a="http://schemas.openxmlformats.org/drawingml/2006/main">
              <a:ext uri="{FF2B5EF4-FFF2-40B4-BE49-F238E27FC236}">
                <a16:creationId xmlns:a16="http://schemas.microsoft.com/office/drawing/2014/main" id="{FB207187-C2B0-4DD5-819A-893A4EB01B0F}"/>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Value concerns a unit’s essentiality and characteristic participation in orderliness. Human recognition and preference can accord with or misunderstand it.</a:t>
            </a:r>
          </a:p>
        </p:txBody>
      </p:sp>
      <p:sp>
        <p:nvSpPr>
          <p:cNvPr id="14" name="topic-1">
            <a:extLst xmlns:a="http://schemas.openxmlformats.org/drawingml/2006/main">
              <a:ext uri="{FF2B5EF4-FFF2-40B4-BE49-F238E27FC236}">
                <a16:creationId xmlns:a16="http://schemas.microsoft.com/office/drawing/2014/main" id="{8AFB5EC6-BA8A-4359-A275-8D9C6FF271E4}"/>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Characteristic participation</a:t>
            </a:r>
          </a:p>
        </p:txBody>
      </p:sp>
      <p:sp>
        <p:nvSpPr>
          <p:cNvPr id="15" name="detail-1">
            <a:extLst xmlns:a="http://schemas.openxmlformats.org/drawingml/2006/main">
              <a:ext uri="{FF2B5EF4-FFF2-40B4-BE49-F238E27FC236}">
                <a16:creationId xmlns:a16="http://schemas.microsoft.com/office/drawing/2014/main" id="{1E9386BA-1E68-4249-B3AC-52C84E81A3C6}"/>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Swabhav and dharma identify how a unit participates and what is inseparable from its activity. Human work gives material things useful forms.</a:t>
            </a:r>
          </a:p>
        </p:txBody>
      </p:sp>
      <p:sp>
        <p:nvSpPr>
          <p:cNvPr id="16" name="topic-2">
            <a:extLst xmlns:a="http://schemas.openxmlformats.org/drawingml/2006/main">
              <a:ext uri="{FF2B5EF4-FFF2-40B4-BE49-F238E27FC236}">
                <a16:creationId xmlns:a16="http://schemas.microsoft.com/office/drawing/2014/main" id="{600CE4C8-F977-4146-A373-FB92B6702D82}"/>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Conscious harmony</a:t>
            </a:r>
          </a:p>
        </p:txBody>
      </p:sp>
      <p:sp>
        <p:nvSpPr>
          <p:cNvPr id="17" name="detail-2">
            <a:extLst xmlns:a="http://schemas.openxmlformats.org/drawingml/2006/main">
              <a:ext uri="{FF2B5EF4-FFF2-40B4-BE49-F238E27FC236}">
                <a16:creationId xmlns:a16="http://schemas.microsoft.com/office/drawing/2014/main" id="{680661A9-CFBC-49E9-84F9-B2801AF46E61}"/>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In jeevan, understood value is lived as harmony among conscious activities and fulfilled through justice in relationships.</a:t>
            </a:r>
          </a:p>
        </p:txBody>
      </p:sp>
    </p:spTree>
    <p:extLst>
      <p:ext uri="{BB962C8B-B14F-4D97-AF65-F5344CB8AC3E}">
        <p14:creationId xmlns:p14="http://schemas.microsoft.com/office/powerpoint/2010/main" val="21058554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6BA8A7F-930B-465A-8CCC-D2F81AC63C7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 · CHARACTERISTIC PARTICIPATION</a:t>
            </a:r>
          </a:p>
        </p:txBody>
      </p:sp>
      <p:sp>
        <p:nvSpPr>
          <p:cNvPr id="2" name="text-1">
            <a:extLst xmlns:a="http://schemas.openxmlformats.org/drawingml/2006/main">
              <a:ext uri="{FF2B5EF4-FFF2-40B4-BE49-F238E27FC236}">
                <a16:creationId xmlns:a16="http://schemas.microsoft.com/office/drawing/2014/main" id="{97FDD099-77C4-4466-AC0C-4DF8B8D9797C}"/>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Orderliness in Nature: Four Orders</a:t>
            </a:r>
          </a:p>
        </p:txBody>
      </p:sp>
      <p:sp>
        <p:nvSpPr>
          <p:cNvPr id="3" name="text-2">
            <a:extLst xmlns:a="http://schemas.openxmlformats.org/drawingml/2006/main">
              <a:ext uri="{FF2B5EF4-FFF2-40B4-BE49-F238E27FC236}">
                <a16:creationId xmlns:a16="http://schemas.microsoft.com/office/drawing/2014/main" id="{40FBA9EA-0D96-4F11-B211-85CDAF1FF320}"/>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8F105510-32BD-4060-B55E-332B0C0DA068}"/>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3 / 25</a:t>
            </a:r>
          </a:p>
        </p:txBody>
      </p:sp>
      <p:sp>
        <p:nvSpPr>
          <p:cNvPr id="5" name="text-4">
            <a:extLst xmlns:a="http://schemas.openxmlformats.org/drawingml/2006/main">
              <a:ext uri="{FF2B5EF4-FFF2-40B4-BE49-F238E27FC236}">
                <a16:creationId xmlns:a16="http://schemas.microsoft.com/office/drawing/2014/main" id="{9C8AEAE4-B962-418A-955F-578612CC8BB5}"/>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§1.1; MVD pp. 51–52; SB pp. 179–182, 249</a:t>
            </a:r>
          </a:p>
        </p:txBody>
      </p:sp>
      <p:graphicFrame>
        <p:nvGraphicFramePr>
          <p:cNvPr id="19" name=""/>
          <p:cNvGraphicFramePr/>
          <p:nvPr/>
        </p:nvGraphicFramePr>
        <p:xfrm>
          <a:off xmlns:a="http://schemas.openxmlformats.org/drawingml/2006/main" x="960120" y="1285875"/>
          <a:ext xmlns:a="http://schemas.openxmlformats.org/drawingml/2006/main" cx="7620000" cy="2857500"/>
        </p:xfrm>
        <a:graphic xmlns:a="http://schemas.openxmlformats.org/drawingml/2006/main">
          <a:graphicData uri="http://schemas.openxmlformats.org/drawingml/2006/table">
            <a:tbl>
              <a:tblPr/>
              <a:tblGrid>
                <a:gridCol w="1571625"/>
                <a:gridCol w="2809875"/>
                <a:gridCol w="3238500"/>
              </a:tblGrid>
              <a:tr h="400050">
                <a:tc>
                  <a:txBody>
                    <a:bodyPr wrap="square" lIns="85725" tIns="28575" rIns="85725" bIns="28575">
                      <a:noAutofit/>
                    </a:bodyPr>
                    <a:lstStyle/>
                    <a:p>
                      <a:pPr>
                        <a:buNone/>
                      </a:pPr>
                      <a:r>
                        <a:rPr sz="1300" b="1">
                          <a:solidFill>
                            <a:srgbClr val="FFFFFF"/>
                          </a:solidFill>
                          <a:latin typeface="Calibri"/>
                          <a:ea typeface="Calibri"/>
                          <a:cs typeface="Calibri"/>
                        </a:rPr>
                        <a:t>Order · avastha</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Characteristic participation</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Content of participation</a:t>
                      </a:r>
                    </a:p>
                  </a:txBody>
                  <a:tcPr marL="85725" marR="85725" marT="28575" marB="28575" anchor="ctr">
                    <a:solidFill>
                      <a:srgbClr val="1E2447"/>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Material · padarth</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Integration and disintegration</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Formation and dissolution in natural order</a:t>
                      </a:r>
                    </a:p>
                  </a:txBody>
                  <a:tcPr marL="85725" marR="85725" marT="28575" marB="28575" anchor="ctr">
                    <a:solidFill>
                      <a:srgbClr val="FFFFFF"/>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Pranic · pran</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Growth; vitalising and devitalising conduct</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Effects depend on the organism and mutuality</a:t>
                      </a:r>
                    </a:p>
                  </a:txBody>
                  <a:tcPr marL="85725" marR="85725" marT="28575" marB="28575" anchor="ctr">
                    <a:solidFill>
                      <a:srgbClr val="F1F3F8"/>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Animal · jeeva</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Body and jeevan; hope to live</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Cruel and uncruel conduct in animal living</a:t>
                      </a:r>
                    </a:p>
                  </a:txBody>
                  <a:tcPr marL="85725" marR="85725" marT="28575" marB="28575" anchor="ctr">
                    <a:solidFill>
                      <a:srgbClr val="FFFFFF"/>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Human · gyan</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Possibility of understanding; happiness</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Humane participation through justice and resolution</a:t>
                      </a:r>
                    </a:p>
                  </a:txBody>
                  <a:tcPr marL="85725" marR="85725" marT="28575" marB="28575" anchor="ctr">
                    <a:solidFill>
                      <a:srgbClr val="F1F3F8"/>
                    </a:solidFill>
                  </a:tcPr>
                </a:tc>
              </a:tr>
            </a:tbl>
          </a:graphicData>
        </a:graphic>
      </p:graphicFrame>
    </p:spTree>
    <p:extLst>
      <p:ext uri="{BB962C8B-B14F-4D97-AF65-F5344CB8AC3E}">
        <p14:creationId xmlns:p14="http://schemas.microsoft.com/office/powerpoint/2010/main" val="18672628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9AC5F9F-5B9D-42DB-8C76-E80B37A3B161}"/>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 · FORM, PROPERTIES, NATURE, DHARMA</a:t>
            </a:r>
          </a:p>
        </p:txBody>
      </p:sp>
      <p:sp>
        <p:nvSpPr>
          <p:cNvPr id="2" name="text-1">
            <a:extLst xmlns:a="http://schemas.openxmlformats.org/drawingml/2006/main">
              <a:ext uri="{FF2B5EF4-FFF2-40B4-BE49-F238E27FC236}">
                <a16:creationId xmlns:a16="http://schemas.microsoft.com/office/drawing/2014/main" id="{2D38E6E9-BDE7-493F-A35A-72B7DBB0B5E3}"/>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Four Aspects of the Active Unit</a:t>
            </a:r>
          </a:p>
        </p:txBody>
      </p:sp>
      <p:sp>
        <p:nvSpPr>
          <p:cNvPr id="3" name="text-2">
            <a:extLst xmlns:a="http://schemas.openxmlformats.org/drawingml/2006/main">
              <a:ext uri="{FF2B5EF4-FFF2-40B4-BE49-F238E27FC236}">
                <a16:creationId xmlns:a16="http://schemas.microsoft.com/office/drawing/2014/main" id="{ACF5A092-6B87-4AD1-A86B-EB07CE04D72D}"/>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DD2C05A6-BD27-4535-A44E-0FA0CB886E4D}"/>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4 / 25</a:t>
            </a:r>
          </a:p>
        </p:txBody>
      </p:sp>
      <p:sp>
        <p:nvSpPr>
          <p:cNvPr id="5" name="text-4">
            <a:extLst xmlns:a="http://schemas.openxmlformats.org/drawingml/2006/main">
              <a:ext uri="{FF2B5EF4-FFF2-40B4-BE49-F238E27FC236}">
                <a16:creationId xmlns:a16="http://schemas.microsoft.com/office/drawing/2014/main" id="{2743C503-A2F9-4D1B-A36F-4A5EBACD6EA4}"/>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§1.1; the four aspects belong together; value resides in swabhav and dharma</a:t>
            </a:r>
          </a:p>
        </p:txBody>
      </p:sp>
      <p:graphicFrame>
        <p:nvGraphicFramePr>
          <p:cNvPr id="14" name=""/>
          <p:cNvGraphicFramePr/>
          <p:nvPr/>
        </p:nvGraphicFramePr>
        <p:xfrm>
          <a:off xmlns:a="http://schemas.openxmlformats.org/drawingml/2006/main" x="960120" y="1285875"/>
          <a:ext xmlns:a="http://schemas.openxmlformats.org/drawingml/2006/main" cx="7620000" cy="2857500"/>
        </p:xfrm>
        <a:graphic xmlns:a="http://schemas.openxmlformats.org/drawingml/2006/main">
          <a:graphicData uri="http://schemas.openxmlformats.org/drawingml/2006/table">
            <a:tbl>
              <a:tblPr/>
              <a:tblGrid>
                <a:gridCol w="2000250"/>
                <a:gridCol w="2667000"/>
                <a:gridCol w="2952750"/>
              </a:tblGrid>
              <a:tr h="400050">
                <a:tc>
                  <a:txBody>
                    <a:bodyPr wrap="square" lIns="85725" tIns="28575" rIns="85725" bIns="28575">
                      <a:noAutofit/>
                    </a:bodyPr>
                    <a:lstStyle/>
                    <a:p>
                      <a:pPr>
                        <a:buNone/>
                      </a:pPr>
                      <a:r>
                        <a:rPr sz="1300" b="1">
                          <a:solidFill>
                            <a:srgbClr val="FFFFFF"/>
                          </a:solidFill>
                          <a:latin typeface="Calibri"/>
                          <a:ea typeface="Calibri"/>
                          <a:cs typeface="Calibri"/>
                        </a:rPr>
                        <a:t>Aspect</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What it identifies</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Relevance to value</a:t>
                      </a:r>
                    </a:p>
                  </a:txBody>
                  <a:tcPr marL="85725" marR="85725" marT="28575" marB="28575" anchor="ctr">
                    <a:solidFill>
                      <a:srgbClr val="1E2447"/>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Form · roop</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Shape, size, volume and boundary</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The unit’s identifiable configuration</a:t>
                      </a:r>
                    </a:p>
                  </a:txBody>
                  <a:tcPr marL="85725" marR="85725" marT="28575" marB="28575" anchor="ctr">
                    <a:solidFill>
                      <a:srgbClr val="FFFFFF"/>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Properties · guna</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Relative interactions and effects</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How units affect one another</a:t>
                      </a:r>
                    </a:p>
                  </a:txBody>
                  <a:tcPr marL="85725" marR="85725" marT="28575" marB="28575" anchor="ctr">
                    <a:solidFill>
                      <a:srgbClr val="F1F3F8"/>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Nature · swabhav</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Characteristic participation in mutuality</a:t>
                      </a:r>
                    </a:p>
                  </a:txBody>
                  <a:tcPr marL="85725" marR="85725" marT="28575" marB="28575" anchor="ctr">
                    <a:solidFill>
                      <a:srgbClr val="FFFFFF"/>
                    </a:solidFill>
                  </a:tcPr>
                </a:tc>
                <a:tc>
                  <a:txBody>
                    <a:bodyPr wrap="square" lIns="85725" tIns="28575" rIns="85725" bIns="28575">
                      <a:noAutofit/>
                    </a:bodyPr>
                    <a:lstStyle/>
                    <a:p>
                      <a:pPr>
                        <a:buNone/>
                      </a:pPr>
                      <a:r>
                        <a:rPr sz="1300" b="0">
                          <a:solidFill>
                            <a:srgbClr val="303853"/>
                          </a:solidFill>
                          <a:latin typeface="Calibri"/>
                          <a:ea typeface="Calibri"/>
                          <a:cs typeface="Calibri"/>
                        </a:rPr>
                        <a:t>Essentiality expressed through conduct</a:t>
                      </a:r>
                    </a:p>
                  </a:txBody>
                  <a:tcPr marL="85725" marR="85725" marT="28575" marB="28575" anchor="ctr">
                    <a:solidFill>
                      <a:srgbClr val="FFFFFF"/>
                    </a:solidFill>
                  </a:tcPr>
                </a:tc>
              </a:tr>
              <a:tr h="614363">
                <a:tc>
                  <a:txBody>
                    <a:bodyPr wrap="square" lIns="85725" tIns="28575" rIns="85725" bIns="28575">
                      <a:noAutofit/>
                    </a:bodyPr>
                    <a:lstStyle/>
                    <a:p>
                      <a:pPr>
                        <a:buNone/>
                      </a:pPr>
                      <a:r>
                        <a:rPr sz="1300" b="0">
                          <a:solidFill>
                            <a:srgbClr val="303853"/>
                          </a:solidFill>
                          <a:latin typeface="Calibri"/>
                          <a:ea typeface="Calibri"/>
                          <a:cs typeface="Calibri"/>
                        </a:rPr>
                        <a:t>Inseparability · dharma</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What continues inseparably with activity</a:t>
                      </a:r>
                    </a:p>
                  </a:txBody>
                  <a:tcPr marL="85725" marR="85725" marT="28575" marB="28575" anchor="ctr">
                    <a:solidFill>
                      <a:srgbClr val="F1F3F8"/>
                    </a:solidFill>
                  </a:tcPr>
                </a:tc>
                <a:tc>
                  <a:txBody>
                    <a:bodyPr wrap="square" lIns="85725" tIns="28575" rIns="85725" bIns="28575">
                      <a:noAutofit/>
                    </a:bodyPr>
                    <a:lstStyle/>
                    <a:p>
                      <a:pPr>
                        <a:buNone/>
                      </a:pPr>
                      <a:r>
                        <a:rPr sz="1300" b="0">
                          <a:solidFill>
                            <a:srgbClr val="303853"/>
                          </a:solidFill>
                          <a:latin typeface="Calibri"/>
                          <a:ea typeface="Calibri"/>
                          <a:cs typeface="Calibri"/>
                        </a:rPr>
                        <a:t>Human dharma is happiness</a:t>
                      </a:r>
                    </a:p>
                  </a:txBody>
                  <a:tcPr marL="85725" marR="85725" marT="28575" marB="28575" anchor="ctr">
                    <a:solidFill>
                      <a:srgbClr val="F1F3F8"/>
                    </a:solidFill>
                  </a:tcPr>
                </a:tc>
              </a:tr>
            </a:tbl>
          </a:graphicData>
        </a:graphic>
      </p:graphicFrame>
    </p:spTree>
    <p:extLst>
      <p:ext uri="{BB962C8B-B14F-4D97-AF65-F5344CB8AC3E}">
        <p14:creationId xmlns:p14="http://schemas.microsoft.com/office/powerpoint/2010/main" val="20237828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6BF2C75-452A-4E19-BA68-604F7C99885B}"/>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 · PEDAGOGICAL GROUNDING</a:t>
            </a:r>
          </a:p>
        </p:txBody>
      </p:sp>
      <p:sp>
        <p:nvSpPr>
          <p:cNvPr id="2" name="text-1">
            <a:extLst xmlns:a="http://schemas.openxmlformats.org/drawingml/2006/main">
              <a:ext uri="{FF2B5EF4-FFF2-40B4-BE49-F238E27FC236}">
                <a16:creationId xmlns:a16="http://schemas.microsoft.com/office/drawing/2014/main" id="{B247C04C-0ADA-4B36-A867-E19A93134A89}"/>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The Shared Meal: Dimensions of Value</a:t>
            </a:r>
          </a:p>
        </p:txBody>
      </p:sp>
      <p:sp>
        <p:nvSpPr>
          <p:cNvPr id="3" name="text-2">
            <a:extLst xmlns:a="http://schemas.openxmlformats.org/drawingml/2006/main">
              <a:ext uri="{FF2B5EF4-FFF2-40B4-BE49-F238E27FC236}">
                <a16:creationId xmlns:a16="http://schemas.microsoft.com/office/drawing/2014/main" id="{457476D4-5B5B-4E59-A0F4-83C3F2990970}"/>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6FD994E2-1202-4EFB-97FF-B705C3285418}"/>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5 / 25</a:t>
            </a:r>
          </a:p>
        </p:txBody>
      </p:sp>
      <p:sp>
        <p:nvSpPr>
          <p:cNvPr id="5" name="text-4">
            <a:extLst xmlns:a="http://schemas.openxmlformats.org/drawingml/2006/main">
              <a:ext uri="{FF2B5EF4-FFF2-40B4-BE49-F238E27FC236}">
                <a16:creationId xmlns:a16="http://schemas.microsoft.com/office/drawing/2014/main" id="{322AA0C5-FB53-4FE2-ADEA-FF4D99D9C683}"/>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§1.3–§1.5; distinguishing material utility, relational care, and evaluation</a:t>
            </a:r>
          </a:p>
        </p:txBody>
      </p:sp>
      <p:sp>
        <p:nvSpPr>
          <p:cNvPr id="10" name="topic-0">
            <a:extLst xmlns:a="http://schemas.openxmlformats.org/drawingml/2006/main">
              <a:ext uri="{FF2B5EF4-FFF2-40B4-BE49-F238E27FC236}">
                <a16:creationId xmlns:a16="http://schemas.microsoft.com/office/drawing/2014/main" id="{E2009A31-6004-408B-8396-63D2B81E8324}"/>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Material utility (vastu)</a:t>
            </a:r>
          </a:p>
        </p:txBody>
      </p:sp>
      <p:sp>
        <p:nvSpPr>
          <p:cNvPr id="11" name="detail-0">
            <a:extLst xmlns:a="http://schemas.openxmlformats.org/drawingml/2006/main">
              <a:ext uri="{FF2B5EF4-FFF2-40B4-BE49-F238E27FC236}">
                <a16:creationId xmlns:a16="http://schemas.microsoft.com/office/drawing/2014/main" id="{E887CAB9-F9A6-4201-B82F-AB37165C831A}"/>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Food can nourish the body. Its usefulness depends on its material condition and suitability for the recipient; price alone does not establish nourishment.</a:t>
            </a:r>
          </a:p>
        </p:txBody>
      </p:sp>
      <p:sp>
        <p:nvSpPr>
          <p:cNvPr id="12" name="topic-1">
            <a:extLst xmlns:a="http://schemas.openxmlformats.org/drawingml/2006/main">
              <a:ext uri="{FF2B5EF4-FFF2-40B4-BE49-F238E27FC236}">
                <a16:creationId xmlns:a16="http://schemas.microsoft.com/office/drawing/2014/main" id="{43495601-F1D4-482C-94A0-9CE4F4A53406}"/>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Relational justice (sambandh)</a:t>
            </a:r>
          </a:p>
        </p:txBody>
      </p:sp>
      <p:sp>
        <p:nvSpPr>
          <p:cNvPr id="13" name="detail-1">
            <a:extLst xmlns:a="http://schemas.openxmlformats.org/drawingml/2006/main">
              <a:ext uri="{FF2B5EF4-FFF2-40B4-BE49-F238E27FC236}">
                <a16:creationId xmlns:a16="http://schemas.microsoft.com/office/drawing/2014/main" id="{4E4BA783-D56B-42E2-9AC8-ABD83C9CDBE1}"/>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Care (mamta) and respect (samman) guide provision, dignity and inclusion. The caregiver offers resources through generosity (udarta).</a:t>
            </a:r>
          </a:p>
        </p:txBody>
      </p:sp>
      <p:sp>
        <p:nvSpPr>
          <p:cNvPr id="14" name="topic-2">
            <a:extLst xmlns:a="http://schemas.openxmlformats.org/drawingml/2006/main">
              <a:ext uri="{FF2B5EF4-FFF2-40B4-BE49-F238E27FC236}">
                <a16:creationId xmlns:a16="http://schemas.microsoft.com/office/drawing/2014/main" id="{C77AB132-6C69-4D57-A091-A5AAED07365F}"/>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Conscious evaluation (jeevan)</a:t>
            </a:r>
          </a:p>
        </p:txBody>
      </p:sp>
      <p:sp>
        <p:nvSpPr>
          <p:cNvPr id="15" name="detail-2">
            <a:extLst xmlns:a="http://schemas.openxmlformats.org/drawingml/2006/main">
              <a:ext uri="{FF2B5EF4-FFF2-40B4-BE49-F238E27FC236}">
                <a16:creationId xmlns:a16="http://schemas.microsoft.com/office/drawing/2014/main" id="{188D9934-6B9F-4246-B56C-EFED1706051B}"/>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Evaluation considers the understood responsibility, suitable provision and actual nourishment, together with mutual satisfaction.</a:t>
            </a:r>
          </a:p>
        </p:txBody>
      </p:sp>
    </p:spTree>
    <p:extLst>
      <p:ext uri="{BB962C8B-B14F-4D97-AF65-F5344CB8AC3E}">
        <p14:creationId xmlns:p14="http://schemas.microsoft.com/office/powerpoint/2010/main" val="8582665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6BA8A7F-930B-465A-8CCC-D2F81AC63C7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 · THE CONSCIOUS UNIT · §1.2</a:t>
            </a:r>
          </a:p>
        </p:txBody>
      </p:sp>
      <p:sp>
        <p:nvSpPr>
          <p:cNvPr id="2" name="text-1">
            <a:extLst xmlns:a="http://schemas.openxmlformats.org/drawingml/2006/main">
              <a:ext uri="{FF2B5EF4-FFF2-40B4-BE49-F238E27FC236}">
                <a16:creationId xmlns:a16="http://schemas.microsoft.com/office/drawing/2014/main" id="{97FDD099-77C4-4466-AC0C-4DF8B8D9797C}"/>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Values as Sentiment-Activities</a:t>
            </a:r>
          </a:p>
        </p:txBody>
      </p:sp>
      <p:sp>
        <p:nvSpPr>
          <p:cNvPr id="3" name="text-2">
            <a:extLst xmlns:a="http://schemas.openxmlformats.org/drawingml/2006/main">
              <a:ext uri="{FF2B5EF4-FFF2-40B4-BE49-F238E27FC236}">
                <a16:creationId xmlns:a16="http://schemas.microsoft.com/office/drawing/2014/main" id="{40FBA9EA-0D96-4F11-B211-85CDAF1FF320}"/>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8F105510-32BD-4060-B55E-332B0C0DA068}"/>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6 / 25</a:t>
            </a:r>
          </a:p>
        </p:txBody>
      </p:sp>
      <p:sp>
        <p:nvSpPr>
          <p:cNvPr id="5" name="text-4">
            <a:extLst xmlns:a="http://schemas.openxmlformats.org/drawingml/2006/main">
              <a:ext uri="{FF2B5EF4-FFF2-40B4-BE49-F238E27FC236}">
                <a16:creationId xmlns:a16="http://schemas.microsoft.com/office/drawing/2014/main" id="{9C8AEAE4-B962-418A-955F-578612CC8BB5}"/>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§1.2; MVD p. 203; SB pp. 60–62; AVD p. 195</a:t>
            </a:r>
          </a:p>
        </p:txBody>
      </p:sp>
      <p:sp>
        <p:nvSpPr>
          <p:cNvPr id="13" name="topic-0">
            <a:extLst xmlns:a="http://schemas.openxmlformats.org/drawingml/2006/main">
              <a:ext uri="{FF2B5EF4-FFF2-40B4-BE49-F238E27FC236}">
                <a16:creationId xmlns:a16="http://schemas.microsoft.com/office/drawing/2014/main" id="{0588582A-19BB-4783-9D64-B129F3899187}"/>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The conscious atom</a:t>
            </a:r>
          </a:p>
        </p:txBody>
      </p:sp>
      <p:sp>
        <p:nvSpPr>
          <p:cNvPr id="14" name="detail-0">
            <a:extLst xmlns:a="http://schemas.openxmlformats.org/drawingml/2006/main">
              <a:ext uri="{FF2B5EF4-FFF2-40B4-BE49-F238E27FC236}">
                <a16:creationId xmlns:a16="http://schemas.microsoft.com/office/drawing/2014/main" id="{68A718EE-79B2-4CEA-BA10-27C294BB704E}"/>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Jeevan is the constitutionally complete conscious unit (gathan-purna parmanu). Its settled constitution and its awakening are distinct.</a:t>
            </a:r>
          </a:p>
        </p:txBody>
      </p:sp>
      <p:sp>
        <p:nvSpPr>
          <p:cNvPr id="15" name="topic-1">
            <a:extLst xmlns:a="http://schemas.openxmlformats.org/drawingml/2006/main">
              <a:ext uri="{FF2B5EF4-FFF2-40B4-BE49-F238E27FC236}">
                <a16:creationId xmlns:a16="http://schemas.microsoft.com/office/drawing/2014/main" id="{79F2FA53-3533-44F0-B420-2A283F268EFC}"/>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Five faculties, ten activities</a:t>
            </a:r>
          </a:p>
        </p:txBody>
      </p:sp>
      <p:sp>
        <p:nvSpPr>
          <p:cNvPr id="16" name="detail-1">
            <a:extLst xmlns:a="http://schemas.openxmlformats.org/drawingml/2006/main">
              <a:ext uri="{FF2B5EF4-FFF2-40B4-BE49-F238E27FC236}">
                <a16:creationId xmlns:a16="http://schemas.microsoft.com/office/drawing/2014/main" id="{ACCC1559-F6A8-4E0C-9566-03CB2BF06534}"/>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Mun, Vritti, Chitta, Buddhi and Atma each have paired activities. Their coordination enables understood value and its expression in living.</a:t>
            </a:r>
          </a:p>
        </p:txBody>
      </p:sp>
      <p:sp>
        <p:nvSpPr>
          <p:cNvPr id="17" name="topic-2">
            <a:extLst xmlns:a="http://schemas.openxmlformats.org/drawingml/2006/main">
              <a:ext uri="{FF2B5EF4-FFF2-40B4-BE49-F238E27FC236}">
                <a16:creationId xmlns:a16="http://schemas.microsoft.com/office/drawing/2014/main" id="{34C6DFFD-1C62-4177-98D2-D171D4DE735F}"/>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Active sentiment</a:t>
            </a:r>
          </a:p>
        </p:txBody>
      </p:sp>
      <p:sp>
        <p:nvSpPr>
          <p:cNvPr id="18" name="detail-2">
            <a:extLst xmlns:a="http://schemas.openxmlformats.org/drawingml/2006/main">
              <a:ext uri="{FF2B5EF4-FFF2-40B4-BE49-F238E27FC236}">
                <a16:creationId xmlns:a16="http://schemas.microsoft.com/office/drawing/2014/main" id="{3E0BF83C-2A19-4BE1-911F-8CDD00CD4CE6}"/>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Bhav-kriya names sentiment activity: values are understood, accepted, felt, evaluated and expressed through the activities of jeevan.</a:t>
            </a:r>
          </a:p>
        </p:txBody>
      </p:sp>
    </p:spTree>
    <p:extLst>
      <p:ext uri="{BB962C8B-B14F-4D97-AF65-F5344CB8AC3E}">
        <p14:creationId xmlns:p14="http://schemas.microsoft.com/office/powerpoint/2010/main" val="18672628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7CC95AE-49BE-457E-8F8D-041EE3B6E518}"/>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 · THE DUAL ASPECT OF CONSCIOUS ACTIVITY</a:t>
            </a:r>
          </a:p>
        </p:txBody>
      </p:sp>
      <p:sp>
        <p:nvSpPr>
          <p:cNvPr id="2" name="text-1">
            <a:extLst xmlns:a="http://schemas.openxmlformats.org/drawingml/2006/main">
              <a:ext uri="{FF2B5EF4-FFF2-40B4-BE49-F238E27FC236}">
                <a16:creationId xmlns:a16="http://schemas.microsoft.com/office/drawing/2014/main" id="{6E86407E-F66E-429A-91DA-33910088848B}"/>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State and Motion: Strength and Power</a:t>
            </a:r>
          </a:p>
        </p:txBody>
      </p:sp>
      <p:sp>
        <p:nvSpPr>
          <p:cNvPr id="3" name="text-2">
            <a:extLst xmlns:a="http://schemas.openxmlformats.org/drawingml/2006/main">
              <a:ext uri="{FF2B5EF4-FFF2-40B4-BE49-F238E27FC236}">
                <a16:creationId xmlns:a16="http://schemas.microsoft.com/office/drawing/2014/main" id="{235C00A4-99D2-4D3D-AE77-5538B033EDFE}"/>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72571F0D-C4CB-4AAA-9D01-3C79A12CC42E}"/>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7 / 25</a:t>
            </a:r>
          </a:p>
        </p:txBody>
      </p:sp>
      <p:sp>
        <p:nvSpPr>
          <p:cNvPr id="5" name="text-4">
            <a:extLst xmlns:a="http://schemas.openxmlformats.org/drawingml/2006/main">
              <a:ext uri="{FF2B5EF4-FFF2-40B4-BE49-F238E27FC236}">
                <a16:creationId xmlns:a16="http://schemas.microsoft.com/office/drawing/2014/main" id="{55A0987D-D931-4481-913C-68F014925F84}"/>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§1.2; KD §3.8, p. 84; paired activities of the whole jeevan</a:t>
            </a:r>
          </a:p>
        </p:txBody>
      </p:sp>
      <p:graphicFrame>
        <p:nvGraphicFramePr>
          <p:cNvPr id="14" name=""/>
          <p:cNvGraphicFramePr/>
          <p:nvPr/>
        </p:nvGraphicFramePr>
        <p:xfrm>
          <a:off xmlns:a="http://schemas.openxmlformats.org/drawingml/2006/main" x="960120" y="1285875"/>
          <a:ext xmlns:a="http://schemas.openxmlformats.org/drawingml/2006/main" cx="7620000" cy="2857500"/>
        </p:xfrm>
        <a:graphic xmlns:a="http://schemas.openxmlformats.org/drawingml/2006/main">
          <a:graphicData uri="http://schemas.openxmlformats.org/drawingml/2006/table">
            <a:tbl>
              <a:tblPr/>
              <a:tblGrid>
                <a:gridCol w="3810000"/>
                <a:gridCol w="3810000"/>
              </a:tblGrid>
              <a:tr h="400050">
                <a:tc>
                  <a:txBody>
                    <a:bodyPr wrap="square" lIns="85725" tIns="28575" rIns="85725" bIns="28575">
                      <a:noAutofit/>
                    </a:bodyPr>
                    <a:lstStyle/>
                    <a:p>
                      <a:pPr>
                        <a:lnSpc>
                          <a:spcPct val="105000"/>
                        </a:lnSpc>
                        <a:buNone/>
                      </a:pPr>
                      <a:r>
                        <a:rPr sz="1425" b="1">
                          <a:solidFill>
                            <a:srgbClr val="FFFFFF"/>
                          </a:solidFill>
                          <a:latin typeface="Calibri"/>
                          <a:ea typeface="Calibri"/>
                          <a:cs typeface="Calibri"/>
                        </a:rPr>
                        <a:t>State / strength · sthiti / bal</a:t>
                      </a:r>
                    </a:p>
                  </a:txBody>
                  <a:tcPr marL="91440" marR="91440" marT="45720" marB="45720" anchor="ctr">
                    <a:solidFill>
                      <a:srgbClr val="1E2447"/>
                    </a:solidFill>
                  </a:tcPr>
                </a:tc>
                <a:tc>
                  <a:txBody>
                    <a:bodyPr wrap="square" lIns="85725" tIns="28575" rIns="85725" bIns="28575">
                      <a:noAutofit/>
                    </a:bodyPr>
                    <a:lstStyle/>
                    <a:p>
                      <a:pPr>
                        <a:lnSpc>
                          <a:spcPct val="105000"/>
                        </a:lnSpc>
                        <a:buNone/>
                      </a:pPr>
                      <a:r>
                        <a:rPr sz="1425" b="1">
                          <a:solidFill>
                            <a:srgbClr val="FFFFFF"/>
                          </a:solidFill>
                          <a:latin typeface="Calibri"/>
                          <a:ea typeface="Calibri"/>
                          <a:cs typeface="Calibri"/>
                        </a:rPr>
                        <a:t>Motion / power · gati / shakti</a:t>
                      </a:r>
                    </a:p>
                  </a:txBody>
                  <a:tcPr marL="91440" marR="91440" marT="45720" marB="45720" anchor="ctr">
                    <a:solidFill>
                      <a:srgbClr val="1E2447"/>
                    </a:solidFill>
                  </a:tcPr>
                </a:tc>
              </a:tr>
              <a:tr h="491490">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Mun: tasting · asvadan</a:t>
                      </a:r>
                    </a:p>
                  </a:txBody>
                  <a:tcPr marL="91440" marR="91440" marT="45720" marB="45720" anchor="ctr">
                    <a:solidFill>
                      <a:srgbClr val="FFFFFF"/>
                    </a:solidFill>
                  </a:tcPr>
                </a:tc>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Mun: selection · chayan</a:t>
                      </a:r>
                    </a:p>
                  </a:txBody>
                  <a:tcPr marL="91440" marR="91440" marT="45720" marB="45720" anchor="ctr">
                    <a:solidFill>
                      <a:srgbClr val="FFFFFF"/>
                    </a:solidFill>
                  </a:tcPr>
                </a:tc>
              </a:tr>
              <a:tr h="491490">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Vritti: deliberation · tulan</a:t>
                      </a:r>
                    </a:p>
                  </a:txBody>
                  <a:tcPr marL="91440" marR="91440" marT="45720" marB="45720" anchor="ctr">
                    <a:solidFill>
                      <a:srgbClr val="F1F3F8"/>
                    </a:solidFill>
                  </a:tcPr>
                </a:tc>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Vritti: analysis · vishleshan</a:t>
                      </a:r>
                    </a:p>
                  </a:txBody>
                  <a:tcPr marL="91440" marR="91440" marT="45720" marB="45720" anchor="ctr">
                    <a:solidFill>
                      <a:srgbClr val="F1F3F8"/>
                    </a:solidFill>
                  </a:tcPr>
                </a:tc>
              </a:tr>
              <a:tr h="491490">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Chitta: contemplation · chintan</a:t>
                      </a:r>
                    </a:p>
                  </a:txBody>
                  <a:tcPr marL="91440" marR="91440" marT="45720" marB="45720" anchor="ctr">
                    <a:solidFill>
                      <a:srgbClr val="FFFFFF"/>
                    </a:solidFill>
                  </a:tcPr>
                </a:tc>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Chitta: visualisation · chitran</a:t>
                      </a:r>
                    </a:p>
                  </a:txBody>
                  <a:tcPr marL="91440" marR="91440" marT="45720" marB="45720" anchor="ctr">
                    <a:solidFill>
                      <a:srgbClr val="FFFFFF"/>
                    </a:solidFill>
                  </a:tcPr>
                </a:tc>
              </a:tr>
              <a:tr h="491490">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Buddhi: comprehension · bodh</a:t>
                      </a:r>
                    </a:p>
                  </a:txBody>
                  <a:tcPr marL="91440" marR="91440" marT="45720" marB="45720" anchor="ctr">
                    <a:solidFill>
                      <a:srgbClr val="F1F3F8"/>
                    </a:solidFill>
                  </a:tcPr>
                </a:tc>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Buddhi: resolve · sankalp</a:t>
                      </a:r>
                    </a:p>
                  </a:txBody>
                  <a:tcPr marL="91440" marR="91440" marT="45720" marB="45720" anchor="ctr">
                    <a:solidFill>
                      <a:srgbClr val="F1F3F8"/>
                    </a:solidFill>
                  </a:tcPr>
                </a:tc>
              </a:tr>
              <a:tr h="491490">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Atma: realisation · anubhav</a:t>
                      </a:r>
                    </a:p>
                  </a:txBody>
                  <a:tcPr marL="91440" marR="91440" marT="45720" marB="45720" anchor="ctr">
                    <a:solidFill>
                      <a:srgbClr val="FFFFFF"/>
                    </a:solidFill>
                  </a:tcPr>
                </a:tc>
                <a:tc>
                  <a:txBody>
                    <a:bodyPr wrap="square" lIns="85725" tIns="28575" rIns="85725" bIns="28575">
                      <a:noAutofit/>
                    </a:bodyPr>
                    <a:lstStyle/>
                    <a:p>
                      <a:pPr>
                        <a:lnSpc>
                          <a:spcPct val="105000"/>
                        </a:lnSpc>
                        <a:buNone/>
                      </a:pPr>
                      <a:r>
                        <a:rPr sz="1425" b="0">
                          <a:solidFill>
                            <a:srgbClr val="303853"/>
                          </a:solidFill>
                          <a:latin typeface="Calibri"/>
                          <a:ea typeface="Calibri"/>
                          <a:cs typeface="Calibri"/>
                        </a:rPr>
                        <a:t>Atma: evidence · praman</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1476778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8485D33-20F2-4188-A428-AC11D4F5264B}"/>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 · THE MECHANISM OF VALUE EXPERIENCE</a:t>
            </a:r>
          </a:p>
        </p:txBody>
      </p:sp>
      <p:sp>
        <p:nvSpPr>
          <p:cNvPr id="2" name="text-1">
            <a:extLst xmlns:a="http://schemas.openxmlformats.org/drawingml/2006/main">
              <a:ext uri="{FF2B5EF4-FFF2-40B4-BE49-F238E27FC236}">
                <a16:creationId xmlns:a16="http://schemas.microsoft.com/office/drawing/2014/main" id="{6CEBD779-1CFB-4A3F-AB0B-99C7A5D5564F}"/>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Evolution of Tasting: Senses to Goal</a:t>
            </a:r>
          </a:p>
        </p:txBody>
      </p:sp>
      <p:sp>
        <p:nvSpPr>
          <p:cNvPr id="3" name="text-2">
            <a:extLst xmlns:a="http://schemas.openxmlformats.org/drawingml/2006/main">
              <a:ext uri="{FF2B5EF4-FFF2-40B4-BE49-F238E27FC236}">
                <a16:creationId xmlns:a16="http://schemas.microsoft.com/office/drawing/2014/main" id="{44AD05E5-C357-4317-A865-8BCCFFAD0B02}"/>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A7169A6B-3780-4DE8-ACF7-D47ECC680A31}"/>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8 / 25</a:t>
            </a:r>
          </a:p>
        </p:txBody>
      </p:sp>
      <p:sp>
        <p:nvSpPr>
          <p:cNvPr id="5" name="text-4">
            <a:extLst xmlns:a="http://schemas.openxmlformats.org/drawingml/2006/main">
              <a:ext uri="{FF2B5EF4-FFF2-40B4-BE49-F238E27FC236}">
                <a16:creationId xmlns:a16="http://schemas.microsoft.com/office/drawing/2014/main" id="{D078E54D-7A1E-40D0-8C32-24C5A3765CD6}"/>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§1.2; PS pp. 40–41; MVD pp. 124, 203, 343, 346</a:t>
            </a:r>
          </a:p>
        </p:txBody>
      </p:sp>
      <p:sp>
        <p:nvSpPr>
          <p:cNvPr id="13" name="topic-0">
            <a:extLst xmlns:a="http://schemas.openxmlformats.org/drawingml/2006/main">
              <a:ext uri="{FF2B5EF4-FFF2-40B4-BE49-F238E27FC236}">
                <a16:creationId xmlns:a16="http://schemas.microsoft.com/office/drawing/2014/main" id="{8D8456EA-3678-4DE0-A48F-EC5E85754CD7}"/>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Sensory tasting (ruchi-mulak)</a:t>
            </a:r>
          </a:p>
        </p:txBody>
      </p:sp>
      <p:sp>
        <p:nvSpPr>
          <p:cNvPr id="14" name="detail-0">
            <a:extLst xmlns:a="http://schemas.openxmlformats.org/drawingml/2006/main">
              <a:ext uri="{FF2B5EF4-FFF2-40B4-BE49-F238E27FC236}">
                <a16:creationId xmlns:a16="http://schemas.microsoft.com/office/drawing/2014/main" id="{CF92B292-8C6A-4FBE-84F8-9690D9FEE088}"/>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Sound, touch, form, taste and smell are relished through bodily contact. Their enjoyment takes its place within understood needs and purpose.</a:t>
            </a:r>
          </a:p>
        </p:txBody>
      </p:sp>
      <p:sp>
        <p:nvSpPr>
          <p:cNvPr id="15" name="topic-1">
            <a:extLst xmlns:a="http://schemas.openxmlformats.org/drawingml/2006/main">
              <a:ext uri="{FF2B5EF4-FFF2-40B4-BE49-F238E27FC236}">
                <a16:creationId xmlns:a16="http://schemas.microsoft.com/office/drawing/2014/main" id="{AA076A2D-B696-4066-9EF9-5141165A7DDB}"/>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Value tasting (mulya-mulak)</a:t>
            </a:r>
          </a:p>
        </p:txBody>
      </p:sp>
      <p:sp>
        <p:nvSpPr>
          <p:cNvPr id="16" name="detail-1">
            <a:extLst xmlns:a="http://schemas.openxmlformats.org/drawingml/2006/main">
              <a:ext uri="{FF2B5EF4-FFF2-40B4-BE49-F238E27FC236}">
                <a16:creationId xmlns:a16="http://schemas.microsoft.com/office/drawing/2014/main" id="{023982EB-9758-4AF3-A568-C0DE112F246E}"/>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Fulfilment in recognised relationships is relished through trust, care, affection and respect. Development changes what is accepted as valuable.</a:t>
            </a:r>
          </a:p>
        </p:txBody>
      </p:sp>
      <p:sp>
        <p:nvSpPr>
          <p:cNvPr id="17" name="topic-2">
            <a:extLst xmlns:a="http://schemas.openxmlformats.org/drawingml/2006/main">
              <a:ext uri="{FF2B5EF4-FFF2-40B4-BE49-F238E27FC236}">
                <a16:creationId xmlns:a16="http://schemas.microsoft.com/office/drawing/2014/main" id="{C4A95B29-566E-449F-810B-4BAF0CF2847E}"/>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Goal tasting (lakshya-mulak)</a:t>
            </a:r>
          </a:p>
        </p:txBody>
      </p:sp>
      <p:sp>
        <p:nvSpPr>
          <p:cNvPr id="18" name="detail-2">
            <a:extLst xmlns:a="http://schemas.openxmlformats.org/drawingml/2006/main">
              <a:ext uri="{FF2B5EF4-FFF2-40B4-BE49-F238E27FC236}">
                <a16:creationId xmlns:a16="http://schemas.microsoft.com/office/drawing/2014/main" id="{DE580A72-814F-492A-9345-129BDE6FF6A6}"/>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Activity is directed towards resolution, prosperity, fearlessness and coexistence. This comprehensive goal guides relationships and sensory enjoyment.</a:t>
            </a:r>
          </a:p>
        </p:txBody>
      </p:sp>
    </p:spTree>
    <p:extLst>
      <p:ext uri="{BB962C8B-B14F-4D97-AF65-F5344CB8AC3E}">
        <p14:creationId xmlns:p14="http://schemas.microsoft.com/office/powerpoint/2010/main" val="10289783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051CF693-4BC6-486E-97B6-C8B0C7A4A277}"/>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 · INNER FULFILMENT · §1.2</a:t>
            </a:r>
          </a:p>
        </p:txBody>
      </p:sp>
      <p:sp>
        <p:nvSpPr>
          <p:cNvPr id="2" name="text-1">
            <a:extLst xmlns:a="http://schemas.openxmlformats.org/drawingml/2006/main">
              <a:ext uri="{FF2B5EF4-FFF2-40B4-BE49-F238E27FC236}">
                <a16:creationId xmlns:a16="http://schemas.microsoft.com/office/drawing/2014/main" id="{A1025C25-7830-440D-88B0-E7B9A7D01B75}"/>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The Four Harmonies of Jeevan</a:t>
            </a:r>
          </a:p>
        </p:txBody>
      </p:sp>
      <p:sp>
        <p:nvSpPr>
          <p:cNvPr id="3" name="text-2">
            <a:extLst xmlns:a="http://schemas.openxmlformats.org/drawingml/2006/main">
              <a:ext uri="{FF2B5EF4-FFF2-40B4-BE49-F238E27FC236}">
                <a16:creationId xmlns:a16="http://schemas.microsoft.com/office/drawing/2014/main" id="{8F03ADC2-1930-4CB8-B6F1-DE25301D36A4}"/>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FF30F8F8-5031-45D7-881A-691A91789DF9}"/>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9 / 25</a:t>
            </a:r>
          </a:p>
        </p:txBody>
      </p:sp>
      <p:sp>
        <p:nvSpPr>
          <p:cNvPr id="5" name="text-4">
            <a:extLst xmlns:a="http://schemas.openxmlformats.org/drawingml/2006/main">
              <a:ext uri="{FF2B5EF4-FFF2-40B4-BE49-F238E27FC236}">
                <a16:creationId xmlns:a16="http://schemas.microsoft.com/office/drawing/2014/main" id="{0EC121EB-EEAA-42EC-8E48-4B0E4CCF6C8F}"/>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§1.2; JV p. 138; MAD reader p. 47; KD §3.12, p. 112</a:t>
            </a:r>
          </a:p>
        </p:txBody>
      </p:sp>
      <p:graphicFrame>
        <p:nvGraphicFramePr>
          <p:cNvPr id="22" name=""/>
          <p:cNvGraphicFramePr/>
          <p:nvPr/>
        </p:nvGraphicFramePr>
        <p:xfrm>
          <a:off xmlns:a="http://schemas.openxmlformats.org/drawingml/2006/main" x="960120" y="1285875"/>
          <a:ext xmlns:a="http://schemas.openxmlformats.org/drawingml/2006/main" cx="7620000" cy="2857500"/>
        </p:xfrm>
        <a:graphic xmlns:a="http://schemas.openxmlformats.org/drawingml/2006/main">
          <a:graphicData uri="http://schemas.openxmlformats.org/drawingml/2006/table">
            <a:tbl>
              <a:tblPr/>
              <a:tblGrid>
                <a:gridCol w="2095500"/>
                <a:gridCol w="1762125"/>
                <a:gridCol w="3762375"/>
              </a:tblGrid>
              <a:tr h="400050">
                <a:tc>
                  <a:txBody>
                    <a:bodyPr wrap="square" lIns="85725" tIns="28575" rIns="85725" bIns="28575">
                      <a:noAutofit/>
                    </a:bodyPr>
                    <a:lstStyle/>
                    <a:p>
                      <a:pPr>
                        <a:buNone/>
                      </a:pPr>
                      <a:r>
                        <a:rPr sz="1300" b="1">
                          <a:solidFill>
                            <a:srgbClr val="FFFFFF"/>
                          </a:solidFill>
                          <a:latin typeface="Calibri"/>
                          <a:ea typeface="Calibri"/>
                          <a:cs typeface="Calibri"/>
                        </a:rPr>
                        <a:t>Jeevan value</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Faculty harmony</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Experiential content</a:t>
                      </a:r>
                    </a:p>
                  </a:txBody>
                  <a:tcPr marL="85725" marR="85725" marT="28575" marB="28575" anchor="ctr">
                    <a:solidFill>
                      <a:srgbClr val="1E2447"/>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Happiness · sukh</a:t>
                      </a:r>
                    </a:p>
                  </a:txBody>
                  <a:tcPr marL="85725" marR="85725" marT="28575" marB="28575" anchor="ctr">
                    <a:solidFill>
                      <a:srgbClr val="FFFFFF"/>
                    </a:solidFill>
                  </a:tcPr>
                </a:tc>
                <a:tc>
                  <a:txBody>
                    <a:bodyPr wrap="square" lIns="85725" tIns="28575" rIns="85725" bIns="28575">
                      <a:noAutofit/>
                    </a:bodyPr>
                    <a:lstStyle/>
                    <a:p>
                      <a:pPr>
                        <a:buNone/>
                      </a:pPr>
                      <a:r>
                        <a:rPr sz="1250" b="0">
                          <a:solidFill>
                            <a:srgbClr val="303853"/>
                          </a:solidFill>
                          <a:latin typeface="Calibri"/>
                          <a:ea typeface="Calibri"/>
                          <a:cs typeface="Calibri"/>
                        </a:rPr>
                        <a:t>Mun &amp; Vritti</a:t>
                      </a:r>
                    </a:p>
                  </a:txBody>
                  <a:tcPr marL="85725" marR="85725" marT="28575" marB="28575" anchor="ctr">
                    <a:solidFill>
                      <a:srgbClr val="FFFFFF"/>
                    </a:solidFill>
                  </a:tcPr>
                </a:tc>
                <a:tc>
                  <a:txBody>
                    <a:bodyPr wrap="square" lIns="85725" tIns="28575" rIns="85725" bIns="28575">
                      <a:noAutofit/>
                    </a:bodyPr>
                    <a:lstStyle/>
                    <a:p>
                      <a:pPr>
                        <a:buNone/>
                      </a:pPr>
                      <a:r>
                        <a:rPr sz="1250" b="0">
                          <a:solidFill>
                            <a:srgbClr val="303853"/>
                          </a:solidFill>
                          <a:latin typeface="Calibri"/>
                          <a:ea typeface="Calibri"/>
                          <a:cs typeface="Calibri"/>
                        </a:rPr>
                        <a:t>Resolution; behaviour free of wrongdoing</a:t>
                      </a:r>
                    </a:p>
                  </a:txBody>
                  <a:tcPr marL="85725" marR="85725" marT="28575" marB="28575" anchor="ctr">
                    <a:solidFill>
                      <a:srgbClr val="FFFFFF"/>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Peace · shanti</a:t>
                      </a:r>
                    </a:p>
                  </a:txBody>
                  <a:tcPr marL="85725" marR="85725" marT="28575" marB="28575" anchor="ctr">
                    <a:solidFill>
                      <a:srgbClr val="F1F3F8"/>
                    </a:solidFill>
                  </a:tcPr>
                </a:tc>
                <a:tc>
                  <a:txBody>
                    <a:bodyPr wrap="square" lIns="85725" tIns="28575" rIns="85725" bIns="28575">
                      <a:noAutofit/>
                    </a:bodyPr>
                    <a:lstStyle/>
                    <a:p>
                      <a:pPr>
                        <a:buNone/>
                      </a:pPr>
                      <a:r>
                        <a:rPr sz="1250" b="0">
                          <a:solidFill>
                            <a:srgbClr val="303853"/>
                          </a:solidFill>
                          <a:latin typeface="Calibri"/>
                          <a:ea typeface="Calibri"/>
                          <a:cs typeface="Calibri"/>
                        </a:rPr>
                        <a:t>Vritti &amp; Chitta</a:t>
                      </a:r>
                    </a:p>
                  </a:txBody>
                  <a:tcPr marL="85725" marR="85725" marT="28575" marB="28575" anchor="ctr">
                    <a:solidFill>
                      <a:srgbClr val="F1F3F8"/>
                    </a:solidFill>
                  </a:tcPr>
                </a:tc>
                <a:tc>
                  <a:txBody>
                    <a:bodyPr wrap="square" lIns="85725" tIns="28575" rIns="85725" bIns="28575">
                      <a:noAutofit/>
                    </a:bodyPr>
                    <a:lstStyle/>
                    <a:p>
                      <a:pPr>
                        <a:buNone/>
                      </a:pPr>
                      <a:r>
                        <a:rPr sz="1250" b="0">
                          <a:solidFill>
                            <a:srgbClr val="303853"/>
                          </a:solidFill>
                          <a:latin typeface="Calibri"/>
                          <a:ea typeface="Calibri"/>
                          <a:cs typeface="Calibri"/>
                        </a:rPr>
                        <a:t>Thought free of injustice</a:t>
                      </a:r>
                    </a:p>
                  </a:txBody>
                  <a:tcPr marL="85725" marR="85725" marT="28575" marB="28575" anchor="ctr">
                    <a:solidFill>
                      <a:srgbClr val="F1F3F8"/>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Contentment · santosh</a:t>
                      </a:r>
                    </a:p>
                  </a:txBody>
                  <a:tcPr marL="85725" marR="85725" marT="28575" marB="28575" anchor="ctr">
                    <a:solidFill>
                      <a:srgbClr val="FFFFFF"/>
                    </a:solidFill>
                  </a:tcPr>
                </a:tc>
                <a:tc>
                  <a:txBody>
                    <a:bodyPr wrap="square" lIns="85725" tIns="28575" rIns="85725" bIns="28575">
                      <a:noAutofit/>
                    </a:bodyPr>
                    <a:lstStyle/>
                    <a:p>
                      <a:pPr>
                        <a:buNone/>
                      </a:pPr>
                      <a:r>
                        <a:rPr sz="1250" b="0">
                          <a:solidFill>
                            <a:srgbClr val="303853"/>
                          </a:solidFill>
                          <a:latin typeface="Calibri"/>
                          <a:ea typeface="Calibri"/>
                          <a:cs typeface="Calibri"/>
                        </a:rPr>
                        <a:t>Chitta &amp; Buddhi</a:t>
                      </a:r>
                    </a:p>
                  </a:txBody>
                  <a:tcPr marL="85725" marR="85725" marT="28575" marB="28575" anchor="ctr">
                    <a:solidFill>
                      <a:srgbClr val="FFFFFF"/>
                    </a:solidFill>
                  </a:tcPr>
                </a:tc>
                <a:tc>
                  <a:txBody>
                    <a:bodyPr wrap="square" lIns="85725" tIns="28575" rIns="85725" bIns="28575">
                      <a:noAutofit/>
                    </a:bodyPr>
                    <a:lstStyle/>
                    <a:p>
                      <a:pPr>
                        <a:buNone/>
                      </a:pPr>
                      <a:r>
                        <a:rPr sz="1250" b="0">
                          <a:solidFill>
                            <a:srgbClr val="303853"/>
                          </a:solidFill>
                          <a:latin typeface="Calibri"/>
                          <a:ea typeface="Calibri"/>
                          <a:cs typeface="Calibri"/>
                        </a:rPr>
                        <a:t>Desire free of attachment</a:t>
                      </a:r>
                    </a:p>
                  </a:txBody>
                  <a:tcPr marL="85725" marR="85725" marT="28575" marB="28575" anchor="ctr">
                    <a:solidFill>
                      <a:srgbClr val="FFFFFF"/>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Bliss · anand</a:t>
                      </a:r>
                    </a:p>
                  </a:txBody>
                  <a:tcPr marL="85725" marR="85725" marT="28575" marB="28575" anchor="ctr">
                    <a:solidFill>
                      <a:srgbClr val="F1F3F8"/>
                    </a:solidFill>
                  </a:tcPr>
                </a:tc>
                <a:tc>
                  <a:txBody>
                    <a:bodyPr wrap="square" lIns="85725" tIns="28575" rIns="85725" bIns="28575">
                      <a:noAutofit/>
                    </a:bodyPr>
                    <a:lstStyle/>
                    <a:p>
                      <a:pPr>
                        <a:buNone/>
                      </a:pPr>
                      <a:r>
                        <a:rPr sz="1250" b="0">
                          <a:solidFill>
                            <a:srgbClr val="303853"/>
                          </a:solidFill>
                          <a:latin typeface="Calibri"/>
                          <a:ea typeface="Calibri"/>
                          <a:cs typeface="Calibri"/>
                        </a:rPr>
                        <a:t>Buddhi &amp; Atma</a:t>
                      </a:r>
                    </a:p>
                  </a:txBody>
                  <a:tcPr marL="85725" marR="85725" marT="28575" marB="28575" anchor="ctr">
                    <a:solidFill>
                      <a:srgbClr val="F1F3F8"/>
                    </a:solidFill>
                  </a:tcPr>
                </a:tc>
                <a:tc>
                  <a:txBody>
                    <a:bodyPr wrap="square" lIns="85725" tIns="28575" rIns="85725" bIns="28575">
                      <a:noAutofit/>
                    </a:bodyPr>
                    <a:lstStyle/>
                    <a:p>
                      <a:pPr>
                        <a:buNone/>
                      </a:pPr>
                      <a:r>
                        <a:rPr sz="1250" b="0">
                          <a:solidFill>
                            <a:srgbClr val="303853"/>
                          </a:solidFill>
                          <a:latin typeface="Calibri"/>
                          <a:ea typeface="Calibri"/>
                          <a:cs typeface="Calibri"/>
                        </a:rPr>
                        <a:t>Understanding free of ignorance</a:t>
                      </a:r>
                    </a:p>
                  </a:txBody>
                  <a:tcPr marL="85725" marR="85725" marT="28575" marB="28575" anchor="ctr">
                    <a:solidFill>
                      <a:srgbClr val="F1F3F8"/>
                    </a:solidFill>
                  </a:tcPr>
                </a:tc>
              </a:tr>
            </a:tbl>
          </a:graphicData>
        </a:graphic>
      </p:graphicFrame>
    </p:spTree>
    <p:extLst>
      <p:ext uri="{BB962C8B-B14F-4D97-AF65-F5344CB8AC3E}">
        <p14:creationId xmlns:p14="http://schemas.microsoft.com/office/powerpoint/2010/main" val="7107548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0107661-CB2D-4F53-B32B-307FB5D5DA2E}"/>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 · TRANSFORMATION OF MOTIVATION</a:t>
            </a:r>
          </a:p>
        </p:txBody>
      </p:sp>
      <p:sp>
        <p:nvSpPr>
          <p:cNvPr id="2" name="text-1">
            <a:extLst xmlns:a="http://schemas.openxmlformats.org/drawingml/2006/main">
              <a:ext uri="{FF2B5EF4-FFF2-40B4-BE49-F238E27FC236}">
                <a16:creationId xmlns:a16="http://schemas.microsoft.com/office/drawing/2014/main" id="{A16749CD-669B-470C-8D79-05CD190A5046}"/>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The Consciousness Shift</a:t>
            </a:r>
          </a:p>
        </p:txBody>
      </p:sp>
      <p:sp>
        <p:nvSpPr>
          <p:cNvPr id="3" name="text-2">
            <a:extLst xmlns:a="http://schemas.openxmlformats.org/drawingml/2006/main">
              <a:ext uri="{FF2B5EF4-FFF2-40B4-BE49-F238E27FC236}">
                <a16:creationId xmlns:a16="http://schemas.microsoft.com/office/drawing/2014/main" id="{57383B7E-5372-4426-AE53-F4E0E202BAF8}"/>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F66C4741-E3DB-4339-B60D-CCD41FEFF5E0}"/>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10 / 25</a:t>
            </a:r>
          </a:p>
        </p:txBody>
      </p:sp>
      <p:sp>
        <p:nvSpPr>
          <p:cNvPr id="5" name="text-4">
            <a:extLst xmlns:a="http://schemas.openxmlformats.org/drawingml/2006/main">
              <a:ext uri="{FF2B5EF4-FFF2-40B4-BE49-F238E27FC236}">
                <a16:creationId xmlns:a16="http://schemas.microsoft.com/office/drawing/2014/main" id="{C274DF74-1A48-4E51-9077-3AD47740C3DC}"/>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§§1.2, 1.7; MVD pp. 58, 66, 336–337; JV pp. 139–140</a:t>
            </a:r>
          </a:p>
        </p:txBody>
      </p:sp>
      <p:sp>
        <p:nvSpPr>
          <p:cNvPr id="11" name="topic-0">
            <a:extLst xmlns:a="http://schemas.openxmlformats.org/drawingml/2006/main">
              <a:ext uri="{FF2B5EF4-FFF2-40B4-BE49-F238E27FC236}">
                <a16:creationId xmlns:a16="http://schemas.microsoft.com/office/drawing/2014/main" id="{FE791742-F08C-4824-A867-E740C5FE4A88}"/>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Deluded pursuit (jeeva-chetana)</a:t>
            </a:r>
          </a:p>
        </p:txBody>
      </p:sp>
      <p:sp>
        <p:nvSpPr>
          <p:cNvPr id="12" name="detail-0">
            <a:extLst xmlns:a="http://schemas.openxmlformats.org/drawingml/2006/main">
              <a:ext uri="{FF2B5EF4-FFF2-40B4-BE49-F238E27FC236}">
                <a16:creationId xmlns:a16="http://schemas.microsoft.com/office/drawing/2014/main" id="{EF185C3B-CC81-4153-9E4A-4FC2F09F1B84}"/>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Pleasantness (priya), bodily advantage (hit) and gain (labh) dominate evaluation. Bodily gratification and accumulation become governing aims.</a:t>
            </a:r>
          </a:p>
        </p:txBody>
      </p:sp>
      <p:sp>
        <p:nvSpPr>
          <p:cNvPr id="13" name="topic-1">
            <a:extLst xmlns:a="http://schemas.openxmlformats.org/drawingml/2006/main">
              <a:ext uri="{FF2B5EF4-FFF2-40B4-BE49-F238E27FC236}">
                <a16:creationId xmlns:a16="http://schemas.microsoft.com/office/drawing/2014/main" id="{9BC08471-B096-4480-A250-5E0C3A5EA268}"/>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Awakened pursuit (manav-chetana)</a:t>
            </a:r>
          </a:p>
        </p:txBody>
      </p:sp>
      <p:sp>
        <p:nvSpPr>
          <p:cNvPr id="14" name="detail-1">
            <a:extLst xmlns:a="http://schemas.openxmlformats.org/drawingml/2006/main">
              <a:ext uri="{FF2B5EF4-FFF2-40B4-BE49-F238E27FC236}">
                <a16:creationId xmlns:a16="http://schemas.microsoft.com/office/drawing/2014/main" id="{FCE73340-B6FA-46A7-9208-8CBB32704244}"/>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Governed by living justice (nyaya), universal orderliness (dharma), and existential truth (satya). Anchored in right understanding.</a:t>
            </a:r>
          </a:p>
        </p:txBody>
      </p:sp>
      <p:sp>
        <p:nvSpPr>
          <p:cNvPr id="15" name="topic-2">
            <a:extLst xmlns:a="http://schemas.openxmlformats.org/drawingml/2006/main">
              <a:ext uri="{FF2B5EF4-FFF2-40B4-BE49-F238E27FC236}">
                <a16:creationId xmlns:a16="http://schemas.microsoft.com/office/drawing/2014/main" id="{1F87E294-7095-4A97-BEDC-FF0FB8D0C3E1}"/>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The natural hierarchy</a:t>
            </a:r>
          </a:p>
        </p:txBody>
      </p:sp>
      <p:sp>
        <p:nvSpPr>
          <p:cNvPr id="16" name="detail-2">
            <a:extLst xmlns:a="http://schemas.openxmlformats.org/drawingml/2006/main">
              <a:ext uri="{FF2B5EF4-FFF2-40B4-BE49-F238E27FC236}">
                <a16:creationId xmlns:a16="http://schemas.microsoft.com/office/drawing/2014/main" id="{F15705A7-5E43-4FF6-AA4A-E251DAAE8334}"/>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Pleasure and bodily health find a balanced place within justice, resolution and truth. Prosperity replaces profit as the economic purpose.</a:t>
            </a:r>
          </a:p>
        </p:txBody>
      </p:sp>
    </p:spTree>
    <p:extLst>
      <p:ext uri="{BB962C8B-B14F-4D97-AF65-F5344CB8AC3E}">
        <p14:creationId xmlns:p14="http://schemas.microsoft.com/office/powerpoint/2010/main" val="18007709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8CF6228-F671-4F8C-BE8B-C074034A1DD8}"/>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III · A SYSTEMIC MAP OF LIVING · §1.3</a:t>
            </a:r>
          </a:p>
        </p:txBody>
      </p:sp>
      <p:sp>
        <p:nvSpPr>
          <p:cNvPr id="2" name="text-1">
            <a:extLst xmlns:a="http://schemas.openxmlformats.org/drawingml/2006/main">
              <a:ext uri="{FF2B5EF4-FFF2-40B4-BE49-F238E27FC236}">
                <a16:creationId xmlns:a16="http://schemas.microsoft.com/office/drawing/2014/main" id="{5D9B690A-FAD2-458B-AF65-B3AA3940482B}"/>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The Four Dimensions of Living</a:t>
            </a:r>
          </a:p>
        </p:txBody>
      </p:sp>
      <p:sp>
        <p:nvSpPr>
          <p:cNvPr id="3" name="text-2">
            <a:extLst xmlns:a="http://schemas.openxmlformats.org/drawingml/2006/main">
              <a:ext uri="{FF2B5EF4-FFF2-40B4-BE49-F238E27FC236}">
                <a16:creationId xmlns:a16="http://schemas.microsoft.com/office/drawing/2014/main" id="{1A983B1F-2631-4F1F-88CE-A0EC2ABCBE1E}"/>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0BA6CABA-19F3-40BE-9161-7F841780BAF7}"/>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11 / 25</a:t>
            </a:r>
          </a:p>
        </p:txBody>
      </p:sp>
      <p:sp>
        <p:nvSpPr>
          <p:cNvPr id="5" name="text-4">
            <a:extLst xmlns:a="http://schemas.openxmlformats.org/drawingml/2006/main">
              <a:ext uri="{FF2B5EF4-FFF2-40B4-BE49-F238E27FC236}">
                <a16:creationId xmlns:a16="http://schemas.microsoft.com/office/drawing/2014/main" id="{3395F9F3-6542-46E5-A9B7-7550E48AFA49}"/>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9A6414"/>
                </a:solidFill>
                <a:latin typeface="Calibri"/>
                <a:ea typeface="Calibri"/>
                <a:cs typeface="Calibri"/>
              </a:defRPr>
            </a:pPr>
            <a:r>
              <a:rPr sz="1200" b="0">
                <a:solidFill>
                  <a:srgbClr val="9A6414"/>
                </a:solidFill>
                <a:latin typeface="Calibri"/>
                <a:ea typeface="Calibri"/>
                <a:cs typeface="Calibri"/>
              </a:rPr>
              <a:t>Study §1.3; PS pp. 78, 149, 151, 154, 179; MVD pp. 18, 125, 137, 156</a:t>
            </a:r>
          </a:p>
        </p:txBody>
      </p:sp>
      <p:sp>
        <p:nvSpPr>
          <p:cNvPr id="21" name="topic-0">
            <a:extLst xmlns:a="http://schemas.openxmlformats.org/drawingml/2006/main">
              <a:ext uri="{FF2B5EF4-FFF2-40B4-BE49-F238E27FC236}">
                <a16:creationId xmlns:a16="http://schemas.microsoft.com/office/drawing/2014/main" id="{051BA838-094E-49B8-8785-A547C682B75A}"/>
              </a:ext>
            </a:extLst>
          </p:cNvPr>
          <p:cNvSpPr>
            <a:spLocks xmlns:a="http://schemas.openxmlformats.org/drawingml/2006/main" noGrp="1"/>
          </p:cNvSpPr>
          <p:nvPr/>
        </p:nvSpPr>
        <p:spPr>
          <a:xfrm xmlns:a="http://schemas.openxmlformats.org/drawingml/2006/main">
            <a:off x="960120" y="1304925"/>
            <a:ext cx="18192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Realisation · anubhav</a:t>
            </a:r>
          </a:p>
        </p:txBody>
      </p:sp>
      <p:sp>
        <p:nvSpPr>
          <p:cNvPr id="22" name="detail-0">
            <a:extLst xmlns:a="http://schemas.openxmlformats.org/drawingml/2006/main">
              <a:ext uri="{FF2B5EF4-FFF2-40B4-BE49-F238E27FC236}">
                <a16:creationId xmlns:a16="http://schemas.microsoft.com/office/drawing/2014/main" id="{B64159F6-CB0E-4C1C-A9F3-D5B749DA7921}"/>
              </a:ext>
            </a:extLst>
          </p:cNvPr>
          <p:cNvSpPr>
            <a:spLocks xmlns:a="http://schemas.openxmlformats.org/drawingml/2006/main" noGrp="1"/>
          </p:cNvSpPr>
          <p:nvPr/>
        </p:nvSpPr>
        <p:spPr>
          <a:xfrm xmlns:a="http://schemas.openxmlformats.org/drawingml/2006/main">
            <a:off x="2952750" y="1304925"/>
            <a:ext cx="561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The 4 jeevan values express harmony and experienced fulfilment in realisation-based living: happiness, peace, contentment and bliss.</a:t>
            </a:r>
          </a:p>
        </p:txBody>
      </p:sp>
      <p:sp>
        <p:nvSpPr>
          <p:cNvPr id="23" name="topic-1">
            <a:extLst xmlns:a="http://schemas.openxmlformats.org/drawingml/2006/main">
              <a:ext uri="{FF2B5EF4-FFF2-40B4-BE49-F238E27FC236}">
                <a16:creationId xmlns:a16="http://schemas.microsoft.com/office/drawing/2014/main" id="{6AD57303-BB14-4AB6-8652-45B660276413}"/>
              </a:ext>
            </a:extLst>
          </p:cNvPr>
          <p:cNvSpPr>
            <a:spLocks xmlns:a="http://schemas.openxmlformats.org/drawingml/2006/main" noGrp="1"/>
          </p:cNvSpPr>
          <p:nvPr/>
        </p:nvSpPr>
        <p:spPr>
          <a:xfrm xmlns:a="http://schemas.openxmlformats.org/drawingml/2006/main">
            <a:off x="960120" y="2076450"/>
            <a:ext cx="18192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Thought · vichar</a:t>
            </a:r>
          </a:p>
        </p:txBody>
      </p:sp>
      <p:sp>
        <p:nvSpPr>
          <p:cNvPr id="24" name="detail-1">
            <a:extLst xmlns:a="http://schemas.openxmlformats.org/drawingml/2006/main">
              <a:ext uri="{FF2B5EF4-FFF2-40B4-BE49-F238E27FC236}">
                <a16:creationId xmlns:a16="http://schemas.microsoft.com/office/drawing/2014/main" id="{7D25A9D5-83FC-4CEC-9E96-B5D628E3998E}"/>
              </a:ext>
            </a:extLst>
          </p:cNvPr>
          <p:cNvSpPr>
            <a:spLocks xmlns:a="http://schemas.openxmlformats.org/drawingml/2006/main" noGrp="1"/>
          </p:cNvSpPr>
          <p:nvPr/>
        </p:nvSpPr>
        <p:spPr>
          <a:xfrm xmlns:a="http://schemas.openxmlformats.org/drawingml/2006/main">
            <a:off x="2952750" y="2076450"/>
            <a:ext cx="561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The 6 human values give thought its humane disposition and direct participation through understood purpose.</a:t>
            </a:r>
          </a:p>
        </p:txBody>
      </p:sp>
      <p:sp>
        <p:nvSpPr>
          <p:cNvPr id="25" name="topic-2">
            <a:extLst xmlns:a="http://schemas.openxmlformats.org/drawingml/2006/main">
              <a:ext uri="{FF2B5EF4-FFF2-40B4-BE49-F238E27FC236}">
                <a16:creationId xmlns:a16="http://schemas.microsoft.com/office/drawing/2014/main" id="{A65EE68C-C405-4897-9AA4-D17E8C4F8FBE}"/>
              </a:ext>
            </a:extLst>
          </p:cNvPr>
          <p:cNvSpPr>
            <a:spLocks xmlns:a="http://schemas.openxmlformats.org/drawingml/2006/main" noGrp="1"/>
          </p:cNvSpPr>
          <p:nvPr/>
        </p:nvSpPr>
        <p:spPr>
          <a:xfrm xmlns:a="http://schemas.openxmlformats.org/drawingml/2006/main">
            <a:off x="960120" y="2847975"/>
            <a:ext cx="18192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Behaviour · vyavahar</a:t>
            </a:r>
          </a:p>
        </p:txBody>
      </p:sp>
      <p:sp>
        <p:nvSpPr>
          <p:cNvPr id="26" name="detail-2">
            <a:extLst xmlns:a="http://schemas.openxmlformats.org/drawingml/2006/main">
              <a:ext uri="{FF2B5EF4-FFF2-40B4-BE49-F238E27FC236}">
                <a16:creationId xmlns:a16="http://schemas.microsoft.com/office/drawing/2014/main" id="{820019AB-BC13-4DE9-9D1C-CBC4E49AC4C2}"/>
              </a:ext>
            </a:extLst>
          </p:cNvPr>
          <p:cNvSpPr>
            <a:spLocks xmlns:a="http://schemas.openxmlformats.org/drawingml/2006/main" noGrp="1"/>
          </p:cNvSpPr>
          <p:nvPr/>
        </p:nvSpPr>
        <p:spPr>
          <a:xfrm xmlns:a="http://schemas.openxmlformats.org/drawingml/2006/main">
            <a:off x="2952750" y="2847975"/>
            <a:ext cx="561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The 9 established and 9 expressed values articulate relationships and their fulfilment through justice.</a:t>
            </a:r>
          </a:p>
        </p:txBody>
      </p:sp>
      <p:sp>
        <p:nvSpPr>
          <p:cNvPr id="27" name="topic-3">
            <a:extLst xmlns:a="http://schemas.openxmlformats.org/drawingml/2006/main">
              <a:ext uri="{FF2B5EF4-FFF2-40B4-BE49-F238E27FC236}">
                <a16:creationId xmlns:a16="http://schemas.microsoft.com/office/drawing/2014/main" id="{4CCCDFC5-EDB3-49FB-84D2-23EE0A996061}"/>
              </a:ext>
            </a:extLst>
          </p:cNvPr>
          <p:cNvSpPr>
            <a:spLocks xmlns:a="http://schemas.openxmlformats.org/drawingml/2006/main" noGrp="1"/>
          </p:cNvSpPr>
          <p:nvPr/>
        </p:nvSpPr>
        <p:spPr>
          <a:xfrm xmlns:a="http://schemas.openxmlformats.org/drawingml/2006/main">
            <a:off x="960120" y="3619500"/>
            <a:ext cx="18192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Work · karya</a:t>
            </a:r>
          </a:p>
        </p:txBody>
      </p:sp>
      <p:sp>
        <p:nvSpPr>
          <p:cNvPr id="28" name="detail-3">
            <a:extLst xmlns:a="http://schemas.openxmlformats.org/drawingml/2006/main">
              <a:ext uri="{FF2B5EF4-FFF2-40B4-BE49-F238E27FC236}">
                <a16:creationId xmlns:a16="http://schemas.microsoft.com/office/drawing/2014/main" id="{205F29F3-B8BF-4A08-81D2-89AC324E226E}"/>
              </a:ext>
            </a:extLst>
          </p:cNvPr>
          <p:cNvSpPr>
            <a:spLocks xmlns:a="http://schemas.openxmlformats.org/drawingml/2006/main" noGrp="1"/>
          </p:cNvSpPr>
          <p:nvPr/>
        </p:nvSpPr>
        <p:spPr>
          <a:xfrm xmlns:a="http://schemas.openxmlformats.org/drawingml/2006/main">
            <a:off x="2952750" y="3619500"/>
            <a:ext cx="561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The 2 object values concern useful and aesthetically qualified material provision, supporting prosperity and participation.</a:t>
            </a:r>
          </a:p>
        </p:txBody>
      </p:sp>
    </p:spTree>
    <p:extLst>
      <p:ext uri="{BB962C8B-B14F-4D97-AF65-F5344CB8AC3E}">
        <p14:creationId xmlns:p14="http://schemas.microsoft.com/office/powerpoint/2010/main" val="16372433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9AC5F9F-5B9D-42DB-8C76-E80B37A3B161}"/>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III · THE COMPLETE CANON · §1.3</a:t>
            </a:r>
          </a:p>
        </p:txBody>
      </p:sp>
      <p:sp>
        <p:nvSpPr>
          <p:cNvPr id="2" name="text-1">
            <a:extLst xmlns:a="http://schemas.openxmlformats.org/drawingml/2006/main">
              <a:ext uri="{FF2B5EF4-FFF2-40B4-BE49-F238E27FC236}">
                <a16:creationId xmlns:a16="http://schemas.microsoft.com/office/drawing/2014/main" id="{2D38E6E9-BDE7-493F-A35A-72B7DBB0B5E3}"/>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The Thirty Values in Coexistence</a:t>
            </a:r>
          </a:p>
        </p:txBody>
      </p:sp>
      <p:sp>
        <p:nvSpPr>
          <p:cNvPr id="3" name="text-2">
            <a:extLst xmlns:a="http://schemas.openxmlformats.org/drawingml/2006/main">
              <a:ext uri="{FF2B5EF4-FFF2-40B4-BE49-F238E27FC236}">
                <a16:creationId xmlns:a16="http://schemas.microsoft.com/office/drawing/2014/main" id="{ACF5A092-6B87-4AD1-A86B-EB07CE04D72D}"/>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DD2C05A6-BD27-4535-A44E-0FA0CB886E4D}"/>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12 / 25</a:t>
            </a:r>
          </a:p>
        </p:txBody>
      </p:sp>
      <p:sp>
        <p:nvSpPr>
          <p:cNvPr id="5" name="text-4">
            <a:extLst xmlns:a="http://schemas.openxmlformats.org/drawingml/2006/main">
              <a:ext uri="{FF2B5EF4-FFF2-40B4-BE49-F238E27FC236}">
                <a16:creationId xmlns:a16="http://schemas.microsoft.com/office/drawing/2014/main" id="{2743C503-A2F9-4D1B-A36F-4A5EBACD6EA4}"/>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§1.3; PS printed pp. 151, 154: 4 + 6 + 9 + 9 + 2 = 30</a:t>
            </a:r>
          </a:p>
        </p:txBody>
      </p:sp>
      <p:graphicFrame>
        <p:nvGraphicFramePr>
          <p:cNvPr id="14" name=""/>
          <p:cNvGraphicFramePr/>
          <p:nvPr/>
        </p:nvGraphicFramePr>
        <p:xfrm>
          <a:off xmlns:a="http://schemas.openxmlformats.org/drawingml/2006/main" x="960120" y="1285875"/>
          <a:ext xmlns:a="http://schemas.openxmlformats.org/drawingml/2006/main" cx="7620000" cy="3048000"/>
        </p:xfrm>
        <a:graphic xmlns:a="http://schemas.openxmlformats.org/drawingml/2006/main">
          <a:graphicData uri="http://schemas.openxmlformats.org/drawingml/2006/table">
            <a:tbl>
              <a:tblPr/>
              <a:tblGrid>
                <a:gridCol w="1695450"/>
                <a:gridCol w="2762250"/>
                <a:gridCol w="3162300"/>
              </a:tblGrid>
              <a:tr h="400050">
                <a:tc>
                  <a:txBody>
                    <a:bodyPr wrap="square" lIns="85725" tIns="28575" rIns="85725" bIns="28575">
                      <a:noAutofit/>
                    </a:bodyPr>
                    <a:lstStyle/>
                    <a:p>
                      <a:pPr>
                        <a:buNone/>
                      </a:pPr>
                      <a:r>
                        <a:rPr sz="1300" b="1">
                          <a:solidFill>
                            <a:srgbClr val="FFFFFF"/>
                          </a:solidFill>
                          <a:latin typeface="Calibri"/>
                          <a:ea typeface="Calibri"/>
                          <a:cs typeface="Calibri"/>
                        </a:rPr>
                        <a:t>Category (count)</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Constituent values</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Principal dimension</a:t>
                      </a:r>
                    </a:p>
                  </a:txBody>
                  <a:tcPr marL="85725" marR="85725" marT="28575" marB="28575" anchor="ctr">
                    <a:solidFill>
                      <a:srgbClr val="1E2447"/>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Jeevan values (4)</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Happiness, peace, contentment, bliss</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Anubhav: experienced harmony</a:t>
                      </a:r>
                    </a:p>
                  </a:txBody>
                  <a:tcPr marL="85725" marR="85725" marT="28575" marB="28575" anchor="ctr">
                    <a:solidFill>
                      <a:srgbClr val="FFFFFF"/>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Human values (6)</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Fortitude, courage, generosity; kindness, grace, compassion</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Vichar: humane direction of thought</a:t>
                      </a:r>
                    </a:p>
                  </a:txBody>
                  <a:tcPr marL="85725" marR="85725" marT="28575" marB="28575" anchor="ctr">
                    <a:solidFill>
                      <a:srgbClr val="F1F3F8"/>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Relationship values (9 + 9)</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Nine established values and nine corresponding expressions</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Vyavahar: justice in relationships</a:t>
                      </a:r>
                    </a:p>
                  </a:txBody>
                  <a:tcPr marL="85725" marR="85725" marT="28575" marB="28575" anchor="ctr">
                    <a:solidFill>
                      <a:srgbClr val="FFFFFF"/>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Object values (2)</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Usefulness and aesthetic value</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Karya: useful and refined provision</a:t>
                      </a:r>
                    </a:p>
                  </a:txBody>
                  <a:tcPr marL="85725" marR="85725" marT="28575" marB="28575" anchor="ctr">
                    <a:solidFill>
                      <a:srgbClr val="F1F3F8"/>
                    </a:solidFill>
                  </a:tcPr>
                </a:tc>
              </a:tr>
            </a:tbl>
          </a:graphicData>
        </a:graphic>
      </p:graphicFrame>
    </p:spTree>
    <p:extLst>
      <p:ext uri="{BB962C8B-B14F-4D97-AF65-F5344CB8AC3E}">
        <p14:creationId xmlns:p14="http://schemas.microsoft.com/office/powerpoint/2010/main" val="20237828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37D8B61-709A-48BB-81E3-28E2A75D8A94}"/>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III · CHARACTER &amp; CONDUCT · §1.3</a:t>
            </a:r>
          </a:p>
        </p:txBody>
      </p:sp>
      <p:sp>
        <p:nvSpPr>
          <p:cNvPr id="2" name="text-1">
            <a:extLst xmlns:a="http://schemas.openxmlformats.org/drawingml/2006/main">
              <a:ext uri="{FF2B5EF4-FFF2-40B4-BE49-F238E27FC236}">
                <a16:creationId xmlns:a16="http://schemas.microsoft.com/office/drawing/2014/main" id="{073D2AFF-7BF6-48F0-A1DC-E5B5145F6B28}"/>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Six Human Values: Humane Character</a:t>
            </a:r>
          </a:p>
        </p:txBody>
      </p:sp>
      <p:sp>
        <p:nvSpPr>
          <p:cNvPr id="3" name="text-2">
            <a:extLst xmlns:a="http://schemas.openxmlformats.org/drawingml/2006/main">
              <a:ext uri="{FF2B5EF4-FFF2-40B4-BE49-F238E27FC236}">
                <a16:creationId xmlns:a16="http://schemas.microsoft.com/office/drawing/2014/main" id="{A55E429B-39F5-4E05-806D-D4BF98FC2A72}"/>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0B01DF65-7DAE-4070-AAD2-915C4FB9D8F8}"/>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13 / 25</a:t>
            </a:r>
          </a:p>
        </p:txBody>
      </p:sp>
      <p:sp>
        <p:nvSpPr>
          <p:cNvPr id="5" name="text-4">
            <a:extLst xmlns:a="http://schemas.openxmlformats.org/drawingml/2006/main">
              <a:ext uri="{FF2B5EF4-FFF2-40B4-BE49-F238E27FC236}">
                <a16:creationId xmlns:a16="http://schemas.microsoft.com/office/drawing/2014/main" id="{F8432AD5-8EBF-4764-859D-27F1A9049C6B}"/>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§1.3; MVD pp. 52, 60–61, 125, 331, 340</a:t>
            </a:r>
          </a:p>
        </p:txBody>
      </p:sp>
      <p:sp>
        <p:nvSpPr>
          <p:cNvPr id="13" name="topic-0">
            <a:extLst xmlns:a="http://schemas.openxmlformats.org/drawingml/2006/main">
              <a:ext uri="{FF2B5EF4-FFF2-40B4-BE49-F238E27FC236}">
                <a16:creationId xmlns:a16="http://schemas.microsoft.com/office/drawing/2014/main" id="{EAF8A278-AC61-4059-8227-819E2AF8E643}"/>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Humane virtues (manavata)</a:t>
            </a:r>
          </a:p>
        </p:txBody>
      </p:sp>
      <p:sp>
        <p:nvSpPr>
          <p:cNvPr id="14" name="detail-0">
            <a:extLst xmlns:a="http://schemas.openxmlformats.org/drawingml/2006/main">
              <a:ext uri="{FF2B5EF4-FFF2-40B4-BE49-F238E27FC236}">
                <a16:creationId xmlns:a16="http://schemas.microsoft.com/office/drawing/2014/main" id="{7CEFB6CE-C314-4F30-8DAB-7DC9C50CF7D2}"/>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Fortitude holds firmly to justice; courage makes justice accessible to others; generosity dedicates body, mind and wealth to awakening, health and prosperity.</a:t>
            </a:r>
          </a:p>
        </p:txBody>
      </p:sp>
      <p:sp>
        <p:nvSpPr>
          <p:cNvPr id="15" name="topic-1">
            <a:extLst xmlns:a="http://schemas.openxmlformats.org/drawingml/2006/main">
              <a:ext uri="{FF2B5EF4-FFF2-40B4-BE49-F238E27FC236}">
                <a16:creationId xmlns:a16="http://schemas.microsoft.com/office/drawing/2014/main" id="{5D47D178-3FC2-4B19-A853-5273B3C7FEB6}"/>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Higher-humane virtues (ati-manavata)</a:t>
            </a:r>
          </a:p>
        </p:txBody>
      </p:sp>
      <p:sp>
        <p:nvSpPr>
          <p:cNvPr id="16" name="detail-1">
            <a:extLst xmlns:a="http://schemas.openxmlformats.org/drawingml/2006/main">
              <a:ext uri="{FF2B5EF4-FFF2-40B4-BE49-F238E27FC236}">
                <a16:creationId xmlns:a16="http://schemas.microsoft.com/office/drawing/2014/main" id="{3085B0DD-11F5-4211-BFD2-7CC5552E8801}"/>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Kindness provides appropriate content where receptivity exists. Grace develops receptivity where content is available. Compassion provides both.</a:t>
            </a:r>
          </a:p>
        </p:txBody>
      </p:sp>
      <p:sp>
        <p:nvSpPr>
          <p:cNvPr id="17" name="topic-2">
            <a:extLst xmlns:a="http://schemas.openxmlformats.org/drawingml/2006/main">
              <a:ext uri="{FF2B5EF4-FFF2-40B4-BE49-F238E27FC236}">
                <a16:creationId xmlns:a16="http://schemas.microsoft.com/office/drawing/2014/main" id="{E8B87E1E-4E6D-4E54-B323-C269ACF7A336}"/>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Humane character</a:t>
            </a:r>
          </a:p>
        </p:txBody>
      </p:sp>
      <p:sp>
        <p:nvSpPr>
          <p:cNvPr id="18" name="detail-2">
            <a:extLst xmlns:a="http://schemas.openxmlformats.org/drawingml/2006/main">
              <a:ext uri="{FF2B5EF4-FFF2-40B4-BE49-F238E27FC236}">
                <a16:creationId xmlns:a16="http://schemas.microsoft.com/office/drawing/2014/main" id="{6F8F2A94-C2A9-431E-9442-8FA4CE8CB04E}"/>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These six values direct understood participation and its continuity. Love encompasses the combined expression of kindness, grace and compassion.</a:t>
            </a:r>
          </a:p>
        </p:txBody>
      </p:sp>
    </p:spTree>
    <p:extLst>
      <p:ext uri="{BB962C8B-B14F-4D97-AF65-F5344CB8AC3E}">
        <p14:creationId xmlns:p14="http://schemas.microsoft.com/office/powerpoint/2010/main" val="17202241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9AC5F9F-5B9D-42DB-8C76-E80B37A3B161}"/>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III · RELATIONAL ARCHITECTURE · §1.3</a:t>
            </a:r>
          </a:p>
        </p:txBody>
      </p:sp>
      <p:sp>
        <p:nvSpPr>
          <p:cNvPr id="2" name="text-1">
            <a:extLst xmlns:a="http://schemas.openxmlformats.org/drawingml/2006/main">
              <a:ext uri="{FF2B5EF4-FFF2-40B4-BE49-F238E27FC236}">
                <a16:creationId xmlns:a16="http://schemas.microsoft.com/office/drawing/2014/main" id="{2D38E6E9-BDE7-493F-A35A-72B7DBB0B5E3}"/>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Nine Established and Expressed Pairs</a:t>
            </a:r>
          </a:p>
        </p:txBody>
      </p:sp>
      <p:sp>
        <p:nvSpPr>
          <p:cNvPr id="3" name="text-2">
            <a:extLst xmlns:a="http://schemas.openxmlformats.org/drawingml/2006/main">
              <a:ext uri="{FF2B5EF4-FFF2-40B4-BE49-F238E27FC236}">
                <a16:creationId xmlns:a16="http://schemas.microsoft.com/office/drawing/2014/main" id="{ACF5A092-6B87-4AD1-A86B-EB07CE04D72D}"/>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DD2C05A6-BD27-4535-A44E-0FA0CB886E4D}"/>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14 / 25</a:t>
            </a:r>
          </a:p>
        </p:txBody>
      </p:sp>
      <p:sp>
        <p:nvSpPr>
          <p:cNvPr id="5" name="text-4">
            <a:extLst xmlns:a="http://schemas.openxmlformats.org/drawingml/2006/main">
              <a:ext uri="{FF2B5EF4-FFF2-40B4-BE49-F238E27FC236}">
                <a16:creationId xmlns:a16="http://schemas.microsoft.com/office/drawing/2014/main" id="{2743C503-A2F9-4D1B-A36F-4A5EBACD6EA4}"/>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§1.3; MAD reader p. 30; JV p. 108; MVD pp. 331–340</a:t>
            </a:r>
          </a:p>
        </p:txBody>
      </p:sp>
      <p:graphicFrame>
        <p:nvGraphicFramePr>
          <p:cNvPr id="14" name=""/>
          <p:cNvGraphicFramePr/>
          <p:nvPr/>
        </p:nvGraphicFramePr>
        <p:xfrm>
          <a:off xmlns:a="http://schemas.openxmlformats.org/drawingml/2006/main" x="960120" y="1285875"/>
          <a:ext xmlns:a="http://schemas.openxmlformats.org/drawingml/2006/main" cx="7620000" cy="2951226"/>
        </p:xfrm>
        <a:graphic xmlns:a="http://schemas.openxmlformats.org/drawingml/2006/main">
          <a:graphicData uri="http://schemas.openxmlformats.org/drawingml/2006/table">
            <a:tbl>
              <a:tblPr/>
              <a:tblGrid>
                <a:gridCol w="3048000"/>
                <a:gridCol w="3190875"/>
                <a:gridCol w="1381125"/>
              </a:tblGrid>
              <a:tr h="400050">
                <a:tc>
                  <a:txBody>
                    <a:bodyPr wrap="square" lIns="85725" tIns="28575" rIns="85725" bIns="28575">
                      <a:noAutofit/>
                    </a:bodyPr>
                    <a:lstStyle/>
                    <a:p>
                      <a:pPr>
                        <a:buNone/>
                      </a:pPr>
                      <a:r>
                        <a:rPr sz="1200" b="1">
                          <a:solidFill>
                            <a:srgbClr val="FFFFFF"/>
                          </a:solidFill>
                          <a:latin typeface="Calibri"/>
                          <a:ea typeface="Calibri"/>
                          <a:cs typeface="Calibri"/>
                        </a:rPr>
                        <a:t>Established value · sthapit</a:t>
                      </a:r>
                    </a:p>
                  </a:txBody>
                  <a:tcPr marL="85725" marR="85725" marT="28575" marB="28575" anchor="ctr">
                    <a:solidFill>
                      <a:srgbClr val="1E2447"/>
                    </a:solidFill>
                  </a:tcPr>
                </a:tc>
                <a:tc>
                  <a:txBody>
                    <a:bodyPr wrap="square" lIns="85725" tIns="28575" rIns="85725" bIns="28575">
                      <a:noAutofit/>
                    </a:bodyPr>
                    <a:lstStyle/>
                    <a:p>
                      <a:pPr>
                        <a:buNone/>
                      </a:pPr>
                      <a:r>
                        <a:rPr sz="1200" b="1">
                          <a:solidFill>
                            <a:srgbClr val="FFFFFF"/>
                          </a:solidFill>
                          <a:latin typeface="Calibri"/>
                          <a:ea typeface="Calibri"/>
                          <a:cs typeface="Calibri"/>
                        </a:rPr>
                        <a:t>Expressed value · shishta</a:t>
                      </a:r>
                    </a:p>
                  </a:txBody>
                  <a:tcPr marL="85725" marR="85725" marT="28575" marB="28575" anchor="ctr">
                    <a:solidFill>
                      <a:srgbClr val="1E2447"/>
                    </a:solidFill>
                  </a:tcPr>
                </a:tc>
                <a:tc>
                  <a:txBody>
                    <a:bodyPr wrap="square" lIns="85725" tIns="28575" rIns="85725" bIns="28575">
                      <a:noAutofit/>
                    </a:bodyPr>
                    <a:lstStyle/>
                    <a:p>
                      <a:pPr>
                        <a:buNone/>
                      </a:pPr>
                      <a:r>
                        <a:rPr sz="1200" b="1">
                          <a:solidFill>
                            <a:srgbClr val="FFFFFF"/>
                          </a:solidFill>
                          <a:latin typeface="Calibri"/>
                          <a:ea typeface="Calibri"/>
                          <a:cs typeface="Calibri"/>
                        </a:rPr>
                        <a:t>Faculty</a:t>
                      </a:r>
                    </a:p>
                  </a:txBody>
                  <a:tcPr marL="85725" marR="85725" marT="28575" marB="28575" anchor="ctr">
                    <a:solidFill>
                      <a:srgbClr val="1E2447"/>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Trust · vishwas</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Concordance · saujanyata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Vritti</a:t>
                      </a:r>
                    </a:p>
                  </a:txBody>
                  <a:tcPr marL="85725" marR="85725" marT="28575" marB="28575" anchor="ctr">
                    <a:solidFill>
                      <a:srgbClr val="FFFFFF"/>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Respect · samman</a:t>
                      </a:r>
                    </a:p>
                  </a:txBody>
                  <a:tcPr marL="85725" marR="85725" marT="28575" marB="28575" anchor="ctr">
                    <a:solidFill>
                      <a:srgbClr val="F1F3F8"/>
                    </a:solidFill>
                  </a:tcPr>
                </a:tc>
                <a:tc>
                  <a:txBody>
                    <a:bodyPr wrap="square" lIns="85725" tIns="28575" rIns="85725" bIns="28575">
                      <a:noAutofit/>
                    </a:bodyPr>
                    <a:lstStyle/>
                    <a:p>
                      <a:pPr>
                        <a:buNone/>
                      </a:pPr>
                      <a:r>
                        <a:rPr sz="1150" b="0">
                          <a:solidFill>
                            <a:srgbClr val="303853"/>
                          </a:solidFill>
                          <a:latin typeface="Calibri"/>
                          <a:ea typeface="Calibri"/>
                          <a:cs typeface="Calibri"/>
                        </a:rPr>
                        <a:t>Cordiality · sauhardta</a:t>
                      </a:r>
                    </a:p>
                  </a:txBody>
                  <a:tcPr marL="85725" marR="85725" marT="28575" marB="28575" anchor="ctr">
                    <a:solidFill>
                      <a:srgbClr val="F1F3F8"/>
                    </a:solidFill>
                  </a:tcPr>
                </a:tc>
                <a:tc>
                  <a:txBody>
                    <a:bodyPr wrap="square" lIns="85725" tIns="28575" rIns="85725" bIns="28575">
                      <a:noAutofit/>
                    </a:bodyPr>
                    <a:lstStyle/>
                    <a:p>
                      <a:pPr>
                        <a:buNone/>
                      </a:pPr>
                      <a:r>
                        <a:rPr sz="1150" b="0">
                          <a:solidFill>
                            <a:srgbClr val="303853"/>
                          </a:solidFill>
                          <a:latin typeface="Calibri"/>
                          <a:ea typeface="Calibri"/>
                          <a:cs typeface="Calibri"/>
                        </a:rPr>
                        <a:t>Mun</a:t>
                      </a:r>
                    </a:p>
                  </a:txBody>
                  <a:tcPr marL="85725" marR="85725" marT="28575" marB="28575" anchor="ctr">
                    <a:solidFill>
                      <a:srgbClr val="F1F3F8"/>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Affection · sneha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Dedication · nishtha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Mun</a:t>
                      </a:r>
                    </a:p>
                  </a:txBody>
                  <a:tcPr marL="85725" marR="85725" marT="28575" marB="28575" anchor="ctr">
                    <a:solidFill>
                      <a:srgbClr val="FFFFFF"/>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Care · mamta</a:t>
                      </a:r>
                    </a:p>
                  </a:txBody>
                  <a:tcPr marL="85725" marR="85725" marT="28575" marB="28575" anchor="ctr">
                    <a:solidFill>
                      <a:srgbClr val="F1F3F8"/>
                    </a:solidFill>
                  </a:tcPr>
                </a:tc>
                <a:tc>
                  <a:txBody>
                    <a:bodyPr wrap="square" lIns="85725" tIns="28575" rIns="85725" bIns="28575">
                      <a:noAutofit/>
                    </a:bodyPr>
                    <a:lstStyle/>
                    <a:p>
                      <a:pPr>
                        <a:buNone/>
                      </a:pPr>
                      <a:r>
                        <a:rPr sz="1150" b="0">
                          <a:solidFill>
                            <a:srgbClr val="303853"/>
                          </a:solidFill>
                          <a:latin typeface="Calibri"/>
                          <a:ea typeface="Calibri"/>
                          <a:cs typeface="Calibri"/>
                        </a:rPr>
                        <a:t>Generosity · udarta</a:t>
                      </a:r>
                    </a:p>
                  </a:txBody>
                  <a:tcPr marL="85725" marR="85725" marT="28575" marB="28575" anchor="ctr">
                    <a:solidFill>
                      <a:srgbClr val="F1F3F8"/>
                    </a:solidFill>
                  </a:tcPr>
                </a:tc>
                <a:tc>
                  <a:txBody>
                    <a:bodyPr wrap="square" lIns="85725" tIns="28575" rIns="85725" bIns="28575">
                      <a:noAutofit/>
                    </a:bodyPr>
                    <a:lstStyle/>
                    <a:p>
                      <a:pPr>
                        <a:buNone/>
                      </a:pPr>
                      <a:r>
                        <a:rPr sz="1150" b="0">
                          <a:solidFill>
                            <a:srgbClr val="303853"/>
                          </a:solidFill>
                          <a:latin typeface="Calibri"/>
                          <a:ea typeface="Calibri"/>
                          <a:cs typeface="Calibri"/>
                        </a:rPr>
                        <a:t>Mun</a:t>
                      </a:r>
                    </a:p>
                  </a:txBody>
                  <a:tcPr marL="85725" marR="85725" marT="28575" marB="28575" anchor="ctr">
                    <a:solidFill>
                      <a:srgbClr val="F1F3F8"/>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Guidance · vatsalya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Naturalness · sahajta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Chitta</a:t>
                      </a:r>
                    </a:p>
                  </a:txBody>
                  <a:tcPr marL="85725" marR="85725" marT="28575" marB="28575" anchor="ctr">
                    <a:solidFill>
                      <a:srgbClr val="FFFFFF"/>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Reverence · shraddha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Devoutness · pujyata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Chitta</a:t>
                      </a:r>
                    </a:p>
                  </a:txBody>
                  <a:tcPr marL="85725" marR="85725" marT="28575" marB="28575" anchor="ctr">
                    <a:solidFill>
                      <a:srgbClr val="FFFFFF"/>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Glory · gaurav</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Simplicity · saralta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Vritti</a:t>
                      </a:r>
                    </a:p>
                  </a:txBody>
                  <a:tcPr marL="85725" marR="85725" marT="28575" marB="28575" anchor="ctr">
                    <a:solidFill>
                      <a:srgbClr val="FFFFFF"/>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Gratitude · kritagyata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Humility · saumyata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Vritti</a:t>
                      </a:r>
                    </a:p>
                  </a:txBody>
                  <a:tcPr marL="85725" marR="85725" marT="28575" marB="28575" anchor="ctr">
                    <a:solidFill>
                      <a:srgbClr val="FFFFFF"/>
                    </a:solidFill>
                  </a:tcPr>
                </a:tc>
              </a:tr>
              <a:tr h="283464">
                <a:tc>
                  <a:txBody>
                    <a:bodyPr wrap="square" lIns="85725" tIns="28575" rIns="85725" bIns="28575">
                      <a:noAutofit/>
                    </a:bodyPr>
                    <a:lstStyle/>
                    <a:p>
                      <a:pPr>
                        <a:buNone/>
                      </a:pPr>
                      <a:r>
                        <a:rPr sz="1150" b="0">
                          <a:solidFill>
                            <a:srgbClr val="303853"/>
                          </a:solidFill>
                          <a:latin typeface="Calibri"/>
                          <a:ea typeface="Calibri"/>
                          <a:cs typeface="Calibri"/>
                        </a:rPr>
                        <a:t>Love · prem</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Non-otherness · ananyata</a:t>
                      </a:r>
                    </a:p>
                  </a:txBody>
                  <a:tcPr marL="85725" marR="85725" marT="28575" marB="28575" anchor="ctr">
                    <a:solidFill>
                      <a:srgbClr val="FFFFFF"/>
                    </a:solidFill>
                  </a:tcPr>
                </a:tc>
                <a:tc>
                  <a:txBody>
                    <a:bodyPr wrap="square" lIns="85725" tIns="28575" rIns="85725" bIns="28575">
                      <a:noAutofit/>
                    </a:bodyPr>
                    <a:lstStyle/>
                    <a:p>
                      <a:pPr>
                        <a:buNone/>
                      </a:pPr>
                      <a:r>
                        <a:rPr sz="1150" b="0">
                          <a:solidFill>
                            <a:srgbClr val="303853"/>
                          </a:solidFill>
                          <a:latin typeface="Calibri"/>
                          <a:ea typeface="Calibri"/>
                          <a:cs typeface="Calibri"/>
                        </a:rPr>
                        <a:t>Chitta</a:t>
                      </a:r>
                    </a:p>
                  </a:txBody>
                  <a:tcPr marL="85725" marR="85725" marT="28575" marB="28575" anchor="ctr">
                    <a:solidFill>
                      <a:srgbClr val="FFFFFF"/>
                    </a:solidFill>
                  </a:tcPr>
                </a:tc>
              </a:tr>
            </a:tbl>
          </a:graphicData>
        </a:graphic>
      </p:graphicFrame>
    </p:spTree>
    <p:extLst>
      <p:ext uri="{BB962C8B-B14F-4D97-AF65-F5344CB8AC3E}">
        <p14:creationId xmlns:p14="http://schemas.microsoft.com/office/powerpoint/2010/main" val="20237828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8485D33-20F2-4188-A428-AC11D4F5264B}"/>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III · FOUNDATION AND CULMINATION</a:t>
            </a:r>
          </a:p>
        </p:txBody>
      </p:sp>
      <p:sp>
        <p:nvSpPr>
          <p:cNvPr id="2" name="text-1">
            <a:extLst xmlns:a="http://schemas.openxmlformats.org/drawingml/2006/main">
              <a:ext uri="{FF2B5EF4-FFF2-40B4-BE49-F238E27FC236}">
                <a16:creationId xmlns:a16="http://schemas.microsoft.com/office/drawing/2014/main" id="{6CEBD779-1CFB-4A3F-AB0B-99C7A5D5564F}"/>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Trust as Common, Love as Complete</a:t>
            </a:r>
          </a:p>
        </p:txBody>
      </p:sp>
      <p:sp>
        <p:nvSpPr>
          <p:cNvPr id="3" name="text-2">
            <a:extLst xmlns:a="http://schemas.openxmlformats.org/drawingml/2006/main">
              <a:ext uri="{FF2B5EF4-FFF2-40B4-BE49-F238E27FC236}">
                <a16:creationId xmlns:a16="http://schemas.microsoft.com/office/drawing/2014/main" id="{44AD05E5-C357-4317-A865-8BCCFFAD0B02}"/>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A7169A6B-3780-4DE8-ACF7-D47ECC680A31}"/>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15 / 25</a:t>
            </a:r>
          </a:p>
        </p:txBody>
      </p:sp>
      <p:sp>
        <p:nvSpPr>
          <p:cNvPr id="5" name="text-4">
            <a:extLst xmlns:a="http://schemas.openxmlformats.org/drawingml/2006/main">
              <a:ext uri="{FF2B5EF4-FFF2-40B4-BE49-F238E27FC236}">
                <a16:creationId xmlns:a16="http://schemas.microsoft.com/office/drawing/2014/main" id="{D078E54D-7A1E-40D0-8C32-24C5A3765CD6}"/>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§§1.3, 1.6; MAD reader pp. 30, 43; MVD pp. 331, 336</a:t>
            </a:r>
          </a:p>
        </p:txBody>
      </p:sp>
      <p:sp>
        <p:nvSpPr>
          <p:cNvPr id="13" name="topic-0">
            <a:extLst xmlns:a="http://schemas.openxmlformats.org/drawingml/2006/main">
              <a:ext uri="{FF2B5EF4-FFF2-40B4-BE49-F238E27FC236}">
                <a16:creationId xmlns:a16="http://schemas.microsoft.com/office/drawing/2014/main" id="{4F660194-92EA-444B-859D-A27C05F2C52F}"/>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Trust (vishwas) as common value</a:t>
            </a:r>
          </a:p>
        </p:txBody>
      </p:sp>
      <p:sp>
        <p:nvSpPr>
          <p:cNvPr id="14" name="detail-0">
            <a:extLst xmlns:a="http://schemas.openxmlformats.org/drawingml/2006/main">
              <a:ext uri="{FF2B5EF4-FFF2-40B4-BE49-F238E27FC236}">
                <a16:creationId xmlns:a16="http://schemas.microsoft.com/office/drawing/2014/main" id="{99E4B7A7-8D99-48E7-A55F-0CA3C930C48E}"/>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Trust concerns fulfilled values in mutuality, understood orderliness and communicated resolution. Its expression supports cooperation and complementarity.</a:t>
            </a:r>
          </a:p>
        </p:txBody>
      </p:sp>
      <p:sp>
        <p:nvSpPr>
          <p:cNvPr id="15" name="topic-1">
            <a:extLst xmlns:a="http://schemas.openxmlformats.org/drawingml/2006/main">
              <a:ext uri="{FF2B5EF4-FFF2-40B4-BE49-F238E27FC236}">
                <a16:creationId xmlns:a16="http://schemas.microsoft.com/office/drawing/2014/main" id="{BC536D39-EB76-4C76-B654-9930CFCC0A7C}"/>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Love (prem) as complete value</a:t>
            </a:r>
          </a:p>
        </p:txBody>
      </p:sp>
      <p:sp>
        <p:nvSpPr>
          <p:cNvPr id="16" name="detail-1">
            <a:extLst xmlns:a="http://schemas.openxmlformats.org/drawingml/2006/main">
              <a:ext uri="{FF2B5EF4-FFF2-40B4-BE49-F238E27FC236}">
                <a16:creationId xmlns:a16="http://schemas.microsoft.com/office/drawing/2014/main" id="{EF26E26D-DE06-4560-896F-94BD51EAE003}"/>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Love encompasses kindness, grace and compassion in continuity. Non-otherness extends through human mutuality and participation with nature.</a:t>
            </a:r>
          </a:p>
        </p:txBody>
      </p:sp>
      <p:sp>
        <p:nvSpPr>
          <p:cNvPr id="17" name="topic-2">
            <a:extLst xmlns:a="http://schemas.openxmlformats.org/drawingml/2006/main">
              <a:ext uri="{FF2B5EF4-FFF2-40B4-BE49-F238E27FC236}">
                <a16:creationId xmlns:a16="http://schemas.microsoft.com/office/drawing/2014/main" id="{B629B8DD-4E9A-4D9A-91DB-58D9FC5E724C}"/>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Connected relationship values</a:t>
            </a:r>
          </a:p>
        </p:txBody>
      </p:sp>
      <p:sp>
        <p:nvSpPr>
          <p:cNvPr id="18" name="detail-2">
            <a:extLst xmlns:a="http://schemas.openxmlformats.org/drawingml/2006/main">
              <a:ext uri="{FF2B5EF4-FFF2-40B4-BE49-F238E27FC236}">
                <a16:creationId xmlns:a16="http://schemas.microsoft.com/office/drawing/2014/main" id="{50F4E8D7-01BC-4C99-A93E-99157A2F0A1E}"/>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Care, respect, affection, guidance, reverence, glory and gratitude specify how relationships fulfil their understood purposes.</a:t>
            </a:r>
          </a:p>
        </p:txBody>
      </p:sp>
    </p:spTree>
    <p:extLst>
      <p:ext uri="{BB962C8B-B14F-4D97-AF65-F5344CB8AC3E}">
        <p14:creationId xmlns:p14="http://schemas.microsoft.com/office/powerpoint/2010/main" val="102897839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D1B3CA58-A28F-4CAE-B7B6-78341A07E483}"/>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IV · BEHAVIOURAL PRAXIS · §1.4</a:t>
            </a:r>
          </a:p>
        </p:txBody>
      </p:sp>
      <p:sp>
        <p:nvSpPr>
          <p:cNvPr id="2" name="text-1">
            <a:extLst xmlns:a="http://schemas.openxmlformats.org/drawingml/2006/main">
              <a:ext uri="{FF2B5EF4-FFF2-40B4-BE49-F238E27FC236}">
                <a16:creationId xmlns:a16="http://schemas.microsoft.com/office/drawing/2014/main" id="{3B228F05-BC4D-4242-B247-579D1129EB5A}"/>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Justice: The Four-Step Living Cycle</a:t>
            </a:r>
          </a:p>
        </p:txBody>
      </p:sp>
      <p:sp>
        <p:nvSpPr>
          <p:cNvPr id="3" name="text-2">
            <a:extLst xmlns:a="http://schemas.openxmlformats.org/drawingml/2006/main">
              <a:ext uri="{FF2B5EF4-FFF2-40B4-BE49-F238E27FC236}">
                <a16:creationId xmlns:a16="http://schemas.microsoft.com/office/drawing/2014/main" id="{36A6E25B-5363-40CD-AEF8-F309A7451322}"/>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9A1260BB-F872-4F55-8C9D-C324E8592CCE}"/>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16 / 25</a:t>
            </a:r>
          </a:p>
        </p:txBody>
      </p:sp>
      <p:sp>
        <p:nvSpPr>
          <p:cNvPr id="5" name="text-4">
            <a:extLst xmlns:a="http://schemas.openxmlformats.org/drawingml/2006/main">
              <a:ext uri="{FF2B5EF4-FFF2-40B4-BE49-F238E27FC236}">
                <a16:creationId xmlns:a16="http://schemas.microsoft.com/office/drawing/2014/main" id="{E9B7A9E9-6AF8-42B1-99DD-CE613A897A65}"/>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§1.4; justice (nyaya) is an active, living dynamic yielding mutual satisfaction</a:t>
            </a:r>
          </a:p>
        </p:txBody>
      </p:sp>
      <p:graphicFrame>
        <p:nvGraphicFramePr>
          <p:cNvPr id="21" name=""/>
          <p:cNvGraphicFramePr/>
          <p:nvPr/>
        </p:nvGraphicFramePr>
        <p:xfrm>
          <a:off xmlns:a="http://schemas.openxmlformats.org/drawingml/2006/main" x="960120" y="1285875"/>
          <a:ext xmlns:a="http://schemas.openxmlformats.org/drawingml/2006/main" cx="7620000" cy="2857500"/>
        </p:xfrm>
        <a:graphic xmlns:a="http://schemas.openxmlformats.org/drawingml/2006/main">
          <a:graphicData uri="http://schemas.openxmlformats.org/drawingml/2006/table">
            <a:tbl>
              <a:tblPr/>
              <a:tblGrid>
                <a:gridCol w="1809750"/>
                <a:gridCol w="5810250"/>
              </a:tblGrid>
              <a:tr h="400050">
                <a:tc>
                  <a:txBody>
                    <a:bodyPr wrap="square" lIns="85725" tIns="28575" rIns="85725" bIns="28575">
                      <a:noAutofit/>
                    </a:bodyPr>
                    <a:lstStyle/>
                    <a:p>
                      <a:pPr>
                        <a:buNone/>
                      </a:pPr>
                      <a:r>
                        <a:rPr sz="1300" b="1">
                          <a:solidFill>
                            <a:srgbClr val="FFFFFF"/>
                          </a:solidFill>
                          <a:latin typeface="Calibri"/>
                          <a:ea typeface="Calibri"/>
                          <a:cs typeface="Calibri"/>
                        </a:rPr>
                        <a:t>Stage of justice · nyaya</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Living operational requirement</a:t>
                      </a:r>
                    </a:p>
                  </a:txBody>
                  <a:tcPr marL="85725" marR="85725" marT="28575" marB="28575" anchor="ctr">
                    <a:solidFill>
                      <a:srgbClr val="1E2447"/>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Recognition · pehchan</a:t>
                      </a:r>
                    </a:p>
                  </a:txBody>
                  <a:tcPr marL="85725" marR="85725" marT="28575" marB="28575" anchor="ctr">
                    <a:solidFill>
                      <a:srgbClr val="FFFFFF"/>
                    </a:solidFill>
                  </a:tcPr>
                </a:tc>
                <a:tc>
                  <a:txBody>
                    <a:bodyPr wrap="square" lIns="85725" tIns="28575" rIns="85725" bIns="28575">
                      <a:noAutofit/>
                    </a:bodyPr>
                    <a:lstStyle/>
                    <a:p>
                      <a:pPr>
                        <a:buNone/>
                      </a:pPr>
                      <a:r>
                        <a:rPr sz="1250" b="0">
                          <a:solidFill>
                            <a:srgbClr val="303853"/>
                          </a:solidFill>
                          <a:latin typeface="Calibri"/>
                          <a:ea typeface="Calibri"/>
                          <a:cs typeface="Calibri"/>
                        </a:rPr>
                        <a:t>Discerning inherent existential relationships (parent-child, teacher-student, peer)</a:t>
                      </a:r>
                    </a:p>
                  </a:txBody>
                  <a:tcPr marL="85725" marR="85725" marT="28575" marB="28575" anchor="ctr">
                    <a:solidFill>
                      <a:srgbClr val="FFFFFF"/>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Fulfilment · nirvah</a:t>
                      </a:r>
                    </a:p>
                  </a:txBody>
                  <a:tcPr marL="85725" marR="85725" marT="28575" marB="28575" anchor="ctr">
                    <a:solidFill>
                      <a:srgbClr val="F1F3F8"/>
                    </a:solidFill>
                  </a:tcPr>
                </a:tc>
                <a:tc>
                  <a:txBody>
                    <a:bodyPr wrap="square" lIns="85725" tIns="28575" rIns="85725" bIns="28575">
                      <a:noAutofit/>
                    </a:bodyPr>
                    <a:lstStyle/>
                    <a:p>
                      <a:pPr>
                        <a:buNone/>
                      </a:pPr>
                      <a:r>
                        <a:rPr sz="1250" b="0">
                          <a:solidFill>
                            <a:srgbClr val="303853"/>
                          </a:solidFill>
                          <a:latin typeface="Calibri"/>
                          <a:ea typeface="Calibri"/>
                          <a:cs typeface="Calibri"/>
                        </a:rPr>
                        <a:t>Living the appropriate values and performing mutual responsibilities</a:t>
                      </a:r>
                    </a:p>
                  </a:txBody>
                  <a:tcPr marL="85725" marR="85725" marT="28575" marB="28575" anchor="ctr">
                    <a:solidFill>
                      <a:srgbClr val="F1F3F8"/>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Evaluation · mulyankan</a:t>
                      </a:r>
                    </a:p>
                  </a:txBody>
                  <a:tcPr marL="85725" marR="85725" marT="28575" marB="28575" anchor="ctr">
                    <a:solidFill>
                      <a:srgbClr val="FFFFFF"/>
                    </a:solidFill>
                  </a:tcPr>
                </a:tc>
                <a:tc>
                  <a:txBody>
                    <a:bodyPr wrap="square" lIns="85725" tIns="28575" rIns="85725" bIns="28575">
                      <a:noAutofit/>
                    </a:bodyPr>
                    <a:lstStyle/>
                    <a:p>
                      <a:pPr>
                        <a:buNone/>
                      </a:pPr>
                      <a:r>
                        <a:rPr sz="1250" b="0">
                          <a:solidFill>
                            <a:srgbClr val="303853"/>
                          </a:solidFill>
                          <a:latin typeface="Calibri"/>
                          <a:ea typeface="Calibri"/>
                          <a:cs typeface="Calibri"/>
                        </a:rPr>
                        <a:t>Mutually examining whether qualitative nourishment and understanding were achieved</a:t>
                      </a:r>
                    </a:p>
                  </a:txBody>
                  <a:tcPr marL="85725" marR="85725" marT="28575" marB="28575" anchor="ctr">
                    <a:solidFill>
                      <a:srgbClr val="FFFFFF"/>
                    </a:solidFill>
                  </a:tcPr>
                </a:tc>
              </a:tr>
              <a:tr h="614363">
                <a:tc>
                  <a:txBody>
                    <a:bodyPr wrap="square" lIns="85725" tIns="28575" rIns="85725" bIns="28575">
                      <a:noAutofit/>
                    </a:bodyPr>
                    <a:lstStyle/>
                    <a:p>
                      <a:pPr>
                        <a:buNone/>
                      </a:pPr>
                      <a:r>
                        <a:rPr sz="1250" b="0">
                          <a:solidFill>
                            <a:srgbClr val="303853"/>
                          </a:solidFill>
                          <a:latin typeface="Calibri"/>
                          <a:ea typeface="Calibri"/>
                          <a:cs typeface="Calibri"/>
                        </a:rPr>
                        <a:t>Mutual satisfaction · ubhay-tripti</a:t>
                      </a:r>
                    </a:p>
                  </a:txBody>
                  <a:tcPr marL="85725" marR="85725" marT="28575" marB="28575" anchor="ctr">
                    <a:solidFill>
                      <a:srgbClr val="F1F3F8"/>
                    </a:solidFill>
                  </a:tcPr>
                </a:tc>
                <a:tc>
                  <a:txBody>
                    <a:bodyPr wrap="square" lIns="85725" tIns="28575" rIns="85725" bIns="28575">
                      <a:noAutofit/>
                    </a:bodyPr>
                    <a:lstStyle/>
                    <a:p>
                      <a:pPr>
                        <a:buNone/>
                      </a:pPr>
                      <a:r>
                        <a:rPr sz="1250" b="0">
                          <a:solidFill>
                            <a:srgbClr val="303853"/>
                          </a:solidFill>
                          <a:latin typeface="Calibri"/>
                          <a:ea typeface="Calibri"/>
                          <a:cs typeface="Calibri"/>
                        </a:rPr>
                        <a:t>The shared joy and harmony experienced naturally by both participants</a:t>
                      </a:r>
                    </a:p>
                  </a:txBody>
                  <a:tcPr marL="85725" marR="85725" marT="28575" marB="28575" anchor="ctr">
                    <a:solidFill>
                      <a:srgbClr val="F1F3F8"/>
                    </a:solidFill>
                  </a:tcPr>
                </a:tc>
              </a:tr>
            </a:tbl>
          </a:graphicData>
        </a:graphic>
      </p:graphicFrame>
    </p:spTree>
    <p:extLst>
      <p:ext uri="{BB962C8B-B14F-4D97-AF65-F5344CB8AC3E}">
        <p14:creationId xmlns:p14="http://schemas.microsoft.com/office/powerpoint/2010/main" val="7558233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B7DDA7D0-9B0E-4623-B9BB-2C1E4ACAEFE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IV · EVALUATIVE ERROR AND FREEDOM · §1.7</a:t>
            </a:r>
          </a:p>
        </p:txBody>
      </p:sp>
      <p:sp>
        <p:nvSpPr>
          <p:cNvPr id="2" name="text-1">
            <a:extLst xmlns:a="http://schemas.openxmlformats.org/drawingml/2006/main">
              <a:ext uri="{FF2B5EF4-FFF2-40B4-BE49-F238E27FC236}">
                <a16:creationId xmlns:a16="http://schemas.microsoft.com/office/drawing/2014/main" id="{7D79FA78-9639-44B2-B113-5DB2DD17A819}"/>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Evaluative Errors and Correction</a:t>
            </a:r>
          </a:p>
        </p:txBody>
      </p:sp>
      <p:sp>
        <p:nvSpPr>
          <p:cNvPr id="3" name="text-2">
            <a:extLst xmlns:a="http://schemas.openxmlformats.org/drawingml/2006/main">
              <a:ext uri="{FF2B5EF4-FFF2-40B4-BE49-F238E27FC236}">
                <a16:creationId xmlns:a16="http://schemas.microsoft.com/office/drawing/2014/main" id="{D632B313-F578-4F43-ACD4-F9DF7CDFB1E5}"/>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E3FF9916-F0F5-4716-9898-1582FA6588E8}"/>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17 / 25</a:t>
            </a:r>
          </a:p>
        </p:txBody>
      </p:sp>
      <p:sp>
        <p:nvSpPr>
          <p:cNvPr id="5" name="text-4">
            <a:extLst xmlns:a="http://schemas.openxmlformats.org/drawingml/2006/main">
              <a:ext uri="{FF2B5EF4-FFF2-40B4-BE49-F238E27FC236}">
                <a16:creationId xmlns:a16="http://schemas.microsoft.com/office/drawing/2014/main" id="{6737FFBA-5C8E-4CFA-99FB-BF48152C199C}"/>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§1.7; MVD pp. 87, 152–153, 203, 306; SB p. 146</a:t>
            </a:r>
          </a:p>
        </p:txBody>
      </p:sp>
      <p:graphicFrame>
        <p:nvGraphicFramePr>
          <p:cNvPr id="19" name=""/>
          <p:cNvGraphicFramePr/>
          <p:nvPr/>
        </p:nvGraphicFramePr>
        <p:xfrm>
          <a:off xmlns:a="http://schemas.openxmlformats.org/drawingml/2006/main" x="960120" y="1285875"/>
          <a:ext xmlns:a="http://schemas.openxmlformats.org/drawingml/2006/main" cx="7620000" cy="2647950"/>
        </p:xfrm>
        <a:graphic xmlns:a="http://schemas.openxmlformats.org/drawingml/2006/main">
          <a:graphicData uri="http://schemas.openxmlformats.org/drawingml/2006/table">
            <a:tbl>
              <a:tblPr/>
              <a:tblGrid>
                <a:gridCol w="2266950"/>
                <a:gridCol w="3352800"/>
                <a:gridCol w="2000250"/>
              </a:tblGrid>
              <a:tr h="400050">
                <a:tc>
                  <a:txBody>
                    <a:bodyPr wrap="square" lIns="85725" tIns="28575" rIns="85725" bIns="28575">
                      <a:noAutofit/>
                    </a:bodyPr>
                    <a:lstStyle/>
                    <a:p>
                      <a:pPr>
                        <a:buNone/>
                      </a:pPr>
                      <a:r>
                        <a:rPr sz="1300" b="1">
                          <a:solidFill>
                            <a:srgbClr val="FFFFFF"/>
                          </a:solidFill>
                          <a:latin typeface="Calibri"/>
                          <a:ea typeface="Calibri"/>
                          <a:cs typeface="Calibri"/>
                        </a:rPr>
                        <a:t>Evaluative state</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Distortion or correction</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Illustration</a:t>
                      </a:r>
                    </a:p>
                  </a:txBody>
                  <a:tcPr marL="85725" marR="85725" marT="28575" marB="28575" anchor="ctr">
                    <a:solidFill>
                      <a:srgbClr val="1E2447"/>
                    </a:solidFill>
                  </a:tcPr>
                </a:tc>
              </a:tr>
              <a:tr h="609600">
                <a:tc>
                  <a:txBody>
                    <a:bodyPr wrap="square" lIns="85725" tIns="28575" rIns="85725" bIns="28575">
                      <a:noAutofit/>
                    </a:bodyPr>
                    <a:lstStyle/>
                    <a:p>
                      <a:pPr>
                        <a:buNone/>
                      </a:pPr>
                      <a:r>
                        <a:rPr sz="1200" b="0">
                          <a:solidFill>
                            <a:srgbClr val="303853"/>
                          </a:solidFill>
                          <a:latin typeface="Calibri"/>
                          <a:ea typeface="Calibri"/>
                          <a:cs typeface="Calibri"/>
                        </a:rPr>
                        <a:t>Over-evaluation · adhimulyan</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Attributing greater value than warranted</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Mistaking iron for gold</a:t>
                      </a:r>
                    </a:p>
                  </a:txBody>
                  <a:tcPr marL="85725" marR="85725" marT="28575" marB="28575" anchor="ctr">
                    <a:solidFill>
                      <a:srgbClr val="FFFFFF"/>
                    </a:solidFill>
                  </a:tcPr>
                </a:tc>
              </a:tr>
              <a:tr h="609600">
                <a:tc>
                  <a:txBody>
                    <a:bodyPr wrap="square" lIns="85725" tIns="28575" rIns="85725" bIns="28575">
                      <a:noAutofit/>
                    </a:bodyPr>
                    <a:lstStyle/>
                    <a:p>
                      <a:pPr>
                        <a:buNone/>
                      </a:pPr>
                      <a:r>
                        <a:rPr sz="1200" b="0">
                          <a:solidFill>
                            <a:srgbClr val="303853"/>
                          </a:solidFill>
                          <a:latin typeface="Calibri"/>
                          <a:ea typeface="Calibri"/>
                          <a:cs typeface="Calibri"/>
                        </a:rPr>
                        <a:t>Under-evaluation · avamulyan</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Attributing lesser value than warranted</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Mistaking gold for iron</a:t>
                      </a:r>
                    </a:p>
                  </a:txBody>
                  <a:tcPr marL="85725" marR="85725" marT="28575" marB="28575" anchor="ctr">
                    <a:solidFill>
                      <a:srgbClr val="F1F3F8"/>
                    </a:solidFill>
                  </a:tcPr>
                </a:tc>
              </a:tr>
              <a:tr h="609600">
                <a:tc>
                  <a:txBody>
                    <a:bodyPr wrap="square" lIns="85725" tIns="28575" rIns="85725" bIns="28575">
                      <a:noAutofit/>
                    </a:bodyPr>
                    <a:lstStyle/>
                    <a:p>
                      <a:pPr>
                        <a:buNone/>
                      </a:pPr>
                      <a:r>
                        <a:rPr sz="1200" b="0">
                          <a:solidFill>
                            <a:srgbClr val="303853"/>
                          </a:solidFill>
                          <a:latin typeface="Calibri"/>
                          <a:ea typeface="Calibri"/>
                          <a:cs typeface="Calibri"/>
                        </a:rPr>
                        <a:t>Mis-evaluation · nirmulyan</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Attributing a different identity</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Mistaking a rope for a snake</a:t>
                      </a:r>
                    </a:p>
                  </a:txBody>
                  <a:tcPr marL="85725" marR="85725" marT="28575" marB="28575" anchor="ctr">
                    <a:solidFill>
                      <a:srgbClr val="FFFFFF"/>
                    </a:solidFill>
                  </a:tcPr>
                </a:tc>
              </a:tr>
              <a:tr h="609600">
                <a:tc>
                  <a:txBody>
                    <a:bodyPr wrap="square" lIns="85725" tIns="28575" rIns="85725" bIns="28575">
                      <a:noAutofit/>
                    </a:bodyPr>
                    <a:lstStyle/>
                    <a:p>
                      <a:pPr>
                        <a:buNone/>
                      </a:pPr>
                      <a:r>
                        <a:rPr sz="1200" b="0">
                          <a:solidFill>
                            <a:srgbClr val="303853"/>
                          </a:solidFill>
                          <a:latin typeface="Calibri"/>
                          <a:ea typeface="Calibri"/>
                          <a:cs typeface="Calibri"/>
                        </a:rPr>
                        <a:t>Freedom · nirakarshan</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Freedom from delusive attachment and distortion</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Humane: partial; divine-human: complete</a:t>
                      </a:r>
                    </a:p>
                  </a:txBody>
                  <a:tcPr marL="85725" marR="85725" marT="28575" marB="28575" anchor="ctr">
                    <a:solidFill>
                      <a:srgbClr val="FFFFFF"/>
                    </a:solidFill>
                  </a:tcPr>
                </a:tc>
              </a:tr>
            </a:tbl>
          </a:graphicData>
        </a:graphic>
      </p:graphicFrame>
    </p:spTree>
    <p:extLst>
      <p:ext uri="{BB962C8B-B14F-4D97-AF65-F5344CB8AC3E}">
        <p14:creationId xmlns:p14="http://schemas.microsoft.com/office/powerpoint/2010/main" val="12987945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6BA8A7F-930B-465A-8CCC-D2F81AC63C7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IV · SITUATIONAL APPLICATION · §1.4</a:t>
            </a:r>
          </a:p>
        </p:txBody>
      </p:sp>
      <p:sp>
        <p:nvSpPr>
          <p:cNvPr id="2" name="text-1">
            <a:extLst xmlns:a="http://schemas.openxmlformats.org/drawingml/2006/main">
              <a:ext uri="{FF2B5EF4-FFF2-40B4-BE49-F238E27FC236}">
                <a16:creationId xmlns:a16="http://schemas.microsoft.com/office/drawing/2014/main" id="{97FDD099-77C4-4466-AC0C-4DF8B8D9797C}"/>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Invariant Values, Adaptable Practice</a:t>
            </a:r>
          </a:p>
        </p:txBody>
      </p:sp>
      <p:sp>
        <p:nvSpPr>
          <p:cNvPr id="3" name="text-2">
            <a:extLst xmlns:a="http://schemas.openxmlformats.org/drawingml/2006/main">
              <a:ext uri="{FF2B5EF4-FFF2-40B4-BE49-F238E27FC236}">
                <a16:creationId xmlns:a16="http://schemas.microsoft.com/office/drawing/2014/main" id="{40FBA9EA-0D96-4F11-B211-85CDAF1FF320}"/>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8F105510-32BD-4060-B55E-332B0C0DA068}"/>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18 / 25</a:t>
            </a:r>
          </a:p>
        </p:txBody>
      </p:sp>
      <p:sp>
        <p:nvSpPr>
          <p:cNvPr id="5" name="text-4">
            <a:extLst xmlns:a="http://schemas.openxmlformats.org/drawingml/2006/main">
              <a:ext uri="{FF2B5EF4-FFF2-40B4-BE49-F238E27FC236}">
                <a16:creationId xmlns:a16="http://schemas.microsoft.com/office/drawing/2014/main" id="{9C8AEAE4-B962-418A-955F-578612CC8BB5}"/>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§1.4; values remain invariant; material delivery adapts to context and technology</a:t>
            </a:r>
          </a:p>
        </p:txBody>
      </p:sp>
      <p:sp>
        <p:nvSpPr>
          <p:cNvPr id="13" name="topic-0">
            <a:extLst xmlns:a="http://schemas.openxmlformats.org/drawingml/2006/main">
              <a:ext uri="{FF2B5EF4-FFF2-40B4-BE49-F238E27FC236}">
                <a16:creationId xmlns:a16="http://schemas.microsoft.com/office/drawing/2014/main" id="{32EC874F-7DEB-42B9-9E1A-A0AC19E95886}"/>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Invariant established values</a:t>
            </a:r>
          </a:p>
        </p:txBody>
      </p:sp>
      <p:sp>
        <p:nvSpPr>
          <p:cNvPr id="14" name="detail-0">
            <a:extLst xmlns:a="http://schemas.openxmlformats.org/drawingml/2006/main">
              <a:ext uri="{FF2B5EF4-FFF2-40B4-BE49-F238E27FC236}">
                <a16:creationId xmlns:a16="http://schemas.microsoft.com/office/drawing/2014/main" id="{12CCC0AC-AB28-493E-A9FF-E87BB66D8172}"/>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Trust, respect, care and guidance have definite content across time and place. Their recognition and fulfilment depend on understanding and participation.</a:t>
            </a:r>
          </a:p>
        </p:txBody>
      </p:sp>
      <p:sp>
        <p:nvSpPr>
          <p:cNvPr id="15" name="topic-1">
            <a:extLst xmlns:a="http://schemas.openxmlformats.org/drawingml/2006/main">
              <a:ext uri="{FF2B5EF4-FFF2-40B4-BE49-F238E27FC236}">
                <a16:creationId xmlns:a16="http://schemas.microsoft.com/office/drawing/2014/main" id="{B025372B-4FCD-48B6-8D9F-57451BADD359}"/>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Adaptable circumstantial means</a:t>
            </a:r>
          </a:p>
        </p:txBody>
      </p:sp>
      <p:sp>
        <p:nvSpPr>
          <p:cNvPr id="16" name="detail-1">
            <a:extLst xmlns:a="http://schemas.openxmlformats.org/drawingml/2006/main">
              <a:ext uri="{FF2B5EF4-FFF2-40B4-BE49-F238E27FC236}">
                <a16:creationId xmlns:a16="http://schemas.microsoft.com/office/drawing/2014/main" id="{DF7D9105-A1BF-4708-8455-5B43ECDE0C5F}"/>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Physical methods of delivering care (dietary preparation, shelter, digital education) flex with environmental and technological resources.</a:t>
            </a:r>
          </a:p>
        </p:txBody>
      </p:sp>
      <p:sp>
        <p:nvSpPr>
          <p:cNvPr id="17" name="topic-2">
            <a:extLst xmlns:a="http://schemas.openxmlformats.org/drawingml/2006/main">
              <a:ext uri="{FF2B5EF4-FFF2-40B4-BE49-F238E27FC236}">
                <a16:creationId xmlns:a16="http://schemas.microsoft.com/office/drawing/2014/main" id="{B0191EE8-5B7E-463E-A623-9F5712D43869}"/>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Harmonious living</a:t>
            </a:r>
          </a:p>
        </p:txBody>
      </p:sp>
      <p:sp>
        <p:nvSpPr>
          <p:cNvPr id="18" name="detail-2">
            <a:extLst xmlns:a="http://schemas.openxmlformats.org/drawingml/2006/main">
              <a:ext uri="{FF2B5EF4-FFF2-40B4-BE49-F238E27FC236}">
                <a16:creationId xmlns:a16="http://schemas.microsoft.com/office/drawing/2014/main" id="{8380CEBF-6D9E-4F91-962A-F494BD9D7579}"/>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Understood responsibilities guide the choice of means. Evaluation asks whether the contribution fits the recipient’s needs, abilities and circumstances.</a:t>
            </a:r>
          </a:p>
        </p:txBody>
      </p:sp>
    </p:spTree>
    <p:extLst>
      <p:ext uri="{BB962C8B-B14F-4D97-AF65-F5344CB8AC3E}">
        <p14:creationId xmlns:p14="http://schemas.microsoft.com/office/powerpoint/2010/main" val="18672628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73847E5-D33A-4B9A-838A-537DE0BA5334}"/>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IV · WORK AND PRODUCTION · §1.5</a:t>
            </a:r>
          </a:p>
        </p:txBody>
      </p:sp>
      <p:sp>
        <p:nvSpPr>
          <p:cNvPr id="2" name="text-1">
            <a:extLst xmlns:a="http://schemas.openxmlformats.org/drawingml/2006/main">
              <a:ext uri="{FF2B5EF4-FFF2-40B4-BE49-F238E27FC236}">
                <a16:creationId xmlns:a16="http://schemas.microsoft.com/office/drawing/2014/main" id="{A0C3BBA7-F01E-45EB-AA49-2123F91AB8FF}"/>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Value of Things: Utility and Aesthetics</a:t>
            </a:r>
          </a:p>
        </p:txBody>
      </p:sp>
      <p:sp>
        <p:nvSpPr>
          <p:cNvPr id="3" name="text-2">
            <a:extLst xmlns:a="http://schemas.openxmlformats.org/drawingml/2006/main">
              <a:ext uri="{FF2B5EF4-FFF2-40B4-BE49-F238E27FC236}">
                <a16:creationId xmlns:a16="http://schemas.microsoft.com/office/drawing/2014/main" id="{1E72A59D-05F1-48D8-A594-EEEAC5BE132E}"/>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AB832611-F02E-47A9-87BA-0FE472F6B5A2}"/>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19 / 25</a:t>
            </a:r>
          </a:p>
        </p:txBody>
      </p:sp>
      <p:sp>
        <p:nvSpPr>
          <p:cNvPr id="5" name="text-4">
            <a:extLst xmlns:a="http://schemas.openxmlformats.org/drawingml/2006/main">
              <a:ext uri="{FF2B5EF4-FFF2-40B4-BE49-F238E27FC236}">
                <a16:creationId xmlns:a16="http://schemas.microsoft.com/office/drawing/2014/main" id="{B17D7672-B70F-40A4-8295-7E789C29237D}"/>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§1.5; JV pp. 123, 137–138; MVD pp. 56–57; MAD reader p. 51</a:t>
            </a:r>
          </a:p>
        </p:txBody>
      </p:sp>
      <p:sp>
        <p:nvSpPr>
          <p:cNvPr id="11" name="topic-0">
            <a:extLst xmlns:a="http://schemas.openxmlformats.org/drawingml/2006/main">
              <a:ext uri="{FF2B5EF4-FFF2-40B4-BE49-F238E27FC236}">
                <a16:creationId xmlns:a16="http://schemas.microsoft.com/office/drawing/2014/main" id="{375D6E29-A149-4DB1-8F96-4D04A8062C51}"/>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Usefulness value (upyogita mulya)</a:t>
            </a:r>
          </a:p>
        </p:txBody>
      </p:sp>
      <p:sp>
        <p:nvSpPr>
          <p:cNvPr id="12" name="detail-0">
            <a:extLst xmlns:a="http://schemas.openxmlformats.org/drawingml/2006/main">
              <a:ext uri="{FF2B5EF4-FFF2-40B4-BE49-F238E27FC236}">
                <a16:creationId xmlns:a16="http://schemas.microsoft.com/office/drawing/2014/main" id="{E504A46A-CC73-459D-AD71-BD18E60C0845}"/>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What a thing can fulfil in nourishment, protection and participation is definite. Material condition and the circumstances of fulfilment can change.</a:t>
            </a:r>
          </a:p>
        </p:txBody>
      </p:sp>
      <p:sp>
        <p:nvSpPr>
          <p:cNvPr id="13" name="topic-1">
            <a:extLst xmlns:a="http://schemas.openxmlformats.org/drawingml/2006/main">
              <a:ext uri="{FF2B5EF4-FFF2-40B4-BE49-F238E27FC236}">
                <a16:creationId xmlns:a16="http://schemas.microsoft.com/office/drawing/2014/main" id="{A45B77D1-A4AF-43AD-BB88-DCE126DA07A1}"/>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Aesthetic value (kala mulya)</a:t>
            </a:r>
          </a:p>
        </p:txBody>
      </p:sp>
      <p:sp>
        <p:nvSpPr>
          <p:cNvPr id="14" name="detail-1">
            <a:extLst xmlns:a="http://schemas.openxmlformats.org/drawingml/2006/main">
              <a:ext uri="{FF2B5EF4-FFF2-40B4-BE49-F238E27FC236}">
                <a16:creationId xmlns:a16="http://schemas.microsoft.com/office/drawing/2014/main" id="{B334F358-368E-4A26-ACC1-E95ADCEA6412}"/>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Work refines useful things by adding convenience to usefulness: form and design make their use more serviceable.</a:t>
            </a:r>
          </a:p>
        </p:txBody>
      </p:sp>
      <p:sp>
        <p:nvSpPr>
          <p:cNvPr id="15" name="topic-2">
            <a:extLst xmlns:a="http://schemas.openxmlformats.org/drawingml/2006/main">
              <a:ext uri="{FF2B5EF4-FFF2-40B4-BE49-F238E27FC236}">
                <a16:creationId xmlns:a16="http://schemas.microsoft.com/office/drawing/2014/main" id="{F62711D5-1604-4784-8210-47A7DE73DE4A}"/>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Right-use and purpose</a:t>
            </a:r>
          </a:p>
        </p:txBody>
      </p:sp>
      <p:sp>
        <p:nvSpPr>
          <p:cNvPr id="16" name="detail-2">
            <a:extLst xmlns:a="http://schemas.openxmlformats.org/drawingml/2006/main">
              <a:ext uri="{FF2B5EF4-FFF2-40B4-BE49-F238E27FC236}">
                <a16:creationId xmlns:a16="http://schemas.microsoft.com/office/drawing/2014/main" id="{D7FF03BF-38A3-4CF0-96FF-3EA41190F481}"/>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Sadupyog directs body, mind and wealth through family orderliness. Prayojansheelta extends their purpose towards undivided society and universal order.</a:t>
            </a:r>
          </a:p>
        </p:txBody>
      </p:sp>
    </p:spTree>
    <p:extLst>
      <p:ext uri="{BB962C8B-B14F-4D97-AF65-F5344CB8AC3E}">
        <p14:creationId xmlns:p14="http://schemas.microsoft.com/office/powerpoint/2010/main" val="10479654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881AD5A-506F-476E-958B-D38CA84A554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IV · ECONOMIC HARMONY · §1.5</a:t>
            </a:r>
          </a:p>
        </p:txBody>
      </p:sp>
      <p:sp>
        <p:nvSpPr>
          <p:cNvPr id="2" name="text-1">
            <a:extLst xmlns:a="http://schemas.openxmlformats.org/drawingml/2006/main">
              <a:ext uri="{FF2B5EF4-FFF2-40B4-BE49-F238E27FC236}">
                <a16:creationId xmlns:a16="http://schemas.microsoft.com/office/drawing/2014/main" id="{127E6BF2-AA35-4153-AFA7-F6951631A611}"/>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Labour, Prosperity and Symbolic Value</a:t>
            </a:r>
          </a:p>
        </p:txBody>
      </p:sp>
      <p:sp>
        <p:nvSpPr>
          <p:cNvPr id="3" name="text-2">
            <a:extLst xmlns:a="http://schemas.openxmlformats.org/drawingml/2006/main">
              <a:ext uri="{FF2B5EF4-FFF2-40B4-BE49-F238E27FC236}">
                <a16:creationId xmlns:a16="http://schemas.microsoft.com/office/drawing/2014/main" id="{0113072F-AC96-4366-BA69-59A27EB9CB4E}"/>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3D57DB9D-D476-4435-8796-789EBAA29157}"/>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20 / 25</a:t>
            </a:r>
          </a:p>
        </p:txBody>
      </p:sp>
      <p:sp>
        <p:nvSpPr>
          <p:cNvPr id="5" name="text-4">
            <a:extLst xmlns:a="http://schemas.openxmlformats.org/drawingml/2006/main">
              <a:ext uri="{FF2B5EF4-FFF2-40B4-BE49-F238E27FC236}">
                <a16:creationId xmlns:a16="http://schemas.microsoft.com/office/drawing/2014/main" id="{BDECC059-7962-4D2D-964F-517862622384}"/>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§1.5; MVD pp. 56, 183, 260, 268, 331; SB pp. 200–201, 211–212</a:t>
            </a:r>
          </a:p>
        </p:txBody>
      </p:sp>
      <p:sp>
        <p:nvSpPr>
          <p:cNvPr id="10" name="topic-0">
            <a:extLst xmlns:a="http://schemas.openxmlformats.org/drawingml/2006/main">
              <a:ext uri="{FF2B5EF4-FFF2-40B4-BE49-F238E27FC236}">
                <a16:creationId xmlns:a16="http://schemas.microsoft.com/office/drawing/2014/main" id="{D5A8B035-4078-42AC-BC65-84018C4BC498}"/>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Labour and production</a:t>
            </a:r>
          </a:p>
        </p:txBody>
      </p:sp>
      <p:sp>
        <p:nvSpPr>
          <p:cNvPr id="11" name="detail-0">
            <a:extLst xmlns:a="http://schemas.openxmlformats.org/drawingml/2006/main">
              <a:ext uri="{FF2B5EF4-FFF2-40B4-BE49-F238E27FC236}">
                <a16:creationId xmlns:a16="http://schemas.microsoft.com/office/drawing/2014/main" id="{C0184F3A-02BD-46DC-82EF-7989D11F0BF9}"/>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Labour establishes useful and aesthetic value. Production generalises successful application through organised labour, with regeneration of natural sources.</a:t>
            </a:r>
          </a:p>
        </p:txBody>
      </p:sp>
      <p:sp>
        <p:nvSpPr>
          <p:cNvPr id="12" name="topic-1">
            <a:extLst xmlns:a="http://schemas.openxmlformats.org/drawingml/2006/main">
              <a:ext uri="{FF2B5EF4-FFF2-40B4-BE49-F238E27FC236}">
                <a16:creationId xmlns:a16="http://schemas.microsoft.com/office/drawing/2014/main" id="{3C1A6B9A-6D2B-40A9-ADD4-DDC985F66679}"/>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Prosperity (samriddhi)</a:t>
            </a:r>
          </a:p>
        </p:txBody>
      </p:sp>
      <p:sp>
        <p:nvSpPr>
          <p:cNvPr id="13" name="detail-1">
            <a:extLst xmlns:a="http://schemas.openxmlformats.org/drawingml/2006/main">
              <a:ext uri="{FF2B5EF4-FFF2-40B4-BE49-F238E27FC236}">
                <a16:creationId xmlns:a16="http://schemas.microsoft.com/office/drawing/2014/main" id="{BEF6F0BF-8158-4859-A0EE-58F56E3B90AC}"/>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Assess needs, produce beyond them and recognise the resulting availability. Family provision supports right-use and wider participation.</a:t>
            </a:r>
          </a:p>
        </p:txBody>
      </p:sp>
      <p:sp>
        <p:nvSpPr>
          <p:cNvPr id="14" name="topic-2">
            <a:extLst xmlns:a="http://schemas.openxmlformats.org/drawingml/2006/main">
              <a:ext uri="{FF2B5EF4-FFF2-40B4-BE49-F238E27FC236}">
                <a16:creationId xmlns:a16="http://schemas.microsoft.com/office/drawing/2014/main" id="{EB9B7AA3-1034-4752-8F8D-90E0B38F811C}"/>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Symbolic value (prateek mulya)</a:t>
            </a:r>
          </a:p>
        </p:txBody>
      </p:sp>
      <p:sp>
        <p:nvSpPr>
          <p:cNvPr id="15" name="detail-2">
            <a:extLst xmlns:a="http://schemas.openxmlformats.org/drawingml/2006/main">
              <a:ext uri="{FF2B5EF4-FFF2-40B4-BE49-F238E27FC236}">
                <a16:creationId xmlns:a16="http://schemas.microsoft.com/office/drawing/2014/main" id="{FB01DCD1-1001-4934-860D-E329E49F36D0}"/>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Money represents value in exchange. Higher prices and accumulation can leave actual needs unfulfilled; prosperity concerns available useful provision.</a:t>
            </a:r>
          </a:p>
        </p:txBody>
      </p:sp>
    </p:spTree>
    <p:extLst>
      <p:ext uri="{BB962C8B-B14F-4D97-AF65-F5344CB8AC3E}">
        <p14:creationId xmlns:p14="http://schemas.microsoft.com/office/powerpoint/2010/main" val="12436176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9AC5F9F-5B9D-42DB-8C76-E80B37A3B161}"/>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V · ORDERING OF PURSUITS · §1.6</a:t>
            </a:r>
          </a:p>
        </p:txBody>
      </p:sp>
      <p:sp>
        <p:nvSpPr>
          <p:cNvPr id="2" name="text-1">
            <a:extLst xmlns:a="http://schemas.openxmlformats.org/drawingml/2006/main">
              <a:ext uri="{FF2B5EF4-FFF2-40B4-BE49-F238E27FC236}">
                <a16:creationId xmlns:a16="http://schemas.microsoft.com/office/drawing/2014/main" id="{2D38E6E9-BDE7-493F-A35A-72B7DBB0B5E3}"/>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Dedication and the Ordering of Values</a:t>
            </a:r>
          </a:p>
        </p:txBody>
      </p:sp>
      <p:sp>
        <p:nvSpPr>
          <p:cNvPr id="3" name="text-2">
            <a:extLst xmlns:a="http://schemas.openxmlformats.org/drawingml/2006/main">
              <a:ext uri="{FF2B5EF4-FFF2-40B4-BE49-F238E27FC236}">
                <a16:creationId xmlns:a16="http://schemas.microsoft.com/office/drawing/2014/main" id="{ACF5A092-6B87-4AD1-A86B-EB07CE04D72D}"/>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DD2C05A6-BD27-4535-A44E-0FA0CB886E4D}"/>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21 / 25</a:t>
            </a:r>
          </a:p>
        </p:txBody>
      </p:sp>
      <p:sp>
        <p:nvSpPr>
          <p:cNvPr id="5" name="text-4">
            <a:extLst xmlns:a="http://schemas.openxmlformats.org/drawingml/2006/main">
              <a:ext uri="{FF2B5EF4-FFF2-40B4-BE49-F238E27FC236}">
                <a16:creationId xmlns:a16="http://schemas.microsoft.com/office/drawing/2014/main" id="{2743C503-A2F9-4D1B-A36F-4A5EBACD6EA4}"/>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§1.6; MAD reader p. 34; MVD pp. 43, 56–58, 110, 126</a:t>
            </a:r>
          </a:p>
        </p:txBody>
      </p:sp>
      <p:graphicFrame>
        <p:nvGraphicFramePr>
          <p:cNvPr id="14" name=""/>
          <p:cNvGraphicFramePr/>
          <p:nvPr/>
        </p:nvGraphicFramePr>
        <p:xfrm>
          <a:off xmlns:a="http://schemas.openxmlformats.org/drawingml/2006/main" x="960120" y="1285875"/>
          <a:ext xmlns:a="http://schemas.openxmlformats.org/drawingml/2006/main" cx="7620000" cy="3048000"/>
        </p:xfrm>
        <a:graphic xmlns:a="http://schemas.openxmlformats.org/drawingml/2006/main">
          <a:graphicData uri="http://schemas.openxmlformats.org/drawingml/2006/table">
            <a:tbl>
              <a:tblPr/>
              <a:tblGrid>
                <a:gridCol w="1524000"/>
                <a:gridCol w="2381250"/>
                <a:gridCol w="3714750"/>
              </a:tblGrid>
              <a:tr h="400050">
                <a:tc>
                  <a:txBody>
                    <a:bodyPr wrap="square" lIns="85725" tIns="28575" rIns="85725" bIns="28575">
                      <a:noAutofit/>
                    </a:bodyPr>
                    <a:lstStyle/>
                    <a:p>
                      <a:pPr>
                        <a:buNone/>
                      </a:pPr>
                      <a:r>
                        <a:rPr sz="1300" b="1">
                          <a:solidFill>
                            <a:srgbClr val="FFFFFF"/>
                          </a:solidFill>
                          <a:latin typeface="Calibri"/>
                          <a:ea typeface="Calibri"/>
                          <a:cs typeface="Calibri"/>
                        </a:rPr>
                        <a:t>Supporting value</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Dedicated to serve · samarpan</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Connection in fulfilment</a:t>
                      </a:r>
                    </a:p>
                  </a:txBody>
                  <a:tcPr marL="85725" marR="85725" marT="28575" marB="28575" anchor="ctr">
                    <a:solidFill>
                      <a:srgbClr val="1E2447"/>
                    </a:solidFill>
                  </a:tcPr>
                </a:tc>
              </a:tr>
              <a:tr h="476250">
                <a:tc>
                  <a:txBody>
                    <a:bodyPr wrap="square" lIns="85725" tIns="28575" rIns="85725" bIns="28575">
                      <a:noAutofit/>
                    </a:bodyPr>
                    <a:lstStyle/>
                    <a:p>
                      <a:pPr>
                        <a:buNone/>
                      </a:pPr>
                      <a:r>
                        <a:rPr sz="1200" b="0">
                          <a:solidFill>
                            <a:srgbClr val="303853"/>
                          </a:solidFill>
                          <a:latin typeface="Calibri"/>
                          <a:ea typeface="Calibri"/>
                          <a:cs typeface="Calibri"/>
                        </a:rPr>
                        <a:t>Usefulness</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Need · avashyakta mulya</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Provision meets an understood need</a:t>
                      </a:r>
                    </a:p>
                  </a:txBody>
                  <a:tcPr marL="85725" marR="85725" marT="28575" marB="28575" anchor="ctr">
                    <a:solidFill>
                      <a:srgbClr val="FFFFFF"/>
                    </a:solidFill>
                  </a:tcPr>
                </a:tc>
              </a:tr>
              <a:tr h="476250">
                <a:tc>
                  <a:txBody>
                    <a:bodyPr wrap="square" lIns="85725" tIns="28575" rIns="85725" bIns="28575">
                      <a:noAutofit/>
                    </a:bodyPr>
                    <a:lstStyle/>
                    <a:p>
                      <a:pPr>
                        <a:buNone/>
                      </a:pPr>
                      <a:r>
                        <a:rPr sz="1200" b="0">
                          <a:solidFill>
                            <a:srgbClr val="303853"/>
                          </a:solidFill>
                          <a:latin typeface="Calibri"/>
                          <a:ea typeface="Calibri"/>
                          <a:cs typeface="Calibri"/>
                        </a:rPr>
                        <a:t>Need</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Expressed value · shishta mulya</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Means support a contribution in conduct</a:t>
                      </a:r>
                    </a:p>
                  </a:txBody>
                  <a:tcPr marL="85725" marR="85725" marT="28575" marB="28575" anchor="ctr">
                    <a:solidFill>
                      <a:srgbClr val="F1F3F8"/>
                    </a:solidFill>
                  </a:tcPr>
                </a:tc>
              </a:tr>
              <a:tr h="476250">
                <a:tc>
                  <a:txBody>
                    <a:bodyPr wrap="square" lIns="85725" tIns="28575" rIns="85725" bIns="28575">
                      <a:noAutofit/>
                    </a:bodyPr>
                    <a:lstStyle/>
                    <a:p>
                      <a:pPr>
                        <a:buNone/>
                      </a:pPr>
                      <a:r>
                        <a:rPr sz="1200" b="0">
                          <a:solidFill>
                            <a:srgbClr val="303853"/>
                          </a:solidFill>
                          <a:latin typeface="Calibri"/>
                          <a:ea typeface="Calibri"/>
                          <a:cs typeface="Calibri"/>
                        </a:rPr>
                        <a:t>Expressed value</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Established value · sthapit mulya</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Conduct expresses the relationship value</a:t>
                      </a:r>
                    </a:p>
                  </a:txBody>
                  <a:tcPr marL="85725" marR="85725" marT="28575" marB="28575" anchor="ctr">
                    <a:solidFill>
                      <a:srgbClr val="FFFFFF"/>
                    </a:solidFill>
                  </a:tcPr>
                </a:tc>
              </a:tr>
              <a:tr h="476250">
                <a:tc>
                  <a:txBody>
                    <a:bodyPr wrap="square" lIns="85725" tIns="28575" rIns="85725" bIns="28575">
                      <a:noAutofit/>
                    </a:bodyPr>
                    <a:lstStyle/>
                    <a:p>
                      <a:pPr>
                        <a:buNone/>
                      </a:pPr>
                      <a:r>
                        <a:rPr sz="1200" b="0">
                          <a:solidFill>
                            <a:srgbClr val="303853"/>
                          </a:solidFill>
                          <a:latin typeface="Calibri"/>
                          <a:ea typeface="Calibri"/>
                          <a:cs typeface="Calibri"/>
                        </a:rPr>
                        <a:t>Established value</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Human value · manav mulya</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Relationships express humane character</a:t>
                      </a:r>
                    </a:p>
                  </a:txBody>
                  <a:tcPr marL="85725" marR="85725" marT="28575" marB="28575" anchor="ctr">
                    <a:solidFill>
                      <a:srgbClr val="F1F3F8"/>
                    </a:solidFill>
                  </a:tcPr>
                </a:tc>
              </a:tr>
              <a:tr h="476250">
                <a:tc>
                  <a:txBody>
                    <a:bodyPr wrap="square" lIns="85725" tIns="28575" rIns="85725" bIns="28575">
                      <a:noAutofit/>
                    </a:bodyPr>
                    <a:lstStyle/>
                    <a:p>
                      <a:pPr>
                        <a:buNone/>
                      </a:pPr>
                      <a:r>
                        <a:rPr sz="1200" b="0">
                          <a:solidFill>
                            <a:srgbClr val="303853"/>
                          </a:solidFill>
                          <a:latin typeface="Calibri"/>
                          <a:ea typeface="Calibri"/>
                          <a:cs typeface="Calibri"/>
                        </a:rPr>
                        <a:t>Human value</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Jeevan value</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Humane participation fulfils inward harmony</a:t>
                      </a:r>
                    </a:p>
                  </a:txBody>
                  <a:tcPr marL="85725" marR="85725" marT="28575" marB="28575" anchor="ctr">
                    <a:solidFill>
                      <a:srgbClr val="FFFFFF"/>
                    </a:solidFill>
                  </a:tcPr>
                </a:tc>
              </a:tr>
            </a:tbl>
          </a:graphicData>
        </a:graphic>
      </p:graphicFrame>
    </p:spTree>
    <p:extLst>
      <p:ext uri="{BB962C8B-B14F-4D97-AF65-F5344CB8AC3E}">
        <p14:creationId xmlns:p14="http://schemas.microsoft.com/office/powerpoint/2010/main" val="20237828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89A87F38-28E2-440A-8399-AFB76C869D9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V · INTERGENERATIONAL CONTINUITY · §1.8</a:t>
            </a:r>
          </a:p>
        </p:txBody>
      </p:sp>
      <p:sp>
        <p:nvSpPr>
          <p:cNvPr id="2" name="text-1">
            <a:extLst xmlns:a="http://schemas.openxmlformats.org/drawingml/2006/main">
              <a:ext uri="{FF2B5EF4-FFF2-40B4-BE49-F238E27FC236}">
                <a16:creationId xmlns:a16="http://schemas.microsoft.com/office/drawing/2014/main" id="{82A58EEB-4944-4684-B6C2-585A5EE9EBCF}"/>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Transmission: Sanskar and Refinement</a:t>
            </a:r>
          </a:p>
        </p:txBody>
      </p:sp>
      <p:sp>
        <p:nvSpPr>
          <p:cNvPr id="3" name="text-2">
            <a:extLst xmlns:a="http://schemas.openxmlformats.org/drawingml/2006/main">
              <a:ext uri="{FF2B5EF4-FFF2-40B4-BE49-F238E27FC236}">
                <a16:creationId xmlns:a16="http://schemas.microsoft.com/office/drawing/2014/main" id="{54A84BAA-8675-4B21-9CDA-4E2C13F906FB}"/>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8FEC5152-85FD-451E-BCFC-973DD56DC783}"/>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22 / 25</a:t>
            </a:r>
          </a:p>
        </p:txBody>
      </p:sp>
      <p:sp>
        <p:nvSpPr>
          <p:cNvPr id="5" name="text-4">
            <a:extLst xmlns:a="http://schemas.openxmlformats.org/drawingml/2006/main">
              <a:ext uri="{FF2B5EF4-FFF2-40B4-BE49-F238E27FC236}">
                <a16:creationId xmlns:a16="http://schemas.microsoft.com/office/drawing/2014/main" id="{33A09012-8745-406F-834B-B4B3EF861C4F}"/>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§1.8; MVD pp. 90, 94, 99–100; MAD reader p. 45</a:t>
            </a:r>
          </a:p>
        </p:txBody>
      </p:sp>
      <p:sp>
        <p:nvSpPr>
          <p:cNvPr id="15" name="topic-0">
            <a:extLst xmlns:a="http://schemas.openxmlformats.org/drawingml/2006/main">
              <a:ext uri="{FF2B5EF4-FFF2-40B4-BE49-F238E27FC236}">
                <a16:creationId xmlns:a16="http://schemas.microsoft.com/office/drawing/2014/main" id="{73627717-D694-45BE-AC13-6574AA80699F}"/>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Formation (sanskar)</a:t>
            </a:r>
          </a:p>
        </p:txBody>
      </p:sp>
      <p:sp>
        <p:nvSpPr>
          <p:cNvPr id="16" name="detail-0">
            <a:extLst xmlns:a="http://schemas.openxmlformats.org/drawingml/2006/main">
              <a:ext uri="{FF2B5EF4-FFF2-40B4-BE49-F238E27FC236}">
                <a16:creationId xmlns:a16="http://schemas.microsoft.com/office/drawing/2014/main" id="{87A352C1-0E67-4C84-93BF-35707FF88155}"/>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Acceptances and tendencies form through doing, causing to do and consenting. Their direction can support awakening or sustain delusion.</a:t>
            </a:r>
          </a:p>
        </p:txBody>
      </p:sp>
      <p:sp>
        <p:nvSpPr>
          <p:cNvPr id="17" name="topic-1">
            <a:extLst xmlns:a="http://schemas.openxmlformats.org/drawingml/2006/main">
              <a:ext uri="{FF2B5EF4-FFF2-40B4-BE49-F238E27FC236}">
                <a16:creationId xmlns:a16="http://schemas.microsoft.com/office/drawing/2014/main" id="{ED231CFE-0FEB-44D0-8C2A-75C08DA7A3F2}"/>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Reception (aapyayan)</a:t>
            </a:r>
          </a:p>
        </p:txBody>
      </p:sp>
      <p:sp>
        <p:nvSpPr>
          <p:cNvPr id="18" name="detail-1">
            <a:extLst xmlns:a="http://schemas.openxmlformats.org/drawingml/2006/main">
              <a:ext uri="{FF2B5EF4-FFF2-40B4-BE49-F238E27FC236}">
                <a16:creationId xmlns:a16="http://schemas.microsoft.com/office/drawing/2014/main" id="{8438DD7C-FFAE-4577-AD01-E4AC372B6D60}"/>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The learner receives and assimilates value-conduct. Living examples and meaningful participation give understanding a concrete subject for inquiry.</a:t>
            </a:r>
          </a:p>
        </p:txBody>
      </p:sp>
      <p:sp>
        <p:nvSpPr>
          <p:cNvPr id="19" name="topic-2">
            <a:extLst xmlns:a="http://schemas.openxmlformats.org/drawingml/2006/main">
              <a:ext uri="{FF2B5EF4-FFF2-40B4-BE49-F238E27FC236}">
                <a16:creationId xmlns:a16="http://schemas.microsoft.com/office/drawing/2014/main" id="{88AD70A6-5245-4E27-B47C-D1A0D95B7251}"/>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Refinement (parimarjan)</a:t>
            </a:r>
          </a:p>
        </p:txBody>
      </p:sp>
      <p:sp>
        <p:nvSpPr>
          <p:cNvPr id="20" name="detail-2">
            <a:extLst xmlns:a="http://schemas.openxmlformats.org/drawingml/2006/main">
              <a:ext uri="{FF2B5EF4-FFF2-40B4-BE49-F238E27FC236}">
                <a16:creationId xmlns:a16="http://schemas.microsoft.com/office/drawing/2014/main" id="{4C53548F-1600-4EA1-A22D-2DAD919792FF}"/>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Reflection develops independently understood purpose. Hopes, thoughts, desires and resolves become adequate for continuing humane conduct.</a:t>
            </a:r>
          </a:p>
        </p:txBody>
      </p:sp>
    </p:spTree>
    <p:extLst>
      <p:ext uri="{BB962C8B-B14F-4D97-AF65-F5344CB8AC3E}">
        <p14:creationId xmlns:p14="http://schemas.microsoft.com/office/powerpoint/2010/main" val="155600860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C14BA65-6874-41ED-92B4-0331626800B8}"/>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V · INSTITUTIONAL FULFILMENT · §1.8</a:t>
            </a:r>
          </a:p>
        </p:txBody>
      </p:sp>
      <p:sp>
        <p:nvSpPr>
          <p:cNvPr id="2" name="text-1">
            <a:extLst xmlns:a="http://schemas.openxmlformats.org/drawingml/2006/main">
              <a:ext uri="{FF2B5EF4-FFF2-40B4-BE49-F238E27FC236}">
                <a16:creationId xmlns:a16="http://schemas.microsoft.com/office/drawing/2014/main" id="{D5313E4B-0243-4C58-8A6B-097EEFE967F2}"/>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Universal Order: Five Societal Systems</a:t>
            </a:r>
          </a:p>
        </p:txBody>
      </p:sp>
      <p:sp>
        <p:nvSpPr>
          <p:cNvPr id="3" name="text-2">
            <a:extLst xmlns:a="http://schemas.openxmlformats.org/drawingml/2006/main">
              <a:ext uri="{FF2B5EF4-FFF2-40B4-BE49-F238E27FC236}">
                <a16:creationId xmlns:a16="http://schemas.microsoft.com/office/drawing/2014/main" id="{78CB73A2-0588-4D70-85DB-D608CBA0959F}"/>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3BDABC35-B2A9-4B64-A2D0-10509168C562}"/>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23 / 25</a:t>
            </a:r>
          </a:p>
        </p:txBody>
      </p:sp>
      <p:sp>
        <p:nvSpPr>
          <p:cNvPr id="5" name="text-4">
            <a:extLst xmlns:a="http://schemas.openxmlformats.org/drawingml/2006/main">
              <a:ext uri="{FF2B5EF4-FFF2-40B4-BE49-F238E27FC236}">
                <a16:creationId xmlns:a16="http://schemas.microsoft.com/office/drawing/2014/main" id="{F17F5224-D115-4079-9BCB-921A4EDC031A}"/>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§1.8; universal orderliness manifests across five societal dimensions</a:t>
            </a:r>
          </a:p>
        </p:txBody>
      </p:sp>
      <p:graphicFrame>
        <p:nvGraphicFramePr>
          <p:cNvPr id="14" name=""/>
          <p:cNvGraphicFramePr/>
          <p:nvPr/>
        </p:nvGraphicFramePr>
        <p:xfrm>
          <a:off xmlns:a="http://schemas.openxmlformats.org/drawingml/2006/main" x="960120" y="1285875"/>
          <a:ext xmlns:a="http://schemas.openxmlformats.org/drawingml/2006/main" cx="7620000" cy="3048000"/>
        </p:xfrm>
        <a:graphic xmlns:a="http://schemas.openxmlformats.org/drawingml/2006/main">
          <a:graphicData uri="http://schemas.openxmlformats.org/drawingml/2006/table">
            <a:tbl>
              <a:tblPr/>
              <a:tblGrid>
                <a:gridCol w="1857375"/>
                <a:gridCol w="2238375"/>
                <a:gridCol w="3524250"/>
              </a:tblGrid>
              <a:tr h="400050">
                <a:tc>
                  <a:txBody>
                    <a:bodyPr wrap="square" lIns="85725" tIns="28575" rIns="85725" bIns="28575">
                      <a:noAutofit/>
                    </a:bodyPr>
                    <a:lstStyle/>
                    <a:p>
                      <a:pPr>
                        <a:buNone/>
                      </a:pPr>
                      <a:r>
                        <a:rPr sz="1300" b="1">
                          <a:solidFill>
                            <a:srgbClr val="FFFFFF"/>
                          </a:solidFill>
                          <a:latin typeface="Calibri"/>
                          <a:ea typeface="Calibri"/>
                          <a:cs typeface="Calibri"/>
                        </a:rPr>
                        <a:t>Societal dimension</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Core purpose</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Institutional objective</a:t>
                      </a:r>
                    </a:p>
                  </a:txBody>
                  <a:tcPr marL="85725" marR="85725" marT="28575" marB="28575" anchor="ctr">
                    <a:solidFill>
                      <a:srgbClr val="1E2447"/>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Education &amp; Values · shiksha-sanskar</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Right understanding in every child</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Universalizing humane character and wisdom</a:t>
                      </a:r>
                    </a:p>
                  </a:txBody>
                  <a:tcPr marL="85725" marR="85725" marT="28575" marB="28575" anchor="ctr">
                    <a:solidFill>
                      <a:srgbClr val="FFFFFF"/>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Health &amp; restraint · swasthya-sanyam</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Bodily health and conscious restraint</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Longevity, vitality, and responsible living</a:t>
                      </a:r>
                    </a:p>
                  </a:txBody>
                  <a:tcPr marL="85725" marR="85725" marT="28575" marB="28575" anchor="ctr">
                    <a:solidFill>
                      <a:srgbClr val="F1F3F8"/>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Production &amp; Work · utpadan-karya</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Regenerative ecological production</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Abundance and shared prosperity in every family</a:t>
                      </a:r>
                    </a:p>
                  </a:txBody>
                  <a:tcPr marL="85725" marR="85725" marT="28575" marB="28575" anchor="ctr">
                    <a:solidFill>
                      <a:srgbClr val="FFFFFF"/>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Justice &amp; Security · nyaya-suraksha</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Relationship values and ecological care</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Fearlessness in society and protection of nature</a:t>
                      </a:r>
                    </a:p>
                  </a:txBody>
                  <a:tcPr marL="85725" marR="85725" marT="28575" marB="28575" anchor="ctr">
                    <a:solidFill>
                      <a:srgbClr val="F1F3F8"/>
                    </a:solidFill>
                  </a:tcPr>
                </a:tc>
              </a:tr>
              <a:tr h="529590">
                <a:tc>
                  <a:txBody>
                    <a:bodyPr wrap="square" lIns="85725" tIns="28575" rIns="85725" bIns="28575">
                      <a:noAutofit/>
                    </a:bodyPr>
                    <a:lstStyle/>
                    <a:p>
                      <a:pPr>
                        <a:buNone/>
                      </a:pPr>
                      <a:r>
                        <a:rPr sz="1200" b="0">
                          <a:solidFill>
                            <a:srgbClr val="303853"/>
                          </a:solidFill>
                          <a:latin typeface="Calibri"/>
                          <a:ea typeface="Calibri"/>
                          <a:cs typeface="Calibri"/>
                        </a:rPr>
                        <a:t>Exchange &amp; Storage · vinimay-kosh</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Mutual-benefit non-profit exchange</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Equitable distribution without exploitation</a:t>
                      </a:r>
                    </a:p>
                  </a:txBody>
                  <a:tcPr marL="85725" marR="85725" marT="28575" marB="28575" anchor="ctr">
                    <a:solidFill>
                      <a:srgbClr val="FFFFFF"/>
                    </a:solidFill>
                  </a:tcPr>
                </a:tc>
              </a:tr>
            </a:tbl>
          </a:graphicData>
        </a:graphic>
      </p:graphicFrame>
    </p:spTree>
    <p:extLst>
      <p:ext uri="{BB962C8B-B14F-4D97-AF65-F5344CB8AC3E}">
        <p14:creationId xmlns:p14="http://schemas.microsoft.com/office/powerpoint/2010/main" val="74083210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85FCF58-2D7B-43C5-AB8E-D25B98A92458}"/>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V · COMPARATIVE AXIOLOGY · §5</a:t>
            </a:r>
          </a:p>
        </p:txBody>
      </p:sp>
      <p:sp>
        <p:nvSpPr>
          <p:cNvPr id="2" name="text-1">
            <a:extLst xmlns:a="http://schemas.openxmlformats.org/drawingml/2006/main">
              <a:ext uri="{FF2B5EF4-FFF2-40B4-BE49-F238E27FC236}">
                <a16:creationId xmlns:a16="http://schemas.microsoft.com/office/drawing/2014/main" id="{8F2F1AC0-D614-444B-A700-AC4989843745}"/>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The Framework in Comparison</a:t>
            </a:r>
          </a:p>
        </p:txBody>
      </p:sp>
      <p:sp>
        <p:nvSpPr>
          <p:cNvPr id="3" name="text-2">
            <a:extLst xmlns:a="http://schemas.openxmlformats.org/drawingml/2006/main">
              <a:ext uri="{FF2B5EF4-FFF2-40B4-BE49-F238E27FC236}">
                <a16:creationId xmlns:a16="http://schemas.microsoft.com/office/drawing/2014/main" id="{8DA0B2D8-54E7-457A-8856-0DECBD842E7D}"/>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8703F9ED-CC86-45F9-903A-36E62C0CA441}"/>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24 / 25</a:t>
            </a:r>
          </a:p>
        </p:txBody>
      </p:sp>
      <p:sp>
        <p:nvSpPr>
          <p:cNvPr id="5" name="text-4">
            <a:extLst xmlns:a="http://schemas.openxmlformats.org/drawingml/2006/main">
              <a:ext uri="{FF2B5EF4-FFF2-40B4-BE49-F238E27FC236}">
                <a16:creationId xmlns:a16="http://schemas.microsoft.com/office/drawing/2014/main" id="{34B5E74D-2F1B-4E52-963A-F8A596F0982F}"/>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Study §§2–6; comparisons distinguish philosophical claims from empirical methods</a:t>
            </a:r>
          </a:p>
        </p:txBody>
      </p:sp>
      <p:graphicFrame>
        <p:nvGraphicFramePr>
          <p:cNvPr id="14" name=""/>
          <p:cNvGraphicFramePr/>
          <p:nvPr/>
        </p:nvGraphicFramePr>
        <p:xfrm>
          <a:off xmlns:a="http://schemas.openxmlformats.org/drawingml/2006/main" x="960120" y="1285875"/>
          <a:ext xmlns:a="http://schemas.openxmlformats.org/drawingml/2006/main" cx="7620000" cy="2857500"/>
        </p:xfrm>
        <a:graphic xmlns:a="http://schemas.openxmlformats.org/drawingml/2006/main">
          <a:graphicData uri="http://schemas.openxmlformats.org/drawingml/2006/table">
            <a:tbl>
              <a:tblPr/>
              <a:tblGrid>
                <a:gridCol w="1762125"/>
                <a:gridCol w="2762250"/>
                <a:gridCol w="3095625"/>
              </a:tblGrid>
              <a:tr h="400050">
                <a:tc>
                  <a:txBody>
                    <a:bodyPr wrap="square" lIns="85725" tIns="28575" rIns="85725" bIns="28575">
                      <a:noAutofit/>
                    </a:bodyPr>
                    <a:lstStyle/>
                    <a:p>
                      <a:pPr>
                        <a:buNone/>
                      </a:pPr>
                      <a:r>
                        <a:rPr sz="1300" b="1">
                          <a:solidFill>
                            <a:srgbClr val="FFFFFF"/>
                          </a:solidFill>
                          <a:latin typeface="Calibri"/>
                          <a:ea typeface="Calibri"/>
                          <a:cs typeface="Calibri"/>
                        </a:rPr>
                        <a:t>Tradition / approach</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Ground or account of value</a:t>
                      </a:r>
                    </a:p>
                  </a:txBody>
                  <a:tcPr marL="85725" marR="85725" marT="28575" marB="28575" anchor="ctr">
                    <a:solidFill>
                      <a:srgbClr val="1E2447"/>
                    </a:solidFill>
                  </a:tcPr>
                </a:tc>
                <a:tc>
                  <a:txBody>
                    <a:bodyPr wrap="square" lIns="85725" tIns="28575" rIns="85725" bIns="28575">
                      <a:noAutofit/>
                    </a:bodyPr>
                    <a:lstStyle/>
                    <a:p>
                      <a:pPr>
                        <a:buNone/>
                      </a:pPr>
                      <a:r>
                        <a:rPr sz="1300" b="1">
                          <a:solidFill>
                            <a:srgbClr val="FFFFFF"/>
                          </a:solidFill>
                          <a:latin typeface="Calibri"/>
                          <a:ea typeface="Calibri"/>
                          <a:cs typeface="Calibri"/>
                        </a:rPr>
                        <a:t>Relation to Madhyasth Darshan</a:t>
                      </a:r>
                    </a:p>
                  </a:txBody>
                  <a:tcPr marL="85725" marR="85725" marT="28575" marB="28575" anchor="ctr">
                    <a:solidFill>
                      <a:srgbClr val="1E2447"/>
                    </a:solidFill>
                  </a:tcPr>
                </a:tc>
              </a:tr>
              <a:tr h="614363">
                <a:tc>
                  <a:txBody>
                    <a:bodyPr wrap="square" lIns="85725" tIns="28575" rIns="85725" bIns="28575">
                      <a:noAutofit/>
                    </a:bodyPr>
                    <a:lstStyle/>
                    <a:p>
                      <a:pPr>
                        <a:buNone/>
                      </a:pPr>
                      <a:r>
                        <a:rPr sz="1200" b="0">
                          <a:solidFill>
                            <a:srgbClr val="303853"/>
                          </a:solidFill>
                          <a:latin typeface="Calibri"/>
                          <a:ea typeface="Calibri"/>
                          <a:cs typeface="Calibri"/>
                        </a:rPr>
                        <a:t>Madhyasth Darshan</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Essentiality and participation in coexistence</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Value is understood and fulfilled in living</a:t>
                      </a:r>
                    </a:p>
                  </a:txBody>
                  <a:tcPr marL="85725" marR="85725" marT="28575" marB="28575" anchor="ctr">
                    <a:solidFill>
                      <a:srgbClr val="FFFFFF"/>
                    </a:solidFill>
                  </a:tcPr>
                </a:tc>
              </a:tr>
              <a:tr h="614363">
                <a:tc>
                  <a:txBody>
                    <a:bodyPr wrap="square" lIns="85725" tIns="28575" rIns="85725" bIns="28575">
                      <a:noAutofit/>
                    </a:bodyPr>
                    <a:lstStyle/>
                    <a:p>
                      <a:pPr>
                        <a:buNone/>
                      </a:pPr>
                      <a:r>
                        <a:rPr sz="1200" b="0">
                          <a:solidFill>
                            <a:srgbClr val="303853"/>
                          </a:solidFill>
                          <a:latin typeface="Calibri"/>
                          <a:ea typeface="Calibri"/>
                          <a:cs typeface="Calibri"/>
                        </a:rPr>
                        <a:t>Advaita Vedanta</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Brahman; liberation through self-knowledge</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Empirical duties remain valid; MD affirms enduring units</a:t>
                      </a:r>
                    </a:p>
                  </a:txBody>
                  <a:tcPr marL="85725" marR="85725" marT="28575" marB="28575" anchor="ctr">
                    <a:solidFill>
                      <a:srgbClr val="F1F3F8"/>
                    </a:solidFill>
                  </a:tcPr>
                </a:tc>
              </a:tr>
              <a:tr h="614363">
                <a:tc>
                  <a:txBody>
                    <a:bodyPr wrap="square" lIns="85725" tIns="28575" rIns="85725" bIns="28575">
                      <a:noAutofit/>
                    </a:bodyPr>
                    <a:lstStyle/>
                    <a:p>
                      <a:pPr>
                        <a:buNone/>
                      </a:pPr>
                      <a:r>
                        <a:rPr sz="1200" b="0">
                          <a:solidFill>
                            <a:srgbClr val="303853"/>
                          </a:solidFill>
                          <a:latin typeface="Calibri"/>
                          <a:ea typeface="Calibri"/>
                          <a:cs typeface="Calibri"/>
                        </a:rPr>
                        <a:t>Western value theories</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Objective goods, duties, virtues or preferences</a:t>
                      </a:r>
                    </a:p>
                  </a:txBody>
                  <a:tcPr marL="85725" marR="85725" marT="28575" marB="28575" anchor="ctr">
                    <a:solidFill>
                      <a:srgbClr val="FFFFFF"/>
                    </a:solidFill>
                  </a:tcPr>
                </a:tc>
                <a:tc>
                  <a:txBody>
                    <a:bodyPr wrap="square" lIns="85725" tIns="28575" rIns="85725" bIns="28575">
                      <a:noAutofit/>
                    </a:bodyPr>
                    <a:lstStyle/>
                    <a:p>
                      <a:pPr>
                        <a:buNone/>
                      </a:pPr>
                      <a:r>
                        <a:rPr sz="1200" b="0">
                          <a:solidFill>
                            <a:srgbClr val="303853"/>
                          </a:solidFill>
                          <a:latin typeface="Calibri"/>
                          <a:ea typeface="Calibri"/>
                          <a:cs typeface="Calibri"/>
                        </a:rPr>
                        <a:t>Diverse accounts of what grounds and justifies value</a:t>
                      </a:r>
                    </a:p>
                  </a:txBody>
                  <a:tcPr marL="85725" marR="85725" marT="28575" marB="28575" anchor="ctr">
                    <a:solidFill>
                      <a:srgbClr val="FFFFFF"/>
                    </a:solidFill>
                  </a:tcPr>
                </a:tc>
              </a:tr>
              <a:tr h="614363">
                <a:tc>
                  <a:txBody>
                    <a:bodyPr wrap="square" lIns="85725" tIns="28575" rIns="85725" bIns="28575">
                      <a:noAutofit/>
                    </a:bodyPr>
                    <a:lstStyle/>
                    <a:p>
                      <a:pPr>
                        <a:buNone/>
                      </a:pPr>
                      <a:r>
                        <a:rPr sz="1200" b="0">
                          <a:solidFill>
                            <a:srgbClr val="303853"/>
                          </a:solidFill>
                          <a:latin typeface="Calibri"/>
                          <a:ea typeface="Calibri"/>
                          <a:cs typeface="Calibri"/>
                        </a:rPr>
                        <a:t>Scientific accounts</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Evolution, learning and decision mechanisms</a:t>
                      </a:r>
                    </a:p>
                  </a:txBody>
                  <a:tcPr marL="85725" marR="85725" marT="28575" marB="28575" anchor="ctr">
                    <a:solidFill>
                      <a:srgbClr val="F1F3F8"/>
                    </a:solidFill>
                  </a:tcPr>
                </a:tc>
                <a:tc>
                  <a:txBody>
                    <a:bodyPr wrap="square" lIns="85725" tIns="28575" rIns="85725" bIns="28575">
                      <a:noAutofit/>
                    </a:bodyPr>
                    <a:lstStyle/>
                    <a:p>
                      <a:pPr>
                        <a:buNone/>
                      </a:pPr>
                      <a:r>
                        <a:rPr sz="1200" b="0">
                          <a:solidFill>
                            <a:srgbClr val="303853"/>
                          </a:solidFill>
                          <a:latin typeface="Calibri"/>
                          <a:ea typeface="Calibri"/>
                          <a:cs typeface="Calibri"/>
                        </a:rPr>
                        <a:t>Explain and measure valuing; metaphysical questions remain</a:t>
                      </a:r>
                    </a:p>
                  </a:txBody>
                  <a:tcPr marL="85725" marR="85725" marT="28575" marB="28575" anchor="ctr">
                    <a:solidFill>
                      <a:srgbClr val="F1F3F8"/>
                    </a:solidFill>
                  </a:tcPr>
                </a:tc>
              </a:tr>
            </a:tbl>
          </a:graphicData>
        </a:graphic>
      </p:graphicFrame>
    </p:spTree>
    <p:extLst>
      <p:ext uri="{BB962C8B-B14F-4D97-AF65-F5344CB8AC3E}">
        <p14:creationId xmlns:p14="http://schemas.microsoft.com/office/powerpoint/2010/main" val="2701219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0ADFFBCD-0678-4ED7-A355-FDADA14E2879}"/>
              </a:ext>
            </a:extLst>
          </p:cNvPr>
          <p:cNvSpPr>
            <a:spLocks xmlns:a="http://schemas.openxmlformats.org/drawingml/2006/main" noGrp="1"/>
          </p:cNvSpPr>
          <p:nvPr/>
        </p:nvSpPr>
        <p:spPr>
          <a:xfrm xmlns:a="http://schemas.openxmlformats.org/drawingml/2006/main">
            <a:off x="960120" y="256223"/>
            <a:ext cx="768096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1">
                <a:solidFill>
                  <a:srgbClr val="9A6414"/>
                </a:solidFill>
                <a:latin typeface="Calibri"/>
                <a:ea typeface="Calibri"/>
                <a:cs typeface="Calibri"/>
              </a:defRPr>
            </a:pPr>
            <a:r>
              <a:rPr sz="1050" b="1">
                <a:solidFill>
                  <a:srgbClr val="9A6414"/>
                </a:solidFill>
                <a:latin typeface="Calibri"/>
                <a:ea typeface="Calibri"/>
                <a:cs typeface="Calibri"/>
              </a:rPr>
              <a:t>CULMINATION · THE FULFILLED HUMAN TRADITION</a:t>
            </a:r>
          </a:p>
        </p:txBody>
      </p:sp>
      <p:sp>
        <p:nvSpPr>
          <p:cNvPr id="2" name="text-1">
            <a:extLst xmlns:a="http://schemas.openxmlformats.org/drawingml/2006/main">
              <a:ext uri="{FF2B5EF4-FFF2-40B4-BE49-F238E27FC236}">
                <a16:creationId xmlns:a16="http://schemas.microsoft.com/office/drawing/2014/main" id="{9E39C462-C6A2-4E4A-A97E-361AEA7CECEE}"/>
              </a:ext>
            </a:extLst>
          </p:cNvPr>
          <p:cNvSpPr>
            <a:spLocks xmlns:a="http://schemas.openxmlformats.org/drawingml/2006/main" noGrp="1"/>
          </p:cNvSpPr>
          <p:nvPr/>
        </p:nvSpPr>
        <p:spPr>
          <a:xfrm xmlns:a="http://schemas.openxmlformats.org/drawingml/2006/main">
            <a:off x="960120" y="457200"/>
            <a:ext cx="7726680" cy="566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0000"/>
              </a:lnSpc>
              <a:buNone/>
              <a:defRPr sz="3000" b="1">
                <a:solidFill>
                  <a:srgbClr val="1E2447"/>
                </a:solidFill>
                <a:latin typeface="Cambria"/>
                <a:ea typeface="Cambria"/>
                <a:cs typeface="Cambria"/>
              </a:defRPr>
            </a:pPr>
            <a:r>
              <a:rPr sz="3000" b="1">
                <a:solidFill>
                  <a:srgbClr val="1E2447"/>
                </a:solidFill>
                <a:latin typeface="Cambria"/>
                <a:ea typeface="Cambria"/>
                <a:cs typeface="Cambria"/>
              </a:rPr>
              <a:t>Awakened Living: Fourfold Harmony</a:t>
            </a:r>
          </a:p>
        </p:txBody>
      </p:sp>
      <p:sp>
        <p:nvSpPr>
          <p:cNvPr id="3" name="text-2">
            <a:extLst xmlns:a="http://schemas.openxmlformats.org/drawingml/2006/main">
              <a:ext uri="{FF2B5EF4-FFF2-40B4-BE49-F238E27FC236}">
                <a16:creationId xmlns:a16="http://schemas.microsoft.com/office/drawing/2014/main" id="{43BE7405-0502-4AEE-B04B-8F1CF6FD43B0}"/>
              </a:ext>
            </a:extLst>
          </p:cNvPr>
          <p:cNvSpPr>
            <a:spLocks xmlns:a="http://schemas.openxmlformats.org/drawingml/2006/main" noGrp="1"/>
          </p:cNvSpPr>
          <p:nvPr/>
        </p:nvSpPr>
        <p:spPr>
          <a:xfrm xmlns:a="http://schemas.openxmlformats.org/drawingml/2006/main">
            <a:off x="502920" y="48291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AnalyticMadhyasthDarshan.org</a:t>
            </a:r>
          </a:p>
        </p:txBody>
      </p:sp>
      <p:sp>
        <p:nvSpPr>
          <p:cNvPr id="4" name="text-3">
            <a:extLst xmlns:a="http://schemas.openxmlformats.org/drawingml/2006/main">
              <a:ext uri="{FF2B5EF4-FFF2-40B4-BE49-F238E27FC236}">
                <a16:creationId xmlns:a16="http://schemas.microsoft.com/office/drawing/2014/main" id="{D35822D8-866B-4497-82F9-F1788D8A748E}"/>
              </a:ext>
            </a:extLst>
          </p:cNvPr>
          <p:cNvSpPr>
            <a:spLocks xmlns:a="http://schemas.openxmlformats.org/drawingml/2006/main" noGrp="1"/>
          </p:cNvSpPr>
          <p:nvPr/>
        </p:nvSpPr>
        <p:spPr>
          <a:xfrm xmlns:a="http://schemas.openxmlformats.org/drawingml/2006/main">
            <a:off x="7781925" y="48291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50" b="0">
                <a:solidFill>
                  <a:srgbClr val="626C85"/>
                </a:solidFill>
                <a:latin typeface="Calibri"/>
                <a:ea typeface="Calibri"/>
                <a:cs typeface="Calibri"/>
              </a:defRPr>
            </a:pPr>
            <a:r>
              <a:rPr sz="950" b="0">
                <a:solidFill>
                  <a:srgbClr val="626C85"/>
                </a:solidFill>
                <a:latin typeface="Calibri"/>
                <a:ea typeface="Calibri"/>
                <a:cs typeface="Calibri"/>
              </a:rPr>
              <a:t>25 / 25</a:t>
            </a:r>
          </a:p>
        </p:txBody>
      </p:sp>
      <p:sp>
        <p:nvSpPr>
          <p:cNvPr id="5" name="text-4">
            <a:extLst xmlns:a="http://schemas.openxmlformats.org/drawingml/2006/main">
              <a:ext uri="{FF2B5EF4-FFF2-40B4-BE49-F238E27FC236}">
                <a16:creationId xmlns:a16="http://schemas.microsoft.com/office/drawing/2014/main" id="{246F12CB-139F-43C8-A830-D2918874DB25}"/>
              </a:ext>
            </a:extLst>
          </p:cNvPr>
          <p:cNvSpPr>
            <a:spLocks xmlns:a="http://schemas.openxmlformats.org/drawingml/2006/main" noGrp="1"/>
          </p:cNvSpPr>
          <p:nvPr/>
        </p:nvSpPr>
        <p:spPr>
          <a:xfrm xmlns:a="http://schemas.openxmlformats.org/drawingml/2006/main">
            <a:off x="960120" y="4438650"/>
            <a:ext cx="768096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i="1">
                <a:solidFill>
                  <a:srgbClr val="9A6414"/>
                </a:solidFill>
                <a:latin typeface="Calibri"/>
                <a:ea typeface="Calibri"/>
                <a:cs typeface="Calibri"/>
              </a:defRPr>
            </a:pPr>
            <a:r>
              <a:rPr sz="1200" b="0">
                <a:solidFill>
                  <a:srgbClr val="9A6414"/>
                </a:solidFill>
                <a:latin typeface="Calibri"/>
                <a:ea typeface="Calibri"/>
                <a:cs typeface="Calibri"/>
              </a:rPr>
              <a:t>Universal human targets: samadhan, samriddhi, abhay, sah-astitva</a:t>
            </a:r>
          </a:p>
        </p:txBody>
      </p:sp>
      <p:sp>
        <p:nvSpPr>
          <p:cNvPr id="15" name="topic-0">
            <a:extLst xmlns:a="http://schemas.openxmlformats.org/drawingml/2006/main">
              <a:ext uri="{FF2B5EF4-FFF2-40B4-BE49-F238E27FC236}">
                <a16:creationId xmlns:a16="http://schemas.microsoft.com/office/drawing/2014/main" id="{D6793060-2CCF-4098-AF61-5EF143A50BB0}"/>
              </a:ext>
            </a:extLst>
          </p:cNvPr>
          <p:cNvSpPr>
            <a:spLocks xmlns:a="http://schemas.openxmlformats.org/drawingml/2006/main" noGrp="1"/>
          </p:cNvSpPr>
          <p:nvPr/>
        </p:nvSpPr>
        <p:spPr>
          <a:xfrm xmlns:a="http://schemas.openxmlformats.org/drawingml/2006/main">
            <a:off x="960120" y="13049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Resolution in the self (samadhan)</a:t>
            </a:r>
          </a:p>
        </p:txBody>
      </p:sp>
      <p:sp>
        <p:nvSpPr>
          <p:cNvPr id="16" name="detail-0">
            <a:extLst xmlns:a="http://schemas.openxmlformats.org/drawingml/2006/main">
              <a:ext uri="{FF2B5EF4-FFF2-40B4-BE49-F238E27FC236}">
                <a16:creationId xmlns:a16="http://schemas.microsoft.com/office/drawing/2014/main" id="{8A6DD464-CAAA-4D7B-BE62-508DC0CCB315}"/>
              </a:ext>
            </a:extLst>
          </p:cNvPr>
          <p:cNvSpPr>
            <a:spLocks xmlns:a="http://schemas.openxmlformats.org/drawingml/2006/main" noGrp="1"/>
          </p:cNvSpPr>
          <p:nvPr/>
        </p:nvSpPr>
        <p:spPr>
          <a:xfrm xmlns:a="http://schemas.openxmlformats.org/drawingml/2006/main">
            <a:off x="2952750" y="13049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All-round intellectual resolution (sarvatobhadra samadhan) and inner peace, freeing the individual from contradiction, doubt, and fear.</a:t>
            </a:r>
          </a:p>
        </p:txBody>
      </p:sp>
      <p:sp>
        <p:nvSpPr>
          <p:cNvPr id="17" name="topic-1">
            <a:extLst xmlns:a="http://schemas.openxmlformats.org/drawingml/2006/main">
              <a:ext uri="{FF2B5EF4-FFF2-40B4-BE49-F238E27FC236}">
                <a16:creationId xmlns:a16="http://schemas.microsoft.com/office/drawing/2014/main" id="{9B03AC0D-BBF7-4489-9033-2C49A6C1F073}"/>
              </a:ext>
            </a:extLst>
          </p:cNvPr>
          <p:cNvSpPr>
            <a:spLocks xmlns:a="http://schemas.openxmlformats.org/drawingml/2006/main" noGrp="1"/>
          </p:cNvSpPr>
          <p:nvPr/>
        </p:nvSpPr>
        <p:spPr>
          <a:xfrm xmlns:a="http://schemas.openxmlformats.org/drawingml/2006/main">
            <a:off x="960120" y="231457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Prosperity and fearlessness</a:t>
            </a:r>
          </a:p>
        </p:txBody>
      </p:sp>
      <p:sp>
        <p:nvSpPr>
          <p:cNvPr id="18" name="detail-1">
            <a:extLst xmlns:a="http://schemas.openxmlformats.org/drawingml/2006/main">
              <a:ext uri="{FF2B5EF4-FFF2-40B4-BE49-F238E27FC236}">
                <a16:creationId xmlns:a16="http://schemas.microsoft.com/office/drawing/2014/main" id="{954A0604-3DFB-4ACF-B4E4-7AC637BAEF69}"/>
              </a:ext>
            </a:extLst>
          </p:cNvPr>
          <p:cNvSpPr>
            <a:spLocks xmlns:a="http://schemas.openxmlformats.org/drawingml/2006/main" noGrp="1"/>
          </p:cNvSpPr>
          <p:nvPr/>
        </p:nvSpPr>
        <p:spPr>
          <a:xfrm xmlns:a="http://schemas.openxmlformats.org/drawingml/2006/main">
            <a:off x="2952750" y="231457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Abundant material production in every family (samriddhi) and mutual trust across society (abhay), realizing an undivided social order.</a:t>
            </a:r>
          </a:p>
        </p:txBody>
      </p:sp>
      <p:sp>
        <p:nvSpPr>
          <p:cNvPr id="19" name="topic-2">
            <a:extLst xmlns:a="http://schemas.openxmlformats.org/drawingml/2006/main">
              <a:ext uri="{FF2B5EF4-FFF2-40B4-BE49-F238E27FC236}">
                <a16:creationId xmlns:a16="http://schemas.microsoft.com/office/drawing/2014/main" id="{26D47871-92AC-4046-AB55-5610740A6A32}"/>
              </a:ext>
            </a:extLst>
          </p:cNvPr>
          <p:cNvSpPr>
            <a:spLocks xmlns:a="http://schemas.openxmlformats.org/drawingml/2006/main" noGrp="1"/>
          </p:cNvSpPr>
          <p:nvPr/>
        </p:nvSpPr>
        <p:spPr>
          <a:xfrm xmlns:a="http://schemas.openxmlformats.org/drawingml/2006/main">
            <a:off x="960120" y="3324225"/>
            <a:ext cx="18192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E2447"/>
                </a:solidFill>
                <a:latin typeface="Calibri"/>
                <a:ea typeface="Calibri"/>
                <a:cs typeface="Calibri"/>
              </a:defRPr>
            </a:pPr>
            <a:r>
              <a:rPr sz="1650" b="1">
                <a:solidFill>
                  <a:srgbClr val="1E2447"/>
                </a:solidFill>
                <a:latin typeface="Calibri"/>
                <a:ea typeface="Calibri"/>
                <a:cs typeface="Calibri"/>
              </a:rPr>
              <a:t>Universal coexistence (sah-astitva)</a:t>
            </a:r>
          </a:p>
        </p:txBody>
      </p:sp>
      <p:sp>
        <p:nvSpPr>
          <p:cNvPr id="20" name="detail-2">
            <a:extLst xmlns:a="http://schemas.openxmlformats.org/drawingml/2006/main">
              <a:ext uri="{FF2B5EF4-FFF2-40B4-BE49-F238E27FC236}">
                <a16:creationId xmlns:a16="http://schemas.microsoft.com/office/drawing/2014/main" id="{12D4F20A-14B2-4AFC-9F20-449A9A626FBB}"/>
              </a:ext>
            </a:extLst>
          </p:cNvPr>
          <p:cNvSpPr>
            <a:spLocks xmlns:a="http://schemas.openxmlformats.org/drawingml/2006/main" noGrp="1"/>
          </p:cNvSpPr>
          <p:nvPr/>
        </p:nvSpPr>
        <p:spPr>
          <a:xfrm xmlns:a="http://schemas.openxmlformats.org/drawingml/2006/main">
            <a:off x="2952750" y="3324225"/>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00" b="0">
                <a:solidFill>
                  <a:srgbClr val="303853"/>
                </a:solidFill>
                <a:latin typeface="Calibri"/>
                <a:ea typeface="Calibri"/>
                <a:cs typeface="Calibri"/>
              </a:defRPr>
            </a:pPr>
            <a:r>
              <a:rPr sz="1600" b="0">
                <a:solidFill>
                  <a:srgbClr val="303853"/>
                </a:solidFill>
                <a:latin typeface="Calibri"/>
                <a:ea typeface="Calibri"/>
                <a:cs typeface="Calibri"/>
              </a:rPr>
              <a:t>Harmonious mutuality between human society and nature's three orders, completing universal orderliness (sarvabhaum vyavastha).</a:t>
            </a:r>
          </a:p>
        </p:txBody>
      </p:sp>
    </p:spTree>
    <p:extLst>
      <p:ext uri="{BB962C8B-B14F-4D97-AF65-F5344CB8AC3E}">
        <p14:creationId xmlns:p14="http://schemas.microsoft.com/office/powerpoint/2010/main" val="871944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2026-09-19T15:52:40.7540000Z</dcterms:created>
  <dcterms:modified xsi:type="dcterms:W3CDTF">2026-09-19T15:52:40.7540000Z</dcterms:modified>
</coreProperties>
</file>