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8f1ffb875e463a" /><Relationship Type="http://schemas.openxmlformats.org/officeDocument/2006/relationships/extended-properties" Target="/docProps/app.xml" Id="R59ae25e490694182" /><Relationship Type="http://schemas.openxmlformats.org/officeDocument/2006/relationships/officeDocument" Target="/ppt/presentation.xml" Id="Rf9c66905d04e4e44" /></Relationships>
</file>

<file path=ppt/presentation.xml><?xml version="1.0" encoding="utf-8"?>
<p:presentation xmlns:p="http://schemas.openxmlformats.org/presentationml/2006/main">
  <p:sldMasterIdLst>
    <p:sldMasterId xmlns:r="http://schemas.openxmlformats.org/officeDocument/2006/relationships" id="2147483648" r:id="R79769fdd82b74150"/>
  </p:sldMasterIdLst>
  <p:notesMasterIdLst>
    <p:notesMasterId xmlns:r="http://schemas.openxmlformats.org/officeDocument/2006/relationships" r:id="Rd540b938a05b4fc3"/>
  </p:notesMasterIdLst>
  <p:sldIdLst>
    <p:sldId xmlns:r="http://schemas.openxmlformats.org/officeDocument/2006/relationships" id="256" r:id="Rf392dd60d0c14d87"/>
    <p:sldId xmlns:r="http://schemas.openxmlformats.org/officeDocument/2006/relationships" id="257" r:id="R46213fc646ef4a43"/>
    <p:sldId xmlns:r="http://schemas.openxmlformats.org/officeDocument/2006/relationships" id="258" r:id="Ra0e41fc61a374ae7"/>
    <p:sldId xmlns:r="http://schemas.openxmlformats.org/officeDocument/2006/relationships" id="259" r:id="R32d76e818820479e"/>
    <p:sldId xmlns:r="http://schemas.openxmlformats.org/officeDocument/2006/relationships" id="260" r:id="Rac7608332b6d4a58"/>
    <p:sldId xmlns:r="http://schemas.openxmlformats.org/officeDocument/2006/relationships" id="261" r:id="R50c53df0791044cf"/>
    <p:sldId xmlns:r="http://schemas.openxmlformats.org/officeDocument/2006/relationships" id="262" r:id="R0c6921eb9200417a"/>
    <p:sldId xmlns:r="http://schemas.openxmlformats.org/officeDocument/2006/relationships" id="263" r:id="Re386f44edad444ca"/>
    <p:sldId xmlns:r="http://schemas.openxmlformats.org/officeDocument/2006/relationships" id="264" r:id="Rea32b78f0b99413f"/>
    <p:sldId xmlns:r="http://schemas.openxmlformats.org/officeDocument/2006/relationships" id="265" r:id="Rce1191b70cce456a"/>
    <p:sldId xmlns:r="http://schemas.openxmlformats.org/officeDocument/2006/relationships" id="266" r:id="Rf5a2f5498a8a4f53"/>
    <p:sldId xmlns:r="http://schemas.openxmlformats.org/officeDocument/2006/relationships" id="267" r:id="R7222b1aebded4407"/>
    <p:sldId xmlns:r="http://schemas.openxmlformats.org/officeDocument/2006/relationships" id="268" r:id="R2258ae2426d54bf0"/>
    <p:sldId xmlns:r="http://schemas.openxmlformats.org/officeDocument/2006/relationships" id="269" r:id="Ra144bdcb0bd74798"/>
    <p:sldId xmlns:r="http://schemas.openxmlformats.org/officeDocument/2006/relationships" id="270" r:id="Rb7085453e81a4789"/>
    <p:sldId xmlns:r="http://schemas.openxmlformats.org/officeDocument/2006/relationships" id="271" r:id="R398215c11f604abb"/>
    <p:sldId xmlns:r="http://schemas.openxmlformats.org/officeDocument/2006/relationships" id="272" r:id="R9cc10c4f5cb144a7"/>
    <p:sldId xmlns:r="http://schemas.openxmlformats.org/officeDocument/2006/relationships" id="273" r:id="Re818a0a4a6064066"/>
    <p:sldId xmlns:r="http://schemas.openxmlformats.org/officeDocument/2006/relationships" id="274" r:id="Rab4c92d8521e41ed"/>
    <p:sldId xmlns:r="http://schemas.openxmlformats.org/officeDocument/2006/relationships" id="275" r:id="R6d196c0320c14ecc"/>
    <p:sldId xmlns:r="http://schemas.openxmlformats.org/officeDocument/2006/relationships" id="276" r:id="R1bc8dbc8696a46ac"/>
    <p:sldId xmlns:r="http://schemas.openxmlformats.org/officeDocument/2006/relationships" id="277" r:id="Re8be273d179f4c91"/>
    <p:sldId xmlns:r="http://schemas.openxmlformats.org/officeDocument/2006/relationships" id="278" r:id="Rffc1443b180e430a"/>
    <p:sldId xmlns:r="http://schemas.openxmlformats.org/officeDocument/2006/relationships" id="279" r:id="Rdf64e6b5cab1405e"/>
    <p:sldId xmlns:r="http://schemas.openxmlformats.org/officeDocument/2006/relationships" id="280" r:id="R9fab38b10ed24f74"/>
    <p:sldId xmlns:r="http://schemas.openxmlformats.org/officeDocument/2006/relationships" id="281" r:id="R295b85f29ad84872"/>
    <p:sldId xmlns:r="http://schemas.openxmlformats.org/officeDocument/2006/relationships" id="282" r:id="Rb08131cfeb1245fa"/>
    <p:sldId xmlns:r="http://schemas.openxmlformats.org/officeDocument/2006/relationships" id="283" r:id="R24d3c828485b4271"/>
    <p:sldId xmlns:r="http://schemas.openxmlformats.org/officeDocument/2006/relationships" id="284" r:id="R59a24a09abd44ced"/>
    <p:sldId xmlns:r="http://schemas.openxmlformats.org/officeDocument/2006/relationships" id="285" r:id="R7e61d66fd5584494"/>
    <p:sldId xmlns:r="http://schemas.openxmlformats.org/officeDocument/2006/relationships" id="286" r:id="R492dc8c398094f07"/>
    <p:sldId xmlns:r="http://schemas.openxmlformats.org/officeDocument/2006/relationships" id="287" r:id="Rd378904b01ab44da"/>
    <p:sldId xmlns:r="http://schemas.openxmlformats.org/officeDocument/2006/relationships" id="288" r:id="Rbe1f917e6f8d48f1"/>
    <p:sldId xmlns:r="http://schemas.openxmlformats.org/officeDocument/2006/relationships" id="289" r:id="R0e156cb93b53406b"/>
    <p:sldId xmlns:r="http://schemas.openxmlformats.org/officeDocument/2006/relationships" id="290" r:id="Rfbd4c3f3561c4be9"/>
    <p:sldId xmlns:r="http://schemas.openxmlformats.org/officeDocument/2006/relationships" id="291" r:id="R275e84e523cd42a6"/>
    <p:sldId xmlns:r="http://schemas.openxmlformats.org/officeDocument/2006/relationships" id="292" r:id="R36f65f41d6de4c4e"/>
    <p:sldId xmlns:r="http://schemas.openxmlformats.org/officeDocument/2006/relationships" id="293" r:id="R5879d46df11649f9"/>
    <p:sldId xmlns:r="http://schemas.openxmlformats.org/officeDocument/2006/relationships" id="294" r:id="Rbf1ef81daf764b4b"/>
    <p:sldId xmlns:r="http://schemas.openxmlformats.org/officeDocument/2006/relationships" id="295" r:id="R25ba06b9761a4b6e"/>
    <p:sldId xmlns:r="http://schemas.openxmlformats.org/officeDocument/2006/relationships" id="296" r:id="R7d0fb186c82c4274"/>
    <p:sldId xmlns:r="http://schemas.openxmlformats.org/officeDocument/2006/relationships" id="297" r:id="R1bf952dda7c5449a"/>
    <p:sldId xmlns:r="http://schemas.openxmlformats.org/officeDocument/2006/relationships" id="298" r:id="Rf05d61c995bd4a6e"/>
    <p:sldId xmlns:r="http://schemas.openxmlformats.org/officeDocument/2006/relationships" id="299" r:id="Reb508f31cce74e84"/>
    <p:sldId xmlns:r="http://schemas.openxmlformats.org/officeDocument/2006/relationships" id="300" r:id="R9b3f4c37e5364bdc"/>
    <p:sldId xmlns:r="http://schemas.openxmlformats.org/officeDocument/2006/relationships" id="301" r:id="R300b59a066be4c5c"/>
    <p:sldId xmlns:r="http://schemas.openxmlformats.org/officeDocument/2006/relationships" id="302" r:id="Ra2bdd83745d74a2b"/>
    <p:sldId xmlns:r="http://schemas.openxmlformats.org/officeDocument/2006/relationships" id="303" r:id="R4919ee33ca5942d4"/>
    <p:sldId xmlns:r="http://schemas.openxmlformats.org/officeDocument/2006/relationships" id="304" r:id="R924398343ea1418a"/>
    <p:sldId xmlns:r="http://schemas.openxmlformats.org/officeDocument/2006/relationships" id="305" r:id="R086680756dbc49db"/>
    <p:sldId xmlns:r="http://schemas.openxmlformats.org/officeDocument/2006/relationships" id="306" r:id="R8ba92bd82f3f4ecb"/>
    <p:sldId xmlns:r="http://schemas.openxmlformats.org/officeDocument/2006/relationships" id="307" r:id="Rc2d3d1d97d864163"/>
    <p:sldId xmlns:r="http://schemas.openxmlformats.org/officeDocument/2006/relationships" id="308" r:id="R61888cae70e34ff4"/>
    <p:sldId xmlns:r="http://schemas.openxmlformats.org/officeDocument/2006/relationships" id="309" r:id="R5d4dbbe832164042"/>
    <p:sldId xmlns:r="http://schemas.openxmlformats.org/officeDocument/2006/relationships" id="310" r:id="R02380a2468cf4abb"/>
    <p:sldId xmlns:r="http://schemas.openxmlformats.org/officeDocument/2006/relationships" id="311" r:id="Rcdc2c1b0c2084fb6"/>
    <p:sldId xmlns:r="http://schemas.openxmlformats.org/officeDocument/2006/relationships" id="312" r:id="R24e0a3ef34b749b9"/>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0a4c8327544422" /><Relationship Type="http://schemas.openxmlformats.org/officeDocument/2006/relationships/slideMaster" Target="/ppt/slideMasters/slideMaster1.xml" Id="R79769fdd82b74150" /><Relationship Type="http://schemas.openxmlformats.org/officeDocument/2006/relationships/notesMaster" Target="/ppt/notesMasters/notesMaster1.xml" Id="Rd540b938a05b4fc3" /><Relationship Type="http://schemas.openxmlformats.org/officeDocument/2006/relationships/presProps" Target="/ppt/presProps.xml" Id="Rd72764e27a5e469a" /><Relationship Type="http://schemas.openxmlformats.org/officeDocument/2006/relationships/tableStyles" Target="/ppt/tableStyles.xml" Id="R34c934bb5882431e" /><Relationship Type="http://schemas.openxmlformats.org/officeDocument/2006/relationships/slide" Target="/ppt/slides/slide1.xml" Id="Rf392dd60d0c14d87" /><Relationship Type="http://schemas.openxmlformats.org/officeDocument/2006/relationships/slide" Target="/ppt/slides/slide2.xml" Id="R46213fc646ef4a43" /><Relationship Type="http://schemas.openxmlformats.org/officeDocument/2006/relationships/slide" Target="/ppt/slides/slide3.xml" Id="Ra0e41fc61a374ae7" /><Relationship Type="http://schemas.openxmlformats.org/officeDocument/2006/relationships/slide" Target="/ppt/slides/slide4.xml" Id="R32d76e818820479e" /><Relationship Type="http://schemas.openxmlformats.org/officeDocument/2006/relationships/slide" Target="/ppt/slides/slide5.xml" Id="Rac7608332b6d4a58" /><Relationship Type="http://schemas.openxmlformats.org/officeDocument/2006/relationships/slide" Target="/ppt/slides/slide6.xml" Id="R50c53df0791044cf" /><Relationship Type="http://schemas.openxmlformats.org/officeDocument/2006/relationships/slide" Target="/ppt/slides/slide7.xml" Id="R0c6921eb9200417a" /><Relationship Type="http://schemas.openxmlformats.org/officeDocument/2006/relationships/slide" Target="/ppt/slides/slide8.xml" Id="Re386f44edad444ca" /><Relationship Type="http://schemas.openxmlformats.org/officeDocument/2006/relationships/slide" Target="/ppt/slides/slide9.xml" Id="Rea32b78f0b99413f" /><Relationship Type="http://schemas.openxmlformats.org/officeDocument/2006/relationships/slide" Target="/ppt/slides/slide10.xml" Id="Rce1191b70cce456a" /><Relationship Type="http://schemas.openxmlformats.org/officeDocument/2006/relationships/slide" Target="/ppt/slides/slide11.xml" Id="Rf5a2f5498a8a4f53" /><Relationship Type="http://schemas.openxmlformats.org/officeDocument/2006/relationships/slide" Target="/ppt/slides/slide12.xml" Id="R7222b1aebded4407" /><Relationship Type="http://schemas.openxmlformats.org/officeDocument/2006/relationships/slide" Target="/ppt/slides/slide13.xml" Id="R2258ae2426d54bf0" /><Relationship Type="http://schemas.openxmlformats.org/officeDocument/2006/relationships/slide" Target="/ppt/slides/slide14.xml" Id="Ra144bdcb0bd74798" /><Relationship Type="http://schemas.openxmlformats.org/officeDocument/2006/relationships/slide" Target="/ppt/slides/slide15.xml" Id="Rb7085453e81a4789" /><Relationship Type="http://schemas.openxmlformats.org/officeDocument/2006/relationships/slide" Target="/ppt/slides/slide16.xml" Id="R398215c11f604abb" /><Relationship Type="http://schemas.openxmlformats.org/officeDocument/2006/relationships/slide" Target="/ppt/slides/slide17.xml" Id="R9cc10c4f5cb144a7" /><Relationship Type="http://schemas.openxmlformats.org/officeDocument/2006/relationships/slide" Target="/ppt/slides/slide18.xml" Id="Re818a0a4a6064066" /><Relationship Type="http://schemas.openxmlformats.org/officeDocument/2006/relationships/slide" Target="/ppt/slides/slide19.xml" Id="Rab4c92d8521e41ed" /><Relationship Type="http://schemas.openxmlformats.org/officeDocument/2006/relationships/slide" Target="/ppt/slides/slide20.xml" Id="R6d196c0320c14ecc" /><Relationship Type="http://schemas.openxmlformats.org/officeDocument/2006/relationships/slide" Target="/ppt/slides/slide21.xml" Id="R1bc8dbc8696a46ac" /><Relationship Type="http://schemas.openxmlformats.org/officeDocument/2006/relationships/slide" Target="/ppt/slides/slide22.xml" Id="Re8be273d179f4c91" /><Relationship Type="http://schemas.openxmlformats.org/officeDocument/2006/relationships/slide" Target="/ppt/slides/slide23.xml" Id="Rffc1443b180e430a" /><Relationship Type="http://schemas.openxmlformats.org/officeDocument/2006/relationships/slide" Target="/ppt/slides/slide24.xml" Id="Rdf64e6b5cab1405e" /><Relationship Type="http://schemas.openxmlformats.org/officeDocument/2006/relationships/slide" Target="/ppt/slides/slide25.xml" Id="R9fab38b10ed24f74" /><Relationship Type="http://schemas.openxmlformats.org/officeDocument/2006/relationships/slide" Target="/ppt/slides/slide26.xml" Id="R295b85f29ad84872" /><Relationship Type="http://schemas.openxmlformats.org/officeDocument/2006/relationships/slide" Target="/ppt/slides/slide27.xml" Id="Rb08131cfeb1245fa" /><Relationship Type="http://schemas.openxmlformats.org/officeDocument/2006/relationships/slide" Target="/ppt/slides/slide28.xml" Id="R24d3c828485b4271" /><Relationship Type="http://schemas.openxmlformats.org/officeDocument/2006/relationships/slide" Target="/ppt/slides/slide29.xml" Id="R59a24a09abd44ced" /><Relationship Type="http://schemas.openxmlformats.org/officeDocument/2006/relationships/slide" Target="/ppt/slides/slide30.xml" Id="R7e61d66fd5584494" /><Relationship Type="http://schemas.openxmlformats.org/officeDocument/2006/relationships/slide" Target="/ppt/slides/slide31.xml" Id="R492dc8c398094f07" /><Relationship Type="http://schemas.openxmlformats.org/officeDocument/2006/relationships/slide" Target="/ppt/slides/slide32.xml" Id="Rd378904b01ab44da" /><Relationship Type="http://schemas.openxmlformats.org/officeDocument/2006/relationships/slide" Target="/ppt/slides/slide33.xml" Id="Rbe1f917e6f8d48f1" /><Relationship Type="http://schemas.openxmlformats.org/officeDocument/2006/relationships/slide" Target="/ppt/slides/slide34.xml" Id="R0e156cb93b53406b" /><Relationship Type="http://schemas.openxmlformats.org/officeDocument/2006/relationships/slide" Target="/ppt/slides/slide35.xml" Id="Rfbd4c3f3561c4be9" /><Relationship Type="http://schemas.openxmlformats.org/officeDocument/2006/relationships/slide" Target="/ppt/slides/slide36.xml" Id="R275e84e523cd42a6" /><Relationship Type="http://schemas.openxmlformats.org/officeDocument/2006/relationships/slide" Target="/ppt/slides/slide37.xml" Id="R36f65f41d6de4c4e" /><Relationship Type="http://schemas.openxmlformats.org/officeDocument/2006/relationships/slide" Target="/ppt/slides/slide38.xml" Id="R5879d46df11649f9" /><Relationship Type="http://schemas.openxmlformats.org/officeDocument/2006/relationships/slide" Target="/ppt/slides/slide39.xml" Id="Rbf1ef81daf764b4b" /><Relationship Type="http://schemas.openxmlformats.org/officeDocument/2006/relationships/slide" Target="/ppt/slides/slide40.xml" Id="R25ba06b9761a4b6e" /><Relationship Type="http://schemas.openxmlformats.org/officeDocument/2006/relationships/slide" Target="/ppt/slides/slide41.xml" Id="R7d0fb186c82c4274" /><Relationship Type="http://schemas.openxmlformats.org/officeDocument/2006/relationships/slide" Target="/ppt/slides/slide42.xml" Id="R1bf952dda7c5449a" /><Relationship Type="http://schemas.openxmlformats.org/officeDocument/2006/relationships/slide" Target="/ppt/slides/slide43.xml" Id="Rf05d61c995bd4a6e" /><Relationship Type="http://schemas.openxmlformats.org/officeDocument/2006/relationships/slide" Target="/ppt/slides/slide44.xml" Id="Reb508f31cce74e84" /><Relationship Type="http://schemas.openxmlformats.org/officeDocument/2006/relationships/slide" Target="/ppt/slides/slide45.xml" Id="R9b3f4c37e5364bdc" /><Relationship Type="http://schemas.openxmlformats.org/officeDocument/2006/relationships/slide" Target="/ppt/slides/slide46.xml" Id="R300b59a066be4c5c" /><Relationship Type="http://schemas.openxmlformats.org/officeDocument/2006/relationships/slide" Target="/ppt/slides/slide47.xml" Id="Ra2bdd83745d74a2b" /><Relationship Type="http://schemas.openxmlformats.org/officeDocument/2006/relationships/slide" Target="/ppt/slides/slide48.xml" Id="R4919ee33ca5942d4" /><Relationship Type="http://schemas.openxmlformats.org/officeDocument/2006/relationships/slide" Target="/ppt/slides/slide49.xml" Id="R924398343ea1418a" /><Relationship Type="http://schemas.openxmlformats.org/officeDocument/2006/relationships/slide" Target="/ppt/slides/slide50.xml" Id="R086680756dbc49db" /><Relationship Type="http://schemas.openxmlformats.org/officeDocument/2006/relationships/slide" Target="/ppt/slides/slide51.xml" Id="R8ba92bd82f3f4ecb" /><Relationship Type="http://schemas.openxmlformats.org/officeDocument/2006/relationships/slide" Target="/ppt/slides/slide52.xml" Id="Rc2d3d1d97d864163" /><Relationship Type="http://schemas.openxmlformats.org/officeDocument/2006/relationships/slide" Target="/ppt/slides/slide53.xml" Id="R61888cae70e34ff4" /><Relationship Type="http://schemas.openxmlformats.org/officeDocument/2006/relationships/slide" Target="/ppt/slides/slide54.xml" Id="R5d4dbbe832164042" /><Relationship Type="http://schemas.openxmlformats.org/officeDocument/2006/relationships/slide" Target="/ppt/slides/slide55.xml" Id="R02380a2468cf4abb" /><Relationship Type="http://schemas.openxmlformats.org/officeDocument/2006/relationships/slide" Target="/ppt/slides/slide56.xml" Id="Rcdc2c1b0c2084fb6" /><Relationship Type="http://schemas.openxmlformats.org/officeDocument/2006/relationships/slide" Target="/ppt/slides/slide57.xml" Id="R24e0a3ef34b749b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0c47845bfb45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b7b805c034148c4" /><Relationship Type="http://schemas.openxmlformats.org/officeDocument/2006/relationships/notesMaster" Target="/ppt/notesMasters/notesMaster1.xml" Id="Rd64ccc44ef4342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4343e4b470a4441a" /><Relationship Type="http://schemas.openxmlformats.org/officeDocument/2006/relationships/notesMaster" Target="/ppt/notesMasters/notesMaster1.xml" Id="Rf57e04570cf745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1eafea09054998" /><Relationship Type="http://schemas.openxmlformats.org/officeDocument/2006/relationships/notesMaster" Target="/ppt/notesMasters/notesMaster1.xml" Id="R2e1cf0ddbc8247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c42bf30f6c45e2" /><Relationship Type="http://schemas.openxmlformats.org/officeDocument/2006/relationships/notesMaster" Target="/ppt/notesMasters/notesMaster1.xml" Id="Re79dfe62a37f45fb"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33e32ed06844e1" /><Relationship Type="http://schemas.openxmlformats.org/officeDocument/2006/relationships/notesMaster" Target="/ppt/notesMasters/notesMaster1.xml" Id="Rdc14b48b2d524f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7e9e10e8a4ca4bf7" /><Relationship Type="http://schemas.openxmlformats.org/officeDocument/2006/relationships/notesMaster" Target="/ppt/notesMasters/notesMaster1.xml" Id="R3d2f466ab32043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d8d7b38277b42a5" /><Relationship Type="http://schemas.openxmlformats.org/officeDocument/2006/relationships/notesMaster" Target="/ppt/notesMasters/notesMaster1.xml" Id="R24f2316897994a18"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8a5ef312ae4995" /><Relationship Type="http://schemas.openxmlformats.org/officeDocument/2006/relationships/notesMaster" Target="/ppt/notesMasters/notesMaster1.xml" Id="R27ffbef42cb94e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05f1059af24336" /><Relationship Type="http://schemas.openxmlformats.org/officeDocument/2006/relationships/notesMaster" Target="/ppt/notesMasters/notesMaster1.xml" Id="R9ff1495bc07940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24a5f4a8cd441e5" /><Relationship Type="http://schemas.openxmlformats.org/officeDocument/2006/relationships/notesMaster" Target="/ppt/notesMasters/notesMaster1.xml" Id="R86cfef2316534c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0167c2d12a4df6" /><Relationship Type="http://schemas.openxmlformats.org/officeDocument/2006/relationships/notesMaster" Target="/ppt/notesMasters/notesMaster1.xml" Id="R06898c002591461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067fa2b6404d27" /><Relationship Type="http://schemas.openxmlformats.org/officeDocument/2006/relationships/notesMaster" Target="/ppt/notesMasters/notesMaster1.xml" Id="Rceff1f929f4c44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de4b3e7404440b5" /><Relationship Type="http://schemas.openxmlformats.org/officeDocument/2006/relationships/notesMaster" Target="/ppt/notesMasters/notesMaster1.xml" Id="Rc496964959c4487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367eb9d870b4e71" /><Relationship Type="http://schemas.openxmlformats.org/officeDocument/2006/relationships/notesMaster" Target="/ppt/notesMasters/notesMaster1.xml" Id="R2e629ecb1f2140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f9a05e2c66e43ca" /><Relationship Type="http://schemas.openxmlformats.org/officeDocument/2006/relationships/notesMaster" Target="/ppt/notesMasters/notesMaster1.xml" Id="R6b946291ae3046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be29c26d08c472f" /><Relationship Type="http://schemas.openxmlformats.org/officeDocument/2006/relationships/notesMaster" Target="/ppt/notesMasters/notesMaster1.xml" Id="R07777b1fa5a145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c0cb065dcdd4449" /><Relationship Type="http://schemas.openxmlformats.org/officeDocument/2006/relationships/notesMaster" Target="/ppt/notesMasters/notesMaster1.xml" Id="R3c42b6ba32894ff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26c0f77b4846bb" /><Relationship Type="http://schemas.openxmlformats.org/officeDocument/2006/relationships/notesMaster" Target="/ppt/notesMasters/notesMaster1.xml" Id="R67e843650d67412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9880a5b264f42b8" /><Relationship Type="http://schemas.openxmlformats.org/officeDocument/2006/relationships/notesMaster" Target="/ppt/notesMasters/notesMaster1.xml" Id="R19b4caebdf834ec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4d53f374e8442bd" /><Relationship Type="http://schemas.openxmlformats.org/officeDocument/2006/relationships/notesMaster" Target="/ppt/notesMasters/notesMaster1.xml" Id="R36bb9d7198124c5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ad1c7a4a5d4c2a" /><Relationship Type="http://schemas.openxmlformats.org/officeDocument/2006/relationships/notesMaster" Target="/ppt/notesMasters/notesMaster1.xml" Id="Re296fc4d68e746e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67c57e1a9b54c8d" /><Relationship Type="http://schemas.openxmlformats.org/officeDocument/2006/relationships/notesMaster" Target="/ppt/notesMasters/notesMaster1.xml" Id="R0409ef92a9074ba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608a4a750934f3b" /><Relationship Type="http://schemas.openxmlformats.org/officeDocument/2006/relationships/notesMaster" Target="/ppt/notesMasters/notesMaster1.xml" Id="R46bcc813451741e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9c0f73e96e4388" /><Relationship Type="http://schemas.openxmlformats.org/officeDocument/2006/relationships/notesMaster" Target="/ppt/notesMasters/notesMaster1.xml" Id="Rb301d1c75877499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bb504a7db414da8" /><Relationship Type="http://schemas.openxmlformats.org/officeDocument/2006/relationships/notesMaster" Target="/ppt/notesMasters/notesMaster1.xml" Id="R097c8cfe5be14b9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6db5a4b0d164988" /><Relationship Type="http://schemas.openxmlformats.org/officeDocument/2006/relationships/notesMaster" Target="/ppt/notesMasters/notesMaster1.xml" Id="R52e50756807541f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a0e7ebd88ab4c6d" /><Relationship Type="http://schemas.openxmlformats.org/officeDocument/2006/relationships/notesMaster" Target="/ppt/notesMasters/notesMaster1.xml" Id="Re100d02723824c4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7edf35785943af" /><Relationship Type="http://schemas.openxmlformats.org/officeDocument/2006/relationships/notesMaster" Target="/ppt/notesMasters/notesMaster1.xml" Id="R8d7646ec2d804e0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cc7dd37d1c2411c" /><Relationship Type="http://schemas.openxmlformats.org/officeDocument/2006/relationships/notesMaster" Target="/ppt/notesMasters/notesMaster1.xml" Id="Rf3b9aaa493764fa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ffbc199ade34431" /><Relationship Type="http://schemas.openxmlformats.org/officeDocument/2006/relationships/notesMaster" Target="/ppt/notesMasters/notesMaster1.xml" Id="Ref1f51407bca49c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158ad91c88d427d" /><Relationship Type="http://schemas.openxmlformats.org/officeDocument/2006/relationships/notesMaster" Target="/ppt/notesMasters/notesMaster1.xml" Id="R2a55f7ad962d4eb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8a00d9750944ccd" /><Relationship Type="http://schemas.openxmlformats.org/officeDocument/2006/relationships/notesMaster" Target="/ppt/notesMasters/notesMaster1.xml" Id="R659c12e261164b6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9821fab30e54803" /><Relationship Type="http://schemas.openxmlformats.org/officeDocument/2006/relationships/notesMaster" Target="/ppt/notesMasters/notesMaster1.xml" Id="Raaf169a4598d40a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13793518a6d4c6e" /><Relationship Type="http://schemas.openxmlformats.org/officeDocument/2006/relationships/notesMaster" Target="/ppt/notesMasters/notesMaster1.xml" Id="R4751a1f4405e4e4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81221f8a1e54aa7" /><Relationship Type="http://schemas.openxmlformats.org/officeDocument/2006/relationships/notesMaster" Target="/ppt/notesMasters/notesMaster1.xml" Id="R80b9f089b47740b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232e1000b364ceb" /><Relationship Type="http://schemas.openxmlformats.org/officeDocument/2006/relationships/notesMaster" Target="/ppt/notesMasters/notesMaster1.xml" Id="R6b222af88dbe4c1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00d274fc2c64c12" /><Relationship Type="http://schemas.openxmlformats.org/officeDocument/2006/relationships/notesMaster" Target="/ppt/notesMasters/notesMaster1.xml" Id="R4fc68d41580a4cb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31cc8d5272c4816" /><Relationship Type="http://schemas.openxmlformats.org/officeDocument/2006/relationships/notesMaster" Target="/ppt/notesMasters/notesMaster1.xml" Id="R1abe6923c3504b3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847f89995284c31" /><Relationship Type="http://schemas.openxmlformats.org/officeDocument/2006/relationships/notesMaster" Target="/ppt/notesMasters/notesMaster1.xml" Id="R5cd368a45bd7470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422174cc9ba4e6f" /><Relationship Type="http://schemas.openxmlformats.org/officeDocument/2006/relationships/notesMaster" Target="/ppt/notesMasters/notesMaster1.xml" Id="R5d7ac2693c8f459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f082e148e4e4cf3" /><Relationship Type="http://schemas.openxmlformats.org/officeDocument/2006/relationships/notesMaster" Target="/ppt/notesMasters/notesMaster1.xml" Id="R1106759beb7546e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067e66cb9a9474e" /><Relationship Type="http://schemas.openxmlformats.org/officeDocument/2006/relationships/notesMaster" Target="/ppt/notesMasters/notesMaster1.xml" Id="Rf00dbef9a699431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1ea4ac2bdcd4d26" /><Relationship Type="http://schemas.openxmlformats.org/officeDocument/2006/relationships/notesMaster" Target="/ppt/notesMasters/notesMaster1.xml" Id="Rdb0545abe47746c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0b4f36ec4854105" /><Relationship Type="http://schemas.openxmlformats.org/officeDocument/2006/relationships/notesMaster" Target="/ppt/notesMasters/notesMaster1.xml" Id="Rf2293d086344466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41ae1b2ab0b4cc2" /><Relationship Type="http://schemas.openxmlformats.org/officeDocument/2006/relationships/notesMaster" Target="/ppt/notesMasters/notesMaster1.xml" Id="R9b4d77b699b247c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12176e3e6a34b3b" /><Relationship Type="http://schemas.openxmlformats.org/officeDocument/2006/relationships/notesMaster" Target="/ppt/notesMasters/notesMaster1.xml" Id="R18eb1f1071e14ed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57f422aac58466e" /><Relationship Type="http://schemas.openxmlformats.org/officeDocument/2006/relationships/notesMaster" Target="/ppt/notesMasters/notesMaster1.xml" Id="R12082705095a475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1998cf9ebdc429b" /><Relationship Type="http://schemas.openxmlformats.org/officeDocument/2006/relationships/notesMaster" Target="/ppt/notesMasters/notesMaster1.xml" Id="R55d64ca1705449a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6c7affc32d746e4" /><Relationship Type="http://schemas.openxmlformats.org/officeDocument/2006/relationships/notesMaster" Target="/ppt/notesMasters/notesMaster1.xml" Id="Re847c7fee1d3477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a78ffa5b3ae4f29" /><Relationship Type="http://schemas.openxmlformats.org/officeDocument/2006/relationships/notesMaster" Target="/ppt/notesMasters/notesMaster1.xml" Id="R9fbf9cb018434c7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47b1b94864341a3" /><Relationship Type="http://schemas.openxmlformats.org/officeDocument/2006/relationships/notesMaster" Target="/ppt/notesMasters/notesMaster1.xml" Id="R55118b30f83f4c4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dc6b4d4ab3746c3" /><Relationship Type="http://schemas.openxmlformats.org/officeDocument/2006/relationships/notesMaster" Target="/ppt/notesMasters/notesMaster1.xml" Id="R124ff4f1f6bf4ca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68f59a23b404bca" /><Relationship Type="http://schemas.openxmlformats.org/officeDocument/2006/relationships/notesMaster" Target="/ppt/notesMasters/notesMaster1.xml" Id="R22e17f1b81cb40c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4ef1661622e4a11" /><Relationship Type="http://schemas.openxmlformats.org/officeDocument/2006/relationships/notesMaster" Target="/ppt/notesMasters/notesMaster1.xml" Id="R4b5a898ef79741f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78872d32fc74fb1" /><Relationship Type="http://schemas.openxmlformats.org/officeDocument/2006/relationships/notesMaster" Target="/ppt/notesMasters/notesMaster1.xml" Id="Rbc336aa830dc413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95db751b03e41dd" /><Relationship Type="http://schemas.openxmlformats.org/officeDocument/2006/relationships/notesMaster" Target="/ppt/notesMasters/notesMaster1.xml" Id="Rcd91ac5fa214483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e51e62fc8b84e10" /><Relationship Type="http://schemas.openxmlformats.org/officeDocument/2006/relationships/notesMaster" Target="/ppt/notesMasters/notesMaster1.xml" Id="R251685e6be1241c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session develops the account of value in Madhyasth Darshan. We begin with the active unit in coexistence and then examine how value is understood, felt and fulfilled by jeevan. The central distinctions are between the forms of value, between an established relationship value and its expression, and between a value’s definite content and the evidence that a person fulfils it. We will connect the technical account of the faculties with nourishment, care, learning, production and social responsibility. The study’s account of Madhyasth Darshan supplies our main exposition; its comparisons and open problems help us examine the limits of the argument.</a:t>
            </a:r>
          </a:p>
          <a:p xmlns:a="http://schemas.openxmlformats.org/drawingml/2006/main">
            <a:r>
              <a:t/>
            </a:r>
          </a:p>
          <a:p xmlns:a="http://schemas.openxmlformats.org/drawingml/2006/main">
            <a:r>
              <a:t>Sources: Study §§1.1–1.8, Appendix A; revised September 6, 2026.</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prior studies are the conceptual foundation. Ontology explains what exists and the structure of its activity; epistemology explains the knower and the development of understanding. Axiology now asks what is valuable in that activity, what correct recognition recognises, and what fulfils the value. We will proceed through ground, forms, fulfilment, ordering and continuity. This keeps the faculty account connected to the practical questions of care, material provision and education. The final transition to social order is substantive: the account must explain how families and institutions sustain these purposes.</a:t>
            </a:r>
          </a:p>
          <a:p xmlns:a="http://schemas.openxmlformats.org/drawingml/2006/main">
            <a:r>
              <a:t/>
            </a:r>
          </a:p>
          <a:p xmlns:a="http://schemas.openxmlformats.org/drawingml/2006/main">
            <a:r>
              <a:t>Sources: Study Introduction; §§1.1–1.8.</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enough food on the table while a guest is overlooked. We can distinguish several questions before knowing the technical vocabulary. The food has a capacity for nourishment; the host has resources; the guest stands in a human relationship; and an actual responsibility remains unfulfilled. Correcting the omission requires understanding the situation and making an appropriate contribution. A pleasant meal is evidence about one occasion. The claim that care has become established requires examination of the host’s understanding and continuity. This is an illustrative case, not a claim about an observed household. We will revisit it with the framework in place.</a:t>
            </a:r>
          </a:p>
          <a:p xmlns:a="http://schemas.openxmlformats.org/drawingml/2006/main">
            <a:r>
              <a:t/>
            </a:r>
          </a:p>
          <a:p xmlns:a="http://schemas.openxmlformats.org/drawingml/2006/main">
            <a:r>
              <a:t>Sources: Study §§1.3–1.5; illustration based on the nourishment example.</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Madhyasth Darshan identifies value with essentiality. This claim reaches beyond human preferences: a unit bears its own characteristic participation within coexistence. Essential nature and dharma identify the relevant qualitative significance. A quantitative account may tell us the amount of food, but the axiological question concerns its nourishing participation and its place in fulfilled human responsibility. Human evaluation can be mistaken precisely because recognition is answerable to something beyond approval. The normative authority of this identification remains an explicit philosophical question in the critical study. For now, the task is to understand the claim accurately before assessing its warrant.</a:t>
            </a:r>
          </a:p>
          <a:p xmlns:a="http://schemas.openxmlformats.org/drawingml/2006/main">
            <a:r>
              <a:t/>
            </a:r>
          </a:p>
          <a:p xmlns:a="http://schemas.openxmlformats.org/drawingml/2006/main">
            <a:r>
              <a:t>Sources: Study §1.1; MVD pp. 47, 124–125; SB pp. 50, 87; AVD p. 184.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four aspects of the same active unit. They do not form a manufacturing sequence in which form first produces properties and then acquires value. The distinction helps us avoid two errors. We cannot understand qualitative significance by reporting only configuration and quantity. Equally, we cannot ignore configuration and actual effects when evaluating what a thing can fulfil. For human living, the account relates essential nature to humane values and dharma to happiness. Actual conduct may fail to express that essential nature while the purpose of happiness remains present. Axiology therefore has to distinguish the basis of value from its present recognition and fulfilment.</a:t>
            </a:r>
          </a:p>
          <a:p xmlns:a="http://schemas.openxmlformats.org/drawingml/2006/main">
            <a:r>
              <a:t/>
            </a:r>
          </a:p>
          <a:p xmlns:a="http://schemas.openxmlformats.org/drawingml/2006/main">
            <a:r>
              <a:t>Sources: Study §1.1 and Editorial Notes; MVD p. 47; SB pp. 60–62, 87.</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Satta is the omnipresent, actionless ground in which units are saturated. The unit remains active; saturation is not presented as a measured transfer of fuel from an external agent. Bal and shakti name strength in state and power in motion. Both belong to the same continuing activity. This prepares the distinction between established and expressed values: the strength borne and the power expressed are connected, while neither is a separate substance. The ontological relation is a position of Madhyasth Darshan. Its philosophical meaning should be understood without converting it into a physical force law that the source passages do not supply.</a:t>
            </a:r>
          </a:p>
          <a:p xmlns:a="http://schemas.openxmlformats.org/drawingml/2006/main">
            <a:r>
              <a:t/>
            </a:r>
          </a:p>
          <a:p xmlns:a="http://schemas.openxmlformats.org/drawingml/2006/main">
            <a:r>
              <a:t>Sources: Study §1.1; MVD pp. 35, 40; SB pp. 60–62.</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relations concern aspects of one activity. Effort is aligned with dharma and essential nature; motion with essential nature and properties; result with form. Essential nature occurs on both sides, so this is not a one-to-one derivation. Nor should the table be read as three clocked stages of a process. In the fuller passage, amaratva occurs with result in a context involving constitutional completeness. The study does not generalise it into immortality of every material configuration. We also distinguish configurational result from the broader human consequences that later evaluation examines. The four-aspect account grounds the activity; the actual mutuality determines what the participation means.</a:t>
            </a:r>
          </a:p>
          <a:p xmlns:a="http://schemas.openxmlformats.org/drawingml/2006/main">
            <a:r>
              <a:t/>
            </a:r>
          </a:p>
          <a:p xmlns:a="http://schemas.openxmlformats.org/drawingml/2006/main">
            <a:r>
              <a:t>Sources: Study §1.1 and Editorial Notes; SB pp. 60–62; MVD pp. 40, 47.</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claim that every order has value does not mean every actual effect is morally good. Integration and disintegration have definite roles in material nature. Pranic activity introduces growth and the vitalising or devitalising character of conduct. Animal living joins body and jeevan with the hope to live; the human knowledge order brings the possibility of understanding and happiness. Human responsibility includes correct recognition of these relations and participation that nurtures the conditions of coexistence. Ecological decision-making still has to specify the actual effects, alternatives and responsibilities involved. The ontology supplies the orders; axiology examines their participation and the human responsibility that follows within the account.</a:t>
            </a:r>
          </a:p>
          <a:p xmlns:a="http://schemas.openxmlformats.org/drawingml/2006/main">
            <a:r>
              <a:t/>
            </a:r>
          </a:p>
          <a:p xmlns:a="http://schemas.openxmlformats.org/drawingml/2006/main">
            <a:r>
              <a:t>Sources: Study §§1.1, 1.5; SB pp. 179–182, 249.</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map of connected uses of mulya, not a claim that the corpus contains seven mutually exclusive boxes. The same participation can exhibit several forms. When a caregiver offers suitable food, usefulness belongs to the food, care identifies the relationship value, and generosity expresses both humane essential nature and that care. Jeevan understands, evaluates and tastes value. Money can represent goods in exchange, but a monetary amount does not establish nourishment or fulfilled care. Need links useful means to the purposes they serve; the dedication passage explicitly names avashyakta mulya. We will return to that relation after examining the forms in detail.</a:t>
            </a:r>
          </a:p>
          <a:p xmlns:a="http://schemas.openxmlformats.org/drawingml/2006/main">
            <a:r>
              <a:t/>
            </a:r>
          </a:p>
          <a:p xmlns:a="http://schemas.openxmlformats.org/drawingml/2006/main">
            <a:r>
              <a:t>Sources: Study §1.3 and Editorial Notes; MVD pp. 183, 306; JV pp. 43, 55, 137–139.</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terms separate roles that ordinary English can blur. Chetana names actionless knowledge in relation to sentient nature. Chaitanya names sentient nature, present as constitutionally complete jeevan. Realisation belongs to the activity of that unit. Satta does not become a unit or perform evaluation on our behalf. Constitutional completeness identifies capacity; it does not guarantee that the person’s current evaluation is correct. This distinction matters throughout value theory because an enduring basis can coexist with mistaken recognition. Awakening concerns the development of understanding and conduct within the conscious unit’s existing constitution.</a:t>
            </a:r>
          </a:p>
          <a:p xmlns:a="http://schemas.openxmlformats.org/drawingml/2006/main">
            <a:r>
              <a:t/>
            </a:r>
          </a:p>
          <a:p xmlns:a="http://schemas.openxmlformats.org/drawingml/2006/main">
            <a:r>
              <a:t>Sources: Study §1.2; MVD pp. 35, 74–75, 97–100; SB pp. 63–64.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does not mean inactivity. It names the strength side of jeevan’s continuing activity. Motion names the corresponding expression as power. An established relationship value is therefore an understood basis of participation, rather than a dormant object inside the person. The correspondence is definite, yet the adequacy of an actual act also depends on resources and skill. A person may understand care and lack the means for adequate provision. Another person may make an effective contribution while still learning its meaning. Those possibilities require us to examine establishment and actual fulfilment separately while keeping their relation intact.</a:t>
            </a:r>
          </a:p>
          <a:p xmlns:a="http://schemas.openxmlformats.org/drawingml/2006/main">
            <a:r>
              <a:t/>
            </a:r>
          </a:p>
          <a:p xmlns:a="http://schemas.openxmlformats.org/drawingml/2006/main">
            <a:r>
              <a:t>Sources: Study §§1.2–1.4; KD §3.8, p. 84; AVD pp. 91–94.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follows Karm Darshan’s state and motion account. Atma realises and evidences; buddhi understands and resolves; chitta contemplates and visualises; vritti deliberates and analyses; mun tastes and selects. In the awakened account, contemplation and deliberation concern justice, dharma and truth. These terms are not exclusively owned by one faculty each. Understanding at buddhi and realisation at atma supply the meaning that the other activities express. The faculties form one conscious unit, not five successive compartments or anatomical regions. The study follows the checked Hindi relation where the working English headings in AVD reverse strength and power.</a:t>
            </a:r>
          </a:p>
          <a:p xmlns:a="http://schemas.openxmlformats.org/drawingml/2006/main">
            <a:r>
              <a:t/>
            </a:r>
          </a:p>
          <a:p xmlns:a="http://schemas.openxmlformats.org/drawingml/2006/main">
            <a:r>
              <a:t>Sources: Study §1.2 and Editorial Notes; KD §3.8, p. 84; MVD pp. 99–100, 156.</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point is not that successful action travels through five faculties in a fixed temporal order. The account describes dependencies of meaning and expression. A person can imagine a desirable result and work out how to obtain it while misunderstanding what is due to another person. Accurate calculation therefore cannot by itself establish correct valuation. Understanding and realisation concern the reality whose meaning is contemplated, analysed, tasted and selected. MVD describes chitta’s visualisation through form, properties, count, time, expanse, effort, motion and result. These are dimensions of what is visualised, not a mechanism that creates the value of the imagined unit.</a:t>
            </a:r>
          </a:p>
          <a:p xmlns:a="http://schemas.openxmlformats.org/drawingml/2006/main">
            <a:r>
              <a:t/>
            </a:r>
          </a:p>
          <a:p xmlns:a="http://schemas.openxmlformats.org/drawingml/2006/main">
            <a:r>
              <a:t>Sources: Study §1.2; MVD pp. 83, 99–100, 156, 203, 327; KD p. 84.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name definite harmonies between activities. Samatva is concurrence; nirvirodh is absence of opposition. Their content matters: two mistaken beliefs can agree without fulfilling the harmony described here. Happiness involves resolution and behaviour free of wrongdoing; peace concerns thought free of injustice; contentment concerns desire free of attachment; bliss concerns understanding free of ignorance. The named value is the harmony lived and felt. We must then ask separately whether a particular person fulfils it and what evidence supports that claim. These are not four numerical scores or simply escalating intensities of pleasant feeling.</a:t>
            </a:r>
          </a:p>
          <a:p xmlns:a="http://schemas.openxmlformats.org/drawingml/2006/main">
            <a:r>
              <a:t/>
            </a:r>
          </a:p>
          <a:p xmlns:a="http://schemas.openxmlformats.org/drawingml/2006/main">
            <a:r>
              <a:t>Sources: Study §1.2; MVD pp. 327–328, 331, 333, 346; JV p. 138; MAD reader p. 47.</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cumulative sequence retains earlier content as fulfilment becomes more comprehensive. Peace includes resolution and prosperity. Contentment includes both and fearlessness. Bliss includes the full set with coexistence. It would distort this passage to assign prosperity alone to peace or coexistence alone to bliss. The fields of person, family, society and universal orderliness help us examine the claim at its proper scope. A person’s assurance does not automatically establish family provision or society-wide fearlessness. The account connects inward harmony with these wider purposes, and each purpose requires its own evidence in living.</a:t>
            </a:r>
          </a:p>
          <a:p xmlns:a="http://schemas.openxmlformats.org/drawingml/2006/main">
            <a:r>
              <a:t/>
            </a:r>
          </a:p>
          <a:p xmlns:a="http://schemas.openxmlformats.org/drawingml/2006/main">
            <a:r>
              <a:t>Sources: Study §1.2; KD §3.12, p. 112; JV pp. 53, 62, 140; AVD p. 228.</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Contentment cannot be reduced to accepting material deprivation. The account includes freedom from the sentiment of lack together with readiness for productive sufficiency beyond properly understood need. Its paired expression is shree, abundance. We must also distinguish anand from paramanand. Bliss is borne at buddhi in its harmony with atma; ultimate bliss belongs to realisation in atma and its authentic evidence. Eternal saturation states the ontological relation already present. Realisation states what becomes fulfilled in awakened activity. These distinctions preserve material responsibility, the structure of the faculties and the difference between capacity and attainment.</a:t>
            </a:r>
          </a:p>
          <a:p xmlns:a="http://schemas.openxmlformats.org/drawingml/2006/main">
            <a:r>
              <a:t/>
            </a:r>
          </a:p>
          <a:p xmlns:a="http://schemas.openxmlformats.org/drawingml/2006/main">
            <a:r>
              <a:t>Sources: Study §1.2; MVD pp. 327–328, 331; JV p. 138; KD p. 112.</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technical definitions of humane essential nature. Fortitude is firmness towards justice; courage makes justice available through intellectual and physical power; generosity offers body, mind and wealth according to need. Courage therefore has a specified purpose, and generosity requires attention to what the recipient actually needs. In the meal example, offering unsuitable food in a large quantity would not settle the question of adequate nurture. The examples on this slide explain the definitions; they do not replace them with a separate list of virtues. The next triad describes higher-humane expression through the relation between available content and the recipient’s receptivity.</a:t>
            </a:r>
          </a:p>
          <a:p xmlns:a="http://schemas.openxmlformats.org/drawingml/2006/main">
            <a:r>
              <a:t/>
            </a:r>
          </a:p>
          <a:p xmlns:a="http://schemas.openxmlformats.org/drawingml/2006/main">
            <a:r>
              <a:t>Sources: Study §1.3; MVD pp. 52, 60–61, 125, 340.</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distinction turns on the situation of the person being helped. If receptivity is present but the needed content is missing, kindness supplies that content. If content is available but receptivity is missing, grace develops receptivity. Where both are absent, compassion works to make both available. In a teaching illustration, giving further explanations may help a learner who is ready for them; another learner may need the preparation that makes the explanation intelligible. Where neither preparation nor content is available, both must be developed. These examples are applications of the source definitions, not a psychological diagnosis of a particular person. Love includes the combined expression of these values.</a:t>
            </a:r>
          </a:p>
          <a:p xmlns:a="http://schemas.openxmlformats.org/drawingml/2006/main">
            <a:r>
              <a:t/>
            </a:r>
          </a:p>
          <a:p xmlns:a="http://schemas.openxmlformats.org/drawingml/2006/main">
            <a:r>
              <a:t>Sources: Study §1.3; MVD pp. 60–61, 331, 340.</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Care and generosity are a specified pair. Care concerns nurture and protection; generosity gives the corresponding outward expression by making suitable means available. Generosity also names a human value, so the same act can articulate humane essential nature and fulfil a relationship. The location at mun identifies an activity position within the whole coordinated jeevan. Understanding and fulfilment do not belong to an isolated compartment. In examining a contribution, we distinguish the meaning the person understands, the means they can offer, and what their participation actually fulfils. A one-to-one correspondence between values does not make every outward act sufficient evidence of established understanding.</a:t>
            </a:r>
          </a:p>
          <a:p xmlns:a="http://schemas.openxmlformats.org/drawingml/2006/main">
            <a:r>
              <a:t/>
            </a:r>
          </a:p>
          <a:p xmlns:a="http://schemas.openxmlformats.org/drawingml/2006/main">
            <a:r>
              <a:t>Sources: Study §§1.3–1.4; JV p. 108; AVD pp. 91–94; MVD pp. 331–340.</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first five of the principal nine established relationship values and their corresponding expressions. The Hindi terms preserve the vocabulary for further study. Read each row across as a definite correspondence, and read the faculty column as a named location in the larger activity account. Civic or shishta values means the expressed side here; it is not an unrelated list of citizenship duties. Care concerns nurture, guidance comprehensive understanding, trust fulfilled mutual value and orderliness, affection continuity in just meeting, and gratitude help received towards development. We will examine these meanings after completing the table, so the paired names remain connected to the responsibilities they express.</a:t>
            </a:r>
          </a:p>
          <a:p xmlns:a="http://schemas.openxmlformats.org/drawingml/2006/main">
            <a:r>
              <a:t/>
            </a:r>
          </a:p>
          <a:p xmlns:a="http://schemas.openxmlformats.org/drawingml/2006/main">
            <a:r>
              <a:t>Sources: Study §1.3; MAD reader p. 30; JV p. 108; AVD pp. 91–94.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rows complete the principal classification. Glory accepts an example for emulation; love concerns completeness and its expression through kindness, grace and compassion; reverence moves towards excellence and completeness; respect accepts excellence in personality and talent. The corresponding expressions are simplicity, non-otherness, devoutness and cordiality. The English names are reading aids whose ordinary associations do not exhaust the source meanings. The nine pairs occupy specified positions in the fuller activity account. We should retain the principal taxonomy without claiming that every occurrence of mulya in the corpus must name one of these nine.</a:t>
            </a:r>
          </a:p>
          <a:p xmlns:a="http://schemas.openxmlformats.org/drawingml/2006/main">
            <a:r>
              <a:t/>
            </a:r>
          </a:p>
          <a:p xmlns:a="http://schemas.openxmlformats.org/drawingml/2006/main">
            <a:r>
              <a:t>Sources: Study §1.3 and Editorial Notes; MAD reader pp. 30, 43; MVD pp. 331–340.</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pairs share a named location at mun, whose fundamental activities are tasting and selection. That does not make them merely sensory feelings: their adequacy depends on understanding through the whole jeevan. Care concerns nurture and protection, affection continuity in just meeting, and respect the acceptance of excellence in personality and talent. Their corresponding expressions make the acceptances evident in living. In a family or learning setting, provision, continuing participation and recognition of actual ability can therefore be examined distinctly. The location is a feature of the philosophy’s activity account, not a bodily or neurological assignment. Evidence about a person remains specific to their understanding and participation.</a:t>
            </a:r>
          </a:p>
          <a:p xmlns:a="http://schemas.openxmlformats.org/drawingml/2006/main">
            <a:r>
              <a:t/>
            </a:r>
          </a:p>
          <a:p xmlns:a="http://schemas.openxmlformats.org/drawingml/2006/main">
            <a:r>
              <a:t>Sources: Study §1.3; MVD pp. 331–340; AVD pp. 91–94.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vritti, trust, gratitude and glory have distinct meanings. Trust is connected to mutual value-fulfilment, orderliness and communicated resolution. It is common across relationships because participation requires that basis. Gratitude concerns help received towards development; glory concerns accepting an example to emulate. Recognising an example therefore asks what excellence is being exemplified and how it can become meaningful in one’s own living. The paired expressions should be read with these established meanings. We should not replace them with everyday assumptions about politeness, fame or obedience. Deliberation and analysis become humane through their understood content and its actual fulfilment.</a:t>
            </a:r>
          </a:p>
          <a:p xmlns:a="http://schemas.openxmlformats.org/drawingml/2006/main">
            <a:r>
              <a:t/>
            </a:r>
          </a:p>
          <a:p xmlns:a="http://schemas.openxmlformats.org/drawingml/2006/main">
            <a:r>
              <a:t>Sources: Study §1.3; MVD pp. 331–340; MAD reader pp. 30, 43.</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pairs belong at chitta, the faculty of contemplation and visualisation. Guidance is directed towards comprehensive understanding; its adequacy depends on what the learner can receive and what helps development. Reverence concerns excellence and completeness. Love includes completeness and the combined expression of kindness, grace and compassion. Non-otherness therefore has a wide scope: it is expressed in complementary activity with human beings and the rest of nature, including support for others’ awakening. Faculty location identifies the named position. Understanding at buddhi, realisation at atma and actual conduct remain relevant to whether the value has become established and fulfilled.</a:t>
            </a:r>
          </a:p>
          <a:p xmlns:a="http://schemas.openxmlformats.org/drawingml/2006/main">
            <a:r>
              <a:t/>
            </a:r>
          </a:p>
          <a:p xmlns:a="http://schemas.openxmlformats.org/drawingml/2006/main">
            <a:r>
              <a:t>Sources: Study §1.3; MVD pp. 331–340; AVD pp. 91–94.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Manav Abhyas Darshan explicitly names trust as common value and love as complete value. This is stronger textual evidence than treating the relationship list as a loose set of illustrations. Common and complete nevertheless answer different questions. Trust is common across the relational field; love concerns encompassing participation and its expression. It does not follow that every conflict can be resolved by assigning numbers to the nine values. Nor does technical love mean preference for someone close to us. Its expression includes the other person’s development and complementarity with nature. We will distinguish this relation of scope from dedication, endurance and inclusion when examining ordering.</a:t>
            </a:r>
          </a:p>
          <a:p xmlns:a="http://schemas.openxmlformats.org/drawingml/2006/main">
            <a:r>
              <a:t/>
            </a:r>
          </a:p>
          <a:p xmlns:a="http://schemas.openxmlformats.org/drawingml/2006/main">
            <a:r>
              <a:t>Sources: Study §§1.3, 1.6; MAD reader pp. 30, 43; MVD pp. 331, 336.</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relationship has expectations directed towards completeness. A contact has voluntarily determined expectations. Both remain answerable to justice; agreement does not by itself settle whether fulfilment is humane. The named relationships include parent and child, siblings, spouses, master and associate, teacher and student, friendship and orderliness relationships. These names identify responsibilities and purposes, not merely labels. We should not invent a one-to-one table between every relationship name and a single purpose, or silently reduce master–associate to a modern employment contract. Relational content can endure across distance and time while the appropriate means change with need and circumstance.</a:t>
            </a:r>
          </a:p>
          <a:p xmlns:a="http://schemas.openxmlformats.org/drawingml/2006/main">
            <a:r>
              <a:t/>
            </a:r>
          </a:p>
          <a:p xmlns:a="http://schemas.openxmlformats.org/drawingml/2006/main">
            <a:r>
              <a:t>Sources: Study §1.4; MVD pp. 61–62, 190; KD p. 20; MAD reader p. 51.</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Justice comprises recognition of relationships, fulfilment of their values, evaluation and mutual satisfaction. The relationship and its values supply the standard. Deliberation before action assesses responsibility and possible means; evaluation after participation examines what was fulfilled. Reported satisfaction cannot be isolated from the other requirements. The study’s Appendix A represents their conjunction as J equals R and F and E and M. That notation is an analytical reconstruction of the four-part criterion, not a new primary-text formula or an algorithm. It preserves distinctions: a correct plan may recognise responsibility while actual fulfilment remains absent.</a:t>
            </a:r>
          </a:p>
          <a:p xmlns:a="http://schemas.openxmlformats.org/drawingml/2006/main">
            <a:r>
              <a:t/>
            </a:r>
          </a:p>
          <a:p xmlns:a="http://schemas.openxmlformats.org/drawingml/2006/main">
            <a:r>
              <a:t>Sources: Study §1.4; Appendix A.2; MVD pp. 311, 336; JV pp. 98, 138–139.</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analyse the meal without flattening its different values. The food’s usefulness, the host’s recognised responsibility, generosity in offering means and the guest’s actual nourishment each have a place. A costly meal could fail to nourish this guest; a modest but appropriate contribution could fulfil the need. The relationship has to be recognised correctly and the result examined on both sides. One successful occasion supports a claim about that participation. The broader claim of established care needs evidence that the meaning is understood and sustained. This is a teaching application of the study’s nourishment example, not a source-supplied scoring instrument.</a:t>
            </a:r>
          </a:p>
          <a:p xmlns:a="http://schemas.openxmlformats.org/drawingml/2006/main">
            <a:r>
              <a:t/>
            </a:r>
          </a:p>
          <a:p xmlns:a="http://schemas.openxmlformats.org/drawingml/2006/main">
            <a:r>
              <a:t>Sources: Study §§1.3–1.5; Appendix A.2; MVD pp. 61, 203, 331–340.</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must preserve the distinction between the content of a value, its fulfilment in this instance and the evidence available to an evaluator. The meaning of care does not change because we have incomplete evidence about a caregiver. A contribution may be effective while its performer is learning. Conversely, someone may understand the responsibility and lack adequate means. Education therefore has more than one task: developing understanding, skill, suitable provision and continuity. We can recognise the real contribution of a learner without attributing complete establishment or awakening on the strength of a single act. The same discipline applies to claims about the four harmonies.</a:t>
            </a:r>
          </a:p>
          <a:p xmlns:a="http://schemas.openxmlformats.org/drawingml/2006/main">
            <a:r>
              <a:t/>
            </a:r>
          </a:p>
          <a:p xmlns:a="http://schemas.openxmlformats.org/drawingml/2006/main">
            <a:r>
              <a:t>Sources: Study §§1.2, 1.4, 1.8; Appendix A.1–A.3.</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relationship and the person’s operative recognition can differ. Evaluation therefore has work to do before and after action. Before acting, deliberation considers responsibility, means and possible contribution. After acting, the result becomes available for examination. That examination can clarify recognition or the means of fulfilment and inform further expression. This is an analytical account of continuing evaluation, grounded in the study’s discussion of understanding and practice. Repetition or feedback alone is not asserted to cause realisation. The same jeevan recognises, evaluates and tastes value; its understanding and conduct develop within an already complete constitution.</a:t>
            </a:r>
          </a:p>
          <a:p xmlns:a="http://schemas.openxmlformats.org/drawingml/2006/main">
            <a:r>
              <a:t/>
            </a:r>
          </a:p>
          <a:p xmlns:a="http://schemas.openxmlformats.org/drawingml/2006/main">
            <a:r>
              <a:t>Sources: Study §§1.4, 1.8; MVD pp. 83, 218; KD pp. 112–113.</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errors concern the relation between reality and its evaluation. The source uses iron and gold for over- and under-evaluation and a rope and snake for mis-evaluation. Their human significance extends to self-assessment, relationships, acquisition and the deployment of resources. Nirakarshan is freedom from attraction or attachment in the relevant definition, specifically freedom from these evaluative errors. It permits active conduct governed by essentiality. It is not a requirement to withdraw from responsibilities. Non-doership in this context concerns freedom from wrongful action. Self-evaluation is therefore part of the study of awakening, rather than an optional review after learning the names.</a:t>
            </a:r>
          </a:p>
          <a:p xmlns:a="http://schemas.openxmlformats.org/drawingml/2006/main">
            <a:r>
              <a:t/>
            </a:r>
          </a:p>
          <a:p xmlns:a="http://schemas.openxmlformats.org/drawingml/2006/main">
            <a:r>
              <a:t>Sources: Study §1.7; MVD pp. 87, 152, 203, 306; SB PDF p. 146.</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three perspectives direct attention to sensory attraction, bodily advantage and acquisition. The humane perspectives are justice, dharma and truth. The distinction does not erase pleasure or bodily health; it places them within resolved human purpose. A meal can taste pleasant and support health while still being distributed unjustly. Similarly, monetary gain does not establish prosperity or fulfilled relationships. Humane evaluation draws on understanding of the relationship, happiness as human dharma and truth as coexistence. The whole jeevan participates in that understanding; vritti names the deliberative location, not the exclusive owner of all justice or truth.</a:t>
            </a:r>
          </a:p>
          <a:p xmlns:a="http://schemas.openxmlformats.org/drawingml/2006/main">
            <a:r>
              <a:t/>
            </a:r>
          </a:p>
          <a:p xmlns:a="http://schemas.openxmlformats.org/drawingml/2006/main">
            <a:r>
              <a:t>Sources: Study §1.2; MVD pp. 58, 66, 336–337; JV pp. 139–140.</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describes human beings as deploying body, mind and wealth towards what they take to be most valuable. Under delusion, the four basic instincts are treated as highest. Discerning evaluation can place the three eshanas—progeny, wealth and reputation—highest. Delusionless evaluation places freedom from delusion highest. Evaluation in these states is named attachment, awakening and reality. This is the source’s evaluative account, not an empirical developmental timetable. Bodily nourishment and protection continue to matter. The change concerns their relation to the purpose of jeevan and the understanding that governs conduct. The eshanas should also remain distinct from the four purusharthas used in the Advaita comparison.</a:t>
            </a:r>
          </a:p>
          <a:p xmlns:a="http://schemas.openxmlformats.org/drawingml/2006/main">
            <a:r>
              <a:t/>
            </a:r>
          </a:p>
          <a:p xmlns:a="http://schemas.openxmlformats.org/drawingml/2006/main">
            <a:r>
              <a:t>Sources: Study §1.7 and Editorial Notes; MVD pp. 58, 60, 319; JV pp. 93–94.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Madhyasth Darshan excludes fear and temptation as relationship values. The distinction matters in education and social order: obedience or cooperation obtained through threat or reward cannot by itself be treated as evidence of established value. The act may still have a useful consequence, which deserves its own assessment. The person’s understanding and the relationship’s fulfilment are further questions. In teaching, we therefore need to ask what the learner recognises and accepts, how the responsibility is fulfilled, and whether that basis is continuous. The larger educational and political claims of the source require investigation; the conceptual point here concerns what counts as a value in mutuality.</a:t>
            </a:r>
          </a:p>
          <a:p xmlns:a="http://schemas.openxmlformats.org/drawingml/2006/main">
            <a:r>
              <a:t/>
            </a:r>
          </a:p>
          <a:p xmlns:a="http://schemas.openxmlformats.org/drawingml/2006/main">
            <a:r>
              <a:t>Sources: Study §§1.7–1.8; JV pp. 109–110; SB pp. 290–295.</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Dedication specifies the purpose served. The source names usefulness in need, need in expressed value, expressed in established value, established in human value, and human in jeevan value. The example column applies that relation to nourishment; it is a teaching illustration. Need is an explicit link, named avashyakta mulya in the source. It prevents us from treating material provision as detached from what it is to fulfil. Generosity appears in more than one role: a human value and an expression of care. These are connected uses, so dedication should not be misread as a set of mutually exclusive containers or as a causal chain producing value.</a:t>
            </a:r>
          </a:p>
          <a:p xmlns:a="http://schemas.openxmlformats.org/drawingml/2006/main">
            <a:r>
              <a:t/>
            </a:r>
          </a:p>
          <a:p xmlns:a="http://schemas.openxmlformats.org/drawingml/2006/main">
            <a:r>
              <a:t>Sources: Study §1.6 and Editorial Notes; MAD reader p. 34.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separates several textual arguments that a simple ladder can conflate. Dedication is a relation of service to a purpose. Higher valuation, guru mulyan, is defined through long-lasting result or non-transformability. Inclusion concerns what more comprehensive development retains: the four-order discussion and the cumulative fulfilment of resolution, prosperity, fearlessness and coexistence have their stated scope. Commonness and completeness concern relationship value. These relations make particular comparisons intelligible, but the cited passages supply neither one numerical scale nor a universal inclusion theorem covering every use of mulya. Contested obligations and allocation still require examination in the actual relationships.</a:t>
            </a:r>
          </a:p>
          <a:p xmlns:a="http://schemas.openxmlformats.org/drawingml/2006/main">
            <a:r>
              <a:t/>
            </a:r>
          </a:p>
          <a:p xmlns:a="http://schemas.openxmlformats.org/drawingml/2006/main">
            <a:r>
              <a:t>Sources: Study §1.6; §§7.1, 7.7; MVD pp. 43, 47, 110, 126, 219–222; MAD pp. 30, 34, 43.</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Usefulness belongs to things. Food, housing and adornment occur among common aspirations, with transport and communication among special aspirations. Their assessment begins with human purposes and family need. Aesthetic addition is meaningful where convenience is added to usefulness. Labour can establish an appropriate configuration on natural abundance, so human work matters in the account of value. In a teaching illustration, preparing food into a form the guest can use connects the material’s capacity with this need. That does not make human recognition create the original essentiality of the material. It makes a useful configuration available for fulfilment.</a:t>
            </a:r>
          </a:p>
          <a:p xmlns:a="http://schemas.openxmlformats.org/drawingml/2006/main">
            <a:r>
              <a:t/>
            </a:r>
          </a:p>
          <a:p xmlns:a="http://schemas.openxmlformats.org/drawingml/2006/main">
            <a:r>
              <a:t>Sources: Study §1.5; MVD pp. 56–57; JV pp. 123, 137–138.</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constancy and temporality claims should both remain visible. Jeevan Vidya describes usefulness as definite or constant through wheat and sesame, while allowing that interference can diminish it. Manav Abhyas Darshan describes usefulness and beauty as temporal because need, use, exchange and deployment are temporal. It is tempting to resolve these by distinguishing a kind’s capacity from the occasion of use. The study identifies that as a possible interpretation, not a reconciliation expressly supplied by the passages. Relational content, present recognition and changing means are also distinct. A careful exposition should preserve the question rather than presenting every value as simply timeless.</a:t>
            </a:r>
          </a:p>
          <a:p xmlns:a="http://schemas.openxmlformats.org/drawingml/2006/main">
            <a:r>
              <a:t/>
            </a:r>
          </a:p>
          <a:p xmlns:a="http://schemas.openxmlformats.org/drawingml/2006/main">
            <a:r>
              <a:t>Sources: Study §§1.4–1.5, 7.5 and Editorial Notes; JV pp. 123, 137–138; MAD reader p. 51.</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distinction between symbolic value and usefulness gives the economic argument its direction. A higher price does not make unchanged grain more nourishing. It may change access, and manufactured scarcity can obstruct the provision people need. Prosperity therefore involves understanding need, productive ability and readiness, and availability for right-use. This does not mean every comparison of goods is independent of circumstances. It means the monetary symbol and the capacity to fulfil a need require separate assessment. The price-doubling scenario is a teaching example. No current price claim or empirical economic result is being asserted here.</a:t>
            </a:r>
          </a:p>
          <a:p xmlns:a="http://schemas.openxmlformats.org/drawingml/2006/main">
            <a:r>
              <a:t/>
            </a:r>
          </a:p>
          <a:p xmlns:a="http://schemas.openxmlformats.org/drawingml/2006/main">
            <a:r>
              <a:t>Sources: Study §1.5; MVD pp. 183, 331; SB pp. 211–212.</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is the endeavour through labour, continued until success. Production standardises the successful process. Exchange has the distinct task of assessing labour-valued goods and protecting labour and its fruits. The proposed order seeks exchange free from profit and loss, with prosperity through production as its economic purpose. These proposals must be understood as proposals of the darshan. The study identifies unresolved procedures for evaluating different kinds of labour and distributing provision. Remuneration, gift and award are also recognised forms of rightful receiving. A person’s present productive capacity cannot be treated as the sole basis of their standing or need for care.</a:t>
            </a:r>
          </a:p>
          <a:p xmlns:a="http://schemas.openxmlformats.org/drawingml/2006/main">
            <a:r>
              <a:t/>
            </a:r>
          </a:p>
          <a:p xmlns:a="http://schemas.openxmlformats.org/drawingml/2006/main">
            <a:r>
              <a:t>Sources: Study §1.5; §7.11; MVD pp. 56, 260, 268–269; SB p. 237; AVD p. 170.</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material means can be considered through use, right-use and purposeful-use. Use concerns deployment in production and service. Right-use directs body, mind and wealth towards family orderliness. Purposeful-use serves awakening, undivided society and universal orderliness. These purposes give usefulness its place in the wider framework without making usefulness disappear. A family needs adequate food, housing and other means, and their production and use must be evaluated in relation to humane living. This is why axiology cannot leave material work to a wholly separate account: the responsibility to fulfil values requires real capacity and provision.</a:t>
            </a:r>
          </a:p>
          <a:p xmlns:a="http://schemas.openxmlformats.org/drawingml/2006/main">
            <a:r>
              <a:t/>
            </a:r>
          </a:p>
          <a:p xmlns:a="http://schemas.openxmlformats.org/drawingml/2006/main">
            <a:r>
              <a:t>Sources: Study §1.5; MVD p. 57; How Undivided Society Is Established §1.1.</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places human production within coexistence. Natural abundance is not merely a stock detached from the orders that make it available. Useful production should attend to regeneration and nurture the conditions of participation. That gives a direction for ecological responsibility, but it does not itself supply a complete rule for every trade-off. A process may meet a family need while damaging conditions on which others depend. The study therefore asks how value across the four orders guides concrete ecological decisions. Identifying the effects and alternatives is part of fulfilment, not an external consideration added after usefulness has been established.</a:t>
            </a:r>
          </a:p>
          <a:p xmlns:a="http://schemas.openxmlformats.org/drawingml/2006/main">
            <a:r>
              <a:t/>
            </a:r>
          </a:p>
          <a:p xmlns:a="http://schemas.openxmlformats.org/drawingml/2006/main">
            <a:r>
              <a:t>Sources: Study §1.5; §§7.3, 7.9; SB pp. 141, 200–201.</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Outward participation can make a meaningful example available to a learner. Its value is real even while understanding develops. A learner then examines the responsibility, the means and the result. This may deepen their own acceptance and enable further expression. The study treats this route as an interpretation of the textual accounts of education and evidenced conduct, not a necessary sequence that every learner follows. It would be too strong to claim that imitation or repetition automatically establishes values. The account requires knowing, believing, recognising and fulfilling, with self-evaluation and the learner’s own understanding providing the basis for continuity.</a:t>
            </a:r>
          </a:p>
          <a:p xmlns:a="http://schemas.openxmlformats.org/drawingml/2006/main">
            <a:r>
              <a:t/>
            </a:r>
          </a:p>
          <a:p xmlns:a="http://schemas.openxmlformats.org/drawingml/2006/main">
            <a:r>
              <a:t>Sources: Study §1.8 and Editorial Notes; KD pp. 18–19, 84, 112–113; MVD pp. 61, 94, 203.</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Sanskar concerns the acceptances and tendencies through which meaningful activity is expressed. Susanskar supports awakening and resolved living; kusanskar supports decline. Aapyayan concerns internal reception—welcoming, tasting and taking value into oneself—with evidence through evaluation. Parimarjan concerns qualitative refinement in hope, thought, desire and resolve. These ideas connect learning from another’s conduct with the person’s own understanding. They should not be reduced to memorisation or habit formation alone. Doing, enabling another’s doing and consenting all matter because one participates through each. The goal is an understanding that can sustain appropriate conduct, rather than merely repeat an externally supervised act.</a:t>
            </a:r>
          </a:p>
          <a:p xmlns:a="http://schemas.openxmlformats.org/drawingml/2006/main">
            <a:r>
              <a:t/>
            </a:r>
          </a:p>
          <a:p xmlns:a="http://schemas.openxmlformats.org/drawingml/2006/main">
            <a:r>
              <a:t>Sources: Study §1.8; MVD pp. 90, 94, 99–100; MAD reader p. 45; KD pp. 112–113.</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kinds of completeness prevent a recurring confusion. Jeevan’s constitution is already complete; education does not manufacture missing faculties. Activity completeness concerns freedom from delusion. Conduct completeness concerns the continuity of that understanding in living. One generous contribution is therefore different from a sustained understanding that makes generosity self-directed. The earlier act may have fulfilled a need and deserves recognition. Claims about development must then specify the relevant scope: capacity, present understanding or continuity of conduct. The study connects these through the ontology and epistemology accounts while leaving the developmental explanation of awakening open to further examination.</a:t>
            </a:r>
          </a:p>
          <a:p xmlns:a="http://schemas.openxmlformats.org/drawingml/2006/main">
            <a:r>
              <a:t/>
            </a:r>
          </a:p>
          <a:p xmlns:a="http://schemas.openxmlformats.org/drawingml/2006/main">
            <a:r>
              <a:t>Sources: Study §§1.2, 1.8; MVD pp. 83, 94; KD pp. 37, 84.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places law, regulation and balance within the connected account of knowledge and orderliness. They concern the organisation and sustaining conditions of activity. In work, understanding how a process functions is necessary for dependable provision. Yet these terms should not be turned into exclusive assignments to particular natural orders, or paired with justice, dharma and truth as if the sources supplied strict one-to-one identities. The account connects natural orderliness and human participation. Its proposed applications require examination of actual conditions, capacities and outcomes. The next three terms state the human relationships and understood purpose within which that work is evaluated.</a:t>
            </a:r>
          </a:p>
          <a:p xmlns:a="http://schemas.openxmlformats.org/drawingml/2006/main">
            <a:r>
              <a:t/>
            </a:r>
          </a:p>
          <a:p xmlns:a="http://schemas.openxmlformats.org/drawingml/2006/main">
            <a:r>
              <a:t>Sources: Study §1.8; Appendix A.3 and Editorial Notes; MVD pp. 80, 137, 174.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Justice, dharma and truth belong together in the account of knowledge and humane evaluation. Justice concerns values fulfilled in relationships. Dharma needs particular care because it also names order-specific innateness; in the human case that is happiness, while the deliberative perspective concerns resolution in thought and participation. Truth concerns coexistence as it is. These meanings are connected without being interchangeable. Neither justice, dharma nor truth is the exclusive possession of one faculty. Understood at buddhi, they participate in contemplation and deliberation and receive evidence through conduct. The six terms together connect organised means with fulfilled human purpose.</a:t>
            </a:r>
          </a:p>
          <a:p xmlns:a="http://schemas.openxmlformats.org/drawingml/2006/main">
            <a:r>
              <a:t/>
            </a:r>
          </a:p>
          <a:p xmlns:a="http://schemas.openxmlformats.org/drawingml/2006/main">
            <a:r>
              <a:t>Sources: Study §§1.1–1.2, 1.8; Appendix A.3; MVD pp. 125, 137, 156, 174.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connects value with character and ethics without collapsing the three terms. Values identify purposes whose fulfilment matters. Character gives definite expression in conduct, and ethics concerns the protection and right-use of means in human living. The related ethics study develops the particular determinations of wealth, marital fidelity and kindness. For axiology, the connection shows why understanding has to become sustained participation. A stated commitment is examined through what the person does, enables and consents to, and through the responsibilities actually fulfilled. A family or institution coordinates such participation; it is not a new collective jeevan performing evaluation apart from its members.</a:t>
            </a:r>
          </a:p>
          <a:p xmlns:a="http://schemas.openxmlformats.org/drawingml/2006/main">
            <a:r>
              <a:t/>
            </a:r>
          </a:p>
          <a:p xmlns:a="http://schemas.openxmlformats.org/drawingml/2006/main">
            <a:r>
              <a:t>Sources: Study §1.8; JV p. 55; Ethics and Morals in Human Beings §§3.1, 3.5–3.6.</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institutional fields give the values practical scope. Education develops understanding and sanskar; justice examines relational fulfilment; production provides useful means; exchange and storage concern labour assessment and availability; health sustains the bodily medium of participation. The questions in the final column are teaching applications of those purposes. They are not a validated institutional scorecard. Each field requires evidence at its own scale, and their coordination remains important: useful output alone does not establish just exchange or resolved relationships. The next study develops how these responsibilities can become a shared social order.</a:t>
            </a:r>
          </a:p>
          <a:p xmlns:a="http://schemas.openxmlformats.org/drawingml/2006/main">
            <a:r>
              <a:t/>
            </a:r>
          </a:p>
          <a:p xmlns:a="http://schemas.openxmlformats.org/drawingml/2006/main">
            <a:r>
              <a:t>Sources: Study §1.8; §§7.10–7.11; MVD p. 260; AVD p. 265.</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Realisation, behaviour and application are connected evidences of understanding in the source account. They do not establish the same thing in the same way. First-person realisation concerns understood truth; behaviour concerns values fulfilled in recognised relationships; application concerns the useful work accomplished. Public examination of conduct and results matters, and first-person claims also need clarity about meaning and scope. Successful application can show a useful capacity without settling every ontological claim about jeevan. Keeping these dimensions distinct allows evidence to accumulate without quietly changing what is being claimed.</a:t>
            </a:r>
          </a:p>
          <a:p xmlns:a="http://schemas.openxmlformats.org/drawingml/2006/main">
            <a:r>
              <a:t/>
            </a:r>
          </a:p>
          <a:p xmlns:a="http://schemas.openxmlformats.org/drawingml/2006/main">
            <a:r>
              <a:t>Sources: Study §1.8; Appendix A.3; MVD pp. 12, 80, 174.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asks how claimed awakening can be assessed without circular authority. Confidence, eloquence or agreement with vocabulary cannot alone settle the question. Explanation, self-examination, actual responsibilities fulfilled, the experience of affected people and continuity across circumstances all contribute evidence. These considerations form an analytical proposal for inquiry, not a validated psychological test. We should recognise meaningful evidence without overstating it. A person may exhibit established understanding in a specific field while the broader claim of comprehensive awakening remains unestablished. Similarly, a successful educational example does not automatically validate an institution-wide claim.</a:t>
            </a:r>
          </a:p>
          <a:p xmlns:a="http://schemas.openxmlformats.org/drawingml/2006/main">
            <a:r>
              <a:t/>
            </a:r>
          </a:p>
          <a:p xmlns:a="http://schemas.openxmlformats.org/drawingml/2006/main">
            <a:r>
              <a:t>Sources: Study §§7.2, 7.8, 7.10; Appendix A.3.</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case tests the difference between a value standard and a decision procedure. Both people stand in relationships with legitimate claims. Care remains the relevant value, but means are limited. We can use the framework to identify responsibility, available help, actual need and what an allocation would fulfil or leave unmet. Those are proposed questions for deliberation, not a source-given formula. The study asks how rival legitimate obligations are resolved and how mutual satisfaction includes everyone affected. Further open questions concern labour assessment, ecological decisions and the evidence for educational and institutional claims. A rigorous account retains these questions alongside its positive framework.</a:t>
            </a:r>
          </a:p>
          <a:p xmlns:a="http://schemas.openxmlformats.org/drawingml/2006/main">
            <a:r>
              <a:t/>
            </a:r>
          </a:p>
          <a:p xmlns:a="http://schemas.openxmlformats.org/drawingml/2006/main">
            <a:r>
              <a:t>Sources: Study §§7.3, 7.7, 7.9–7.11; teaching case.</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comparison situates the framework without turning this session into a survey of every tradition. Madhyasth Darshan grounds value in essentiality and participation. Advaita connects dearness with the Self and liberation while preserving the role of empirical duties and finite goods. Western value theory supplies distinctions among intrinsic, final and instrumental value and competing accounts of normative authority. The sciences investigate mechanisms, conditions and outcomes of valuation. A shared English word does not establish a shared concept or standard of evidence. The companion study develops these comparisons in detail and asks what each account can and cannot warrant.</a:t>
            </a:r>
          </a:p>
          <a:p xmlns:a="http://schemas.openxmlformats.org/drawingml/2006/main">
            <a:r>
              <a:t/>
            </a:r>
          </a:p>
          <a:p xmlns:a="http://schemas.openxmlformats.org/drawingml/2006/main">
            <a:r>
              <a:t>Sources: Study §§2–5 and §6; comparative summary of the companion study.</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framework has an ontological ground, a conscious bearer, specified forms and a practical demand for fulfilment. We can now distinguish value already belonging to the unit, understanding becoming established in a person, and labour establishing a useful material configuration. We can also distinguish inner harmony from the evidence for it, and dedication from other relations of ordering. Usefulness and money have connected but different roles. The next task is to apply these distinctions without losing their content: identify a relationship, state its value requirements, examine actual means and fulfilment, and ask what would make the understanding continuous. The open problems concern how that programme can be warranted and realised.</a:t>
            </a:r>
          </a:p>
          <a:p xmlns:a="http://schemas.openxmlformats.org/drawingml/2006/main">
            <a:r>
              <a:t/>
            </a:r>
          </a:p>
          <a:p xmlns:a="http://schemas.openxmlformats.org/drawingml/2006/main">
            <a:r>
              <a:t>Sources: Study §§1.1–1.8; Appendix A; §7.</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of value leads to the question of a human order in which these responsibilities can be fulfilled continuously. A family needs understanding and provision; a society needs justice, education, exchange, production and health organised around shared purposes. The next study, How Undivided Society Is Established, takes up that institutional and social question. The framework developed here remains its reference: the kinds of value, the meaning of justice, the purpose of useful means and the evidence of continuity. The two reference slides that follow support closer study of the activity enumeration and the source passages.</a:t>
            </a:r>
          </a:p>
          <a:p xmlns:a="http://schemas.openxmlformats.org/drawingml/2006/main">
            <a:r>
              <a:t/>
            </a:r>
          </a:p>
          <a:p xmlns:a="http://schemas.openxmlformats.org/drawingml/2006/main">
            <a:r>
              <a:t>Sources: Study §1.8; How Undivided Society Is Established.</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awakened enumeration gives 122 activity members in 61 pairs: two at atma, four at buddhi, sixteen at chitta, thirty-six at vritti and sixty-four at mun. These counts identify activity positions. They do not assert 122 distinct names, 122 relationship values or 61 established–expressed relationship pairs. The nine principal pairs examined in the main presentation occupy a specified part of this wider account. MVD uses bhav-kriya broadly for values and evaluation, while bhav and samveg also name a particular pair at vritti. The shared vocabulary should therefore be read in context. Detailed source and translation distinctions are recorded in the study’s Editorial Notes.</a:t>
            </a:r>
          </a:p>
          <a:p xmlns:a="http://schemas.openxmlformats.org/drawingml/2006/main">
            <a:r>
              <a:t/>
            </a:r>
          </a:p>
          <a:p xmlns:a="http://schemas.openxmlformats.org/drawingml/2006/main">
            <a:r>
              <a:t>Sources: Study Editorial Notes: Essentiality, activity and the enumeration; MVD pp. 203, 323, 338; AVD pp. 91–94.</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works are by Shri A. Nagraj. MVD, SB, JV and AVD locators use PDF positions in the files linked from the study. KD locators use printed body pages, with chapter numbers where given. MAD uses displayed pages in the linked 222-page native reader. KD and AVD English versions are working translations; the study records the Hindi checks and translation issues that affect these tables. The English terms here follow that study. Definitions are paraphrases, and the meal and allocation cases are teaching illustrations. For the complete bibliography, source links and critical comparison, use Axiology: Value Theory at https://analyticmadhyasthdarshan.org/Studies/Axiology-Value-Theory/Axiology-Value-Theory.html .</a:t>
            </a:r>
          </a:p>
          <a:p xmlns:a="http://schemas.openxmlformats.org/drawingml/2006/main">
            <a:r>
              <a:t/>
            </a:r>
          </a:p>
          <a:p xmlns:a="http://schemas.openxmlformats.org/drawingml/2006/main">
            <a:r>
              <a:t>Sources: All source editions and links: companion study, References and Editorial Notes.</a:t>
            </a:r>
          </a:p>
          <a:p xmlns:a="http://schemas.openxmlformats.org/drawingml/2006/main">
            <a:r>
              <a:t>Companion study: https://analyticmadhyasthdarshan.org/Studies/Axiology-Value-Theory/Axiology-Value-Theory.html</a:t>
            </a:r>
          </a:p>
          <a:p xmlns:a="http://schemas.openxmlformats.org/drawingml/2006/main">
            <a:r>
              <a:t>Page convention: MVD, SB, JV, AVD = PDF positions; KD = printed body pages; MAD = native reader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58a3addfb94e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12427004d604e51" /><Relationship Type="http://schemas.openxmlformats.org/officeDocument/2006/relationships/slideLayout" Target="/ppt/slideLayouts/slideLayout1.xml" Id="R42118fc9897e479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118fc9897e479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992973d33648b9" /><Relationship Type="http://schemas.openxmlformats.org/officeDocument/2006/relationships/image" Target="/ppt/media/image.png" Id="R2130e8b38bfb4dc8" /><Relationship Type="http://schemas.openxmlformats.org/officeDocument/2006/relationships/notesSlide" Target="/ppt/notesSlides/notesSlide1.xml" Id="R9ff4b7f792d040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117d9b87bef47bb" /><Relationship Type="http://schemas.openxmlformats.org/officeDocument/2006/relationships/notesSlide" Target="/ppt/notesSlides/notesSlide2.xml" Id="R81f76ed2b1cc44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7c056db8b3746ef" /><Relationship Type="http://schemas.openxmlformats.org/officeDocument/2006/relationships/notesSlide" Target="/ppt/notesSlides/notesSlide3.xml" Id="R4b93494f18384a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25d1bc8351c4822" /><Relationship Type="http://schemas.openxmlformats.org/officeDocument/2006/relationships/notesSlide" Target="/ppt/notesSlides/notesSlide4.xml" Id="R9426dd5aa132437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71ef38c6e3b457c" /><Relationship Type="http://schemas.openxmlformats.org/officeDocument/2006/relationships/notesSlide" Target="/ppt/notesSlides/notesSlide5.xml" Id="R5633a019696243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f78104a868245da" /><Relationship Type="http://schemas.openxmlformats.org/officeDocument/2006/relationships/notesSlide" Target="/ppt/notesSlides/notesSlide6.xml" Id="R2f2f7963163543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f9577bdf16444ab" /><Relationship Type="http://schemas.openxmlformats.org/officeDocument/2006/relationships/notesSlide" Target="/ppt/notesSlides/notesSlide7.xml" Id="R02bcaaa27de6489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7697a3635d840b9" /><Relationship Type="http://schemas.openxmlformats.org/officeDocument/2006/relationships/notesSlide" Target="/ppt/notesSlides/notesSlide8.xml" Id="Rcf0d2c1080684f7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294900cc96043dd" /><Relationship Type="http://schemas.openxmlformats.org/officeDocument/2006/relationships/notesSlide" Target="/ppt/notesSlides/notesSlide9.xml" Id="R41d98630634d40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841fe5cb3584919" /><Relationship Type="http://schemas.openxmlformats.org/officeDocument/2006/relationships/notesSlide" Target="/ppt/notesSlides/notesSlide10.xml" Id="R6688366f16024a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8b2d1a8d1174290" /><Relationship Type="http://schemas.openxmlformats.org/officeDocument/2006/relationships/notesSlide" Target="/ppt/notesSlides/notesSlide11.xml" Id="R7346c6fbda1f4d5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88ef2e0aca845a0" /><Relationship Type="http://schemas.openxmlformats.org/officeDocument/2006/relationships/notesSlide" Target="/ppt/notesSlides/notesSlide12.xml" Id="R9a0701ba55ee45c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f675438e031444d" /><Relationship Type="http://schemas.openxmlformats.org/officeDocument/2006/relationships/notesSlide" Target="/ppt/notesSlides/notesSlide13.xml" Id="R3b05a37b25e94c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673aabf2dc84977" /><Relationship Type="http://schemas.openxmlformats.org/officeDocument/2006/relationships/notesSlide" Target="/ppt/notesSlides/notesSlide14.xml" Id="R1d20c752222c47c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79b8157439542f7" /><Relationship Type="http://schemas.openxmlformats.org/officeDocument/2006/relationships/notesSlide" Target="/ppt/notesSlides/notesSlide15.xml" Id="R70f814ca5774465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4866022777c4f17" /><Relationship Type="http://schemas.openxmlformats.org/officeDocument/2006/relationships/notesSlide" Target="/ppt/notesSlides/notesSlide16.xml" Id="R95c1c136f897434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4aa492981f743f5" /><Relationship Type="http://schemas.openxmlformats.org/officeDocument/2006/relationships/notesSlide" Target="/ppt/notesSlides/notesSlide17.xml" Id="R6a041d2ef0cf4f5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609089614334499" /><Relationship Type="http://schemas.openxmlformats.org/officeDocument/2006/relationships/notesSlide" Target="/ppt/notesSlides/notesSlide18.xml" Id="R9f607f0a6196425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a60366ed5214e45" /><Relationship Type="http://schemas.openxmlformats.org/officeDocument/2006/relationships/notesSlide" Target="/ppt/notesSlides/notesSlide19.xml" Id="Raace930c971b450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ee1182298444bcf" /><Relationship Type="http://schemas.openxmlformats.org/officeDocument/2006/relationships/notesSlide" Target="/ppt/notesSlides/notesSlide20.xml" Id="Rd7a48c2d70c24dc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6444d49430142d0" /><Relationship Type="http://schemas.openxmlformats.org/officeDocument/2006/relationships/notesSlide" Target="/ppt/notesSlides/notesSlide21.xml" Id="R3bf15180246d4dc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e1f78b583074f30" /><Relationship Type="http://schemas.openxmlformats.org/officeDocument/2006/relationships/notesSlide" Target="/ppt/notesSlides/notesSlide22.xml" Id="R7f5db1c76c22449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5edd1ad16f94a53" /><Relationship Type="http://schemas.openxmlformats.org/officeDocument/2006/relationships/notesSlide" Target="/ppt/notesSlides/notesSlide23.xml" Id="Reb7d03adf71341c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ed74fab79dd474b" /><Relationship Type="http://schemas.openxmlformats.org/officeDocument/2006/relationships/notesSlide" Target="/ppt/notesSlides/notesSlide24.xml" Id="R56986a17c47f418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821bbaf6d6c420e" /><Relationship Type="http://schemas.openxmlformats.org/officeDocument/2006/relationships/notesSlide" Target="/ppt/notesSlides/notesSlide25.xml" Id="Rdee64103aaed456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377e0fb738e42a1" /><Relationship Type="http://schemas.openxmlformats.org/officeDocument/2006/relationships/notesSlide" Target="/ppt/notesSlides/notesSlide26.xml" Id="R8114a042112843b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9f630046e5d41b5" /><Relationship Type="http://schemas.openxmlformats.org/officeDocument/2006/relationships/notesSlide" Target="/ppt/notesSlides/notesSlide27.xml" Id="R9e8d1ce039ec41f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0831bc736154ac0" /><Relationship Type="http://schemas.openxmlformats.org/officeDocument/2006/relationships/notesSlide" Target="/ppt/notesSlides/notesSlide28.xml" Id="R2c3804481d2e4a5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bbf7a39d69b48e4" /><Relationship Type="http://schemas.openxmlformats.org/officeDocument/2006/relationships/notesSlide" Target="/ppt/notesSlides/notesSlide29.xml" Id="Rf23949ccee2a409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f03ef7a40ef4a10" /><Relationship Type="http://schemas.openxmlformats.org/officeDocument/2006/relationships/notesSlide" Target="/ppt/notesSlides/notesSlide30.xml" Id="Rd9bc5ae63ba8470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a06d5d92ec44cc7" /><Relationship Type="http://schemas.openxmlformats.org/officeDocument/2006/relationships/notesSlide" Target="/ppt/notesSlides/notesSlide31.xml" Id="Rf58fcf7cf9ee456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2c4d839757643c5" /><Relationship Type="http://schemas.openxmlformats.org/officeDocument/2006/relationships/notesSlide" Target="/ppt/notesSlides/notesSlide32.xml" Id="R6cae01f7f5134f9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120faf0c115f44ae" /><Relationship Type="http://schemas.openxmlformats.org/officeDocument/2006/relationships/notesSlide" Target="/ppt/notesSlides/notesSlide33.xml" Id="Raa8ff835898540b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8d256e8b8294617" /><Relationship Type="http://schemas.openxmlformats.org/officeDocument/2006/relationships/notesSlide" Target="/ppt/notesSlides/notesSlide34.xml" Id="Rf8d4cf720eae42f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6a2e633e1a44cbe" /><Relationship Type="http://schemas.openxmlformats.org/officeDocument/2006/relationships/notesSlide" Target="/ppt/notesSlides/notesSlide35.xml" Id="R20d97279448c495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052dd215dff451f" /><Relationship Type="http://schemas.openxmlformats.org/officeDocument/2006/relationships/notesSlide" Target="/ppt/notesSlides/notesSlide36.xml" Id="R800649f57611465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1ab5fd3529048c7" /><Relationship Type="http://schemas.openxmlformats.org/officeDocument/2006/relationships/notesSlide" Target="/ppt/notesSlides/notesSlide37.xml" Id="Rfd20aefd7695413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e9f73abccea4e6c" /><Relationship Type="http://schemas.openxmlformats.org/officeDocument/2006/relationships/notesSlide" Target="/ppt/notesSlides/notesSlide38.xml" Id="Rb786691b4e6c406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43f37ba26b9549ad" /><Relationship Type="http://schemas.openxmlformats.org/officeDocument/2006/relationships/notesSlide" Target="/ppt/notesSlides/notesSlide39.xml" Id="R18195c5546cb40a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7c80784cab14c24" /><Relationship Type="http://schemas.openxmlformats.org/officeDocument/2006/relationships/notesSlide" Target="/ppt/notesSlides/notesSlide40.xml" Id="Rd740c50f69fd489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a24107e7ee164736" /><Relationship Type="http://schemas.openxmlformats.org/officeDocument/2006/relationships/notesSlide" Target="/ppt/notesSlides/notesSlide41.xml" Id="Rb7204cb9154b4b6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f1623369ced40ef" /><Relationship Type="http://schemas.openxmlformats.org/officeDocument/2006/relationships/notesSlide" Target="/ppt/notesSlides/notesSlide42.xml" Id="R5804a03840cb46f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50c1c9d5eb74e07" /><Relationship Type="http://schemas.openxmlformats.org/officeDocument/2006/relationships/image" Target="/ppt/media/image2.png" Id="Rddb906f0320f4ffb" /><Relationship Type="http://schemas.openxmlformats.org/officeDocument/2006/relationships/notesSlide" Target="/ppt/notesSlides/notesSlide43.xml" Id="Ra8d5e46fd364466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fd31aeb13c14222" /><Relationship Type="http://schemas.openxmlformats.org/officeDocument/2006/relationships/notesSlide" Target="/ppt/notesSlides/notesSlide44.xml" Id="Ra03d732e668f41a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3060aa090d94067" /><Relationship Type="http://schemas.openxmlformats.org/officeDocument/2006/relationships/notesSlide" Target="/ppt/notesSlides/notesSlide45.xml" Id="Rc1da547cf2fa460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1ee62c0abd14f6c" /><Relationship Type="http://schemas.openxmlformats.org/officeDocument/2006/relationships/notesSlide" Target="/ppt/notesSlides/notesSlide46.xml" Id="Rffaadbc9a970450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e0fb1cd31250473b" /><Relationship Type="http://schemas.openxmlformats.org/officeDocument/2006/relationships/notesSlide" Target="/ppt/notesSlides/notesSlide47.xml" Id="R4edc30adbca94d3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0da308861044e49" /><Relationship Type="http://schemas.openxmlformats.org/officeDocument/2006/relationships/notesSlide" Target="/ppt/notesSlides/notesSlide48.xml" Id="R35254ae1fbf94dd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676b48f4626c469f" /><Relationship Type="http://schemas.openxmlformats.org/officeDocument/2006/relationships/notesSlide" Target="/ppt/notesSlides/notesSlide49.xml" Id="Rea7496897c73478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d57e39f9fcd4ce1" /><Relationship Type="http://schemas.openxmlformats.org/officeDocument/2006/relationships/notesSlide" Target="/ppt/notesSlides/notesSlide50.xml" Id="Re9db9a48ecff465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c0ed0887d44640f1" /><Relationship Type="http://schemas.openxmlformats.org/officeDocument/2006/relationships/notesSlide" Target="/ppt/notesSlides/notesSlide51.xml" Id="R3194e17bb83a4f4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6eb7dc5d6674d41" /><Relationship Type="http://schemas.openxmlformats.org/officeDocument/2006/relationships/notesSlide" Target="/ppt/notesSlides/notesSlide52.xml" Id="Rd56fca59b0ff4ac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dd1d30d201a8468f" /><Relationship Type="http://schemas.openxmlformats.org/officeDocument/2006/relationships/notesSlide" Target="/ppt/notesSlides/notesSlide53.xml" Id="Rf3612c6e7fc1446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6a4b2e8f8a054ef5" /><Relationship Type="http://schemas.openxmlformats.org/officeDocument/2006/relationships/notesSlide" Target="/ppt/notesSlides/notesSlide54.xml" Id="R6c78dac335454a4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06ec666ab2eb4654" /><Relationship Type="http://schemas.openxmlformats.org/officeDocument/2006/relationships/notesSlide" Target="/ppt/notesSlides/notesSlide55.xml" Id="Reae6de7c6beb470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3849a8ff32b147be" /><Relationship Type="http://schemas.openxmlformats.org/officeDocument/2006/relationships/notesSlide" Target="/ppt/notesSlides/notesSlide56.xml" Id="R104c1ddbe383413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b87860bbb73a4bc0" /><Relationship Type="http://schemas.openxmlformats.org/officeDocument/2006/relationships/notesSlide" Target="/ppt/notesSlides/notesSlide57.xml" Id="R4a58f77b4f824e56"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2130e8b38bfb4dc8"/>
          <a:srcRect xmlns:a="http://schemas.openxmlformats.org/drawingml/2006/main" l="0" t="27" r="0" b="27"/>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5E0912C4-03B9-4CE8-8825-F69B6CB236DA}"/>
              </a:ext>
            </a:extLst>
          </p:cNvPr>
          <p:cNvSpPr>
            <a:spLocks xmlns:a="http://schemas.openxmlformats.org/drawingml/2006/main" noGrp="1"/>
          </p:cNvSpPr>
          <p:nvPr/>
        </p:nvSpPr>
        <p:spPr>
          <a:xfrm xmlns:a="http://schemas.openxmlformats.org/drawingml/2006/main">
            <a:off x="640080" y="11144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D7A746"/>
                </a:solidFill>
                <a:latin typeface="Calibri"/>
                <a:ea typeface="Calibri"/>
                <a:cs typeface="Calibri"/>
              </a:defRPr>
            </a:pPr>
            <a:r>
              <a:rPr sz="1050" b="1">
                <a:solidFill>
                  <a:srgbClr val="D7A746"/>
                </a:solidFill>
                <a:latin typeface="Calibri"/>
                <a:ea typeface="Calibri"/>
                <a:cs typeface="Calibri"/>
              </a:rPr>
              <a:t>MADHYASTH DARSHAN · VALUE FRAMEWORK</a:t>
            </a:r>
          </a:p>
        </p:txBody>
      </p:sp>
      <p:sp>
        <p:nvSpPr>
          <p:cNvPr id="3" name="text-1">
            <a:extLst xmlns:a="http://schemas.openxmlformats.org/drawingml/2006/main">
              <a:ext uri="{FF2B5EF4-FFF2-40B4-BE49-F238E27FC236}">
                <a16:creationId xmlns:a16="http://schemas.microsoft.com/office/drawing/2014/main" id="{EF45389D-4DE1-45F0-9C5A-6D1F290E2CCD}"/>
              </a:ext>
            </a:extLst>
          </p:cNvPr>
          <p:cNvSpPr>
            <a:spLocks xmlns:a="http://schemas.openxmlformats.org/drawingml/2006/main" noGrp="1"/>
          </p:cNvSpPr>
          <p:nvPr/>
        </p:nvSpPr>
        <p:spPr>
          <a:xfrm xmlns:a="http://schemas.openxmlformats.org/drawingml/2006/main">
            <a:off x="640080" y="1562100"/>
            <a:ext cx="52863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Axiology</a:t>
            </a:r>
          </a:p>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Value Theory</a:t>
            </a:r>
          </a:p>
        </p:txBody>
      </p:sp>
      <p:sp>
        <p:nvSpPr>
          <p:cNvPr id="4" name="text-2">
            <a:extLst xmlns:a="http://schemas.openxmlformats.org/drawingml/2006/main">
              <a:ext uri="{FF2B5EF4-FFF2-40B4-BE49-F238E27FC236}">
                <a16:creationId xmlns:a16="http://schemas.microsoft.com/office/drawing/2014/main" id="{0D94B9AF-6621-4B0F-B402-5298A078264B}"/>
              </a:ext>
            </a:extLst>
          </p:cNvPr>
          <p:cNvSpPr>
            <a:spLocks xmlns:a="http://schemas.openxmlformats.org/drawingml/2006/main" noGrp="1"/>
          </p:cNvSpPr>
          <p:nvPr/>
        </p:nvSpPr>
        <p:spPr>
          <a:xfrm xmlns:a="http://schemas.openxmlformats.org/drawingml/2006/main">
            <a:off x="640080" y="3133725"/>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FFFFFF"/>
                </a:solidFill>
                <a:latin typeface="Calibri"/>
                <a:ea typeface="Calibri"/>
                <a:cs typeface="Calibri"/>
              </a:defRPr>
            </a:pPr>
            <a:r>
              <a:rPr sz="1800" b="0">
                <a:solidFill>
                  <a:srgbClr val="FFFFFF"/>
                </a:solidFill>
                <a:latin typeface="Calibri"/>
                <a:ea typeface="Calibri"/>
                <a:cs typeface="Calibri"/>
              </a:rPr>
              <a:t>Essentiality, understanding and fulfilment</a:t>
            </a:r>
          </a:p>
        </p:txBody>
      </p:sp>
      <p:sp>
        <p:nvSpPr>
          <p:cNvPr id="5" name="text-3">
            <a:extLst xmlns:a="http://schemas.openxmlformats.org/drawingml/2006/main">
              <a:ext uri="{FF2B5EF4-FFF2-40B4-BE49-F238E27FC236}">
                <a16:creationId xmlns:a16="http://schemas.microsoft.com/office/drawing/2014/main" id="{BB293BCE-74CC-4FDB-B565-F8B98B895B0A}"/>
              </a:ext>
            </a:extLst>
          </p:cNvPr>
          <p:cNvSpPr>
            <a:spLocks xmlns:a="http://schemas.openxmlformats.org/drawingml/2006/main" noGrp="1"/>
          </p:cNvSpPr>
          <p:nvPr/>
        </p:nvSpPr>
        <p:spPr>
          <a:xfrm xmlns:a="http://schemas.openxmlformats.org/drawingml/2006/main">
            <a:off x="640080" y="41624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150" b="0">
                <a:solidFill>
                  <a:srgbClr val="E5E9F3"/>
                </a:solidFill>
                <a:latin typeface="Calibri"/>
                <a:ea typeface="Calibri"/>
                <a:cs typeface="Calibri"/>
              </a:defRPr>
            </a:pPr>
            <a:r>
              <a:rPr sz="1150" b="0">
                <a:solidFill>
                  <a:srgbClr val="E5E9F3"/>
                </a:solidFill>
                <a:latin typeface="Calibri"/>
                <a:ea typeface="Calibri"/>
                <a:cs typeface="Calibri"/>
              </a:rPr>
              <a:t>Companion to Axiology: Value Theory</a:t>
            </a:r>
          </a:p>
        </p:txBody>
      </p:sp>
      <p:sp>
        <p:nvSpPr>
          <p:cNvPr id="6" name="text-4">
            <a:extLst xmlns:a="http://schemas.openxmlformats.org/drawingml/2006/main">
              <a:ext uri="{FF2B5EF4-FFF2-40B4-BE49-F238E27FC236}">
                <a16:creationId xmlns:a16="http://schemas.microsoft.com/office/drawing/2014/main" id="{3CF6FB87-FC58-499F-94B7-A7FF82176D27}"/>
              </a:ext>
            </a:extLst>
          </p:cNvPr>
          <p:cNvSpPr>
            <a:spLocks xmlns:a="http://schemas.openxmlformats.org/drawingml/2006/main" noGrp="1"/>
          </p:cNvSpPr>
          <p:nvPr/>
        </p:nvSpPr>
        <p:spPr>
          <a:xfrm xmlns:a="http://schemas.openxmlformats.org/drawingml/2006/main">
            <a:off x="640080" y="44386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E5E9F3"/>
                </a:solidFill>
                <a:latin typeface="Calibri"/>
                <a:ea typeface="Calibri"/>
                <a:cs typeface="Calibri"/>
              </a:defRPr>
            </a:pPr>
            <a:r>
              <a:rPr sz="950" b="0">
                <a:solidFill>
                  <a:srgbClr val="E5E9F3"/>
                </a:solidFill>
                <a:latin typeface="Calibri"/>
                <a:ea typeface="Calibri"/>
                <a:cs typeface="Calibri"/>
              </a:rPr>
              <a:t>AnalyticMadhyasthDarshan.org     1 / 57</a:t>
            </a:r>
          </a:p>
        </p:txBody>
      </p:sp>
    </p:spTree>
    <p:extLst>
      <p:ext uri="{BB962C8B-B14F-4D97-AF65-F5344CB8AC3E}">
        <p14:creationId xmlns:p14="http://schemas.microsoft.com/office/powerpoint/2010/main" val="8636264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B8CF6228-F671-4F8C-BE8B-C074034A1DD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ORIENTATION · THE FOURTH STUDY</a:t>
            </a:r>
          </a:p>
        </p:txBody>
      </p:sp>
      <p:sp>
        <p:nvSpPr>
          <p:cNvPr id="2" name="text-1">
            <a:extLst xmlns:a="http://schemas.openxmlformats.org/drawingml/2006/main">
              <a:ext uri="{FF2B5EF4-FFF2-40B4-BE49-F238E27FC236}">
                <a16:creationId xmlns:a16="http://schemas.microsoft.com/office/drawing/2014/main" id="{5D9B690A-FAD2-458B-AF65-B3AA3940482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argument of value theory</a:t>
            </a:r>
          </a:p>
        </p:txBody>
      </p:sp>
      <p:sp>
        <p:nvSpPr>
          <p:cNvPr id="3" name="text-2">
            <a:extLst xmlns:a="http://schemas.openxmlformats.org/drawingml/2006/main">
              <a:ext uri="{FF2B5EF4-FFF2-40B4-BE49-F238E27FC236}">
                <a16:creationId xmlns:a16="http://schemas.microsoft.com/office/drawing/2014/main" id="{1A983B1F-2631-4F1F-88CE-A0EC2ABCBE1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A6CABA-19F3-40BE-9161-7F841780BAF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 / 57</a:t>
            </a:r>
          </a:p>
        </p:txBody>
      </p:sp>
      <p:sp>
        <p:nvSpPr>
          <p:cNvPr id="5" name="text-4">
            <a:extLst xmlns:a="http://schemas.openxmlformats.org/drawingml/2006/main">
              <a:ext uri="{FF2B5EF4-FFF2-40B4-BE49-F238E27FC236}">
                <a16:creationId xmlns:a16="http://schemas.microsoft.com/office/drawing/2014/main" id="{3395F9F3-6542-46E5-A9B7-7550E48AFA49}"/>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9A6414"/>
                </a:solidFill>
                <a:latin typeface="Calibri"/>
                <a:ea typeface="Calibri"/>
                <a:cs typeface="Calibri"/>
              </a:defRPr>
            </a:pPr>
            <a:r>
              <a:rPr sz="1200" b="0">
                <a:solidFill>
                  <a:srgbClr val="9A6414"/>
                </a:solidFill>
                <a:latin typeface="Calibri"/>
                <a:ea typeface="Calibri"/>
                <a:cs typeface="Calibri"/>
              </a:rPr>
              <a:t>Study Introduction; §§1.1–1.8</a:t>
            </a:r>
          </a:p>
        </p:txBody>
      </p:sp>
      <p:sp>
        <p:nvSpPr>
          <p:cNvPr id="21" name="topic-0">
            <a:extLst xmlns:a="http://schemas.openxmlformats.org/drawingml/2006/main">
              <a:ext uri="{FF2B5EF4-FFF2-40B4-BE49-F238E27FC236}">
                <a16:creationId xmlns:a16="http://schemas.microsoft.com/office/drawing/2014/main" id="{982EA9C8-0C94-47C7-A2B8-0B03B0F51088}"/>
              </a:ext>
            </a:extLst>
          </p:cNvPr>
          <p:cNvSpPr>
            <a:spLocks xmlns:a="http://schemas.openxmlformats.org/drawingml/2006/main" noGrp="1"/>
          </p:cNvSpPr>
          <p:nvPr/>
        </p:nvSpPr>
        <p:spPr>
          <a:xfrm xmlns:a="http://schemas.openxmlformats.org/drawingml/2006/main">
            <a:off x="960120" y="1304925"/>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Ground and bearer</a:t>
            </a:r>
          </a:p>
        </p:txBody>
      </p:sp>
      <p:sp>
        <p:nvSpPr>
          <p:cNvPr id="22" name="detail-0">
            <a:extLst xmlns:a="http://schemas.openxmlformats.org/drawingml/2006/main">
              <a:ext uri="{FF2B5EF4-FFF2-40B4-BE49-F238E27FC236}">
                <a16:creationId xmlns:a16="http://schemas.microsoft.com/office/drawing/2014/main" id="{02BF585A-0A14-43E9-979F-F7A089C782B9}"/>
              </a:ext>
            </a:extLst>
          </p:cNvPr>
          <p:cNvSpPr>
            <a:spLocks xmlns:a="http://schemas.openxmlformats.org/drawingml/2006/main" noGrp="1"/>
          </p:cNvSpPr>
          <p:nvPr/>
        </p:nvSpPr>
        <p:spPr>
          <a:xfrm xmlns:a="http://schemas.openxmlformats.org/drawingml/2006/main">
            <a:off x="2952750" y="1304925"/>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Ontology supplies the active unit in coexistence. Axiology asks what its essentiality amounts to in characteristic participation.</a:t>
            </a:r>
          </a:p>
        </p:txBody>
      </p:sp>
      <p:sp>
        <p:nvSpPr>
          <p:cNvPr id="23" name="topic-1">
            <a:extLst xmlns:a="http://schemas.openxmlformats.org/drawingml/2006/main">
              <a:ext uri="{FF2B5EF4-FFF2-40B4-BE49-F238E27FC236}">
                <a16:creationId xmlns:a16="http://schemas.microsoft.com/office/drawing/2014/main" id="{96130087-CECB-4AE3-B7FB-93B79EB4CC9A}"/>
              </a:ext>
            </a:extLst>
          </p:cNvPr>
          <p:cNvSpPr>
            <a:spLocks xmlns:a="http://schemas.openxmlformats.org/drawingml/2006/main" noGrp="1"/>
          </p:cNvSpPr>
          <p:nvPr/>
        </p:nvSpPr>
        <p:spPr>
          <a:xfrm xmlns:a="http://schemas.openxmlformats.org/drawingml/2006/main">
            <a:off x="960120" y="2076450"/>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Understanding and fulfilment</a:t>
            </a:r>
          </a:p>
        </p:txBody>
      </p:sp>
      <p:sp>
        <p:nvSpPr>
          <p:cNvPr id="24" name="detail-1">
            <a:extLst xmlns:a="http://schemas.openxmlformats.org/drawingml/2006/main">
              <a:ext uri="{FF2B5EF4-FFF2-40B4-BE49-F238E27FC236}">
                <a16:creationId xmlns:a16="http://schemas.microsoft.com/office/drawing/2014/main" id="{E887EBD6-3CA6-4100-BF48-3F21806D33DD}"/>
              </a:ext>
            </a:extLst>
          </p:cNvPr>
          <p:cNvSpPr>
            <a:spLocks xmlns:a="http://schemas.openxmlformats.org/drawingml/2006/main" noGrp="1"/>
          </p:cNvSpPr>
          <p:nvPr/>
        </p:nvSpPr>
        <p:spPr>
          <a:xfrm xmlns:a="http://schemas.openxmlformats.org/drawingml/2006/main">
            <a:off x="2952750" y="2076450"/>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Epistemology supplies the account of knowing and fulfilment. Axiology examines value and correct evaluation.</a:t>
            </a:r>
          </a:p>
        </p:txBody>
      </p:sp>
      <p:sp>
        <p:nvSpPr>
          <p:cNvPr id="25" name="topic-2">
            <a:extLst xmlns:a="http://schemas.openxmlformats.org/drawingml/2006/main">
              <a:ext uri="{FF2B5EF4-FFF2-40B4-BE49-F238E27FC236}">
                <a16:creationId xmlns:a16="http://schemas.microsoft.com/office/drawing/2014/main" id="{B33E914D-732C-4AE1-8A28-9B222BB05471}"/>
              </a:ext>
            </a:extLst>
          </p:cNvPr>
          <p:cNvSpPr>
            <a:spLocks xmlns:a="http://schemas.openxmlformats.org/drawingml/2006/main" noGrp="1"/>
          </p:cNvSpPr>
          <p:nvPr/>
        </p:nvSpPr>
        <p:spPr>
          <a:xfrm xmlns:a="http://schemas.openxmlformats.org/drawingml/2006/main">
            <a:off x="960120" y="2847975"/>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Forms and their ordering</a:t>
            </a:r>
          </a:p>
        </p:txBody>
      </p:sp>
      <p:sp>
        <p:nvSpPr>
          <p:cNvPr id="26" name="detail-2">
            <a:extLst xmlns:a="http://schemas.openxmlformats.org/drawingml/2006/main">
              <a:ext uri="{FF2B5EF4-FFF2-40B4-BE49-F238E27FC236}">
                <a16:creationId xmlns:a16="http://schemas.microsoft.com/office/drawing/2014/main" id="{A77750B2-49FD-4DAC-8011-6F2B9A710F4F}"/>
              </a:ext>
            </a:extLst>
          </p:cNvPr>
          <p:cNvSpPr>
            <a:spLocks xmlns:a="http://schemas.openxmlformats.org/drawingml/2006/main" noGrp="1"/>
          </p:cNvSpPr>
          <p:nvPr/>
        </p:nvSpPr>
        <p:spPr>
          <a:xfrm xmlns:a="http://schemas.openxmlformats.org/drawingml/2006/main">
            <a:off x="2952750" y="2847975"/>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Jeevan harmonies, humane conduct, relationships and useful things have distinct purposes and relations.</a:t>
            </a:r>
          </a:p>
        </p:txBody>
      </p:sp>
      <p:sp>
        <p:nvSpPr>
          <p:cNvPr id="27" name="topic-3">
            <a:extLst xmlns:a="http://schemas.openxmlformats.org/drawingml/2006/main">
              <a:ext uri="{FF2B5EF4-FFF2-40B4-BE49-F238E27FC236}">
                <a16:creationId xmlns:a16="http://schemas.microsoft.com/office/drawing/2014/main" id="{1D164A46-6552-462C-99DA-8722F03F63DB}"/>
              </a:ext>
            </a:extLst>
          </p:cNvPr>
          <p:cNvSpPr>
            <a:spLocks xmlns:a="http://schemas.openxmlformats.org/drawingml/2006/main" noGrp="1"/>
          </p:cNvSpPr>
          <p:nvPr/>
        </p:nvSpPr>
        <p:spPr>
          <a:xfrm xmlns:a="http://schemas.openxmlformats.org/drawingml/2006/main">
            <a:off x="960120" y="3619500"/>
            <a:ext cx="18192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Continuity in living</a:t>
            </a:r>
          </a:p>
        </p:txBody>
      </p:sp>
      <p:sp>
        <p:nvSpPr>
          <p:cNvPr id="28" name="detail-3">
            <a:extLst xmlns:a="http://schemas.openxmlformats.org/drawingml/2006/main">
              <a:ext uri="{FF2B5EF4-FFF2-40B4-BE49-F238E27FC236}">
                <a16:creationId xmlns:a16="http://schemas.microsoft.com/office/drawing/2014/main" id="{C05CDB72-DC7D-4097-BFFC-B1C88F59B10A}"/>
              </a:ext>
            </a:extLst>
          </p:cNvPr>
          <p:cNvSpPr>
            <a:spLocks xmlns:a="http://schemas.openxmlformats.org/drawingml/2006/main" noGrp="1"/>
          </p:cNvSpPr>
          <p:nvPr/>
        </p:nvSpPr>
        <p:spPr>
          <a:xfrm xmlns:a="http://schemas.openxmlformats.org/drawingml/2006/main">
            <a:off x="2952750" y="3619500"/>
            <a:ext cx="5619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Learning, work and institutions sustain value-fulfilment in living, leading into the study of undivided society.</a:t>
            </a:r>
          </a:p>
        </p:txBody>
      </p:sp>
    </p:spTree>
    <p:extLst>
      <p:ext uri="{BB962C8B-B14F-4D97-AF65-F5344CB8AC3E}">
        <p14:creationId xmlns:p14="http://schemas.microsoft.com/office/powerpoint/2010/main" val="16372433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6BF2C75-452A-4E19-BA68-604F7C99885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OPENING CASE · TEACHING EXAMPLE</a:t>
            </a:r>
          </a:p>
        </p:txBody>
      </p:sp>
      <p:sp>
        <p:nvSpPr>
          <p:cNvPr id="2" name="text-1">
            <a:extLst xmlns:a="http://schemas.openxmlformats.org/drawingml/2006/main">
              <a:ext uri="{FF2B5EF4-FFF2-40B4-BE49-F238E27FC236}">
                <a16:creationId xmlns:a16="http://schemas.microsoft.com/office/drawing/2014/main" id="{B247C04C-0ADA-4B36-A867-E19A93134A8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shared meal: what has value?</a:t>
            </a:r>
          </a:p>
        </p:txBody>
      </p:sp>
      <p:sp>
        <p:nvSpPr>
          <p:cNvPr id="3" name="text-2">
            <a:extLst xmlns:a="http://schemas.openxmlformats.org/drawingml/2006/main">
              <a:ext uri="{FF2B5EF4-FFF2-40B4-BE49-F238E27FC236}">
                <a16:creationId xmlns:a16="http://schemas.microsoft.com/office/drawing/2014/main" id="{457476D4-5B5B-4E59-A0F4-83C3F299097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6FD994E2-1202-4EFB-97FF-B705C328541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 / 57</a:t>
            </a:r>
          </a:p>
        </p:txBody>
      </p:sp>
      <p:sp>
        <p:nvSpPr>
          <p:cNvPr id="5" name="text-4">
            <a:extLst xmlns:a="http://schemas.openxmlformats.org/drawingml/2006/main">
              <a:ext uri="{FF2B5EF4-FFF2-40B4-BE49-F238E27FC236}">
                <a16:creationId xmlns:a16="http://schemas.microsoft.com/office/drawing/2014/main" id="{322AA0C5-FB53-4FE2-ADEA-FF4D99D9C683}"/>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§§1.3–1.5; illustration based on the nourishment example</a:t>
            </a:r>
          </a:p>
        </p:txBody>
      </p:sp>
      <p:sp>
        <p:nvSpPr>
          <p:cNvPr id="10" name="topic-0">
            <a:extLst xmlns:a="http://schemas.openxmlformats.org/drawingml/2006/main">
              <a:ext uri="{FF2B5EF4-FFF2-40B4-BE49-F238E27FC236}">
                <a16:creationId xmlns:a16="http://schemas.microsoft.com/office/drawing/2014/main" id="{B21DA512-DEBE-4561-8EF5-C927FBCE4A45}"/>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Material capacity</a:t>
            </a:r>
          </a:p>
        </p:txBody>
      </p:sp>
      <p:sp>
        <p:nvSpPr>
          <p:cNvPr id="11" name="detail-0">
            <a:extLst xmlns:a="http://schemas.openxmlformats.org/drawingml/2006/main">
              <a:ext uri="{FF2B5EF4-FFF2-40B4-BE49-F238E27FC236}">
                <a16:creationId xmlns:a16="http://schemas.microsoft.com/office/drawing/2014/main" id="{5737076E-EE5A-45E5-AC4F-54B6D311B29E}"/>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household has enough food. Its nourishing usefulness is present, yet a guest’s need goes unrecognised. Availability alone has not fulfilled the responsibility.</a:t>
            </a:r>
          </a:p>
        </p:txBody>
      </p:sp>
      <p:sp>
        <p:nvSpPr>
          <p:cNvPr id="12" name="topic-1">
            <a:extLst xmlns:a="http://schemas.openxmlformats.org/drawingml/2006/main">
              <a:ext uri="{FF2B5EF4-FFF2-40B4-BE49-F238E27FC236}">
                <a16:creationId xmlns:a16="http://schemas.microsoft.com/office/drawing/2014/main" id="{B5FEAF34-BB98-4902-9430-D7A7B97C38EB}"/>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Recognition and expression</a:t>
            </a:r>
          </a:p>
        </p:txBody>
      </p:sp>
      <p:sp>
        <p:nvSpPr>
          <p:cNvPr id="13" name="detail-1">
            <a:extLst xmlns:a="http://schemas.openxmlformats.org/drawingml/2006/main">
              <a:ext uri="{FF2B5EF4-FFF2-40B4-BE49-F238E27FC236}">
                <a16:creationId xmlns:a16="http://schemas.microsoft.com/office/drawing/2014/main" id="{27D8EC41-2F03-4EB5-AE5E-E7EF6CEA15D5}"/>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host must recognise the relationship and the guest’s actual situation. Care takes expression through suitable preparation, provision and inclusion.</a:t>
            </a:r>
          </a:p>
        </p:txBody>
      </p:sp>
      <p:sp>
        <p:nvSpPr>
          <p:cNvPr id="14" name="topic-2">
            <a:extLst xmlns:a="http://schemas.openxmlformats.org/drawingml/2006/main">
              <a:ext uri="{FF2B5EF4-FFF2-40B4-BE49-F238E27FC236}">
                <a16:creationId xmlns:a16="http://schemas.microsoft.com/office/drawing/2014/main" id="{FEF088B8-07AC-418B-8357-1B02212749DD}"/>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Evaluation</a:t>
            </a:r>
          </a:p>
        </p:txBody>
      </p:sp>
      <p:sp>
        <p:nvSpPr>
          <p:cNvPr id="15" name="detail-2">
            <a:extLst xmlns:a="http://schemas.openxmlformats.org/drawingml/2006/main">
              <a:ext uri="{FF2B5EF4-FFF2-40B4-BE49-F238E27FC236}">
                <a16:creationId xmlns:a16="http://schemas.microsoft.com/office/drawing/2014/main" id="{DD065EBE-B392-421B-8E70-908B255D020A}"/>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Did the guest receive appropriate nourishment? Was participation respectful? What did the host understand, and would that understanding sustain care next time?</a:t>
            </a:r>
          </a:p>
        </p:txBody>
      </p:sp>
    </p:spTree>
    <p:extLst>
      <p:ext uri="{BB962C8B-B14F-4D97-AF65-F5344CB8AC3E}">
        <p14:creationId xmlns:p14="http://schemas.microsoft.com/office/powerpoint/2010/main" val="8582665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8DCF34A1-AA22-4917-A196-D0D177A9068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THE ACTIVE UNIT · §1.1</a:t>
            </a:r>
          </a:p>
        </p:txBody>
      </p:sp>
      <p:sp>
        <p:nvSpPr>
          <p:cNvPr id="2" name="text-1">
            <a:extLst xmlns:a="http://schemas.openxmlformats.org/drawingml/2006/main">
              <a:ext uri="{FF2B5EF4-FFF2-40B4-BE49-F238E27FC236}">
                <a16:creationId xmlns:a16="http://schemas.microsoft.com/office/drawing/2014/main" id="{6C2BB3C4-A5CB-4005-A20D-B147EB7F726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Value as essentiality</a:t>
            </a:r>
          </a:p>
        </p:txBody>
      </p:sp>
      <p:sp>
        <p:nvSpPr>
          <p:cNvPr id="3" name="text-2">
            <a:extLst xmlns:a="http://schemas.openxmlformats.org/drawingml/2006/main">
              <a:ext uri="{FF2B5EF4-FFF2-40B4-BE49-F238E27FC236}">
                <a16:creationId xmlns:a16="http://schemas.microsoft.com/office/drawing/2014/main" id="{9FA66073-C641-48E3-91C0-C6D842E75B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537B8A-D693-42E3-80D4-6A55CA7F364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 / 57</a:t>
            </a:r>
          </a:p>
        </p:txBody>
      </p:sp>
      <p:sp>
        <p:nvSpPr>
          <p:cNvPr id="5" name="text-4">
            <a:extLst xmlns:a="http://schemas.openxmlformats.org/drawingml/2006/main">
              <a:ext uri="{FF2B5EF4-FFF2-40B4-BE49-F238E27FC236}">
                <a16:creationId xmlns:a16="http://schemas.microsoft.com/office/drawing/2014/main" id="{BB8B35C0-60E3-457A-859C-24D02C8877CC}"/>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§1.1; MVD pp. 47, 124–125; SB pp. 50, 87; AVD p. 184</a:t>
            </a:r>
          </a:p>
        </p:txBody>
      </p:sp>
      <p:sp>
        <p:nvSpPr>
          <p:cNvPr id="12" name="topic-0">
            <a:extLst xmlns:a="http://schemas.openxmlformats.org/drawingml/2006/main">
              <a:ext uri="{FF2B5EF4-FFF2-40B4-BE49-F238E27FC236}">
                <a16:creationId xmlns:a16="http://schemas.microsoft.com/office/drawing/2014/main" id="{E0DFA92C-F14D-4F8E-BFD5-3B315D911A0D}"/>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Mulya and maulikta</a:t>
            </a:r>
          </a:p>
        </p:txBody>
      </p:sp>
      <p:sp>
        <p:nvSpPr>
          <p:cNvPr id="13" name="detail-0">
            <a:extLst xmlns:a="http://schemas.openxmlformats.org/drawingml/2006/main">
              <a:ext uri="{FF2B5EF4-FFF2-40B4-BE49-F238E27FC236}">
                <a16:creationId xmlns:a16="http://schemas.microsoft.com/office/drawing/2014/main" id="{495E27DD-637D-4CEC-90A4-4DEF9DC8721C}"/>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Value names the essentiality of a unit in coexistence: its characteristic participation and the innateness it bears in its order.</a:t>
            </a:r>
          </a:p>
        </p:txBody>
      </p:sp>
      <p:sp>
        <p:nvSpPr>
          <p:cNvPr id="14" name="topic-1">
            <a:extLst xmlns:a="http://schemas.openxmlformats.org/drawingml/2006/main">
              <a:ext uri="{FF2B5EF4-FFF2-40B4-BE49-F238E27FC236}">
                <a16:creationId xmlns:a16="http://schemas.microsoft.com/office/drawing/2014/main" id="{965D362F-D7AD-4E2B-8B3C-DC95064B170F}"/>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Swabhav and dharma</a:t>
            </a:r>
          </a:p>
        </p:txBody>
      </p:sp>
      <p:sp>
        <p:nvSpPr>
          <p:cNvPr id="15" name="detail-1">
            <a:extLst xmlns:a="http://schemas.openxmlformats.org/drawingml/2006/main">
              <a:ext uri="{FF2B5EF4-FFF2-40B4-BE49-F238E27FC236}">
                <a16:creationId xmlns:a16="http://schemas.microsoft.com/office/drawing/2014/main" id="{2547E520-4BD4-4E01-9422-410564C32DC3}"/>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Essential nature concerns characteristic conduct and usefulness; dharma concerns inseparable innateness. Human dharma is happiness, through mistaken as well as resolved pursuits.</a:t>
            </a:r>
          </a:p>
        </p:txBody>
      </p:sp>
      <p:sp>
        <p:nvSpPr>
          <p:cNvPr id="16" name="topic-2">
            <a:extLst xmlns:a="http://schemas.openxmlformats.org/drawingml/2006/main">
              <a:ext uri="{FF2B5EF4-FFF2-40B4-BE49-F238E27FC236}">
                <a16:creationId xmlns:a16="http://schemas.microsoft.com/office/drawing/2014/main" id="{5050B7CD-53AB-46FF-ADF4-F48CAA97FA87}"/>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The basis of evaluation</a:t>
            </a:r>
          </a:p>
        </p:txBody>
      </p:sp>
      <p:sp>
        <p:nvSpPr>
          <p:cNvPr id="17" name="detail-2">
            <a:extLst xmlns:a="http://schemas.openxmlformats.org/drawingml/2006/main">
              <a:ext uri="{FF2B5EF4-FFF2-40B4-BE49-F238E27FC236}">
                <a16:creationId xmlns:a16="http://schemas.microsoft.com/office/drawing/2014/main" id="{C872EBAE-7AE4-4617-8AA8-07AE0E1B5A0D}"/>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unit’s essentiality is present whether it is understood correctly or mistaken. Quantities describe dimensions, amounts or rates; qualitative understanding identifies nourishment, protection, integration or resolution.</a:t>
            </a:r>
          </a:p>
        </p:txBody>
      </p:sp>
    </p:spTree>
    <p:extLst>
      <p:ext uri="{BB962C8B-B14F-4D97-AF65-F5344CB8AC3E}">
        <p14:creationId xmlns:p14="http://schemas.microsoft.com/office/powerpoint/2010/main" val="210585546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FORM, PROPERTIES, NATURE, DHARMA</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Four aspects of the active unit</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The four aspects belong together; they do not generate value in four successive stages.</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2000250"/>
                <a:gridCol w="2667000"/>
                <a:gridCol w="29527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Aspect</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it identifies</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Relevance to value</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Form · roop</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Bounded configuration of the unit</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Dimensions and arrangement of the existing whole.</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Properties · guna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Relative powers and effects in mutuality</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the unit can affect in its actual relationships.</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Essential nature · swabhav</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Characteristic conduct and usefulness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significance of those powers in participation.</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Dharma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Inseparable, order-specific innateness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the unit bears and fulfils in its order.</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02378289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THE GROUND OF ACTIVITY</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Saturation, strength and power</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6 / 57</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§1.1; MVD pp. 35, 40; SB pp. 60–62</a:t>
            </a:r>
          </a:p>
        </p:txBody>
      </p:sp>
      <p:sp>
        <p:nvSpPr>
          <p:cNvPr id="13" name="topic-0">
            <a:extLst xmlns:a="http://schemas.openxmlformats.org/drawingml/2006/main">
              <a:ext uri="{FF2B5EF4-FFF2-40B4-BE49-F238E27FC236}">
                <a16:creationId xmlns:a16="http://schemas.microsoft.com/office/drawing/2014/main" id="{81FE501E-3953-4D4A-8707-CE7EF74157D2}"/>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Saturation · sampriktata</a:t>
            </a:r>
          </a:p>
        </p:txBody>
      </p:sp>
      <p:sp>
        <p:nvSpPr>
          <p:cNvPr id="14" name="detail-0">
            <a:extLst xmlns:a="http://schemas.openxmlformats.org/drawingml/2006/main">
              <a:ext uri="{FF2B5EF4-FFF2-40B4-BE49-F238E27FC236}">
                <a16:creationId xmlns:a16="http://schemas.microsoft.com/office/drawing/2014/main" id="{BD80CED6-EA97-455E-AEBC-E2D8B846F367}"/>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Units are soaked, submerged and surrounded in Omnipresence, satta. This is the ground of their energy-fullness and continuing activity.</a:t>
            </a:r>
          </a:p>
        </p:txBody>
      </p:sp>
      <p:sp>
        <p:nvSpPr>
          <p:cNvPr id="15" name="topic-1">
            <a:extLst xmlns:a="http://schemas.openxmlformats.org/drawingml/2006/main">
              <a:ext uri="{FF2B5EF4-FFF2-40B4-BE49-F238E27FC236}">
                <a16:creationId xmlns:a16="http://schemas.microsoft.com/office/drawing/2014/main" id="{59F4D68C-09C0-4441-9C81-EDCD8265490C}"/>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State / strength · sthiti / bal</a:t>
            </a:r>
          </a:p>
        </p:txBody>
      </p:sp>
      <p:sp>
        <p:nvSpPr>
          <p:cNvPr id="16" name="detail-1">
            <a:extLst xmlns:a="http://schemas.openxmlformats.org/drawingml/2006/main">
              <a:ext uri="{FF2B5EF4-FFF2-40B4-BE49-F238E27FC236}">
                <a16:creationId xmlns:a16="http://schemas.microsoft.com/office/drawing/2014/main" id="{5612C68E-6A0F-48BA-B8BA-EBC4D2163F2F}"/>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Strength is borne in the activity of the unit. In jeevan, the state side includes understood meaning and the basis of definite participation.</a:t>
            </a:r>
          </a:p>
        </p:txBody>
      </p:sp>
      <p:sp>
        <p:nvSpPr>
          <p:cNvPr id="17" name="topic-2">
            <a:extLst xmlns:a="http://schemas.openxmlformats.org/drawingml/2006/main">
              <a:ext uri="{FF2B5EF4-FFF2-40B4-BE49-F238E27FC236}">
                <a16:creationId xmlns:a16="http://schemas.microsoft.com/office/drawing/2014/main" id="{388C4502-9345-485E-8670-B4C8C5541BC7}"/>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Motion / power · gati / shakti</a:t>
            </a:r>
          </a:p>
        </p:txBody>
      </p:sp>
      <p:sp>
        <p:nvSpPr>
          <p:cNvPr id="18" name="detail-2">
            <a:extLst xmlns:a="http://schemas.openxmlformats.org/drawingml/2006/main">
              <a:ext uri="{FF2B5EF4-FFF2-40B4-BE49-F238E27FC236}">
                <a16:creationId xmlns:a16="http://schemas.microsoft.com/office/drawing/2014/main" id="{9C52B3BE-BDEB-4AE1-987F-BF7F986AD14B}"/>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Power is expressed in mutuality. The unit’s effects and contribution become evident in its activity with other units. State and motion are inseparable.</a:t>
            </a:r>
          </a:p>
        </p:txBody>
      </p:sp>
    </p:spTree>
    <p:extLst>
      <p:ext uri="{BB962C8B-B14F-4D97-AF65-F5344CB8AC3E}">
        <p14:creationId xmlns:p14="http://schemas.microsoft.com/office/powerpoint/2010/main" val="18672628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97CC95AE-49BE-457E-8F8D-041EE3B6E51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ONE CONTINUING ACTIVITY</a:t>
            </a:r>
          </a:p>
        </p:txBody>
      </p:sp>
      <p:sp>
        <p:nvSpPr>
          <p:cNvPr id="2" name="text-1">
            <a:extLst xmlns:a="http://schemas.openxmlformats.org/drawingml/2006/main">
              <a:ext uri="{FF2B5EF4-FFF2-40B4-BE49-F238E27FC236}">
                <a16:creationId xmlns:a16="http://schemas.microsoft.com/office/drawing/2014/main" id="{6E86407E-F66E-429A-91DA-33910088848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Effort, motion and result</a:t>
            </a:r>
          </a:p>
        </p:txBody>
      </p:sp>
      <p:sp>
        <p:nvSpPr>
          <p:cNvPr id="3" name="text-2">
            <a:extLst xmlns:a="http://schemas.openxmlformats.org/drawingml/2006/main">
              <a:ext uri="{FF2B5EF4-FFF2-40B4-BE49-F238E27FC236}">
                <a16:creationId xmlns:a16="http://schemas.microsoft.com/office/drawing/2014/main" id="{235C00A4-99D2-4D3D-AE77-5538B033EDF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72571F0D-C4CB-4AAA-9D01-3C79A12CC42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7 / 57</a:t>
            </a:r>
          </a:p>
        </p:txBody>
      </p:sp>
      <p:sp>
        <p:nvSpPr>
          <p:cNvPr id="5" name="text-4">
            <a:extLst xmlns:a="http://schemas.openxmlformats.org/drawingml/2006/main">
              <a:ext uri="{FF2B5EF4-FFF2-40B4-BE49-F238E27FC236}">
                <a16:creationId xmlns:a16="http://schemas.microsoft.com/office/drawing/2014/main" id="{55A0987D-D931-4481-913C-68F014925F8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Swabhav participates in both effort and motion; the alignment is neither a chronology nor a force equation.</a:t>
            </a:r>
          </a:p>
        </p:txBody>
      </p:sp>
      <p:graphicFrame>
        <p:nvGraphicFramePr>
          <p:cNvPr id="14"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1762125"/>
                <a:gridCol w="2571750"/>
                <a:gridCol w="328612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Activity</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Four-aspect relation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How to read the relation</a:t>
                      </a:r>
                    </a:p>
                  </a:txBody>
                  <a:tcPr marL="85725" marR="85725" marT="28575" marB="28575" anchor="ctr">
                    <a:solidFill>
                      <a:srgbClr val="1E2447"/>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Effort · shram</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Dharma and essential nature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strength borne in the unit’s characteristic activity.</a:t>
                      </a:r>
                    </a:p>
                  </a:txBody>
                  <a:tcPr marL="85725" marR="85725" marT="28575" marB="28575" anchor="ctr">
                    <a:solidFill>
                      <a:srgbClr val="FFFFFF"/>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Motion · gati</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Essential nature and properties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Its powers expressed through characteristic participation.</a:t>
                      </a:r>
                    </a:p>
                  </a:txBody>
                  <a:tcPr marL="85725" marR="85725" marT="28575" marB="28575" anchor="ctr">
                    <a:solidFill>
                      <a:srgbClr val="F1F3F8"/>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Result · parinam</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Form · roop</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configuration implicated in that continuing activity.</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11476778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 · CHARACTERISTIC PARTICIPATION</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Value across the four orders</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8 / 57</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Order-specific participation supplies the context in which an effect is evaluated.</a:t>
            </a:r>
          </a:p>
        </p:txBody>
      </p:sp>
      <p:graphicFrame>
        <p:nvGraphicFramePr>
          <p:cNvPr id="19"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571625"/>
                <a:gridCol w="2809875"/>
                <a:gridCol w="32385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Order</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Participation described</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Axiological implication</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Material</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Integration and disintegration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Formation and dissolution both participate in natural orderliness.</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Pranic</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Growth; vitalising or devitalising conduct</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Assess an effect through the living organisation and its mutuality.</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Animal</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Body and jeevan; the hope to live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Sentient participation is expressed through the bodily medium.</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Knowledge / human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Understanding and the purpose of happiness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Humans can recognise value and take responsibility for wider orderliness.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186726281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A MAP OF HUMAN LIVING · §1.3</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connected forms of value</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9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 and Editorial Notes; MVD pp. 183, 306; JV pp. 43, 55, 137–139</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1695450"/>
                <a:gridCol w="2762250"/>
                <a:gridCol w="31623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Form</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Bearer and content</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is examined</a:t>
                      </a:r>
                    </a:p>
                  </a:txBody>
                  <a:tcPr marL="85725" marR="85725" marT="28575" marB="28575" anchor="ctr">
                    <a:solidFill>
                      <a:srgbClr val="1E2447"/>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Jeevan values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Happiness, peace, contentment, bliss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Harmony of specified faculty activities.</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Human values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Humane essential nature in conduct</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Fortitude, courage, generosity; kindness, grace, compassion.</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Established / expressed</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Relationship values and their paired expressions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Understood acceptance and its fulfilment in mutuality.</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Usefulness / aesthetic</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Capacity of things; convenience added to usefulness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Adequacy for nourishment, protection and participation.</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Symbolic</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Money and assigned monetary valuation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Amount or price, assessed separately from usefulness.</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THE CONSCIOUS UNIT</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Chetana, chaitanya and realisation</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10 / 57</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§1.2; MVD pp. 35, 74–75, 97–100; SB pp. 63–64</a:t>
            </a:r>
          </a:p>
        </p:txBody>
      </p:sp>
      <p:sp>
        <p:nvSpPr>
          <p:cNvPr id="13" name="topic-0">
            <a:extLst xmlns:a="http://schemas.openxmlformats.org/drawingml/2006/main">
              <a:ext uri="{FF2B5EF4-FFF2-40B4-BE49-F238E27FC236}">
                <a16:creationId xmlns:a16="http://schemas.microsoft.com/office/drawing/2014/main" id="{CC3BBD87-A54D-4E09-A5A9-FBBA1C753765}"/>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Chetana</a:t>
            </a:r>
          </a:p>
        </p:txBody>
      </p:sp>
      <p:sp>
        <p:nvSpPr>
          <p:cNvPr id="14" name="detail-0">
            <a:extLst xmlns:a="http://schemas.openxmlformats.org/drawingml/2006/main">
              <a:ext uri="{FF2B5EF4-FFF2-40B4-BE49-F238E27FC236}">
                <a16:creationId xmlns:a16="http://schemas.microsoft.com/office/drawing/2014/main" id="{C2D6C77C-F1BA-4B29-852C-AFA2AF29318E}"/>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Actionless, changeless knowledge in relation to sentient nature. Omnipresence is the ground in which the conscious unit exists and remains active.</a:t>
            </a:r>
          </a:p>
        </p:txBody>
      </p:sp>
      <p:sp>
        <p:nvSpPr>
          <p:cNvPr id="15" name="topic-1">
            <a:extLst xmlns:a="http://schemas.openxmlformats.org/drawingml/2006/main">
              <a:ext uri="{FF2B5EF4-FFF2-40B4-BE49-F238E27FC236}">
                <a16:creationId xmlns:a16="http://schemas.microsoft.com/office/drawing/2014/main" id="{4BDC12EB-2886-40D2-86CC-9D63F9A57530}"/>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Chaitanya</a:t>
            </a:r>
          </a:p>
        </p:txBody>
      </p:sp>
      <p:sp>
        <p:nvSpPr>
          <p:cNvPr id="16" name="detail-1">
            <a:extLst xmlns:a="http://schemas.openxmlformats.org/drawingml/2006/main">
              <a:ext uri="{FF2B5EF4-FFF2-40B4-BE49-F238E27FC236}">
                <a16:creationId xmlns:a16="http://schemas.microsoft.com/office/drawing/2014/main" id="{F374DF6F-3CB5-49F2-922C-3568564A4A1D}"/>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Sentient nature present as jeevan. Its faculties recognise, evaluate, understand and fulfil; the body supplies the medium for embodied participation.</a:t>
            </a:r>
          </a:p>
        </p:txBody>
      </p:sp>
      <p:sp>
        <p:nvSpPr>
          <p:cNvPr id="17" name="topic-2">
            <a:extLst xmlns:a="http://schemas.openxmlformats.org/drawingml/2006/main">
              <a:ext uri="{FF2B5EF4-FFF2-40B4-BE49-F238E27FC236}">
                <a16:creationId xmlns:a16="http://schemas.microsoft.com/office/drawing/2014/main" id="{D2238707-DF30-4F58-9270-2B76118355BC}"/>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Anubhav</a:t>
            </a:r>
          </a:p>
        </p:txBody>
      </p:sp>
      <p:sp>
        <p:nvSpPr>
          <p:cNvPr id="18" name="detail-2">
            <a:extLst xmlns:a="http://schemas.openxmlformats.org/drawingml/2006/main">
              <a:ext uri="{FF2B5EF4-FFF2-40B4-BE49-F238E27FC236}">
                <a16:creationId xmlns:a16="http://schemas.microsoft.com/office/drawing/2014/main" id="{3EA03138-F66F-4E49-8239-09F037492261}"/>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Realisation in the activity of jeevan. The unit’s inherent capacity becomes fulfilled in awakened understanding and its evidence in living.</a:t>
            </a:r>
          </a:p>
        </p:txBody>
      </p:sp>
    </p:spTree>
    <p:extLst>
      <p:ext uri="{BB962C8B-B14F-4D97-AF65-F5344CB8AC3E}">
        <p14:creationId xmlns:p14="http://schemas.microsoft.com/office/powerpoint/2010/main" val="186726281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97CC95AE-49BE-457E-8F8D-041EE3B6E51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ESTABLISHMENT AND EXPRESSION</a:t>
            </a:r>
          </a:p>
        </p:txBody>
      </p:sp>
      <p:sp>
        <p:nvSpPr>
          <p:cNvPr id="2" name="text-1">
            <a:extLst xmlns:a="http://schemas.openxmlformats.org/drawingml/2006/main">
              <a:ext uri="{FF2B5EF4-FFF2-40B4-BE49-F238E27FC236}">
                <a16:creationId xmlns:a16="http://schemas.microsoft.com/office/drawing/2014/main" id="{6E86407E-F66E-429A-91DA-33910088848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State and motion within jeevan</a:t>
            </a:r>
          </a:p>
        </p:txBody>
      </p:sp>
      <p:sp>
        <p:nvSpPr>
          <p:cNvPr id="3" name="text-2">
            <a:extLst xmlns:a="http://schemas.openxmlformats.org/drawingml/2006/main">
              <a:ext uri="{FF2B5EF4-FFF2-40B4-BE49-F238E27FC236}">
                <a16:creationId xmlns:a16="http://schemas.microsoft.com/office/drawing/2014/main" id="{235C00A4-99D2-4D3D-AE77-5538B033EDF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72571F0D-C4CB-4AAA-9D01-3C79A12CC42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11 / 57</a:t>
            </a:r>
          </a:p>
        </p:txBody>
      </p:sp>
      <p:sp>
        <p:nvSpPr>
          <p:cNvPr id="5" name="text-4">
            <a:extLst xmlns:a="http://schemas.openxmlformats.org/drawingml/2006/main">
              <a:ext uri="{FF2B5EF4-FFF2-40B4-BE49-F238E27FC236}">
                <a16:creationId xmlns:a16="http://schemas.microsoft.com/office/drawing/2014/main" id="{55A0987D-D931-4481-913C-68F014925F8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Established value and its expression are aspects of activity; an observed act requires interpretation.</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3810000"/>
                <a:gridCol w="38100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State · sthiti / bal</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Motion · gati / shakti</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understood basis borne in activity</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Its meaningful expression as power in mutuality</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 value accepted as a basis of selection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corresponding contribution in thought, behaviour and work</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Established care: the responsibility for nurture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Generosity: making appropriate body, mind and wealth available</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Continuity depends on the person’s understanding</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Acts also require suitable skill, resources and circumstances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114767786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AWAKENED JEEVAN · §1.2</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Five faculties, paired activities</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12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§1.2 and Editorial Notes; KD §3.8, p. 84; MVD pp. 99–100, 156</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1143000"/>
                <a:gridCol w="3238500"/>
                <a:gridCol w="32385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Faculty</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State / strength</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Motion / power</a:t>
                      </a:r>
                    </a:p>
                  </a:txBody>
                  <a:tcPr marL="85725" marR="85725" marT="28575" marB="28575" anchor="ctr">
                    <a:solidFill>
                      <a:srgbClr val="1E2447"/>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Atma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Realisation · anubhav</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Evidence · praman</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Buddhi</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Understanding · bodh</a:t>
                      </a:r>
                    </a:p>
                    <a:p>
                      <a:pPr>
                        <a:lnSpc>
                          <a:spcPct val="105000"/>
                        </a:lnSpc>
                        <a:buNone/>
                      </a:pPr>
                      <a:r>
                        <a:rPr sz="1463" b="0">
                          <a:solidFill>
                            <a:srgbClr val="303853"/>
                          </a:solidFill>
                          <a:latin typeface="Calibri"/>
                          <a:ea typeface="Calibri"/>
                          <a:cs typeface="Calibri"/>
                        </a:rPr>
                        <a:t>Actuality, reality and truth</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Resolve · sankalp</a:t>
                      </a:r>
                    </a:p>
                    <a:p>
                      <a:pPr>
                        <a:lnSpc>
                          <a:spcPct val="105000"/>
                        </a:lnSpc>
                        <a:buNone/>
                      </a:pPr>
                      <a:r>
                        <a:rPr sz="1463" b="0">
                          <a:solidFill>
                            <a:srgbClr val="303853"/>
                          </a:solidFill>
                          <a:latin typeface="Calibri"/>
                          <a:ea typeface="Calibri"/>
                          <a:cs typeface="Calibri"/>
                        </a:rPr>
                        <a:t>To express what is understood</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Chitta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Contemplation · chintan</a:t>
                      </a:r>
                    </a:p>
                    <a:p>
                      <a:pPr>
                        <a:lnSpc>
                          <a:spcPct val="105000"/>
                        </a:lnSpc>
                        <a:buNone/>
                      </a:pPr>
                      <a:r>
                        <a:rPr sz="1463" b="0">
                          <a:solidFill>
                            <a:srgbClr val="303853"/>
                          </a:solidFill>
                          <a:latin typeface="Calibri"/>
                          <a:ea typeface="Calibri"/>
                          <a:cs typeface="Calibri"/>
                        </a:rPr>
                        <a:t>Direct apprehension · sakshatkar</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Visualisation · chitran</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Vritti</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Deliberation / comparison · tulan</a:t>
                      </a:r>
                    </a:p>
                    <a:p>
                      <a:pPr>
                        <a:lnSpc>
                          <a:spcPct val="105000"/>
                        </a:lnSpc>
                        <a:buNone/>
                      </a:pPr>
                      <a:r>
                        <a:rPr sz="1463" b="0">
                          <a:solidFill>
                            <a:srgbClr val="303853"/>
                          </a:solidFill>
                          <a:latin typeface="Calibri"/>
                          <a:ea typeface="Calibri"/>
                          <a:cs typeface="Calibri"/>
                        </a:rPr>
                        <a:t>Justice, dharma and truth</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Analysis · vishleshan</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Mun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Tasting · asvadan</a:t>
                      </a:r>
                    </a:p>
                    <a:p>
                      <a:pPr>
                        <a:lnSpc>
                          <a:spcPct val="105000"/>
                        </a:lnSpc>
                        <a:buNone/>
                      </a:pPr>
                      <a:r>
                        <a:rPr sz="1463" b="0">
                          <a:solidFill>
                            <a:srgbClr val="303853"/>
                          </a:solidFill>
                          <a:latin typeface="Calibri"/>
                          <a:ea typeface="Calibri"/>
                          <a:cs typeface="Calibri"/>
                        </a:rPr>
                        <a:t>The value accepted</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Selection · chayan</a:t>
                      </a:r>
                    </a:p>
                    <a:p>
                      <a:pPr>
                        <a:lnSpc>
                          <a:spcPct val="105000"/>
                        </a:lnSpc>
                        <a:buNone/>
                      </a:pPr>
                      <a:r>
                        <a:rPr sz="1463" b="0">
                          <a:solidFill>
                            <a:srgbClr val="303853"/>
                          </a:solidFill>
                          <a:latin typeface="Calibri"/>
                          <a:ea typeface="Calibri"/>
                          <a:cs typeface="Calibri"/>
                        </a:rPr>
                        <a:t>For meaningful fulfilment</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COORDINATION OF THE WHOLE JEEVAN</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How evaluation becomes adequate</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13 / 57</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§1.2; MVD pp. 83, 99–100, 156, 203, 327; KD p. 84</a:t>
            </a:r>
          </a:p>
        </p:txBody>
      </p:sp>
      <p:sp>
        <p:nvSpPr>
          <p:cNvPr id="13" name="topic-0">
            <a:extLst xmlns:a="http://schemas.openxmlformats.org/drawingml/2006/main">
              <a:ext uri="{FF2B5EF4-FFF2-40B4-BE49-F238E27FC236}">
                <a16:creationId xmlns:a16="http://schemas.microsoft.com/office/drawing/2014/main" id="{F0673859-1AF9-4490-B244-CBA425551B67}"/>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Meaning and certainty</a:t>
            </a:r>
          </a:p>
        </p:txBody>
      </p:sp>
      <p:sp>
        <p:nvSpPr>
          <p:cNvPr id="14" name="detail-0">
            <a:extLst xmlns:a="http://schemas.openxmlformats.org/drawingml/2006/main">
              <a:ext uri="{FF2B5EF4-FFF2-40B4-BE49-F238E27FC236}">
                <a16:creationId xmlns:a16="http://schemas.microsoft.com/office/drawing/2014/main" id="{3180FBED-D9B3-45B8-A23D-7AC1BF583EC7}"/>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Contemplation and direct apprehension concern the reality understood. Bodh supplies certainty; sankalp gives resolve to express that understanding.</a:t>
            </a:r>
          </a:p>
        </p:txBody>
      </p:sp>
      <p:sp>
        <p:nvSpPr>
          <p:cNvPr id="15" name="topic-1">
            <a:extLst xmlns:a="http://schemas.openxmlformats.org/drawingml/2006/main">
              <a:ext uri="{FF2B5EF4-FFF2-40B4-BE49-F238E27FC236}">
                <a16:creationId xmlns:a16="http://schemas.microsoft.com/office/drawing/2014/main" id="{CD28F106-D76E-483E-B59E-85EE068AE208}"/>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Deliberation and selection</a:t>
            </a:r>
          </a:p>
        </p:txBody>
      </p:sp>
      <p:sp>
        <p:nvSpPr>
          <p:cNvPr id="16" name="detail-1">
            <a:extLst xmlns:a="http://schemas.openxmlformats.org/drawingml/2006/main">
              <a:ext uri="{FF2B5EF4-FFF2-40B4-BE49-F238E27FC236}">
                <a16:creationId xmlns:a16="http://schemas.microsoft.com/office/drawing/2014/main" id="{83A15B9E-DBD5-4B7D-925C-EAC02F3286B5}"/>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Vritti examines the relationship and available means. Mun tastes the accepted value and selects its fulfilment; analysis and choice express their understood purpose.</a:t>
            </a:r>
          </a:p>
        </p:txBody>
      </p:sp>
      <p:sp>
        <p:nvSpPr>
          <p:cNvPr id="17" name="topic-2">
            <a:extLst xmlns:a="http://schemas.openxmlformats.org/drawingml/2006/main">
              <a:ext uri="{FF2B5EF4-FFF2-40B4-BE49-F238E27FC236}">
                <a16:creationId xmlns:a16="http://schemas.microsoft.com/office/drawing/2014/main" id="{77D2F8CF-4678-4F4A-A0E4-8536E1D8A0FA}"/>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 possible failure</a:t>
            </a:r>
          </a:p>
        </p:txBody>
      </p:sp>
      <p:sp>
        <p:nvSpPr>
          <p:cNvPr id="18" name="detail-2">
            <a:extLst xmlns:a="http://schemas.openxmlformats.org/drawingml/2006/main">
              <a:ext uri="{FF2B5EF4-FFF2-40B4-BE49-F238E27FC236}">
                <a16:creationId xmlns:a16="http://schemas.microsoft.com/office/drawing/2014/main" id="{D9784CAE-F109-4112-AD9F-D65F0E1C1857}"/>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 host can visualise an impressive meal and calculate quantities accurately while overlooking a guest’s need. Skill and a vivid image leave the relationship’s meaning unresolved.</a:t>
            </a:r>
          </a:p>
        </p:txBody>
      </p:sp>
    </p:spTree>
    <p:extLst>
      <p:ext uri="{BB962C8B-B14F-4D97-AF65-F5344CB8AC3E}">
        <p14:creationId xmlns:p14="http://schemas.microsoft.com/office/powerpoint/2010/main" val="102897839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051CF693-4BC6-486E-97B6-C8B0C7A4A277}"/>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THE CONTENT OF INNER FULFILMENT</a:t>
            </a:r>
          </a:p>
        </p:txBody>
      </p:sp>
      <p:sp>
        <p:nvSpPr>
          <p:cNvPr id="2" name="text-1">
            <a:extLst xmlns:a="http://schemas.openxmlformats.org/drawingml/2006/main">
              <a:ext uri="{FF2B5EF4-FFF2-40B4-BE49-F238E27FC236}">
                <a16:creationId xmlns:a16="http://schemas.microsoft.com/office/drawing/2014/main" id="{A1025C25-7830-440D-88B0-E7B9A7D01B7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four harmonies of jeevan</a:t>
            </a:r>
          </a:p>
        </p:txBody>
      </p:sp>
      <p:sp>
        <p:nvSpPr>
          <p:cNvPr id="3" name="text-2">
            <a:extLst xmlns:a="http://schemas.openxmlformats.org/drawingml/2006/main">
              <a:ext uri="{FF2B5EF4-FFF2-40B4-BE49-F238E27FC236}">
                <a16:creationId xmlns:a16="http://schemas.microsoft.com/office/drawing/2014/main" id="{8F03ADC2-1930-4CB8-B6F1-DE25301D36A4}"/>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F30F8F8-5031-45D7-881A-691A91789DF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14 / 57</a:t>
            </a:r>
          </a:p>
        </p:txBody>
      </p:sp>
      <p:sp>
        <p:nvSpPr>
          <p:cNvPr id="5" name="text-4">
            <a:extLst xmlns:a="http://schemas.openxmlformats.org/drawingml/2006/main">
              <a:ext uri="{FF2B5EF4-FFF2-40B4-BE49-F238E27FC236}">
                <a16:creationId xmlns:a16="http://schemas.microsoft.com/office/drawing/2014/main" id="{0EC121EB-EEAA-42EC-8E48-4B0E4CCF6C8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Concurrence includes understood content; agreement between mistaken beliefs is insufficient.</a:t>
            </a:r>
          </a:p>
        </p:txBody>
      </p:sp>
      <p:graphicFrame>
        <p:nvGraphicFramePr>
          <p:cNvPr id="22"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2095500"/>
                <a:gridCol w="1762125"/>
                <a:gridCol w="376237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Value</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Faculty relation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Specified content of harmony</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Happiness · sukh</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Mun ↔ vritti</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Resolution; behaviour free of wrongdoing.</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Peace · shanti</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Vritti ↔ chitta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Thought free of injustice.</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Contentment · santosh</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Chitta ↔ buddhi</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Desire free of attachment.</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Bliss · anand</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Buddhi ↔ atma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Understanding free of ignorance.</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71075484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D44C03D-69D8-4C78-8336-C5356C337AA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INNER HARMONY AND HUMAN PURPOSE</a:t>
            </a:r>
          </a:p>
        </p:txBody>
      </p:sp>
      <p:sp>
        <p:nvSpPr>
          <p:cNvPr id="2" name="text-1">
            <a:extLst xmlns:a="http://schemas.openxmlformats.org/drawingml/2006/main">
              <a:ext uri="{FF2B5EF4-FFF2-40B4-BE49-F238E27FC236}">
                <a16:creationId xmlns:a16="http://schemas.microsoft.com/office/drawing/2014/main" id="{687F934B-4C56-40EA-A53B-A0046799792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Cumulative fulfilment in living</a:t>
            </a:r>
          </a:p>
        </p:txBody>
      </p:sp>
      <p:sp>
        <p:nvSpPr>
          <p:cNvPr id="3" name="text-2">
            <a:extLst xmlns:a="http://schemas.openxmlformats.org/drawingml/2006/main">
              <a:ext uri="{FF2B5EF4-FFF2-40B4-BE49-F238E27FC236}">
                <a16:creationId xmlns:a16="http://schemas.microsoft.com/office/drawing/2014/main" id="{4E8AFE67-E612-437C-B1F4-71FF4ACC0E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11B2EBE-7C45-42DF-95EC-D16F56C3C4C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15 / 57</a:t>
            </a:r>
          </a:p>
        </p:txBody>
      </p:sp>
      <p:sp>
        <p:nvSpPr>
          <p:cNvPr id="5" name="text-4">
            <a:extLst xmlns:a="http://schemas.openxmlformats.org/drawingml/2006/main">
              <a:ext uri="{FF2B5EF4-FFF2-40B4-BE49-F238E27FC236}">
                <a16:creationId xmlns:a16="http://schemas.microsoft.com/office/drawing/2014/main" id="{6FB8D8BC-DF44-4288-A3F1-CDAD85966A08}"/>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Each wider fulfilment retains the preceding content; the social terms are cumulative.</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352550"/>
                <a:gridCol w="3352800"/>
                <a:gridCol w="29146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Jeevan value</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Fulfilment retained and extended</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Field of examination</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Happiness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Resolution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Understood purpose and self-governed conduct.</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Peace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Resolution + prosperity</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Adequate family provision with resolved living.</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Contentment</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Resolution + prosperity + fearlessness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Just, trustworthy social participation.</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Bliss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Resolution + prosperity + fearlessness + coexistence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Participation in universal orderliness.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3109431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 · DISTINCTIONS WITHIN FULFILMENT</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Contentment, abundance and bliss</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16 / 57</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§1.2; MVD pp. 327–328, 331; JV p. 138; KD p. 112</a:t>
            </a:r>
          </a:p>
        </p:txBody>
      </p:sp>
      <p:sp>
        <p:nvSpPr>
          <p:cNvPr id="13" name="topic-0">
            <a:extLst xmlns:a="http://schemas.openxmlformats.org/drawingml/2006/main">
              <a:ext uri="{FF2B5EF4-FFF2-40B4-BE49-F238E27FC236}">
                <a16:creationId xmlns:a16="http://schemas.microsoft.com/office/drawing/2014/main" id="{2308B33F-0694-4C62-9184-13923A5524C3}"/>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Santosh and shree</a:t>
            </a:r>
          </a:p>
        </p:txBody>
      </p:sp>
      <p:sp>
        <p:nvSpPr>
          <p:cNvPr id="14" name="detail-0">
            <a:extLst xmlns:a="http://schemas.openxmlformats.org/drawingml/2006/main">
              <a:ext uri="{FF2B5EF4-FFF2-40B4-BE49-F238E27FC236}">
                <a16:creationId xmlns:a16="http://schemas.microsoft.com/office/drawing/2014/main" id="{5003C164-5BC6-4B0B-8635-C08D84715309}"/>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Contentment includes freedom from the sentiment of lack and readiness to evidence production beyond need through science aligned with wisdom. Its paired expression is abundance.</a:t>
            </a:r>
          </a:p>
        </p:txBody>
      </p:sp>
      <p:sp>
        <p:nvSpPr>
          <p:cNvPr id="15" name="topic-1">
            <a:extLst xmlns:a="http://schemas.openxmlformats.org/drawingml/2006/main">
              <a:ext uri="{FF2B5EF4-FFF2-40B4-BE49-F238E27FC236}">
                <a16:creationId xmlns:a16="http://schemas.microsoft.com/office/drawing/2014/main" id="{798AF3FF-7502-4AD9-8F9D-67368B04A992}"/>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Anand and paramanand</a:t>
            </a:r>
          </a:p>
        </p:txBody>
      </p:sp>
      <p:sp>
        <p:nvSpPr>
          <p:cNvPr id="16" name="detail-1">
            <a:extLst xmlns:a="http://schemas.openxmlformats.org/drawingml/2006/main">
              <a:ext uri="{FF2B5EF4-FFF2-40B4-BE49-F238E27FC236}">
                <a16:creationId xmlns:a16="http://schemas.microsoft.com/office/drawing/2014/main" id="{BA283924-3ED2-4922-ACA3-10B0828DCCE9}"/>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Bliss is borne at buddhi in harmony with atma. Ultimate bliss belongs to realisation in atma, with authenticity as expression and evidence.</a:t>
            </a:r>
          </a:p>
        </p:txBody>
      </p:sp>
      <p:sp>
        <p:nvSpPr>
          <p:cNvPr id="17" name="topic-2">
            <a:extLst xmlns:a="http://schemas.openxmlformats.org/drawingml/2006/main">
              <a:ext uri="{FF2B5EF4-FFF2-40B4-BE49-F238E27FC236}">
                <a16:creationId xmlns:a16="http://schemas.microsoft.com/office/drawing/2014/main" id="{BC6F0A8B-D2D5-4534-8F60-FF2CDAF3486D}"/>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Saturation and awakening</a:t>
            </a:r>
          </a:p>
        </p:txBody>
      </p:sp>
      <p:sp>
        <p:nvSpPr>
          <p:cNvPr id="18" name="detail-2">
            <a:extLst xmlns:a="http://schemas.openxmlformats.org/drawingml/2006/main">
              <a:ext uri="{FF2B5EF4-FFF2-40B4-BE49-F238E27FC236}">
                <a16:creationId xmlns:a16="http://schemas.microsoft.com/office/drawing/2014/main" id="{904C7CA3-CC6F-4B7D-8F80-1F8486CD5AE9}"/>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Atma’s concurrence with Omnipresence is eternally present. Its realisation in awakened human living concerns the actual fulfilment of the conscious unit’s capacity.</a:t>
            </a:r>
          </a:p>
        </p:txBody>
      </p:sp>
    </p:spTree>
    <p:extLst>
      <p:ext uri="{BB962C8B-B14F-4D97-AF65-F5344CB8AC3E}">
        <p14:creationId xmlns:p14="http://schemas.microsoft.com/office/powerpoint/2010/main" val="102897839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HUMAN VALUES · §1.3</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Humane essential nature</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17 / 57</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 MVD pp. 52, 60–61, 125, 340</a:t>
            </a:r>
          </a:p>
        </p:txBody>
      </p:sp>
      <p:sp>
        <p:nvSpPr>
          <p:cNvPr id="13" name="topic-0">
            <a:extLst xmlns:a="http://schemas.openxmlformats.org/drawingml/2006/main">
              <a:ext uri="{FF2B5EF4-FFF2-40B4-BE49-F238E27FC236}">
                <a16:creationId xmlns:a16="http://schemas.microsoft.com/office/drawing/2014/main" id="{B62CEBFD-78E8-4A68-B289-A21A8388206B}"/>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Fortitude · dhirata</a:t>
            </a:r>
          </a:p>
        </p:txBody>
      </p:sp>
      <p:sp>
        <p:nvSpPr>
          <p:cNvPr id="14" name="detail-0">
            <a:extLst xmlns:a="http://schemas.openxmlformats.org/drawingml/2006/main">
              <a:ext uri="{FF2B5EF4-FFF2-40B4-BE49-F238E27FC236}">
                <a16:creationId xmlns:a16="http://schemas.microsoft.com/office/drawing/2014/main" id="{32CC21D8-8AAD-4C3B-BADA-C8DB62DA834C}"/>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Firmness towards justice: the recognised responsibility remains the basis of conduct when convenience, pressure or attraction would divert it.</a:t>
            </a:r>
          </a:p>
        </p:txBody>
      </p:sp>
      <p:sp>
        <p:nvSpPr>
          <p:cNvPr id="15" name="topic-1">
            <a:extLst xmlns:a="http://schemas.openxmlformats.org/drawingml/2006/main">
              <a:ext uri="{FF2B5EF4-FFF2-40B4-BE49-F238E27FC236}">
                <a16:creationId xmlns:a16="http://schemas.microsoft.com/office/drawing/2014/main" id="{66960CA9-F65B-4650-9AAF-7291FA1CD005}"/>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Courage · veerta</a:t>
            </a:r>
          </a:p>
        </p:txBody>
      </p:sp>
      <p:sp>
        <p:nvSpPr>
          <p:cNvPr id="16" name="detail-1">
            <a:extLst xmlns:a="http://schemas.openxmlformats.org/drawingml/2006/main">
              <a:ext uri="{FF2B5EF4-FFF2-40B4-BE49-F238E27FC236}">
                <a16:creationId xmlns:a16="http://schemas.microsoft.com/office/drawing/2014/main" id="{3A48A10C-FEE5-412C-A536-9C3F072CA652}"/>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Deployment of intellectual and physical powers to make justice available. Its purpose specifies which exercise of strength is humane.</a:t>
            </a:r>
          </a:p>
        </p:txBody>
      </p:sp>
      <p:sp>
        <p:nvSpPr>
          <p:cNvPr id="17" name="topic-2">
            <a:extLst xmlns:a="http://schemas.openxmlformats.org/drawingml/2006/main">
              <a:ext uri="{FF2B5EF4-FFF2-40B4-BE49-F238E27FC236}">
                <a16:creationId xmlns:a16="http://schemas.microsoft.com/office/drawing/2014/main" id="{48E22535-D229-43EA-B242-C171DA162280}"/>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Generosity · udarta</a:t>
            </a:r>
          </a:p>
        </p:txBody>
      </p:sp>
      <p:sp>
        <p:nvSpPr>
          <p:cNvPr id="18" name="detail-2">
            <a:extLst xmlns:a="http://schemas.openxmlformats.org/drawingml/2006/main">
              <a:ext uri="{FF2B5EF4-FFF2-40B4-BE49-F238E27FC236}">
                <a16:creationId xmlns:a16="http://schemas.microsoft.com/office/drawing/2014/main" id="{7810607E-B651-48EC-8B99-8C9FE7461CDD}"/>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Offering body, mind and wealth according to need for awakening, health and prosperity. Adequate, purposeful provision matters more than the size of the gift.</a:t>
            </a:r>
          </a:p>
        </p:txBody>
      </p:sp>
    </p:spTree>
    <p:extLst>
      <p:ext uri="{BB962C8B-B14F-4D97-AF65-F5344CB8AC3E}">
        <p14:creationId xmlns:p14="http://schemas.microsoft.com/office/powerpoint/2010/main" val="172022418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55CBF0B9-6393-409A-9BD8-F9532B5DA43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CONTENT AND RECEPTIVITY</a:t>
            </a:r>
          </a:p>
        </p:txBody>
      </p:sp>
      <p:sp>
        <p:nvSpPr>
          <p:cNvPr id="2" name="text-1">
            <a:extLst xmlns:a="http://schemas.openxmlformats.org/drawingml/2006/main">
              <a:ext uri="{FF2B5EF4-FFF2-40B4-BE49-F238E27FC236}">
                <a16:creationId xmlns:a16="http://schemas.microsoft.com/office/drawing/2014/main" id="{A9A5C60D-E085-4967-A273-9869386E903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Kindness, grace and compassion</a:t>
            </a:r>
          </a:p>
        </p:txBody>
      </p:sp>
      <p:sp>
        <p:nvSpPr>
          <p:cNvPr id="3" name="text-2">
            <a:extLst xmlns:a="http://schemas.openxmlformats.org/drawingml/2006/main">
              <a:ext uri="{FF2B5EF4-FFF2-40B4-BE49-F238E27FC236}">
                <a16:creationId xmlns:a16="http://schemas.microsoft.com/office/drawing/2014/main" id="{B0791113-3178-4F34-83EC-76A56FDCF45C}"/>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7B20D7C-7C79-4634-A84B-DB79DA45E9FA}"/>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18 / 57</a:t>
            </a:r>
          </a:p>
        </p:txBody>
      </p:sp>
      <p:sp>
        <p:nvSpPr>
          <p:cNvPr id="5" name="text-4">
            <a:extLst xmlns:a="http://schemas.openxmlformats.org/drawingml/2006/main">
              <a:ext uri="{FF2B5EF4-FFF2-40B4-BE49-F238E27FC236}">
                <a16:creationId xmlns:a16="http://schemas.microsoft.com/office/drawing/2014/main" id="{38808125-0235-4D22-A7A1-87E2413402D9}"/>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The adequate response depends on both the content available and the capacity to receive it.</a:t>
            </a:r>
          </a:p>
        </p:txBody>
      </p:sp>
      <p:graphicFrame>
        <p:nvGraphicFramePr>
          <p:cNvPr id="14"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1885950"/>
                <a:gridCol w="2543175"/>
                <a:gridCol w="319087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Value</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Recipient’s situation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the participation supplies</a:t>
                      </a:r>
                    </a:p>
                  </a:txBody>
                  <a:tcPr marL="85725" marR="85725" marT="28575" marB="28575" anchor="ctr">
                    <a:solidFill>
                      <a:srgbClr val="1E2447"/>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Kindness · daya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Receptivity present; content lacking</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Make the missing content available for development.</a:t>
                      </a:r>
                    </a:p>
                  </a:txBody>
                  <a:tcPr marL="85725" marR="85725" marT="28575" marB="28575" anchor="ctr">
                    <a:solidFill>
                      <a:srgbClr val="FFFFFF"/>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Grace · kripa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Content available; receptivity lacking</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Develop the ability or receptivity to receive it meaningfully.</a:t>
                      </a:r>
                    </a:p>
                  </a:txBody>
                  <a:tcPr marL="85725" marR="85725" marT="28575" marB="28575" anchor="ctr">
                    <a:solidFill>
                      <a:srgbClr val="F1F3F8"/>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Compassion · karuna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Content and receptivity both lacking</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Work to make both available.</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139431918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691A0230-9F7F-4D04-91C8-A4A9C3BDE14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ONE ESTABLISHED–EXPRESSED PAIR</a:t>
            </a:r>
          </a:p>
        </p:txBody>
      </p:sp>
      <p:sp>
        <p:nvSpPr>
          <p:cNvPr id="2" name="text-1">
            <a:extLst xmlns:a="http://schemas.openxmlformats.org/drawingml/2006/main">
              <a:ext uri="{FF2B5EF4-FFF2-40B4-BE49-F238E27FC236}">
                <a16:creationId xmlns:a16="http://schemas.microsoft.com/office/drawing/2014/main" id="{0C69D320-D8CF-44AE-8980-8972E5021AF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Care and its expression</a:t>
            </a:r>
          </a:p>
        </p:txBody>
      </p:sp>
      <p:sp>
        <p:nvSpPr>
          <p:cNvPr id="3" name="text-2">
            <a:extLst xmlns:a="http://schemas.openxmlformats.org/drawingml/2006/main">
              <a:ext uri="{FF2B5EF4-FFF2-40B4-BE49-F238E27FC236}">
                <a16:creationId xmlns:a16="http://schemas.microsoft.com/office/drawing/2014/main" id="{993FC410-75AB-4321-A8C2-1EF006D8C0F7}"/>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56E219-4AE2-41FA-B499-9371B8B4279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19 / 57</a:t>
            </a:r>
          </a:p>
        </p:txBody>
      </p:sp>
      <p:sp>
        <p:nvSpPr>
          <p:cNvPr id="5" name="text-4">
            <a:extLst xmlns:a="http://schemas.openxmlformats.org/drawingml/2006/main">
              <a:ext uri="{FF2B5EF4-FFF2-40B4-BE49-F238E27FC236}">
                <a16:creationId xmlns:a16="http://schemas.microsoft.com/office/drawing/2014/main" id="{D1C5AC0F-1B54-4B3F-AC30-DB22F33DDB59}"/>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§§1.3–1.4; JV p. 108; AVD pp. 91–94; MVD pp. 331–340</a:t>
            </a:r>
          </a:p>
        </p:txBody>
      </p:sp>
      <p:sp>
        <p:nvSpPr>
          <p:cNvPr id="14" name="topic-0">
            <a:extLst xmlns:a="http://schemas.openxmlformats.org/drawingml/2006/main">
              <a:ext uri="{FF2B5EF4-FFF2-40B4-BE49-F238E27FC236}">
                <a16:creationId xmlns:a16="http://schemas.microsoft.com/office/drawing/2014/main" id="{16158CA9-EDE6-428D-A1DD-B5A208B9A690}"/>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Established: mamta</a:t>
            </a:r>
          </a:p>
        </p:txBody>
      </p:sp>
      <p:sp>
        <p:nvSpPr>
          <p:cNvPr id="15" name="detail-0">
            <a:extLst xmlns:a="http://schemas.openxmlformats.org/drawingml/2006/main">
              <a:ext uri="{FF2B5EF4-FFF2-40B4-BE49-F238E27FC236}">
                <a16:creationId xmlns:a16="http://schemas.microsoft.com/office/drawing/2014/main" id="{B887E0F2-560E-43A8-B12F-89EA2C06D5EB}"/>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Care recognises nurture and protection as a responsibility in the relationship. It is borne in bal / sthiti, with its named activity at mun.</a:t>
            </a:r>
          </a:p>
        </p:txBody>
      </p:sp>
      <p:sp>
        <p:nvSpPr>
          <p:cNvPr id="16" name="topic-1">
            <a:extLst xmlns:a="http://schemas.openxmlformats.org/drawingml/2006/main">
              <a:ext uri="{FF2B5EF4-FFF2-40B4-BE49-F238E27FC236}">
                <a16:creationId xmlns:a16="http://schemas.microsoft.com/office/drawing/2014/main" id="{A4D89766-FEB3-4BBC-93DD-BEB20EEB8D18}"/>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Expressed: udarta</a:t>
            </a:r>
          </a:p>
        </p:txBody>
      </p:sp>
      <p:sp>
        <p:nvSpPr>
          <p:cNvPr id="17" name="detail-1">
            <a:extLst xmlns:a="http://schemas.openxmlformats.org/drawingml/2006/main">
              <a:ext uri="{FF2B5EF4-FFF2-40B4-BE49-F238E27FC236}">
                <a16:creationId xmlns:a16="http://schemas.microsoft.com/office/drawing/2014/main" id="{4D3B14F9-2D97-4AEF-A329-06B82489AFA3}"/>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Generosity makes appropriate body, mind and wealth available. The expression must suit the person’s need, available means and actual circumstances.</a:t>
            </a:r>
          </a:p>
        </p:txBody>
      </p:sp>
      <p:sp>
        <p:nvSpPr>
          <p:cNvPr id="18" name="topic-2">
            <a:extLst xmlns:a="http://schemas.openxmlformats.org/drawingml/2006/main">
              <a:ext uri="{FF2B5EF4-FFF2-40B4-BE49-F238E27FC236}">
                <a16:creationId xmlns:a16="http://schemas.microsoft.com/office/drawing/2014/main" id="{047DB7E3-3AB5-425C-B90C-F9DE452FFD2C}"/>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What becomes evident</a:t>
            </a:r>
          </a:p>
        </p:txBody>
      </p:sp>
      <p:sp>
        <p:nvSpPr>
          <p:cNvPr id="19" name="detail-2">
            <a:extLst xmlns:a="http://schemas.openxmlformats.org/drawingml/2006/main">
              <a:ext uri="{FF2B5EF4-FFF2-40B4-BE49-F238E27FC236}">
                <a16:creationId xmlns:a16="http://schemas.microsoft.com/office/drawing/2014/main" id="{AE46207A-4B47-492A-A386-F0C7D54D2E7A}"/>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Food prepared and offered appropriately can fulfil care. The caregiver’s understanding, adequacy of provision and actual nourishment each enter evaluation.</a:t>
            </a:r>
          </a:p>
        </p:txBody>
      </p:sp>
    </p:spTree>
    <p:extLst>
      <p:ext uri="{BB962C8B-B14F-4D97-AF65-F5344CB8AC3E}">
        <p14:creationId xmlns:p14="http://schemas.microsoft.com/office/powerpoint/2010/main" val="122799533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ESTABLISHED VALUE AND EXPRESSION</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1–5</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20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Each expressed or shishta value is dedicated to its corresponding established value.</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3048000"/>
                <a:gridCol w="3190875"/>
                <a:gridCol w="138112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Established · bal / sthiti</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Expressed · gati / shakti</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Faculty</a:t>
                      </a:r>
                    </a:p>
                  </a:txBody>
                  <a:tcPr marL="85725" marR="85725" marT="28575" marB="28575" anchor="ctr">
                    <a:solidFill>
                      <a:srgbClr val="1E2447"/>
                    </a:solidFill>
                  </a:tcPr>
                </a:tc>
              </a:tr>
              <a:tr h="52959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Care · mamta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Generosity · udarta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Mun</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Guidance · vatsalya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Naturalness · sahajta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Chitta</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Trust · vishwas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Concordance · saujanyata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Vritti</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Affection · sneha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Dedication · nishtha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Mun</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Gratitude · kritagyata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Humility · saumyata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Vritti</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6662B11-1F34-454B-880B-C810A1D6BF9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ESTABLISHED VALUE AND EXPRESSION</a:t>
            </a:r>
          </a:p>
        </p:txBody>
      </p:sp>
      <p:sp>
        <p:nvSpPr>
          <p:cNvPr id="2" name="text-1">
            <a:extLst xmlns:a="http://schemas.openxmlformats.org/drawingml/2006/main">
              <a:ext uri="{FF2B5EF4-FFF2-40B4-BE49-F238E27FC236}">
                <a16:creationId xmlns:a16="http://schemas.microsoft.com/office/drawing/2014/main" id="{7C9A92A4-A7E9-4860-A802-2DBC72A1C00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6–9</a:t>
            </a:r>
          </a:p>
        </p:txBody>
      </p:sp>
      <p:sp>
        <p:nvSpPr>
          <p:cNvPr id="3" name="text-2">
            <a:extLst xmlns:a="http://schemas.openxmlformats.org/drawingml/2006/main">
              <a:ext uri="{FF2B5EF4-FFF2-40B4-BE49-F238E27FC236}">
                <a16:creationId xmlns:a16="http://schemas.microsoft.com/office/drawing/2014/main" id="{519F2CBF-0B05-4740-A51D-C4713B27AA1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9CA4A7E-71FE-46DD-BA5E-3634A164B184}"/>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21 / 57</a:t>
            </a:r>
          </a:p>
        </p:txBody>
      </p:sp>
      <p:sp>
        <p:nvSpPr>
          <p:cNvPr id="5" name="text-4">
            <a:extLst xmlns:a="http://schemas.openxmlformats.org/drawingml/2006/main">
              <a:ext uri="{FF2B5EF4-FFF2-40B4-BE49-F238E27FC236}">
                <a16:creationId xmlns:a16="http://schemas.microsoft.com/office/drawing/2014/main" id="{9E0A205B-5212-457D-A35B-B4ED80806783}"/>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The nine relationship-value pairs form a specified part of the wider account of value activity.</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3048000"/>
                <a:gridCol w="3190875"/>
                <a:gridCol w="138112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Established · bal / sthiti</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Expressed · gati / shakti</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Faculty</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Glory · gaurav</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Simplicity · saralta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Vritti</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Love · prem</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Non-otherness · ananyata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Chitta</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Reverence · shraddha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Devoutness · pujyata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Chitta</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Respect · samman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Cordiality · sauhardta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Mun</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8809454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RELATIONSHIP VALUES AT MUN</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Care, affection and respect</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22 / 57</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 MVD pp. 331–340; AVD pp. 91–94</a:t>
            </a:r>
          </a:p>
        </p:txBody>
      </p:sp>
      <p:sp>
        <p:nvSpPr>
          <p:cNvPr id="13" name="topic-0">
            <a:extLst xmlns:a="http://schemas.openxmlformats.org/drawingml/2006/main">
              <a:ext uri="{FF2B5EF4-FFF2-40B4-BE49-F238E27FC236}">
                <a16:creationId xmlns:a16="http://schemas.microsoft.com/office/drawing/2014/main" id="{111DE1EA-2EE4-4980-A455-53C7E168AD37}"/>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Care → generosity</a:t>
            </a:r>
          </a:p>
        </p:txBody>
      </p:sp>
      <p:sp>
        <p:nvSpPr>
          <p:cNvPr id="14" name="detail-0">
            <a:extLst xmlns:a="http://schemas.openxmlformats.org/drawingml/2006/main">
              <a:ext uri="{FF2B5EF4-FFF2-40B4-BE49-F238E27FC236}">
                <a16:creationId xmlns:a16="http://schemas.microsoft.com/office/drawing/2014/main" id="{74903CC9-1496-4938-A77B-E63678374A65}"/>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Mamta sustains nurturing and protection. Udarta offers appropriate means. The responsibility for another’s nourishment is fulfilled through an adequate contribution.</a:t>
            </a:r>
          </a:p>
        </p:txBody>
      </p:sp>
      <p:sp>
        <p:nvSpPr>
          <p:cNvPr id="15" name="topic-1">
            <a:extLst xmlns:a="http://schemas.openxmlformats.org/drawingml/2006/main">
              <a:ext uri="{FF2B5EF4-FFF2-40B4-BE49-F238E27FC236}">
                <a16:creationId xmlns:a16="http://schemas.microsoft.com/office/drawing/2014/main" id="{9F06FBAB-CB92-4BCE-95CC-00BC3180FF2F}"/>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Affection → dedication</a:t>
            </a:r>
          </a:p>
        </p:txBody>
      </p:sp>
      <p:sp>
        <p:nvSpPr>
          <p:cNvPr id="16" name="detail-1">
            <a:extLst xmlns:a="http://schemas.openxmlformats.org/drawingml/2006/main">
              <a:ext uri="{FF2B5EF4-FFF2-40B4-BE49-F238E27FC236}">
                <a16:creationId xmlns:a16="http://schemas.microsoft.com/office/drawing/2014/main" id="{511A8F07-1BA3-4CA1-A848-188CE6051199}"/>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Sneha gives continuity to just meeting. Nishtha is its corresponding expression. The relationship is sustained through participation across occasions.</a:t>
            </a:r>
          </a:p>
        </p:txBody>
      </p:sp>
      <p:sp>
        <p:nvSpPr>
          <p:cNvPr id="17" name="topic-2">
            <a:extLst xmlns:a="http://schemas.openxmlformats.org/drawingml/2006/main">
              <a:ext uri="{FF2B5EF4-FFF2-40B4-BE49-F238E27FC236}">
                <a16:creationId xmlns:a16="http://schemas.microsoft.com/office/drawing/2014/main" id="{3353BE2E-E154-4F27-89AE-86C661DBA915}"/>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Respect → cordiality</a:t>
            </a:r>
          </a:p>
        </p:txBody>
      </p:sp>
      <p:sp>
        <p:nvSpPr>
          <p:cNvPr id="18" name="detail-2">
            <a:extLst xmlns:a="http://schemas.openxmlformats.org/drawingml/2006/main">
              <a:ext uri="{FF2B5EF4-FFF2-40B4-BE49-F238E27FC236}">
                <a16:creationId xmlns:a16="http://schemas.microsoft.com/office/drawing/2014/main" id="{95BBC63E-0D37-4A84-8EFD-F45407D6BFC0}"/>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Samman accepts excellence in personality and talent; sauhardta expresses it. Evaluation must recognise what is present in the person and their conduct.</a:t>
            </a:r>
          </a:p>
        </p:txBody>
      </p:sp>
    </p:spTree>
    <p:extLst>
      <p:ext uri="{BB962C8B-B14F-4D97-AF65-F5344CB8AC3E}">
        <p14:creationId xmlns:p14="http://schemas.microsoft.com/office/powerpoint/2010/main" val="102897839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RELATIONSHIP VALUES AT VRITTI</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Trust, gratitude and glory</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23 / 57</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 MVD pp. 331–340; MAD reader pp. 30, 43</a:t>
            </a:r>
          </a:p>
        </p:txBody>
      </p:sp>
      <p:sp>
        <p:nvSpPr>
          <p:cNvPr id="13" name="topic-0">
            <a:extLst xmlns:a="http://schemas.openxmlformats.org/drawingml/2006/main">
              <a:ext uri="{FF2B5EF4-FFF2-40B4-BE49-F238E27FC236}">
                <a16:creationId xmlns:a16="http://schemas.microsoft.com/office/drawing/2014/main" id="{4130C0A2-8CEF-46A6-927E-9C6CB1A659D3}"/>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Trust → concordance</a:t>
            </a:r>
          </a:p>
        </p:txBody>
      </p:sp>
      <p:sp>
        <p:nvSpPr>
          <p:cNvPr id="14" name="detail-0">
            <a:extLst xmlns:a="http://schemas.openxmlformats.org/drawingml/2006/main">
              <a:ext uri="{FF2B5EF4-FFF2-40B4-BE49-F238E27FC236}">
                <a16:creationId xmlns:a16="http://schemas.microsoft.com/office/drawing/2014/main" id="{9C974617-8A3E-42DE-A22A-86670ACA9C77}"/>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Vishwas joins fulfilled mutual value with understanding of orderliness and communication of resolution. Saujanyata expresses cooperation, participation and complementarity.</a:t>
            </a:r>
          </a:p>
        </p:txBody>
      </p:sp>
      <p:sp>
        <p:nvSpPr>
          <p:cNvPr id="15" name="topic-1">
            <a:extLst xmlns:a="http://schemas.openxmlformats.org/drawingml/2006/main">
              <a:ext uri="{FF2B5EF4-FFF2-40B4-BE49-F238E27FC236}">
                <a16:creationId xmlns:a16="http://schemas.microsoft.com/office/drawing/2014/main" id="{88848B08-74BA-46E6-AEC5-334042341EBA}"/>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Gratitude → humility</a:t>
            </a:r>
          </a:p>
        </p:txBody>
      </p:sp>
      <p:sp>
        <p:nvSpPr>
          <p:cNvPr id="16" name="detail-1">
            <a:extLst xmlns:a="http://schemas.openxmlformats.org/drawingml/2006/main">
              <a:ext uri="{FF2B5EF4-FFF2-40B4-BE49-F238E27FC236}">
                <a16:creationId xmlns:a16="http://schemas.microsoft.com/office/drawing/2014/main" id="{E16D9BB2-9072-472F-A3D0-A30711F89425}"/>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Kritagyata acknowledges help received towards development. Saumyata gives the corresponding expression to that acceptance.</a:t>
            </a:r>
          </a:p>
        </p:txBody>
      </p:sp>
      <p:sp>
        <p:nvSpPr>
          <p:cNvPr id="17" name="topic-2">
            <a:extLst xmlns:a="http://schemas.openxmlformats.org/drawingml/2006/main">
              <a:ext uri="{FF2B5EF4-FFF2-40B4-BE49-F238E27FC236}">
                <a16:creationId xmlns:a16="http://schemas.microsoft.com/office/drawing/2014/main" id="{051F41CA-6BF1-4C71-828B-38E724AD2CE1}"/>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Glory → simplicity</a:t>
            </a:r>
          </a:p>
        </p:txBody>
      </p:sp>
      <p:sp>
        <p:nvSpPr>
          <p:cNvPr id="18" name="detail-2">
            <a:extLst xmlns:a="http://schemas.openxmlformats.org/drawingml/2006/main">
              <a:ext uri="{FF2B5EF4-FFF2-40B4-BE49-F238E27FC236}">
                <a16:creationId xmlns:a16="http://schemas.microsoft.com/office/drawing/2014/main" id="{B8BCCFB3-37C0-4EB8-92D7-34F28BBD8072}"/>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Gaurav accepts an example for emulation. Saralta is its corresponding expression. Attention is directed towards the excellence to be understood and lived.</a:t>
            </a:r>
          </a:p>
        </p:txBody>
      </p:sp>
    </p:spTree>
    <p:extLst>
      <p:ext uri="{BB962C8B-B14F-4D97-AF65-F5344CB8AC3E}">
        <p14:creationId xmlns:p14="http://schemas.microsoft.com/office/powerpoint/2010/main" val="102897839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RELATIONSHIP VALUES AT CHITTA</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Guidance, reverence and love</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24 / 57</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 MVD pp. 331–340; AVD pp. 91–94</a:t>
            </a:r>
          </a:p>
        </p:txBody>
      </p:sp>
      <p:sp>
        <p:nvSpPr>
          <p:cNvPr id="13" name="topic-0">
            <a:extLst xmlns:a="http://schemas.openxmlformats.org/drawingml/2006/main">
              <a:ext uri="{FF2B5EF4-FFF2-40B4-BE49-F238E27FC236}">
                <a16:creationId xmlns:a16="http://schemas.microsoft.com/office/drawing/2014/main" id="{DFE1A83E-928B-483C-9758-BCE1B452B6E8}"/>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Guidance → naturalness</a:t>
            </a:r>
          </a:p>
        </p:txBody>
      </p:sp>
      <p:sp>
        <p:nvSpPr>
          <p:cNvPr id="14" name="detail-0">
            <a:extLst xmlns:a="http://schemas.openxmlformats.org/drawingml/2006/main">
              <a:ext uri="{FF2B5EF4-FFF2-40B4-BE49-F238E27FC236}">
                <a16:creationId xmlns:a16="http://schemas.microsoft.com/office/drawing/2014/main" id="{E2721DED-A1D0-410B-9BE6-F50822822F80}"/>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Vatsalya sustains development towards comprehensive understanding. Sahajta is its corresponding expression; guidance attends to the learner’s actual development.</a:t>
            </a:r>
          </a:p>
        </p:txBody>
      </p:sp>
      <p:sp>
        <p:nvSpPr>
          <p:cNvPr id="15" name="topic-1">
            <a:extLst xmlns:a="http://schemas.openxmlformats.org/drawingml/2006/main">
              <a:ext uri="{FF2B5EF4-FFF2-40B4-BE49-F238E27FC236}">
                <a16:creationId xmlns:a16="http://schemas.microsoft.com/office/drawing/2014/main" id="{F672F4C5-D77B-43FD-88AB-6752DF9997D9}"/>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Reverence → devoutness</a:t>
            </a:r>
          </a:p>
        </p:txBody>
      </p:sp>
      <p:sp>
        <p:nvSpPr>
          <p:cNvPr id="16" name="detail-1">
            <a:extLst xmlns:a="http://schemas.openxmlformats.org/drawingml/2006/main">
              <a:ext uri="{FF2B5EF4-FFF2-40B4-BE49-F238E27FC236}">
                <a16:creationId xmlns:a16="http://schemas.microsoft.com/office/drawing/2014/main" id="{075842DB-7E54-44FA-8D77-8D3550105087}"/>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Shraddha moves towards excellence and completeness. Pujyata expresses that orientation in participation.</a:t>
            </a:r>
          </a:p>
        </p:txBody>
      </p:sp>
      <p:sp>
        <p:nvSpPr>
          <p:cNvPr id="17" name="topic-2">
            <a:extLst xmlns:a="http://schemas.openxmlformats.org/drawingml/2006/main">
              <a:ext uri="{FF2B5EF4-FFF2-40B4-BE49-F238E27FC236}">
                <a16:creationId xmlns:a16="http://schemas.microsoft.com/office/drawing/2014/main" id="{17A8653A-97E1-4034-8838-F065A84C2166}"/>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Love → non-otherness</a:t>
            </a:r>
          </a:p>
        </p:txBody>
      </p:sp>
      <p:sp>
        <p:nvSpPr>
          <p:cNvPr id="18" name="detail-2">
            <a:extLst xmlns:a="http://schemas.openxmlformats.org/drawingml/2006/main">
              <a:ext uri="{FF2B5EF4-FFF2-40B4-BE49-F238E27FC236}">
                <a16:creationId xmlns:a16="http://schemas.microsoft.com/office/drawing/2014/main" id="{3370D0AB-29F6-4C99-9615-F49E39D95A9C}"/>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Prem includes realisation of completeness and the combined expression of kindness, grace and compassion. Ananyata expresses complementarity with people and the rest of nature.</a:t>
            </a:r>
          </a:p>
        </p:txBody>
      </p:sp>
    </p:spTree>
    <p:extLst>
      <p:ext uri="{BB962C8B-B14F-4D97-AF65-F5344CB8AC3E}">
        <p14:creationId xmlns:p14="http://schemas.microsoft.com/office/powerpoint/2010/main" val="102897839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III · THE SCOPE OF RELATIONSHIP VALUE</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Trust as common; love as complete</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25 / 57</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 1.6; MAD reader pp. 30, 43; MVD pp. 331, 336</a:t>
            </a:r>
          </a:p>
        </p:txBody>
      </p:sp>
      <p:sp>
        <p:nvSpPr>
          <p:cNvPr id="13" name="topic-0">
            <a:extLst xmlns:a="http://schemas.openxmlformats.org/drawingml/2006/main">
              <a:ext uri="{FF2B5EF4-FFF2-40B4-BE49-F238E27FC236}">
                <a16:creationId xmlns:a16="http://schemas.microsoft.com/office/drawing/2014/main" id="{2F905546-9BBE-426E-827A-EC0C61896D49}"/>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Common value · samya mulya</a:t>
            </a:r>
          </a:p>
        </p:txBody>
      </p:sp>
      <p:sp>
        <p:nvSpPr>
          <p:cNvPr id="14" name="detail-0">
            <a:extLst xmlns:a="http://schemas.openxmlformats.org/drawingml/2006/main">
              <a:ext uri="{FF2B5EF4-FFF2-40B4-BE49-F238E27FC236}">
                <a16:creationId xmlns:a16="http://schemas.microsoft.com/office/drawing/2014/main" id="{207E5875-3FD2-4674-9AB5-94CCCB41FA9E}"/>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Trust supplies a common basis across relationships: fulfilled mutual value, resolution and orderliness made available in communication and cooperation.</a:t>
            </a:r>
          </a:p>
        </p:txBody>
      </p:sp>
      <p:sp>
        <p:nvSpPr>
          <p:cNvPr id="15" name="topic-1">
            <a:extLst xmlns:a="http://schemas.openxmlformats.org/drawingml/2006/main">
              <a:ext uri="{FF2B5EF4-FFF2-40B4-BE49-F238E27FC236}">
                <a16:creationId xmlns:a16="http://schemas.microsoft.com/office/drawing/2014/main" id="{7046E2B5-B1DC-4D3B-BD08-4F1D28720979}"/>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Complete value · purna mulya</a:t>
            </a:r>
          </a:p>
        </p:txBody>
      </p:sp>
      <p:sp>
        <p:nvSpPr>
          <p:cNvPr id="16" name="detail-1">
            <a:extLst xmlns:a="http://schemas.openxmlformats.org/drawingml/2006/main">
              <a:ext uri="{FF2B5EF4-FFF2-40B4-BE49-F238E27FC236}">
                <a16:creationId xmlns:a16="http://schemas.microsoft.com/office/drawing/2014/main" id="{42F202F1-71A3-4AB0-89F1-D0247424F9E8}"/>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Love encompasses participation through kindness, grace and compassion. Non-otherness extends complementarity to human beings and the rest of nature.</a:t>
            </a:r>
          </a:p>
        </p:txBody>
      </p:sp>
      <p:sp>
        <p:nvSpPr>
          <p:cNvPr id="17" name="topic-2">
            <a:extLst xmlns:a="http://schemas.openxmlformats.org/drawingml/2006/main">
              <a:ext uri="{FF2B5EF4-FFF2-40B4-BE49-F238E27FC236}">
                <a16:creationId xmlns:a16="http://schemas.microsoft.com/office/drawing/2014/main" id="{71BFE706-914F-4030-A65D-D78C96B1F269}"/>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Distinct determinations</a:t>
            </a:r>
          </a:p>
        </p:txBody>
      </p:sp>
      <p:sp>
        <p:nvSpPr>
          <p:cNvPr id="18" name="detail-2">
            <a:extLst xmlns:a="http://schemas.openxmlformats.org/drawingml/2006/main">
              <a:ext uri="{FF2B5EF4-FFF2-40B4-BE49-F238E27FC236}">
                <a16:creationId xmlns:a16="http://schemas.microsoft.com/office/drawing/2014/main" id="{2B7C738B-6590-405E-B63C-DF60C10E9F23}"/>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Commonness concerns what is shared across relationships. Completeness concerns encompassing fulfilment. These terms specify scope; they do not provide a numerical rank for every decision.</a:t>
            </a:r>
          </a:p>
        </p:txBody>
      </p:sp>
    </p:spTree>
    <p:extLst>
      <p:ext uri="{BB962C8B-B14F-4D97-AF65-F5344CB8AC3E}">
        <p14:creationId xmlns:p14="http://schemas.microsoft.com/office/powerpoint/2010/main" val="102897839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C343771-3CD3-457D-99BF-AC1239D9401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WHAT IS DUE · §1.4</a:t>
            </a:r>
          </a:p>
        </p:txBody>
      </p:sp>
      <p:sp>
        <p:nvSpPr>
          <p:cNvPr id="2" name="text-1">
            <a:extLst xmlns:a="http://schemas.openxmlformats.org/drawingml/2006/main">
              <a:ext uri="{FF2B5EF4-FFF2-40B4-BE49-F238E27FC236}">
                <a16:creationId xmlns:a16="http://schemas.microsoft.com/office/drawing/2014/main" id="{4D7645B9-62BB-49D5-94F3-7A4E583EE76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Relationship, contact and obligation</a:t>
            </a:r>
          </a:p>
        </p:txBody>
      </p:sp>
      <p:sp>
        <p:nvSpPr>
          <p:cNvPr id="3" name="text-2">
            <a:extLst xmlns:a="http://schemas.openxmlformats.org/drawingml/2006/main">
              <a:ext uri="{FF2B5EF4-FFF2-40B4-BE49-F238E27FC236}">
                <a16:creationId xmlns:a16="http://schemas.microsoft.com/office/drawing/2014/main" id="{54107E4C-7B4C-4B23-B46A-891D8F824CA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7A72295-8DB5-4EA1-8BD4-180B2773A04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26 / 57</a:t>
            </a:r>
          </a:p>
        </p:txBody>
      </p:sp>
      <p:sp>
        <p:nvSpPr>
          <p:cNvPr id="5" name="text-4">
            <a:extLst xmlns:a="http://schemas.openxmlformats.org/drawingml/2006/main">
              <a:ext uri="{FF2B5EF4-FFF2-40B4-BE49-F238E27FC236}">
                <a16:creationId xmlns:a16="http://schemas.microsoft.com/office/drawing/2014/main" id="{8762A105-F9F2-4C26-A277-804514A0984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§1.4; MVD pp. 61–62, 190; KD p. 20; MAD reader p. 51</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809750"/>
                <a:gridCol w="2714625"/>
                <a:gridCol w="309562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Distinction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Meaning</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Consequence for fulfilment</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Relationship · sambandh</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Expectations predetermined towards completeness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Recognise the responsibility present in the actual mutuality.</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Contact · sampark</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Expectations voluntarily determined</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What is undertaken carries a responsibility of appropriate fulfilment.</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Enduring value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Relational content persists across time and distance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Care remains care while suitable food, protection or help changes.</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Situated means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Resources, ability and receptivity vary</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Evaluate what this person requires and what the contribution actually provides.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10060379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D1B3CA58-A28F-4CAE-B7B6-78341A07E48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RECOGNITION THROUGH SATISFACTION</a:t>
            </a:r>
          </a:p>
        </p:txBody>
      </p:sp>
      <p:sp>
        <p:nvSpPr>
          <p:cNvPr id="2" name="text-1">
            <a:extLst xmlns:a="http://schemas.openxmlformats.org/drawingml/2006/main">
              <a:ext uri="{FF2B5EF4-FFF2-40B4-BE49-F238E27FC236}">
                <a16:creationId xmlns:a16="http://schemas.microsoft.com/office/drawing/2014/main" id="{3B228F05-BC4D-4242-B247-579D1129EB5A}"/>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Justice: four connected requirements</a:t>
            </a:r>
          </a:p>
        </p:txBody>
      </p:sp>
      <p:sp>
        <p:nvSpPr>
          <p:cNvPr id="3" name="text-2">
            <a:extLst xmlns:a="http://schemas.openxmlformats.org/drawingml/2006/main">
              <a:ext uri="{FF2B5EF4-FFF2-40B4-BE49-F238E27FC236}">
                <a16:creationId xmlns:a16="http://schemas.microsoft.com/office/drawing/2014/main" id="{36A6E25B-5363-40CD-AEF8-F309A745132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A1260BB-F872-4F55-8C9D-C324E8592CC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27 / 57</a:t>
            </a:r>
          </a:p>
        </p:txBody>
      </p:sp>
      <p:sp>
        <p:nvSpPr>
          <p:cNvPr id="5" name="text-4">
            <a:extLst xmlns:a="http://schemas.openxmlformats.org/drawingml/2006/main">
              <a:ext uri="{FF2B5EF4-FFF2-40B4-BE49-F238E27FC236}">
                <a16:creationId xmlns:a16="http://schemas.microsoft.com/office/drawing/2014/main" id="{E9B7A9E9-6AF8-42B1-99DD-CE613A897A6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Deliberation assesses the proposed act; evaluation also examines accomplished participation.</a:t>
            </a:r>
          </a:p>
        </p:txBody>
      </p:sp>
      <p:graphicFrame>
        <p:nvGraphicFramePr>
          <p:cNvPr id="21"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809750"/>
                <a:gridCol w="58102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Requirement</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must be examined</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Recognition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Understand the actual relationship and the value requirements towards completeness. The person’s desire may misrepresent what is due.</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Fulfilment</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Participate through appropriate acts and means so that the recognised responsibility is actually fulfilled.</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Evaluation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Examine both sides: the contribution, its adequacy and its outcome in relation to human essentiality.</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Mutual satisfaction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Satisfaction in the recognised and evaluated fulfilment of the relationship’s values.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75582338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428866E-3097-47D7-A7DB-90F81F48867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WORKED APPLICATION · SHARED MEAL</a:t>
            </a:r>
          </a:p>
        </p:txBody>
      </p:sp>
      <p:sp>
        <p:nvSpPr>
          <p:cNvPr id="2" name="text-1">
            <a:extLst xmlns:a="http://schemas.openxmlformats.org/drawingml/2006/main">
              <a:ext uri="{FF2B5EF4-FFF2-40B4-BE49-F238E27FC236}">
                <a16:creationId xmlns:a16="http://schemas.microsoft.com/office/drawing/2014/main" id="{5B6BE853-5FE3-4D46-ABC1-A7CEEC65549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Evaluating the provision of care</a:t>
            </a:r>
          </a:p>
        </p:txBody>
      </p:sp>
      <p:sp>
        <p:nvSpPr>
          <p:cNvPr id="3" name="text-2">
            <a:extLst xmlns:a="http://schemas.openxmlformats.org/drawingml/2006/main">
              <a:ext uri="{FF2B5EF4-FFF2-40B4-BE49-F238E27FC236}">
                <a16:creationId xmlns:a16="http://schemas.microsoft.com/office/drawing/2014/main" id="{AB0799E0-AF22-4B6A-A9EC-0D03210D27A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057B2FA-792A-4641-8F82-4B8B4C254F1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28 / 57</a:t>
            </a:r>
          </a:p>
        </p:txBody>
      </p:sp>
      <p:sp>
        <p:nvSpPr>
          <p:cNvPr id="5" name="text-4">
            <a:extLst xmlns:a="http://schemas.openxmlformats.org/drawingml/2006/main">
              <a:ext uri="{FF2B5EF4-FFF2-40B4-BE49-F238E27FC236}">
                <a16:creationId xmlns:a16="http://schemas.microsoft.com/office/drawing/2014/main" id="{E0A56A6A-8C84-47BC-A0BB-429935890073}"/>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§§1.3–1.5; Appendix A.2; MVD pp. 61, 203, 331–340</a:t>
            </a:r>
          </a:p>
        </p:txBody>
      </p:sp>
      <p:graphicFrame>
        <p:nvGraphicFramePr>
          <p:cNvPr id="16"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2047875"/>
                <a:gridCol w="557212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Question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the case requires</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has usefulness?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food must provide suitable nourishment; availability and price do not establish its adequacy for this guest.</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relationship value?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Care recognises nurture and protection. Generosity offers the means appropriate to the guest’s situation.</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was fulfilled?</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guest receives and can use the provision. Examine nourishment, inclusion and respectful participation.</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has become established?</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host understands the responsibility and can explain and sustain it across relevant changes in circumstance.</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09098779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0CB6D38-C1AB-4A47-B09B-CA7963212BD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THREE DISTINCT QUESTIONS</a:t>
            </a:r>
          </a:p>
        </p:txBody>
      </p:sp>
      <p:sp>
        <p:nvSpPr>
          <p:cNvPr id="2" name="text-1">
            <a:extLst xmlns:a="http://schemas.openxmlformats.org/drawingml/2006/main">
              <a:ext uri="{FF2B5EF4-FFF2-40B4-BE49-F238E27FC236}">
                <a16:creationId xmlns:a16="http://schemas.microsoft.com/office/drawing/2014/main" id="{74DE7723-3635-4A80-8996-F13CBD46864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Meaning, fulfilment and evidence</a:t>
            </a:r>
          </a:p>
        </p:txBody>
      </p:sp>
      <p:sp>
        <p:nvSpPr>
          <p:cNvPr id="3" name="text-2">
            <a:extLst xmlns:a="http://schemas.openxmlformats.org/drawingml/2006/main">
              <a:ext uri="{FF2B5EF4-FFF2-40B4-BE49-F238E27FC236}">
                <a16:creationId xmlns:a16="http://schemas.microsoft.com/office/drawing/2014/main" id="{FC9C8E33-5FC6-4D74-94B6-F523CEC6535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4BCFDC-E224-4C19-A579-79D6542D579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29 / 57</a:t>
            </a:r>
          </a:p>
        </p:txBody>
      </p:sp>
      <p:sp>
        <p:nvSpPr>
          <p:cNvPr id="5" name="text-4">
            <a:extLst xmlns:a="http://schemas.openxmlformats.org/drawingml/2006/main">
              <a:ext uri="{FF2B5EF4-FFF2-40B4-BE49-F238E27FC236}">
                <a16:creationId xmlns:a16="http://schemas.microsoft.com/office/drawing/2014/main" id="{765BF105-C696-4E80-8AB6-B2696A7AEE20}"/>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Structural definiteness, actual fulfilment and evidence of fulfilment remain distinguishable.</a:t>
            </a:r>
          </a:p>
        </p:txBody>
      </p:sp>
      <p:graphicFrame>
        <p:nvGraphicFramePr>
          <p:cNvPr id="17"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2190750"/>
                <a:gridCol w="2476500"/>
                <a:gridCol w="29527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Question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it concerns</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Why it matters</a:t>
                      </a:r>
                    </a:p>
                  </a:txBody>
                  <a:tcPr marL="85725" marR="85725" marT="28575" marB="28575" anchor="ctr">
                    <a:solidFill>
                      <a:srgbClr val="1E2447"/>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constitutes the value?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specified harmony or responsibility</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Its meaning remains definite when a person misrecognises it.</a:t>
                      </a:r>
                    </a:p>
                  </a:txBody>
                  <a:tcPr marL="85725" marR="85725" marT="28575" marB="28575" anchor="ctr">
                    <a:solidFill>
                      <a:srgbClr val="FFFFFF"/>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Is it fulfilled here?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Actual understanding and participation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Correct intention can coexist with inadequate resources or skill.</a:t>
                      </a:r>
                    </a:p>
                  </a:txBody>
                  <a:tcPr marL="85725" marR="85725" marT="28575" marB="28575" anchor="ctr">
                    <a:solidFill>
                      <a:srgbClr val="F1F3F8"/>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What supports the claim?</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Explanation, conduct, outcome and continuity</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An effective act can occur while the learner’s understanding is still developing.</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151417987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IV · ACTUAL AND RECOGNISED RELATIONSHIPS</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Evaluation in continuing activity</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30 / 57</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§§1.4, 1.8; MVD pp. 83, 218; KD pp. 112–113</a:t>
            </a:r>
          </a:p>
        </p:txBody>
      </p:sp>
      <p:sp>
        <p:nvSpPr>
          <p:cNvPr id="13" name="topic-0">
            <a:extLst xmlns:a="http://schemas.openxmlformats.org/drawingml/2006/main">
              <a:ext uri="{FF2B5EF4-FFF2-40B4-BE49-F238E27FC236}">
                <a16:creationId xmlns:a16="http://schemas.microsoft.com/office/drawing/2014/main" id="{EF44796F-7D13-417D-B979-33FF13B03093}"/>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Before participation</a:t>
            </a:r>
          </a:p>
        </p:txBody>
      </p:sp>
      <p:sp>
        <p:nvSpPr>
          <p:cNvPr id="14" name="detail-0">
            <a:extLst xmlns:a="http://schemas.openxmlformats.org/drawingml/2006/main">
              <a:ext uri="{FF2B5EF4-FFF2-40B4-BE49-F238E27FC236}">
                <a16:creationId xmlns:a16="http://schemas.microsoft.com/office/drawing/2014/main" id="{6A34C585-2F42-4F92-908B-1338B8FCC47A}"/>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Identify the responsibility, understand the person’s situation, assess the available means and select a contribution that can fulfil it.</a:t>
            </a:r>
          </a:p>
        </p:txBody>
      </p:sp>
      <p:sp>
        <p:nvSpPr>
          <p:cNvPr id="15" name="topic-1">
            <a:extLst xmlns:a="http://schemas.openxmlformats.org/drawingml/2006/main">
              <a:ext uri="{FF2B5EF4-FFF2-40B4-BE49-F238E27FC236}">
                <a16:creationId xmlns:a16="http://schemas.microsoft.com/office/drawing/2014/main" id="{EE41ECBE-B387-4AA1-8CCF-BCDEF8EEB9D2}"/>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After participation</a:t>
            </a:r>
          </a:p>
        </p:txBody>
      </p:sp>
      <p:sp>
        <p:nvSpPr>
          <p:cNvPr id="16" name="detail-1">
            <a:extLst xmlns:a="http://schemas.openxmlformats.org/drawingml/2006/main">
              <a:ext uri="{FF2B5EF4-FFF2-40B4-BE49-F238E27FC236}">
                <a16:creationId xmlns:a16="http://schemas.microsoft.com/office/drawing/2014/main" id="{99F4D92A-1FEE-4478-B6C6-D0C0FA018908}"/>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Examine conduct and consequences: what was received, what remains unmet and how others and the wider conditions of participation were affected.</a:t>
            </a:r>
          </a:p>
        </p:txBody>
      </p:sp>
      <p:sp>
        <p:nvSpPr>
          <p:cNvPr id="17" name="topic-2">
            <a:extLst xmlns:a="http://schemas.openxmlformats.org/drawingml/2006/main">
              <a:ext uri="{FF2B5EF4-FFF2-40B4-BE49-F238E27FC236}">
                <a16:creationId xmlns:a16="http://schemas.microsoft.com/office/drawing/2014/main" id="{03551475-CD82-404D-ACA1-4F71151FD2BF}"/>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Renewed understanding</a:t>
            </a:r>
          </a:p>
        </p:txBody>
      </p:sp>
      <p:sp>
        <p:nvSpPr>
          <p:cNvPr id="18" name="detail-2">
            <a:extLst xmlns:a="http://schemas.openxmlformats.org/drawingml/2006/main">
              <a:ext uri="{FF2B5EF4-FFF2-40B4-BE49-F238E27FC236}">
                <a16:creationId xmlns:a16="http://schemas.microsoft.com/office/drawing/2014/main" id="{325F3B7C-22D3-467C-9812-4C1B5CA2BF6F}"/>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Correct a mistaken recognition, improve inadequate means or clarify a conflict. What has been expressed can be examined and accepted in deeper understanding.</a:t>
            </a:r>
          </a:p>
        </p:txBody>
      </p:sp>
    </p:spTree>
    <p:extLst>
      <p:ext uri="{BB962C8B-B14F-4D97-AF65-F5344CB8AC3E}">
        <p14:creationId xmlns:p14="http://schemas.microsoft.com/office/powerpoint/2010/main" val="186726281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B7DDA7D0-9B0E-4623-B9BB-2C1E4ACAEFE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DELUSION AND CORRECTION · §1.7</a:t>
            </a:r>
          </a:p>
        </p:txBody>
      </p:sp>
      <p:sp>
        <p:nvSpPr>
          <p:cNvPr id="2" name="text-1">
            <a:extLst xmlns:a="http://schemas.openxmlformats.org/drawingml/2006/main">
              <a:ext uri="{FF2B5EF4-FFF2-40B4-BE49-F238E27FC236}">
                <a16:creationId xmlns:a16="http://schemas.microsoft.com/office/drawing/2014/main" id="{7D79FA78-9639-44B2-B113-5DB2DD17A81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Three forms of evaluative error</a:t>
            </a:r>
          </a:p>
        </p:txBody>
      </p:sp>
      <p:sp>
        <p:nvSpPr>
          <p:cNvPr id="3" name="text-2">
            <a:extLst xmlns:a="http://schemas.openxmlformats.org/drawingml/2006/main">
              <a:ext uri="{FF2B5EF4-FFF2-40B4-BE49-F238E27FC236}">
                <a16:creationId xmlns:a16="http://schemas.microsoft.com/office/drawing/2014/main" id="{D632B313-F578-4F43-ACD4-F9DF7CDFB1E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3FF9916-F0F5-4716-9898-1582FA6588E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31 / 57</a:t>
            </a:r>
          </a:p>
        </p:txBody>
      </p:sp>
      <p:sp>
        <p:nvSpPr>
          <p:cNvPr id="5" name="text-4">
            <a:extLst xmlns:a="http://schemas.openxmlformats.org/drawingml/2006/main">
              <a:ext uri="{FF2B5EF4-FFF2-40B4-BE49-F238E27FC236}">
                <a16:creationId xmlns:a16="http://schemas.microsoft.com/office/drawing/2014/main" id="{6737FFBA-5C8E-4CFA-99FB-BF48152C199C}"/>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Nirakarshan concerns freedom from evaluative error within a life that remains active.</a:t>
            </a:r>
          </a:p>
        </p:txBody>
      </p:sp>
      <p:graphicFrame>
        <p:nvGraphicFramePr>
          <p:cNvPr id="19"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2266950"/>
                <a:gridCol w="3352800"/>
                <a:gridCol w="20002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Error</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goes wrong</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Source illustration</a:t>
                      </a:r>
                    </a:p>
                  </a:txBody>
                  <a:tcPr marL="85725" marR="85725" marT="28575" marB="28575" anchor="ctr">
                    <a:solidFill>
                      <a:srgbClr val="1E2447"/>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Over-evaluation · adhimulyan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Assigning significance greater than essentiality warrants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Iron mistaken for gold.</a:t>
                      </a:r>
                    </a:p>
                  </a:txBody>
                  <a:tcPr marL="85725" marR="85725" marT="28575" marB="28575" anchor="ctr">
                    <a:solidFill>
                      <a:srgbClr val="FFFFFF"/>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Under-evaluation · avamulyan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Assigning significance less than essentiality warrants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Gold mistaken for iron.</a:t>
                      </a:r>
                    </a:p>
                  </a:txBody>
                  <a:tcPr marL="85725" marR="85725" marT="28575" marB="28575" anchor="ctr">
                    <a:solidFill>
                      <a:srgbClr val="F1F3F8"/>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Mis-evaluation · nirmulyan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Recognising something as other than what it is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 rope mistaken for a snake.</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129879455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WHAT DIRECTS EVALUATION AT VRITTI</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Six perspectives of deliberation</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32 / 57</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§1.2; MVD pp. 58, 66, 336–337; JV pp. 139–140</a:t>
            </a:r>
          </a:p>
        </p:txBody>
      </p:sp>
      <p:graphicFrame>
        <p:nvGraphicFramePr>
          <p:cNvPr id="19"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2162175"/>
                <a:gridCol w="2447925"/>
                <a:gridCol w="30099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Perspective</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Orientation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Place in humane evaluation</a:t>
                      </a:r>
                    </a:p>
                  </a:txBody>
                  <a:tcPr marL="85725" marR="85725" marT="28575" marB="28575" anchor="ctr">
                    <a:solidFill>
                      <a:srgbClr val="1E2447"/>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Pleasant / unpleasant</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Sensory attraction · priya / apriya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Pleasure situated within justice.</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Beneficial / harmful</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Bodily advantage · hita / ahita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Health and bodily protection.</a:t>
                      </a:r>
                    </a:p>
                  </a:txBody>
                  <a:tcPr marL="85725" marR="85725" marT="28575" marB="28575" anchor="ctr">
                    <a:solidFill>
                      <a:srgbClr val="F1F3F8"/>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Gain / loss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Acquisition · labha / alabha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Prosperity as economic purpose.</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Justice / injustice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Nyaya / anyaya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Fulfilled relationship values.</a:t>
                      </a:r>
                    </a:p>
                  </a:txBody>
                  <a:tcPr marL="85725" marR="85725" marT="28575" marB="28575" anchor="ctr">
                    <a:solidFill>
                      <a:srgbClr val="F1F3F8"/>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Dharma / adharma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Human purpose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Resolution and happiness.</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Truth / untruth</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Satya / asatya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Coexistence understood as it is.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172022418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WHAT IS TAKEN AS MOST VALUABLE</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Awakening changes the governing aim</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33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The body’s needs continue; awakening changes the understanding that governs their fulfilment.</a:t>
            </a:r>
          </a:p>
        </p:txBody>
      </p:sp>
      <p:graphicFrame>
        <p:nvGraphicFramePr>
          <p:cNvPr id="14"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2047875"/>
                <a:gridCol w="2524125"/>
                <a:gridCol w="30480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Evaluation state</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Highest purpose taken up</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Direction of body, mind and wealth</a:t>
                      </a:r>
                    </a:p>
                  </a:txBody>
                  <a:tcPr marL="85725" marR="85725" marT="28575" marB="28575" anchor="ctr">
                    <a:solidFill>
                      <a:srgbClr val="1E2447"/>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Delusion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Eating, sleep, defence and mating</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four basic instincts govern the pursuit.</a:t>
                      </a:r>
                    </a:p>
                  </a:txBody>
                  <a:tcPr marL="85725" marR="85725" marT="28575" marB="28575" anchor="ctr">
                    <a:solidFill>
                      <a:srgbClr val="FFFFFF"/>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Discerning evaluation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Progeny, wealth and reputation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three eshanas orient aspiration and conduct.</a:t>
                      </a:r>
                    </a:p>
                  </a:txBody>
                  <a:tcPr marL="85725" marR="85725" marT="28575" marB="28575" anchor="ctr">
                    <a:solidFill>
                      <a:srgbClr val="F1F3F8"/>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Delusionless evaluation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Freedom from delusion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Understanding and humane participation govern fulfilment.</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0107661-CB2D-4F53-B32B-307FB5D5DA2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 · THE BASIS OF A RELATIONSHIP</a:t>
            </a:r>
          </a:p>
        </p:txBody>
      </p:sp>
      <p:sp>
        <p:nvSpPr>
          <p:cNvPr id="2" name="text-1">
            <a:extLst xmlns:a="http://schemas.openxmlformats.org/drawingml/2006/main">
              <a:ext uri="{FF2B5EF4-FFF2-40B4-BE49-F238E27FC236}">
                <a16:creationId xmlns:a16="http://schemas.microsoft.com/office/drawing/2014/main" id="{A16749CD-669B-470C-8D79-05CD190A5046}"/>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Fear, temptation and participation</a:t>
            </a:r>
          </a:p>
        </p:txBody>
      </p:sp>
      <p:sp>
        <p:nvSpPr>
          <p:cNvPr id="3" name="text-2">
            <a:extLst xmlns:a="http://schemas.openxmlformats.org/drawingml/2006/main">
              <a:ext uri="{FF2B5EF4-FFF2-40B4-BE49-F238E27FC236}">
                <a16:creationId xmlns:a16="http://schemas.microsoft.com/office/drawing/2014/main" id="{57383B7E-5372-4426-AE53-F4E0E202BAF8}"/>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66C4741-E3DB-4339-B60D-CCD41FEFF5E0}"/>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34 / 57</a:t>
            </a:r>
          </a:p>
        </p:txBody>
      </p:sp>
      <p:sp>
        <p:nvSpPr>
          <p:cNvPr id="5" name="text-4">
            <a:extLst xmlns:a="http://schemas.openxmlformats.org/drawingml/2006/main">
              <a:ext uri="{FF2B5EF4-FFF2-40B4-BE49-F238E27FC236}">
                <a16:creationId xmlns:a16="http://schemas.microsoft.com/office/drawing/2014/main" id="{C274DF74-1A48-4E51-9077-3AD47740C3DC}"/>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§§1.7–1.8; JV pp. 109–110; SB pp. 290–295</a:t>
            </a:r>
          </a:p>
        </p:txBody>
      </p:sp>
      <p:sp>
        <p:nvSpPr>
          <p:cNvPr id="11" name="topic-0">
            <a:extLst xmlns:a="http://schemas.openxmlformats.org/drawingml/2006/main">
              <a:ext uri="{FF2B5EF4-FFF2-40B4-BE49-F238E27FC236}">
                <a16:creationId xmlns:a16="http://schemas.microsoft.com/office/drawing/2014/main" id="{AE2C28BF-5388-4180-B926-68BD872E2E9D}"/>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Fear</a:t>
            </a:r>
          </a:p>
        </p:txBody>
      </p:sp>
      <p:sp>
        <p:nvSpPr>
          <p:cNvPr id="12" name="detail-0">
            <a:extLst xmlns:a="http://schemas.openxmlformats.org/drawingml/2006/main">
              <a:ext uri="{FF2B5EF4-FFF2-40B4-BE49-F238E27FC236}">
                <a16:creationId xmlns:a16="http://schemas.microsoft.com/office/drawing/2014/main" id="{F8CAFACC-17B4-4FC9-A80F-F67760864051}"/>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Threatened harm can obtain compliance. That response must still be examined for recognised responsibility, justice and the actual fulfilment of values.</a:t>
            </a:r>
          </a:p>
        </p:txBody>
      </p:sp>
      <p:sp>
        <p:nvSpPr>
          <p:cNvPr id="13" name="topic-1">
            <a:extLst xmlns:a="http://schemas.openxmlformats.org/drawingml/2006/main">
              <a:ext uri="{FF2B5EF4-FFF2-40B4-BE49-F238E27FC236}">
                <a16:creationId xmlns:a16="http://schemas.microsoft.com/office/drawing/2014/main" id="{F7985E5F-7294-4BE9-9FCC-FC880D00D878}"/>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Temptation</a:t>
            </a:r>
          </a:p>
        </p:txBody>
      </p:sp>
      <p:sp>
        <p:nvSpPr>
          <p:cNvPr id="14" name="detail-1">
            <a:extLst xmlns:a="http://schemas.openxmlformats.org/drawingml/2006/main">
              <a:ext uri="{FF2B5EF4-FFF2-40B4-BE49-F238E27FC236}">
                <a16:creationId xmlns:a16="http://schemas.microsoft.com/office/drawing/2014/main" id="{B2105F74-9D3B-40BE-82CC-699A1FD25D47}"/>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Promised acquisition can obtain participation. The offered advantage does not establish understanding of the relationship or the continuity of its fulfilment.</a:t>
            </a:r>
          </a:p>
        </p:txBody>
      </p:sp>
      <p:sp>
        <p:nvSpPr>
          <p:cNvPr id="15" name="topic-2">
            <a:extLst xmlns:a="http://schemas.openxmlformats.org/drawingml/2006/main">
              <a:ext uri="{FF2B5EF4-FFF2-40B4-BE49-F238E27FC236}">
                <a16:creationId xmlns:a16="http://schemas.microsoft.com/office/drawing/2014/main" id="{E3695112-EB3B-466A-A6F7-BDF90CC6BFCB}"/>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Humane basis</a:t>
            </a:r>
          </a:p>
        </p:txBody>
      </p:sp>
      <p:sp>
        <p:nvSpPr>
          <p:cNvPr id="16" name="detail-2">
            <a:extLst xmlns:a="http://schemas.openxmlformats.org/drawingml/2006/main">
              <a:ext uri="{FF2B5EF4-FFF2-40B4-BE49-F238E27FC236}">
                <a16:creationId xmlns:a16="http://schemas.microsoft.com/office/drawing/2014/main" id="{10D8C42B-E7D4-4818-925C-1FCC9E9D44BA}"/>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Relationships are fulfilled through recognition, appropriate contribution, evaluation and mutual satisfaction. Education must develop the person’s understanding of that basis.</a:t>
            </a:r>
          </a:p>
        </p:txBody>
      </p:sp>
    </p:spTree>
    <p:extLst>
      <p:ext uri="{BB962C8B-B14F-4D97-AF65-F5344CB8AC3E}">
        <p14:creationId xmlns:p14="http://schemas.microsoft.com/office/powerpoint/2010/main" val="180077097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 · SAMARPAN · §1.6</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Dedication: what serves what?</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35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Dedication specifies purpose; it supplies no exchange rate between money, care and happiness.</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1524000"/>
                <a:gridCol w="2381250"/>
                <a:gridCol w="37147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Value or means</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Purpose served</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Example of the relation</a:t>
                      </a:r>
                    </a:p>
                  </a:txBody>
                  <a:tcPr marL="85725" marR="85725" marT="28575" marB="28575" anchor="ctr">
                    <a:solidFill>
                      <a:srgbClr val="1E2447"/>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Usefulness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Need · avashyakta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Suitable food meets a need for nourishment.</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Need</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Expressed / shishta value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Provision gives generosity a concrete form.</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Expressed value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Established value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Generosity fulfils recognised care.</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Established value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Human value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Fulfilled relationships express humane essential nature.</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Human value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Jeevan value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Humane conduct serves harmony and happiness.</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 · DIFFERENT QUESTIONS OF COMPARISON</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Several relations of ordering</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36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§1.6; §§7.1, 7.7; MVD pp. 43, 47, 110, 126, 219–222; MAD pp. 30, 34, 43</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2019300"/>
                <a:gridCol w="2628900"/>
                <a:gridCol w="29718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Relation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Criterion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Scope</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Dedication · samarpan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Which further purpose does this serve?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Useful means through need and humane participation to jeevan value.</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Endurance · guru mulyan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How lasting or non-transformable is the result?</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Advancement towards higher value or resolution.</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Inclusion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What is retained in more comprehensive development?</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Four orders; cumulative fulfilment retains earlier content.</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Commonness / completeness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What is shared; what is encompassing?</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Trust as common value; love as complete value.</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02378289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73847E5-D33A-4B9A-838A-537DE0BA533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 · THE VALUE OF THINGS · §1.5</a:t>
            </a:r>
          </a:p>
        </p:txBody>
      </p:sp>
      <p:sp>
        <p:nvSpPr>
          <p:cNvPr id="2" name="text-1">
            <a:extLst xmlns:a="http://schemas.openxmlformats.org/drawingml/2006/main">
              <a:ext uri="{FF2B5EF4-FFF2-40B4-BE49-F238E27FC236}">
                <a16:creationId xmlns:a16="http://schemas.microsoft.com/office/drawing/2014/main" id="{A0C3BBA7-F01E-45EB-AA49-2123F91AB8F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Usefulness and aesthetic value</a:t>
            </a:r>
          </a:p>
        </p:txBody>
      </p:sp>
      <p:sp>
        <p:nvSpPr>
          <p:cNvPr id="3" name="text-2">
            <a:extLst xmlns:a="http://schemas.openxmlformats.org/drawingml/2006/main">
              <a:ext uri="{FF2B5EF4-FFF2-40B4-BE49-F238E27FC236}">
                <a16:creationId xmlns:a16="http://schemas.microsoft.com/office/drawing/2014/main" id="{1E72A59D-05F1-48D8-A594-EEEAC5BE132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B832611-F02E-47A9-87BA-0FE472F6B5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37 / 57</a:t>
            </a:r>
          </a:p>
        </p:txBody>
      </p:sp>
      <p:sp>
        <p:nvSpPr>
          <p:cNvPr id="5" name="text-4">
            <a:extLst xmlns:a="http://schemas.openxmlformats.org/drawingml/2006/main">
              <a:ext uri="{FF2B5EF4-FFF2-40B4-BE49-F238E27FC236}">
                <a16:creationId xmlns:a16="http://schemas.microsoft.com/office/drawing/2014/main" id="{B17D7672-B70F-40A4-8295-7E789C29237D}"/>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§1.5; MVD pp. 56–57; JV pp. 123, 137–138</a:t>
            </a:r>
          </a:p>
        </p:txBody>
      </p:sp>
      <p:sp>
        <p:nvSpPr>
          <p:cNvPr id="11" name="topic-0">
            <a:extLst xmlns:a="http://schemas.openxmlformats.org/drawingml/2006/main">
              <a:ext uri="{FF2B5EF4-FFF2-40B4-BE49-F238E27FC236}">
                <a16:creationId xmlns:a16="http://schemas.microsoft.com/office/drawing/2014/main" id="{B1746364-7A86-4BFD-AB94-42271A2C5185}"/>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Usefulness · upyogita mulya</a:t>
            </a:r>
          </a:p>
        </p:txBody>
      </p:sp>
      <p:sp>
        <p:nvSpPr>
          <p:cNvPr id="12" name="detail-0">
            <a:extLst xmlns:a="http://schemas.openxmlformats.org/drawingml/2006/main">
              <a:ext uri="{FF2B5EF4-FFF2-40B4-BE49-F238E27FC236}">
                <a16:creationId xmlns:a16="http://schemas.microsoft.com/office/drawing/2014/main" id="{AB10131E-3B7F-4C79-88B5-CF925A5274AE}"/>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What a thing can fulfil in nourishment, bodily protection and participation. Human purposes and assessed family needs guide production, acquisition and use.</a:t>
            </a:r>
          </a:p>
        </p:txBody>
      </p:sp>
      <p:sp>
        <p:nvSpPr>
          <p:cNvPr id="13" name="topic-1">
            <a:extLst xmlns:a="http://schemas.openxmlformats.org/drawingml/2006/main">
              <a:ext uri="{FF2B5EF4-FFF2-40B4-BE49-F238E27FC236}">
                <a16:creationId xmlns:a16="http://schemas.microsoft.com/office/drawing/2014/main" id="{69D976A9-1700-4D8C-8DE8-C9EB3BED3213}"/>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Aesthetic value</a:t>
            </a:r>
          </a:p>
        </p:txBody>
      </p:sp>
      <p:sp>
        <p:nvSpPr>
          <p:cNvPr id="14" name="detail-1">
            <a:extLst xmlns:a="http://schemas.openxmlformats.org/drawingml/2006/main">
              <a:ext uri="{FF2B5EF4-FFF2-40B4-BE49-F238E27FC236}">
                <a16:creationId xmlns:a16="http://schemas.microsoft.com/office/drawing/2014/main" id="{D27297C4-1738-4194-B0B0-3A24E02FF43E}"/>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Convenience and aesthetic qualification added to usefulness. Labour can give natural abundance an appropriate, usable form that supports its purpose.</a:t>
            </a:r>
          </a:p>
        </p:txBody>
      </p:sp>
      <p:sp>
        <p:nvSpPr>
          <p:cNvPr id="15" name="topic-2">
            <a:extLst xmlns:a="http://schemas.openxmlformats.org/drawingml/2006/main">
              <a:ext uri="{FF2B5EF4-FFF2-40B4-BE49-F238E27FC236}">
                <a16:creationId xmlns:a16="http://schemas.microsoft.com/office/drawing/2014/main" id="{CF7C6950-23E7-4435-9E44-CCAB0508DE69}"/>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Adequacy for a specified need</a:t>
            </a:r>
          </a:p>
        </p:txBody>
      </p:sp>
      <p:sp>
        <p:nvSpPr>
          <p:cNvPr id="16" name="detail-2">
            <a:extLst xmlns:a="http://schemas.openxmlformats.org/drawingml/2006/main">
              <a:ext uri="{FF2B5EF4-FFF2-40B4-BE49-F238E27FC236}">
                <a16:creationId xmlns:a16="http://schemas.microsoft.com/office/drawing/2014/main" id="{62E3DF4F-636A-4328-9BAF-9402DF290404}"/>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 comparison concerns the actual use, recipient and conditions. The amount or finish of a good is examined through what it enables people to fulfil.</a:t>
            </a:r>
          </a:p>
        </p:txBody>
      </p:sp>
    </p:spTree>
    <p:extLst>
      <p:ext uri="{BB962C8B-B14F-4D97-AF65-F5344CB8AC3E}">
        <p14:creationId xmlns:p14="http://schemas.microsoft.com/office/powerpoint/2010/main" val="104796546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 · THE TEMPORAL CLAIMS</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What endures and what changes?</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38 / 57</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§§1.4–1.5, 7.5 and Editorial Notes; JV pp. 123, 137–138; MAD reader p. 51</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2457450"/>
                <a:gridCol w="51625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Claim</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the passage states</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Relational content endures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Established values persist across time, distance and place; the appropriate acts and means respond to circumstances.</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Usefulness is definite / constant</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Wheat and sesame illustrate enduring usefulness; interference can nevertheless diminish what a thing can provide.</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Usefulness and beauty are temporal</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Needs, use, exchange and deployment are described as temporal.</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The remaining question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00" b="0">
                          <a:solidFill>
                            <a:srgbClr val="303853"/>
                          </a:solidFill>
                          <a:latin typeface="Calibri"/>
                          <a:ea typeface="Calibri"/>
                          <a:cs typeface="Calibri"/>
                        </a:rPr>
                        <a:t>Distinguishing capacity from situated use may help interpretation, but the study retains the textual tension as an open problem.</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02378289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881AD5A-506F-476E-958B-D38CA84A554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 · PRICE, USEFULNESS AND ACCESS</a:t>
            </a:r>
          </a:p>
        </p:txBody>
      </p:sp>
      <p:sp>
        <p:nvSpPr>
          <p:cNvPr id="2" name="text-1">
            <a:extLst xmlns:a="http://schemas.openxmlformats.org/drawingml/2006/main">
              <a:ext uri="{FF2B5EF4-FFF2-40B4-BE49-F238E27FC236}">
                <a16:creationId xmlns:a16="http://schemas.microsoft.com/office/drawing/2014/main" id="{127E6BF2-AA35-4153-AFA7-F6951631A61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Symbolic value and prosperity</a:t>
            </a:r>
          </a:p>
        </p:txBody>
      </p:sp>
      <p:sp>
        <p:nvSpPr>
          <p:cNvPr id="3" name="text-2">
            <a:extLst xmlns:a="http://schemas.openxmlformats.org/drawingml/2006/main">
              <a:ext uri="{FF2B5EF4-FFF2-40B4-BE49-F238E27FC236}">
                <a16:creationId xmlns:a16="http://schemas.microsoft.com/office/drawing/2014/main" id="{0113072F-AC96-4366-BA69-59A27EB9CB4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D57DB9D-D476-4435-8796-789EBAA2915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39 / 57</a:t>
            </a:r>
          </a:p>
        </p:txBody>
      </p:sp>
      <p:sp>
        <p:nvSpPr>
          <p:cNvPr id="5" name="text-4">
            <a:extLst xmlns:a="http://schemas.openxmlformats.org/drawingml/2006/main">
              <a:ext uri="{FF2B5EF4-FFF2-40B4-BE49-F238E27FC236}">
                <a16:creationId xmlns:a16="http://schemas.microsoft.com/office/drawing/2014/main" id="{BDECC059-7962-4D2D-964F-517862622384}"/>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§1.5; MVD pp. 183, 331; SB pp. 211–212</a:t>
            </a:r>
          </a:p>
        </p:txBody>
      </p:sp>
      <p:sp>
        <p:nvSpPr>
          <p:cNvPr id="10" name="topic-0">
            <a:extLst xmlns:a="http://schemas.openxmlformats.org/drawingml/2006/main">
              <a:ext uri="{FF2B5EF4-FFF2-40B4-BE49-F238E27FC236}">
                <a16:creationId xmlns:a16="http://schemas.microsoft.com/office/drawing/2014/main" id="{4986C3FF-C24E-4C33-8195-3F3F34F50947}"/>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Money · prateek mulya</a:t>
            </a:r>
          </a:p>
        </p:txBody>
      </p:sp>
      <p:sp>
        <p:nvSpPr>
          <p:cNvPr id="11" name="detail-0">
            <a:extLst xmlns:a="http://schemas.openxmlformats.org/drawingml/2006/main">
              <a:ext uri="{FF2B5EF4-FFF2-40B4-BE49-F238E27FC236}">
                <a16:creationId xmlns:a16="http://schemas.microsoft.com/office/drawing/2014/main" id="{0A239CB1-B09F-45B6-B471-3DCE3F215D6D}"/>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Money is symbolic value. A larger monetary amount or a higher price does not itself increase a good’s nourishing or protective usefulness.</a:t>
            </a:r>
          </a:p>
        </p:txBody>
      </p:sp>
      <p:sp>
        <p:nvSpPr>
          <p:cNvPr id="12" name="topic-1">
            <a:extLst xmlns:a="http://schemas.openxmlformats.org/drawingml/2006/main">
              <a:ext uri="{FF2B5EF4-FFF2-40B4-BE49-F238E27FC236}">
                <a16:creationId xmlns:a16="http://schemas.microsoft.com/office/drawing/2014/main" id="{56A58B73-1006-4470-BCF4-95A5506F791D}"/>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The grain example</a:t>
            </a:r>
          </a:p>
        </p:txBody>
      </p:sp>
      <p:sp>
        <p:nvSpPr>
          <p:cNvPr id="13" name="detail-1">
            <a:extLst xmlns:a="http://schemas.openxmlformats.org/drawingml/2006/main">
              <a:ext uri="{FF2B5EF4-FFF2-40B4-BE49-F238E27FC236}">
                <a16:creationId xmlns:a16="http://schemas.microsoft.com/office/drawing/2014/main" id="{ED6E22E2-48D3-446D-8CAE-4977A65D085F}"/>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If the price doubles while the grain remains the same, assess usefulness and access separately. Manufactured scarcity can raise price while obstructing needed provision.</a:t>
            </a:r>
          </a:p>
        </p:txBody>
      </p:sp>
      <p:sp>
        <p:nvSpPr>
          <p:cNvPr id="14" name="topic-2">
            <a:extLst xmlns:a="http://schemas.openxmlformats.org/drawingml/2006/main">
              <a:ext uri="{FF2B5EF4-FFF2-40B4-BE49-F238E27FC236}">
                <a16:creationId xmlns:a16="http://schemas.microsoft.com/office/drawing/2014/main" id="{57854445-8A60-4766-8653-1BE882DE60CD}"/>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Prosperity</a:t>
            </a:r>
          </a:p>
        </p:txBody>
      </p:sp>
      <p:sp>
        <p:nvSpPr>
          <p:cNvPr id="15" name="detail-2">
            <a:extLst xmlns:a="http://schemas.openxmlformats.org/drawingml/2006/main">
              <a:ext uri="{FF2B5EF4-FFF2-40B4-BE49-F238E27FC236}">
                <a16:creationId xmlns:a16="http://schemas.microsoft.com/office/drawing/2014/main" id="{2AC3D00C-A2A4-4768-949D-F617F2E0316D}"/>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Understand need; develop the ability and readiness to produce adequate provision beyond it; ensure that provision is available for right-use in living.</a:t>
            </a:r>
          </a:p>
        </p:txBody>
      </p:sp>
    </p:spTree>
    <p:extLst>
      <p:ext uri="{BB962C8B-B14F-4D97-AF65-F5344CB8AC3E}">
        <p14:creationId xmlns:p14="http://schemas.microsoft.com/office/powerpoint/2010/main" val="124361761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463A9280-610B-4A07-A65A-FA45A39E8F3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 · DISTINCT RESPONSIBILITIES</a:t>
            </a:r>
          </a:p>
        </p:txBody>
      </p:sp>
      <p:sp>
        <p:nvSpPr>
          <p:cNvPr id="2" name="text-1">
            <a:extLst xmlns:a="http://schemas.openxmlformats.org/drawingml/2006/main">
              <a:ext uri="{FF2B5EF4-FFF2-40B4-BE49-F238E27FC236}">
                <a16:creationId xmlns:a16="http://schemas.microsoft.com/office/drawing/2014/main" id="{D4F0EDAE-43D3-460A-93EC-0642613C44A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Labour, production and exchange</a:t>
            </a:r>
          </a:p>
        </p:txBody>
      </p:sp>
      <p:sp>
        <p:nvSpPr>
          <p:cNvPr id="3" name="text-2">
            <a:extLst xmlns:a="http://schemas.openxmlformats.org/drawingml/2006/main">
              <a:ext uri="{FF2B5EF4-FFF2-40B4-BE49-F238E27FC236}">
                <a16:creationId xmlns:a16="http://schemas.microsoft.com/office/drawing/2014/main" id="{1F6AD4A2-D4A1-478C-B46C-FD9A028FB80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71AC2BF-A487-43A1-AA0A-7381F7DB3605}"/>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40 / 57</a:t>
            </a:r>
          </a:p>
        </p:txBody>
      </p:sp>
      <p:sp>
        <p:nvSpPr>
          <p:cNvPr id="5" name="text-4">
            <a:extLst xmlns:a="http://schemas.openxmlformats.org/drawingml/2006/main">
              <a:ext uri="{FF2B5EF4-FFF2-40B4-BE49-F238E27FC236}">
                <a16:creationId xmlns:a16="http://schemas.microsoft.com/office/drawing/2014/main" id="{74AF126A-C3F5-46BC-BD5E-F0EB507E9A0E}"/>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§1.5; §7.11; MVD pp. 56, 260, 268–269; SB p. 237; AVD p. 170</a:t>
            </a:r>
          </a:p>
        </p:txBody>
      </p:sp>
      <p:graphicFrame>
        <p:nvGraphicFramePr>
          <p:cNvPr id="19"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809750"/>
                <a:gridCol w="3000375"/>
                <a:gridCol w="280987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Field</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Activity and purpose</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must be evaluated</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Application · prayog</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Labour continued until usefulness and aesthetic value are established</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Whether the attempted configuration fulfils the assessed need.</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Production · utpadan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Standardisation of the successful process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Skills, resources and dependable provision beyond family need.</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Exchange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Assessment of labour-valued goods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Protection of labour and its fruits; exchange free from exploitation.</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Justice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Evaluation of established and expressed values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Recognised responsibility, fulfilment and mutual satisfaction.</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13671935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6A3D2421-1C36-4455-8578-D70AF201792D}"/>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 · THE ENDS OF MATERIAL MEANS</a:t>
            </a:r>
          </a:p>
        </p:txBody>
      </p:sp>
      <p:sp>
        <p:nvSpPr>
          <p:cNvPr id="2" name="text-1">
            <a:extLst xmlns:a="http://schemas.openxmlformats.org/drawingml/2006/main">
              <a:ext uri="{FF2B5EF4-FFF2-40B4-BE49-F238E27FC236}">
                <a16:creationId xmlns:a16="http://schemas.microsoft.com/office/drawing/2014/main" id="{488D8AB2-D83D-4318-BC2A-528D2E7020B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Use, right-use and purposeful-use</a:t>
            </a:r>
          </a:p>
        </p:txBody>
      </p:sp>
      <p:sp>
        <p:nvSpPr>
          <p:cNvPr id="3" name="text-2">
            <a:extLst xmlns:a="http://schemas.openxmlformats.org/drawingml/2006/main">
              <a:ext uri="{FF2B5EF4-FFF2-40B4-BE49-F238E27FC236}">
                <a16:creationId xmlns:a16="http://schemas.microsoft.com/office/drawing/2014/main" id="{D3FBAD5E-9122-459C-916A-5CB65EB211AA}"/>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D9F74C4-8255-4D1A-B960-CB771A1DCE2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41 / 57</a:t>
            </a:r>
          </a:p>
        </p:txBody>
      </p:sp>
      <p:sp>
        <p:nvSpPr>
          <p:cNvPr id="5" name="text-4">
            <a:extLst xmlns:a="http://schemas.openxmlformats.org/drawingml/2006/main">
              <a:ext uri="{FF2B5EF4-FFF2-40B4-BE49-F238E27FC236}">
                <a16:creationId xmlns:a16="http://schemas.microsoft.com/office/drawing/2014/main" id="{7BF55E30-D88D-4786-8045-0F9098DD586A}"/>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§1.5; MVD p. 57; How Undivided Society Is Established §1.1</a:t>
            </a:r>
          </a:p>
        </p:txBody>
      </p:sp>
      <p:sp>
        <p:nvSpPr>
          <p:cNvPr id="13" name="topic-0">
            <a:extLst xmlns:a="http://schemas.openxmlformats.org/drawingml/2006/main">
              <a:ext uri="{FF2B5EF4-FFF2-40B4-BE49-F238E27FC236}">
                <a16:creationId xmlns:a16="http://schemas.microsoft.com/office/drawing/2014/main" id="{B9C3EBAD-3E71-4CB0-8B9C-A852AF936C12}"/>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Use</a:t>
            </a:r>
          </a:p>
        </p:txBody>
      </p:sp>
      <p:sp>
        <p:nvSpPr>
          <p:cNvPr id="14" name="detail-0">
            <a:extLst xmlns:a="http://schemas.openxmlformats.org/drawingml/2006/main">
              <a:ext uri="{FF2B5EF4-FFF2-40B4-BE49-F238E27FC236}">
                <a16:creationId xmlns:a16="http://schemas.microsoft.com/office/drawing/2014/main" id="{39FAA231-8678-4FC2-BB47-ED3F6D5ADD54}"/>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Means are deployed in production and service. Their practical capacity is examined through what the activity accomplishes.</a:t>
            </a:r>
          </a:p>
        </p:txBody>
      </p:sp>
      <p:sp>
        <p:nvSpPr>
          <p:cNvPr id="15" name="topic-1">
            <a:extLst xmlns:a="http://schemas.openxmlformats.org/drawingml/2006/main">
              <a:ext uri="{FF2B5EF4-FFF2-40B4-BE49-F238E27FC236}">
                <a16:creationId xmlns:a16="http://schemas.microsoft.com/office/drawing/2014/main" id="{4E880D48-5DA8-4071-B0D7-AB8E7B1C1916}"/>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Right-use · sadupyog</a:t>
            </a:r>
          </a:p>
        </p:txBody>
      </p:sp>
      <p:sp>
        <p:nvSpPr>
          <p:cNvPr id="16" name="detail-1">
            <a:extLst xmlns:a="http://schemas.openxmlformats.org/drawingml/2006/main">
              <a:ext uri="{FF2B5EF4-FFF2-40B4-BE49-F238E27FC236}">
                <a16:creationId xmlns:a16="http://schemas.microsoft.com/office/drawing/2014/main" id="{0A0BF36C-6848-4AA3-A404-300B6B52E864}"/>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Body, mind and wealth are directed towards participation in family orderliness. Provision is evaluated together with the responsibilities it fulfils.</a:t>
            </a:r>
          </a:p>
        </p:txBody>
      </p:sp>
      <p:sp>
        <p:nvSpPr>
          <p:cNvPr id="17" name="topic-2">
            <a:extLst xmlns:a="http://schemas.openxmlformats.org/drawingml/2006/main">
              <a:ext uri="{FF2B5EF4-FFF2-40B4-BE49-F238E27FC236}">
                <a16:creationId xmlns:a16="http://schemas.microsoft.com/office/drawing/2014/main" id="{AE47F4EA-978E-446E-998C-5AEDE983F4A2}"/>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Purposeful-use · prayojansheelta</a:t>
            </a:r>
          </a:p>
        </p:txBody>
      </p:sp>
      <p:sp>
        <p:nvSpPr>
          <p:cNvPr id="18" name="detail-2">
            <a:extLst xmlns:a="http://schemas.openxmlformats.org/drawingml/2006/main">
              <a:ext uri="{FF2B5EF4-FFF2-40B4-BE49-F238E27FC236}">
                <a16:creationId xmlns:a16="http://schemas.microsoft.com/office/drawing/2014/main" id="{2D2D526D-7713-473F-B3F8-1CC21CE4D9AC}"/>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Participation serves awakening, undivided society and universal orderliness. The purpose extends from family to world society.</a:t>
            </a:r>
          </a:p>
        </p:txBody>
      </p:sp>
    </p:spTree>
    <p:extLst>
      <p:ext uri="{BB962C8B-B14F-4D97-AF65-F5344CB8AC3E}">
        <p14:creationId xmlns:p14="http://schemas.microsoft.com/office/powerpoint/2010/main" val="138115561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A7CFEE83-9AD5-4335-BF16-98ED514294A2}"/>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 · OTHER ORDERS AND REGENERATION</a:t>
            </a:r>
          </a:p>
        </p:txBody>
      </p:sp>
      <p:sp>
        <p:nvSpPr>
          <p:cNvPr id="2" name="text-1">
            <a:extLst xmlns:a="http://schemas.openxmlformats.org/drawingml/2006/main">
              <a:ext uri="{FF2B5EF4-FFF2-40B4-BE49-F238E27FC236}">
                <a16:creationId xmlns:a16="http://schemas.microsoft.com/office/drawing/2014/main" id="{E08AE14A-8492-4E18-B149-5245BC7BEAC7}"/>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Production within coexistence</a:t>
            </a:r>
          </a:p>
        </p:txBody>
      </p:sp>
      <p:sp>
        <p:nvSpPr>
          <p:cNvPr id="3" name="text-2">
            <a:extLst xmlns:a="http://schemas.openxmlformats.org/drawingml/2006/main">
              <a:ext uri="{FF2B5EF4-FFF2-40B4-BE49-F238E27FC236}">
                <a16:creationId xmlns:a16="http://schemas.microsoft.com/office/drawing/2014/main" id="{3977CD5C-3A68-40F1-B735-ABF9F8FBD5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1621ACF-F5D4-426B-9F32-9FCAFCD691C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42 / 57</a:t>
            </a:r>
          </a:p>
        </p:txBody>
      </p:sp>
      <p:sp>
        <p:nvSpPr>
          <p:cNvPr id="5" name="text-4">
            <a:extLst xmlns:a="http://schemas.openxmlformats.org/drawingml/2006/main">
              <a:ext uri="{FF2B5EF4-FFF2-40B4-BE49-F238E27FC236}">
                <a16:creationId xmlns:a16="http://schemas.microsoft.com/office/drawing/2014/main" id="{908B76C8-486C-43F5-A396-9A387E9603D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§1.5; §§7.3, 7.9; SB pp. 141, 200–201</a:t>
            </a:r>
          </a:p>
        </p:txBody>
      </p:sp>
      <p:sp>
        <p:nvSpPr>
          <p:cNvPr id="12" name="topic-0">
            <a:extLst xmlns:a="http://schemas.openxmlformats.org/drawingml/2006/main">
              <a:ext uri="{FF2B5EF4-FFF2-40B4-BE49-F238E27FC236}">
                <a16:creationId xmlns:a16="http://schemas.microsoft.com/office/drawing/2014/main" id="{1B8B2421-2F6D-4013-9E8A-7BD97E11DE09}"/>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Immediate fulfilment</a:t>
            </a:r>
          </a:p>
        </p:txBody>
      </p:sp>
      <p:sp>
        <p:nvSpPr>
          <p:cNvPr id="13" name="detail-0">
            <a:extLst xmlns:a="http://schemas.openxmlformats.org/drawingml/2006/main">
              <a:ext uri="{FF2B5EF4-FFF2-40B4-BE49-F238E27FC236}">
                <a16:creationId xmlns:a16="http://schemas.microsoft.com/office/drawing/2014/main" id="{C6E0868B-C1D3-4858-9A8A-E707CEBBA653}"/>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Identify the human need met by a crop, tool or process. Examine usefulness, provision, labour and access in the actual situation.</a:t>
            </a:r>
          </a:p>
        </p:txBody>
      </p:sp>
      <p:sp>
        <p:nvSpPr>
          <p:cNvPr id="14" name="topic-1">
            <a:extLst xmlns:a="http://schemas.openxmlformats.org/drawingml/2006/main">
              <a:ext uri="{FF2B5EF4-FFF2-40B4-BE49-F238E27FC236}">
                <a16:creationId xmlns:a16="http://schemas.microsoft.com/office/drawing/2014/main" id="{05FFE322-262D-4E07-A678-407D07F2B732}"/>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Conditions of participation</a:t>
            </a:r>
          </a:p>
        </p:txBody>
      </p:sp>
      <p:sp>
        <p:nvSpPr>
          <p:cNvPr id="15" name="detail-1">
            <a:extLst xmlns:a="http://schemas.openxmlformats.org/drawingml/2006/main">
              <a:ext uri="{FF2B5EF4-FFF2-40B4-BE49-F238E27FC236}">
                <a16:creationId xmlns:a16="http://schemas.microsoft.com/office/drawing/2014/main" id="{8B3B281D-F48A-43FF-81A4-8C36FB99061A}"/>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Natural abundance is to be used in accordance with usefulness and regeneration. Human participation should nurture the conditions through which the other orders continue.</a:t>
            </a:r>
          </a:p>
        </p:txBody>
      </p:sp>
      <p:sp>
        <p:nvSpPr>
          <p:cNvPr id="16" name="topic-2">
            <a:extLst xmlns:a="http://schemas.openxmlformats.org/drawingml/2006/main">
              <a:ext uri="{FF2B5EF4-FFF2-40B4-BE49-F238E27FC236}">
                <a16:creationId xmlns:a16="http://schemas.microsoft.com/office/drawing/2014/main" id="{BBAC55FD-08A6-44D7-B411-BE2384BA0A6E}"/>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Wider evaluation</a:t>
            </a:r>
          </a:p>
        </p:txBody>
      </p:sp>
      <p:sp>
        <p:nvSpPr>
          <p:cNvPr id="17" name="detail-2">
            <a:extLst xmlns:a="http://schemas.openxmlformats.org/drawingml/2006/main">
              <a:ext uri="{FF2B5EF4-FFF2-40B4-BE49-F238E27FC236}">
                <a16:creationId xmlns:a16="http://schemas.microsoft.com/office/drawing/2014/main" id="{3624D103-03A2-4B70-9FC8-7F1035246D6F}"/>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 mutually beneficial transaction can leave effects on others unresolved. Ecological decisions need evidence about affected relationships, alternatives and regeneration.</a:t>
            </a:r>
          </a:p>
        </p:txBody>
      </p:sp>
    </p:spTree>
    <p:extLst>
      <p:ext uri="{BB962C8B-B14F-4D97-AF65-F5344CB8AC3E}">
        <p14:creationId xmlns:p14="http://schemas.microsoft.com/office/powerpoint/2010/main" val="112643051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06E03809-F289-4F0E-89A6-BFEA02D3210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VIII · FROM EXAMPLE TO UNDERSTANDING</a:t>
            </a:r>
          </a:p>
        </p:txBody>
      </p:sp>
      <p:sp>
        <p:nvSpPr>
          <p:cNvPr id="2" name="text-1">
            <a:extLst xmlns:a="http://schemas.openxmlformats.org/drawingml/2006/main">
              <a:ext uri="{FF2B5EF4-FFF2-40B4-BE49-F238E27FC236}">
                <a16:creationId xmlns:a16="http://schemas.microsoft.com/office/drawing/2014/main" id="{BF573115-8063-4868-9240-B2DFD0530F0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Learning through participation</a:t>
            </a:r>
          </a:p>
        </p:txBody>
      </p:sp>
      <p:sp>
        <p:nvSpPr>
          <p:cNvPr id="3" name="text-2">
            <a:extLst xmlns:a="http://schemas.openxmlformats.org/drawingml/2006/main">
              <a:ext uri="{FF2B5EF4-FFF2-40B4-BE49-F238E27FC236}">
                <a16:creationId xmlns:a16="http://schemas.microsoft.com/office/drawing/2014/main" id="{05BF9CD9-AC17-4E99-94D1-1003783F98B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3AC8507-9AE2-4234-9F6D-67285A6540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43 / 57</a:t>
            </a:r>
          </a:p>
        </p:txBody>
      </p:sp>
      <p:sp>
        <p:nvSpPr>
          <p:cNvPr id="5" name="text-4">
            <a:extLst xmlns:a="http://schemas.openxmlformats.org/drawingml/2006/main">
              <a:ext uri="{FF2B5EF4-FFF2-40B4-BE49-F238E27FC236}">
                <a16:creationId xmlns:a16="http://schemas.microsoft.com/office/drawing/2014/main" id="{5CFF1889-7C67-40E5-A73D-0AAF1FD8C767}"/>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§1.8 and Editorial Notes; KD pp. 18–19, 84, 112–113; MVD pp. 61, 94, 203</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db906f0320f4ffb"/>
          <a:stretch xmlns:a="http://schemas.openxmlformats.org/drawingml/2006/main"/>
        </p:blipFill>
        <p:spPr>
          <a:xfrm xmlns:a="http://schemas.openxmlformats.org/drawingml/2006/main">
            <a:off x="6705600" y="1466850"/>
            <a:ext cx="1714500" cy="2209800"/>
          </a:xfrm>
          <a:prstGeom xmlns:a="http://schemas.openxmlformats.org/drawingml/2006/main" prst="rect">
            <a:avLst/>
          </a:prstGeom>
        </p:spPr>
      </p:pic>
      <p:sp>
        <p:nvSpPr>
          <p:cNvPr id="15" name="topic-0">
            <a:extLst xmlns:a="http://schemas.openxmlformats.org/drawingml/2006/main">
              <a:ext uri="{FF2B5EF4-FFF2-40B4-BE49-F238E27FC236}">
                <a16:creationId xmlns:a16="http://schemas.microsoft.com/office/drawing/2014/main" id="{6B2A01CC-F5BD-4607-B59A-52EF1D111BED}"/>
              </a:ext>
            </a:extLst>
          </p:cNvPr>
          <p:cNvSpPr>
            <a:spLocks xmlns:a="http://schemas.openxmlformats.org/drawingml/2006/main" noGrp="1"/>
          </p:cNvSpPr>
          <p:nvPr/>
        </p:nvSpPr>
        <p:spPr>
          <a:xfrm xmlns:a="http://schemas.openxmlformats.org/drawingml/2006/main">
            <a:off x="960120" y="1304925"/>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1">
                <a:solidFill>
                  <a:srgbClr val="1E2447"/>
                </a:solidFill>
                <a:latin typeface="Calibri"/>
                <a:ea typeface="Calibri"/>
                <a:cs typeface="Calibri"/>
              </a:defRPr>
            </a:pPr>
            <a:r>
              <a:rPr sz="1725" b="1">
                <a:solidFill>
                  <a:srgbClr val="1E2447"/>
                </a:solidFill>
                <a:latin typeface="Calibri"/>
                <a:ea typeface="Calibri"/>
                <a:cs typeface="Calibri"/>
              </a:rPr>
              <a:t>Encounter and practice</a:t>
            </a:r>
          </a:p>
        </p:txBody>
      </p:sp>
      <p:sp>
        <p:nvSpPr>
          <p:cNvPr id="16" name="detail-0">
            <a:extLst xmlns:a="http://schemas.openxmlformats.org/drawingml/2006/main">
              <a:ext uri="{FF2B5EF4-FFF2-40B4-BE49-F238E27FC236}">
                <a16:creationId xmlns:a16="http://schemas.microsoft.com/office/drawing/2014/main" id="{2E804500-FEE1-4348-A967-47281D9DBC0A}"/>
              </a:ext>
            </a:extLst>
          </p:cNvPr>
          <p:cNvSpPr>
            <a:spLocks xmlns:a="http://schemas.openxmlformats.org/drawingml/2006/main" noGrp="1"/>
          </p:cNvSpPr>
          <p:nvPr/>
        </p:nvSpPr>
        <p:spPr>
          <a:xfrm xmlns:a="http://schemas.openxmlformats.org/drawingml/2006/main">
            <a:off x="960120" y="1600200"/>
            <a:ext cx="5314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38" b="0">
                <a:solidFill>
                  <a:srgbClr val="303853"/>
                </a:solidFill>
                <a:latin typeface="Calibri"/>
                <a:ea typeface="Calibri"/>
                <a:cs typeface="Calibri"/>
              </a:defRPr>
            </a:pPr>
            <a:r>
              <a:rPr sz="1538" b="0">
                <a:solidFill>
                  <a:srgbClr val="303853"/>
                </a:solidFill>
                <a:latin typeface="Calibri"/>
                <a:ea typeface="Calibri"/>
                <a:cs typeface="Calibri"/>
              </a:rPr>
              <a:t>Preparing and sharing a meal can meet a real need while the learner is still examining its meaning.</a:t>
            </a:r>
          </a:p>
        </p:txBody>
      </p:sp>
      <p:sp>
        <p:nvSpPr>
          <p:cNvPr id="17" name="topic-1">
            <a:extLst xmlns:a="http://schemas.openxmlformats.org/drawingml/2006/main">
              <a:ext uri="{FF2B5EF4-FFF2-40B4-BE49-F238E27FC236}">
                <a16:creationId xmlns:a16="http://schemas.microsoft.com/office/drawing/2014/main" id="{643D27B5-2063-4639-BA70-8E370EF5953F}"/>
              </a:ext>
            </a:extLst>
          </p:cNvPr>
          <p:cNvSpPr>
            <a:spLocks xmlns:a="http://schemas.openxmlformats.org/drawingml/2006/main" noGrp="1"/>
          </p:cNvSpPr>
          <p:nvPr/>
        </p:nvSpPr>
        <p:spPr>
          <a:xfrm xmlns:a="http://schemas.openxmlformats.org/drawingml/2006/main">
            <a:off x="960120" y="2314575"/>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1">
                <a:solidFill>
                  <a:srgbClr val="1E2447"/>
                </a:solidFill>
                <a:latin typeface="Calibri"/>
                <a:ea typeface="Calibri"/>
                <a:cs typeface="Calibri"/>
              </a:defRPr>
            </a:pPr>
            <a:r>
              <a:rPr sz="1725" b="1">
                <a:solidFill>
                  <a:srgbClr val="1E2447"/>
                </a:solidFill>
                <a:latin typeface="Calibri"/>
                <a:ea typeface="Calibri"/>
                <a:cs typeface="Calibri"/>
              </a:rPr>
              <a:t>Examination of meaning</a:t>
            </a:r>
          </a:p>
        </p:txBody>
      </p:sp>
      <p:sp>
        <p:nvSpPr>
          <p:cNvPr id="18" name="detail-1">
            <a:extLst xmlns:a="http://schemas.openxmlformats.org/drawingml/2006/main">
              <a:ext uri="{FF2B5EF4-FFF2-40B4-BE49-F238E27FC236}">
                <a16:creationId xmlns:a16="http://schemas.microsoft.com/office/drawing/2014/main" id="{91123366-4F37-4542-819A-666828FE4C0A}"/>
              </a:ext>
            </a:extLst>
          </p:cNvPr>
          <p:cNvSpPr>
            <a:spLocks xmlns:a="http://schemas.openxmlformats.org/drawingml/2006/main" noGrp="1"/>
          </p:cNvSpPr>
          <p:nvPr/>
        </p:nvSpPr>
        <p:spPr>
          <a:xfrm xmlns:a="http://schemas.openxmlformats.org/drawingml/2006/main">
            <a:off x="960120" y="2609850"/>
            <a:ext cx="5314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38" b="0">
                <a:solidFill>
                  <a:srgbClr val="303853"/>
                </a:solidFill>
                <a:latin typeface="Calibri"/>
                <a:ea typeface="Calibri"/>
                <a:cs typeface="Calibri"/>
              </a:defRPr>
            </a:pPr>
            <a:r>
              <a:rPr sz="1538" b="0">
                <a:solidFill>
                  <a:srgbClr val="303853"/>
                </a:solidFill>
                <a:latin typeface="Calibri"/>
                <a:ea typeface="Calibri"/>
                <a:cs typeface="Calibri"/>
              </a:rPr>
              <a:t>Self-evaluation asks what care requires, why the provision was appropriate and how it affected the other person.</a:t>
            </a:r>
          </a:p>
        </p:txBody>
      </p:sp>
      <p:sp>
        <p:nvSpPr>
          <p:cNvPr id="19" name="topic-2">
            <a:extLst xmlns:a="http://schemas.openxmlformats.org/drawingml/2006/main">
              <a:ext uri="{FF2B5EF4-FFF2-40B4-BE49-F238E27FC236}">
                <a16:creationId xmlns:a16="http://schemas.microsoft.com/office/drawing/2014/main" id="{03710E7F-DD29-418D-9C14-AF7FF560430B}"/>
              </a:ext>
            </a:extLst>
          </p:cNvPr>
          <p:cNvSpPr>
            <a:spLocks xmlns:a="http://schemas.openxmlformats.org/drawingml/2006/main" noGrp="1"/>
          </p:cNvSpPr>
          <p:nvPr/>
        </p:nvSpPr>
        <p:spPr>
          <a:xfrm xmlns:a="http://schemas.openxmlformats.org/drawingml/2006/main">
            <a:off x="960120" y="3324225"/>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1">
                <a:solidFill>
                  <a:srgbClr val="1E2447"/>
                </a:solidFill>
                <a:latin typeface="Calibri"/>
                <a:ea typeface="Calibri"/>
                <a:cs typeface="Calibri"/>
              </a:defRPr>
            </a:pPr>
            <a:r>
              <a:rPr sz="1725" b="1">
                <a:solidFill>
                  <a:srgbClr val="1E2447"/>
                </a:solidFill>
                <a:latin typeface="Calibri"/>
                <a:ea typeface="Calibri"/>
                <a:cs typeface="Calibri"/>
              </a:rPr>
              <a:t>Established understanding</a:t>
            </a:r>
          </a:p>
        </p:txBody>
      </p:sp>
      <p:sp>
        <p:nvSpPr>
          <p:cNvPr id="20" name="detail-2">
            <a:extLst xmlns:a="http://schemas.openxmlformats.org/drawingml/2006/main">
              <a:ext uri="{FF2B5EF4-FFF2-40B4-BE49-F238E27FC236}">
                <a16:creationId xmlns:a16="http://schemas.microsoft.com/office/drawing/2014/main" id="{E59E4C4C-2392-4F5C-90BE-F90CD290732A}"/>
              </a:ext>
            </a:extLst>
          </p:cNvPr>
          <p:cNvSpPr>
            <a:spLocks xmlns:a="http://schemas.openxmlformats.org/drawingml/2006/main" noGrp="1"/>
          </p:cNvSpPr>
          <p:nvPr/>
        </p:nvSpPr>
        <p:spPr>
          <a:xfrm xmlns:a="http://schemas.openxmlformats.org/drawingml/2006/main">
            <a:off x="960120" y="3619500"/>
            <a:ext cx="5314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38" b="0">
                <a:solidFill>
                  <a:srgbClr val="303853"/>
                </a:solidFill>
                <a:latin typeface="Calibri"/>
                <a:ea typeface="Calibri"/>
                <a:cs typeface="Calibri"/>
              </a:defRPr>
            </a:pPr>
            <a:r>
              <a:rPr sz="1538" b="0">
                <a:solidFill>
                  <a:srgbClr val="303853"/>
                </a:solidFill>
                <a:latin typeface="Calibri"/>
                <a:ea typeface="Calibri"/>
                <a:cs typeface="Calibri"/>
              </a:rPr>
              <a:t>Understood value becomes the learner’s basis of selection and expression, sustained through changing situations.</a:t>
            </a:r>
          </a:p>
        </p:txBody>
      </p:sp>
    </p:spTree>
    <p:extLst>
      <p:ext uri="{BB962C8B-B14F-4D97-AF65-F5344CB8AC3E}">
        <p14:creationId xmlns:p14="http://schemas.microsoft.com/office/powerpoint/2010/main" val="208118358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89A87F38-28E2-440A-8399-AFB76C869D9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VIII · HOW CONTINUITY DEVELOPS</a:t>
            </a:r>
          </a:p>
        </p:txBody>
      </p:sp>
      <p:sp>
        <p:nvSpPr>
          <p:cNvPr id="2" name="text-1">
            <a:extLst xmlns:a="http://schemas.openxmlformats.org/drawingml/2006/main">
              <a:ext uri="{FF2B5EF4-FFF2-40B4-BE49-F238E27FC236}">
                <a16:creationId xmlns:a16="http://schemas.microsoft.com/office/drawing/2014/main" id="{82A58EEB-4944-4684-B6C2-585A5EE9EBC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Sanskar, reception and refinement</a:t>
            </a:r>
          </a:p>
        </p:txBody>
      </p:sp>
      <p:sp>
        <p:nvSpPr>
          <p:cNvPr id="3" name="text-2">
            <a:extLst xmlns:a="http://schemas.openxmlformats.org/drawingml/2006/main">
              <a:ext uri="{FF2B5EF4-FFF2-40B4-BE49-F238E27FC236}">
                <a16:creationId xmlns:a16="http://schemas.microsoft.com/office/drawing/2014/main" id="{54A84BAA-8675-4B21-9CDA-4E2C13F906F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EC5152-85FD-451E-BCFC-973DD56DC78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44 / 57</a:t>
            </a:r>
          </a:p>
        </p:txBody>
      </p:sp>
      <p:sp>
        <p:nvSpPr>
          <p:cNvPr id="5" name="text-4">
            <a:extLst xmlns:a="http://schemas.openxmlformats.org/drawingml/2006/main">
              <a:ext uri="{FF2B5EF4-FFF2-40B4-BE49-F238E27FC236}">
                <a16:creationId xmlns:a16="http://schemas.microsoft.com/office/drawing/2014/main" id="{33A09012-8745-406F-834B-B4B3EF861C4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§1.8; MVD pp. 90, 94, 99–100; MAD reader p. 45; KD pp. 112–113</a:t>
            </a:r>
          </a:p>
        </p:txBody>
      </p:sp>
      <p:sp>
        <p:nvSpPr>
          <p:cNvPr id="15" name="topic-0">
            <a:extLst xmlns:a="http://schemas.openxmlformats.org/drawingml/2006/main">
              <a:ext uri="{FF2B5EF4-FFF2-40B4-BE49-F238E27FC236}">
                <a16:creationId xmlns:a16="http://schemas.microsoft.com/office/drawing/2014/main" id="{269794D6-794E-4323-B3DF-C63B0AA5CBA5}"/>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Sanskar</a:t>
            </a:r>
          </a:p>
        </p:txBody>
      </p:sp>
      <p:sp>
        <p:nvSpPr>
          <p:cNvPr id="16" name="detail-0">
            <a:extLst xmlns:a="http://schemas.openxmlformats.org/drawingml/2006/main">
              <a:ext uri="{FF2B5EF4-FFF2-40B4-BE49-F238E27FC236}">
                <a16:creationId xmlns:a16="http://schemas.microsoft.com/office/drawing/2014/main" id="{7470C2B1-B9C0-429C-9581-48F57E6AD5B5}"/>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Acceptances towards completeness and the understanding and tendencies expressed in activity. Participation includes body, speech and mind: doing, enabling and consenting.</a:t>
            </a:r>
          </a:p>
        </p:txBody>
      </p:sp>
      <p:sp>
        <p:nvSpPr>
          <p:cNvPr id="17" name="topic-1">
            <a:extLst xmlns:a="http://schemas.openxmlformats.org/drawingml/2006/main">
              <a:ext uri="{FF2B5EF4-FFF2-40B4-BE49-F238E27FC236}">
                <a16:creationId xmlns:a16="http://schemas.microsoft.com/office/drawing/2014/main" id="{D48C45C0-2B2E-4045-BAB0-6B5147CB988B}"/>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Aapyayan · internal reception</a:t>
            </a:r>
          </a:p>
        </p:txBody>
      </p:sp>
      <p:sp>
        <p:nvSpPr>
          <p:cNvPr id="18" name="detail-1">
            <a:extLst xmlns:a="http://schemas.openxmlformats.org/drawingml/2006/main">
              <a:ext uri="{FF2B5EF4-FFF2-40B4-BE49-F238E27FC236}">
                <a16:creationId xmlns:a16="http://schemas.microsoft.com/office/drawing/2014/main" id="{20FFF345-9344-4CAD-97AA-6653C3838605}"/>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Welcoming, tasting and taking value into oneself, evidenced through evaluation. Another person’s conduct can become an occasion for one’s own inquiry.</a:t>
            </a:r>
          </a:p>
        </p:txBody>
      </p:sp>
      <p:sp>
        <p:nvSpPr>
          <p:cNvPr id="19" name="topic-2">
            <a:extLst xmlns:a="http://schemas.openxmlformats.org/drawingml/2006/main">
              <a:ext uri="{FF2B5EF4-FFF2-40B4-BE49-F238E27FC236}">
                <a16:creationId xmlns:a16="http://schemas.microsoft.com/office/drawing/2014/main" id="{8D543830-18F8-444F-857C-5CD8EF699231}"/>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Parimarjan · qualitative refinement</a:t>
            </a:r>
          </a:p>
        </p:txBody>
      </p:sp>
      <p:sp>
        <p:nvSpPr>
          <p:cNvPr id="20" name="detail-2">
            <a:extLst xmlns:a="http://schemas.openxmlformats.org/drawingml/2006/main">
              <a:ext uri="{FF2B5EF4-FFF2-40B4-BE49-F238E27FC236}">
                <a16:creationId xmlns:a16="http://schemas.microsoft.com/office/drawing/2014/main" id="{E2F5DAE7-B94A-4803-8309-30CF8E780EA3}"/>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Change in hope, thought, desire and resolve. What is examined and understood becomes available for further meaningful expression.</a:t>
            </a:r>
          </a:p>
        </p:txBody>
      </p:sp>
    </p:spTree>
    <p:extLst>
      <p:ext uri="{BB962C8B-B14F-4D97-AF65-F5344CB8AC3E}">
        <p14:creationId xmlns:p14="http://schemas.microsoft.com/office/powerpoint/2010/main" val="155600860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VIII · THREE KINDS OF COMPLETENESS</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Capacity, awakening and continuity</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45 / 57</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Development concerns understanding and conduct within constitutionally complete jeevan.</a:t>
            </a:r>
          </a:p>
        </p:txBody>
      </p:sp>
      <p:graphicFrame>
        <p:nvGraphicFramePr>
          <p:cNvPr id="19"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1952625"/>
                <a:gridCol w="2619375"/>
                <a:gridCol w="30480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Completeness</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it means</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it establishes</a:t>
                      </a:r>
                    </a:p>
                  </a:txBody>
                  <a:tcPr marL="85725" marR="85725" marT="28575" marB="28575" anchor="ctr">
                    <a:solidFill>
                      <a:srgbClr val="1E2447"/>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Constitutional</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settled constitution of jeevan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The conscious unit has the capacity for the full range of activity.</a:t>
                      </a:r>
                    </a:p>
                  </a:txBody>
                  <a:tcPr marL="85725" marR="85725" marT="28575" marB="28575" anchor="ctr">
                    <a:solidFill>
                      <a:srgbClr val="FFFFFF"/>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Activity</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Freedom from delusion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Understanding and evaluation become correct in awakened activity.</a:t>
                      </a:r>
                    </a:p>
                  </a:txBody>
                  <a:tcPr marL="85725" marR="85725" marT="28575" marB="28575" anchor="ctr">
                    <a:solidFill>
                      <a:srgbClr val="F1F3F8"/>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Conduct</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Continuity of that understanding in living</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Resolved participation is sustained across relevant circumstances.</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102897839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VIII · KNOWLEDGE IN ORDERLINESS</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Law, regulation and balance</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46 / 57</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§1.8; Appendix A.3 and Editorial Notes; MVD pp. 80, 137, 174</a:t>
            </a:r>
          </a:p>
        </p:txBody>
      </p:sp>
      <p:sp>
        <p:nvSpPr>
          <p:cNvPr id="13" name="topic-0">
            <a:extLst xmlns:a="http://schemas.openxmlformats.org/drawingml/2006/main">
              <a:ext uri="{FF2B5EF4-FFF2-40B4-BE49-F238E27FC236}">
                <a16:creationId xmlns:a16="http://schemas.microsoft.com/office/drawing/2014/main" id="{538095A3-99F8-409E-A81C-A9CFEE8B1506}"/>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Law · niyam</a:t>
            </a:r>
          </a:p>
        </p:txBody>
      </p:sp>
      <p:sp>
        <p:nvSpPr>
          <p:cNvPr id="14" name="detail-0">
            <a:extLst xmlns:a="http://schemas.openxmlformats.org/drawingml/2006/main">
              <a:ext uri="{FF2B5EF4-FFF2-40B4-BE49-F238E27FC236}">
                <a16:creationId xmlns:a16="http://schemas.microsoft.com/office/drawing/2014/main" id="{9FCD5955-C5E1-4C5D-9B55-3CE1EEB2AF72}"/>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basis for regulating and sustaining definite activity. Useful work must understand the conditions under which its means can operate.</a:t>
            </a:r>
          </a:p>
        </p:txBody>
      </p:sp>
      <p:sp>
        <p:nvSpPr>
          <p:cNvPr id="15" name="topic-1">
            <a:extLst xmlns:a="http://schemas.openxmlformats.org/drawingml/2006/main">
              <a:ext uri="{FF2B5EF4-FFF2-40B4-BE49-F238E27FC236}">
                <a16:creationId xmlns:a16="http://schemas.microsoft.com/office/drawing/2014/main" id="{FE843DDC-E5EF-4764-A75C-802DF0BA88C1}"/>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Regulation · niyantran</a:t>
            </a:r>
          </a:p>
        </p:txBody>
      </p:sp>
      <p:sp>
        <p:nvSpPr>
          <p:cNvPr id="16" name="detail-1">
            <a:extLst xmlns:a="http://schemas.openxmlformats.org/drawingml/2006/main">
              <a:ext uri="{FF2B5EF4-FFF2-40B4-BE49-F238E27FC236}">
                <a16:creationId xmlns:a16="http://schemas.microsoft.com/office/drawing/2014/main" id="{15814EF6-C4FB-4A51-86AC-536DDDFC6ACD}"/>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Activity remains aligned with that basis in operation. Assessment concerns how participation is maintained and what conditions it requires.</a:t>
            </a:r>
          </a:p>
        </p:txBody>
      </p:sp>
      <p:sp>
        <p:nvSpPr>
          <p:cNvPr id="17" name="topic-2">
            <a:extLst xmlns:a="http://schemas.openxmlformats.org/drawingml/2006/main">
              <a:ext uri="{FF2B5EF4-FFF2-40B4-BE49-F238E27FC236}">
                <a16:creationId xmlns:a16="http://schemas.microsoft.com/office/drawing/2014/main" id="{33CFBEA8-E696-4196-A0FE-D5CFB6FDBA22}"/>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Balance · santulan</a:t>
            </a:r>
          </a:p>
        </p:txBody>
      </p:sp>
      <p:sp>
        <p:nvSpPr>
          <p:cNvPr id="18" name="detail-2">
            <a:extLst xmlns:a="http://schemas.openxmlformats.org/drawingml/2006/main">
              <a:ext uri="{FF2B5EF4-FFF2-40B4-BE49-F238E27FC236}">
                <a16:creationId xmlns:a16="http://schemas.microsoft.com/office/drawing/2014/main" id="{3B53D039-C075-4D7D-8B55-A7F1678E6AA0}"/>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Participation sustains the related activities and their mutual conditions. Useful provision must be examined within the wider orderliness it depends upon.</a:t>
            </a:r>
          </a:p>
        </p:txBody>
      </p:sp>
    </p:spTree>
    <p:extLst>
      <p:ext uri="{BB962C8B-B14F-4D97-AF65-F5344CB8AC3E}">
        <p14:creationId xmlns:p14="http://schemas.microsoft.com/office/powerpoint/2010/main" val="186726281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VIII · UNDERSTOOD HUMAN PURPOSE</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Justice, dharma and truth</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47 / 57</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§§1.1–1.2, 1.8; Appendix A.3; MVD pp. 125, 137, 156, 174</a:t>
            </a:r>
          </a:p>
        </p:txBody>
      </p:sp>
      <p:sp>
        <p:nvSpPr>
          <p:cNvPr id="13" name="topic-0">
            <a:extLst xmlns:a="http://schemas.openxmlformats.org/drawingml/2006/main">
              <a:ext uri="{FF2B5EF4-FFF2-40B4-BE49-F238E27FC236}">
                <a16:creationId xmlns:a16="http://schemas.microsoft.com/office/drawing/2014/main" id="{B56FA671-02A6-4256-B9AB-BC10F08E00CD}"/>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Justice · nyaya</a:t>
            </a:r>
          </a:p>
        </p:txBody>
      </p:sp>
      <p:sp>
        <p:nvSpPr>
          <p:cNvPr id="14" name="detail-0">
            <a:extLst xmlns:a="http://schemas.openxmlformats.org/drawingml/2006/main">
              <a:ext uri="{FF2B5EF4-FFF2-40B4-BE49-F238E27FC236}">
                <a16:creationId xmlns:a16="http://schemas.microsoft.com/office/drawing/2014/main" id="{D154BFAF-E6DA-48EB-A6AB-A394EF36E7DC}"/>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Recognised relationships, fulfilled values, evaluation and mutual satisfaction. Actual contribution is examined against the relationship’s requirements.</a:t>
            </a:r>
          </a:p>
        </p:txBody>
      </p:sp>
      <p:sp>
        <p:nvSpPr>
          <p:cNvPr id="15" name="topic-1">
            <a:extLst xmlns:a="http://schemas.openxmlformats.org/drawingml/2006/main">
              <a:ext uri="{FF2B5EF4-FFF2-40B4-BE49-F238E27FC236}">
                <a16:creationId xmlns:a16="http://schemas.microsoft.com/office/drawing/2014/main" id="{61F12CEF-54C4-44FE-B236-37B95E5BBA6A}"/>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Dharma</a:t>
            </a:r>
          </a:p>
        </p:txBody>
      </p:sp>
      <p:sp>
        <p:nvSpPr>
          <p:cNvPr id="16" name="detail-1">
            <a:extLst xmlns:a="http://schemas.openxmlformats.org/drawingml/2006/main">
              <a:ext uri="{FF2B5EF4-FFF2-40B4-BE49-F238E27FC236}">
                <a16:creationId xmlns:a16="http://schemas.microsoft.com/office/drawing/2014/main" id="{A7F5F76E-55D9-48D2-9D98-A745E60FC1D9}"/>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As human innateness: happiness. As the humane deliberative perspective: resolution in thought and participation. The context determines the relevant use.</a:t>
            </a:r>
          </a:p>
        </p:txBody>
      </p:sp>
      <p:sp>
        <p:nvSpPr>
          <p:cNvPr id="17" name="topic-2">
            <a:extLst xmlns:a="http://schemas.openxmlformats.org/drawingml/2006/main">
              <a:ext uri="{FF2B5EF4-FFF2-40B4-BE49-F238E27FC236}">
                <a16:creationId xmlns:a16="http://schemas.microsoft.com/office/drawing/2014/main" id="{A932B132-E3A0-44D0-B393-8919A0A608D2}"/>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Truth · satya</a:t>
            </a:r>
          </a:p>
        </p:txBody>
      </p:sp>
      <p:sp>
        <p:nvSpPr>
          <p:cNvPr id="18" name="detail-2">
            <a:extLst xmlns:a="http://schemas.openxmlformats.org/drawingml/2006/main">
              <a:ext uri="{FF2B5EF4-FFF2-40B4-BE49-F238E27FC236}">
                <a16:creationId xmlns:a16="http://schemas.microsoft.com/office/drawing/2014/main" id="{5BC97968-F45F-47CF-8290-F3AD5019942E}"/>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Coexistence as it is, realised and evidenced in living. Understanding of truth informs contemplation, deliberation and the direction of participation.</a:t>
            </a:r>
          </a:p>
        </p:txBody>
      </p:sp>
    </p:spTree>
    <p:extLst>
      <p:ext uri="{BB962C8B-B14F-4D97-AF65-F5344CB8AC3E}">
        <p14:creationId xmlns:p14="http://schemas.microsoft.com/office/powerpoint/2010/main" val="186726281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VIII · CONTINUING DETERMINATIONS IN LIVING</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Value, character and ethics</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48 / 57</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§1.8; JV p. 55; Ethics and Morals in Human Beings §§3.1, 3.5–3.6</a:t>
            </a:r>
          </a:p>
        </p:txBody>
      </p:sp>
      <p:sp>
        <p:nvSpPr>
          <p:cNvPr id="13" name="topic-0">
            <a:extLst xmlns:a="http://schemas.openxmlformats.org/drawingml/2006/main">
              <a:ext uri="{FF2B5EF4-FFF2-40B4-BE49-F238E27FC236}">
                <a16:creationId xmlns:a16="http://schemas.microsoft.com/office/drawing/2014/main" id="{5B916BA3-63DD-4AF7-8568-976C2B9F04CD}"/>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Value</a:t>
            </a:r>
          </a:p>
        </p:txBody>
      </p:sp>
      <p:sp>
        <p:nvSpPr>
          <p:cNvPr id="14" name="detail-0">
            <a:extLst xmlns:a="http://schemas.openxmlformats.org/drawingml/2006/main">
              <a:ext uri="{FF2B5EF4-FFF2-40B4-BE49-F238E27FC236}">
                <a16:creationId xmlns:a16="http://schemas.microsoft.com/office/drawing/2014/main" id="{18DE83BB-CC4E-489B-9493-EC0143702B29}"/>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The purposes and responsibilities understood and fulfilled: jeevan harmonies, humane essential nature and meaningful relationships.</a:t>
            </a:r>
          </a:p>
        </p:txBody>
      </p:sp>
      <p:sp>
        <p:nvSpPr>
          <p:cNvPr id="15" name="topic-1">
            <a:extLst xmlns:a="http://schemas.openxmlformats.org/drawingml/2006/main">
              <a:ext uri="{FF2B5EF4-FFF2-40B4-BE49-F238E27FC236}">
                <a16:creationId xmlns:a16="http://schemas.microsoft.com/office/drawing/2014/main" id="{DFE6C486-B300-447D-AB1E-606D866D9208}"/>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Character</a:t>
            </a:r>
          </a:p>
        </p:txBody>
      </p:sp>
      <p:sp>
        <p:nvSpPr>
          <p:cNvPr id="16" name="detail-1">
            <a:extLst xmlns:a="http://schemas.openxmlformats.org/drawingml/2006/main">
              <a:ext uri="{FF2B5EF4-FFF2-40B4-BE49-F238E27FC236}">
                <a16:creationId xmlns:a16="http://schemas.microsoft.com/office/drawing/2014/main" id="{5A86544B-983E-442F-A63C-96C9DFC56247}"/>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Definite conduct in living, including rightful wealth, marital fidelity and kindness in the source account. Acceptances receive expression in participation.</a:t>
            </a:r>
          </a:p>
        </p:txBody>
      </p:sp>
      <p:sp>
        <p:nvSpPr>
          <p:cNvPr id="17" name="topic-2">
            <a:extLst xmlns:a="http://schemas.openxmlformats.org/drawingml/2006/main">
              <a:ext uri="{FF2B5EF4-FFF2-40B4-BE49-F238E27FC236}">
                <a16:creationId xmlns:a16="http://schemas.microsoft.com/office/drawing/2014/main" id="{E5F484EC-95E1-4462-ABD4-513AE500B568}"/>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Ethics</a:t>
            </a:r>
          </a:p>
        </p:txBody>
      </p:sp>
      <p:sp>
        <p:nvSpPr>
          <p:cNvPr id="18" name="detail-2">
            <a:extLst xmlns:a="http://schemas.openxmlformats.org/drawingml/2006/main">
              <a:ext uri="{FF2B5EF4-FFF2-40B4-BE49-F238E27FC236}">
                <a16:creationId xmlns:a16="http://schemas.microsoft.com/office/drawing/2014/main" id="{C072765D-B173-4BAD-A125-DFE8B0403CEA}"/>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Protection and right-use of body, mind and wealth. Decisions about resources and conduct are governed by the values they are meant to fulfil.</a:t>
            </a:r>
          </a:p>
        </p:txBody>
      </p:sp>
    </p:spTree>
    <p:extLst>
      <p:ext uri="{BB962C8B-B14F-4D97-AF65-F5344CB8AC3E}">
        <p14:creationId xmlns:p14="http://schemas.microsoft.com/office/powerpoint/2010/main" val="172022418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C14BA65-6874-41ED-92B4-0331626800B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VIII · RESPONSIBILITIES OF ORDERLINESS</a:t>
            </a:r>
          </a:p>
        </p:txBody>
      </p:sp>
      <p:sp>
        <p:nvSpPr>
          <p:cNvPr id="2" name="text-1">
            <a:extLst xmlns:a="http://schemas.openxmlformats.org/drawingml/2006/main">
              <a:ext uri="{FF2B5EF4-FFF2-40B4-BE49-F238E27FC236}">
                <a16:creationId xmlns:a16="http://schemas.microsoft.com/office/drawing/2014/main" id="{D5313E4B-0243-4C58-8A6B-097EEFE967F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Institutions and value-fulfilment</a:t>
            </a:r>
          </a:p>
        </p:txBody>
      </p:sp>
      <p:sp>
        <p:nvSpPr>
          <p:cNvPr id="3" name="text-2">
            <a:extLst xmlns:a="http://schemas.openxmlformats.org/drawingml/2006/main">
              <a:ext uri="{FF2B5EF4-FFF2-40B4-BE49-F238E27FC236}">
                <a16:creationId xmlns:a16="http://schemas.microsoft.com/office/drawing/2014/main" id="{78CB73A2-0588-4D70-85DB-D608CBA0959F}"/>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BDABC35-B2A9-4B64-A2D0-10509168C56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49 / 57</a:t>
            </a:r>
          </a:p>
        </p:txBody>
      </p:sp>
      <p:sp>
        <p:nvSpPr>
          <p:cNvPr id="5" name="text-4">
            <a:extLst xmlns:a="http://schemas.openxmlformats.org/drawingml/2006/main">
              <a:ext uri="{FF2B5EF4-FFF2-40B4-BE49-F238E27FC236}">
                <a16:creationId xmlns:a16="http://schemas.microsoft.com/office/drawing/2014/main" id="{F17F5224-D115-4079-9BCB-921A4EDC031A}"/>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§1.8; §§7.10–7.11; MVD p. 260; AVD p. 265</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1857375"/>
                <a:gridCol w="2238375"/>
                <a:gridCol w="352425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Institutional field</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Purpose to be fulfilled</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Evidence to examine</a:t>
                      </a:r>
                    </a:p>
                  </a:txBody>
                  <a:tcPr marL="85725" marR="85725" marT="28575" marB="28575" anchor="ctr">
                    <a:solidFill>
                      <a:srgbClr val="1E2447"/>
                    </a:solidFill>
                  </a:tcPr>
                </a:tc>
              </a:tr>
              <a:tr h="5295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Education–sanskar</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Understanding and its continuity</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Can learners explain, evaluate and sustain humane participation?</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Justice–preservation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Values fulfilled in relationships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Are responsibilities recognised and mutually fulfilled?</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Production–work</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Adequate provision beyond need</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Are skills, resources and useful outputs reliably available?</a:t>
                      </a:r>
                    </a:p>
                  </a:txBody>
                  <a:tcPr marL="85725" marR="85725" marT="28575" marB="28575" anchor="ctr">
                    <a:solidFill>
                      <a:srgbClr val="FFFFFF"/>
                    </a:solidFill>
                  </a:tcPr>
                </a:tc>
              </a:tr>
              <a:tr h="5295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Exchange–storage</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Labour assessment and just access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Are labour and its fruits protected from exploitation?</a:t>
                      </a:r>
                    </a:p>
                  </a:txBody>
                  <a:tcPr marL="85725" marR="85725" marT="28575" marB="28575" anchor="ctr">
                    <a:solidFill>
                      <a:srgbClr val="F1F3F8"/>
                    </a:solidFill>
                  </a:tcPr>
                </a:tc>
              </a:tr>
              <a:tr h="529590">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Health–restraint</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Bodily capacity for participation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Are nourishment, protection and appropriate bodily use sustained?</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740832103"/>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IX · UNDERSTANDING MADE EVIDENT</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Three dimensions of evidence</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50 / 57</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Evidence must match the scope of the claim: person, relationship, work, family or society.</a:t>
            </a:r>
          </a:p>
        </p:txBody>
      </p:sp>
      <p:graphicFrame>
        <p:nvGraphicFramePr>
          <p:cNvPr id="19" name=""/>
          <p:cNvGraphicFramePr/>
          <p:nvPr/>
        </p:nvGraphicFramePr>
        <p:xfrm>
          <a:off xmlns:a="http://schemas.openxmlformats.org/drawingml/2006/main" x="960120" y="1285875"/>
          <a:ext xmlns:a="http://schemas.openxmlformats.org/drawingml/2006/main" cx="7620000" cy="2647950"/>
        </p:xfrm>
        <a:graphic xmlns:a="http://schemas.openxmlformats.org/drawingml/2006/main">
          <a:graphicData uri="http://schemas.openxmlformats.org/drawingml/2006/table">
            <a:tbl>
              <a:tblPr/>
              <a:tblGrid>
                <a:gridCol w="1981200"/>
                <a:gridCol w="2714625"/>
                <a:gridCol w="292417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Dimension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What is claimed</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How it enters inquiry</a:t>
                      </a:r>
                    </a:p>
                  </a:txBody>
                  <a:tcPr marL="85725" marR="85725" marT="28575" marB="28575" anchor="ctr">
                    <a:solidFill>
                      <a:srgbClr val="1E2447"/>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Realisation · anubhav</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Coexistence realised as truth in atma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First-person understanding and the authenticity of its expression.</a:t>
                      </a:r>
                    </a:p>
                  </a:txBody>
                  <a:tcPr marL="85725" marR="85725" marT="28575" marB="28575" anchor="ctr">
                    <a:solidFill>
                      <a:srgbClr val="FFFFFF"/>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Behaviour · vyavahar</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Values fulfilled in relationships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Recognised responsibilities, actual conduct and mutual satisfaction.</a:t>
                      </a:r>
                    </a:p>
                  </a:txBody>
                  <a:tcPr marL="85725" marR="85725" marT="28575" marB="28575" anchor="ctr">
                    <a:solidFill>
                      <a:srgbClr val="F1F3F8"/>
                    </a:solidFill>
                  </a:tcPr>
                </a:tc>
              </a:tr>
              <a:tr h="749300">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Application · prayog</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Useful work and its results</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Whether means and labour accomplish the understood purpose.</a:t>
                      </a:r>
                    </a:p>
                  </a:txBody>
                  <a:tcPr marL="85725" marR="85725" marT="28575" marB="28575" anchor="ctr">
                    <a:solidFill>
                      <a:srgbClr val="FFFFFF"/>
                    </a:solidFill>
                  </a:tcPr>
                </a:tc>
              </a:tr>
            </a:tbl>
          </a:graphicData>
        </a:graphic>
      </p:graphicFrame>
    </p:spTree>
    <p:extLst>
      <p:ext uri="{BB962C8B-B14F-4D97-AF65-F5344CB8AC3E}">
        <p14:creationId xmlns:p14="http://schemas.microsoft.com/office/powerpoint/2010/main" val="172022418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D1E0FF3-7210-4EB2-AB91-073945A62FD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IX · EVIDENCE AND ITS LIMITS</a:t>
            </a:r>
          </a:p>
        </p:txBody>
      </p:sp>
      <p:sp>
        <p:nvSpPr>
          <p:cNvPr id="2" name="text-1">
            <a:extLst xmlns:a="http://schemas.openxmlformats.org/drawingml/2006/main">
              <a:ext uri="{FF2B5EF4-FFF2-40B4-BE49-F238E27FC236}">
                <a16:creationId xmlns:a16="http://schemas.microsoft.com/office/drawing/2014/main" id="{E87E0ED4-76BC-4690-A06D-1144714CFA60}"/>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Assessing a claim of established value</a:t>
            </a:r>
          </a:p>
        </p:txBody>
      </p:sp>
      <p:sp>
        <p:nvSpPr>
          <p:cNvPr id="3" name="text-2">
            <a:extLst xmlns:a="http://schemas.openxmlformats.org/drawingml/2006/main">
              <a:ext uri="{FF2B5EF4-FFF2-40B4-BE49-F238E27FC236}">
                <a16:creationId xmlns:a16="http://schemas.microsoft.com/office/drawing/2014/main" id="{A0138A84-3F53-4D52-A971-4229B0DB894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2C6C2306-BDE7-4D85-8BD4-8F87F4398EF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51 / 57</a:t>
            </a:r>
          </a:p>
        </p:txBody>
      </p:sp>
      <p:sp>
        <p:nvSpPr>
          <p:cNvPr id="5" name="text-4">
            <a:extLst xmlns:a="http://schemas.openxmlformats.org/drawingml/2006/main">
              <a:ext uri="{FF2B5EF4-FFF2-40B4-BE49-F238E27FC236}">
                <a16:creationId xmlns:a16="http://schemas.microsoft.com/office/drawing/2014/main" id="{089BC316-A622-41D6-95A2-BE7A51239496}"/>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§§7.2, 7.8, 7.10; Appendix A.3</a:t>
            </a:r>
          </a:p>
        </p:txBody>
      </p:sp>
      <p:sp>
        <p:nvSpPr>
          <p:cNvPr id="11" name="topic-0">
            <a:extLst xmlns:a="http://schemas.openxmlformats.org/drawingml/2006/main">
              <a:ext uri="{FF2B5EF4-FFF2-40B4-BE49-F238E27FC236}">
                <a16:creationId xmlns:a16="http://schemas.microsoft.com/office/drawing/2014/main" id="{E12E6166-6731-482B-A69C-0C72329ABD28}"/>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Meaning</a:t>
            </a:r>
          </a:p>
        </p:txBody>
      </p:sp>
      <p:sp>
        <p:nvSpPr>
          <p:cNvPr id="12" name="detail-0">
            <a:extLst xmlns:a="http://schemas.openxmlformats.org/drawingml/2006/main">
              <a:ext uri="{FF2B5EF4-FFF2-40B4-BE49-F238E27FC236}">
                <a16:creationId xmlns:a16="http://schemas.microsoft.com/office/drawing/2014/main" id="{B9405A78-B059-449F-BC89-EB1CE5D86015}"/>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Can the person explain the relationship, the responsibility and why the chosen contribution is appropriate? Can they recognise a mistake and revise it?</a:t>
            </a:r>
          </a:p>
        </p:txBody>
      </p:sp>
      <p:sp>
        <p:nvSpPr>
          <p:cNvPr id="13" name="topic-1">
            <a:extLst xmlns:a="http://schemas.openxmlformats.org/drawingml/2006/main">
              <a:ext uri="{FF2B5EF4-FFF2-40B4-BE49-F238E27FC236}">
                <a16:creationId xmlns:a16="http://schemas.microsoft.com/office/drawing/2014/main" id="{55D27173-C274-435E-874B-C99B65A06CC1}"/>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Fulfilment and continuity</a:t>
            </a:r>
          </a:p>
        </p:txBody>
      </p:sp>
      <p:sp>
        <p:nvSpPr>
          <p:cNvPr id="14" name="detail-1">
            <a:extLst xmlns:a="http://schemas.openxmlformats.org/drawingml/2006/main">
              <a:ext uri="{FF2B5EF4-FFF2-40B4-BE49-F238E27FC236}">
                <a16:creationId xmlns:a16="http://schemas.microsoft.com/office/drawing/2014/main" id="{3C72FF15-142C-4892-AEDF-FF491690DCE1}"/>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Examine actual conduct, outcomes on both sides, and participation across relevant changes in circumstances. Consider ability and means alongside understanding.</a:t>
            </a:r>
          </a:p>
        </p:txBody>
      </p:sp>
      <p:sp>
        <p:nvSpPr>
          <p:cNvPr id="15" name="topic-2">
            <a:extLst xmlns:a="http://schemas.openxmlformats.org/drawingml/2006/main">
              <a:ext uri="{FF2B5EF4-FFF2-40B4-BE49-F238E27FC236}">
                <a16:creationId xmlns:a16="http://schemas.microsoft.com/office/drawing/2014/main" id="{7C18AA12-FB7F-412E-81F6-560921A368B1}"/>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Scope of inference</a:t>
            </a:r>
          </a:p>
        </p:txBody>
      </p:sp>
      <p:sp>
        <p:nvSpPr>
          <p:cNvPr id="16" name="detail-2">
            <a:extLst xmlns:a="http://schemas.openxmlformats.org/drawingml/2006/main">
              <a:ext uri="{FF2B5EF4-FFF2-40B4-BE49-F238E27FC236}">
                <a16:creationId xmlns:a16="http://schemas.microsoft.com/office/drawing/2014/main" id="{8BDACE70-A1BF-4962-941F-DCD33F1FD521}"/>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One fulfilled responsibility supports evidence about that participation. Comprehensive awakening, universal capacities and the ontology of jeevan require further warrant.</a:t>
            </a:r>
          </a:p>
        </p:txBody>
      </p:sp>
    </p:spTree>
    <p:extLst>
      <p:ext uri="{BB962C8B-B14F-4D97-AF65-F5344CB8AC3E}">
        <p14:creationId xmlns:p14="http://schemas.microsoft.com/office/powerpoint/2010/main" val="106445722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7857ED9-2A24-469F-AB72-216CFEE2168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IX · A REMAINING DECISION PROBLEM</a:t>
            </a:r>
          </a:p>
        </p:txBody>
      </p:sp>
      <p:sp>
        <p:nvSpPr>
          <p:cNvPr id="2" name="text-1">
            <a:extLst xmlns:a="http://schemas.openxmlformats.org/drawingml/2006/main">
              <a:ext uri="{FF2B5EF4-FFF2-40B4-BE49-F238E27FC236}">
                <a16:creationId xmlns:a16="http://schemas.microsoft.com/office/drawing/2014/main" id="{3A200848-ABB1-409B-A5B6-A5EB0A5412B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Two needs and limited care</a:t>
            </a:r>
          </a:p>
        </p:txBody>
      </p:sp>
      <p:sp>
        <p:nvSpPr>
          <p:cNvPr id="3" name="text-2">
            <a:extLst xmlns:a="http://schemas.openxmlformats.org/drawingml/2006/main">
              <a:ext uri="{FF2B5EF4-FFF2-40B4-BE49-F238E27FC236}">
                <a16:creationId xmlns:a16="http://schemas.microsoft.com/office/drawing/2014/main" id="{22F7135B-EF8B-4288-A806-50F3BD0D2E0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C62B77A-FAFA-4B47-9389-118C2E2CA53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52 / 57</a:t>
            </a:r>
          </a:p>
        </p:txBody>
      </p:sp>
      <p:sp>
        <p:nvSpPr>
          <p:cNvPr id="5" name="text-4">
            <a:extLst xmlns:a="http://schemas.openxmlformats.org/drawingml/2006/main">
              <a:ext uri="{FF2B5EF4-FFF2-40B4-BE49-F238E27FC236}">
                <a16:creationId xmlns:a16="http://schemas.microsoft.com/office/drawing/2014/main" id="{202B3666-6573-4B58-BC27-B117942EBA32}"/>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§§7.3, 7.7, 7.9–7.11; teaching case</a:t>
            </a:r>
          </a:p>
        </p:txBody>
      </p:sp>
      <p:sp>
        <p:nvSpPr>
          <p:cNvPr id="10" name="topic-0">
            <a:extLst xmlns:a="http://schemas.openxmlformats.org/drawingml/2006/main">
              <a:ext uri="{FF2B5EF4-FFF2-40B4-BE49-F238E27FC236}">
                <a16:creationId xmlns:a16="http://schemas.microsoft.com/office/drawing/2014/main" id="{09C143BF-357A-4C47-8664-09BD4DDC5B94}"/>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The situation</a:t>
            </a:r>
          </a:p>
        </p:txBody>
      </p:sp>
      <p:sp>
        <p:nvSpPr>
          <p:cNvPr id="11" name="detail-0">
            <a:extLst xmlns:a="http://schemas.openxmlformats.org/drawingml/2006/main">
              <a:ext uri="{FF2B5EF4-FFF2-40B4-BE49-F238E27FC236}">
                <a16:creationId xmlns:a16="http://schemas.microsoft.com/office/drawing/2014/main" id="{E0F9139E-BF28-43BB-A36B-33375BE2AF40}"/>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Two people have legitimate needs. One caregiver has limited time. The needs differ in urgency, duration and the kind of assistance required.</a:t>
            </a:r>
          </a:p>
        </p:txBody>
      </p:sp>
      <p:sp>
        <p:nvSpPr>
          <p:cNvPr id="12" name="topic-1">
            <a:extLst xmlns:a="http://schemas.openxmlformats.org/drawingml/2006/main">
              <a:ext uri="{FF2B5EF4-FFF2-40B4-BE49-F238E27FC236}">
                <a16:creationId xmlns:a16="http://schemas.microsoft.com/office/drawing/2014/main" id="{69BF4967-F698-45A0-B486-3BF01D3AE1C2}"/>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What the framework supplies</a:t>
            </a:r>
          </a:p>
        </p:txBody>
      </p:sp>
      <p:sp>
        <p:nvSpPr>
          <p:cNvPr id="13" name="detail-1">
            <a:extLst xmlns:a="http://schemas.openxmlformats.org/drawingml/2006/main">
              <a:ext uri="{FF2B5EF4-FFF2-40B4-BE49-F238E27FC236}">
                <a16:creationId xmlns:a16="http://schemas.microsoft.com/office/drawing/2014/main" id="{A14B3023-DFA6-4896-A903-3F564A9416E7}"/>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Recognise both relationships; examine care, available means, adequate fulfilment and effects on everyone involved. Assess whether help can be obtained from others.</a:t>
            </a:r>
          </a:p>
        </p:txBody>
      </p:sp>
      <p:sp>
        <p:nvSpPr>
          <p:cNvPr id="14" name="topic-2">
            <a:extLst xmlns:a="http://schemas.openxmlformats.org/drawingml/2006/main">
              <a:ext uri="{FF2B5EF4-FFF2-40B4-BE49-F238E27FC236}">
                <a16:creationId xmlns:a16="http://schemas.microsoft.com/office/drawing/2014/main" id="{659A166B-BF9B-456E-939E-B1E035065D51}"/>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What remains to be worked out</a:t>
            </a:r>
          </a:p>
        </p:txBody>
      </p:sp>
      <p:sp>
        <p:nvSpPr>
          <p:cNvPr id="15" name="detail-2">
            <a:extLst xmlns:a="http://schemas.openxmlformats.org/drawingml/2006/main">
              <a:ext uri="{FF2B5EF4-FFF2-40B4-BE49-F238E27FC236}">
                <a16:creationId xmlns:a16="http://schemas.microsoft.com/office/drawing/2014/main" id="{42EADAEA-0881-4D1F-A0FE-A819ACE23994}"/>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 defensible allocation procedure must relate the value standards to urgency, alternatives, continuity and fair participation. The dedication order alone does not decide the allocation.</a:t>
            </a:r>
          </a:p>
        </p:txBody>
      </p:sp>
    </p:spTree>
    <p:extLst>
      <p:ext uri="{BB962C8B-B14F-4D97-AF65-F5344CB8AC3E}">
        <p14:creationId xmlns:p14="http://schemas.microsoft.com/office/powerpoint/2010/main" val="10459169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85FCF58-2D7B-43C5-AB8E-D25B98A9245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IX · DIFFERENT ACCOUNTS OF VALUE</a:t>
            </a:r>
          </a:p>
        </p:txBody>
      </p:sp>
      <p:sp>
        <p:nvSpPr>
          <p:cNvPr id="2" name="text-1">
            <a:extLst xmlns:a="http://schemas.openxmlformats.org/drawingml/2006/main">
              <a:ext uri="{FF2B5EF4-FFF2-40B4-BE49-F238E27FC236}">
                <a16:creationId xmlns:a16="http://schemas.microsoft.com/office/drawing/2014/main" id="{8F2F1AC0-D614-444B-A700-AC498984374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framework in comparison</a:t>
            </a:r>
          </a:p>
        </p:txBody>
      </p:sp>
      <p:sp>
        <p:nvSpPr>
          <p:cNvPr id="3" name="text-2">
            <a:extLst xmlns:a="http://schemas.openxmlformats.org/drawingml/2006/main">
              <a:ext uri="{FF2B5EF4-FFF2-40B4-BE49-F238E27FC236}">
                <a16:creationId xmlns:a16="http://schemas.microsoft.com/office/drawing/2014/main" id="{8DA0B2D8-54E7-457A-8856-0DECBD842E7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703F9ED-CC86-45F9-903A-36E62C0CA44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53 / 57</a:t>
            </a:r>
          </a:p>
        </p:txBody>
      </p:sp>
      <p:sp>
        <p:nvSpPr>
          <p:cNvPr id="5" name="text-4">
            <a:extLst xmlns:a="http://schemas.openxmlformats.org/drawingml/2006/main">
              <a:ext uri="{FF2B5EF4-FFF2-40B4-BE49-F238E27FC236}">
                <a16:creationId xmlns:a16="http://schemas.microsoft.com/office/drawing/2014/main" id="{34B5E74D-2F1B-4E52-963A-F8A596F0982F}"/>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§§2–5 and §6; comparative summary of the companion study</a:t>
            </a:r>
          </a:p>
        </p:txBody>
      </p:sp>
      <p:graphicFrame>
        <p:nvGraphicFramePr>
          <p:cNvPr id="14" name=""/>
          <p:cNvGraphicFramePr/>
          <p:nvPr/>
        </p:nvGraphicFramePr>
        <p:xfrm>
          <a:off xmlns:a="http://schemas.openxmlformats.org/drawingml/2006/main" x="960120" y="1285875"/>
          <a:ext xmlns:a="http://schemas.openxmlformats.org/drawingml/2006/main" cx="7620000" cy="2857500"/>
        </p:xfrm>
        <a:graphic xmlns:a="http://schemas.openxmlformats.org/drawingml/2006/main">
          <a:graphicData uri="http://schemas.openxmlformats.org/drawingml/2006/table">
            <a:tbl>
              <a:tblPr/>
              <a:tblGrid>
                <a:gridCol w="1762125"/>
                <a:gridCol w="2762250"/>
                <a:gridCol w="309562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Account</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Ground and question</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Relevant distinction</a:t>
                      </a:r>
                    </a:p>
                  </a:txBody>
                  <a:tcPr marL="85725" marR="85725" marT="28575" marB="28575" anchor="ctr">
                    <a:solidFill>
                      <a:srgbClr val="1E2447"/>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Madhyasth Darshan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Essentiality and participation in coexistence</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Understood value, relational fulfilment and continuity in living.</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Advaita Vedanta</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Dearness of the Self and liberation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Finite goods and duties in empirical life; enduring fulfilment through knowledge.</a:t>
                      </a:r>
                    </a:p>
                  </a:txBody>
                  <a:tcPr marL="85725" marR="85725" marT="28575" marB="28575" anchor="ctr">
                    <a:solidFill>
                      <a:srgbClr val="F1F3F8"/>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Western value theory</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Competing accounts of goods and normative authority</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Intrinsic, final and instrumental value; reasons, virtues and plural goods.</a:t>
                      </a:r>
                    </a:p>
                  </a:txBody>
                  <a:tcPr marL="85725" marR="85725" marT="28575" marB="28575" anchor="ctr">
                    <a:solidFill>
                      <a:srgbClr val="FFFFFF"/>
                    </a:solidFill>
                  </a:tcPr>
                </a:tc>
              </a:tr>
              <a:tr h="614363">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Natural / social sciences</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Mechanisms and conditions of valuation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63" b="0">
                          <a:solidFill>
                            <a:srgbClr val="303853"/>
                          </a:solidFill>
                          <a:latin typeface="Calibri"/>
                          <a:ea typeface="Calibri"/>
                          <a:cs typeface="Calibri"/>
                        </a:rPr>
                        <a:t>Measured behaviour and outcomes; explanation distinct from normative authority.</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27012192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0ADFFBCD-0678-4ED7-A355-FDADA14E28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IX · CONNECTIONS TO RETAIN</a:t>
            </a:r>
          </a:p>
        </p:txBody>
      </p:sp>
      <p:sp>
        <p:nvSpPr>
          <p:cNvPr id="2" name="text-1">
            <a:extLst xmlns:a="http://schemas.openxmlformats.org/drawingml/2006/main">
              <a:ext uri="{FF2B5EF4-FFF2-40B4-BE49-F238E27FC236}">
                <a16:creationId xmlns:a16="http://schemas.microsoft.com/office/drawing/2014/main" id="{9E39C462-C6A2-4E4A-A97E-361AEA7CECE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value framework as a whole</a:t>
            </a:r>
          </a:p>
        </p:txBody>
      </p:sp>
      <p:sp>
        <p:nvSpPr>
          <p:cNvPr id="3" name="text-2">
            <a:extLst xmlns:a="http://schemas.openxmlformats.org/drawingml/2006/main">
              <a:ext uri="{FF2B5EF4-FFF2-40B4-BE49-F238E27FC236}">
                <a16:creationId xmlns:a16="http://schemas.microsoft.com/office/drawing/2014/main" id="{43BE7405-0502-4AEE-B04B-8F1CF6FD43B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35822D8-866B-4497-82F9-F1788D8A748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54 / 57</a:t>
            </a:r>
          </a:p>
        </p:txBody>
      </p:sp>
      <p:sp>
        <p:nvSpPr>
          <p:cNvPr id="5" name="text-4">
            <a:extLst xmlns:a="http://schemas.openxmlformats.org/drawingml/2006/main">
              <a:ext uri="{FF2B5EF4-FFF2-40B4-BE49-F238E27FC236}">
                <a16:creationId xmlns:a16="http://schemas.microsoft.com/office/drawing/2014/main" id="{246F12CB-139F-43C8-A830-D2918874DB2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Study §§1.1–1.8; Appendix A; §7</a:t>
            </a:r>
          </a:p>
        </p:txBody>
      </p:sp>
      <p:sp>
        <p:nvSpPr>
          <p:cNvPr id="15" name="topic-0">
            <a:extLst xmlns:a="http://schemas.openxmlformats.org/drawingml/2006/main">
              <a:ext uri="{FF2B5EF4-FFF2-40B4-BE49-F238E27FC236}">
                <a16:creationId xmlns:a16="http://schemas.microsoft.com/office/drawing/2014/main" id="{3C8A1610-A054-433A-918F-62E460B04BF3}"/>
              </a:ext>
            </a:extLst>
          </p:cNvPr>
          <p:cNvSpPr>
            <a:spLocks xmlns:a="http://schemas.openxmlformats.org/drawingml/2006/main" noGrp="1"/>
          </p:cNvSpPr>
          <p:nvPr/>
        </p:nvSpPr>
        <p:spPr>
          <a:xfrm xmlns:a="http://schemas.openxmlformats.org/drawingml/2006/main">
            <a:off x="960120" y="13049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Ground → understood forms</a:t>
            </a:r>
          </a:p>
        </p:txBody>
      </p:sp>
      <p:sp>
        <p:nvSpPr>
          <p:cNvPr id="16" name="detail-0">
            <a:extLst xmlns:a="http://schemas.openxmlformats.org/drawingml/2006/main">
              <a:ext uri="{FF2B5EF4-FFF2-40B4-BE49-F238E27FC236}">
                <a16:creationId xmlns:a16="http://schemas.microsoft.com/office/drawing/2014/main" id="{6F5A2FC0-0C16-47A8-89C1-56AF26F8C311}"/>
              </a:ext>
            </a:extLst>
          </p:cNvPr>
          <p:cNvSpPr>
            <a:spLocks xmlns:a="http://schemas.openxmlformats.org/drawingml/2006/main" noGrp="1"/>
          </p:cNvSpPr>
          <p:nvPr/>
        </p:nvSpPr>
        <p:spPr>
          <a:xfrm xmlns:a="http://schemas.openxmlformats.org/drawingml/2006/main">
            <a:off x="2952750" y="13049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Active units bear essentiality in coexistence. Jeevan understands and feels values whose content is specified through activity, humane nature and relationships.</a:t>
            </a:r>
          </a:p>
        </p:txBody>
      </p:sp>
      <p:sp>
        <p:nvSpPr>
          <p:cNvPr id="17" name="topic-1">
            <a:extLst xmlns:a="http://schemas.openxmlformats.org/drawingml/2006/main">
              <a:ext uri="{FF2B5EF4-FFF2-40B4-BE49-F238E27FC236}">
                <a16:creationId xmlns:a16="http://schemas.microsoft.com/office/drawing/2014/main" id="{47EB7278-E529-44AF-9EFC-2656E6545A7F}"/>
              </a:ext>
            </a:extLst>
          </p:cNvPr>
          <p:cNvSpPr>
            <a:spLocks xmlns:a="http://schemas.openxmlformats.org/drawingml/2006/main" noGrp="1"/>
          </p:cNvSpPr>
          <p:nvPr/>
        </p:nvSpPr>
        <p:spPr>
          <a:xfrm xmlns:a="http://schemas.openxmlformats.org/drawingml/2006/main">
            <a:off x="960120" y="231457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Establishment → fulfilment</a:t>
            </a:r>
          </a:p>
        </p:txBody>
      </p:sp>
      <p:sp>
        <p:nvSpPr>
          <p:cNvPr id="18" name="detail-1">
            <a:extLst xmlns:a="http://schemas.openxmlformats.org/drawingml/2006/main">
              <a:ext uri="{FF2B5EF4-FFF2-40B4-BE49-F238E27FC236}">
                <a16:creationId xmlns:a16="http://schemas.microsoft.com/office/drawing/2014/main" id="{07812E5C-F772-4F6A-B5B9-4A8800D5B787}"/>
              </a:ext>
            </a:extLst>
          </p:cNvPr>
          <p:cNvSpPr>
            <a:spLocks xmlns:a="http://schemas.openxmlformats.org/drawingml/2006/main" noGrp="1"/>
          </p:cNvSpPr>
          <p:nvPr/>
        </p:nvSpPr>
        <p:spPr>
          <a:xfrm xmlns:a="http://schemas.openxmlformats.org/drawingml/2006/main">
            <a:off x="2952750" y="231457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Established meanings guide corresponding expressions. Justice examines recognition, fulfilment, evaluation and mutual satisfaction in actual participation.</a:t>
            </a:r>
          </a:p>
        </p:txBody>
      </p:sp>
      <p:sp>
        <p:nvSpPr>
          <p:cNvPr id="19" name="topic-2">
            <a:extLst xmlns:a="http://schemas.openxmlformats.org/drawingml/2006/main">
              <a:ext uri="{FF2B5EF4-FFF2-40B4-BE49-F238E27FC236}">
                <a16:creationId xmlns:a16="http://schemas.microsoft.com/office/drawing/2014/main" id="{D49D93FD-0A5E-44D2-A3E9-4274F6A58BCD}"/>
              </a:ext>
            </a:extLst>
          </p:cNvPr>
          <p:cNvSpPr>
            <a:spLocks xmlns:a="http://schemas.openxmlformats.org/drawingml/2006/main" noGrp="1"/>
          </p:cNvSpPr>
          <p:nvPr/>
        </p:nvSpPr>
        <p:spPr>
          <a:xfrm xmlns:a="http://schemas.openxmlformats.org/drawingml/2006/main">
            <a:off x="960120" y="3324225"/>
            <a:ext cx="18192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50" b="1">
                <a:solidFill>
                  <a:srgbClr val="1E2447"/>
                </a:solidFill>
                <a:latin typeface="Calibri"/>
                <a:ea typeface="Calibri"/>
                <a:cs typeface="Calibri"/>
              </a:defRPr>
            </a:pPr>
            <a:r>
              <a:rPr sz="1650" b="1">
                <a:solidFill>
                  <a:srgbClr val="1E2447"/>
                </a:solidFill>
                <a:latin typeface="Calibri"/>
                <a:ea typeface="Calibri"/>
                <a:cs typeface="Calibri"/>
              </a:rPr>
              <a:t>Means → purpose → continuity</a:t>
            </a:r>
          </a:p>
        </p:txBody>
      </p:sp>
      <p:sp>
        <p:nvSpPr>
          <p:cNvPr id="20" name="detail-2">
            <a:extLst xmlns:a="http://schemas.openxmlformats.org/drawingml/2006/main">
              <a:ext uri="{FF2B5EF4-FFF2-40B4-BE49-F238E27FC236}">
                <a16:creationId xmlns:a16="http://schemas.microsoft.com/office/drawing/2014/main" id="{BBF0F16C-3C8B-430D-9BA0-981ED105D900}"/>
              </a:ext>
            </a:extLst>
          </p:cNvPr>
          <p:cNvSpPr>
            <a:spLocks xmlns:a="http://schemas.openxmlformats.org/drawingml/2006/main" noGrp="1"/>
          </p:cNvSpPr>
          <p:nvPr/>
        </p:nvSpPr>
        <p:spPr>
          <a:xfrm xmlns:a="http://schemas.openxmlformats.org/drawingml/2006/main">
            <a:off x="2952750" y="3324225"/>
            <a:ext cx="5619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600" b="0">
                <a:solidFill>
                  <a:srgbClr val="303853"/>
                </a:solidFill>
                <a:latin typeface="Calibri"/>
                <a:ea typeface="Calibri"/>
                <a:cs typeface="Calibri"/>
              </a:defRPr>
            </a:pPr>
            <a:r>
              <a:rPr sz="1600" b="0">
                <a:solidFill>
                  <a:srgbClr val="303853"/>
                </a:solidFill>
                <a:latin typeface="Calibri"/>
                <a:ea typeface="Calibri"/>
                <a:cs typeface="Calibri"/>
              </a:rPr>
              <a:t>Useful things and labour meet needs in service of humane living. Learning makes understanding sustained; institutions organise its fulfilment across family, society and nature.</a:t>
            </a:r>
          </a:p>
        </p:txBody>
      </p:sp>
    </p:spTree>
    <p:extLst>
      <p:ext uri="{BB962C8B-B14F-4D97-AF65-F5344CB8AC3E}">
        <p14:creationId xmlns:p14="http://schemas.microsoft.com/office/powerpoint/2010/main" val="871944212"/>
      </p:ext>
    </p:extLst>
  </p:cSld>
</p:sld>
</file>

<file path=ppt/slides/slide55.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045EC8CA-977F-449C-BAF4-DB69EF780014}"/>
              </a:ext>
            </a:extLst>
          </p:cNvPr>
          <p:cNvSpPr>
            <a:spLocks xmlns:a="http://schemas.openxmlformats.org/drawingml/2006/main" noGrp="1"/>
          </p:cNvSpPr>
          <p:nvPr/>
        </p:nvSpPr>
        <p:spPr>
          <a:xfrm xmlns:a="http://schemas.openxmlformats.org/drawingml/2006/main">
            <a:off x="640080" y="1028700"/>
            <a:ext cx="786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D7A746"/>
                </a:solidFill>
                <a:latin typeface="Calibri"/>
                <a:ea typeface="Calibri"/>
                <a:cs typeface="Calibri"/>
              </a:defRPr>
            </a:pPr>
            <a:r>
              <a:rPr sz="1050" b="1">
                <a:solidFill>
                  <a:srgbClr val="D7A746"/>
                </a:solidFill>
                <a:latin typeface="Calibri"/>
                <a:ea typeface="Calibri"/>
                <a:cs typeface="Calibri"/>
              </a:rPr>
              <a:t>NEXT IN THE STUDY SEQUENCE</a:t>
            </a:r>
          </a:p>
        </p:txBody>
      </p:sp>
      <p:sp>
        <p:nvSpPr>
          <p:cNvPr id="2" name="text-1">
            <a:extLst xmlns:a="http://schemas.openxmlformats.org/drawingml/2006/main">
              <a:ext uri="{FF2B5EF4-FFF2-40B4-BE49-F238E27FC236}">
                <a16:creationId xmlns:a16="http://schemas.microsoft.com/office/drawing/2014/main" id="{FE43D7FF-68F1-473C-89A0-15CB33910DA9}"/>
              </a:ext>
            </a:extLst>
          </p:cNvPr>
          <p:cNvSpPr>
            <a:spLocks xmlns:a="http://schemas.openxmlformats.org/drawingml/2006/main" noGrp="1"/>
          </p:cNvSpPr>
          <p:nvPr/>
        </p:nvSpPr>
        <p:spPr>
          <a:xfrm xmlns:a="http://schemas.openxmlformats.org/drawingml/2006/main">
            <a:off x="640080" y="1628775"/>
            <a:ext cx="7762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400" b="1">
                <a:solidFill>
                  <a:srgbClr val="FFFFFF"/>
                </a:solidFill>
                <a:latin typeface="Cambria"/>
                <a:ea typeface="Cambria"/>
                <a:cs typeface="Cambria"/>
              </a:defRPr>
            </a:pPr>
            <a:r>
              <a:rPr sz="4400" b="1">
                <a:solidFill>
                  <a:srgbClr val="FFFFFF"/>
                </a:solidFill>
                <a:latin typeface="Cambria"/>
                <a:ea typeface="Cambria"/>
                <a:cs typeface="Cambria"/>
              </a:rPr>
              <a:t>Living the values</a:t>
            </a:r>
          </a:p>
        </p:txBody>
      </p:sp>
      <p:sp>
        <p:nvSpPr>
          <p:cNvPr id="3" name="text-2">
            <a:extLst xmlns:a="http://schemas.openxmlformats.org/drawingml/2006/main">
              <a:ext uri="{FF2B5EF4-FFF2-40B4-BE49-F238E27FC236}">
                <a16:creationId xmlns:a16="http://schemas.microsoft.com/office/drawing/2014/main" id="{B45F55DB-EC85-4681-B85E-164A85DA15AC}"/>
              </a:ext>
            </a:extLst>
          </p:cNvPr>
          <p:cNvSpPr>
            <a:spLocks xmlns:a="http://schemas.openxmlformats.org/drawingml/2006/main" noGrp="1"/>
          </p:cNvSpPr>
          <p:nvPr/>
        </p:nvSpPr>
        <p:spPr>
          <a:xfrm xmlns:a="http://schemas.openxmlformats.org/drawingml/2006/main">
            <a:off x="640080" y="2562225"/>
            <a:ext cx="7524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0">
                <a:solidFill>
                  <a:srgbClr val="FFFFFF"/>
                </a:solidFill>
                <a:latin typeface="Calibri"/>
                <a:ea typeface="Calibri"/>
                <a:cs typeface="Calibri"/>
              </a:defRPr>
            </a:pPr>
            <a:r>
              <a:rPr sz="2100" b="0">
                <a:solidFill>
                  <a:srgbClr val="FFFFFF"/>
                </a:solidFill>
                <a:latin typeface="Calibri"/>
                <a:ea typeface="Calibri"/>
                <a:cs typeface="Calibri"/>
              </a:rPr>
              <a:t>How can family, education and society sustain understood value in everyday participation?</a:t>
            </a:r>
          </a:p>
        </p:txBody>
      </p:sp>
      <p:sp>
        <p:nvSpPr>
          <p:cNvPr id="4" name="text-3">
            <a:extLst xmlns:a="http://schemas.openxmlformats.org/drawingml/2006/main">
              <a:ext uri="{FF2B5EF4-FFF2-40B4-BE49-F238E27FC236}">
                <a16:creationId xmlns:a16="http://schemas.microsoft.com/office/drawing/2014/main" id="{4F7D0840-C727-499E-9A9C-EF131A1E551B}"/>
              </a:ext>
            </a:extLst>
          </p:cNvPr>
          <p:cNvSpPr>
            <a:spLocks xmlns:a="http://schemas.openxmlformats.org/drawingml/2006/main" noGrp="1"/>
          </p:cNvSpPr>
          <p:nvPr/>
        </p:nvSpPr>
        <p:spPr>
          <a:xfrm xmlns:a="http://schemas.openxmlformats.org/drawingml/2006/main">
            <a:off x="640080" y="38004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0">
                <a:solidFill>
                  <a:srgbClr val="E5E9F3"/>
                </a:solidFill>
                <a:latin typeface="Calibri"/>
                <a:ea typeface="Calibri"/>
                <a:cs typeface="Calibri"/>
              </a:defRPr>
            </a:pPr>
            <a:r>
              <a:rPr sz="1500" b="0">
                <a:solidFill>
                  <a:srgbClr val="E5E9F3"/>
                </a:solidFill>
                <a:latin typeface="Calibri"/>
                <a:ea typeface="Calibri"/>
                <a:cs typeface="Calibri"/>
              </a:rPr>
              <a:t>Next study</a:t>
            </a:r>
          </a:p>
          <a:p xmlns:a="http://schemas.openxmlformats.org/drawingml/2006/main">
            <a:pPr>
              <a:lnSpc>
                <a:spcPct val="110000"/>
              </a:lnSpc>
              <a:buNone/>
              <a:defRPr sz="1500" b="0">
                <a:solidFill>
                  <a:srgbClr val="E5E9F3"/>
                </a:solidFill>
                <a:latin typeface="Calibri"/>
                <a:ea typeface="Calibri"/>
                <a:cs typeface="Calibri"/>
              </a:defRPr>
            </a:pPr>
            <a:r>
              <a:rPr sz="1500" b="0">
                <a:solidFill>
                  <a:srgbClr val="E5E9F3"/>
                </a:solidFill>
                <a:latin typeface="Calibri"/>
                <a:ea typeface="Calibri"/>
                <a:cs typeface="Calibri"/>
              </a:rPr>
              <a:t>How Undivided Society Is Established</a:t>
            </a:r>
          </a:p>
        </p:txBody>
      </p:sp>
      <p:sp>
        <p:nvSpPr>
          <p:cNvPr id="5" name="text-4">
            <a:extLst xmlns:a="http://schemas.openxmlformats.org/drawingml/2006/main">
              <a:ext uri="{FF2B5EF4-FFF2-40B4-BE49-F238E27FC236}">
                <a16:creationId xmlns:a16="http://schemas.microsoft.com/office/drawing/2014/main" id="{92D9F71D-1798-4AEF-9ED3-BB64C798BF81}"/>
              </a:ext>
            </a:extLst>
          </p:cNvPr>
          <p:cNvSpPr>
            <a:spLocks xmlns:a="http://schemas.openxmlformats.org/drawingml/2006/main" noGrp="1"/>
          </p:cNvSpPr>
          <p:nvPr/>
        </p:nvSpPr>
        <p:spPr>
          <a:xfrm xmlns:a="http://schemas.openxmlformats.org/drawingml/2006/main">
            <a:off x="7743825" y="481012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E5E9F3"/>
                </a:solidFill>
                <a:latin typeface="Calibri"/>
                <a:ea typeface="Calibri"/>
                <a:cs typeface="Calibri"/>
              </a:defRPr>
            </a:pPr>
            <a:r>
              <a:rPr sz="950" b="0">
                <a:solidFill>
                  <a:srgbClr val="E5E9F3"/>
                </a:solidFill>
                <a:latin typeface="Calibri"/>
                <a:ea typeface="Calibri"/>
                <a:cs typeface="Calibri"/>
              </a:rPr>
              <a:t>55 / 57</a:t>
            </a:r>
          </a:p>
        </p:txBody>
      </p:sp>
    </p:spTree>
    <p:extLst>
      <p:ext uri="{BB962C8B-B14F-4D97-AF65-F5344CB8AC3E}">
        <p14:creationId xmlns:p14="http://schemas.microsoft.com/office/powerpoint/2010/main" val="134891412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1445B2E0-5D8C-4B70-8F7C-78817828C6F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REFERENCE · JEEVAN’S ACTIVITY POSITIONS</a:t>
            </a:r>
          </a:p>
        </p:txBody>
      </p:sp>
      <p:sp>
        <p:nvSpPr>
          <p:cNvPr id="2" name="text-1">
            <a:extLst xmlns:a="http://schemas.openxmlformats.org/drawingml/2006/main">
              <a:ext uri="{FF2B5EF4-FFF2-40B4-BE49-F238E27FC236}">
                <a16:creationId xmlns:a16="http://schemas.microsoft.com/office/drawing/2014/main" id="{6CBF3921-2C96-40EC-8F84-6999E1E7EF7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The larger activity enumeration</a:t>
            </a:r>
          </a:p>
        </p:txBody>
      </p:sp>
      <p:sp>
        <p:nvSpPr>
          <p:cNvPr id="3" name="text-2">
            <a:extLst xmlns:a="http://schemas.openxmlformats.org/drawingml/2006/main">
              <a:ext uri="{FF2B5EF4-FFF2-40B4-BE49-F238E27FC236}">
                <a16:creationId xmlns:a16="http://schemas.microsoft.com/office/drawing/2014/main" id="{948B4944-E82C-4049-AC95-FF28D4596016}"/>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D2CE3F-7590-4E7F-A4DB-F7B3EC3ECF9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56 / 57</a:t>
            </a:r>
          </a:p>
        </p:txBody>
      </p:sp>
      <p:sp>
        <p:nvSpPr>
          <p:cNvPr id="5" name="text-4">
            <a:extLst xmlns:a="http://schemas.openxmlformats.org/drawingml/2006/main">
              <a:ext uri="{FF2B5EF4-FFF2-40B4-BE49-F238E27FC236}">
                <a16:creationId xmlns:a16="http://schemas.microsoft.com/office/drawing/2014/main" id="{C1127F3F-499C-4AE3-8380-A959A23712B0}"/>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These are activity positions: neither 122 distinct value names nor 61 relationship-value pairs.</a:t>
            </a:r>
          </a:p>
        </p:txBody>
      </p:sp>
      <p:graphicFrame>
        <p:nvGraphicFramePr>
          <p:cNvPr id="14"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2952750"/>
                <a:gridCol w="2571750"/>
                <a:gridCol w="2095500"/>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Faculty</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Activity members</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Pairs</a:t>
                      </a:r>
                    </a:p>
                  </a:txBody>
                  <a:tcPr marL="85725" marR="85725" marT="28575" marB="28575" anchor="ctr">
                    <a:solidFill>
                      <a:srgbClr val="1E2447"/>
                    </a:solidFill>
                  </a:tcPr>
                </a:tc>
              </a:tr>
              <a:tr h="441325">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Atma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2</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1</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Buddhi</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4</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2</a:t>
                      </a:r>
                    </a:p>
                  </a:txBody>
                  <a:tcPr marL="85725" marR="85725" marT="28575" marB="28575" anchor="ctr">
                    <a:solidFill>
                      <a:srgbClr val="F1F3F8"/>
                    </a:solidFill>
                  </a:tcPr>
                </a:tc>
              </a:tr>
              <a:tr h="441325">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Chitta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16</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8</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Vritti</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36</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18</a:t>
                      </a:r>
                    </a:p>
                  </a:txBody>
                  <a:tcPr marL="85725" marR="85725" marT="28575" marB="28575" anchor="ctr">
                    <a:solidFill>
                      <a:srgbClr val="F1F3F8"/>
                    </a:solidFill>
                  </a:tcPr>
                </a:tc>
              </a:tr>
              <a:tr h="441325">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Mun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64</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32</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Total</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122</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538" b="0">
                          <a:solidFill>
                            <a:srgbClr val="303853"/>
                          </a:solidFill>
                          <a:latin typeface="Calibri"/>
                          <a:ea typeface="Calibri"/>
                          <a:cs typeface="Calibri"/>
                        </a:rPr>
                        <a:t>61</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123339321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45AB5510-741C-4ADE-BAC4-8CF1056AE9C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1">
                <a:solidFill>
                  <a:srgbClr val="9A6414"/>
                </a:solidFill>
                <a:latin typeface="Calibri"/>
                <a:ea typeface="Calibri"/>
                <a:cs typeface="Calibri"/>
              </a:defRPr>
            </a:pPr>
            <a:r>
              <a:rPr sz="1050" b="1">
                <a:solidFill>
                  <a:srgbClr val="9A6414"/>
                </a:solidFill>
                <a:latin typeface="Calibri"/>
                <a:ea typeface="Calibri"/>
                <a:cs typeface="Calibri"/>
              </a:rPr>
              <a:t>REFERENCE · FURTHER STUDY</a:t>
            </a:r>
          </a:p>
        </p:txBody>
      </p:sp>
      <p:sp>
        <p:nvSpPr>
          <p:cNvPr id="2" name="text-1">
            <a:extLst xmlns:a="http://schemas.openxmlformats.org/drawingml/2006/main">
              <a:ext uri="{FF2B5EF4-FFF2-40B4-BE49-F238E27FC236}">
                <a16:creationId xmlns:a16="http://schemas.microsoft.com/office/drawing/2014/main" id="{4F009D1C-85B4-4BE8-BC40-AA827A9782E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nSpc>
                <a:spcPct val="110000"/>
              </a:lnSpc>
              <a:buNone/>
              <a:defRPr sz="3000" b="1">
                <a:solidFill>
                  <a:srgbClr val="1E2447"/>
                </a:solidFill>
                <a:latin typeface="Cambria"/>
                <a:ea typeface="Cambria"/>
                <a:cs typeface="Cambria"/>
              </a:defRPr>
            </a:pPr>
            <a:r>
              <a:rPr sz="3000" b="1">
                <a:solidFill>
                  <a:srgbClr val="1E2447"/>
                </a:solidFill>
                <a:latin typeface="Cambria"/>
                <a:ea typeface="Cambria"/>
                <a:cs typeface="Cambria"/>
              </a:rPr>
              <a:t>Study and primary-text locators</a:t>
            </a:r>
          </a:p>
        </p:txBody>
      </p:sp>
      <p:sp>
        <p:nvSpPr>
          <p:cNvPr id="3" name="text-2">
            <a:extLst xmlns:a="http://schemas.openxmlformats.org/drawingml/2006/main">
              <a:ext uri="{FF2B5EF4-FFF2-40B4-BE49-F238E27FC236}">
                <a16:creationId xmlns:a16="http://schemas.microsoft.com/office/drawing/2014/main" id="{FCE7FE09-996F-42CC-93F1-E98A968A081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B3B1BC49-720D-43CE-AB0D-472C426F285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50" b="0">
                <a:solidFill>
                  <a:srgbClr val="626C85"/>
                </a:solidFill>
                <a:latin typeface="Calibri"/>
                <a:ea typeface="Calibri"/>
                <a:cs typeface="Calibri"/>
              </a:defRPr>
            </a:pPr>
            <a:r>
              <a:rPr sz="950" b="0">
                <a:solidFill>
                  <a:srgbClr val="626C85"/>
                </a:solidFill>
                <a:latin typeface="Calibri"/>
                <a:ea typeface="Calibri"/>
                <a:cs typeface="Calibri"/>
              </a:rPr>
              <a:t>57 / 57</a:t>
            </a:r>
          </a:p>
        </p:txBody>
      </p:sp>
      <p:sp>
        <p:nvSpPr>
          <p:cNvPr id="5" name="text-4">
            <a:extLst xmlns:a="http://schemas.openxmlformats.org/drawingml/2006/main">
              <a:ext uri="{FF2B5EF4-FFF2-40B4-BE49-F238E27FC236}">
                <a16:creationId xmlns:a16="http://schemas.microsoft.com/office/drawing/2014/main" id="{9A927C60-E31F-4C09-89D4-C39A7C087E65}"/>
              </a:ext>
            </a:extLst>
          </p:cNvPr>
          <p:cNvSpPr>
            <a:spLocks xmlns:a="http://schemas.openxmlformats.org/drawingml/2006/main" noGrp="1"/>
          </p:cNvSpPr>
          <p:nvPr/>
        </p:nvSpPr>
        <p:spPr>
          <a:xfrm xmlns:a="http://schemas.openxmlformats.org/drawingml/2006/main">
            <a:off x="960120" y="4438650"/>
            <a:ext cx="768096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i="1">
                <a:solidFill>
                  <a:srgbClr val="9A6414"/>
                </a:solidFill>
                <a:latin typeface="Calibri"/>
                <a:ea typeface="Calibri"/>
                <a:cs typeface="Calibri"/>
              </a:defRPr>
            </a:pPr>
            <a:r>
              <a:rPr sz="1200" b="0" i="1">
                <a:solidFill>
                  <a:srgbClr val="9A6414"/>
                </a:solidFill>
                <a:latin typeface="Calibri"/>
                <a:ea typeface="Calibri"/>
                <a:cs typeface="Calibri"/>
              </a:rPr>
              <a:t>All source editions and links: companion study, References and Editorial Notes</a:t>
            </a:r>
          </a:p>
        </p:txBody>
      </p:sp>
      <p:graphicFrame>
        <p:nvGraphicFramePr>
          <p:cNvPr id="22" name=""/>
          <p:cNvGraphicFramePr/>
          <p:nvPr/>
        </p:nvGraphicFramePr>
        <p:xfrm>
          <a:off xmlns:a="http://schemas.openxmlformats.org/drawingml/2006/main" x="960120" y="1285875"/>
          <a:ext xmlns:a="http://schemas.openxmlformats.org/drawingml/2006/main" cx="7620000" cy="3048000"/>
        </p:xfrm>
        <a:graphic xmlns:a="http://schemas.openxmlformats.org/drawingml/2006/main">
          <a:graphicData uri="http://schemas.openxmlformats.org/drawingml/2006/table">
            <a:tbl>
              <a:tblPr/>
              <a:tblGrid>
                <a:gridCol w="2238375"/>
                <a:gridCol w="5381625"/>
              </a:tblGrid>
              <a:tr h="400050">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Source</a:t>
                      </a:r>
                    </a:p>
                  </a:txBody>
                  <a:tcPr marL="85725" marR="85725" marT="28575" marB="28575" anchor="ctr">
                    <a:solidFill>
                      <a:srgbClr val="1E2447"/>
                    </a:solidFill>
                  </a:tcPr>
                </a:tc>
                <a:tc>
                  <a:txBody>
                    <a:bodyPr wrap="square" lIns="85725" tIns="28575" rIns="85725" bIns="28575">
                      <a:noAutofit/>
                    </a:bodyPr>
                    <a:lstStyle/>
                    <a:p>
                      <a:pPr>
                        <a:lnSpc>
                          <a:spcPct val="105000"/>
                        </a:lnSpc>
                        <a:buNone/>
                      </a:pPr>
                      <a:r>
                        <a:rPr sz="1425" b="1">
                          <a:solidFill>
                            <a:srgbClr val="FFFFFF"/>
                          </a:solidFill>
                          <a:latin typeface="Calibri"/>
                          <a:ea typeface="Calibri"/>
                          <a:cs typeface="Calibri"/>
                        </a:rPr>
                        <a:t>Where to continue</a:t>
                      </a:r>
                    </a:p>
                  </a:txBody>
                  <a:tcPr marL="85725" marR="85725" marT="28575" marB="28575" anchor="ctr">
                    <a:solidFill>
                      <a:srgbClr val="1E2447"/>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Companion study</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§1; Appendix A; Glossary; Editorial Notes; §7.</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MVD · Madhyasth Darshan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Essentiality pp. 47, 124–125; evaluation p. 203; values pp. 327–340.</a:t>
                      </a:r>
                    </a:p>
                  </a:txBody>
                  <a:tcPr marL="85725" marR="85725" marT="28575" marB="28575" anchor="ctr">
                    <a:solidFill>
                      <a:srgbClr val="F1F3F8"/>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JV · Jeevan Vidya</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Relationships p. 108; usefulness pp. 123, 137–138; harmonies p. 138.</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KD · Karm Darshan</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Faculty activities §3.8, p. 84; cumulative fulfilment §3.12, pp. 112–113.</a:t>
                      </a:r>
                    </a:p>
                  </a:txBody>
                  <a:tcPr marL="85725" marR="85725" marT="28575" marB="28575" anchor="ctr">
                    <a:solidFill>
                      <a:srgbClr val="F1F3F8"/>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MAD · Abhyas Darshan</a:t>
                      </a:r>
                    </a:p>
                  </a:txBody>
                  <a:tcPr marL="85725" marR="85725" marT="28575" marB="28575" anchor="ctr">
                    <a:solidFill>
                      <a:srgbClr val="FFFFFF"/>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Pairs p. 30; dedication p. 34; reception p. 45; time p. 51 (reader).</a:t>
                      </a:r>
                    </a:p>
                  </a:txBody>
                  <a:tcPr marL="85725" marR="85725" marT="28575" marB="28575" anchor="ctr">
                    <a:solidFill>
                      <a:srgbClr val="FFFFFF"/>
                    </a:solidFill>
                  </a:tcPr>
                </a:tc>
              </a:tr>
              <a:tr h="441325">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SB and AVD</a:t>
                      </a:r>
                    </a:p>
                  </a:txBody>
                  <a:tcPr marL="85725" marR="85725" marT="28575" marB="28575" anchor="ctr">
                    <a:solidFill>
                      <a:srgbClr val="F1F3F8"/>
                    </a:solidFill>
                  </a:tcPr>
                </a:tc>
                <a:tc>
                  <a:txBody>
                    <a:bodyPr wrap="square" lIns="85725" tIns="28575" rIns="85725" bIns="28575">
                      <a:noAutofit/>
                    </a:bodyPr>
                    <a:lstStyle/>
                    <a:p>
                      <a:pPr>
                        <a:lnSpc>
                          <a:spcPct val="105000"/>
                        </a:lnSpc>
                        <a:buNone/>
                      </a:pPr>
                      <a:r>
                        <a:rPr sz="1425" b="0">
                          <a:solidFill>
                            <a:srgbClr val="303853"/>
                          </a:solidFill>
                          <a:latin typeface="Calibri"/>
                          <a:ea typeface="Calibri"/>
                          <a:cs typeface="Calibri"/>
                        </a:rPr>
                        <a:t>SB: activity and four orders. AVD: fuller faculty pairings.</a:t>
                      </a:r>
                    </a:p>
                  </a:txBody>
                  <a:tcPr marL="85725" marR="85725" marT="28575" marB="28575" anchor="ctr">
                    <a:solidFill>
                      <a:srgbClr val="F1F3F8"/>
                    </a:solidFill>
                  </a:tcPr>
                </a:tc>
              </a:tr>
            </a:tbl>
          </a:graphicData>
        </a:graphic>
      </p:graphicFrame>
    </p:spTree>
    <p:extLst>
      <p:ext uri="{BB962C8B-B14F-4D97-AF65-F5344CB8AC3E}">
        <p14:creationId xmlns:p14="http://schemas.microsoft.com/office/powerpoint/2010/main" val="5500077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2026-09-07T01:11:04.5890000Z</dcterms:created>
  <dcterms:modified xsi:type="dcterms:W3CDTF">2026-09-07T01:11:04.5890000Z</dcterms:modified>
</coreProperties>
</file>