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3" r:id="rId25"/>
    <p:sldId id="272" r:id="rId24"/>
    <p:sldId id="274" r:id="rId26"/>
    <p:sldId id="275" r:id="rId27"/>
    <p:sldId id="276" r:id="rId28"/>
    <p:sldId id="277" r:id="rId29"/>
    <p:sldId id="278" r:id="rId30"/>
    <p:sldId id="279" r:id="rId31"/>
    <p:sldId id="280" r:id="rId32"/>
    <p:sldId id="281" r:id="rId33"/>
    <p:sldId id="287" r:id="rId39"/>
    <p:sldId id="288" r:id="rId40"/>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7.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27.xml"/><Relationship Id="rId40"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presents the study Prosperity Economics and Right Use. It asks a question that ordinary economics rarely asks: why do human economies, unlike every other order of nature, fail to reach balance? And what would an economy look like that gives human labour its true value, judged by the usefulness it establishes, rather than by scarcity, accumulation and price?</a:t>
            </a:r>
          </a:p>
          <a:p/>
          <a:p>
            <a:r>
              <a:t>The study's principal source is Avartansheel Arthshastra, Shri A. Nagraj's treatise on cyclical economics, read through the project's working English translation. It draws as well on Madhyasth Darshan, Jeevan Vidya, Samadhanatmak Bhautikvad, Karm Darshan, Janvad and Adhyatmvad, and it compares the darshan's account with classical, Marxian, marginalist, institutional, ecological and Gandhian economics, with Indian and Advaita teaching on desire, and with the sciences of satiation and natural limits.</a:t>
            </a:r>
          </a:p>
          <a:p/>
          <a:p>
            <a:r>
              <a:t>The deck follows the study in five parts: balance in nature and in the body; the source of insatiability and the genealogy of money and profit; cyclical economics; comparison with economic traditions and the sciences; and why intelligent systems and multi-level AI agents across the ten-tier order are needed to accelerate transition and keep the cycle in balance, while leaving normative judgement to people.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opens with a contrast. A forest, a herd or a field left to itself settles into a definite balance with its surroundings. Soil feeds plants, plants return to soil, and animals take what their bodies need and then stop. The human body belongs to the same nature: its needs for food, shelter and protection are definite and can be counted.</a:t>
            </a:r>
          </a:p>
          <a:p/>
          <a:p>
            <a:r>
              <a:t>Human economies nevertheless behave differently. They extract more each generation, accumulate wealth that no one can use, and treat a continuing rise in consumption as the measure of success. Mainstream economics takes this imbalance as its starting point: wants are assumed to be unlimited and means scarce, so economic life becomes the permanent allocation of what is never enough.</a:t>
            </a:r>
          </a:p>
          <a:p/>
          <a:p>
            <a:r>
              <a:t>The darshan locates the problem elsewhere, and from that diagnosis asks a constructive question. What would an economy look like that gives human labour its true value, judged by the usefulness labour establishes for human living and for the wider order of nature, rather than by scarcity, accumulation and price?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argument has four steps, and the deck follows them in order.</a:t>
            </a:r>
          </a:p>
          <a:p/>
          <a:p>
            <a:r>
              <a:t>First, the body's needs are definite, so the body by itself could come to balance with the rest of nature like any other organism. Second, human want is not definite. The darshan explains why: jeevan, the conscious unit, seeks continuity of happiness, and in delusion it reads its own dissatisfaction as a shortage of objects. Third, cyclical economics closes the cycle at the points where it now runs open: need assessed in the family, labour applied to natural abundance, goods produced for use, right use and purposeful use, exchange at the value of labour, and production kept within nature's regeneration. Fourth, passive databases and networks alone cannot establish or run such an order; intelligent systems and AI agents paired with individuals, families, committees and councils across all ten tiers can accelerate transition and keep the cycle in balance, while the judgements of justice, dharma and truth stay with people.</a:t>
            </a:r>
          </a:p>
          <a:p/>
          <a:p>
            <a:r>
              <a:t>Content without a tag presents the primary texts. Small tags mark the study's own proposals and applications, and comparisons with other traditions and the sciences.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Madhyasth Darshan describes nature as four orders: material, plant, animal and the knowledge order, which is the human. Each maintains definite conduct. The material order keeps it through the conformance of its constitution and results; plants reproduce their kind through seed conformance; animals live within the conduct of their species. Every unit of nature except the human exhibits definite conduct, and the human reaches definite conduct only through sanskar, the acceptances formed by understanding (JV pp. 47–48; AA pp. 54–55).</a:t>
            </a:r>
          </a:p>
          <a:p/>
          <a:p>
            <a:r>
              <a:t>Each order is also balanced in its existent state. The material order has the innateness of existence, the plant order of existence and growth, the animal order of existence, growth and the hope of living. The knowledge order is balanced only when it evidences resolution, prosperity, fearlessness and coexistence (MVD p. 105).</a:t>
            </a:r>
          </a:p>
          <a:p/>
          <a:p>
            <a:r>
              <a:t>The conclusion is stark. Whatever unit causes disorder in existence is the deluded human being alone (AA p. 41). And prosperity is first a property of the earth itself, which became rich before any human labour touched it (AA pp. 77–78).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body is a chemical and physical formation, and its needs are of two kinds. Common aspirations are food, shelter and adornment; special aspirations are telephony, broadcasting and transport (AA pp. 26, 73, 93). Both are needs for objects, and objects have definite properties. Grain can be stored for a few years and then rots; a machine left unused rusts; what is produced is for use (JV p. 152). The accumulation of material objects is not feasible, because their use or transformation is inevitable (MVD p. 183). Even prosperity is a temporal need that ends with the body (MVD p. 96).</a:t>
            </a:r>
          </a:p>
          <a:p/>
          <a:p>
            <a:r>
              <a:t>Karm Darshan states the limit precisely. We can know more than we can desire, desire more than we can do, and do more than we can consume, and the limit of consuming is the body alone. Whatever we produce, however much, we cannot consume that much, which is why production beyond necessity is possible (KD p. 114). A person who understands this produces more and consumes less, with little waste (MVD p. 282).</a:t>
            </a:r>
          </a:p>
          <a:p/>
          <a:p>
            <a:r>
              <a:t>For a village of a hundred families, the quantity and quality of food, shelter, adornment and medicine become definite (AA p. 26). The body's balance is not an ideal imposed from outside.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being is a joint form of body and jeevan. Every human being carries out all activities in the hope and expectation of happiness, peace, contentment and bliss. This expectation is the human’s innateness, present in every person (AA p. 13). Contentment is accepted by every human being and discontent by none (AA p. 48).</a:t>
            </a:r>
          </a:p>
          <a:p/>
          <a:p>
            <a:r>
              <a:t>Jeevan has ten activities, borne by five faculties: mun, with selection and taste; vritti, with analysis and deliberation; chitta, with visualisation and contemplation; buddhi, with resolve and enlightenment; and atma, with authenticity and realisation (AA p. 50; JV pp. 72–73). Here mun names the specific faculty of selection and taste, whereas in the triad “body, mind, and wealth” the word “mind” refers to the jeevan powers as a whole (AA pp. 59, 62). The four jeevan values name harmony between adjacent faculties: happiness between mun and vritti, peace between vritti and chitta, contentment between chitta and buddhi, and bliss between buddhi and atma (AA pp. 20–21, 92; JV p. 137). Happiness in this sense is not a sensation; it is a state of the whole conscious unit.</a:t>
            </a:r>
          </a:p>
          <a:p/>
          <a:p>
            <a:r>
              <a:t>Deliberation (tulan, in vritti) is the pivot on which this harmony turns. Deliberation in terms of pleasure, health, and profit can never reach universal agreement between two human beings, since these perspectives are rooted in the body, and no two bodies are the same (JV pp. 72–73; AA pp. 58–60). In delusion, justice, dharma, and truth are interpreted in terms of pleasure, health, and profit, and there is no universal agreement on these aspects either (AA pp. 18, 59–60). This is the reason there is no balance in human living, including in economics. In awakening, the evaluation perspectives of justice, dharma, and truth are based on understanding and realisation in coexistence, wherein there is universal agreement (AA pp. 19–20, 58–60; MVD p. 203). This is the basis of balance in awakened human living, including in economics.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delusion, only four and a half of the ten activities are effective: selection, taste, analysis, visualisation, and half of deliberation. Taste and selection operate by what is pleasant to the senses; deliberation operates from the perspectives of pleasure, health and profit, priya, hit and labh; and the person lives identified with bodily sensation. The remaining activities lack the substance of understanding, and the result is continuous internal conflict within jeevan (JV pp. 72–73).</a:t>
            </a:r>
          </a:p>
          <a:p/>
          <a:p>
            <a:r>
              <a:t>Avartansheel Arthshastra draws a consequence that bears directly on economics. Selection and tasting form a cycle of their own: after selecting comes tasting, and after tasting the activity of selection arises again. However often the cycle runs, the arising of selection and tasting remains as it was, ready to be done again, because the powers of jeevan are inexhaustible (AA pp. 17–18).</a:t>
            </a:r>
          </a:p>
          <a:p/>
          <a:p>
            <a:r>
              <a:t>The treatise adds that deliberation by pleasure, health and profit has been pushed to decisive conclusions in human tradition, while deliberation by justice, dharma and truth is still under review, its decisive point not yet settled (AA p. 18). We return to that observation when we come to artificial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awakened alternative is not the suppression of taste. It is its regulation. The treatise states the order of that regulation precisely. In awakened jeevan, every tasting is balanced and regulated on the touchstone of deliberation, every deliberation on the touchstone of contemplation, all contemplation on the touchstone of enlightenment, all enlightenment on the touchstone of realisation, and all realisation on the touchstone of coexistence. This chain is the darshan's formula of self-regulation and balance in every individual (AA p. 95).</a:t>
            </a:r>
          </a:p>
          <a:p/>
          <a:p>
            <a:r>
              <a:t>The study draws the economic meaning. Insatiability is what selection and tasting become when that chain is missing: an inexhaustible activity with no higher activity to give it measure. Taste itself is not the problem. The problem is taste that answers to nothing above it.</a:t>
            </a:r>
          </a:p>
          <a:p/>
          <a:p>
            <a:r>
              <a:t>This is why the darshan does not ask people to renounce enjoyment or wealth. It asks for the understanding that lets the higher faculties give enjoyment and wealth their measure.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Decisions based on sensitivity have temporary validity. Eating feels good, but no one can keep eating; sleeping feels good, but no one can keep sleeping. Jeevan Vidya reads this not as a defect but as a provision: the transient nature of sensitivity is an alarm, an inspiration and a direction for awakening (JV pp. 162–163).</a:t>
            </a:r>
          </a:p>
          <a:p/>
          <a:p>
            <a:r>
              <a:t>Whatever indulgence a person carries out through the five senses cannot have continuity, so discontent remains in the reflection that follows (AA p. 48). Temptation towards accumulation and indulgence brings relief for a moment, and afterwards fear and suspicion pervade more than relief (AA p. 33). Pleasure, health and profit are the sources of dissatisfaction; justice, dharma and truth are the sources of satisfaction (AA pp. 58–59).</a:t>
            </a:r>
          </a:p>
          <a:p/>
          <a:p>
            <a:r>
              <a:t>Put together, these passages give the diagnosis. The deluded person reads the discontent that follows every sensory satisfaction, and the conflict of faculties without content, as a shortage of objects, and seeks more of what has just failed to satisfy. The satiation point moves ahead like a mirage (AA p. 78). Duties can be fulfilled because they are definite; needs pursued as indulgence cannot, because they are indefinite and unlimited (MVD p. 128). The study names this a category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texts name the lesson that turns this error into economic doctrine. People stray when they are taught that necessities are infinite and means limited, so that necessity can be met only through struggle. That lesson directs attention to accumulation and comfort, neither of which has a point of satisfaction, and leads to the assumption that necessity itself is infinite (KD p. 115).</a:t>
            </a:r>
          </a:p>
          <a:p/>
          <a:p>
            <a:r>
              <a:t>Release from it needs clear evidence: that each family's necessity is limited, that the possibility of fulfilling it is greater, that the powers of jeevan are inexhaustible, and that the body's necessity is limited (KD p. 115). Profit, which has no point of satisfaction, has no definite measure, and so it cannot be universal (SB p. 234).</a:t>
            </a:r>
          </a:p>
          <a:p/>
          <a:p>
            <a:r>
              <a:t>The comparison is direct. Lionel Robbins gave modern economics its standard definition: the study of human behaviour as a relationship between ends and scarce means which have alternative uses. Economists often present non-satiation as a modelling assumption. The darshan treats the premise itself as the error: nature is abundant, bodily needs are definite, and scarcity appears where indefinite want, or a deliberate withholding of goods, meets finite means.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treatise traces how exchange left usefulness behind. Early humans recognised natural resources, shared within the family, and bartered between communities. Seats of state and religion then imposed taxation to sustain non-producing rulers and retainers, and moved exchange from barter to metal coins and finally to paper currency. In that transition, neither unrestrained market economics nor state-regulated economics freed society from exploitation (AA pp. 1–8). Profit means giving less and getting more, and Madhyasth Darshan defines it against labour: seeking more worth than the labour performed (MVD pp. 57, 66).</a:t>
            </a:r>
          </a:p>
          <a:p/>
          <a:p>
            <a:r>
              <a:t>Accumulation settles on money because money escapes the decay that governs real goods. Metal became the symbol of objects and paper the symbol of metal (AA pp. 5–6, 52). Paper currency carries three allurements: it is easily carried from place to place, easily hidden, and easily received and paid (AA p. 45). Once currency becomes the measure of standing, trade expands into seven kinds: strength, learning, knowledge, position, beauty, objects, and deceptive speech are all bought and sold (AA pp. 45–46).</a:t>
            </a:r>
          </a:p>
          <a:p/>
          <a:p>
            <a:r>
              <a:t>Artificial scarcity becomes a principal technique for profit, and because accumulation has no satiation point on a limited earth, it cannot be accessible to all (AA p. 52). Those who produce cannot accumulate, and those who accumulate become slack in production (AA pp. 7, 75).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produces the ecological crisis. Coal and mineral oil needed to remain in the earth for its balance; extracting and burning them produced pollution, rising heat, a damaged protective layer in the upper atmosphere and rising seas (AA pp. 30–31; KD §3.7). Chemical fertilisers increased quantity while the concentration of nutrition in grain declined and soils were driven towards excess acidity or alkalinity (AA p. 70). Mechanised and input-dependent agriculture replaced autonomy with dependence in seed, manure, ploughing and threshing (AA p. 71). Pollution policy, in the treatise's assessment, does not ask how to stop pollution but how much of it people can live in (AA p. 74).</a:t>
            </a:r>
          </a:p>
          <a:p/>
          <a:p>
            <a:r>
              <a:t>The whole form of exploitation is the exploitation of the earth, and the human being is both exploited and exploiter (AA p. 82).</a:t>
            </a:r>
          </a:p>
          <a:p/>
          <a:p>
            <a:r>
              <a:t>Note what the treatise does not say. The only production it names as opposed in itself to a coexistential economy is the manufacture of war materials; machine production as such is not contrary to economics (AA p. 47). The objection is to the purpose and the evaluation that direct production, not to technique.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Cyclical economics is the right use, security and prosperity of resources, artha, in the form of body, mind and wealth (AA p. 25). The means of a human being are only body, mind and wealth (MVD p. 243). In doing so, the five powers of jeevan project into human living through bodily skill and proficiency, and reflect back in mutual evaluation across family and society (AA pp. 18–19, 48–50). Labour applied with skill and proficiency to natural abundance produces objects that carry usefulness value and aesthetic value. These objects are wealth, dhan. Wealth is only the produced object, not money (AA pp. 25, 105).</a:t>
            </a:r>
          </a:p>
          <a:p/>
          <a:p>
            <a:r>
              <a:t>This changes what counts as capital. All production is the outcome of human labour applied to natural abundance, so the primary wealth is the labour power inherent in human beings, and this primary capital is always the person's own (AA p. 73). Earning wealth is the definite measure of usefulness and aesthetic value realised from natural abundance through the planned deployment of labour (MVD p. 56). Because the powers of jeevan are inexhaustible, every human being can produce more than immediate necessity; Samadhanatmak Bhautikvad calls this the foundational principle of human prosperity (SB p. 268). Janvad proposes that public dialogue on the economy begin from this recognition (JVD p. 215).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treatise gives cyclicality a wide sense before it gives it an economic one. Complementarity itself is the meaning of cyclicality, and cyclicality is mutual sustenance: particles sustain one another as atoms, atoms as molecules, molecules as formations, and the orders of nature as one another's support (AA p. 42).</a:t>
            </a:r>
          </a:p>
          <a:p/>
          <a:p>
            <a:r>
              <a:t>It can be seen at many scales. Seed becomes tree and tree becomes seed. Relationship grounds value, value grounds evaluation, and evaluation returns to relationship. The individual's complementarity is linked into the family and the family's into the individual, and the same holds between family and village. Production through labour, valuation by the value of labour, and exchange on that basis together form a cycle, and so do the four orders (AA p. 15). Water evaporates, gathers as cloud, falls as rain and runs back to the sea; plants decompose and make the earth fertile for further plants (AA pp. 34–35; MVD p. 152).</a:t>
            </a:r>
          </a:p>
          <a:p/>
          <a:p>
            <a:r>
              <a:t>Two features matter for economics. A cycle returns: whatever is drawn out is restored to the conditions of the next round. And a cycle is purposive: it is linked in the sense of prosperity, so its return is the fulfilment of a goal, not mere repetition. The treatise's own definition is a compressed sentence; the study records its reading in the Editorial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Applied to provision, the cycle has a definite sequence. A need for production arises. A mentality fitted to that need, endowed with skill, proficiency and scholarliness, forms. Through a healthy body, labour establishes usefulness value and aesthetic value in objects drawn from natural abundance. The objects are rightly used according to their usefulness, the need is supplied, and the remainder is exchanged (AA p. 106).</a:t>
            </a:r>
          </a:p>
          <a:p/>
          <a:p>
            <a:r>
              <a:t>Jeevan Vidya states the same cycle as a renewal of capacity: "We deploy our resources in the form of body, mind, and wealth on natural abundance for production, and the produced goods become the basis of nourishment and protection of our body and social participation. We again become capable of producing on the basis of this social participation, nourishment, and protection. In this way, it is cyclical" (JV p. 154).</a:t>
            </a:r>
          </a:p>
          <a:p/>
          <a:p>
            <a:r>
              <a:t>The cycle runs through the joint form itself: the mind operates the body, mind and body together manifest object values, and object values are useful to the body and satisfying to jeevan (AA p. 26). Tools made by one generation serve the next, so each generation can offer the next means in excess of need; the means of production increase and the time required decreases (AA pp. 106, 118). The cycle grows richer without growing larger in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cycle closes only where need is definite, and the darshan locates that definiteness in the family. A family is a limited number of autonomous people, at least ten, living together with justice: recognising their relationships, fulfilling the values in them, evaluating, reaching mutual satisfaction, and complementary to one another in the family's production (AA pp. 14, 65). Needs are ascertained at the level of the family, not the individual (JV p. 153). In a humane family, needs become limited because use, right use and purposeful use become definite, and production in excess of need is therefore possible in every family (AA p. 26). In a wise family, two to four members may produce beyond the whole family's necessity (KD p. 115).</a:t>
            </a:r>
          </a:p>
          <a:p/>
          <a:p>
            <a:r>
              <a:t>Prosperity follows directly. The lack of the sentiment of lacking is prosperity, and production in excess of needs is prosperity (MVD p. 71). Its basis is the sum of objects produced in excess of need, together with their right use and security (AA p. 113). Prosperity cannot be private: for one family to be prosperous, more than one family must be (AA pp. 62–63).</a:t>
            </a:r>
          </a:p>
          <a:p/>
          <a:p>
            <a:r>
              <a:t>The treatise also identifies a satiation point within exchange. Production is the remuneration of labour, and after exchange the remuneration remains just as much as was produced. In the utilisation of labour there is neither profit nor loss (AA p. 76).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in Madhyasth Darshan is not price. The value of a unit is its participation in the orderliness of the whole: what its activity fulfils in relation to others. For produced things this participation is usefulness, what food, shelter, a tool or a vehicle fulfils in nourishing and protecting the body and in social participation. The collection's study of axiology develops this account. Human labour is the joint deployment of mind (manas, the jeevan powers) and body that establishes usefulness and beauty upon natural abundance (AA p. 143). The value of an object is determined in a chain: labour-based object, object-based usefulness, usefulness-based valuation (AA p. 49). Evaluation can be made only of labour, not of symbolic objects (AA p. 112).</a:t>
            </a:r>
          </a:p>
          <a:p/>
          <a:p>
            <a:r>
              <a:t>For exchange between families and villages, the treatise evaluates labour by the total combination of five factors: skill (kushalata), proficiency (nipunata), speed of work (karya-gati), time (samay) and means (sadhan), together with scholarliness (panditya) (AA pp. 119, 145). Wheat sown under various circumstances yields various quantities, and the midpoint gives a common value for the labour of producing wheat (AA p. 66). Inside the ten-member family, by contrast, individual contributions and dependency ratios are not weighed: the goal is the product and mutual fulfilment, not more or less labour (AA pp. 119–120).</a:t>
            </a:r>
          </a:p>
          <a:p/>
          <a:p>
            <a:r>
              <a:t>The darshan's state policy makes the point explicit: respect and honour according to capacity, ability and receptivity, and a policy that prevents the exploitation of the fruits of labour (MVD pp. 265–268).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objects can be valued in exchange, the treatise defines the three levels at which resources serve human purposes: use, right use and purposeful use. Use is the utilisation of body, mind and wealth in the nourishment and protection of the body and in social participation. Right use is their utilisation in orderliness and in the motion of undivided society. Purposeful use is their utilisation in evidencing, from generation to generation, knowledge of coexistence, of jeevan, and of humane conduct (AA pp. 72, 94; MVD p. 56). In scale, production is used within the family, rightly used in society, and put to purpose in the universal order (KD p. 116). The treatise pairs use with justice, right use with resolution, and purposeful use with authenticity (AA p. 116).</a:t>
            </a:r>
          </a:p>
          <a:p/>
          <a:p>
            <a:r>
              <a:t>This places economics within the darshan's hierarchy of thirty values across five categories: two object values (usefulness and artistic value), nine civic values, nine established values, one human value (steadfastness, courage, generosity, kindness, grace and compassion), and four jeevan values (happiness, peace, contentment and bliss), alongside five obligatory allegiances (AA pp. 20–24, 92).</a:t>
            </a:r>
          </a:p>
          <a:p/>
          <a:p>
            <a:r>
              <a:t>Karm Darshan ranks wealth by the same logic: wealth placed in the service of liberation, dharma or the fulfilment of desire ranks high; higher purposes made to serve wealth rank low (KD p.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ethics of the economy are stated in terms of character. Humane character consists of righteous wealth, marital faithfulness, and kindness in work and behaviour (AA p. 54). Righteous wealth, svadhan, is wealth received as the remuneration of one's own labour, as a gift, or as an award for a special display of art, technique or scholarship (AA p. 140; AVD p. 170). Its opposite, ill-gotten wealth obtained through exploitation and hypocrisy, is counted as crime (MVD pp. 59, 263), and moral accountability extends across doing, commissioning and consenting in body, speech and mind (KD pp. 1–2, 117; SB pp. 207, 258).</a:t>
            </a:r>
          </a:p>
          <a:p/>
          <a:p>
            <a:r>
              <a:t>The darshan distinguishes animal instincts from the three humane motives: progeny (putreshana), wealth (vitteshana), and public welfare or reputation (lokeshana), with public welfare highest (MVD pp. 318, 320). It also contrasts five kinds of human living: servile, voluptuary and glorious humans driven by sensory interest, the virtuous human on the path of awakening, and the capable human living by values (AA pp. 101–102).</a:t>
            </a:r>
          </a:p>
          <a:p/>
          <a:p>
            <a:r>
              <a:t>Within the family goods are shared; between families they are exchanged (AA p. 1). Those who cannot produce are cared for through kindness, and surplus flows into generosity and benevolence (MVD p. 339; KD p. 116).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provision cycle is nested within the cycles of nature, and the treatise draws a sharp line between production (utpadan) and extraction (paddat-prapti). Production is inherently cyclical and leaves natural equilibrium undisturbed; drawing coal and mineral oil from the earth is mere extraction, not production (AA p. 78). Natural assets, minerals and vegetation, are to be used in proportion to their regeneration; their production is not to be obstructed; and human beings are to become helpful in it. Without keeping nature prosperous, the human being cannot be prosperous (AA pp. 142, 146; KD p. 7).</a:t>
            </a:r>
          </a:p>
          <a:p/>
          <a:p>
            <a:r>
              <a:t>Madhyasth Darshan sets out the same rule as lawful and unlawful conduct: spending minerals and forests in proportion to regeneration and maintaining circularity are lawful; spending beyond regeneration and exploiting non-renewables are not (MVD p. 263).</a:t>
            </a:r>
          </a:p>
          <a:p/>
          <a:p>
            <a:r>
              <a:t>Flowing and falling water, wind, solar heat, biogas from dung and refuse, and vegetable oil from roadside trees provide cyclical, pollution-free energy (AA pp. 31–33, 106–107). Determining the land of a village also determines how many families it can support with prosperity (AA p. 92).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cyclical economy, every villager is trained across multiple occupations, planned jointly by the education, production and exchange-reserve committees, so that no one suffers occupational fear (AA pp. 64–65, 131). Under “Security of production” (AA p. 144), when a producer or researcher develops an original tool, procedure, method or formula (maulikta) not previously in the tradition, four village committees record its drawings and formulas in writing and honour the inventor with prizes and awards (puraskar), which count as righteous wealth (svadhan, AA p. 140). Research and dissemination remain inseparable: just as one grain multiplies into hundreds only when sown in the field, knowledge and skill reach fruition through open dissemination, not through patent monopolies that sell research while concealing the method (AA pp. 56–58; JV pp. 88–89).</a:t>
            </a:r>
          </a:p>
          <a:p/>
          <a:p>
            <a:r>
              <a:t>Machine production is not contrary to economics (AA p. 47), but technique multiplies the speed of whatever humans do, problems included (SB p. 267). Preoccupation with full automation and centralised industry, resting on capital and bought labour power, displaced producers and replaced a working mindset with a managing mindset (AA p. 107; JVD p. 35).</a:t>
            </a:r>
          </a:p>
          <a:p/>
          <a:p>
            <a:r>
              <a:t>Against this, every person is to be engaged in production according to capacity, receptivity and ability (MVD p. 265). Once an improved tool is disseminated across society, the unit labour value of the product falls and the means of production increase while the time production takes decreases across generations, keeping every member of every family a producer (AA pp. 118, 145; JVD p. 216).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Economics in isolation has no definition or standing (AA p. 117). Self-governance rests on authority (the strength of understanding), identity (evidencing it in living), and independence (unconstrained participation in family and universal orderliness; AA pp. 104–105). The five dimensions link education-sanskar to understanding, health-restraint to balanced expression, justice-security to honesty, production to prosperity, and exchange-reserve to balance (AA p. 112).</a:t>
            </a:r>
          </a:p>
          <a:p/>
          <a:p>
            <a:r>
              <a:t>Ten families form a family cluster, ten clusters a hundred-family village with nine branches of production (agriculture, go-shala, forestry, cottage crafts and related work; AA pp. 133–136), and ten tiers reach the world family council. Representatives are selected by mutual recognition with zero election expenditure and serve part-time while continuing production, keeping at least eighty percent of society prosperous in production and twenty percent in coordination (AA pp. 27–30, 110, 127; MVD p. 259).</a:t>
            </a:r>
          </a:p>
          <a:p/>
          <a:p>
            <a:r>
              <a:t>Moral policy is the right use of resources, economic policy is production beyond family need, and state policy is protection across the six securities, with moral policy primary (KD pp. 14, 67; MVD pp. 264–271).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treatise does not assume that the money economy disappears at once. Its plan for a village begins with a detailed survey: population, education, occupations, land, water, crops, livestock, crafts, shops, storage, health, and the state of justice in production and in exchange (AA pp. 122–125).</a:t>
            </a:r>
          </a:p>
          <a:p/>
          <a:p>
            <a:r>
              <a:t>Exchange is then conducted through an autonomous cooperative exchange-reserve working without profit and loss. Members hold accounts, sell what they produce in excess of need, and buy what they need. At first, values follow the nearby market rate less transport; any incidental gain goes to the village's common facilities; members without funds receive interest-free loans repaid in produce; and a nationalised cooperative bank stands as guarantor (AA pp. 136–138).</a:t>
            </a:r>
          </a:p>
          <a:p/>
          <a:p>
            <a:r>
              <a:t>Justice in exchange is reached in three stages. First, the value of labour is evaluated through the prevailing currency. Second, the currency itself is evaluated on the basis of labour. Third, objects are valued on the value of labour alone, and exchange proceeds free of profit, loss and accumulation (AA pp. 142–143). Nagraj records that he lived with prosperity through his own production within the present system (AVD p. 52; JV pp. 153–154), and Janvad puts the choice to families as a question for public dialogue (JVD pp. 217–218).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traditions disagree most sharply on the source of insatiable want and how labour and need are valued. Since Jevons, Menger and Walras (1871), marginalist and neoclassical theory abandoned classical labour value for subjective marginal utility and took non-satiation and scarcity as given (Robbins 1932). Aristotle and Marx located limitlessness in money-making and the circuit of capital; in the Critique of the Gotha Programme (1875), Marx separated post-capitalist distribution into a first stage of labour-time certificates and a distant stage of need-based sharing, whereas the darshan pairs family need-sharing with inter-family labour-value exchange simultaneously (AA pp. 1, 119–120).</a:t>
            </a:r>
          </a:p>
          <a:p/>
          <a:p>
            <a:r>
              <a:t>Keynes, Veblen and Hirsch located insatiability in relative and positional goods; Polanyi (1944) showed how treating land, labour and money as fictitious commodities disembeds the economy from society; ecological economists point to debt and throughput limits; Kumarappa and Schumacher ground permanence in village production and moral restraint; and Advaita traces desire to ignorance of the Self.</a:t>
            </a:r>
          </a:p>
          <a:p/>
          <a:p>
            <a:r>
              <a:t>The darshan places the root in the joint form: a jeevan whose unexpressed higher activities read their discontent as a shortage of objects. Only the darshan, Gandhian economics and in part Keynes make the definiteness of need a structural condition of the economy.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lessons from economic theory bear directly on cyclical economics.</a:t>
            </a:r>
          </a:p>
          <a:p/>
          <a:p>
            <a:r>
              <a:t>First, coordination beyond the village needs active information processing: Hayek showed that market prices compress dispersed knowledge, so a non-price system must supply that coordination in another way. Second, prosperity and production security must be measured through national accounts, input–output tables, material-flow accounting and life-cycle assessment. Third, Elinor Ostrom's polycentric commons governance and Karl Polanyi's analysis of embeddedness and fictitious commodities show how land, labour and credit are kept within social bounds. Fourth, the need and capability frameworks of Max-Neef, Doyal and Gough, and Amartya Sen sharpen the family's assessment of need against adaptive preference. Fifth, modern money is credit created by commercial banks at interest (BoE 2014), while mutual-credit clearing networks such as Switzerland's WIR (Stodder 2009) demonstrate interest-free ledger clearing of the kind used by the village exchange-reserve. Sixth, Leontief's input–output analysis, Cockshott and Cottrell's labour-time calculation, and Ricardo's theory of differential rent (1817) show how embodied labour, capital depreciation, and unequal soil or mineral fertility can be separated and computed.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 joins two kinds of order in one sequence. Knowledge is law, law is regulation, and regulation is balance; balanced living is justice in humans; living within universal orderliness with justice is dharma; and realisation in coexistence is dharma and truth (MVD p. 173). Law, regulation and balance are already evident in the orders other than the human (AA p. 117). Justice, dharma and truth are the evaluations by which humans establish their own orderliness, and the treatise describes them as still under review in human tradition (AA p. 18).</a:t>
            </a:r>
          </a:p>
          <a:p/>
          <a:p>
            <a:r>
              <a:t>This sets the division of labour for any instrument. Where a relation is governed by law, regulation or balance and can be stated as a quantity, rate, constraint or rule, it can be measured, modelled and partly handled by an instrument. Where a question concerns the fulfilment of a relationship, the purpose of a choice, or its accord with coexistence, it belongs to human evaluation.</a:t>
            </a:r>
          </a:p>
          <a:p/>
          <a:p>
            <a:r>
              <a:t>Every instrument is conceived, planned and produced by humans, embodies their mentality, and falls short of its purpose: trust and use must stay below that purpose, and every signal must be read by a human being (KD p. 139). Present AI systems belong to the material order as insentient instruments, yantra, that either amplify delusion or, directed by humane criteria, make the basis of decisions visible.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condition of the cycle can fail in a recognisable way, and most failures leave traces in records long before they become crises. Within the multi-level architecture of §8.3, the Family, Committee and Regional AI Agents watch these indicators continuously and route early warnings to the responsible human unit.</a:t>
            </a:r>
          </a:p>
          <a:p/>
          <a:p>
            <a:r>
              <a:t>Need is definite: the Family Agent flags use rising faster than the family's assessed need, returning the question of whether the assessment is true and fair. Labour receives its value: the Production and Exchange-Reserve Agents flag producers receiving less than labour value or a widening producer–consumer gap. Exchange follows labour value: regional agents flag drifting ratios or unauthorised margins. Everyone takes part in production: committee agents flag displaced workers or idle skills and alert the Education-Sanskar Agent to plan training. Goods are used, not hoarded: agents flag ageing stock and idle balances. Natural assets are used in proportion to regeneration: agents flag drawdown or soil acidity and salinity.</a:t>
            </a:r>
          </a:p>
          <a:p/>
          <a:p>
            <a:r>
              <a:t>In every row, the agent's work ends by presenting the causal trace and the question to the family, committee or council responsible; the decision belongs to people.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darshan's valuation of labour needs records: the pace of work in each activity, the time and means each product requires, the quantities producers achieve under different conditions, and the remuneration they actually receive (AA pp. 66, 119, 145). Within a single village for wheat, these can be kept by hand. Across villages, districts and tiers, and for industrial goods assembled from many inputs, the connected Production and Exchange-Reserve Agents of §8.3 perform the computation.</a:t>
            </a:r>
          </a:p>
          <a:p/>
          <a:p>
            <a:r>
              <a:t>The agents compute common labour values across villages, updating them as generational means reduce the labour required per unit (AA pp. 66, 118, 145). They trace embodied labour through multi-stage input–output tables (Leontief 1936), including tool and building depreciation without charging interest. Across regions with unequal soil fertility, rainfall or mineral access, they separate natural endowment (Ricardo 1817) from human effort so midpoint valuation does not penalise less fertile villages. During the transition they maintain currency prices and labour values side by side for Stages 2 and 3 (AA pp. 142–143).</a:t>
            </a:r>
          </a:p>
          <a:p/>
          <a:p>
            <a:r>
              <a:t>The method of valuation remains a human decision: the village council sets the consolidation method, and the production and exchange-reserve committees fix the quantity, quality and value of labour (AA pp. 67, 143). Inside the family, nothing is weighed.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ten tiers, the agent network keeps the cycle in balance and lowers the barrier to transition. When a new cluster of families or villages begins transitioning inside today's market economy, pre-configured agents immediately connect its exchange-reserve to regional labour-value benchmarks and mutual-credit clearing, routing surpluses to cover deficits without speculative middlemen or interest rates (AA pp. 72, 115, 118, 142–143; MVD p. 268).</a:t>
            </a:r>
          </a:p>
          <a:p/>
          <a:p>
            <a:r>
              <a:t>The darshan's criterion for technique governs deployment: AI must reduce drudgery and production time while keeping every person a participant in physical production (MVD p. 265; AA p. 107; JVD p. 35), and all models, weights and agricultural or craft records must remain an open commons rather than proprietary intellectual property (AA pp. 29, 56–58, 132).</a:t>
            </a:r>
          </a:p>
          <a:p/>
          <a:p>
            <a:r>
              <a:t>Four safeguards keep the agent network subordinate to people (§8.8): no optimisation for profit or attention capture; strict data subsidiarity (personal logs belong to the person, family records to the family, village records to the villagers; AA p. 128); inspectable rules that prevent technocratic rulership (AA p. 82); and counting AI's own energy and mineral footprint within regenerative limits.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review weighs the darshan's account alongside neoclassical, Marxian, ecological and Gandhian economics and Advaita.</a:t>
            </a:r>
          </a:p>
          <a:p/>
          <a:p>
            <a:r>
              <a:t>Its strengths: it explains insatiability rather than postulating it; unifies diagnoses of limitless money-making, disembedded markets, positional goods, throughput and desire; defines wealth as produced objects and capital as human labour power; pairs need-based sharing inside the family with equal labour-value exchange between families and regions simultaneously; closes need, use and natural regeneration together; names the value of labour in policy; and gives a three-stage transition path and a clear boundary for instruments.</a:t>
            </a:r>
          </a:p>
          <a:p/>
          <a:p>
            <a:r>
              <a:t>Its open problems: how family need assessments aggregate at scale; how common labour values account for complex multi-stage inputs, capital depreciation without interest, and Ricardian differential fertility across regions; how a federated network of AI agents paired with committees across the ten tiers can replace price and interest signals without creating a technocratic bottleneck; how automation reduces drudgery without displacing producers; and how communities govern Personal, Family and Committee AI Agents without ceding to them the judgements of justice, dharma and truth.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economies do not reach balance because the need they are asked to meet is not the need they can meet. The body's requirements are definite, and the rest of nature shows what balance with them looks like. Jeevan seeks continuity of happiness, and in delusion it pursues that continuity through the transient satisfactions of selection and taste, reading each failure as a shortage of objects. Accumulation, especially of money, gives this pursuit an object that never decays and never satisfies.</a:t>
            </a:r>
          </a:p>
          <a:p/>
          <a:p>
            <a:r>
              <a:t>Cyclical economics answers by closing the cycle where it now runs open: definite need assessed in the family, labour valued by the usefulness it establishes, exchange at labour value free of profit and loss, production within natural regeneration, and the remainder flowing into right use across the five dimensions and ten tiers of self-governance.</a:t>
            </a:r>
          </a:p>
          <a:p/>
          <a:p>
            <a:r>
              <a:t>Passive databases and network connectivity alone cannot establish or run this order while keeping governance part-time and every citizen a producer. Intelligent systems and AI agents paired with every human unit, from the Personal AI Assistant and the Family AI Agent to the Committee and Council Agents across all ten tiers, can lower the barrier to transition and keep the cycle legible and coordinated, while returning to people the judgements of justice, dharma and truth.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in the 1990s, Shri A. Nagraj anticipated computers in the village exchange-reserve (AA p. 138) and a computer network linking committees from the village to the world (AA p. 132). Yet passive databases and network connectivity alone cannot establish the cyclical economy or enable a fast transition from the current market system, because of four structural bottlenecks.</a:t>
            </a:r>
          </a:p>
          <a:p/>
          <a:p>
            <a:r>
              <a:t>First, the staffing constraint: council and committee members are part-time representatives who continue their own physical production (AA p. 127), the village exchange-reserve has as few as three staff members (AA p. 138), and eighty percent of society remains in production (MVD p. 259). Manual database querying across ten tiers would either stall or create a full-time managerial bureaucracy (JVD p. 35). Second, non-price coordination: replacing scalar market prices across millions of goods, capital depreciation and Ricardian fertility differences requires continuous input–output propagation and option generation. Third, qualitative-to-quantitative translation: surveys, family need assessments and joint training plans involve natural language that static forms cannot interpret without turning producers into clerks. Fourth, the transition bottleneck: because the system must be built by people still moving toward awakening (anubhav-gami) inside a profit economy, active intelligent agents are needed to give reflective feedback before habits harden and to run the dual currency-and-labour ledgers of Stages 1 and 2 (AA pp. 142–143).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technical note on a personal AI assistant showed how an AI agent designed under the darshan's criteria can help an individual in transition (anubhav-gami) overcome delusion by serving as a diagnostic mirror for priya-hita-labha impulses, an educational companion for coexistence study and multi-occupation skills, and a practical work log. Establishing and governing a cyclical economy requires extending that architecture to every unit in the ten-tier family-rooted self-governing order.</a:t>
            </a:r>
          </a:p>
          <a:p/>
          <a:p>
            <a:r>
              <a:t>At the family level (10–12 members; AA pp. 14, 26, 65), a Family AI Agent helps the household assess its common and special aspirations (AA p. 112), tracks actual use and stock age against hoarding or spoilage, coordinates restful family production without weighing individual labour shares (AA pp. 119–120), and publishes only aggregate need and surplus to the village. At Tiers 1 and 2, Cluster, Village Council, and five Committee Agents (production-work, exchange-reserve, education-sanskar, health-restraint, and justice-security) maintain the living village survey, link the five dimensions horizontally, and run the three-stage transition ledgers alongside the three-person exchange-reserve staff (AA pp. 125–145).</a:t>
            </a:r>
          </a:p>
          <a:p/>
          <a:p>
            <a:r>
              <a:t>Across Tiers 3 to 10, federated Council and Committee Agents match inter-village surpluses and deficits at labour value (AA p. 72), coordinate cottage, small, medium and large industry (AA p. 115), onboard newly transitioning villages, and monitor planetary regeneration boundaries (MVD p. 268). At every level, the human unit retains normative judgement.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spAutoFit/>
          </a:bodyPr>
          <a:lstStyle/>
          <a:p>
            <a:pPr>
              <a:spcAft>
                <a:spcPts val="0"/>
              </a:spcAft>
            </a:pPr>
            <a:r>
              <a:rPr sz="1200" b="1" i="0">
                <a:solidFill>
                  <a:srgbClr val="C9821E"/>
                </a:solidFill>
                <a:latin typeface="Calibri"/>
              </a:rPr>
              <a:t>MADHYASTH DARSHAN  ·  STUDY</a:t>
            </a:r>
          </a:p>
        </p:txBody>
      </p:sp>
      <p:sp>
        <p:nvSpPr>
          <p:cNvPr id="12" name="TextBox 11"/>
          <p:cNvSpPr txBox="1"/>
          <p:nvPr/>
        </p:nvSpPr>
        <p:spPr>
          <a:xfrm>
            <a:off x="640080" y="1572768"/>
            <a:ext cx="5120640" cy="1371600"/>
          </a:xfrm>
          <a:prstGeom prst="rect">
            <a:avLst/>
          </a:prstGeom>
          <a:noFill/>
        </p:spPr>
        <p:txBody>
          <a:bodyPr wrap="square" lIns="0" rIns="0" tIns="0" bIns="0" anchor="ctr">
            <a:spAutoFit/>
          </a:bodyPr>
          <a:lstStyle/>
          <a:p>
            <a:pPr>
              <a:spcAft>
                <a:spcPts val="0"/>
              </a:spcAft>
            </a:pPr>
            <a:r>
              <a:rPr sz="3800" b="1" i="0">
                <a:solidFill>
                  <a:srgbClr val="FFFFFF"/>
                </a:solidFill>
                <a:latin typeface="Cambria"/>
              </a:rPr>
              <a:t>Prosperity Economics</a:t>
            </a:r>
          </a:p>
          <a:p>
            <a:pPr>
              <a:spcAft>
                <a:spcPts val="0"/>
              </a:spcAft>
            </a:pPr>
            <a:r>
              <a:rPr sz="3800" b="1" i="0">
                <a:solidFill>
                  <a:srgbClr val="FFFFFF"/>
                </a:solidFill>
                <a:latin typeface="Cambria"/>
              </a:rPr>
              <a:t>and Right Use</a:t>
            </a:r>
          </a:p>
        </p:txBody>
      </p:sp>
      <p:sp>
        <p:nvSpPr>
          <p:cNvPr id="13" name="TextBox 12"/>
          <p:cNvSpPr txBox="1"/>
          <p:nvPr/>
        </p:nvSpPr>
        <p:spPr>
          <a:xfrm>
            <a:off x="640080" y="3035808"/>
            <a:ext cx="4663440" cy="685800"/>
          </a:xfrm>
          <a:prstGeom prst="rect">
            <a:avLst/>
          </a:prstGeom>
          <a:noFill/>
        </p:spPr>
        <p:txBody>
          <a:bodyPr wrap="square" lIns="0" rIns="0" tIns="0" bIns="0" anchor="ctr">
            <a:spAutoFit/>
          </a:bodyPr>
          <a:lstStyle/>
          <a:p>
            <a:pPr>
              <a:spcAft>
                <a:spcPts val="0"/>
              </a:spcAft>
            </a:pPr>
            <a:r>
              <a:rPr sz="1600" b="0" i="1">
                <a:solidFill>
                  <a:srgbClr val="C9D4EF"/>
                </a:solidFill>
                <a:latin typeface="Calibri"/>
              </a:rPr>
              <a:t>Why economies fail to reach balance, and how human labour can receive its true value</a:t>
            </a:r>
          </a:p>
        </p:txBody>
      </p:sp>
      <p:sp>
        <p:nvSpPr>
          <p:cNvPr id="14" name="TextBox 13"/>
          <p:cNvSpPr txBox="1"/>
          <p:nvPr/>
        </p:nvSpPr>
        <p:spPr>
          <a:xfrm>
            <a:off x="640080" y="4160520"/>
            <a:ext cx="4754880" cy="274320"/>
          </a:xfrm>
          <a:prstGeom prst="rect">
            <a:avLst/>
          </a:prstGeom>
          <a:noFill/>
        </p:spPr>
        <p:txBody>
          <a:bodyPr wrap="square" lIns="0" rIns="0" tIns="0" bIns="0" anchor="ctr">
            <a:spAutoFit/>
          </a:bodyPr>
          <a:lstStyle/>
          <a:p>
            <a:pPr>
              <a:spcAft>
                <a:spcPts val="0"/>
              </a:spcAft>
            </a:pPr>
            <a:r>
              <a:rPr sz="1250" b="0" i="0">
                <a:solidFill>
                  <a:srgbClr val="8E9BC4"/>
                </a:solidFill>
                <a:latin typeface="Calibri"/>
              </a:rPr>
              <a:t>Companion to the study Prosperity Economics and Right Use</a:t>
            </a:r>
          </a:p>
        </p:txBody>
      </p:sp>
      <p:sp>
        <p:nvSpPr>
          <p:cNvPr id="15" name="TextBox 14"/>
          <p:cNvSpPr txBox="1"/>
          <p:nvPr/>
        </p:nvSpPr>
        <p:spPr>
          <a:xfrm>
            <a:off x="640080" y="4434840"/>
            <a:ext cx="4754880" cy="274320"/>
          </a:xfrm>
          <a:prstGeom prst="rect">
            <a:avLst/>
          </a:prstGeom>
          <a:noFill/>
        </p:spPr>
        <p:txBody>
          <a:bodyPr wrap="square" lIns="0" rIns="0" tIns="0" bIns="0" anchor="ctr">
            <a:spAutoFit/>
          </a:bodyPr>
          <a:lstStyle/>
          <a:p>
            <a:pPr>
              <a:spcAft>
                <a:spcPts val="0"/>
              </a:spcAft>
            </a:pPr>
            <a:r>
              <a:rPr sz="1150" b="0" i="0">
                <a:solidFill>
                  <a:srgbClr val="8E9BC4"/>
                </a:solidFill>
                <a:latin typeface="Calibri"/>
              </a:rPr>
              <a:t>AA · MVD · JV · SB · KD · JVD · AVD  ·  1 /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ORIENTATION  ·  THE QUESTION</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Why Don't Economies Reach Balance?</a:t>
            </a:r>
          </a:p>
        </p:txBody>
      </p:sp>
      <p:sp>
        <p:nvSpPr>
          <p:cNvPr id="7" name="Rounded Rectangle 6"/>
          <p:cNvSpPr/>
          <p:nvPr/>
        </p:nvSpPr>
        <p:spPr>
          <a:xfrm>
            <a:off x="640080" y="1325880"/>
            <a:ext cx="2496312" cy="132588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444752"/>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Every order balances</a:t>
            </a:r>
          </a:p>
        </p:txBody>
      </p:sp>
      <p:sp>
        <p:nvSpPr>
          <p:cNvPr id="9" name="TextBox 8"/>
          <p:cNvSpPr txBox="1"/>
          <p:nvPr/>
        </p:nvSpPr>
        <p:spPr>
          <a:xfrm>
            <a:off x="822959" y="1764792"/>
            <a:ext cx="2130552" cy="7772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Soil, plants and animals settle into a definite balance with their surroundings.</a:t>
            </a:r>
          </a:p>
        </p:txBody>
      </p:sp>
      <p:sp>
        <p:nvSpPr>
          <p:cNvPr id="10" name="Rounded Rectangle 9"/>
          <p:cNvSpPr/>
          <p:nvPr/>
        </p:nvSpPr>
        <p:spPr>
          <a:xfrm>
            <a:off x="3328415" y="1325880"/>
            <a:ext cx="2496312" cy="132588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1444752"/>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The body's need is definite</a:t>
            </a:r>
          </a:p>
        </p:txBody>
      </p:sp>
      <p:sp>
        <p:nvSpPr>
          <p:cNvPr id="12" name="TextBox 11"/>
          <p:cNvSpPr txBox="1"/>
          <p:nvPr/>
        </p:nvSpPr>
        <p:spPr>
          <a:xfrm>
            <a:off x="3511296" y="1764792"/>
            <a:ext cx="2130552" cy="7772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Food, shelter and adornment can be counted, met, and held in balance.</a:t>
            </a:r>
          </a:p>
        </p:txBody>
      </p:sp>
      <p:sp>
        <p:nvSpPr>
          <p:cNvPr id="13" name="Rounded Rectangle 12"/>
          <p:cNvSpPr/>
          <p:nvPr/>
        </p:nvSpPr>
        <p:spPr>
          <a:xfrm>
            <a:off x="6016752" y="1325880"/>
            <a:ext cx="2496312" cy="132588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9632" y="1444752"/>
            <a:ext cx="2130552"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Human economies do not</a:t>
            </a:r>
          </a:p>
        </p:txBody>
      </p:sp>
      <p:sp>
        <p:nvSpPr>
          <p:cNvPr id="15" name="TextBox 14"/>
          <p:cNvSpPr txBox="1"/>
          <p:nvPr/>
        </p:nvSpPr>
        <p:spPr>
          <a:xfrm>
            <a:off x="6199632" y="1764792"/>
            <a:ext cx="2130552" cy="7772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They extract more each generation, accumulate what no one uses, and call it growth.</a:t>
            </a:r>
          </a:p>
        </p:txBody>
      </p:sp>
      <p:sp>
        <p:nvSpPr>
          <p:cNvPr id="16" name="Rounded Rectangle 15"/>
          <p:cNvSpPr/>
          <p:nvPr/>
        </p:nvSpPr>
        <p:spPr>
          <a:xfrm>
            <a:off x="640080" y="2926080"/>
            <a:ext cx="7863840" cy="105156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926080"/>
            <a:ext cx="7406640" cy="1051560"/>
          </a:xfrm>
          <a:prstGeom prst="rect">
            <a:avLst/>
          </a:prstGeom>
          <a:noFill/>
        </p:spPr>
        <p:txBody>
          <a:bodyPr wrap="square" lIns="0" rIns="0" tIns="0" bIns="0" anchor="ctr">
            <a:spAutoFit/>
          </a:bodyPr>
          <a:lstStyle/>
          <a:p>
            <a:pPr algn="ctr">
              <a:spcAft>
                <a:spcPts val="0"/>
              </a:spcAft>
            </a:pPr>
            <a:r>
              <a:rPr sz="1350" b="1" i="0">
                <a:solidFill>
                  <a:srgbClr val="C9821E"/>
                </a:solidFill>
                <a:latin typeface="Cambria"/>
              </a:rPr>
              <a:t>The study's question</a:t>
            </a:r>
          </a:p>
          <a:p>
            <a:pPr algn="ctr">
              <a:spcAft>
                <a:spcPts val="0"/>
              </a:spcAft>
            </a:pPr>
            <a:r>
              <a:rPr sz="1250" b="0" i="0">
                <a:solidFill>
                  <a:srgbClr val="FFFFFF"/>
                </a:solidFill>
                <a:latin typeface="Calibri"/>
              </a:rPr>
              <a:t>What would an economy look like that gives human labour its true value, judged by the usefulness it establishes, rather than by scarcity, accumulation and price?</a:t>
            </a:r>
          </a:p>
        </p:txBody>
      </p:sp>
      <p:sp>
        <p:nvSpPr>
          <p:cNvPr id="18" name="TextBox 17"/>
          <p:cNvSpPr txBox="1"/>
          <p:nvPr/>
        </p:nvSpPr>
        <p:spPr>
          <a:xfrm>
            <a:off x="640080" y="4160520"/>
            <a:ext cx="7863840" cy="329184"/>
          </a:xfrm>
          <a:prstGeom prst="rect">
            <a:avLst/>
          </a:prstGeom>
          <a:noFill/>
        </p:spPr>
        <p:txBody>
          <a:bodyPr wrap="square" lIns="0" rIns="0" tIns="0" bIns="0" anchor="ctr">
            <a:spAutoFit/>
          </a:bodyPr>
          <a:lstStyle/>
          <a:p>
            <a:pPr>
              <a:spcAft>
                <a:spcPts val="0"/>
              </a:spcAft>
            </a:pPr>
            <a:r>
              <a:rPr sz="1200" b="0" i="1">
                <a:solidFill>
                  <a:srgbClr val="1E2447"/>
                </a:solidFill>
                <a:latin typeface="Calibri"/>
              </a:rPr>
              <a:t>Mainstream economics begins from unlimited wants and scarce means; the darshan locates the problem elsewhere.</a:t>
            </a:r>
          </a:p>
        </p:txBody>
      </p:sp>
      <p:sp>
        <p:nvSpPr>
          <p:cNvPr id="19" name="TextBox 18"/>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opening and §1  ·  AnalyticMadhyasthDarshan.org  ·  2 /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ORIENTATION  ·  THE ARGUMENT</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Argument in Four Steps</a:t>
            </a:r>
          </a:p>
        </p:txBody>
      </p:sp>
      <p:sp>
        <p:nvSpPr>
          <p:cNvPr id="7" name="Rounded Rectangle 6"/>
          <p:cNvSpPr/>
          <p:nvPr/>
        </p:nvSpPr>
        <p:spPr>
          <a:xfrm>
            <a:off x="640080" y="1298448"/>
            <a:ext cx="1783080" cy="786384"/>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298448"/>
            <a:ext cx="1673352" cy="786384"/>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Need is definite</a:t>
            </a:r>
          </a:p>
          <a:p>
            <a:pPr algn="ctr">
              <a:spcAft>
                <a:spcPts val="0"/>
              </a:spcAft>
            </a:pPr>
            <a:r>
              <a:rPr sz="1000" b="0" i="1">
                <a:solidFill>
                  <a:srgbClr val="C9D4EF"/>
                </a:solidFill>
                <a:latin typeface="Calibri"/>
              </a:rPr>
              <a:t>the body can balance
§1</a:t>
            </a:r>
          </a:p>
        </p:txBody>
      </p:sp>
      <p:sp>
        <p:nvSpPr>
          <p:cNvPr id="9" name="TextBox 8"/>
          <p:cNvSpPr txBox="1"/>
          <p:nvPr/>
        </p:nvSpPr>
        <p:spPr>
          <a:xfrm>
            <a:off x="2423160" y="1481328"/>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0" name="Rounded Rectangle 9"/>
          <p:cNvSpPr/>
          <p:nvPr/>
        </p:nvSpPr>
        <p:spPr>
          <a:xfrm>
            <a:off x="2642615" y="1298448"/>
            <a:ext cx="1783080" cy="786384"/>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298448"/>
            <a:ext cx="1673352" cy="786384"/>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Want is not</a:t>
            </a:r>
          </a:p>
          <a:p>
            <a:pPr algn="ctr">
              <a:spcAft>
                <a:spcPts val="0"/>
              </a:spcAft>
            </a:pPr>
            <a:r>
              <a:rPr sz="1000" b="0" i="1">
                <a:solidFill>
                  <a:srgbClr val="C9D4EF"/>
                </a:solidFill>
                <a:latin typeface="Calibri"/>
              </a:rPr>
              <a:t>jeevan's lack misread
§2</a:t>
            </a:r>
          </a:p>
        </p:txBody>
      </p:sp>
      <p:sp>
        <p:nvSpPr>
          <p:cNvPr id="12" name="TextBox 11"/>
          <p:cNvSpPr txBox="1"/>
          <p:nvPr/>
        </p:nvSpPr>
        <p:spPr>
          <a:xfrm>
            <a:off x="4425696" y="1481328"/>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3" name="Rounded Rectangle 12"/>
          <p:cNvSpPr/>
          <p:nvPr/>
        </p:nvSpPr>
        <p:spPr>
          <a:xfrm>
            <a:off x="4645152" y="1298448"/>
            <a:ext cx="1783080" cy="786384"/>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0016" y="1298448"/>
            <a:ext cx="1673352" cy="786384"/>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Close the cycle</a:t>
            </a:r>
          </a:p>
          <a:p>
            <a:pPr algn="ctr">
              <a:spcAft>
                <a:spcPts val="0"/>
              </a:spcAft>
            </a:pPr>
            <a:r>
              <a:rPr sz="1000" b="0" i="1">
                <a:solidFill>
                  <a:srgbClr val="C9D4EF"/>
                </a:solidFill>
                <a:latin typeface="Calibri"/>
              </a:rPr>
              <a:t>labour, use, right use
§3</a:t>
            </a:r>
          </a:p>
        </p:txBody>
      </p:sp>
      <p:sp>
        <p:nvSpPr>
          <p:cNvPr id="15" name="TextBox 14"/>
          <p:cNvSpPr txBox="1"/>
          <p:nvPr/>
        </p:nvSpPr>
        <p:spPr>
          <a:xfrm>
            <a:off x="6428232" y="1481328"/>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6" name="Rounded Rectangle 15"/>
          <p:cNvSpPr/>
          <p:nvPr/>
        </p:nvSpPr>
        <p:spPr>
          <a:xfrm>
            <a:off x="6647688" y="1298448"/>
            <a:ext cx="1783080" cy="786384"/>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2552" y="1298448"/>
            <a:ext cx="1673352" cy="786384"/>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AI agents help</a:t>
            </a:r>
          </a:p>
          <a:p>
            <a:pPr algn="ctr">
              <a:spcAft>
                <a:spcPts val="0"/>
              </a:spcAft>
            </a:pPr>
            <a:r>
              <a:rPr sz="1000" b="0" i="1">
                <a:solidFill>
                  <a:srgbClr val="C9D4EF"/>
                </a:solidFill>
                <a:latin typeface="Calibri"/>
              </a:rPr>
              <a:t>transition &amp; balance
§8</a:t>
            </a:r>
          </a:p>
        </p:txBody>
      </p:sp>
      <p:sp>
        <p:nvSpPr>
          <p:cNvPr id="18" name="Rounded Rectangle 17"/>
          <p:cNvSpPr/>
          <p:nvPr/>
        </p:nvSpPr>
        <p:spPr>
          <a:xfrm>
            <a:off x="640080" y="2377440"/>
            <a:ext cx="3840480" cy="1051560"/>
          </a:xfrm>
          <a:prstGeom prst="roundRect">
            <a:avLst>
              <a:gd name="adj" fmla="val 7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249631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The open spiral</a:t>
            </a:r>
          </a:p>
        </p:txBody>
      </p:sp>
      <p:sp>
        <p:nvSpPr>
          <p:cNvPr id="20" name="TextBox 19"/>
          <p:cNvSpPr txBox="1"/>
          <p:nvPr/>
        </p:nvSpPr>
        <p:spPr>
          <a:xfrm>
            <a:off x="822959" y="2816351"/>
            <a:ext cx="3474720" cy="5029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Indefinite want, accumulation in money, extraction beyond regeneration, and labour valued by price.</a:t>
            </a:r>
          </a:p>
        </p:txBody>
      </p:sp>
      <p:sp>
        <p:nvSpPr>
          <p:cNvPr id="21" name="Rounded Rectangle 20"/>
          <p:cNvSpPr/>
          <p:nvPr/>
        </p:nvSpPr>
        <p:spPr>
          <a:xfrm>
            <a:off x="4663440" y="2377440"/>
            <a:ext cx="3840480" cy="10515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49631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The closed cycle</a:t>
            </a:r>
          </a:p>
        </p:txBody>
      </p:sp>
      <p:sp>
        <p:nvSpPr>
          <p:cNvPr id="23" name="TextBox 22"/>
          <p:cNvSpPr txBox="1"/>
          <p:nvPr/>
        </p:nvSpPr>
        <p:spPr>
          <a:xfrm>
            <a:off x="4846320" y="2816351"/>
            <a:ext cx="3474720" cy="5029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Definite need, goods for use, nature used in proportion to its regeneration, and labour valued by the usefulness it establishes.</a:t>
            </a:r>
          </a:p>
        </p:txBody>
      </p:sp>
      <p:sp>
        <p:nvSpPr>
          <p:cNvPr id="24" name="Rounded Rectangle 23"/>
          <p:cNvSpPr/>
          <p:nvPr/>
        </p:nvSpPr>
        <p:spPr>
          <a:xfrm>
            <a:off x="640080" y="3703320"/>
            <a:ext cx="7863840" cy="868680"/>
          </a:xfrm>
          <a:prstGeom prst="roundRect">
            <a:avLst>
              <a:gd name="adj" fmla="val 7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776472"/>
            <a:ext cx="7406640" cy="274320"/>
          </a:xfrm>
          <a:prstGeom prst="rect">
            <a:avLst/>
          </a:prstGeom>
          <a:noFill/>
        </p:spPr>
        <p:txBody>
          <a:bodyPr wrap="square" lIns="0" rIns="0" tIns="0" bIns="0" anchor="ctr">
            <a:spAutoFit/>
          </a:bodyPr>
          <a:lstStyle/>
          <a:p>
            <a:pPr>
              <a:spcAft>
                <a:spcPts val="0"/>
              </a:spcAft>
            </a:pPr>
            <a:r>
              <a:rPr sz="1050" b="0" i="1">
                <a:solidFill>
                  <a:srgbClr val="1E2447"/>
                </a:solidFill>
                <a:latin typeface="Calibri"/>
              </a:rPr>
              <a:t>Untagged content presents the primary texts; small tags mark the rest.</a:t>
            </a:r>
          </a:p>
        </p:txBody>
      </p:sp>
      <p:sp>
        <p:nvSpPr>
          <p:cNvPr id="26" name="Rounded Rectangle 25"/>
          <p:cNvSpPr/>
          <p:nvPr/>
        </p:nvSpPr>
        <p:spPr>
          <a:xfrm>
            <a:off x="868680" y="4160520"/>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160520"/>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28" name="TextBox 27"/>
          <p:cNvSpPr txBox="1"/>
          <p:nvPr/>
        </p:nvSpPr>
        <p:spPr>
          <a:xfrm>
            <a:off x="2423160" y="4123944"/>
            <a:ext cx="2011680" cy="274320"/>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applications and extensions</a:t>
            </a:r>
          </a:p>
        </p:txBody>
      </p:sp>
      <p:sp>
        <p:nvSpPr>
          <p:cNvPr id="29" name="Rounded Rectangle 28"/>
          <p:cNvSpPr/>
          <p:nvPr/>
        </p:nvSpPr>
        <p:spPr>
          <a:xfrm>
            <a:off x="4526280" y="4160520"/>
            <a:ext cx="868680" cy="182880"/>
          </a:xfrm>
          <a:prstGeom prst="roundRect">
            <a:avLst>
              <a:gd name="adj" fmla="val 7000"/>
            </a:avLst>
          </a:prstGeom>
          <a:solidFill>
            <a:srgbClr val="7A8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160520"/>
            <a:ext cx="86868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COMPARISON</a:t>
            </a:r>
          </a:p>
        </p:txBody>
      </p:sp>
      <p:sp>
        <p:nvSpPr>
          <p:cNvPr id="31" name="TextBox 30"/>
          <p:cNvSpPr txBox="1"/>
          <p:nvPr/>
        </p:nvSpPr>
        <p:spPr>
          <a:xfrm>
            <a:off x="5486400" y="4123944"/>
            <a:ext cx="2926080" cy="274320"/>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economics, Indian thought, sciences</a:t>
            </a:r>
          </a:p>
        </p:txBody>
      </p:sp>
      <p:sp>
        <p:nvSpPr>
          <p:cNvPr id="32" name="TextBox 3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opening and §§1–3, 8  ·  AnalyticMadhyasthDarshan.org  ·  3 /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  ·  BALANCE IN NATURE  ·  §1.1</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Balance in Every Order</a:t>
            </a:r>
          </a:p>
        </p:txBody>
      </p:sp>
      <p:sp>
        <p:nvSpPr>
          <p:cNvPr id="7" name="Rectangle 6"/>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280160"/>
            <a:ext cx="132588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Order</a:t>
            </a:r>
          </a:p>
        </p:txBody>
      </p:sp>
      <p:sp>
        <p:nvSpPr>
          <p:cNvPr id="9" name="TextBox 8"/>
          <p:cNvSpPr txBox="1"/>
          <p:nvPr/>
        </p:nvSpPr>
        <p:spPr>
          <a:xfrm>
            <a:off x="2194560" y="1280160"/>
            <a:ext cx="278892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How its conduct is kept definite</a:t>
            </a:r>
          </a:p>
        </p:txBody>
      </p:sp>
      <p:sp>
        <p:nvSpPr>
          <p:cNvPr id="10" name="TextBox 9"/>
          <p:cNvSpPr txBox="1"/>
          <p:nvPr/>
        </p:nvSpPr>
        <p:spPr>
          <a:xfrm>
            <a:off x="5120640" y="1280160"/>
            <a:ext cx="333756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Balance in its existent state</a:t>
            </a:r>
          </a:p>
        </p:txBody>
      </p:sp>
      <p:sp>
        <p:nvSpPr>
          <p:cNvPr id="11" name="Rectangle 10"/>
          <p:cNvSpPr/>
          <p:nvPr/>
        </p:nvSpPr>
        <p:spPr>
          <a:xfrm>
            <a:off x="640080" y="1572768"/>
            <a:ext cx="786384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0208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1600200"/>
            <a:ext cx="1298448" cy="40233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Material</a:t>
            </a:r>
          </a:p>
        </p:txBody>
      </p:sp>
      <p:sp>
        <p:nvSpPr>
          <p:cNvPr id="14" name="TextBox 13"/>
          <p:cNvSpPr txBox="1"/>
          <p:nvPr/>
        </p:nvSpPr>
        <p:spPr>
          <a:xfrm>
            <a:off x="2194560" y="1600200"/>
            <a:ext cx="276148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Conformance of constitution and results; law</a:t>
            </a:r>
          </a:p>
        </p:txBody>
      </p:sp>
      <p:sp>
        <p:nvSpPr>
          <p:cNvPr id="15" name="TextBox 14"/>
          <p:cNvSpPr txBox="1"/>
          <p:nvPr/>
        </p:nvSpPr>
        <p:spPr>
          <a:xfrm>
            <a:off x="5120640" y="1600200"/>
            <a:ext cx="3310127"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Existence</a:t>
            </a:r>
          </a:p>
        </p:txBody>
      </p:sp>
      <p:sp>
        <p:nvSpPr>
          <p:cNvPr id="16" name="Rectangle 15"/>
          <p:cNvSpPr/>
          <p:nvPr/>
        </p:nvSpPr>
        <p:spPr>
          <a:xfrm>
            <a:off x="640080" y="24780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2057399"/>
            <a:ext cx="1298448" cy="40233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Plant</a:t>
            </a:r>
          </a:p>
        </p:txBody>
      </p:sp>
      <p:sp>
        <p:nvSpPr>
          <p:cNvPr id="18" name="TextBox 17"/>
          <p:cNvSpPr txBox="1"/>
          <p:nvPr/>
        </p:nvSpPr>
        <p:spPr>
          <a:xfrm>
            <a:off x="2194560" y="2057399"/>
            <a:ext cx="276148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Seed conformance; regulation</a:t>
            </a:r>
          </a:p>
        </p:txBody>
      </p:sp>
      <p:sp>
        <p:nvSpPr>
          <p:cNvPr id="19" name="TextBox 18"/>
          <p:cNvSpPr txBox="1"/>
          <p:nvPr/>
        </p:nvSpPr>
        <p:spPr>
          <a:xfrm>
            <a:off x="5120640" y="2057399"/>
            <a:ext cx="3310127"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Existence and growth</a:t>
            </a:r>
          </a:p>
        </p:txBody>
      </p:sp>
      <p:sp>
        <p:nvSpPr>
          <p:cNvPr id="20" name="Rectangle 19"/>
          <p:cNvSpPr/>
          <p:nvPr/>
        </p:nvSpPr>
        <p:spPr>
          <a:xfrm>
            <a:off x="640080" y="2487168"/>
            <a:ext cx="786384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29352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2514599"/>
            <a:ext cx="1298448" cy="40233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Animal</a:t>
            </a:r>
          </a:p>
        </p:txBody>
      </p:sp>
      <p:sp>
        <p:nvSpPr>
          <p:cNvPr id="23" name="TextBox 22"/>
          <p:cNvSpPr txBox="1"/>
          <p:nvPr/>
        </p:nvSpPr>
        <p:spPr>
          <a:xfrm>
            <a:off x="2194560" y="2514599"/>
            <a:ext cx="276148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Species conformance</a:t>
            </a:r>
          </a:p>
        </p:txBody>
      </p:sp>
      <p:sp>
        <p:nvSpPr>
          <p:cNvPr id="24" name="TextBox 23"/>
          <p:cNvSpPr txBox="1"/>
          <p:nvPr/>
        </p:nvSpPr>
        <p:spPr>
          <a:xfrm>
            <a:off x="5120640" y="2514599"/>
            <a:ext cx="3310127"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Existence, growth and the hope of living</a:t>
            </a:r>
          </a:p>
        </p:txBody>
      </p:sp>
      <p:sp>
        <p:nvSpPr>
          <p:cNvPr id="25" name="Rectangle 24"/>
          <p:cNvSpPr/>
          <p:nvPr/>
        </p:nvSpPr>
        <p:spPr>
          <a:xfrm>
            <a:off x="640080" y="33924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19" y="2971799"/>
            <a:ext cx="1298448" cy="40233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Human</a:t>
            </a:r>
          </a:p>
        </p:txBody>
      </p:sp>
      <p:sp>
        <p:nvSpPr>
          <p:cNvPr id="27" name="TextBox 26"/>
          <p:cNvSpPr txBox="1"/>
          <p:nvPr/>
        </p:nvSpPr>
        <p:spPr>
          <a:xfrm>
            <a:off x="2194560" y="2971799"/>
            <a:ext cx="276148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Sanskar: acceptances formed by understanding</a:t>
            </a:r>
          </a:p>
        </p:txBody>
      </p:sp>
      <p:sp>
        <p:nvSpPr>
          <p:cNvPr id="28" name="TextBox 27"/>
          <p:cNvSpPr txBox="1"/>
          <p:nvPr/>
        </p:nvSpPr>
        <p:spPr>
          <a:xfrm>
            <a:off x="5120640" y="2971799"/>
            <a:ext cx="3310127"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Resolution, prosperity, fearlessness, coexistence</a:t>
            </a:r>
          </a:p>
        </p:txBody>
      </p:sp>
      <p:sp>
        <p:nvSpPr>
          <p:cNvPr id="29" name="Rounded Rectangle 28"/>
          <p:cNvSpPr/>
          <p:nvPr/>
        </p:nvSpPr>
        <p:spPr>
          <a:xfrm>
            <a:off x="640080" y="3611880"/>
            <a:ext cx="7863840" cy="54864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611880"/>
            <a:ext cx="7406640" cy="548640"/>
          </a:xfrm>
          <a:prstGeom prst="rect">
            <a:avLst/>
          </a:prstGeom>
          <a:noFill/>
        </p:spPr>
        <p:txBody>
          <a:bodyPr wrap="square" lIns="0" rIns="0" tIns="0" bIns="0" anchor="ctr">
            <a:spAutoFit/>
          </a:bodyPr>
          <a:lstStyle/>
          <a:p>
            <a:pPr algn="ctr">
              <a:spcAft>
                <a:spcPts val="0"/>
              </a:spcAft>
            </a:pPr>
            <a:r>
              <a:rPr sz="1250" b="0" i="0">
                <a:solidFill>
                  <a:srgbClr val="FFFFFF"/>
                </a:solidFill>
                <a:latin typeface="Calibri"/>
              </a:rPr>
              <a:t>Every unit except the human shows definite conduct; only the deluded human causes disorder.</a:t>
            </a:r>
          </a:p>
        </p:txBody>
      </p:sp>
      <p:sp>
        <p:nvSpPr>
          <p:cNvPr id="31" name="TextBox 30"/>
          <p:cNvSpPr txBox="1"/>
          <p:nvPr/>
        </p:nvSpPr>
        <p:spPr>
          <a:xfrm>
            <a:off x="640080" y="4279392"/>
            <a:ext cx="7863840" cy="329184"/>
          </a:xfrm>
          <a:prstGeom prst="rect">
            <a:avLst/>
          </a:prstGeom>
          <a:noFill/>
        </p:spPr>
        <p:txBody>
          <a:bodyPr wrap="square" lIns="0" rIns="0" tIns="0" bIns="0" anchor="ctr">
            <a:spAutoFit/>
          </a:bodyPr>
          <a:lstStyle/>
          <a:p>
            <a:pPr>
              <a:spcAft>
                <a:spcPts val="0"/>
              </a:spcAft>
            </a:pPr>
            <a:r>
              <a:rPr sz="1200" b="0" i="1">
                <a:solidFill>
                  <a:srgbClr val="1E2447"/>
                </a:solidFill>
                <a:latin typeface="Calibri"/>
              </a:rPr>
              <a:t>Prosperity is first a property of the earth, which became rich in itself before human labour touched it.</a:t>
            </a:r>
          </a:p>
        </p:txBody>
      </p:sp>
      <p:sp>
        <p:nvSpPr>
          <p:cNvPr id="32" name="TextBox 3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JV pp. 47–48  ·  MVD p. 105  ·  AA pp. 41, 54–55, 77–78, 117  ·  AnalyticMadhyasthDarshan.org  ·  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  ·  THE BODY  ·  §1.2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Body's Needs Are Definite</a:t>
            </a:r>
          </a:p>
        </p:txBody>
      </p:sp>
      <p:sp>
        <p:nvSpPr>
          <p:cNvPr id="7" name="Rounded Rectangle 6"/>
          <p:cNvSpPr/>
          <p:nvPr/>
        </p:nvSpPr>
        <p:spPr>
          <a:xfrm>
            <a:off x="640080" y="1280160"/>
            <a:ext cx="3840480"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Common aspirations</a:t>
            </a:r>
          </a:p>
        </p:txBody>
      </p:sp>
      <p:sp>
        <p:nvSpPr>
          <p:cNvPr id="9" name="TextBox 8"/>
          <p:cNvSpPr txBox="1"/>
          <p:nvPr/>
        </p:nvSpPr>
        <p:spPr>
          <a:xfrm>
            <a:off x="822959" y="1719072"/>
            <a:ext cx="3474720" cy="27432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Food, shelter and adornment.</a:t>
            </a:r>
          </a:p>
        </p:txBody>
      </p:sp>
      <p:sp>
        <p:nvSpPr>
          <p:cNvPr id="10" name="Rounded Rectangle 9"/>
          <p:cNvSpPr/>
          <p:nvPr/>
        </p:nvSpPr>
        <p:spPr>
          <a:xfrm>
            <a:off x="640080" y="2212848"/>
            <a:ext cx="3840480"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331720"/>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Special aspirations</a:t>
            </a:r>
          </a:p>
        </p:txBody>
      </p:sp>
      <p:sp>
        <p:nvSpPr>
          <p:cNvPr id="12" name="TextBox 11"/>
          <p:cNvSpPr txBox="1"/>
          <p:nvPr/>
        </p:nvSpPr>
        <p:spPr>
          <a:xfrm>
            <a:off x="822959" y="2651759"/>
            <a:ext cx="3474720" cy="27432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Telephony, broadcasting and transport.</a:t>
            </a:r>
          </a:p>
        </p:txBody>
      </p:sp>
      <p:sp>
        <p:nvSpPr>
          <p:cNvPr id="13" name="Rounded Rectangle 12"/>
          <p:cNvSpPr/>
          <p:nvPr/>
        </p:nvSpPr>
        <p:spPr>
          <a:xfrm>
            <a:off x="640080" y="3145536"/>
            <a:ext cx="3840480" cy="1152144"/>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64408"/>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Goods are for use</a:t>
            </a:r>
          </a:p>
        </p:txBody>
      </p:sp>
      <p:sp>
        <p:nvSpPr>
          <p:cNvPr id="15" name="TextBox 14"/>
          <p:cNvSpPr txBox="1"/>
          <p:nvPr/>
        </p:nvSpPr>
        <p:spPr>
          <a:xfrm>
            <a:off x="822959" y="3584447"/>
            <a:ext cx="3474720" cy="603503"/>
          </a:xfrm>
          <a:prstGeom prst="rect">
            <a:avLst/>
          </a:prstGeom>
          <a:noFill/>
        </p:spPr>
        <p:txBody>
          <a:bodyPr wrap="square" lIns="0" rIns="0" tIns="0" bIns="0" anchor="t">
            <a:spAutoFit/>
          </a:bodyPr>
          <a:lstStyle/>
          <a:p>
            <a:pPr>
              <a:spcAft>
                <a:spcPts val="0"/>
              </a:spcAft>
            </a:pPr>
            <a:r>
              <a:rPr sz="1150" b="0" i="0">
                <a:solidFill>
                  <a:srgbClr val="5A6377"/>
                </a:solidFill>
                <a:latin typeface="Calibri"/>
              </a:rPr>
              <a:t>Grain rots and machines rust; objects cannot be accumulated, because their use or transformation is inevitable.</a:t>
            </a:r>
          </a:p>
        </p:txBody>
      </p:sp>
      <p:sp>
        <p:nvSpPr>
          <p:cNvPr id="16" name="Rounded Rectangle 15"/>
          <p:cNvSpPr/>
          <p:nvPr/>
        </p:nvSpPr>
        <p:spPr>
          <a:xfrm>
            <a:off x="4663440" y="1280160"/>
            <a:ext cx="3840480" cy="301752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3990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The body is the limit of consuming</a:t>
            </a:r>
          </a:p>
        </p:txBody>
      </p:sp>
      <p:sp>
        <p:nvSpPr>
          <p:cNvPr id="18" name="Rounded Rectangle 17"/>
          <p:cNvSpPr/>
          <p:nvPr/>
        </p:nvSpPr>
        <p:spPr>
          <a:xfrm>
            <a:off x="4892040" y="1874519"/>
            <a:ext cx="749808" cy="43891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46903" y="1874519"/>
            <a:ext cx="640080" cy="438912"/>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Know</a:t>
            </a:r>
          </a:p>
        </p:txBody>
      </p:sp>
      <p:sp>
        <p:nvSpPr>
          <p:cNvPr id="20" name="TextBox 19"/>
          <p:cNvSpPr txBox="1"/>
          <p:nvPr/>
        </p:nvSpPr>
        <p:spPr>
          <a:xfrm>
            <a:off x="5641848" y="1911095"/>
            <a:ext cx="118872" cy="365760"/>
          </a:xfrm>
          <a:prstGeom prst="rect">
            <a:avLst/>
          </a:prstGeom>
          <a:noFill/>
        </p:spPr>
        <p:txBody>
          <a:bodyPr wrap="square" lIns="0" rIns="0" tIns="0" bIns="0" anchor="ctr">
            <a:spAutoFit/>
          </a:bodyPr>
          <a:lstStyle/>
          <a:p>
            <a:pPr algn="ctr">
              <a:spcAft>
                <a:spcPts val="0"/>
              </a:spcAft>
            </a:pPr>
            <a:r>
              <a:rPr sz="1300" b="1" i="0">
                <a:solidFill>
                  <a:srgbClr val="C9821E"/>
                </a:solidFill>
                <a:latin typeface="Calibri"/>
              </a:rPr>
              <a:t>&gt;</a:t>
            </a:r>
          </a:p>
        </p:txBody>
      </p:sp>
      <p:sp>
        <p:nvSpPr>
          <p:cNvPr id="21" name="Rounded Rectangle 20"/>
          <p:cNvSpPr/>
          <p:nvPr/>
        </p:nvSpPr>
        <p:spPr>
          <a:xfrm>
            <a:off x="5760720" y="1874519"/>
            <a:ext cx="749808" cy="43891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5583" y="1874519"/>
            <a:ext cx="640080" cy="438912"/>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Desire</a:t>
            </a:r>
          </a:p>
        </p:txBody>
      </p:sp>
      <p:sp>
        <p:nvSpPr>
          <p:cNvPr id="23" name="TextBox 22"/>
          <p:cNvSpPr txBox="1"/>
          <p:nvPr/>
        </p:nvSpPr>
        <p:spPr>
          <a:xfrm>
            <a:off x="6510528" y="1911095"/>
            <a:ext cx="118872" cy="365760"/>
          </a:xfrm>
          <a:prstGeom prst="rect">
            <a:avLst/>
          </a:prstGeom>
          <a:noFill/>
        </p:spPr>
        <p:txBody>
          <a:bodyPr wrap="square" lIns="0" rIns="0" tIns="0" bIns="0" anchor="ctr">
            <a:spAutoFit/>
          </a:bodyPr>
          <a:lstStyle/>
          <a:p>
            <a:pPr algn="ctr">
              <a:spcAft>
                <a:spcPts val="0"/>
              </a:spcAft>
            </a:pPr>
            <a:r>
              <a:rPr sz="1300" b="1" i="0">
                <a:solidFill>
                  <a:srgbClr val="C9821E"/>
                </a:solidFill>
                <a:latin typeface="Calibri"/>
              </a:rPr>
              <a:t>&gt;</a:t>
            </a:r>
          </a:p>
        </p:txBody>
      </p:sp>
      <p:sp>
        <p:nvSpPr>
          <p:cNvPr id="24" name="Rounded Rectangle 23"/>
          <p:cNvSpPr/>
          <p:nvPr/>
        </p:nvSpPr>
        <p:spPr>
          <a:xfrm>
            <a:off x="6629400" y="1874519"/>
            <a:ext cx="749808" cy="43891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84264" y="1874519"/>
            <a:ext cx="640080" cy="438912"/>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Do</a:t>
            </a:r>
          </a:p>
        </p:txBody>
      </p:sp>
      <p:sp>
        <p:nvSpPr>
          <p:cNvPr id="26" name="TextBox 25"/>
          <p:cNvSpPr txBox="1"/>
          <p:nvPr/>
        </p:nvSpPr>
        <p:spPr>
          <a:xfrm>
            <a:off x="7379208" y="1911095"/>
            <a:ext cx="118872" cy="365760"/>
          </a:xfrm>
          <a:prstGeom prst="rect">
            <a:avLst/>
          </a:prstGeom>
          <a:noFill/>
        </p:spPr>
        <p:txBody>
          <a:bodyPr wrap="square" lIns="0" rIns="0" tIns="0" bIns="0" anchor="ctr">
            <a:spAutoFit/>
          </a:bodyPr>
          <a:lstStyle/>
          <a:p>
            <a:pPr algn="ctr">
              <a:spcAft>
                <a:spcPts val="0"/>
              </a:spcAft>
            </a:pPr>
            <a:r>
              <a:rPr sz="1300" b="1" i="0">
                <a:solidFill>
                  <a:srgbClr val="C9821E"/>
                </a:solidFill>
                <a:latin typeface="Calibri"/>
              </a:rPr>
              <a:t>&gt;</a:t>
            </a:r>
          </a:p>
        </p:txBody>
      </p:sp>
      <p:sp>
        <p:nvSpPr>
          <p:cNvPr id="27" name="Rounded Rectangle 26"/>
          <p:cNvSpPr/>
          <p:nvPr/>
        </p:nvSpPr>
        <p:spPr>
          <a:xfrm>
            <a:off x="7498079" y="1874519"/>
            <a:ext cx="749808" cy="43891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52944" y="1874519"/>
            <a:ext cx="640080" cy="438912"/>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Consume</a:t>
            </a:r>
          </a:p>
        </p:txBody>
      </p:sp>
      <p:sp>
        <p:nvSpPr>
          <p:cNvPr id="29" name="TextBox 28"/>
          <p:cNvSpPr txBox="1"/>
          <p:nvPr/>
        </p:nvSpPr>
        <p:spPr>
          <a:xfrm>
            <a:off x="4846320" y="2468880"/>
            <a:ext cx="3474720" cy="17373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We can know more than we desire, desire more than we do, and do more than we consume.</a:t>
            </a:r>
          </a:p>
          <a:p>
            <a:pPr>
              <a:spcBef>
                <a:spcPts val="600"/>
              </a:spcBef>
              <a:spcAft>
                <a:spcPts val="0"/>
              </a:spcAft>
            </a:pPr>
            <a:r>
              <a:rPr sz="1150" b="0" i="0">
                <a:solidFill>
                  <a:srgbClr val="5A6377"/>
                </a:solidFill>
                <a:latin typeface="Calibri"/>
              </a:rPr>
              <a:t>Whatever we produce, we cannot consume that much: production in excess of need is possible.</a:t>
            </a:r>
          </a:p>
          <a:p>
            <a:pPr>
              <a:spcBef>
                <a:spcPts val="600"/>
              </a:spcBef>
              <a:spcAft>
                <a:spcPts val="0"/>
              </a:spcAft>
            </a:pPr>
            <a:r>
              <a:rPr sz="1150" b="0" i="1">
                <a:solidFill>
                  <a:srgbClr val="5A6377"/>
                </a:solidFill>
                <a:latin typeface="Calibri"/>
              </a:rPr>
              <a:t>A person who understands this produces more and consumes less, with little waste.</a:t>
            </a:r>
          </a:p>
        </p:txBody>
      </p:sp>
      <p:sp>
        <p:nvSpPr>
          <p:cNvPr id="30" name="TextBox 29"/>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26, 73, 93  ·  JV p. 152  ·  MVD pp. 96, 183, 282  ·  KD p. 114  ·  AnalyticMadhyasthDarshan.org  ·  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THE JOINT FORM  ·  §2.1</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Jeevan Seeks Continuing Happiness</a:t>
            </a:r>
          </a:p>
        </p:txBody>
      </p:sp>
      <p:sp>
        <p:nvSpPr>
          <p:cNvPr id="7" name="Rounded Rectangle 6"/>
          <p:cNvSpPr/>
          <p:nvPr/>
        </p:nvSpPr>
        <p:spPr>
          <a:xfrm>
            <a:off x="640080" y="1325880"/>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325880"/>
            <a:ext cx="1261872" cy="713232"/>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Mun</a:t>
            </a:r>
          </a:p>
          <a:p>
            <a:pPr algn="ctr">
              <a:spcAft>
                <a:spcPts val="0"/>
              </a:spcAft>
            </a:pPr>
            <a:r>
              <a:rPr sz="900" b="0" i="1">
                <a:solidFill>
                  <a:srgbClr val="C9D4EF"/>
                </a:solidFill>
                <a:latin typeface="Calibri"/>
              </a:rPr>
              <a:t>taste · selection</a:t>
            </a:r>
          </a:p>
        </p:txBody>
      </p:sp>
      <p:sp>
        <p:nvSpPr>
          <p:cNvPr id="9" name="Rounded Rectangle 8"/>
          <p:cNvSpPr/>
          <p:nvPr/>
        </p:nvSpPr>
        <p:spPr>
          <a:xfrm>
            <a:off x="2240280" y="1325880"/>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95144" y="1325880"/>
            <a:ext cx="1261872" cy="713232"/>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Vritti</a:t>
            </a:r>
          </a:p>
          <a:p>
            <a:pPr algn="ctr">
              <a:spcAft>
                <a:spcPts val="0"/>
              </a:spcAft>
            </a:pPr>
            <a:r>
              <a:rPr sz="900" b="0" i="1">
                <a:solidFill>
                  <a:srgbClr val="C9D4EF"/>
                </a:solidFill>
                <a:latin typeface="Calibri"/>
              </a:rPr>
              <a:t>deliberation · analysis</a:t>
            </a:r>
          </a:p>
        </p:txBody>
      </p:sp>
      <p:sp>
        <p:nvSpPr>
          <p:cNvPr id="11" name="Rounded Rectangle 10"/>
          <p:cNvSpPr/>
          <p:nvPr/>
        </p:nvSpPr>
        <p:spPr>
          <a:xfrm>
            <a:off x="3840480" y="1325880"/>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95344" y="1325880"/>
            <a:ext cx="1261872" cy="713232"/>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Chitta</a:t>
            </a:r>
          </a:p>
          <a:p>
            <a:pPr algn="ctr">
              <a:spcAft>
                <a:spcPts val="0"/>
              </a:spcAft>
            </a:pPr>
            <a:r>
              <a:rPr sz="900" b="0" i="1">
                <a:solidFill>
                  <a:srgbClr val="C9D4EF"/>
                </a:solidFill>
                <a:latin typeface="Calibri"/>
              </a:rPr>
              <a:t>contemplation · visualisation</a:t>
            </a:r>
          </a:p>
        </p:txBody>
      </p:sp>
      <p:sp>
        <p:nvSpPr>
          <p:cNvPr id="13" name="Rounded Rectangle 12"/>
          <p:cNvSpPr/>
          <p:nvPr/>
        </p:nvSpPr>
        <p:spPr>
          <a:xfrm>
            <a:off x="5440680" y="1325880"/>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95544" y="1325880"/>
            <a:ext cx="1261872" cy="713232"/>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Buddhi</a:t>
            </a:r>
          </a:p>
          <a:p>
            <a:pPr algn="ctr">
              <a:spcAft>
                <a:spcPts val="0"/>
              </a:spcAft>
            </a:pPr>
            <a:r>
              <a:rPr sz="900" b="0" i="1">
                <a:solidFill>
                  <a:srgbClr val="C9D4EF"/>
                </a:solidFill>
                <a:latin typeface="Calibri"/>
              </a:rPr>
              <a:t>enlightenment · resolve</a:t>
            </a:r>
          </a:p>
        </p:txBody>
      </p:sp>
      <p:sp>
        <p:nvSpPr>
          <p:cNvPr id="15" name="Rounded Rectangle 14"/>
          <p:cNvSpPr/>
          <p:nvPr/>
        </p:nvSpPr>
        <p:spPr>
          <a:xfrm>
            <a:off x="7040880" y="1325880"/>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95744" y="1325880"/>
            <a:ext cx="1261872" cy="713232"/>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Atma</a:t>
            </a:r>
          </a:p>
          <a:p>
            <a:pPr algn="ctr">
              <a:spcAft>
                <a:spcPts val="0"/>
              </a:spcAft>
            </a:pPr>
            <a:r>
              <a:rPr sz="900" b="0" i="1">
                <a:solidFill>
                  <a:srgbClr val="C9D4EF"/>
                </a:solidFill>
                <a:latin typeface="Calibri"/>
              </a:rPr>
              <a:t>realisation · authenticity</a:t>
            </a:r>
          </a:p>
        </p:txBody>
      </p:sp>
      <p:sp>
        <p:nvSpPr>
          <p:cNvPr id="17" name="Rounded Rectangle 16"/>
          <p:cNvSpPr/>
          <p:nvPr/>
        </p:nvSpPr>
        <p:spPr>
          <a:xfrm>
            <a:off x="1691640" y="2176272"/>
            <a:ext cx="868680" cy="274320"/>
          </a:xfrm>
          <a:prstGeom prst="roundRect">
            <a:avLst>
              <a:gd name="adj" fmla="val 30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91640" y="2176272"/>
            <a:ext cx="868680" cy="274320"/>
          </a:xfrm>
          <a:prstGeom prst="rect">
            <a:avLst/>
          </a:prstGeom>
          <a:noFill/>
        </p:spPr>
        <p:txBody>
          <a:bodyPr wrap="square" lIns="0" rIns="0" tIns="0" bIns="0" anchor="ctr">
            <a:spAutoFit/>
          </a:bodyPr>
          <a:lstStyle/>
          <a:p>
            <a:pPr algn="ctr">
              <a:spcAft>
                <a:spcPts val="0"/>
              </a:spcAft>
            </a:pPr>
            <a:r>
              <a:rPr sz="1000" b="1" i="0">
                <a:solidFill>
                  <a:srgbClr val="9A6414"/>
                </a:solidFill>
                <a:latin typeface="Calibri"/>
              </a:rPr>
              <a:t>happiness</a:t>
            </a:r>
          </a:p>
        </p:txBody>
      </p:sp>
      <p:sp>
        <p:nvSpPr>
          <p:cNvPr id="19" name="Rounded Rectangle 18"/>
          <p:cNvSpPr/>
          <p:nvPr/>
        </p:nvSpPr>
        <p:spPr>
          <a:xfrm>
            <a:off x="3291840" y="2176272"/>
            <a:ext cx="868680" cy="274320"/>
          </a:xfrm>
          <a:prstGeom prst="roundRect">
            <a:avLst>
              <a:gd name="adj" fmla="val 30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2176272"/>
            <a:ext cx="868680" cy="274320"/>
          </a:xfrm>
          <a:prstGeom prst="rect">
            <a:avLst/>
          </a:prstGeom>
          <a:noFill/>
        </p:spPr>
        <p:txBody>
          <a:bodyPr wrap="square" lIns="0" rIns="0" tIns="0" bIns="0" anchor="ctr">
            <a:spAutoFit/>
          </a:bodyPr>
          <a:lstStyle/>
          <a:p>
            <a:pPr algn="ctr">
              <a:spcAft>
                <a:spcPts val="0"/>
              </a:spcAft>
            </a:pPr>
            <a:r>
              <a:rPr sz="1000" b="1" i="0">
                <a:solidFill>
                  <a:srgbClr val="9A6414"/>
                </a:solidFill>
                <a:latin typeface="Calibri"/>
              </a:rPr>
              <a:t>peace</a:t>
            </a:r>
          </a:p>
        </p:txBody>
      </p:sp>
      <p:sp>
        <p:nvSpPr>
          <p:cNvPr id="21" name="Rounded Rectangle 20"/>
          <p:cNvSpPr/>
          <p:nvPr/>
        </p:nvSpPr>
        <p:spPr>
          <a:xfrm>
            <a:off x="4892040" y="2176272"/>
            <a:ext cx="868680" cy="274320"/>
          </a:xfrm>
          <a:prstGeom prst="roundRect">
            <a:avLst>
              <a:gd name="adj" fmla="val 30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2040" y="2176272"/>
            <a:ext cx="868680" cy="274320"/>
          </a:xfrm>
          <a:prstGeom prst="rect">
            <a:avLst/>
          </a:prstGeom>
          <a:noFill/>
        </p:spPr>
        <p:txBody>
          <a:bodyPr wrap="square" lIns="0" rIns="0" tIns="0" bIns="0" anchor="ctr">
            <a:spAutoFit/>
          </a:bodyPr>
          <a:lstStyle/>
          <a:p>
            <a:pPr algn="ctr">
              <a:spcAft>
                <a:spcPts val="0"/>
              </a:spcAft>
            </a:pPr>
            <a:r>
              <a:rPr sz="1000" b="1" i="0">
                <a:solidFill>
                  <a:srgbClr val="9A6414"/>
                </a:solidFill>
                <a:latin typeface="Calibri"/>
              </a:rPr>
              <a:t>contentment</a:t>
            </a:r>
          </a:p>
        </p:txBody>
      </p:sp>
      <p:sp>
        <p:nvSpPr>
          <p:cNvPr id="23" name="Rounded Rectangle 22"/>
          <p:cNvSpPr/>
          <p:nvPr/>
        </p:nvSpPr>
        <p:spPr>
          <a:xfrm>
            <a:off x="6492240" y="2176272"/>
            <a:ext cx="868680" cy="274320"/>
          </a:xfrm>
          <a:prstGeom prst="roundRect">
            <a:avLst>
              <a:gd name="adj" fmla="val 30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176272"/>
            <a:ext cx="868680" cy="274320"/>
          </a:xfrm>
          <a:prstGeom prst="rect">
            <a:avLst/>
          </a:prstGeom>
          <a:noFill/>
        </p:spPr>
        <p:txBody>
          <a:bodyPr wrap="square" lIns="0" rIns="0" tIns="0" bIns="0" anchor="ctr">
            <a:spAutoFit/>
          </a:bodyPr>
          <a:lstStyle/>
          <a:p>
            <a:pPr algn="ctr">
              <a:spcAft>
                <a:spcPts val="0"/>
              </a:spcAft>
            </a:pPr>
            <a:r>
              <a:rPr sz="1000" b="1" i="0">
                <a:solidFill>
                  <a:srgbClr val="9A6414"/>
                </a:solidFill>
                <a:latin typeface="Calibri"/>
              </a:rPr>
              <a:t>bliss</a:t>
            </a:r>
          </a:p>
        </p:txBody>
      </p:sp>
      <p:sp>
        <p:nvSpPr>
          <p:cNvPr id="25" name="TextBox 24"/>
          <p:cNvSpPr txBox="1"/>
          <p:nvPr/>
        </p:nvSpPr>
        <p:spPr>
          <a:xfrm>
            <a:off x="640080" y="2542032"/>
            <a:ext cx="7863840" cy="274320"/>
          </a:xfrm>
          <a:prstGeom prst="rect">
            <a:avLst/>
          </a:prstGeom>
          <a:noFill/>
        </p:spPr>
        <p:txBody>
          <a:bodyPr wrap="square" lIns="0" rIns="0" tIns="0" bIns="0" anchor="ctr">
            <a:spAutoFit/>
          </a:bodyPr>
          <a:lstStyle/>
          <a:p>
            <a:pPr algn="ctr">
              <a:spcAft>
                <a:spcPts val="0"/>
              </a:spcAft>
            </a:pPr>
            <a:r>
              <a:rPr sz="1100" b="0" i="1">
                <a:solidFill>
                  <a:srgbClr val="5A6377"/>
                </a:solidFill>
                <a:latin typeface="Calibri"/>
              </a:rPr>
              <a:t>Each jeevan value is harmony between two adjacent faculties.</a:t>
            </a:r>
          </a:p>
        </p:txBody>
      </p:sp>
      <p:sp>
        <p:nvSpPr>
          <p:cNvPr id="26" name="Rounded Rectangle 25"/>
          <p:cNvSpPr/>
          <p:nvPr/>
        </p:nvSpPr>
        <p:spPr>
          <a:xfrm>
            <a:off x="640080" y="2926080"/>
            <a:ext cx="3840480" cy="12344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304495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Innateness of the human</a:t>
            </a:r>
          </a:p>
        </p:txBody>
      </p:sp>
      <p:sp>
        <p:nvSpPr>
          <p:cNvPr id="28" name="TextBox 27"/>
          <p:cNvSpPr txBox="1"/>
          <p:nvPr/>
        </p:nvSpPr>
        <p:spPr>
          <a:xfrm>
            <a:off x="822959" y="3364991"/>
            <a:ext cx="3474720" cy="6858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Every activity is carried out in the expectation of happiness, peace, contentment and bliss; contentment is accepted by all, discontent by none.</a:t>
            </a:r>
          </a:p>
        </p:txBody>
      </p:sp>
      <p:sp>
        <p:nvSpPr>
          <p:cNvPr id="29" name="Rounded Rectangle 28"/>
          <p:cNvSpPr/>
          <p:nvPr/>
        </p:nvSpPr>
        <p:spPr>
          <a:xfrm>
            <a:off x="4663440" y="2926080"/>
            <a:ext cx="3840480" cy="12344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30449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Deliberation and universal agreement</a:t>
            </a:r>
          </a:p>
        </p:txBody>
      </p:sp>
      <p:sp>
        <p:nvSpPr>
          <p:cNvPr id="31" name="TextBox 30"/>
          <p:cNvSpPr txBox="1"/>
          <p:nvPr/>
        </p:nvSpPr>
        <p:spPr>
          <a:xfrm>
            <a:off x="4846320" y="3364991"/>
            <a:ext cx="3474720" cy="6858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Body-rooted deliberation (pleasure, health, profit) never reaches universal agreement across distinct bodies; awakening grounds justice, dharma and truth in coexistence, the basis of balance.</a:t>
            </a:r>
          </a:p>
        </p:txBody>
      </p:sp>
      <p:sp>
        <p:nvSpPr>
          <p:cNvPr id="32" name="TextBox 3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13, 18–21, 48, 50, 58–60, 92  ·  JV pp. 72–73, 137  ·  MVD p. 203  ·  AnalyticMadhyasthDarshan.org  ·  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DELUSION  ·  §2.2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Four and a Half Activities</a:t>
            </a:r>
          </a:p>
        </p:txBody>
      </p:sp>
      <p:sp>
        <p:nvSpPr>
          <p:cNvPr id="7" name="Rounded Rectangle 6"/>
          <p:cNvSpPr/>
          <p:nvPr/>
        </p:nvSpPr>
        <p:spPr>
          <a:xfrm>
            <a:off x="640080" y="1280160"/>
            <a:ext cx="3840480" cy="2148840"/>
          </a:xfrm>
          <a:prstGeom prst="roundRect">
            <a:avLst>
              <a:gd name="adj" fmla="val 7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Effective in delusion</a:t>
            </a:r>
          </a:p>
        </p:txBody>
      </p:sp>
      <p:sp>
        <p:nvSpPr>
          <p:cNvPr id="9" name="Oval 8"/>
          <p:cNvSpPr/>
          <p:nvPr/>
        </p:nvSpPr>
        <p:spPr>
          <a:xfrm>
            <a:off x="868680" y="1819656"/>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737360"/>
            <a:ext cx="329184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Selection</a:t>
            </a:r>
          </a:p>
        </p:txBody>
      </p:sp>
      <p:sp>
        <p:nvSpPr>
          <p:cNvPr id="11" name="Oval 10"/>
          <p:cNvSpPr/>
          <p:nvPr/>
        </p:nvSpPr>
        <p:spPr>
          <a:xfrm>
            <a:off x="868680" y="2112264"/>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029967"/>
            <a:ext cx="329184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Taste</a:t>
            </a:r>
          </a:p>
        </p:txBody>
      </p:sp>
      <p:sp>
        <p:nvSpPr>
          <p:cNvPr id="13" name="Oval 12"/>
          <p:cNvSpPr/>
          <p:nvPr/>
        </p:nvSpPr>
        <p:spPr>
          <a:xfrm>
            <a:off x="868680" y="240487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322576"/>
            <a:ext cx="329184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Analysis</a:t>
            </a:r>
          </a:p>
        </p:txBody>
      </p:sp>
      <p:sp>
        <p:nvSpPr>
          <p:cNvPr id="15" name="Oval 14"/>
          <p:cNvSpPr/>
          <p:nvPr/>
        </p:nvSpPr>
        <p:spPr>
          <a:xfrm>
            <a:off x="868680" y="2697480"/>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615184"/>
            <a:ext cx="329184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Visualisation</a:t>
            </a:r>
          </a:p>
        </p:txBody>
      </p:sp>
      <p:sp>
        <p:nvSpPr>
          <p:cNvPr id="17" name="Oval 16"/>
          <p:cNvSpPr/>
          <p:nvPr/>
        </p:nvSpPr>
        <p:spPr>
          <a:xfrm>
            <a:off x="868680" y="2990088"/>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2907791"/>
            <a:ext cx="329184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Half of deliberation</a:t>
            </a:r>
          </a:p>
        </p:txBody>
      </p:sp>
      <p:sp>
        <p:nvSpPr>
          <p:cNvPr id="19" name="Rounded Rectangle 18"/>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13990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Governed by pleasure, health, profit</a:t>
            </a:r>
          </a:p>
        </p:txBody>
      </p:sp>
      <p:sp>
        <p:nvSpPr>
          <p:cNvPr id="21" name="TextBox 20"/>
          <p:cNvSpPr txBox="1"/>
          <p:nvPr/>
        </p:nvSpPr>
        <p:spPr>
          <a:xfrm>
            <a:off x="4846320" y="1755648"/>
            <a:ext cx="3474720" cy="16002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Taste and selection follow what is pleasant to the senses; deliberation runs on priya, hit and labh.</a:t>
            </a:r>
          </a:p>
          <a:p>
            <a:pPr>
              <a:spcBef>
                <a:spcPts val="600"/>
              </a:spcBef>
              <a:spcAft>
                <a:spcPts val="0"/>
              </a:spcAft>
            </a:pPr>
            <a:r>
              <a:rPr sz="1150" b="0" i="0">
                <a:solidFill>
                  <a:srgbClr val="5A6377"/>
                </a:solidFill>
                <a:latin typeface="Calibri"/>
              </a:rPr>
              <a:t>The remaining activities lack the substance of understanding: the result is continuous internal conflict within jeevan.</a:t>
            </a:r>
          </a:p>
        </p:txBody>
      </p:sp>
      <p:sp>
        <p:nvSpPr>
          <p:cNvPr id="22" name="Rounded Rectangle 21"/>
          <p:cNvSpPr/>
          <p:nvPr/>
        </p:nvSpPr>
        <p:spPr>
          <a:xfrm>
            <a:off x="640080" y="365760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657600"/>
            <a:ext cx="7406640" cy="868680"/>
          </a:xfrm>
          <a:prstGeom prst="rect">
            <a:avLst/>
          </a:prstGeom>
          <a:noFill/>
        </p:spPr>
        <p:txBody>
          <a:bodyPr wrap="square" lIns="0" rIns="0" tIns="0" bIns="0" anchor="ctr">
            <a:spAutoFit/>
          </a:bodyPr>
          <a:lstStyle/>
          <a:p>
            <a:pPr algn="ctr">
              <a:spcAft>
                <a:spcPts val="0"/>
              </a:spcAft>
            </a:pPr>
            <a:r>
              <a:rPr sz="1350" b="1" i="0">
                <a:solidFill>
                  <a:srgbClr val="C9821E"/>
                </a:solidFill>
                <a:latin typeface="Cambria"/>
              </a:rPr>
              <a:t>An inexhaustible cycle</a:t>
            </a:r>
          </a:p>
          <a:p>
            <a:pPr algn="ctr">
              <a:spcAft>
                <a:spcPts val="0"/>
              </a:spcAft>
            </a:pPr>
            <a:r>
              <a:rPr sz="1250" b="0" i="0">
                <a:solidFill>
                  <a:srgbClr val="FFFFFF"/>
                </a:solidFill>
                <a:latin typeface="Calibri"/>
              </a:rPr>
              <a:t>After tasting, selection arises again, as fresh as before; deliberation by pleasure, health and profit is settled, while justice, dharma and truth remain under review.</a:t>
            </a:r>
          </a:p>
        </p:txBody>
      </p:sp>
      <p:sp>
        <p:nvSpPr>
          <p:cNvPr id="24" name="TextBox 23"/>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JV pp. 72–73  ·  AA pp. 17–18  ·  AnalyticMadhyasthDarshan.org  ·  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SELF-REGULATION  ·  §2.2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Taste Regulated, Not Suppressed</a:t>
            </a:r>
          </a:p>
        </p:txBody>
      </p:sp>
      <p:sp>
        <p:nvSpPr>
          <p:cNvPr id="7" name="Rounded Rectangle 6"/>
          <p:cNvSpPr/>
          <p:nvPr/>
        </p:nvSpPr>
        <p:spPr>
          <a:xfrm>
            <a:off x="640080"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Coexistence</a:t>
            </a:r>
          </a:p>
        </p:txBody>
      </p:sp>
      <p:sp>
        <p:nvSpPr>
          <p:cNvPr id="9" name="TextBox 8"/>
          <p:cNvSpPr txBox="1"/>
          <p:nvPr/>
        </p:nvSpPr>
        <p:spPr>
          <a:xfrm>
            <a:off x="1810512" y="1508760"/>
            <a:ext cx="164592"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0" name="Rounded Rectangle 9"/>
          <p:cNvSpPr/>
          <p:nvPr/>
        </p:nvSpPr>
        <p:spPr>
          <a:xfrm>
            <a:off x="1975104"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29968"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Realisation</a:t>
            </a:r>
          </a:p>
          <a:p>
            <a:pPr algn="ctr">
              <a:spcAft>
                <a:spcPts val="0"/>
              </a:spcAft>
            </a:pPr>
            <a:r>
              <a:rPr sz="950" b="0" i="1">
                <a:solidFill>
                  <a:srgbClr val="C9D4EF"/>
                </a:solidFill>
                <a:latin typeface="Calibri"/>
              </a:rPr>
              <a:t>atma</a:t>
            </a:r>
          </a:p>
        </p:txBody>
      </p:sp>
      <p:sp>
        <p:nvSpPr>
          <p:cNvPr id="12" name="TextBox 11"/>
          <p:cNvSpPr txBox="1"/>
          <p:nvPr/>
        </p:nvSpPr>
        <p:spPr>
          <a:xfrm>
            <a:off x="3145536" y="1508760"/>
            <a:ext cx="164592"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3" name="Rounded Rectangle 12"/>
          <p:cNvSpPr/>
          <p:nvPr/>
        </p:nvSpPr>
        <p:spPr>
          <a:xfrm>
            <a:off x="3310128"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4992"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Enlightenment</a:t>
            </a:r>
          </a:p>
          <a:p>
            <a:pPr algn="ctr">
              <a:spcAft>
                <a:spcPts val="0"/>
              </a:spcAft>
            </a:pPr>
            <a:r>
              <a:rPr sz="950" b="0" i="1">
                <a:solidFill>
                  <a:srgbClr val="C9D4EF"/>
                </a:solidFill>
                <a:latin typeface="Calibri"/>
              </a:rPr>
              <a:t>buddhi</a:t>
            </a:r>
          </a:p>
        </p:txBody>
      </p:sp>
      <p:sp>
        <p:nvSpPr>
          <p:cNvPr id="15" name="TextBox 14"/>
          <p:cNvSpPr txBox="1"/>
          <p:nvPr/>
        </p:nvSpPr>
        <p:spPr>
          <a:xfrm>
            <a:off x="4480560" y="1508760"/>
            <a:ext cx="164592"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6" name="Rounded Rectangle 15"/>
          <p:cNvSpPr/>
          <p:nvPr/>
        </p:nvSpPr>
        <p:spPr>
          <a:xfrm>
            <a:off x="4645152"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Contemplation</a:t>
            </a:r>
          </a:p>
          <a:p>
            <a:pPr algn="ctr">
              <a:spcAft>
                <a:spcPts val="0"/>
              </a:spcAft>
            </a:pPr>
            <a:r>
              <a:rPr sz="950" b="0" i="1">
                <a:solidFill>
                  <a:srgbClr val="C9D4EF"/>
                </a:solidFill>
                <a:latin typeface="Calibri"/>
              </a:rPr>
              <a:t>chitta</a:t>
            </a:r>
          </a:p>
        </p:txBody>
      </p:sp>
      <p:sp>
        <p:nvSpPr>
          <p:cNvPr id="18" name="TextBox 17"/>
          <p:cNvSpPr txBox="1"/>
          <p:nvPr/>
        </p:nvSpPr>
        <p:spPr>
          <a:xfrm>
            <a:off x="5815584" y="1508760"/>
            <a:ext cx="164592"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9" name="Rounded Rectangle 18"/>
          <p:cNvSpPr/>
          <p:nvPr/>
        </p:nvSpPr>
        <p:spPr>
          <a:xfrm>
            <a:off x="5980176"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Deliberation</a:t>
            </a:r>
          </a:p>
          <a:p>
            <a:pPr algn="ctr">
              <a:spcAft>
                <a:spcPts val="0"/>
              </a:spcAft>
            </a:pPr>
            <a:r>
              <a:rPr sz="950" b="0" i="1">
                <a:solidFill>
                  <a:srgbClr val="C9D4EF"/>
                </a:solidFill>
                <a:latin typeface="Calibri"/>
              </a:rPr>
              <a:t>vritti</a:t>
            </a:r>
          </a:p>
        </p:txBody>
      </p:sp>
      <p:sp>
        <p:nvSpPr>
          <p:cNvPr id="21" name="TextBox 20"/>
          <p:cNvSpPr txBox="1"/>
          <p:nvPr/>
        </p:nvSpPr>
        <p:spPr>
          <a:xfrm>
            <a:off x="7150608" y="1508760"/>
            <a:ext cx="164592"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22" name="Rounded Rectangle 21"/>
          <p:cNvSpPr/>
          <p:nvPr/>
        </p:nvSpPr>
        <p:spPr>
          <a:xfrm>
            <a:off x="7315200" y="1371600"/>
            <a:ext cx="1170432"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0064" y="1371600"/>
            <a:ext cx="1060704" cy="6400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Tasting</a:t>
            </a:r>
          </a:p>
          <a:p>
            <a:pPr algn="ctr">
              <a:spcAft>
                <a:spcPts val="0"/>
              </a:spcAft>
            </a:pPr>
            <a:r>
              <a:rPr sz="950" b="0" i="1">
                <a:solidFill>
                  <a:srgbClr val="C9D4EF"/>
                </a:solidFill>
                <a:latin typeface="Calibri"/>
              </a:rPr>
              <a:t>mun</a:t>
            </a:r>
          </a:p>
        </p:txBody>
      </p:sp>
      <p:sp>
        <p:nvSpPr>
          <p:cNvPr id="24" name="TextBox 23"/>
          <p:cNvSpPr txBox="1"/>
          <p:nvPr/>
        </p:nvSpPr>
        <p:spPr>
          <a:xfrm>
            <a:off x="640080" y="2103120"/>
            <a:ext cx="7863840" cy="274320"/>
          </a:xfrm>
          <a:prstGeom prst="rect">
            <a:avLst/>
          </a:prstGeom>
          <a:noFill/>
        </p:spPr>
        <p:txBody>
          <a:bodyPr wrap="square" lIns="0" rIns="0" tIns="0" bIns="0" anchor="ctr">
            <a:spAutoFit/>
          </a:bodyPr>
          <a:lstStyle/>
          <a:p>
            <a:pPr algn="ctr">
              <a:spcAft>
                <a:spcPts val="0"/>
              </a:spcAft>
            </a:pPr>
            <a:r>
              <a:rPr sz="1100" b="0" i="1">
                <a:solidFill>
                  <a:srgbClr val="5A6377"/>
                </a:solidFill>
                <a:latin typeface="Calibri"/>
              </a:rPr>
              <a:t>Each activity is balanced and regulated on the touchstone of the one before it.</a:t>
            </a:r>
          </a:p>
        </p:txBody>
      </p:sp>
      <p:sp>
        <p:nvSpPr>
          <p:cNvPr id="25" name="Rounded Rectangle 24"/>
          <p:cNvSpPr/>
          <p:nvPr/>
        </p:nvSpPr>
        <p:spPr>
          <a:xfrm>
            <a:off x="640080" y="2560320"/>
            <a:ext cx="3840480" cy="13716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267919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In awakened jeevan</a:t>
            </a:r>
          </a:p>
        </p:txBody>
      </p:sp>
      <p:sp>
        <p:nvSpPr>
          <p:cNvPr id="27" name="TextBox 26"/>
          <p:cNvSpPr txBox="1"/>
          <p:nvPr/>
        </p:nvSpPr>
        <p:spPr>
          <a:xfrm>
            <a:off x="822959" y="2999231"/>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Every tasting is regulated by deliberation, every deliberation by contemplation, and so on to coexistence: the formula of self-regulation and balance in every individual.</a:t>
            </a:r>
          </a:p>
        </p:txBody>
      </p:sp>
      <p:sp>
        <p:nvSpPr>
          <p:cNvPr id="28" name="Rounded Rectangle 27"/>
          <p:cNvSpPr/>
          <p:nvPr/>
        </p:nvSpPr>
        <p:spPr>
          <a:xfrm>
            <a:off x="4663440" y="2560320"/>
            <a:ext cx="3840480" cy="137160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12864" y="2468879"/>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4" y="2468879"/>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31" name="TextBox 30"/>
          <p:cNvSpPr txBox="1"/>
          <p:nvPr/>
        </p:nvSpPr>
        <p:spPr>
          <a:xfrm>
            <a:off x="4846320" y="2679191"/>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Where the chain is missing</a:t>
            </a:r>
          </a:p>
        </p:txBody>
      </p:sp>
      <p:sp>
        <p:nvSpPr>
          <p:cNvPr id="32" name="TextBox 31"/>
          <p:cNvSpPr txBox="1"/>
          <p:nvPr/>
        </p:nvSpPr>
        <p:spPr>
          <a:xfrm>
            <a:off x="4846320" y="2999231"/>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Selection and taste become an inexhaustible activity with no higher activity to give them measure. That is insatiability.</a:t>
            </a:r>
          </a:p>
        </p:txBody>
      </p:sp>
      <p:sp>
        <p:nvSpPr>
          <p:cNvPr id="33" name="TextBox 32"/>
          <p:cNvSpPr txBox="1"/>
          <p:nvPr/>
        </p:nvSpPr>
        <p:spPr>
          <a:xfrm>
            <a:off x="640080" y="4114800"/>
            <a:ext cx="7863840" cy="329184"/>
          </a:xfrm>
          <a:prstGeom prst="rect">
            <a:avLst/>
          </a:prstGeom>
          <a:noFill/>
        </p:spPr>
        <p:txBody>
          <a:bodyPr wrap="square" lIns="0" rIns="0" tIns="0" bIns="0" anchor="ctr">
            <a:spAutoFit/>
          </a:bodyPr>
          <a:lstStyle/>
          <a:p>
            <a:pPr>
              <a:spcAft>
                <a:spcPts val="0"/>
              </a:spcAft>
            </a:pPr>
            <a:r>
              <a:rPr sz="1200" b="0" i="1">
                <a:solidFill>
                  <a:srgbClr val="1E2447"/>
                </a:solidFill>
                <a:latin typeface="Calibri"/>
              </a:rPr>
              <a:t>The awakened alternative is not the suppression of taste but its regulation.</a:t>
            </a:r>
          </a:p>
        </p:txBody>
      </p:sp>
      <p:sp>
        <p:nvSpPr>
          <p:cNvPr id="34" name="TextBox 33"/>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 95  ·  Study §2.2  ·  AnalyticMadhyasthDarshan.org  ·  8 /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THE DIAGNOSIS  ·  §2.3</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Transience Misread as Lack</a:t>
            </a:r>
          </a:p>
        </p:txBody>
      </p:sp>
      <p:sp>
        <p:nvSpPr>
          <p:cNvPr id="7" name="Rounded Rectangle 6"/>
          <p:cNvSpPr/>
          <p:nvPr/>
        </p:nvSpPr>
        <p:spPr>
          <a:xfrm>
            <a:off x="640080" y="1280160"/>
            <a:ext cx="7863840" cy="7772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16736"/>
            <a:ext cx="7406640" cy="704088"/>
          </a:xfrm>
          <a:prstGeom prst="rect">
            <a:avLst/>
          </a:prstGeom>
          <a:noFill/>
        </p:spPr>
        <p:txBody>
          <a:bodyPr wrap="square" lIns="0" rIns="0" tIns="0" bIns="0" anchor="ctr">
            <a:spAutoFit/>
          </a:bodyPr>
          <a:lstStyle/>
          <a:p>
            <a:pPr algn="ctr">
              <a:spcAft>
                <a:spcPts val="0"/>
              </a:spcAft>
            </a:pPr>
            <a:r>
              <a:rPr sz="1300" b="0" i="1">
                <a:solidFill>
                  <a:srgbClr val="9A6414"/>
                </a:solidFill>
                <a:latin typeface="Cambria"/>
              </a:rPr>
              <a:t>“The transient nature of sensitivity is such a wonderful provision in humans, serving as an alarm, an inspiration, and a direction for their awakening.”</a:t>
            </a:r>
          </a:p>
          <a:p>
            <a:pPr algn="ctr">
              <a:spcAft>
                <a:spcPts val="0"/>
              </a:spcAft>
            </a:pPr>
            <a:r>
              <a:rPr sz="950" b="0" i="0">
                <a:solidFill>
                  <a:srgbClr val="5A6377"/>
                </a:solidFill>
                <a:latin typeface="Calibri"/>
              </a:rPr>
              <a:t>JV p. 163</a:t>
            </a:r>
          </a:p>
        </p:txBody>
      </p:sp>
      <p:sp>
        <p:nvSpPr>
          <p:cNvPr id="9" name="Rounded Rectangle 8"/>
          <p:cNvSpPr/>
          <p:nvPr/>
        </p:nvSpPr>
        <p:spPr>
          <a:xfrm>
            <a:off x="640080" y="2286000"/>
            <a:ext cx="137160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286000"/>
            <a:ext cx="1261872" cy="640080"/>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Satisfaction</a:t>
            </a:r>
          </a:p>
          <a:p>
            <a:pPr algn="ctr">
              <a:spcAft>
                <a:spcPts val="0"/>
              </a:spcAft>
            </a:pPr>
            <a:r>
              <a:rPr sz="1000" b="0" i="1">
                <a:solidFill>
                  <a:srgbClr val="C9D4EF"/>
                </a:solidFill>
                <a:latin typeface="Calibri"/>
              </a:rPr>
              <a:t>fades</a:t>
            </a:r>
          </a:p>
        </p:txBody>
      </p:sp>
      <p:sp>
        <p:nvSpPr>
          <p:cNvPr id="11" name="TextBox 10"/>
          <p:cNvSpPr txBox="1"/>
          <p:nvPr/>
        </p:nvSpPr>
        <p:spPr>
          <a:xfrm>
            <a:off x="2011680" y="242316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2" name="Rounded Rectangle 11"/>
          <p:cNvSpPr/>
          <p:nvPr/>
        </p:nvSpPr>
        <p:spPr>
          <a:xfrm>
            <a:off x="2240280" y="2286000"/>
            <a:ext cx="137160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95144" y="2286000"/>
            <a:ext cx="1261872" cy="640080"/>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Discontent</a:t>
            </a:r>
          </a:p>
          <a:p>
            <a:pPr algn="ctr">
              <a:spcAft>
                <a:spcPts val="0"/>
              </a:spcAft>
            </a:pPr>
            <a:r>
              <a:rPr sz="1000" b="0" i="1">
                <a:solidFill>
                  <a:srgbClr val="C9D4EF"/>
                </a:solidFill>
                <a:latin typeface="Calibri"/>
              </a:rPr>
              <a:t>remains</a:t>
            </a:r>
          </a:p>
        </p:txBody>
      </p:sp>
      <p:sp>
        <p:nvSpPr>
          <p:cNvPr id="14" name="TextBox 13"/>
          <p:cNvSpPr txBox="1"/>
          <p:nvPr/>
        </p:nvSpPr>
        <p:spPr>
          <a:xfrm>
            <a:off x="3611880" y="242316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5" name="Rounded Rectangle 14"/>
          <p:cNvSpPr/>
          <p:nvPr/>
        </p:nvSpPr>
        <p:spPr>
          <a:xfrm>
            <a:off x="3840480" y="2286000"/>
            <a:ext cx="137160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95344" y="2286000"/>
            <a:ext cx="1261872" cy="640080"/>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Read as</a:t>
            </a:r>
          </a:p>
          <a:p>
            <a:pPr algn="ctr">
              <a:spcAft>
                <a:spcPts val="0"/>
              </a:spcAft>
            </a:pPr>
            <a:r>
              <a:rPr sz="1000" b="0" i="1">
                <a:solidFill>
                  <a:srgbClr val="C9D4EF"/>
                </a:solidFill>
                <a:latin typeface="Calibri"/>
              </a:rPr>
              <a:t>a shortage</a:t>
            </a:r>
          </a:p>
        </p:txBody>
      </p:sp>
      <p:sp>
        <p:nvSpPr>
          <p:cNvPr id="17" name="TextBox 16"/>
          <p:cNvSpPr txBox="1"/>
          <p:nvPr/>
        </p:nvSpPr>
        <p:spPr>
          <a:xfrm>
            <a:off x="5212080" y="242316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8" name="Rounded Rectangle 17"/>
          <p:cNvSpPr/>
          <p:nvPr/>
        </p:nvSpPr>
        <p:spPr>
          <a:xfrm>
            <a:off x="5440680" y="2286000"/>
            <a:ext cx="137160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95544" y="2286000"/>
            <a:ext cx="1261872" cy="640080"/>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More</a:t>
            </a:r>
          </a:p>
          <a:p>
            <a:pPr algn="ctr">
              <a:spcAft>
                <a:spcPts val="0"/>
              </a:spcAft>
            </a:pPr>
            <a:r>
              <a:rPr sz="1000" b="0" i="1">
                <a:solidFill>
                  <a:srgbClr val="C9D4EF"/>
                </a:solidFill>
                <a:latin typeface="Calibri"/>
              </a:rPr>
              <a:t>acquisition</a:t>
            </a:r>
          </a:p>
        </p:txBody>
      </p:sp>
      <p:sp>
        <p:nvSpPr>
          <p:cNvPr id="20" name="TextBox 19"/>
          <p:cNvSpPr txBox="1"/>
          <p:nvPr/>
        </p:nvSpPr>
        <p:spPr>
          <a:xfrm>
            <a:off x="6812280" y="242316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21" name="Rounded Rectangle 20"/>
          <p:cNvSpPr/>
          <p:nvPr/>
        </p:nvSpPr>
        <p:spPr>
          <a:xfrm>
            <a:off x="7040880" y="2286000"/>
            <a:ext cx="137160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95744" y="2286000"/>
            <a:ext cx="1261872" cy="640080"/>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Satiation</a:t>
            </a:r>
          </a:p>
          <a:p>
            <a:pPr algn="ctr">
              <a:spcAft>
                <a:spcPts val="0"/>
              </a:spcAft>
            </a:pPr>
            <a:r>
              <a:rPr sz="1000" b="0" i="1">
                <a:solidFill>
                  <a:srgbClr val="C9D4EF"/>
                </a:solidFill>
                <a:latin typeface="Calibri"/>
              </a:rPr>
              <a:t>recedes</a:t>
            </a:r>
          </a:p>
        </p:txBody>
      </p:sp>
      <p:sp>
        <p:nvSpPr>
          <p:cNvPr id="23" name="Rounded Rectangle 22"/>
          <p:cNvSpPr/>
          <p:nvPr/>
        </p:nvSpPr>
        <p:spPr>
          <a:xfrm>
            <a:off x="640080" y="3154680"/>
            <a:ext cx="3840480" cy="10515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327355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Duty and indulgence</a:t>
            </a:r>
          </a:p>
        </p:txBody>
      </p:sp>
      <p:sp>
        <p:nvSpPr>
          <p:cNvPr id="25" name="TextBox 24"/>
          <p:cNvSpPr txBox="1"/>
          <p:nvPr/>
        </p:nvSpPr>
        <p:spPr>
          <a:xfrm>
            <a:off x="822959" y="3593591"/>
            <a:ext cx="3474720" cy="5029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Duties are definite and limited, so they can be fulfilled; needs pursued as indulgence are indefinite and unlimited, so they cannot.</a:t>
            </a:r>
          </a:p>
        </p:txBody>
      </p:sp>
      <p:sp>
        <p:nvSpPr>
          <p:cNvPr id="26" name="Rounded Rectangle 25"/>
          <p:cNvSpPr/>
          <p:nvPr/>
        </p:nvSpPr>
        <p:spPr>
          <a:xfrm>
            <a:off x="4663440" y="3154680"/>
            <a:ext cx="3840480" cy="10515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12864" y="3063240"/>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12864" y="3063240"/>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29" name="TextBox 28"/>
          <p:cNvSpPr txBox="1"/>
          <p:nvPr/>
        </p:nvSpPr>
        <p:spPr>
          <a:xfrm>
            <a:off x="4846320" y="32735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A category error</a:t>
            </a:r>
          </a:p>
        </p:txBody>
      </p:sp>
      <p:sp>
        <p:nvSpPr>
          <p:cNvPr id="30" name="TextBox 29"/>
          <p:cNvSpPr txBox="1"/>
          <p:nvPr/>
        </p:nvSpPr>
        <p:spPr>
          <a:xfrm>
            <a:off x="4846320" y="3593591"/>
            <a:ext cx="3474720" cy="5029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 continuous, qualitative need of jeevan pursued through transient, quantitative means.</a:t>
            </a:r>
          </a:p>
        </p:txBody>
      </p:sp>
      <p:sp>
        <p:nvSpPr>
          <p:cNvPr id="31" name="TextBox 30"/>
          <p:cNvSpPr txBox="1"/>
          <p:nvPr/>
        </p:nvSpPr>
        <p:spPr>
          <a:xfrm>
            <a:off x="640080" y="434340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The satiation point moves ahead like a mirage.</a:t>
            </a:r>
          </a:p>
        </p:txBody>
      </p:sp>
      <p:sp>
        <p:nvSpPr>
          <p:cNvPr id="32" name="TextBox 3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JV pp. 162–163  ·  AA pp. 33, 48, 58–59, 78  ·  MVD p. 128  ·  AnalyticMadhyasthDarshan.org  ·  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THE SCARCITY PREMISE  ·  §§2.3, 4.4</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Scarcity Premise</a:t>
            </a:r>
          </a:p>
        </p:txBody>
      </p:sp>
      <p:sp>
        <p:nvSpPr>
          <p:cNvPr id="7" name="Rounded Rectangle 6"/>
          <p:cNvSpPr/>
          <p:nvPr/>
        </p:nvSpPr>
        <p:spPr>
          <a:xfrm>
            <a:off x="640080" y="1280160"/>
            <a:ext cx="3840480" cy="23774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The lesson from which people stray</a:t>
            </a:r>
          </a:p>
        </p:txBody>
      </p:sp>
      <p:sp>
        <p:nvSpPr>
          <p:cNvPr id="9" name="TextBox 8"/>
          <p:cNvSpPr txBox="1"/>
          <p:nvPr/>
        </p:nvSpPr>
        <p:spPr>
          <a:xfrm>
            <a:off x="822960" y="1783080"/>
            <a:ext cx="3474720" cy="384048"/>
          </a:xfrm>
          <a:prstGeom prst="rect">
            <a:avLst/>
          </a:prstGeom>
          <a:noFill/>
        </p:spPr>
        <p:txBody>
          <a:bodyPr wrap="square" lIns="0" rIns="0" tIns="0" bIns="0" anchor="ctr">
            <a:spAutoFit/>
          </a:bodyPr>
          <a:lstStyle/>
          <a:p>
            <a:pPr>
              <a:spcAft>
                <a:spcPts val="0"/>
              </a:spcAft>
            </a:pPr>
            <a:r>
              <a:rPr sz="1150" b="1" i="0">
                <a:solidFill>
                  <a:srgbClr val="9A6414"/>
                </a:solidFill>
                <a:latin typeface="Calibri"/>
              </a:rPr>
              <a:t>Taught  </a:t>
            </a:r>
            <a:r>
              <a:rPr sz="1150" b="0" i="0">
                <a:solidFill>
                  <a:srgbClr val="5A6377"/>
                </a:solidFill>
                <a:latin typeface="Calibri"/>
              </a:rPr>
              <a:t>necessities infinite, means limited</a:t>
            </a:r>
          </a:p>
        </p:txBody>
      </p:sp>
      <p:sp>
        <p:nvSpPr>
          <p:cNvPr id="10" name="TextBox 9"/>
          <p:cNvSpPr txBox="1"/>
          <p:nvPr/>
        </p:nvSpPr>
        <p:spPr>
          <a:xfrm>
            <a:off x="822960" y="2212848"/>
            <a:ext cx="3474720" cy="384048"/>
          </a:xfrm>
          <a:prstGeom prst="rect">
            <a:avLst/>
          </a:prstGeom>
          <a:noFill/>
        </p:spPr>
        <p:txBody>
          <a:bodyPr wrap="square" lIns="0" rIns="0" tIns="0" bIns="0" anchor="ctr">
            <a:spAutoFit/>
          </a:bodyPr>
          <a:lstStyle/>
          <a:p>
            <a:pPr>
              <a:spcAft>
                <a:spcPts val="0"/>
              </a:spcAft>
            </a:pPr>
            <a:r>
              <a:rPr sz="1150" b="1" i="0">
                <a:solidFill>
                  <a:srgbClr val="9A6414"/>
                </a:solidFill>
                <a:latin typeface="Calibri"/>
              </a:rPr>
              <a:t>So  </a:t>
            </a:r>
            <a:r>
              <a:rPr sz="1150" b="0" i="0">
                <a:solidFill>
                  <a:srgbClr val="5A6377"/>
                </a:solidFill>
                <a:latin typeface="Calibri"/>
              </a:rPr>
              <a:t>necessity met only through struggle</a:t>
            </a:r>
          </a:p>
        </p:txBody>
      </p:sp>
      <p:sp>
        <p:nvSpPr>
          <p:cNvPr id="11" name="TextBox 10"/>
          <p:cNvSpPr txBox="1"/>
          <p:nvPr/>
        </p:nvSpPr>
        <p:spPr>
          <a:xfrm>
            <a:off x="822960" y="2642615"/>
            <a:ext cx="3474720" cy="384048"/>
          </a:xfrm>
          <a:prstGeom prst="rect">
            <a:avLst/>
          </a:prstGeom>
          <a:noFill/>
        </p:spPr>
        <p:txBody>
          <a:bodyPr wrap="square" lIns="0" rIns="0" tIns="0" bIns="0" anchor="ctr">
            <a:spAutoFit/>
          </a:bodyPr>
          <a:lstStyle/>
          <a:p>
            <a:pPr>
              <a:spcAft>
                <a:spcPts val="0"/>
              </a:spcAft>
            </a:pPr>
            <a:r>
              <a:rPr sz="1150" b="1" i="0">
                <a:solidFill>
                  <a:srgbClr val="9A6414"/>
                </a:solidFill>
                <a:latin typeface="Calibri"/>
              </a:rPr>
              <a:t>Attention  </a:t>
            </a:r>
            <a:r>
              <a:rPr sz="1150" b="0" i="0">
                <a:solidFill>
                  <a:srgbClr val="5A6377"/>
                </a:solidFill>
                <a:latin typeface="Calibri"/>
              </a:rPr>
              <a:t>turns to accumulation and comfort</a:t>
            </a:r>
          </a:p>
        </p:txBody>
      </p:sp>
      <p:sp>
        <p:nvSpPr>
          <p:cNvPr id="12" name="TextBox 11"/>
          <p:cNvSpPr txBox="1"/>
          <p:nvPr/>
        </p:nvSpPr>
        <p:spPr>
          <a:xfrm>
            <a:off x="822960" y="3072384"/>
            <a:ext cx="3474720" cy="384048"/>
          </a:xfrm>
          <a:prstGeom prst="rect">
            <a:avLst/>
          </a:prstGeom>
          <a:noFill/>
        </p:spPr>
        <p:txBody>
          <a:bodyPr wrap="square" lIns="0" rIns="0" tIns="0" bIns="0" anchor="ctr">
            <a:spAutoFit/>
          </a:bodyPr>
          <a:lstStyle/>
          <a:p>
            <a:pPr>
              <a:spcAft>
                <a:spcPts val="0"/>
              </a:spcAft>
            </a:pPr>
            <a:r>
              <a:rPr sz="1150" b="1" i="0">
                <a:solidFill>
                  <a:srgbClr val="9A6414"/>
                </a:solidFill>
                <a:latin typeface="Calibri"/>
              </a:rPr>
              <a:t>Result  </a:t>
            </a:r>
            <a:r>
              <a:rPr sz="1150" b="0" i="0">
                <a:solidFill>
                  <a:srgbClr val="5A6377"/>
                </a:solidFill>
                <a:latin typeface="Calibri"/>
              </a:rPr>
              <a:t>necessity assumed to be infinite</a:t>
            </a:r>
          </a:p>
        </p:txBody>
      </p:sp>
      <p:sp>
        <p:nvSpPr>
          <p:cNvPr id="13" name="Rounded Rectangle 12"/>
          <p:cNvSpPr/>
          <p:nvPr/>
        </p:nvSpPr>
        <p:spPr>
          <a:xfrm>
            <a:off x="4663440" y="1280160"/>
            <a:ext cx="3840480" cy="23774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3990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What releases it</a:t>
            </a:r>
          </a:p>
        </p:txBody>
      </p:sp>
      <p:sp>
        <p:nvSpPr>
          <p:cNvPr id="15" name="Oval 14"/>
          <p:cNvSpPr/>
          <p:nvPr/>
        </p:nvSpPr>
        <p:spPr>
          <a:xfrm>
            <a:off x="4892040" y="1865376"/>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7488" y="1783080"/>
            <a:ext cx="3291840" cy="274320"/>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Each family's necessity is limited</a:t>
            </a:r>
          </a:p>
        </p:txBody>
      </p:sp>
      <p:sp>
        <p:nvSpPr>
          <p:cNvPr id="17" name="Oval 16"/>
          <p:cNvSpPr/>
          <p:nvPr/>
        </p:nvSpPr>
        <p:spPr>
          <a:xfrm>
            <a:off x="4892040" y="2295144"/>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7488" y="2212848"/>
            <a:ext cx="3291840" cy="274320"/>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The possibility of fulfilling it is greater</a:t>
            </a:r>
          </a:p>
        </p:txBody>
      </p:sp>
      <p:sp>
        <p:nvSpPr>
          <p:cNvPr id="19" name="Oval 18"/>
          <p:cNvSpPr/>
          <p:nvPr/>
        </p:nvSpPr>
        <p:spPr>
          <a:xfrm>
            <a:off x="4892040" y="272491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7488" y="2642615"/>
            <a:ext cx="3291840" cy="274320"/>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Jeevan's powers are inexhaustible</a:t>
            </a:r>
          </a:p>
        </p:txBody>
      </p:sp>
      <p:sp>
        <p:nvSpPr>
          <p:cNvPr id="21" name="Oval 20"/>
          <p:cNvSpPr/>
          <p:nvPr/>
        </p:nvSpPr>
        <p:spPr>
          <a:xfrm>
            <a:off x="4892040" y="3154680"/>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47488" y="3072384"/>
            <a:ext cx="3291840" cy="274320"/>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The body's necessity is limited</a:t>
            </a:r>
          </a:p>
        </p:txBody>
      </p:sp>
      <p:sp>
        <p:nvSpPr>
          <p:cNvPr id="23" name="Rounded Rectangle 22"/>
          <p:cNvSpPr/>
          <p:nvPr/>
        </p:nvSpPr>
        <p:spPr>
          <a:xfrm>
            <a:off x="640080" y="3840480"/>
            <a:ext cx="7863840" cy="777240"/>
          </a:xfrm>
          <a:prstGeom prst="roundRect">
            <a:avLst>
              <a:gd name="adj" fmla="val 7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8680" y="3931920"/>
            <a:ext cx="868680" cy="182880"/>
          </a:xfrm>
          <a:prstGeom prst="roundRect">
            <a:avLst>
              <a:gd name="adj" fmla="val 7000"/>
            </a:avLst>
          </a:prstGeom>
          <a:solidFill>
            <a:srgbClr val="7A8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931920"/>
            <a:ext cx="86868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COMPARISON</a:t>
            </a:r>
          </a:p>
        </p:txBody>
      </p:sp>
      <p:sp>
        <p:nvSpPr>
          <p:cNvPr id="26" name="TextBox 25"/>
          <p:cNvSpPr txBox="1"/>
          <p:nvPr/>
        </p:nvSpPr>
        <p:spPr>
          <a:xfrm>
            <a:off x="1874519" y="3858768"/>
            <a:ext cx="6492240" cy="731520"/>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Robbins defined economics as the allocation of scarce means among unlimited ends. The darshan names that very premise as the root of straying.</a:t>
            </a:r>
          </a:p>
        </p:txBody>
      </p:sp>
      <p:sp>
        <p:nvSpPr>
          <p:cNvPr id="27" name="TextBox 26"/>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KD p. 115  ·  SB p. 234  ·  Robbins 1932  ·  AnalyticMadhyasthDarshan.org  ·  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ACCUMULATION  ·  §2.4</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Money Escapes Use and Decay</a:t>
            </a:r>
          </a:p>
        </p:txBody>
      </p:sp>
      <p:sp>
        <p:nvSpPr>
          <p:cNvPr id="7" name="Rounded Rectangle 6"/>
          <p:cNvSpPr/>
          <p:nvPr/>
        </p:nvSpPr>
        <p:spPr>
          <a:xfrm>
            <a:off x="640080" y="1325880"/>
            <a:ext cx="114300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325880"/>
            <a:ext cx="1033271" cy="658368"/>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Object</a:t>
            </a:r>
          </a:p>
          <a:p>
            <a:pPr algn="ctr">
              <a:spcAft>
                <a:spcPts val="0"/>
              </a:spcAft>
            </a:pPr>
            <a:r>
              <a:rPr sz="950" b="0" i="1">
                <a:solidFill>
                  <a:srgbClr val="C9D4EF"/>
                </a:solidFill>
                <a:latin typeface="Calibri"/>
              </a:rPr>
              <a:t>useful, perishable</a:t>
            </a:r>
          </a:p>
        </p:txBody>
      </p:sp>
      <p:sp>
        <p:nvSpPr>
          <p:cNvPr id="9" name="TextBox 8"/>
          <p:cNvSpPr txBox="1"/>
          <p:nvPr/>
        </p:nvSpPr>
        <p:spPr>
          <a:xfrm>
            <a:off x="17830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0" name="Rounded Rectangle 9"/>
          <p:cNvSpPr/>
          <p:nvPr/>
        </p:nvSpPr>
        <p:spPr>
          <a:xfrm>
            <a:off x="2011680" y="1325880"/>
            <a:ext cx="114300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66544" y="1325880"/>
            <a:ext cx="1033271" cy="658368"/>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Metal</a:t>
            </a:r>
          </a:p>
          <a:p>
            <a:pPr algn="ctr">
              <a:spcAft>
                <a:spcPts val="0"/>
              </a:spcAft>
            </a:pPr>
            <a:r>
              <a:rPr sz="950" b="0" i="1">
                <a:solidFill>
                  <a:srgbClr val="C9D4EF"/>
                </a:solidFill>
                <a:latin typeface="Calibri"/>
              </a:rPr>
              <a:t>symbol of objects</a:t>
            </a:r>
          </a:p>
        </p:txBody>
      </p:sp>
      <p:sp>
        <p:nvSpPr>
          <p:cNvPr id="12" name="TextBox 11"/>
          <p:cNvSpPr txBox="1"/>
          <p:nvPr/>
        </p:nvSpPr>
        <p:spPr>
          <a:xfrm>
            <a:off x="31546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3" name="Rounded Rectangle 12"/>
          <p:cNvSpPr/>
          <p:nvPr/>
        </p:nvSpPr>
        <p:spPr>
          <a:xfrm>
            <a:off x="3383280" y="1325880"/>
            <a:ext cx="114300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1325880"/>
            <a:ext cx="1033271" cy="658368"/>
          </a:xfrm>
          <a:prstGeom prst="rect">
            <a:avLst/>
          </a:prstGeom>
          <a:noFill/>
        </p:spPr>
        <p:txBody>
          <a:bodyPr wrap="square" lIns="0" rIns="0" tIns="0" bIns="0" anchor="ctr">
            <a:spAutoFit/>
          </a:bodyPr>
          <a:lstStyle/>
          <a:p>
            <a:pPr algn="ctr">
              <a:spcAft>
                <a:spcPts val="0"/>
              </a:spcAft>
            </a:pPr>
            <a:r>
              <a:rPr sz="1200" b="1" i="0">
                <a:solidFill>
                  <a:srgbClr val="FFFFFF"/>
                </a:solidFill>
                <a:latin typeface="Cambria"/>
              </a:rPr>
              <a:t>Paper</a:t>
            </a:r>
          </a:p>
          <a:p>
            <a:pPr algn="ctr">
              <a:spcAft>
                <a:spcPts val="0"/>
              </a:spcAft>
            </a:pPr>
            <a:r>
              <a:rPr sz="950" b="0" i="1">
                <a:solidFill>
                  <a:srgbClr val="C9D4EF"/>
                </a:solidFill>
                <a:latin typeface="Calibri"/>
              </a:rPr>
              <a:t>symbol of metal</a:t>
            </a:r>
          </a:p>
        </p:txBody>
      </p:sp>
      <p:sp>
        <p:nvSpPr>
          <p:cNvPr id="15" name="TextBox 14"/>
          <p:cNvSpPr txBox="1"/>
          <p:nvPr/>
        </p:nvSpPr>
        <p:spPr>
          <a:xfrm>
            <a:off x="640080" y="2057400"/>
            <a:ext cx="3840480" cy="457200"/>
          </a:xfrm>
          <a:prstGeom prst="rect">
            <a:avLst/>
          </a:prstGeom>
          <a:noFill/>
        </p:spPr>
        <p:txBody>
          <a:bodyPr wrap="square" lIns="0" rIns="0" tIns="0" bIns="0" anchor="t">
            <a:spAutoFit/>
          </a:bodyPr>
          <a:lstStyle/>
          <a:p>
            <a:pPr>
              <a:spcAft>
                <a:spcPts val="0"/>
              </a:spcAft>
            </a:pPr>
            <a:r>
              <a:rPr sz="1100" b="0" i="1">
                <a:solidFill>
                  <a:srgbClr val="1E2447"/>
                </a:solidFill>
                <a:latin typeface="Calibri"/>
              </a:rPr>
              <a:t>However much currency exists, it cannot replace grain for one person or quench one person's thirst.</a:t>
            </a:r>
          </a:p>
        </p:txBody>
      </p:sp>
      <p:sp>
        <p:nvSpPr>
          <p:cNvPr id="16" name="Rounded Rectangle 15"/>
          <p:cNvSpPr/>
          <p:nvPr/>
        </p:nvSpPr>
        <p:spPr>
          <a:xfrm>
            <a:off x="4663440" y="1280160"/>
            <a:ext cx="3840480" cy="12344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Profit defined against labour</a:t>
            </a:r>
          </a:p>
        </p:txBody>
      </p:sp>
      <p:sp>
        <p:nvSpPr>
          <p:cNvPr id="18" name="TextBox 17"/>
          <p:cNvSpPr txBox="1"/>
          <p:nvPr/>
        </p:nvSpPr>
        <p:spPr>
          <a:xfrm>
            <a:off x="4846320" y="1719072"/>
            <a:ext cx="3474720" cy="6858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Seeking more worth than the labour performed. Neither unrestrained nor state-regulated currency economies remove profit-obsession.</a:t>
            </a:r>
          </a:p>
        </p:txBody>
      </p:sp>
      <p:sp>
        <p:nvSpPr>
          <p:cNvPr id="19" name="Rounded Rectangle 18"/>
          <p:cNvSpPr/>
          <p:nvPr/>
        </p:nvSpPr>
        <p:spPr>
          <a:xfrm>
            <a:off x="640080" y="269748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28163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Three allurements &amp; seven trades</a:t>
            </a:r>
          </a:p>
        </p:txBody>
      </p:sp>
      <p:sp>
        <p:nvSpPr>
          <p:cNvPr id="21" name="TextBox 20"/>
          <p:cNvSpPr txBox="1"/>
          <p:nvPr/>
        </p:nvSpPr>
        <p:spPr>
          <a:xfrm>
            <a:off x="822959" y="313639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Paper is easily carried, hidden and paid; objects, strength, learning, knowledge, position and beauty are all sold for currency.</a:t>
            </a:r>
          </a:p>
        </p:txBody>
      </p:sp>
      <p:sp>
        <p:nvSpPr>
          <p:cNvPr id="22" name="Rounded Rectangle 21"/>
          <p:cNvSpPr/>
          <p:nvPr/>
        </p:nvSpPr>
        <p:spPr>
          <a:xfrm>
            <a:off x="4663440" y="269748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28163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The earth is limited</a:t>
            </a:r>
          </a:p>
        </p:txBody>
      </p:sp>
      <p:sp>
        <p:nvSpPr>
          <p:cNvPr id="24" name="TextBox 23"/>
          <p:cNvSpPr txBox="1"/>
          <p:nvPr/>
        </p:nvSpPr>
        <p:spPr>
          <a:xfrm>
            <a:off x="4846320" y="313639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Accumulation has no satiation point, so it cannot be accessible to all. Price changes are changes in the symbol alone.</a:t>
            </a:r>
          </a:p>
        </p:txBody>
      </p:sp>
      <p:sp>
        <p:nvSpPr>
          <p:cNvPr id="25" name="TextBox 24"/>
          <p:cNvSpPr txBox="1"/>
          <p:nvPr/>
        </p:nvSpPr>
        <p:spPr>
          <a:xfrm>
            <a:off x="640080" y="416052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Those who produce cannot accumulate; those who accumulate become slack in production.</a:t>
            </a:r>
          </a:p>
        </p:txBody>
      </p:sp>
      <p:sp>
        <p:nvSpPr>
          <p:cNvPr id="26" name="TextBox 25"/>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1–8, 45–46, 52–53, 75  ·  MVD pp. 57, 66, 182  ·  JV pp. 151–152  ·  AnalyticMadhyasthDarshan.org  ·  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  ·  THE EARTH  ·  §2.5</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Consequence in the Earth</a:t>
            </a:r>
          </a:p>
        </p:txBody>
      </p:sp>
      <p:sp>
        <p:nvSpPr>
          <p:cNvPr id="7" name="Rectangle 6"/>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280160"/>
            <a:ext cx="187452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Practice</a:t>
            </a:r>
          </a:p>
        </p:txBody>
      </p:sp>
      <p:sp>
        <p:nvSpPr>
          <p:cNvPr id="9" name="TextBox 8"/>
          <p:cNvSpPr txBox="1"/>
          <p:nvPr/>
        </p:nvSpPr>
        <p:spPr>
          <a:xfrm>
            <a:off x="2743200" y="1280160"/>
            <a:ext cx="571500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What the treatise observes</a:t>
            </a:r>
          </a:p>
        </p:txBody>
      </p:sp>
      <p:sp>
        <p:nvSpPr>
          <p:cNvPr id="10" name="Rectangle 9"/>
          <p:cNvSpPr/>
          <p:nvPr/>
        </p:nvSpPr>
        <p:spPr>
          <a:xfrm>
            <a:off x="640080" y="1572768"/>
            <a:ext cx="7863840" cy="4754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039112"/>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1600200"/>
            <a:ext cx="1847088" cy="420624"/>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Coal and mineral oil</a:t>
            </a:r>
          </a:p>
        </p:txBody>
      </p:sp>
      <p:sp>
        <p:nvSpPr>
          <p:cNvPr id="13" name="TextBox 12"/>
          <p:cNvSpPr txBox="1"/>
          <p:nvPr/>
        </p:nvSpPr>
        <p:spPr>
          <a:xfrm>
            <a:off x="2743200" y="1600200"/>
            <a:ext cx="5687568" cy="420624"/>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They needed to remain in the earth for its balance; burning them brought pollution, heat and rising seas</a:t>
            </a:r>
          </a:p>
        </p:txBody>
      </p:sp>
      <p:sp>
        <p:nvSpPr>
          <p:cNvPr id="14" name="Rectangle 13"/>
          <p:cNvSpPr/>
          <p:nvPr/>
        </p:nvSpPr>
        <p:spPr>
          <a:xfrm>
            <a:off x="640080" y="251460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075688"/>
            <a:ext cx="1847088" cy="420624"/>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Chemical fertiliser</a:t>
            </a:r>
          </a:p>
        </p:txBody>
      </p:sp>
      <p:sp>
        <p:nvSpPr>
          <p:cNvPr id="16" name="TextBox 15"/>
          <p:cNvSpPr txBox="1"/>
          <p:nvPr/>
        </p:nvSpPr>
        <p:spPr>
          <a:xfrm>
            <a:off x="2743200" y="2075688"/>
            <a:ext cx="5687568" cy="420624"/>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Quantity rose while the nutrition in each grain declined, and soils turned acidic or alkaline</a:t>
            </a:r>
          </a:p>
        </p:txBody>
      </p:sp>
      <p:sp>
        <p:nvSpPr>
          <p:cNvPr id="17" name="Rectangle 16"/>
          <p:cNvSpPr/>
          <p:nvPr/>
        </p:nvSpPr>
        <p:spPr>
          <a:xfrm>
            <a:off x="640080" y="2523744"/>
            <a:ext cx="7863840" cy="4754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990088"/>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2551176"/>
            <a:ext cx="1847088" cy="420624"/>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Input-dependent farming</a:t>
            </a:r>
          </a:p>
        </p:txBody>
      </p:sp>
      <p:sp>
        <p:nvSpPr>
          <p:cNvPr id="20" name="TextBox 19"/>
          <p:cNvSpPr txBox="1"/>
          <p:nvPr/>
        </p:nvSpPr>
        <p:spPr>
          <a:xfrm>
            <a:off x="2743200" y="2551176"/>
            <a:ext cx="5687568" cy="420624"/>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Seed, manure, ploughing and threshing moved from autonomy to dependence</a:t>
            </a:r>
          </a:p>
        </p:txBody>
      </p:sp>
      <p:sp>
        <p:nvSpPr>
          <p:cNvPr id="21" name="Rectangle 20"/>
          <p:cNvSpPr/>
          <p:nvPr/>
        </p:nvSpPr>
        <p:spPr>
          <a:xfrm>
            <a:off x="640080" y="3465576"/>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3026664"/>
            <a:ext cx="1847088" cy="420624"/>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Pollution policy</a:t>
            </a:r>
          </a:p>
        </p:txBody>
      </p:sp>
      <p:sp>
        <p:nvSpPr>
          <p:cNvPr id="23" name="TextBox 22"/>
          <p:cNvSpPr txBox="1"/>
          <p:nvPr/>
        </p:nvSpPr>
        <p:spPr>
          <a:xfrm>
            <a:off x="2743200" y="3026664"/>
            <a:ext cx="5687568" cy="420624"/>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It asks how much pollution people can live in, not how to stop it</a:t>
            </a:r>
          </a:p>
        </p:txBody>
      </p:sp>
      <p:sp>
        <p:nvSpPr>
          <p:cNvPr id="24" name="Rounded Rectangle 23"/>
          <p:cNvSpPr/>
          <p:nvPr/>
        </p:nvSpPr>
        <p:spPr>
          <a:xfrm>
            <a:off x="640080" y="3584448"/>
            <a:ext cx="7863840" cy="6400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584448"/>
            <a:ext cx="7406640" cy="640080"/>
          </a:xfrm>
          <a:prstGeom prst="rect">
            <a:avLst/>
          </a:prstGeom>
          <a:noFill/>
        </p:spPr>
        <p:txBody>
          <a:bodyPr wrap="square" lIns="0" rIns="0" tIns="0" bIns="0" anchor="ctr">
            <a:spAutoFit/>
          </a:bodyPr>
          <a:lstStyle/>
          <a:p>
            <a:pPr algn="ctr">
              <a:spcAft>
                <a:spcPts val="0"/>
              </a:spcAft>
            </a:pPr>
            <a:r>
              <a:rPr sz="1250" b="0" i="0">
                <a:solidFill>
                  <a:srgbClr val="FFFFFF"/>
                </a:solidFill>
                <a:latin typeface="Calibri"/>
              </a:rPr>
              <a:t>The whole form of exploitation is the exploitation of the earth, and the human being is both exploited and exploiter.</a:t>
            </a:r>
          </a:p>
        </p:txBody>
      </p:sp>
      <p:sp>
        <p:nvSpPr>
          <p:cNvPr id="26" name="TextBox 25"/>
          <p:cNvSpPr txBox="1"/>
          <p:nvPr/>
        </p:nvSpPr>
        <p:spPr>
          <a:xfrm>
            <a:off x="640080" y="4334256"/>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Machine production is not contrary to economics: the objection is to the purpose and evaluation that direct it.</a:t>
            </a:r>
          </a:p>
        </p:txBody>
      </p:sp>
      <p:sp>
        <p:nvSpPr>
          <p:cNvPr id="27" name="TextBox 26"/>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30–31, 47, 70–71, 74, 82  ·  KD §3.7  ·  AnalyticMadhyasthDarshan.org  ·  12 /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CYCLICAL ECONOMICS  ·  §3.1</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Resources: Body, Mind, Wealth</a:t>
            </a:r>
          </a:p>
        </p:txBody>
      </p:sp>
      <p:sp>
        <p:nvSpPr>
          <p:cNvPr id="7" name="Rounded Rectangle 6"/>
          <p:cNvSpPr/>
          <p:nvPr/>
        </p:nvSpPr>
        <p:spPr>
          <a:xfrm>
            <a:off x="640080" y="1280160"/>
            <a:ext cx="7863840" cy="77724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80160"/>
            <a:ext cx="7406640" cy="777240"/>
          </a:xfrm>
          <a:prstGeom prst="rect">
            <a:avLst/>
          </a:prstGeom>
          <a:noFill/>
        </p:spPr>
        <p:txBody>
          <a:bodyPr wrap="square" lIns="0" rIns="0" tIns="0" bIns="0" anchor="ctr">
            <a:spAutoFit/>
          </a:bodyPr>
          <a:lstStyle/>
          <a:p>
            <a:pPr algn="ctr">
              <a:spcAft>
                <a:spcPts val="0"/>
              </a:spcAft>
            </a:pPr>
            <a:r>
              <a:rPr sz="1350" b="1" i="0">
                <a:solidFill>
                  <a:srgbClr val="C9821E"/>
                </a:solidFill>
                <a:latin typeface="Cambria"/>
              </a:rPr>
              <a:t>Cyclical economics is</a:t>
            </a:r>
          </a:p>
          <a:p>
            <a:pPr algn="ctr">
              <a:spcAft>
                <a:spcPts val="0"/>
              </a:spcAft>
            </a:pPr>
            <a:r>
              <a:rPr sz="1250" b="0" i="0">
                <a:solidFill>
                  <a:srgbClr val="FFFFFF"/>
                </a:solidFill>
                <a:latin typeface="Calibri"/>
              </a:rPr>
              <a:t>the right use, security and prosperity of resources in the form of body, mind and wealth</a:t>
            </a:r>
          </a:p>
        </p:txBody>
      </p:sp>
      <p:sp>
        <p:nvSpPr>
          <p:cNvPr id="9" name="Rounded Rectangle 8"/>
          <p:cNvSpPr/>
          <p:nvPr/>
        </p:nvSpPr>
        <p:spPr>
          <a:xfrm>
            <a:off x="640080" y="2286000"/>
            <a:ext cx="2496312" cy="16002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04872"/>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Wealth</a:t>
            </a:r>
          </a:p>
        </p:txBody>
      </p:sp>
      <p:sp>
        <p:nvSpPr>
          <p:cNvPr id="11" name="TextBox 10"/>
          <p:cNvSpPr txBox="1"/>
          <p:nvPr/>
        </p:nvSpPr>
        <p:spPr>
          <a:xfrm>
            <a:off x="822959" y="2724911"/>
            <a:ext cx="2130552" cy="10515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Only the produced object, carrying usefulness value and aesthetic value; not money.</a:t>
            </a:r>
          </a:p>
        </p:txBody>
      </p:sp>
      <p:sp>
        <p:nvSpPr>
          <p:cNvPr id="12" name="Rounded Rectangle 11"/>
          <p:cNvSpPr/>
          <p:nvPr/>
        </p:nvSpPr>
        <p:spPr>
          <a:xfrm>
            <a:off x="3328416" y="2286000"/>
            <a:ext cx="2496312" cy="16002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2404872"/>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Labour is capital</a:t>
            </a:r>
          </a:p>
        </p:txBody>
      </p:sp>
      <p:sp>
        <p:nvSpPr>
          <p:cNvPr id="14" name="TextBox 13"/>
          <p:cNvSpPr txBox="1"/>
          <p:nvPr/>
        </p:nvSpPr>
        <p:spPr>
          <a:xfrm>
            <a:off x="3511296" y="2724911"/>
            <a:ext cx="2130552" cy="10515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 primary wealth is human labour power, and it is always the person's own.</a:t>
            </a:r>
          </a:p>
        </p:txBody>
      </p:sp>
      <p:sp>
        <p:nvSpPr>
          <p:cNvPr id="15" name="Rounded Rectangle 14"/>
          <p:cNvSpPr/>
          <p:nvPr/>
        </p:nvSpPr>
        <p:spPr>
          <a:xfrm>
            <a:off x="6016752" y="2286000"/>
            <a:ext cx="2487168" cy="16002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2404872"/>
            <a:ext cx="2121408"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Beyond necessity</a:t>
            </a:r>
          </a:p>
        </p:txBody>
      </p:sp>
      <p:sp>
        <p:nvSpPr>
          <p:cNvPr id="17" name="TextBox 16"/>
          <p:cNvSpPr txBox="1"/>
          <p:nvPr/>
        </p:nvSpPr>
        <p:spPr>
          <a:xfrm>
            <a:off x="6199632" y="2724911"/>
            <a:ext cx="2121408" cy="10515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Because jeevan's powers are inexhaustible, every person can produce more than necessity.</a:t>
            </a:r>
          </a:p>
        </p:txBody>
      </p:sp>
      <p:sp>
        <p:nvSpPr>
          <p:cNvPr id="18" name="TextBox 17"/>
          <p:cNvSpPr txBox="1"/>
          <p:nvPr/>
        </p:nvSpPr>
        <p:spPr>
          <a:xfrm>
            <a:off x="640080" y="406908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Economics that treats money as the primary resource has studied the symbol rather than the thing.</a:t>
            </a:r>
          </a:p>
        </p:txBody>
      </p:sp>
      <p:sp>
        <p:nvSpPr>
          <p:cNvPr id="19" name="TextBox 18"/>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18–19, 25, 48–50, 73, 105  ·  MVD pp. 56, 243  ·  SB p. 268  ·  JVD p. 215  ·  AnalyticMadhyasthDarshan.org  ·  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CYCLICALITY  ·  §3.2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What Cyclicality Means</a:t>
            </a:r>
          </a:p>
        </p:txBody>
      </p:sp>
      <p:sp>
        <p:nvSpPr>
          <p:cNvPr id="7" name="Rounded Rectangle 6"/>
          <p:cNvSpPr/>
          <p:nvPr/>
        </p:nvSpPr>
        <p:spPr>
          <a:xfrm>
            <a:off x="640080" y="1325880"/>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17320"/>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Seed › tree › seed</a:t>
            </a:r>
          </a:p>
        </p:txBody>
      </p:sp>
      <p:sp>
        <p:nvSpPr>
          <p:cNvPr id="9" name="TextBox 8"/>
          <p:cNvSpPr txBox="1"/>
          <p:nvPr/>
        </p:nvSpPr>
        <p:spPr>
          <a:xfrm>
            <a:off x="777240" y="1801368"/>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the plant order's own cycle</a:t>
            </a:r>
          </a:p>
        </p:txBody>
      </p:sp>
      <p:sp>
        <p:nvSpPr>
          <p:cNvPr id="10" name="Rounded Rectangle 9"/>
          <p:cNvSpPr/>
          <p:nvPr/>
        </p:nvSpPr>
        <p:spPr>
          <a:xfrm>
            <a:off x="3328415" y="1325880"/>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5" y="1417320"/>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Relationship › value › evaluation</a:t>
            </a:r>
          </a:p>
        </p:txBody>
      </p:sp>
      <p:sp>
        <p:nvSpPr>
          <p:cNvPr id="12" name="TextBox 11"/>
          <p:cNvSpPr txBox="1"/>
          <p:nvPr/>
        </p:nvSpPr>
        <p:spPr>
          <a:xfrm>
            <a:off x="3465575" y="1801368"/>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and back to relationship</a:t>
            </a:r>
          </a:p>
        </p:txBody>
      </p:sp>
      <p:sp>
        <p:nvSpPr>
          <p:cNvPr id="13" name="Rounded Rectangle 12"/>
          <p:cNvSpPr/>
          <p:nvPr/>
        </p:nvSpPr>
        <p:spPr>
          <a:xfrm>
            <a:off x="6016752" y="1325880"/>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3912" y="1417320"/>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Individual ⇄ family ⇄ village</a:t>
            </a:r>
          </a:p>
        </p:txBody>
      </p:sp>
      <p:sp>
        <p:nvSpPr>
          <p:cNvPr id="15" name="TextBox 14"/>
          <p:cNvSpPr txBox="1"/>
          <p:nvPr/>
        </p:nvSpPr>
        <p:spPr>
          <a:xfrm>
            <a:off x="6153912" y="1801368"/>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complementarity linked both ways</a:t>
            </a:r>
          </a:p>
        </p:txBody>
      </p:sp>
      <p:sp>
        <p:nvSpPr>
          <p:cNvPr id="16" name="Rounded Rectangle 15"/>
          <p:cNvSpPr/>
          <p:nvPr/>
        </p:nvSpPr>
        <p:spPr>
          <a:xfrm>
            <a:off x="640080" y="2313432"/>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04872"/>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Labour › valuation › exchange</a:t>
            </a:r>
          </a:p>
        </p:txBody>
      </p:sp>
      <p:sp>
        <p:nvSpPr>
          <p:cNvPr id="18" name="TextBox 17"/>
          <p:cNvSpPr txBox="1"/>
          <p:nvPr/>
        </p:nvSpPr>
        <p:spPr>
          <a:xfrm>
            <a:off x="777240" y="2788920"/>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production on the value of labour</a:t>
            </a:r>
          </a:p>
        </p:txBody>
      </p:sp>
      <p:sp>
        <p:nvSpPr>
          <p:cNvPr id="19" name="Rounded Rectangle 18"/>
          <p:cNvSpPr/>
          <p:nvPr/>
        </p:nvSpPr>
        <p:spPr>
          <a:xfrm>
            <a:off x="3328415" y="2313432"/>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65575" y="2404872"/>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Rain › river › sea › cloud</a:t>
            </a:r>
          </a:p>
        </p:txBody>
      </p:sp>
      <p:sp>
        <p:nvSpPr>
          <p:cNvPr id="21" name="TextBox 20"/>
          <p:cNvSpPr txBox="1"/>
          <p:nvPr/>
        </p:nvSpPr>
        <p:spPr>
          <a:xfrm>
            <a:off x="3465575" y="2788920"/>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water's return; decay renews fertility</a:t>
            </a:r>
          </a:p>
        </p:txBody>
      </p:sp>
      <p:sp>
        <p:nvSpPr>
          <p:cNvPr id="22" name="Rounded Rectangle 21"/>
          <p:cNvSpPr/>
          <p:nvPr/>
        </p:nvSpPr>
        <p:spPr>
          <a:xfrm>
            <a:off x="6016752" y="2313432"/>
            <a:ext cx="2487168" cy="82296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3912" y="2404872"/>
            <a:ext cx="2212848" cy="329184"/>
          </a:xfrm>
          <a:prstGeom prst="rect">
            <a:avLst/>
          </a:prstGeom>
          <a:noFill/>
        </p:spPr>
        <p:txBody>
          <a:bodyPr wrap="square" lIns="0" rIns="0" tIns="0" bIns="0" anchor="ctr">
            <a:spAutoFit/>
          </a:bodyPr>
          <a:lstStyle/>
          <a:p>
            <a:pPr>
              <a:spcAft>
                <a:spcPts val="0"/>
              </a:spcAft>
            </a:pPr>
            <a:r>
              <a:rPr sz="1150" b="1" i="0">
                <a:solidFill>
                  <a:srgbClr val="1E2447"/>
                </a:solidFill>
                <a:latin typeface="Cambria"/>
              </a:rPr>
              <a:t>Four orders</a:t>
            </a:r>
          </a:p>
        </p:txBody>
      </p:sp>
      <p:sp>
        <p:nvSpPr>
          <p:cNvPr id="24" name="TextBox 23"/>
          <p:cNvSpPr txBox="1"/>
          <p:nvPr/>
        </p:nvSpPr>
        <p:spPr>
          <a:xfrm>
            <a:off x="6153912" y="2788920"/>
            <a:ext cx="2212848" cy="274320"/>
          </a:xfrm>
          <a:prstGeom prst="rect">
            <a:avLst/>
          </a:prstGeom>
          <a:noFill/>
        </p:spPr>
        <p:txBody>
          <a:bodyPr wrap="square" lIns="0" rIns="0" tIns="0" bIns="0" anchor="ctr">
            <a:spAutoFit/>
          </a:bodyPr>
          <a:lstStyle/>
          <a:p>
            <a:pPr>
              <a:spcAft>
                <a:spcPts val="0"/>
              </a:spcAft>
            </a:pPr>
            <a:r>
              <a:rPr sz="1050" b="0" i="1">
                <a:solidFill>
                  <a:srgbClr val="5A6377"/>
                </a:solidFill>
                <a:latin typeface="Calibri"/>
              </a:rPr>
              <a:t>each complementary to the others</a:t>
            </a:r>
          </a:p>
        </p:txBody>
      </p:sp>
      <p:sp>
        <p:nvSpPr>
          <p:cNvPr id="25" name="Rounded Rectangle 24"/>
          <p:cNvSpPr/>
          <p:nvPr/>
        </p:nvSpPr>
        <p:spPr>
          <a:xfrm>
            <a:off x="640080" y="3429000"/>
            <a:ext cx="7863840" cy="77724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429000"/>
            <a:ext cx="7406640" cy="777240"/>
          </a:xfrm>
          <a:prstGeom prst="rect">
            <a:avLst/>
          </a:prstGeom>
          <a:noFill/>
        </p:spPr>
        <p:txBody>
          <a:bodyPr wrap="square" lIns="0" rIns="0" tIns="0" bIns="0" anchor="ctr">
            <a:spAutoFit/>
          </a:bodyPr>
          <a:lstStyle/>
          <a:p>
            <a:pPr algn="ctr">
              <a:spcAft>
                <a:spcPts val="0"/>
              </a:spcAft>
            </a:pPr>
            <a:r>
              <a:rPr sz="1350" b="1" i="0">
                <a:solidFill>
                  <a:srgbClr val="C9821E"/>
                </a:solidFill>
                <a:latin typeface="Cambria"/>
              </a:rPr>
              <a:t>Mutual sustenance</a:t>
            </a:r>
          </a:p>
          <a:p>
            <a:pPr algn="ctr">
              <a:spcAft>
                <a:spcPts val="0"/>
              </a:spcAft>
            </a:pPr>
            <a:r>
              <a:rPr sz="1250" b="0" i="0">
                <a:solidFill>
                  <a:srgbClr val="FFFFFF"/>
                </a:solidFill>
                <a:latin typeface="Calibri"/>
              </a:rPr>
              <a:t>A cycle returns to its starting point, and returns with its purpose fulfilled: complementarity is cyclicality.</a:t>
            </a:r>
          </a:p>
        </p:txBody>
      </p:sp>
      <p:sp>
        <p:nvSpPr>
          <p:cNvPr id="27" name="TextBox 26"/>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15, 34–35, 42  ·  MVD p. 152  ·  AnalyticMadhyasthDarshan.org  ·  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THE PROVISION CYCLE  ·  §3.3</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Provision Cycle</a:t>
            </a:r>
          </a:p>
        </p:txBody>
      </p:sp>
      <p:sp>
        <p:nvSpPr>
          <p:cNvPr id="7" name="Rounded Rectangle 6"/>
          <p:cNvSpPr/>
          <p:nvPr/>
        </p:nvSpPr>
        <p:spPr>
          <a:xfrm>
            <a:off x="1234440" y="129844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9304" y="129844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Need</a:t>
            </a:r>
          </a:p>
          <a:p>
            <a:pPr algn="ctr">
              <a:spcAft>
                <a:spcPts val="0"/>
              </a:spcAft>
            </a:pPr>
            <a:r>
              <a:rPr sz="900" b="0" i="1">
                <a:solidFill>
                  <a:srgbClr val="C9D4EF"/>
                </a:solidFill>
                <a:latin typeface="Calibri"/>
              </a:rPr>
              <a:t>assessed in the family</a:t>
            </a:r>
          </a:p>
        </p:txBody>
      </p:sp>
      <p:sp>
        <p:nvSpPr>
          <p:cNvPr id="9" name="Rounded Rectangle 8"/>
          <p:cNvSpPr/>
          <p:nvPr/>
        </p:nvSpPr>
        <p:spPr>
          <a:xfrm>
            <a:off x="3246120" y="129844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00984" y="129844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Skilled mentality</a:t>
            </a:r>
          </a:p>
          <a:p>
            <a:pPr algn="ctr">
              <a:spcAft>
                <a:spcPts val="0"/>
              </a:spcAft>
            </a:pPr>
            <a:r>
              <a:rPr sz="900" b="0" i="1">
                <a:solidFill>
                  <a:srgbClr val="C9D4EF"/>
                </a:solidFill>
                <a:latin typeface="Calibri"/>
              </a:rPr>
              <a:t>skill, proficiency</a:t>
            </a:r>
          </a:p>
        </p:txBody>
      </p:sp>
      <p:sp>
        <p:nvSpPr>
          <p:cNvPr id="11" name="Rounded Rectangle 10"/>
          <p:cNvSpPr/>
          <p:nvPr/>
        </p:nvSpPr>
        <p:spPr>
          <a:xfrm>
            <a:off x="3794760" y="257860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9624" y="257860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Labour</a:t>
            </a:r>
          </a:p>
          <a:p>
            <a:pPr algn="ctr">
              <a:spcAft>
                <a:spcPts val="0"/>
              </a:spcAft>
            </a:pPr>
            <a:r>
              <a:rPr sz="900" b="0" i="1">
                <a:solidFill>
                  <a:srgbClr val="C9D4EF"/>
                </a:solidFill>
                <a:latin typeface="Calibri"/>
              </a:rPr>
              <a:t>on natural abundance</a:t>
            </a:r>
          </a:p>
        </p:txBody>
      </p:sp>
      <p:sp>
        <p:nvSpPr>
          <p:cNvPr id="13" name="Rounded Rectangle 12"/>
          <p:cNvSpPr/>
          <p:nvPr/>
        </p:nvSpPr>
        <p:spPr>
          <a:xfrm>
            <a:off x="3246120" y="385876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00984" y="385876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Usefulness</a:t>
            </a:r>
          </a:p>
          <a:p>
            <a:pPr algn="ctr">
              <a:spcAft>
                <a:spcPts val="0"/>
              </a:spcAft>
            </a:pPr>
            <a:r>
              <a:rPr sz="900" b="0" i="1">
                <a:solidFill>
                  <a:srgbClr val="C9D4EF"/>
                </a:solidFill>
                <a:latin typeface="Calibri"/>
              </a:rPr>
              <a:t>and beauty established</a:t>
            </a:r>
          </a:p>
        </p:txBody>
      </p:sp>
      <p:sp>
        <p:nvSpPr>
          <p:cNvPr id="15" name="Rounded Rectangle 14"/>
          <p:cNvSpPr/>
          <p:nvPr/>
        </p:nvSpPr>
        <p:spPr>
          <a:xfrm>
            <a:off x="1234440" y="385876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9304" y="385876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Right use</a:t>
            </a:r>
          </a:p>
          <a:p>
            <a:pPr algn="ctr">
              <a:spcAft>
                <a:spcPts val="0"/>
              </a:spcAft>
            </a:pPr>
            <a:r>
              <a:rPr sz="900" b="0" i="1">
                <a:solidFill>
                  <a:srgbClr val="C9D4EF"/>
                </a:solidFill>
                <a:latin typeface="Calibri"/>
              </a:rPr>
              <a:t>need met, rest exchanged</a:t>
            </a:r>
          </a:p>
        </p:txBody>
      </p:sp>
      <p:sp>
        <p:nvSpPr>
          <p:cNvPr id="17" name="Rounded Rectangle 16"/>
          <p:cNvSpPr/>
          <p:nvPr/>
        </p:nvSpPr>
        <p:spPr>
          <a:xfrm>
            <a:off x="685800" y="2578608"/>
            <a:ext cx="1554480" cy="56692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2578608"/>
            <a:ext cx="1444752" cy="566928"/>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Renewed capacity</a:t>
            </a:r>
          </a:p>
          <a:p>
            <a:pPr algn="ctr">
              <a:spcAft>
                <a:spcPts val="0"/>
              </a:spcAft>
            </a:pPr>
            <a:r>
              <a:rPr sz="900" b="0" i="1">
                <a:solidFill>
                  <a:srgbClr val="C9D4EF"/>
                </a:solidFill>
                <a:latin typeface="Calibri"/>
              </a:rPr>
              <a:t>body and social life</a:t>
            </a:r>
          </a:p>
        </p:txBody>
      </p:sp>
      <p:cxnSp>
        <p:nvCxnSpPr>
          <p:cNvPr id="19" name="Connector 18"/>
          <p:cNvCxnSpPr/>
          <p:nvPr/>
        </p:nvCxnSpPr>
        <p:spPr>
          <a:xfrm>
            <a:off x="2807208" y="1581912"/>
            <a:ext cx="420624" cy="0"/>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480560" y="1883664"/>
            <a:ext cx="91440" cy="676656"/>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480560" y="3163824"/>
            <a:ext cx="91440" cy="676656"/>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807208" y="4142232"/>
            <a:ext cx="420624" cy="0"/>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371600" y="3163824"/>
            <a:ext cx="91440" cy="676656"/>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371600" y="1883664"/>
            <a:ext cx="91440" cy="676656"/>
          </a:xfrm>
          <a:prstGeom prst="line">
            <a:avLst/>
          </a:prstGeom>
          <a:ln w="19050">
            <a:solidFill>
              <a:srgbClr val="C982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57400" y="2542032"/>
            <a:ext cx="1691640" cy="640080"/>
          </a:xfrm>
          <a:prstGeom prst="rect">
            <a:avLst/>
          </a:prstGeom>
          <a:noFill/>
        </p:spPr>
        <p:txBody>
          <a:bodyPr wrap="square" lIns="0" rIns="0" tIns="0" bIns="0" anchor="ctr">
            <a:spAutoFit/>
          </a:bodyPr>
          <a:lstStyle/>
          <a:p>
            <a:pPr algn="ctr">
              <a:spcAft>
                <a:spcPts val="0"/>
              </a:spcAft>
            </a:pPr>
            <a:r>
              <a:rPr sz="1300" b="1" i="0">
                <a:solidFill>
                  <a:srgbClr val="1E2447"/>
                </a:solidFill>
                <a:latin typeface="Cambria"/>
              </a:rPr>
              <a:t>Provision cycle</a:t>
            </a:r>
          </a:p>
          <a:p>
            <a:pPr algn="ctr">
              <a:spcAft>
                <a:spcPts val="0"/>
              </a:spcAft>
            </a:pPr>
            <a:r>
              <a:rPr sz="950" b="0" i="1">
                <a:solidFill>
                  <a:srgbClr val="5A6377"/>
                </a:solidFill>
                <a:latin typeface="Calibri"/>
              </a:rPr>
              <a:t>AA p. 106 · JV p. 154</a:t>
            </a:r>
          </a:p>
        </p:txBody>
      </p:sp>
      <p:sp>
        <p:nvSpPr>
          <p:cNvPr id="26" name="Rounded Rectangle 25"/>
          <p:cNvSpPr/>
          <p:nvPr/>
        </p:nvSpPr>
        <p:spPr>
          <a:xfrm>
            <a:off x="5623560" y="1298448"/>
            <a:ext cx="2880360" cy="3127248"/>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06440" y="1417320"/>
            <a:ext cx="251460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Richer, not larger</a:t>
            </a:r>
          </a:p>
        </p:txBody>
      </p:sp>
      <p:sp>
        <p:nvSpPr>
          <p:cNvPr id="28" name="TextBox 27"/>
          <p:cNvSpPr txBox="1"/>
          <p:nvPr/>
        </p:nvSpPr>
        <p:spPr>
          <a:xfrm>
            <a:off x="5806440" y="1783080"/>
            <a:ext cx="2514600" cy="2560320"/>
          </a:xfrm>
          <a:prstGeom prst="rect">
            <a:avLst/>
          </a:prstGeom>
          <a:noFill/>
        </p:spPr>
        <p:txBody>
          <a:bodyPr wrap="square" lIns="0" rIns="0" tIns="0" bIns="0" anchor="t">
            <a:spAutoFit/>
          </a:bodyPr>
          <a:lstStyle/>
          <a:p>
            <a:pPr>
              <a:spcAft>
                <a:spcPts val="0"/>
              </a:spcAft>
            </a:pPr>
            <a:r>
              <a:rPr sz="1100" b="0" i="0">
                <a:solidFill>
                  <a:srgbClr val="5A6377"/>
                </a:solidFill>
                <a:latin typeface="Calibri"/>
              </a:rPr>
              <a:t>Mind operates body; together they make object values, useful to the body and satisfying to jeevan.</a:t>
            </a:r>
          </a:p>
          <a:p>
            <a:pPr>
              <a:spcBef>
                <a:spcPts val="600"/>
              </a:spcBef>
              <a:spcAft>
                <a:spcPts val="0"/>
              </a:spcAft>
            </a:pPr>
            <a:r>
              <a:rPr sz="1100" b="0" i="0">
                <a:solidFill>
                  <a:srgbClr val="5A6377"/>
                </a:solidFill>
                <a:latin typeface="Calibri"/>
              </a:rPr>
              <a:t>Each generation hands on more means in excess of need: means increase and the time required decreases.</a:t>
            </a:r>
          </a:p>
          <a:p>
            <a:pPr>
              <a:spcBef>
                <a:spcPts val="600"/>
              </a:spcBef>
              <a:spcAft>
                <a:spcPts val="0"/>
              </a:spcAft>
            </a:pPr>
            <a:r>
              <a:rPr sz="1100" b="0" i="1">
                <a:solidFill>
                  <a:srgbClr val="1E2447"/>
                </a:solidFill>
                <a:latin typeface="Calibri"/>
              </a:rPr>
              <a:t>The cycle grows richer without growing larger in consumption.</a:t>
            </a:r>
          </a:p>
        </p:txBody>
      </p:sp>
      <p:sp>
        <p:nvSpPr>
          <p:cNvPr id="29" name="TextBox 28"/>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26, 106, 118  ·  JV p. 154  ·  AnalyticMadhyasthDarshan.org  ·  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NEED AND PROSPERITY  ·  §3.4</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Need, Family, and Prosperity</a:t>
            </a:r>
          </a:p>
        </p:txBody>
      </p:sp>
      <p:sp>
        <p:nvSpPr>
          <p:cNvPr id="7" name="Rounded Rectangle 6"/>
          <p:cNvSpPr/>
          <p:nvPr/>
        </p:nvSpPr>
        <p:spPr>
          <a:xfrm>
            <a:off x="640080" y="1280160"/>
            <a:ext cx="3840480" cy="141732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The family makes need definite</a:t>
            </a:r>
          </a:p>
        </p:txBody>
      </p:sp>
      <p:sp>
        <p:nvSpPr>
          <p:cNvPr id="9" name="TextBox 8"/>
          <p:cNvSpPr txBox="1"/>
          <p:nvPr/>
        </p:nvSpPr>
        <p:spPr>
          <a:xfrm>
            <a:off x="822959" y="1719072"/>
            <a:ext cx="3474720" cy="8686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At least ten autonomous people, complementary in production. Use, right use and purposeful use become definite, so needs become limited.</a:t>
            </a:r>
          </a:p>
        </p:txBody>
      </p:sp>
      <p:sp>
        <p:nvSpPr>
          <p:cNvPr id="10" name="Rounded Rectangle 9"/>
          <p:cNvSpPr/>
          <p:nvPr/>
        </p:nvSpPr>
        <p:spPr>
          <a:xfrm>
            <a:off x="4663440" y="1280160"/>
            <a:ext cx="3840480" cy="141732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Prosperity</a:t>
            </a:r>
          </a:p>
        </p:txBody>
      </p:sp>
      <p:sp>
        <p:nvSpPr>
          <p:cNvPr id="12" name="TextBox 11"/>
          <p:cNvSpPr txBox="1"/>
          <p:nvPr/>
        </p:nvSpPr>
        <p:spPr>
          <a:xfrm>
            <a:off x="4846320" y="1719072"/>
            <a:ext cx="3474720" cy="8686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 lack of the sentiment of lacking; production in excess of needs, with its right use and security.</a:t>
            </a:r>
          </a:p>
        </p:txBody>
      </p:sp>
      <p:sp>
        <p:nvSpPr>
          <p:cNvPr id="13" name="Rounded Rectangle 12"/>
          <p:cNvSpPr/>
          <p:nvPr/>
        </p:nvSpPr>
        <p:spPr>
          <a:xfrm>
            <a:off x="640080" y="288036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9992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Prosperity cannot be private</a:t>
            </a:r>
          </a:p>
        </p:txBody>
      </p:sp>
      <p:sp>
        <p:nvSpPr>
          <p:cNvPr id="15" name="TextBox 14"/>
          <p:cNvSpPr txBox="1"/>
          <p:nvPr/>
        </p:nvSpPr>
        <p:spPr>
          <a:xfrm>
            <a:off x="822959" y="331927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For one family to be prosperous, more than one must be; prosperity through accumulation is delusion.</a:t>
            </a:r>
          </a:p>
        </p:txBody>
      </p:sp>
      <p:sp>
        <p:nvSpPr>
          <p:cNvPr id="16" name="Rounded Rectangle 15"/>
          <p:cNvSpPr/>
          <p:nvPr/>
        </p:nvSpPr>
        <p:spPr>
          <a:xfrm>
            <a:off x="4663440" y="288036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9992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The satiation point of exchange</a:t>
            </a:r>
          </a:p>
        </p:txBody>
      </p:sp>
      <p:sp>
        <p:nvSpPr>
          <p:cNvPr id="18" name="TextBox 17"/>
          <p:cNvSpPr txBox="1"/>
          <p:nvPr/>
        </p:nvSpPr>
        <p:spPr>
          <a:xfrm>
            <a:off x="4846320" y="331927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After exchange, remuneration is just as much as was produced: no profit and no loss in labour.</a:t>
            </a:r>
          </a:p>
        </p:txBody>
      </p:sp>
      <p:sp>
        <p:nvSpPr>
          <p:cNvPr id="19" name="TextBox 18"/>
          <p:cNvSpPr txBox="1"/>
          <p:nvPr/>
        </p:nvSpPr>
        <p:spPr>
          <a:xfrm>
            <a:off x="640080" y="4279392"/>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In a wise family, two to four members may produce beyond the whole family's necessity.</a:t>
            </a:r>
          </a:p>
        </p:txBody>
      </p:sp>
      <p:sp>
        <p:nvSpPr>
          <p:cNvPr id="20" name="TextBox 19"/>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14, 26, 62–63, 65, 76, 113–114  ·  MVD p. 71  ·  JV p. 153  ·  KD p. 115  ·  AnalyticMadhyasthDarshan.org  ·  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THREE LEVELS OF USE  ·  §3.5</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Use, Right Use, Purposeful Use</a:t>
            </a:r>
          </a:p>
        </p:txBody>
      </p:sp>
      <p:sp>
        <p:nvSpPr>
          <p:cNvPr id="7" name="Rectangle 6"/>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280160"/>
            <a:ext cx="146304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Level</a:t>
            </a:r>
          </a:p>
        </p:txBody>
      </p:sp>
      <p:sp>
        <p:nvSpPr>
          <p:cNvPr id="9" name="TextBox 8"/>
          <p:cNvSpPr txBox="1"/>
          <p:nvPr/>
        </p:nvSpPr>
        <p:spPr>
          <a:xfrm>
            <a:off x="2331720" y="1280160"/>
            <a:ext cx="315468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What it serves</a:t>
            </a:r>
          </a:p>
        </p:txBody>
      </p:sp>
      <p:sp>
        <p:nvSpPr>
          <p:cNvPr id="10" name="TextBox 9"/>
          <p:cNvSpPr txBox="1"/>
          <p:nvPr/>
        </p:nvSpPr>
        <p:spPr>
          <a:xfrm>
            <a:off x="5623560" y="1280160"/>
            <a:ext cx="137160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Scale</a:t>
            </a:r>
          </a:p>
        </p:txBody>
      </p:sp>
      <p:sp>
        <p:nvSpPr>
          <p:cNvPr id="11" name="TextBox 10"/>
          <p:cNvSpPr txBox="1"/>
          <p:nvPr/>
        </p:nvSpPr>
        <p:spPr>
          <a:xfrm>
            <a:off x="7132320" y="1280160"/>
            <a:ext cx="132588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Paired with</a:t>
            </a:r>
          </a:p>
        </p:txBody>
      </p:sp>
      <p:sp>
        <p:nvSpPr>
          <p:cNvPr id="12" name="Rectangle 11"/>
          <p:cNvSpPr/>
          <p:nvPr/>
        </p:nvSpPr>
        <p:spPr>
          <a:xfrm>
            <a:off x="640080" y="1572768"/>
            <a:ext cx="7863840" cy="5029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06654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19" y="1600200"/>
            <a:ext cx="1435608" cy="44805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Use</a:t>
            </a:r>
          </a:p>
        </p:txBody>
      </p:sp>
      <p:sp>
        <p:nvSpPr>
          <p:cNvPr id="15" name="TextBox 14"/>
          <p:cNvSpPr txBox="1"/>
          <p:nvPr/>
        </p:nvSpPr>
        <p:spPr>
          <a:xfrm>
            <a:off x="2331720" y="1600200"/>
            <a:ext cx="31272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Nourishment and protection of the body; social participation</a:t>
            </a:r>
          </a:p>
        </p:txBody>
      </p:sp>
      <p:sp>
        <p:nvSpPr>
          <p:cNvPr id="16" name="TextBox 15"/>
          <p:cNvSpPr txBox="1"/>
          <p:nvPr/>
        </p:nvSpPr>
        <p:spPr>
          <a:xfrm>
            <a:off x="5623560" y="1600200"/>
            <a:ext cx="134416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The family</a:t>
            </a:r>
          </a:p>
        </p:txBody>
      </p:sp>
      <p:sp>
        <p:nvSpPr>
          <p:cNvPr id="17" name="TextBox 16"/>
          <p:cNvSpPr txBox="1"/>
          <p:nvPr/>
        </p:nvSpPr>
        <p:spPr>
          <a:xfrm>
            <a:off x="7132320" y="1600200"/>
            <a:ext cx="12984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Justice</a:t>
            </a:r>
          </a:p>
        </p:txBody>
      </p:sp>
      <p:sp>
        <p:nvSpPr>
          <p:cNvPr id="18" name="Rectangle 17"/>
          <p:cNvSpPr/>
          <p:nvPr/>
        </p:nvSpPr>
        <p:spPr>
          <a:xfrm>
            <a:off x="640080" y="256946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2103120"/>
            <a:ext cx="1435608" cy="44805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Right use</a:t>
            </a:r>
          </a:p>
        </p:txBody>
      </p:sp>
      <p:sp>
        <p:nvSpPr>
          <p:cNvPr id="20" name="TextBox 19"/>
          <p:cNvSpPr txBox="1"/>
          <p:nvPr/>
        </p:nvSpPr>
        <p:spPr>
          <a:xfrm>
            <a:off x="2331720" y="2103120"/>
            <a:ext cx="31272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Orderliness and the motion of undivided society</a:t>
            </a:r>
          </a:p>
        </p:txBody>
      </p:sp>
      <p:sp>
        <p:nvSpPr>
          <p:cNvPr id="21" name="TextBox 20"/>
          <p:cNvSpPr txBox="1"/>
          <p:nvPr/>
        </p:nvSpPr>
        <p:spPr>
          <a:xfrm>
            <a:off x="5623560" y="2103120"/>
            <a:ext cx="134416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Society</a:t>
            </a:r>
          </a:p>
        </p:txBody>
      </p:sp>
      <p:sp>
        <p:nvSpPr>
          <p:cNvPr id="22" name="TextBox 21"/>
          <p:cNvSpPr txBox="1"/>
          <p:nvPr/>
        </p:nvSpPr>
        <p:spPr>
          <a:xfrm>
            <a:off x="7132320" y="2103120"/>
            <a:ext cx="12984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Resolution</a:t>
            </a:r>
          </a:p>
        </p:txBody>
      </p:sp>
      <p:sp>
        <p:nvSpPr>
          <p:cNvPr id="23" name="Rectangle 22"/>
          <p:cNvSpPr/>
          <p:nvPr/>
        </p:nvSpPr>
        <p:spPr>
          <a:xfrm>
            <a:off x="640080" y="2578608"/>
            <a:ext cx="7863840" cy="5029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07238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19" y="2606040"/>
            <a:ext cx="1435608" cy="448056"/>
          </a:xfrm>
          <a:prstGeom prst="rect">
            <a:avLst/>
          </a:prstGeom>
          <a:noFill/>
        </p:spPr>
        <p:txBody>
          <a:bodyPr wrap="square" lIns="0" rIns="0" tIns="0" bIns="0" anchor="ctr">
            <a:spAutoFit/>
          </a:bodyPr>
          <a:lstStyle/>
          <a:p>
            <a:pPr>
              <a:spcAft>
                <a:spcPts val="0"/>
              </a:spcAft>
            </a:pPr>
            <a:r>
              <a:rPr sz="1100" b="1" i="0">
                <a:solidFill>
                  <a:srgbClr val="1E2447"/>
                </a:solidFill>
                <a:latin typeface="Calibri"/>
              </a:rPr>
              <a:t>Purposeful use</a:t>
            </a:r>
          </a:p>
        </p:txBody>
      </p:sp>
      <p:sp>
        <p:nvSpPr>
          <p:cNvPr id="26" name="TextBox 25"/>
          <p:cNvSpPr txBox="1"/>
          <p:nvPr/>
        </p:nvSpPr>
        <p:spPr>
          <a:xfrm>
            <a:off x="2331720" y="2606040"/>
            <a:ext cx="31272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Evidencing understanding from generation to generation</a:t>
            </a:r>
          </a:p>
        </p:txBody>
      </p:sp>
      <p:sp>
        <p:nvSpPr>
          <p:cNvPr id="27" name="TextBox 26"/>
          <p:cNvSpPr txBox="1"/>
          <p:nvPr/>
        </p:nvSpPr>
        <p:spPr>
          <a:xfrm>
            <a:off x="5623560" y="2606040"/>
            <a:ext cx="134416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Universal order</a:t>
            </a:r>
          </a:p>
        </p:txBody>
      </p:sp>
      <p:sp>
        <p:nvSpPr>
          <p:cNvPr id="28" name="TextBox 27"/>
          <p:cNvSpPr txBox="1"/>
          <p:nvPr/>
        </p:nvSpPr>
        <p:spPr>
          <a:xfrm>
            <a:off x="7132320" y="2606040"/>
            <a:ext cx="1298448" cy="44805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Authenticity</a:t>
            </a:r>
          </a:p>
        </p:txBody>
      </p:sp>
      <p:sp>
        <p:nvSpPr>
          <p:cNvPr id="29" name="Rounded Rectangle 28"/>
          <p:cNvSpPr/>
          <p:nvPr/>
        </p:nvSpPr>
        <p:spPr>
          <a:xfrm>
            <a:off x="640080" y="3200400"/>
            <a:ext cx="7863840" cy="7772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246120"/>
            <a:ext cx="1371600" cy="685800"/>
          </a:xfrm>
          <a:prstGeom prst="rect">
            <a:avLst/>
          </a:prstGeom>
          <a:noFill/>
        </p:spPr>
        <p:txBody>
          <a:bodyPr wrap="square" lIns="0" rIns="0" tIns="0" bIns="0" anchor="ctr">
            <a:spAutoFit/>
          </a:bodyPr>
          <a:lstStyle/>
          <a:p>
            <a:pPr>
              <a:spcAft>
                <a:spcPts val="0"/>
              </a:spcAft>
            </a:pPr>
            <a:r>
              <a:rPr sz="1200" b="1" i="0">
                <a:solidFill>
                  <a:srgbClr val="9A6414"/>
                </a:solidFill>
                <a:latin typeface="Cambria"/>
              </a:rPr>
              <a:t>Values are ordered by what they serve</a:t>
            </a:r>
          </a:p>
        </p:txBody>
      </p:sp>
      <p:sp>
        <p:nvSpPr>
          <p:cNvPr id="31" name="Rounded Rectangle 30"/>
          <p:cNvSpPr/>
          <p:nvPr/>
        </p:nvSpPr>
        <p:spPr>
          <a:xfrm>
            <a:off x="2423160" y="3383280"/>
            <a:ext cx="960120" cy="4114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78024" y="3383280"/>
            <a:ext cx="850392" cy="4114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object</a:t>
            </a:r>
          </a:p>
        </p:txBody>
      </p:sp>
      <p:sp>
        <p:nvSpPr>
          <p:cNvPr id="33" name="TextBox 32"/>
          <p:cNvSpPr txBox="1"/>
          <p:nvPr/>
        </p:nvSpPr>
        <p:spPr>
          <a:xfrm>
            <a:off x="3383280" y="3401568"/>
            <a:ext cx="256032" cy="365760"/>
          </a:xfrm>
          <a:prstGeom prst="rect">
            <a:avLst/>
          </a:prstGeom>
          <a:noFill/>
        </p:spPr>
        <p:txBody>
          <a:bodyPr wrap="square" lIns="0" rIns="0" tIns="0" bIns="0" anchor="ctr">
            <a:spAutoFit/>
          </a:bodyPr>
          <a:lstStyle/>
          <a:p>
            <a:pPr algn="ctr">
              <a:spcAft>
                <a:spcPts val="0"/>
              </a:spcAft>
            </a:pPr>
            <a:r>
              <a:rPr sz="1600" b="1" i="0">
                <a:solidFill>
                  <a:srgbClr val="C9821E"/>
                </a:solidFill>
                <a:latin typeface="Calibri"/>
              </a:rPr>
              <a:t>›</a:t>
            </a:r>
          </a:p>
        </p:txBody>
      </p:sp>
      <p:sp>
        <p:nvSpPr>
          <p:cNvPr id="34" name="Rounded Rectangle 33"/>
          <p:cNvSpPr/>
          <p:nvPr/>
        </p:nvSpPr>
        <p:spPr>
          <a:xfrm>
            <a:off x="3639312" y="3383280"/>
            <a:ext cx="960120" cy="4114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94176" y="3383280"/>
            <a:ext cx="850392" cy="4114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civic</a:t>
            </a:r>
          </a:p>
        </p:txBody>
      </p:sp>
      <p:sp>
        <p:nvSpPr>
          <p:cNvPr id="36" name="TextBox 35"/>
          <p:cNvSpPr txBox="1"/>
          <p:nvPr/>
        </p:nvSpPr>
        <p:spPr>
          <a:xfrm>
            <a:off x="4599432" y="3401568"/>
            <a:ext cx="256032" cy="365760"/>
          </a:xfrm>
          <a:prstGeom prst="rect">
            <a:avLst/>
          </a:prstGeom>
          <a:noFill/>
        </p:spPr>
        <p:txBody>
          <a:bodyPr wrap="square" lIns="0" rIns="0" tIns="0" bIns="0" anchor="ctr">
            <a:spAutoFit/>
          </a:bodyPr>
          <a:lstStyle/>
          <a:p>
            <a:pPr algn="ctr">
              <a:spcAft>
                <a:spcPts val="0"/>
              </a:spcAft>
            </a:pPr>
            <a:r>
              <a:rPr sz="1600" b="1" i="0">
                <a:solidFill>
                  <a:srgbClr val="C9821E"/>
                </a:solidFill>
                <a:latin typeface="Calibri"/>
              </a:rPr>
              <a:t>›</a:t>
            </a:r>
          </a:p>
        </p:txBody>
      </p:sp>
      <p:sp>
        <p:nvSpPr>
          <p:cNvPr id="37" name="Rounded Rectangle 36"/>
          <p:cNvSpPr/>
          <p:nvPr/>
        </p:nvSpPr>
        <p:spPr>
          <a:xfrm>
            <a:off x="4855464" y="3383280"/>
            <a:ext cx="960120" cy="4114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10328" y="3383280"/>
            <a:ext cx="850392" cy="4114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established</a:t>
            </a:r>
          </a:p>
        </p:txBody>
      </p:sp>
      <p:sp>
        <p:nvSpPr>
          <p:cNvPr id="39" name="TextBox 38"/>
          <p:cNvSpPr txBox="1"/>
          <p:nvPr/>
        </p:nvSpPr>
        <p:spPr>
          <a:xfrm>
            <a:off x="5815584" y="3401568"/>
            <a:ext cx="256032" cy="365760"/>
          </a:xfrm>
          <a:prstGeom prst="rect">
            <a:avLst/>
          </a:prstGeom>
          <a:noFill/>
        </p:spPr>
        <p:txBody>
          <a:bodyPr wrap="square" lIns="0" rIns="0" tIns="0" bIns="0" anchor="ctr">
            <a:spAutoFit/>
          </a:bodyPr>
          <a:lstStyle/>
          <a:p>
            <a:pPr algn="ctr">
              <a:spcAft>
                <a:spcPts val="0"/>
              </a:spcAft>
            </a:pPr>
            <a:r>
              <a:rPr sz="1600" b="1" i="0">
                <a:solidFill>
                  <a:srgbClr val="C9821E"/>
                </a:solidFill>
                <a:latin typeface="Calibri"/>
              </a:rPr>
              <a:t>›</a:t>
            </a:r>
          </a:p>
        </p:txBody>
      </p:sp>
      <p:sp>
        <p:nvSpPr>
          <p:cNvPr id="40" name="Rounded Rectangle 39"/>
          <p:cNvSpPr/>
          <p:nvPr/>
        </p:nvSpPr>
        <p:spPr>
          <a:xfrm>
            <a:off x="6071616" y="3383280"/>
            <a:ext cx="960120" cy="4114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0" y="3383280"/>
            <a:ext cx="850392" cy="4114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human</a:t>
            </a:r>
          </a:p>
        </p:txBody>
      </p:sp>
      <p:sp>
        <p:nvSpPr>
          <p:cNvPr id="42" name="TextBox 41"/>
          <p:cNvSpPr txBox="1"/>
          <p:nvPr/>
        </p:nvSpPr>
        <p:spPr>
          <a:xfrm>
            <a:off x="7031736" y="3401568"/>
            <a:ext cx="256032" cy="365760"/>
          </a:xfrm>
          <a:prstGeom prst="rect">
            <a:avLst/>
          </a:prstGeom>
          <a:noFill/>
        </p:spPr>
        <p:txBody>
          <a:bodyPr wrap="square" lIns="0" rIns="0" tIns="0" bIns="0" anchor="ctr">
            <a:spAutoFit/>
          </a:bodyPr>
          <a:lstStyle/>
          <a:p>
            <a:pPr algn="ctr">
              <a:spcAft>
                <a:spcPts val="0"/>
              </a:spcAft>
            </a:pPr>
            <a:r>
              <a:rPr sz="1600" b="1" i="0">
                <a:solidFill>
                  <a:srgbClr val="C9821E"/>
                </a:solidFill>
                <a:latin typeface="Calibri"/>
              </a:rPr>
              <a:t>›</a:t>
            </a:r>
          </a:p>
        </p:txBody>
      </p:sp>
      <p:sp>
        <p:nvSpPr>
          <p:cNvPr id="43" name="Rounded Rectangle 42"/>
          <p:cNvSpPr/>
          <p:nvPr/>
        </p:nvSpPr>
        <p:spPr>
          <a:xfrm>
            <a:off x="7287768" y="3383280"/>
            <a:ext cx="960120" cy="4114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42632" y="3383280"/>
            <a:ext cx="850392" cy="411480"/>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jeevan</a:t>
            </a:r>
          </a:p>
        </p:txBody>
      </p:sp>
      <p:sp>
        <p:nvSpPr>
          <p:cNvPr id="45" name="TextBox 44"/>
          <p:cNvSpPr txBox="1"/>
          <p:nvPr/>
        </p:nvSpPr>
        <p:spPr>
          <a:xfrm>
            <a:off x="640080" y="416052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Wealth serving higher purposes ranks high; higher purposes made to serve wealth rank low.</a:t>
            </a:r>
          </a:p>
        </p:txBody>
      </p:sp>
      <p:sp>
        <p:nvSpPr>
          <p:cNvPr id="46" name="TextBox 45"/>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20–24, 68, 72, 92, 94, 116  ·  MVD p. 56  ·  KD pp. 4, 116  ·  AnalyticMadhyasthDarshan.org  ·  17 /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THE VALUE OF LABOUR  ·  §§3.6, 3.12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Giving Labour Its True Value</a:t>
            </a:r>
          </a:p>
        </p:txBody>
      </p:sp>
      <p:sp>
        <p:nvSpPr>
          <p:cNvPr id="7" name="Rounded Rectangle 6"/>
          <p:cNvSpPr/>
          <p:nvPr/>
        </p:nvSpPr>
        <p:spPr>
          <a:xfrm>
            <a:off x="640080" y="1298448"/>
            <a:ext cx="178308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298448"/>
            <a:ext cx="1673352" cy="658368"/>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Labour</a:t>
            </a:r>
          </a:p>
          <a:p>
            <a:pPr algn="ctr">
              <a:spcAft>
                <a:spcPts val="0"/>
              </a:spcAft>
            </a:pPr>
            <a:r>
              <a:rPr sz="1000" b="0" i="1">
                <a:solidFill>
                  <a:srgbClr val="C9D4EF"/>
                </a:solidFill>
                <a:latin typeface="Calibri"/>
              </a:rPr>
              <a:t>on natural abundance</a:t>
            </a:r>
          </a:p>
        </p:txBody>
      </p:sp>
      <p:sp>
        <p:nvSpPr>
          <p:cNvPr id="9" name="TextBox 8"/>
          <p:cNvSpPr txBox="1"/>
          <p:nvPr/>
        </p:nvSpPr>
        <p:spPr>
          <a:xfrm>
            <a:off x="2423160" y="1444752"/>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0" name="Rounded Rectangle 9"/>
          <p:cNvSpPr/>
          <p:nvPr/>
        </p:nvSpPr>
        <p:spPr>
          <a:xfrm>
            <a:off x="2642615" y="1298448"/>
            <a:ext cx="178308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298448"/>
            <a:ext cx="1673352" cy="658368"/>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Object</a:t>
            </a:r>
          </a:p>
          <a:p>
            <a:pPr algn="ctr">
              <a:spcAft>
                <a:spcPts val="0"/>
              </a:spcAft>
            </a:pPr>
            <a:r>
              <a:rPr sz="1000" b="0" i="1">
                <a:solidFill>
                  <a:srgbClr val="C9D4EF"/>
                </a:solidFill>
                <a:latin typeface="Calibri"/>
              </a:rPr>
              <a:t>useful and beautiful</a:t>
            </a:r>
          </a:p>
        </p:txBody>
      </p:sp>
      <p:sp>
        <p:nvSpPr>
          <p:cNvPr id="12" name="TextBox 11"/>
          <p:cNvSpPr txBox="1"/>
          <p:nvPr/>
        </p:nvSpPr>
        <p:spPr>
          <a:xfrm>
            <a:off x="4425696" y="1444752"/>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3" name="Rounded Rectangle 12"/>
          <p:cNvSpPr/>
          <p:nvPr/>
        </p:nvSpPr>
        <p:spPr>
          <a:xfrm>
            <a:off x="4645152" y="1298448"/>
            <a:ext cx="178308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0016" y="1298448"/>
            <a:ext cx="1673352" cy="658368"/>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Usefulness</a:t>
            </a:r>
          </a:p>
          <a:p>
            <a:pPr algn="ctr">
              <a:spcAft>
                <a:spcPts val="0"/>
              </a:spcAft>
            </a:pPr>
            <a:r>
              <a:rPr sz="1000" b="0" i="1">
                <a:solidFill>
                  <a:srgbClr val="C9D4EF"/>
                </a:solidFill>
                <a:latin typeface="Calibri"/>
              </a:rPr>
              <a:t>what it fulfils</a:t>
            </a:r>
          </a:p>
        </p:txBody>
      </p:sp>
      <p:sp>
        <p:nvSpPr>
          <p:cNvPr id="15" name="TextBox 14"/>
          <p:cNvSpPr txBox="1"/>
          <p:nvPr/>
        </p:nvSpPr>
        <p:spPr>
          <a:xfrm>
            <a:off x="6428232" y="1444752"/>
            <a:ext cx="219456"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6" name="Rounded Rectangle 15"/>
          <p:cNvSpPr/>
          <p:nvPr/>
        </p:nvSpPr>
        <p:spPr>
          <a:xfrm>
            <a:off x="6647688" y="1298448"/>
            <a:ext cx="1783080"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2552" y="1298448"/>
            <a:ext cx="1673352" cy="658368"/>
          </a:xfrm>
          <a:prstGeom prst="rect">
            <a:avLst/>
          </a:prstGeom>
          <a:noFill/>
        </p:spPr>
        <p:txBody>
          <a:bodyPr wrap="square" lIns="0" rIns="0" tIns="0" bIns="0" anchor="ctr">
            <a:spAutoFit/>
          </a:bodyPr>
          <a:lstStyle/>
          <a:p>
            <a:pPr algn="ctr">
              <a:spcAft>
                <a:spcPts val="0"/>
              </a:spcAft>
            </a:pPr>
            <a:r>
              <a:rPr sz="1250" b="1" i="0">
                <a:solidFill>
                  <a:srgbClr val="FFFFFF"/>
                </a:solidFill>
                <a:latin typeface="Cambria"/>
              </a:rPr>
              <a:t>Valuation</a:t>
            </a:r>
          </a:p>
          <a:p>
            <a:pPr algn="ctr">
              <a:spcAft>
                <a:spcPts val="0"/>
              </a:spcAft>
            </a:pPr>
            <a:r>
              <a:rPr sz="1000" b="0" i="1">
                <a:solidFill>
                  <a:srgbClr val="C9D4EF"/>
                </a:solidFill>
                <a:latin typeface="Calibri"/>
              </a:rPr>
              <a:t>by labour, not symbol</a:t>
            </a:r>
          </a:p>
        </p:txBody>
      </p:sp>
      <p:sp>
        <p:nvSpPr>
          <p:cNvPr id="18" name="Rounded Rectangle 17"/>
          <p:cNvSpPr/>
          <p:nvPr/>
        </p:nvSpPr>
        <p:spPr>
          <a:xfrm>
            <a:off x="640080" y="2212848"/>
            <a:ext cx="2496312" cy="16002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2331720"/>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Value is participation</a:t>
            </a:r>
          </a:p>
        </p:txBody>
      </p:sp>
      <p:sp>
        <p:nvSpPr>
          <p:cNvPr id="20" name="TextBox 19"/>
          <p:cNvSpPr txBox="1"/>
          <p:nvPr/>
        </p:nvSpPr>
        <p:spPr>
          <a:xfrm>
            <a:off x="822959" y="2651759"/>
            <a:ext cx="2130552" cy="10515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 value of a thing is what it fulfils in the order of the whole: nourishment, protection, social participation.</a:t>
            </a:r>
          </a:p>
        </p:txBody>
      </p:sp>
      <p:sp>
        <p:nvSpPr>
          <p:cNvPr id="21" name="Rounded Rectangle 20"/>
          <p:cNvSpPr/>
          <p:nvPr/>
        </p:nvSpPr>
        <p:spPr>
          <a:xfrm>
            <a:off x="3328416" y="2212848"/>
            <a:ext cx="2496312" cy="16002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11296" y="2331720"/>
            <a:ext cx="2130552"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Measured for exchange</a:t>
            </a:r>
          </a:p>
        </p:txBody>
      </p:sp>
      <p:sp>
        <p:nvSpPr>
          <p:cNvPr id="23" name="TextBox 22"/>
          <p:cNvSpPr txBox="1"/>
          <p:nvPr/>
        </p:nvSpPr>
        <p:spPr>
          <a:xfrm>
            <a:off x="3511296" y="2651759"/>
            <a:ext cx="2130552" cy="1051560"/>
          </a:xfrm>
          <a:prstGeom prst="rect">
            <a:avLst/>
          </a:prstGeom>
          <a:noFill/>
        </p:spPr>
        <p:txBody>
          <a:bodyPr wrap="square" lIns="0" rIns="0" tIns="0" bIns="0" anchor="t">
            <a:noAutofit/>
          </a:bodyPr>
          <a:lstStyle/>
          <a:p>
            <a:pPr>
              <a:spcAft>
                <a:spcPts val="0"/>
              </a:spcAft>
            </a:pPr>
            <a:r>
              <a:rPr sz="1150" b="0" i="0">
                <a:solidFill>
                  <a:srgbClr val="5A6377"/>
                </a:solidFill>
                <a:latin typeface="Calibri"/>
              </a:rPr>
              <a:t>Skill, proficiency, speed, time and means; a common value from the range of yields. Inside the family, no weighing.</a:t>
            </a:r>
          </a:p>
        </p:txBody>
      </p:sp>
      <p:sp>
        <p:nvSpPr>
          <p:cNvPr id="24" name="Rounded Rectangle 23"/>
          <p:cNvSpPr/>
          <p:nvPr/>
        </p:nvSpPr>
        <p:spPr>
          <a:xfrm>
            <a:off x="6016752" y="2212848"/>
            <a:ext cx="2487168" cy="160020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9632" y="2331720"/>
            <a:ext cx="2121408"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Honoured in policy</a:t>
            </a:r>
          </a:p>
        </p:txBody>
      </p:sp>
      <p:sp>
        <p:nvSpPr>
          <p:cNvPr id="26" name="TextBox 25"/>
          <p:cNvSpPr txBox="1"/>
          <p:nvPr/>
        </p:nvSpPr>
        <p:spPr>
          <a:xfrm>
            <a:off x="6199632" y="2651759"/>
            <a:ext cx="2121408" cy="105156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Honour by capacity, ability and receptivity; no exploitation of the fruits of labour.</a:t>
            </a:r>
          </a:p>
        </p:txBody>
      </p:sp>
      <p:sp>
        <p:nvSpPr>
          <p:cNvPr id="27" name="TextBox 26"/>
          <p:cNvSpPr txBox="1"/>
          <p:nvPr/>
        </p:nvSpPr>
        <p:spPr>
          <a:xfrm>
            <a:off x="640080" y="402336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To give labour its true value is to value it by the usefulness it establishes, not by the currency it can command.</a:t>
            </a:r>
          </a:p>
        </p:txBody>
      </p:sp>
      <p:sp>
        <p:nvSpPr>
          <p:cNvPr id="28" name="TextBox 27"/>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AA pp. 49, 66, 112, 119–120, 143, 145  ·  MVD pp. 265–268  ·  Axiology §§1.1, 1.5–1.6  ·  AnalyticMadhyasthDarshan.org  ·  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CHARACTER  ·  §3.7</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Righteous Wealth and Care</a:t>
            </a:r>
          </a:p>
        </p:txBody>
      </p:sp>
      <p:sp>
        <p:nvSpPr>
          <p:cNvPr id="7" name="Rounded Rectangle 6"/>
          <p:cNvSpPr/>
          <p:nvPr/>
        </p:nvSpPr>
        <p:spPr>
          <a:xfrm>
            <a:off x="640080" y="1280160"/>
            <a:ext cx="3840480" cy="13716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Righteous wealth (svadhan)</a:t>
            </a:r>
          </a:p>
        </p:txBody>
      </p:sp>
      <p:sp>
        <p:nvSpPr>
          <p:cNvPr id="9" name="TextBox 8"/>
          <p:cNvSpPr txBox="1"/>
          <p:nvPr/>
        </p:nvSpPr>
        <p:spPr>
          <a:xfrm>
            <a:off x="822959" y="1719072"/>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Received as remuneration of one's own labour, as a gift, or as an award. Ill-gotten wealth, through exploitation and hypocrisy, is crime.</a:t>
            </a:r>
          </a:p>
        </p:txBody>
      </p:sp>
      <p:sp>
        <p:nvSpPr>
          <p:cNvPr id="10" name="Rounded Rectangle 9"/>
          <p:cNvSpPr/>
          <p:nvPr/>
        </p:nvSpPr>
        <p:spPr>
          <a:xfrm>
            <a:off x="4663440" y="1280160"/>
            <a:ext cx="3840480" cy="13716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Three motives &amp; responsibility</a:t>
            </a:r>
          </a:p>
        </p:txBody>
      </p:sp>
      <p:sp>
        <p:nvSpPr>
          <p:cNvPr id="12" name="TextBox 11"/>
          <p:cNvSpPr txBox="1"/>
          <p:nvPr/>
        </p:nvSpPr>
        <p:spPr>
          <a:xfrm>
            <a:off x="4846320" y="1719072"/>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Progeny, wealth and public welfare are humane motives, with public welfare highest; responsibility covers doing, commissioning and consenting.</a:t>
            </a:r>
          </a:p>
        </p:txBody>
      </p:sp>
      <p:sp>
        <p:nvSpPr>
          <p:cNvPr id="13" name="Rounded Rectangle 12"/>
          <p:cNvSpPr/>
          <p:nvPr/>
        </p:nvSpPr>
        <p:spPr>
          <a:xfrm>
            <a:off x="640080" y="2834640"/>
            <a:ext cx="3840480" cy="132588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95351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Generosity</a:t>
            </a:r>
          </a:p>
        </p:txBody>
      </p:sp>
      <p:sp>
        <p:nvSpPr>
          <p:cNvPr id="15" name="TextBox 14"/>
          <p:cNvSpPr txBox="1"/>
          <p:nvPr/>
        </p:nvSpPr>
        <p:spPr>
          <a:xfrm>
            <a:off x="822959" y="3273551"/>
            <a:ext cx="3474720" cy="7772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Offering body, mind and wealth, as needed, for others' awakening, health and prosperity; wealth is satisfied through it.</a:t>
            </a:r>
          </a:p>
        </p:txBody>
      </p:sp>
      <p:sp>
        <p:nvSpPr>
          <p:cNvPr id="16" name="Rounded Rectangle 15"/>
          <p:cNvSpPr/>
          <p:nvPr/>
        </p:nvSpPr>
        <p:spPr>
          <a:xfrm>
            <a:off x="4663440" y="2834640"/>
            <a:ext cx="3840480" cy="132588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95351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Care for those who cannot produce</a:t>
            </a:r>
          </a:p>
        </p:txBody>
      </p:sp>
      <p:sp>
        <p:nvSpPr>
          <p:cNvPr id="18" name="TextBox 17"/>
          <p:cNvSpPr txBox="1"/>
          <p:nvPr/>
        </p:nvSpPr>
        <p:spPr>
          <a:xfrm>
            <a:off x="4846320" y="3273551"/>
            <a:ext cx="3474720" cy="7772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Sharing within the family; kindness that brings an object where there is receptivity but no object.</a:t>
            </a:r>
          </a:p>
        </p:txBody>
      </p:sp>
      <p:sp>
        <p:nvSpPr>
          <p:cNvPr id="19" name="TextBox 18"/>
          <p:cNvSpPr txBox="1"/>
          <p:nvPr/>
        </p:nvSpPr>
        <p:spPr>
          <a:xfrm>
            <a:off x="640080" y="4279392"/>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Once a family is resolved and prosperous, the propensity of benevolence answers where its surplus goes.</a:t>
            </a:r>
          </a:p>
        </p:txBody>
      </p:sp>
      <p:sp>
        <p:nvSpPr>
          <p:cNvPr id="20" name="TextBox 19"/>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 22–24, 54, 101–102, 140  ·  MVD pp. 59, 211, 263, 318–320, 339  ·  KD pp. 1–2, 116–117  ·  AnalyticMadhyasthDarshan.org  ·  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NATURE'S BALANCE  ·  §3.8</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Production Within Nature's Balance</a:t>
            </a:r>
          </a:p>
        </p:txBody>
      </p:sp>
      <p:sp>
        <p:nvSpPr>
          <p:cNvPr id="7" name="Rectangle 6"/>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280160"/>
            <a:ext cx="3794759"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Lawful</a:t>
            </a:r>
          </a:p>
        </p:txBody>
      </p:sp>
      <p:sp>
        <p:nvSpPr>
          <p:cNvPr id="9" name="TextBox 8"/>
          <p:cNvSpPr txBox="1"/>
          <p:nvPr/>
        </p:nvSpPr>
        <p:spPr>
          <a:xfrm>
            <a:off x="4663440" y="1280160"/>
            <a:ext cx="3794759"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Unlawful</a:t>
            </a:r>
          </a:p>
        </p:txBody>
      </p:sp>
      <p:sp>
        <p:nvSpPr>
          <p:cNvPr id="10" name="Rectangle 9"/>
          <p:cNvSpPr/>
          <p:nvPr/>
        </p:nvSpPr>
        <p:spPr>
          <a:xfrm>
            <a:off x="640080" y="1572768"/>
            <a:ext cx="786384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0208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1600200"/>
            <a:ext cx="3767328" cy="402336"/>
          </a:xfrm>
          <a:prstGeom prst="rect">
            <a:avLst/>
          </a:prstGeom>
          <a:noFill/>
        </p:spPr>
        <p:txBody>
          <a:bodyPr wrap="square" lIns="0" rIns="0" tIns="0" bIns="0" anchor="ctr">
            <a:spAutoFit/>
          </a:bodyPr>
          <a:lstStyle/>
          <a:p>
            <a:pPr>
              <a:spcAft>
                <a:spcPts val="0"/>
              </a:spcAft>
            </a:pPr>
            <a:r>
              <a:rPr sz="1100" b="0" i="0">
                <a:solidFill>
                  <a:srgbClr val="1E2447"/>
                </a:solidFill>
                <a:latin typeface="Calibri"/>
              </a:rPr>
              <a:t>Using minerals and forests in proportion to their regeneration</a:t>
            </a:r>
          </a:p>
        </p:txBody>
      </p:sp>
      <p:sp>
        <p:nvSpPr>
          <p:cNvPr id="13" name="TextBox 12"/>
          <p:cNvSpPr txBox="1"/>
          <p:nvPr/>
        </p:nvSpPr>
        <p:spPr>
          <a:xfrm>
            <a:off x="4663440" y="1600200"/>
            <a:ext cx="376732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Spending natural abundance beyond its regeneration</a:t>
            </a:r>
          </a:p>
        </p:txBody>
      </p:sp>
      <p:sp>
        <p:nvSpPr>
          <p:cNvPr id="14" name="Rectangle 13"/>
          <p:cNvSpPr/>
          <p:nvPr/>
        </p:nvSpPr>
        <p:spPr>
          <a:xfrm>
            <a:off x="640080" y="24780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057399"/>
            <a:ext cx="3767328" cy="402336"/>
          </a:xfrm>
          <a:prstGeom prst="rect">
            <a:avLst/>
          </a:prstGeom>
          <a:noFill/>
        </p:spPr>
        <p:txBody>
          <a:bodyPr wrap="square" lIns="0" rIns="0" tIns="0" bIns="0" anchor="ctr">
            <a:spAutoFit/>
          </a:bodyPr>
          <a:lstStyle/>
          <a:p>
            <a:pPr>
              <a:spcAft>
                <a:spcPts val="0"/>
              </a:spcAft>
            </a:pPr>
            <a:r>
              <a:rPr sz="1100" b="0" i="0">
                <a:solidFill>
                  <a:srgbClr val="1E2447"/>
                </a:solidFill>
                <a:latin typeface="Calibri"/>
              </a:rPr>
              <a:t>Being complementary in the balance of natural abundance</a:t>
            </a:r>
          </a:p>
        </p:txBody>
      </p:sp>
      <p:sp>
        <p:nvSpPr>
          <p:cNvPr id="16" name="TextBox 15"/>
          <p:cNvSpPr txBox="1"/>
          <p:nvPr/>
        </p:nvSpPr>
        <p:spPr>
          <a:xfrm>
            <a:off x="4663440" y="2057399"/>
            <a:ext cx="376732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Disproportionate extraction and destruction of the earth</a:t>
            </a:r>
          </a:p>
        </p:txBody>
      </p:sp>
      <p:sp>
        <p:nvSpPr>
          <p:cNvPr id="17" name="Rectangle 16"/>
          <p:cNvSpPr/>
          <p:nvPr/>
        </p:nvSpPr>
        <p:spPr>
          <a:xfrm>
            <a:off x="640080" y="2487168"/>
            <a:ext cx="786384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93522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2514599"/>
            <a:ext cx="3767328" cy="402336"/>
          </a:xfrm>
          <a:prstGeom prst="rect">
            <a:avLst/>
          </a:prstGeom>
          <a:noFill/>
        </p:spPr>
        <p:txBody>
          <a:bodyPr wrap="square" lIns="0" rIns="0" tIns="0" bIns="0" anchor="ctr">
            <a:spAutoFit/>
          </a:bodyPr>
          <a:lstStyle/>
          <a:p>
            <a:pPr>
              <a:spcAft>
                <a:spcPts val="0"/>
              </a:spcAft>
            </a:pPr>
            <a:r>
              <a:rPr sz="1100" b="0" i="0">
                <a:solidFill>
                  <a:srgbClr val="1E2447"/>
                </a:solidFill>
                <a:latin typeface="Calibri"/>
              </a:rPr>
              <a:t>Maintaining circularity in natural abundance</a:t>
            </a:r>
          </a:p>
        </p:txBody>
      </p:sp>
      <p:sp>
        <p:nvSpPr>
          <p:cNvPr id="20" name="TextBox 19"/>
          <p:cNvSpPr txBox="1"/>
          <p:nvPr/>
        </p:nvSpPr>
        <p:spPr>
          <a:xfrm>
            <a:off x="4663440" y="2514599"/>
            <a:ext cx="3767328" cy="402336"/>
          </a:xfrm>
          <a:prstGeom prst="rect">
            <a:avLst/>
          </a:prstGeom>
          <a:noFill/>
        </p:spPr>
        <p:txBody>
          <a:bodyPr wrap="square" lIns="0" rIns="0" tIns="0" bIns="0" anchor="ctr">
            <a:spAutoFit/>
          </a:bodyPr>
          <a:lstStyle/>
          <a:p>
            <a:pPr>
              <a:spcAft>
                <a:spcPts val="0"/>
              </a:spcAft>
            </a:pPr>
            <a:r>
              <a:rPr sz="1050" b="0" i="0">
                <a:solidFill>
                  <a:srgbClr val="5A6377"/>
                </a:solidFill>
                <a:latin typeface="Calibri"/>
              </a:rPr>
              <a:t>Obstructing nature's cycles; exploiting non-renewables</a:t>
            </a:r>
          </a:p>
        </p:txBody>
      </p:sp>
      <p:sp>
        <p:nvSpPr>
          <p:cNvPr id="21" name="Rounded Rectangle 20"/>
          <p:cNvSpPr/>
          <p:nvPr/>
        </p:nvSpPr>
        <p:spPr>
          <a:xfrm>
            <a:off x="640080" y="3017520"/>
            <a:ext cx="3840480" cy="118872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136391"/>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Cyclical energy</a:t>
            </a:r>
          </a:p>
        </p:txBody>
      </p:sp>
      <p:sp>
        <p:nvSpPr>
          <p:cNvPr id="23" name="TextBox 22"/>
          <p:cNvSpPr txBox="1"/>
          <p:nvPr/>
        </p:nvSpPr>
        <p:spPr>
          <a:xfrm>
            <a:off x="822959" y="3456431"/>
            <a:ext cx="3474720" cy="6400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Flowing and falling water, wind, solar heat, dung gas; vegetable oil from roadside trees, its smoke food for trees.</a:t>
            </a:r>
          </a:p>
        </p:txBody>
      </p:sp>
      <p:sp>
        <p:nvSpPr>
          <p:cNvPr id="24" name="Rounded Rectangle 23"/>
          <p:cNvSpPr/>
          <p:nvPr/>
        </p:nvSpPr>
        <p:spPr>
          <a:xfrm>
            <a:off x="4663440" y="3017520"/>
            <a:ext cx="3840480" cy="118872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3136391"/>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Production vs. extraction</a:t>
            </a:r>
          </a:p>
        </p:txBody>
      </p:sp>
      <p:sp>
        <p:nvSpPr>
          <p:cNvPr id="26" name="TextBox 25"/>
          <p:cNvSpPr txBox="1"/>
          <p:nvPr/>
        </p:nvSpPr>
        <p:spPr>
          <a:xfrm>
            <a:off x="4846320" y="3456431"/>
            <a:ext cx="3474720" cy="6400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Production is cyclical and leaves earth's balance undisturbed; digging coal and oil is extraction, not production.</a:t>
            </a:r>
          </a:p>
        </p:txBody>
      </p:sp>
      <p:sp>
        <p:nvSpPr>
          <p:cNvPr id="27" name="TextBox 26"/>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MVD pp. 263–264  ·  AA pp. 31–33, 78, 92, 106–107, 114, 142, 146  ·  KD p. 7  ·  AnalyticMadhyasthDarshan.org  ·  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SKILL AND TECHNIQUE  ·  §§3.9–3.10</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Skills, Machines, and Participation</a:t>
            </a:r>
          </a:p>
        </p:txBody>
      </p:sp>
      <p:sp>
        <p:nvSpPr>
          <p:cNvPr id="7" name="Rounded Rectangle 6"/>
          <p:cNvSpPr/>
          <p:nvPr/>
        </p:nvSpPr>
        <p:spPr>
          <a:xfrm>
            <a:off x="640080" y="1280160"/>
            <a:ext cx="3840480" cy="12344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99031"/>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Honoured invention &amp; open skills</a:t>
            </a:r>
          </a:p>
        </p:txBody>
      </p:sp>
      <p:sp>
        <p:nvSpPr>
          <p:cNvPr id="9" name="TextBox 8"/>
          <p:cNvSpPr txBox="1"/>
          <p:nvPr/>
        </p:nvSpPr>
        <p:spPr>
          <a:xfrm>
            <a:off x="822959" y="1719072"/>
            <a:ext cx="3474720" cy="685800"/>
          </a:xfrm>
          <a:prstGeom prst="rect">
            <a:avLst/>
          </a:prstGeom>
          <a:noFill/>
        </p:spPr>
        <p:txBody>
          <a:bodyPr wrap="square" lIns="0" rIns="0" tIns="0" bIns="0" anchor="t">
            <a:noAutofit/>
          </a:bodyPr>
          <a:lstStyle/>
          <a:p>
            <a:pPr>
              <a:spcAft>
                <a:spcPts val="0"/>
              </a:spcAft>
            </a:pPr>
            <a:r>
              <a:rPr sz="1150" b="0" i="0">
                <a:solidFill>
                  <a:srgbClr val="5A6377"/>
                </a:solidFill>
                <a:latin typeface="Calibri"/>
              </a:rPr>
              <a:t>Original tools and methods are recorded and honoured with prizes (puraskar), then taught openly without patents.</a:t>
            </a:r>
          </a:p>
        </p:txBody>
      </p:sp>
      <p:sp>
        <p:nvSpPr>
          <p:cNvPr id="10" name="Rounded Rectangle 9"/>
          <p:cNvSpPr/>
          <p:nvPr/>
        </p:nvSpPr>
        <p:spPr>
          <a:xfrm>
            <a:off x="4663440" y="1280160"/>
            <a:ext cx="3840480" cy="12344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What displaced producers</a:t>
            </a:r>
          </a:p>
        </p:txBody>
      </p:sp>
      <p:sp>
        <p:nvSpPr>
          <p:cNvPr id="12" name="TextBox 11"/>
          <p:cNvSpPr txBox="1"/>
          <p:nvPr/>
        </p:nvSpPr>
        <p:spPr>
          <a:xfrm>
            <a:off x="4846320" y="1719072"/>
            <a:ext cx="3474720" cy="6858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Automatic production and centralised industry, resting on capital and bought labour power.</a:t>
            </a:r>
          </a:p>
        </p:txBody>
      </p:sp>
      <p:sp>
        <p:nvSpPr>
          <p:cNvPr id="13" name="Rounded Rectangle 12"/>
          <p:cNvSpPr/>
          <p:nvPr/>
        </p:nvSpPr>
        <p:spPr>
          <a:xfrm>
            <a:off x="640080" y="2697480"/>
            <a:ext cx="7863840" cy="141732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807208"/>
            <a:ext cx="740664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The darshan's criterion for technique</a:t>
            </a:r>
          </a:p>
        </p:txBody>
      </p:sp>
      <p:sp>
        <p:nvSpPr>
          <p:cNvPr id="15" name="Oval 14"/>
          <p:cNvSpPr/>
          <p:nvPr/>
        </p:nvSpPr>
        <p:spPr>
          <a:xfrm>
            <a:off x="914400" y="3246120"/>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3163824"/>
            <a:ext cx="722376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Increase the usefulness that labour establishes</a:t>
            </a:r>
          </a:p>
        </p:txBody>
      </p:sp>
      <p:sp>
        <p:nvSpPr>
          <p:cNvPr id="17" name="Oval 16"/>
          <p:cNvSpPr/>
          <p:nvPr/>
        </p:nvSpPr>
        <p:spPr>
          <a:xfrm>
            <a:off x="914400" y="3520439"/>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3438144"/>
            <a:ext cx="722376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Reduce the time production takes</a:t>
            </a:r>
          </a:p>
        </p:txBody>
      </p:sp>
      <p:sp>
        <p:nvSpPr>
          <p:cNvPr id="19" name="Oval 18"/>
          <p:cNvSpPr/>
          <p:nvPr/>
        </p:nvSpPr>
        <p:spPr>
          <a:xfrm>
            <a:off x="914400" y="3794759"/>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3712463"/>
            <a:ext cx="7223760" cy="256032"/>
          </a:xfrm>
          <a:prstGeom prst="rect">
            <a:avLst/>
          </a:prstGeom>
          <a:noFill/>
        </p:spPr>
        <p:txBody>
          <a:bodyPr wrap="square" lIns="0" rIns="0" tIns="0" bIns="0" anchor="ctr">
            <a:spAutoFit/>
          </a:bodyPr>
          <a:lstStyle/>
          <a:p>
            <a:pPr>
              <a:spcAft>
                <a:spcPts val="0"/>
              </a:spcAft>
            </a:pPr>
            <a:r>
              <a:rPr sz="1150" b="1" i="0">
                <a:solidFill>
                  <a:srgbClr val="5A6377"/>
                </a:solidFill>
                <a:latin typeface="Calibri"/>
              </a:rPr>
              <a:t>Keep every person a participant in production, by capacity, receptivity and ability</a:t>
            </a:r>
          </a:p>
        </p:txBody>
      </p:sp>
      <p:sp>
        <p:nvSpPr>
          <p:cNvPr id="21" name="TextBox 20"/>
          <p:cNvSpPr txBox="1"/>
          <p:nvPr/>
        </p:nvSpPr>
        <p:spPr>
          <a:xfrm>
            <a:off x="640080" y="425196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When every member of every family produces, poverty and the trap of accumulation are left behind together.</a:t>
            </a:r>
          </a:p>
        </p:txBody>
      </p:sp>
      <p:sp>
        <p:nvSpPr>
          <p:cNvPr id="22" name="TextBox 21"/>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SB p. 267  ·  AA pp. 29, 47, 56–58, 107, 118, 131, 140, 144  ·  JV pp. 88–89  ·  JVD pp. 35, 216  ·  MVD p. 265  ·  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ORDERLINESS  ·  §§3.11–3.12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Economy Within Orderliness</a:t>
            </a:r>
          </a:p>
        </p:txBody>
      </p:sp>
      <p:sp>
        <p:nvSpPr>
          <p:cNvPr id="7" name="Rounded Rectangle 6"/>
          <p:cNvSpPr/>
          <p:nvPr/>
        </p:nvSpPr>
        <p:spPr>
          <a:xfrm>
            <a:off x="640080" y="1298448"/>
            <a:ext cx="1444752"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298448"/>
            <a:ext cx="1335024" cy="658368"/>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Education-sanskar</a:t>
            </a:r>
          </a:p>
          <a:p>
            <a:pPr algn="ctr">
              <a:spcAft>
                <a:spcPts val="0"/>
              </a:spcAft>
            </a:pPr>
            <a:r>
              <a:rPr sz="950" b="0" i="1">
                <a:solidFill>
                  <a:srgbClr val="C9D4EF"/>
                </a:solidFill>
                <a:latin typeface="Calibri"/>
              </a:rPr>
              <a:t>understanding</a:t>
            </a:r>
          </a:p>
        </p:txBody>
      </p:sp>
      <p:sp>
        <p:nvSpPr>
          <p:cNvPr id="9" name="Rounded Rectangle 8"/>
          <p:cNvSpPr/>
          <p:nvPr/>
        </p:nvSpPr>
        <p:spPr>
          <a:xfrm>
            <a:off x="2240280" y="1298448"/>
            <a:ext cx="1444752"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95144" y="1298448"/>
            <a:ext cx="1335024" cy="658368"/>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Health-restraint</a:t>
            </a:r>
          </a:p>
          <a:p>
            <a:pPr algn="ctr">
              <a:spcAft>
                <a:spcPts val="0"/>
              </a:spcAft>
            </a:pPr>
            <a:r>
              <a:rPr sz="950" b="0" i="1">
                <a:solidFill>
                  <a:srgbClr val="C9D4EF"/>
                </a:solidFill>
                <a:latin typeface="Calibri"/>
              </a:rPr>
              <a:t>balanced expression</a:t>
            </a:r>
          </a:p>
        </p:txBody>
      </p:sp>
      <p:sp>
        <p:nvSpPr>
          <p:cNvPr id="11" name="Rounded Rectangle 10"/>
          <p:cNvSpPr/>
          <p:nvPr/>
        </p:nvSpPr>
        <p:spPr>
          <a:xfrm>
            <a:off x="3840480" y="1298448"/>
            <a:ext cx="1444752"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95344" y="1298448"/>
            <a:ext cx="1335024" cy="658368"/>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Justice-security</a:t>
            </a:r>
          </a:p>
          <a:p>
            <a:pPr algn="ctr">
              <a:spcAft>
                <a:spcPts val="0"/>
              </a:spcAft>
            </a:pPr>
            <a:r>
              <a:rPr sz="950" b="0" i="1">
                <a:solidFill>
                  <a:srgbClr val="C9D4EF"/>
                </a:solidFill>
                <a:latin typeface="Calibri"/>
              </a:rPr>
              <a:t>honesty</a:t>
            </a:r>
          </a:p>
        </p:txBody>
      </p:sp>
      <p:sp>
        <p:nvSpPr>
          <p:cNvPr id="13" name="Rounded Rectangle 12"/>
          <p:cNvSpPr/>
          <p:nvPr/>
        </p:nvSpPr>
        <p:spPr>
          <a:xfrm>
            <a:off x="5440680" y="1298448"/>
            <a:ext cx="1444752"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95544" y="1298448"/>
            <a:ext cx="1335024" cy="658368"/>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Production</a:t>
            </a:r>
          </a:p>
          <a:p>
            <a:pPr algn="ctr">
              <a:spcAft>
                <a:spcPts val="0"/>
              </a:spcAft>
            </a:pPr>
            <a:r>
              <a:rPr sz="950" b="0" i="1">
                <a:solidFill>
                  <a:srgbClr val="C9D4EF"/>
                </a:solidFill>
                <a:latin typeface="Calibri"/>
              </a:rPr>
              <a:t>prosperity</a:t>
            </a:r>
          </a:p>
        </p:txBody>
      </p:sp>
      <p:sp>
        <p:nvSpPr>
          <p:cNvPr id="15" name="Rounded Rectangle 14"/>
          <p:cNvSpPr/>
          <p:nvPr/>
        </p:nvSpPr>
        <p:spPr>
          <a:xfrm>
            <a:off x="7040880" y="1298448"/>
            <a:ext cx="1444752" cy="658368"/>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95744" y="1298448"/>
            <a:ext cx="1335024" cy="658368"/>
          </a:xfrm>
          <a:prstGeom prst="rect">
            <a:avLst/>
          </a:prstGeom>
          <a:noFill/>
        </p:spPr>
        <p:txBody>
          <a:bodyPr wrap="square" lIns="0" rIns="0" tIns="0" bIns="0" anchor="ctr">
            <a:spAutoFit/>
          </a:bodyPr>
          <a:lstStyle/>
          <a:p>
            <a:pPr algn="ctr">
              <a:spcAft>
                <a:spcPts val="0"/>
              </a:spcAft>
            </a:pPr>
            <a:r>
              <a:rPr sz="1100" b="1" i="0">
                <a:solidFill>
                  <a:srgbClr val="FFFFFF"/>
                </a:solidFill>
                <a:latin typeface="Cambria"/>
              </a:rPr>
              <a:t>Exchange-reserve</a:t>
            </a:r>
          </a:p>
          <a:p>
            <a:pPr algn="ctr">
              <a:spcAft>
                <a:spcPts val="0"/>
              </a:spcAft>
            </a:pPr>
            <a:r>
              <a:rPr sz="950" b="0" i="1">
                <a:solidFill>
                  <a:srgbClr val="C9D4EF"/>
                </a:solidFill>
                <a:latin typeface="Calibri"/>
              </a:rPr>
              <a:t>balance</a:t>
            </a:r>
          </a:p>
        </p:txBody>
      </p:sp>
      <p:sp>
        <p:nvSpPr>
          <p:cNvPr id="17" name="Rounded Rectangle 16"/>
          <p:cNvSpPr/>
          <p:nvPr/>
        </p:nvSpPr>
        <p:spPr>
          <a:xfrm>
            <a:off x="640080" y="2194560"/>
            <a:ext cx="3840480" cy="137160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31343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From village to world</a:t>
            </a:r>
          </a:p>
        </p:txBody>
      </p:sp>
      <p:sp>
        <p:nvSpPr>
          <p:cNvPr id="19" name="TextBox 18"/>
          <p:cNvSpPr txBox="1"/>
          <p:nvPr/>
        </p:nvSpPr>
        <p:spPr>
          <a:xfrm>
            <a:off x="822959" y="2633471"/>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 100-family village with nine production branches; ten tiers of part-time councils (zero election cost); 80% in production, 20% in service.</a:t>
            </a:r>
          </a:p>
        </p:txBody>
      </p:sp>
      <p:sp>
        <p:nvSpPr>
          <p:cNvPr id="20" name="Rounded Rectangle 19"/>
          <p:cNvSpPr/>
          <p:nvPr/>
        </p:nvSpPr>
        <p:spPr>
          <a:xfrm>
            <a:off x="4663440" y="2194560"/>
            <a:ext cx="3840480" cy="137160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23134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Six securities</a:t>
            </a:r>
          </a:p>
        </p:txBody>
      </p:sp>
      <p:sp>
        <p:nvSpPr>
          <p:cNvPr id="22" name="TextBox 21"/>
          <p:cNvSpPr txBox="1"/>
          <p:nvPr/>
        </p:nvSpPr>
        <p:spPr>
          <a:xfrm>
            <a:off x="4846320" y="2633471"/>
            <a:ext cx="3474720" cy="82295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National, economic, production, exchange, education and ethical. Exchange between nations too at labour value, free of profit and loss.</a:t>
            </a:r>
          </a:p>
        </p:txBody>
      </p:sp>
      <p:sp>
        <p:nvSpPr>
          <p:cNvPr id="23" name="TextBox 22"/>
          <p:cNvSpPr txBox="1"/>
          <p:nvPr/>
        </p:nvSpPr>
        <p:spPr>
          <a:xfrm>
            <a:off x="640080" y="3749039"/>
            <a:ext cx="7863840" cy="329184"/>
          </a:xfrm>
          <a:prstGeom prst="rect">
            <a:avLst/>
          </a:prstGeom>
          <a:noFill/>
        </p:spPr>
        <p:txBody>
          <a:bodyPr wrap="square" lIns="0" rIns="0" tIns="0" bIns="0" anchor="ctr">
            <a:spAutoFit/>
          </a:bodyPr>
          <a:lstStyle/>
          <a:p>
            <a:pPr>
              <a:spcAft>
                <a:spcPts val="0"/>
              </a:spcAft>
            </a:pPr>
            <a:r>
              <a:rPr sz="1200" b="0" i="1">
                <a:solidFill>
                  <a:srgbClr val="1E2447"/>
                </a:solidFill>
                <a:latin typeface="Calibri"/>
              </a:rPr>
              <a:t>Economics in isolation has no definition or standing.</a:t>
            </a:r>
          </a:p>
        </p:txBody>
      </p:sp>
      <p:sp>
        <p:nvSpPr>
          <p:cNvPr id="24" name="TextBox 23"/>
          <p:cNvSpPr txBox="1"/>
          <p:nvPr/>
        </p:nvSpPr>
        <p:spPr>
          <a:xfrm>
            <a:off x="640080" y="4069080"/>
            <a:ext cx="7863840" cy="457200"/>
          </a:xfrm>
          <a:prstGeom prst="rect">
            <a:avLst/>
          </a:prstGeom>
          <a:noFill/>
        </p:spPr>
        <p:txBody>
          <a:bodyPr wrap="square" lIns="0" rIns="0" tIns="0" bIns="0" anchor="ctr">
            <a:spAutoFit/>
          </a:bodyPr>
          <a:lstStyle/>
          <a:p>
            <a:pPr>
              <a:spcAft>
                <a:spcPts val="0"/>
              </a:spcAft>
            </a:pPr>
            <a:r>
              <a:rPr sz="1100" b="0" i="0">
                <a:solidFill>
                  <a:srgbClr val="5A6377"/>
                </a:solidFill>
                <a:latin typeface="Calibri"/>
              </a:rPr>
              <a:t>Protection is state policy; right use is moral policy; production beyond the family's needs is economic policy.</a:t>
            </a:r>
          </a:p>
        </p:txBody>
      </p:sp>
      <p:sp>
        <p:nvSpPr>
          <p:cNvPr id="25" name="TextBox 24"/>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27–30, 63, 104–105, 110–117, 127, 133–136  ·  MVD pp. 233, 259, 264–271  ·  KD p. 67  ·  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III  ·  TRANSITION  ·  §3.13</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The Path of Transition</a:t>
            </a:r>
          </a:p>
        </p:txBody>
      </p:sp>
      <p:sp>
        <p:nvSpPr>
          <p:cNvPr id="7" name="Rounded Rectangle 6"/>
          <p:cNvSpPr/>
          <p:nvPr/>
        </p:nvSpPr>
        <p:spPr>
          <a:xfrm>
            <a:off x="640080" y="1298448"/>
            <a:ext cx="237744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298448"/>
            <a:ext cx="2267712" cy="713232"/>
          </a:xfrm>
          <a:prstGeom prst="rect">
            <a:avLst/>
          </a:prstGeom>
          <a:noFill/>
        </p:spPr>
        <p:txBody>
          <a:bodyPr wrap="square" lIns="0" rIns="0" tIns="0" bIns="0" anchor="ctr">
            <a:spAutoFit/>
          </a:bodyPr>
          <a:lstStyle/>
          <a:p>
            <a:pPr algn="ctr">
              <a:spcAft>
                <a:spcPts val="0"/>
              </a:spcAft>
            </a:pPr>
            <a:r>
              <a:rPr sz="1300" b="1" i="0">
                <a:solidFill>
                  <a:srgbClr val="FFFFFF"/>
                </a:solidFill>
                <a:latin typeface="Cambria"/>
              </a:rPr>
              <a:t>Stage 1</a:t>
            </a:r>
          </a:p>
          <a:p>
            <a:pPr algn="ctr">
              <a:spcAft>
                <a:spcPts val="0"/>
              </a:spcAft>
            </a:pPr>
            <a:r>
              <a:rPr sz="1050" b="0" i="1">
                <a:solidFill>
                  <a:srgbClr val="C9D4EF"/>
                </a:solidFill>
                <a:latin typeface="Calibri"/>
              </a:rPr>
              <a:t>labour valued through current prices</a:t>
            </a:r>
          </a:p>
        </p:txBody>
      </p:sp>
      <p:sp>
        <p:nvSpPr>
          <p:cNvPr id="9" name="TextBox 8"/>
          <p:cNvSpPr txBox="1"/>
          <p:nvPr/>
        </p:nvSpPr>
        <p:spPr>
          <a:xfrm>
            <a:off x="3017520" y="1463040"/>
            <a:ext cx="320040"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0" name="Rounded Rectangle 9"/>
          <p:cNvSpPr/>
          <p:nvPr/>
        </p:nvSpPr>
        <p:spPr>
          <a:xfrm>
            <a:off x="3337560" y="1298448"/>
            <a:ext cx="237744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2424" y="1298448"/>
            <a:ext cx="2267712" cy="713232"/>
          </a:xfrm>
          <a:prstGeom prst="rect">
            <a:avLst/>
          </a:prstGeom>
          <a:noFill/>
        </p:spPr>
        <p:txBody>
          <a:bodyPr wrap="square" lIns="0" rIns="0" tIns="0" bIns="0" anchor="ctr">
            <a:spAutoFit/>
          </a:bodyPr>
          <a:lstStyle/>
          <a:p>
            <a:pPr algn="ctr">
              <a:spcAft>
                <a:spcPts val="0"/>
              </a:spcAft>
            </a:pPr>
            <a:r>
              <a:rPr sz="1300" b="1" i="0">
                <a:solidFill>
                  <a:srgbClr val="FFFFFF"/>
                </a:solidFill>
                <a:latin typeface="Cambria"/>
              </a:rPr>
              <a:t>Stage 2</a:t>
            </a:r>
          </a:p>
          <a:p>
            <a:pPr algn="ctr">
              <a:spcAft>
                <a:spcPts val="0"/>
              </a:spcAft>
            </a:pPr>
            <a:r>
              <a:rPr sz="1050" b="0" i="1">
                <a:solidFill>
                  <a:srgbClr val="C9D4EF"/>
                </a:solidFill>
                <a:latin typeface="Calibri"/>
              </a:rPr>
              <a:t>currency evaluated by labour</a:t>
            </a:r>
          </a:p>
        </p:txBody>
      </p:sp>
      <p:sp>
        <p:nvSpPr>
          <p:cNvPr id="12" name="TextBox 11"/>
          <p:cNvSpPr txBox="1"/>
          <p:nvPr/>
        </p:nvSpPr>
        <p:spPr>
          <a:xfrm>
            <a:off x="5715000" y="1463040"/>
            <a:ext cx="320040" cy="365760"/>
          </a:xfrm>
          <a:prstGeom prst="rect">
            <a:avLst/>
          </a:prstGeom>
          <a:noFill/>
        </p:spPr>
        <p:txBody>
          <a:bodyPr wrap="square" lIns="0" rIns="0" tIns="0" bIns="0" anchor="ctr">
            <a:spAutoFit/>
          </a:bodyPr>
          <a:lstStyle/>
          <a:p>
            <a:pPr algn="ctr">
              <a:spcAft>
                <a:spcPts val="0"/>
              </a:spcAft>
            </a:pPr>
            <a:r>
              <a:rPr sz="2000" b="1" i="0">
                <a:solidFill>
                  <a:srgbClr val="C9821E"/>
                </a:solidFill>
                <a:latin typeface="Calibri"/>
              </a:rPr>
              <a:t>›</a:t>
            </a:r>
          </a:p>
        </p:txBody>
      </p:sp>
      <p:sp>
        <p:nvSpPr>
          <p:cNvPr id="13" name="Rounded Rectangle 12"/>
          <p:cNvSpPr/>
          <p:nvPr/>
        </p:nvSpPr>
        <p:spPr>
          <a:xfrm>
            <a:off x="6035040" y="1298448"/>
            <a:ext cx="237744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9904" y="1298448"/>
            <a:ext cx="2267712" cy="713232"/>
          </a:xfrm>
          <a:prstGeom prst="rect">
            <a:avLst/>
          </a:prstGeom>
          <a:noFill/>
        </p:spPr>
        <p:txBody>
          <a:bodyPr wrap="square" lIns="0" rIns="0" tIns="0" bIns="0" anchor="ctr">
            <a:spAutoFit/>
          </a:bodyPr>
          <a:lstStyle/>
          <a:p>
            <a:pPr algn="ctr">
              <a:spcAft>
                <a:spcPts val="0"/>
              </a:spcAft>
            </a:pPr>
            <a:r>
              <a:rPr sz="1300" b="1" i="0">
                <a:solidFill>
                  <a:srgbClr val="FFFFFF"/>
                </a:solidFill>
                <a:latin typeface="Cambria"/>
              </a:rPr>
              <a:t>Stage 3</a:t>
            </a:r>
          </a:p>
          <a:p>
            <a:pPr algn="ctr">
              <a:spcAft>
                <a:spcPts val="0"/>
              </a:spcAft>
            </a:pPr>
            <a:r>
              <a:rPr sz="1050" b="0" i="1">
                <a:solidFill>
                  <a:srgbClr val="C9D4EF"/>
                </a:solidFill>
                <a:latin typeface="Calibri"/>
              </a:rPr>
              <a:t>exchange on labour value alone</a:t>
            </a:r>
          </a:p>
        </p:txBody>
      </p:sp>
      <p:sp>
        <p:nvSpPr>
          <p:cNvPr id="15" name="Rounded Rectangle 14"/>
          <p:cNvSpPr/>
          <p:nvPr/>
        </p:nvSpPr>
        <p:spPr>
          <a:xfrm>
            <a:off x="640080" y="2240280"/>
            <a:ext cx="3840480" cy="178308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235915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The village exchange-reserve</a:t>
            </a:r>
          </a:p>
        </p:txBody>
      </p:sp>
      <p:sp>
        <p:nvSpPr>
          <p:cNvPr id="17" name="TextBox 16"/>
          <p:cNvSpPr txBox="1"/>
          <p:nvPr/>
        </p:nvSpPr>
        <p:spPr>
          <a:xfrm>
            <a:off x="822959" y="2679191"/>
            <a:ext cx="3474720" cy="1234439"/>
          </a:xfrm>
          <a:prstGeom prst="rect">
            <a:avLst/>
          </a:prstGeom>
          <a:noFill/>
        </p:spPr>
        <p:txBody>
          <a:bodyPr wrap="square" lIns="0" rIns="0" tIns="0" bIns="0" anchor="t">
            <a:spAutoFit/>
          </a:bodyPr>
          <a:lstStyle/>
          <a:p>
            <a:pPr>
              <a:spcAft>
                <a:spcPts val="0"/>
              </a:spcAft>
            </a:pPr>
            <a:r>
              <a:rPr sz="1100" b="0" i="0">
                <a:solidFill>
                  <a:srgbClr val="5A6377"/>
                </a:solidFill>
                <a:latin typeface="Calibri"/>
              </a:rPr>
              <a:t>Accounts for every member; surplus sold to the reserve, needs bought from it.</a:t>
            </a:r>
          </a:p>
          <a:p>
            <a:pPr>
              <a:spcAft>
                <a:spcPts val="0"/>
              </a:spcAft>
            </a:pPr>
            <a:r>
              <a:rPr sz="1100" b="0" i="0">
                <a:solidFill>
                  <a:srgbClr val="5A6377"/>
                </a:solidFill>
                <a:latin typeface="Calibri"/>
              </a:rPr>
              <a:t>Any incidental gain goes to common facilities; interest-free loans repaid in produce.</a:t>
            </a:r>
          </a:p>
        </p:txBody>
      </p:sp>
      <p:sp>
        <p:nvSpPr>
          <p:cNvPr id="18" name="Rounded Rectangle 17"/>
          <p:cNvSpPr/>
          <p:nvPr/>
        </p:nvSpPr>
        <p:spPr>
          <a:xfrm>
            <a:off x="4663440" y="2240280"/>
            <a:ext cx="3840480" cy="178308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23591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Begin with a survey</a:t>
            </a:r>
          </a:p>
        </p:txBody>
      </p:sp>
      <p:sp>
        <p:nvSpPr>
          <p:cNvPr id="20" name="TextBox 19"/>
          <p:cNvSpPr txBox="1"/>
          <p:nvPr/>
        </p:nvSpPr>
        <p:spPr>
          <a:xfrm>
            <a:off x="4846320" y="2679191"/>
            <a:ext cx="3474720" cy="1234439"/>
          </a:xfrm>
          <a:prstGeom prst="rect">
            <a:avLst/>
          </a:prstGeom>
          <a:noFill/>
        </p:spPr>
        <p:txBody>
          <a:bodyPr wrap="square" lIns="0" rIns="0" tIns="0" bIns="0" anchor="t">
            <a:spAutoFit/>
          </a:bodyPr>
          <a:lstStyle/>
          <a:p>
            <a:pPr>
              <a:spcAft>
                <a:spcPts val="0"/>
              </a:spcAft>
            </a:pPr>
            <a:r>
              <a:rPr sz="1100" b="0" i="0">
                <a:solidFill>
                  <a:srgbClr val="5A6377"/>
                </a:solidFill>
                <a:latin typeface="Calibri"/>
              </a:rPr>
              <a:t>Land, water, crops, crafts, skills, health, and the state of justice in production and exchange.</a:t>
            </a:r>
          </a:p>
          <a:p>
            <a:pPr>
              <a:spcAft>
                <a:spcPts val="0"/>
              </a:spcAft>
            </a:pPr>
            <a:r>
              <a:rPr sz="1100" b="0" i="0">
                <a:solidFill>
                  <a:srgbClr val="5A6377"/>
                </a:solidFill>
                <a:latin typeface="Calibri"/>
              </a:rPr>
              <a:t>Nagraj lived with prosperity through his own production within the present system.</a:t>
            </a:r>
          </a:p>
        </p:txBody>
      </p:sp>
      <p:sp>
        <p:nvSpPr>
          <p:cNvPr id="21" name="TextBox 20"/>
          <p:cNvSpPr txBox="1"/>
          <p:nvPr/>
        </p:nvSpPr>
        <p:spPr>
          <a:xfrm>
            <a:off x="640080" y="416052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The dialogue: profit and symbolic currency, or prosperity through exchange on the value of labour?</a:t>
            </a:r>
          </a:p>
        </p:txBody>
      </p:sp>
      <p:sp>
        <p:nvSpPr>
          <p:cNvPr id="22" name="TextBox 2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AA pp. 122–125, 136–138, 142–143  ·  JV pp. 153–154  ·  JVD pp. 217–218  ·  AVD p. 52  ·  AnalyticMadhyasthDarshan.org  ·  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IV  ·  COMPARISON  ·  §§4–7</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Where Insatiability Comes From</a:t>
            </a:r>
          </a:p>
        </p:txBody>
      </p:sp>
      <p:sp>
        <p:nvSpPr>
          <p:cNvPr id="7" name="Rounded Rectangle 6"/>
          <p:cNvSpPr/>
          <p:nvPr/>
        </p:nvSpPr>
        <p:spPr>
          <a:xfrm>
            <a:off x="7635240" y="1042415"/>
            <a:ext cx="868680" cy="182880"/>
          </a:xfrm>
          <a:prstGeom prst="roundRect">
            <a:avLst>
              <a:gd name="adj" fmla="val 7000"/>
            </a:avLst>
          </a:prstGeom>
          <a:solidFill>
            <a:srgbClr val="7A8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1042415"/>
            <a:ext cx="86868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COMPARISON</a:t>
            </a:r>
          </a:p>
        </p:txBody>
      </p:sp>
      <p:sp>
        <p:nvSpPr>
          <p:cNvPr id="9" name="Rectangle 8"/>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1280160"/>
            <a:ext cx="187452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Tradition</a:t>
            </a:r>
          </a:p>
        </p:txBody>
      </p:sp>
      <p:sp>
        <p:nvSpPr>
          <p:cNvPr id="11" name="TextBox 10"/>
          <p:cNvSpPr txBox="1"/>
          <p:nvPr/>
        </p:nvSpPr>
        <p:spPr>
          <a:xfrm>
            <a:off x="2743200" y="1280160"/>
            <a:ext cx="297180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Source of insatiable want</a:t>
            </a:r>
          </a:p>
        </p:txBody>
      </p:sp>
      <p:sp>
        <p:nvSpPr>
          <p:cNvPr id="12" name="TextBox 11"/>
          <p:cNvSpPr txBox="1"/>
          <p:nvPr/>
        </p:nvSpPr>
        <p:spPr>
          <a:xfrm>
            <a:off x="5852160" y="1280160"/>
            <a:ext cx="260604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What closes the cycle</a:t>
            </a:r>
          </a:p>
        </p:txBody>
      </p:sp>
      <p:sp>
        <p:nvSpPr>
          <p:cNvPr id="13" name="Rectangle 12"/>
          <p:cNvSpPr/>
          <p:nvPr/>
        </p:nvSpPr>
        <p:spPr>
          <a:xfrm>
            <a:off x="640080" y="1572768"/>
            <a:ext cx="7863840"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1947672"/>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1600200"/>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Madhyasth Darshan</a:t>
            </a:r>
          </a:p>
        </p:txBody>
      </p:sp>
      <p:sp>
        <p:nvSpPr>
          <p:cNvPr id="16" name="TextBox 15"/>
          <p:cNvSpPr txBox="1"/>
          <p:nvPr/>
        </p:nvSpPr>
        <p:spPr>
          <a:xfrm>
            <a:off x="2743200" y="1600200"/>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Jeevan's discontent read as a shortage of objects</a:t>
            </a:r>
          </a:p>
        </p:txBody>
      </p:sp>
      <p:sp>
        <p:nvSpPr>
          <p:cNvPr id="17" name="TextBox 16"/>
          <p:cNvSpPr txBox="1"/>
          <p:nvPr/>
        </p:nvSpPr>
        <p:spPr>
          <a:xfrm>
            <a:off x="5852160" y="1600200"/>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Definite need, use, regeneration</a:t>
            </a:r>
          </a:p>
        </p:txBody>
      </p:sp>
      <p:sp>
        <p:nvSpPr>
          <p:cNvPr id="18" name="Rectangle 17"/>
          <p:cNvSpPr/>
          <p:nvPr/>
        </p:nvSpPr>
        <p:spPr>
          <a:xfrm>
            <a:off x="640080" y="233172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1984248"/>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Neoclassical &amp; marginalist</a:t>
            </a:r>
          </a:p>
        </p:txBody>
      </p:sp>
      <p:sp>
        <p:nvSpPr>
          <p:cNvPr id="20" name="TextBox 19"/>
          <p:cNvSpPr txBox="1"/>
          <p:nvPr/>
        </p:nvSpPr>
        <p:spPr>
          <a:xfrm>
            <a:off x="2743200" y="1984248"/>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Non-satiation; marginal utility (Jevons)</a:t>
            </a:r>
          </a:p>
        </p:txBody>
      </p:sp>
      <p:sp>
        <p:nvSpPr>
          <p:cNvPr id="21" name="TextBox 20"/>
          <p:cNvSpPr txBox="1"/>
          <p:nvPr/>
        </p:nvSpPr>
        <p:spPr>
          <a:xfrm>
            <a:off x="5852160" y="1984248"/>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No closure; growth is the norm</a:t>
            </a:r>
          </a:p>
        </p:txBody>
      </p:sp>
      <p:sp>
        <p:nvSpPr>
          <p:cNvPr id="22" name="Rectangle 21"/>
          <p:cNvSpPr/>
          <p:nvPr/>
        </p:nvSpPr>
        <p:spPr>
          <a:xfrm>
            <a:off x="640080" y="2340864"/>
            <a:ext cx="7863840"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15768"/>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19" y="2368296"/>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Aristotle and Marx</a:t>
            </a:r>
          </a:p>
        </p:txBody>
      </p:sp>
      <p:sp>
        <p:nvSpPr>
          <p:cNvPr id="25" name="TextBox 24"/>
          <p:cNvSpPr txBox="1"/>
          <p:nvPr/>
        </p:nvSpPr>
        <p:spPr>
          <a:xfrm>
            <a:off x="2743200" y="2368296"/>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Pursuit of money as such</a:t>
            </a:r>
          </a:p>
        </p:txBody>
      </p:sp>
      <p:sp>
        <p:nvSpPr>
          <p:cNvPr id="26" name="TextBox 25"/>
          <p:cNvSpPr txBox="1"/>
          <p:nvPr/>
        </p:nvSpPr>
        <p:spPr>
          <a:xfrm>
            <a:off x="5852160" y="2368296"/>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Use limits household; abolish capital</a:t>
            </a:r>
          </a:p>
        </p:txBody>
      </p:sp>
      <p:sp>
        <p:nvSpPr>
          <p:cNvPr id="27" name="Rectangle 26"/>
          <p:cNvSpPr/>
          <p:nvPr/>
        </p:nvSpPr>
        <p:spPr>
          <a:xfrm>
            <a:off x="640080" y="3099816"/>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19" y="2752344"/>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Keynes, Veblen, Hirsch</a:t>
            </a:r>
          </a:p>
        </p:txBody>
      </p:sp>
      <p:sp>
        <p:nvSpPr>
          <p:cNvPr id="29" name="TextBox 28"/>
          <p:cNvSpPr txBox="1"/>
          <p:nvPr/>
        </p:nvSpPr>
        <p:spPr>
          <a:xfrm>
            <a:off x="2743200" y="2752344"/>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Relative and positional wants</a:t>
            </a:r>
          </a:p>
        </p:txBody>
      </p:sp>
      <p:sp>
        <p:nvSpPr>
          <p:cNvPr id="30" name="TextBox 29"/>
          <p:cNvSpPr txBox="1"/>
          <p:nvPr/>
        </p:nvSpPr>
        <p:spPr>
          <a:xfrm>
            <a:off x="5852160" y="2752344"/>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Absolute needs can be met</a:t>
            </a:r>
          </a:p>
        </p:txBody>
      </p:sp>
      <p:sp>
        <p:nvSpPr>
          <p:cNvPr id="31" name="Rectangle 30"/>
          <p:cNvSpPr/>
          <p:nvPr/>
        </p:nvSpPr>
        <p:spPr>
          <a:xfrm>
            <a:off x="640080" y="3108960"/>
            <a:ext cx="7863840"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48386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19" y="3136391"/>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Ecological economics</a:t>
            </a:r>
          </a:p>
        </p:txBody>
      </p:sp>
      <p:sp>
        <p:nvSpPr>
          <p:cNvPr id="34" name="TextBox 33"/>
          <p:cNvSpPr txBox="1"/>
          <p:nvPr/>
        </p:nvSpPr>
        <p:spPr>
          <a:xfrm>
            <a:off x="2743200" y="3136391"/>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Debt, competition, growth institutions</a:t>
            </a:r>
          </a:p>
        </p:txBody>
      </p:sp>
      <p:sp>
        <p:nvSpPr>
          <p:cNvPr id="35" name="TextBox 34"/>
          <p:cNvSpPr txBox="1"/>
          <p:nvPr/>
        </p:nvSpPr>
        <p:spPr>
          <a:xfrm>
            <a:off x="5852160" y="3136391"/>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Steady throughput; material loops</a:t>
            </a:r>
          </a:p>
        </p:txBody>
      </p:sp>
      <p:sp>
        <p:nvSpPr>
          <p:cNvPr id="36" name="Rectangle 35"/>
          <p:cNvSpPr/>
          <p:nvPr/>
        </p:nvSpPr>
        <p:spPr>
          <a:xfrm>
            <a:off x="640080" y="3867912"/>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19" y="3520439"/>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Gandhian economics</a:t>
            </a:r>
          </a:p>
        </p:txBody>
      </p:sp>
      <p:sp>
        <p:nvSpPr>
          <p:cNvPr id="38" name="TextBox 37"/>
          <p:cNvSpPr txBox="1"/>
          <p:nvPr/>
        </p:nvSpPr>
        <p:spPr>
          <a:xfrm>
            <a:off x="2743200" y="3520439"/>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An economy of transience</a:t>
            </a:r>
          </a:p>
        </p:txBody>
      </p:sp>
      <p:sp>
        <p:nvSpPr>
          <p:cNvPr id="39" name="TextBox 38"/>
          <p:cNvSpPr txBox="1"/>
          <p:nvPr/>
        </p:nvSpPr>
        <p:spPr>
          <a:xfrm>
            <a:off x="5852160" y="3520439"/>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Permanence within nature's cycles</a:t>
            </a:r>
          </a:p>
        </p:txBody>
      </p:sp>
      <p:sp>
        <p:nvSpPr>
          <p:cNvPr id="40" name="Rectangle 39"/>
          <p:cNvSpPr/>
          <p:nvPr/>
        </p:nvSpPr>
        <p:spPr>
          <a:xfrm>
            <a:off x="640080" y="3877056"/>
            <a:ext cx="7863840"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 y="425196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19" y="3904488"/>
            <a:ext cx="1847088" cy="329184"/>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Advaita Vedanta</a:t>
            </a:r>
          </a:p>
        </p:txBody>
      </p:sp>
      <p:sp>
        <p:nvSpPr>
          <p:cNvPr id="43" name="TextBox 42"/>
          <p:cNvSpPr txBox="1"/>
          <p:nvPr/>
        </p:nvSpPr>
        <p:spPr>
          <a:xfrm>
            <a:off x="2743200" y="3904488"/>
            <a:ext cx="294436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Desire from ignorance of the Self</a:t>
            </a:r>
          </a:p>
        </p:txBody>
      </p:sp>
      <p:sp>
        <p:nvSpPr>
          <p:cNvPr id="44" name="TextBox 43"/>
          <p:cNvSpPr txBox="1"/>
          <p:nvPr/>
        </p:nvSpPr>
        <p:spPr>
          <a:xfrm>
            <a:off x="5852160" y="3904488"/>
            <a:ext cx="2578608" cy="329184"/>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Liberation beyond economic life</a:t>
            </a:r>
          </a:p>
        </p:txBody>
      </p:sp>
      <p:sp>
        <p:nvSpPr>
          <p:cNvPr id="45" name="TextBox 44"/>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§§4–7  ·  Jevons 1871  ·  Marx 1875  ·  Robbins 1932  ·  Polanyi 1944  ·  Daly 1974  ·  Kumarappa 1945  ·  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IV  ·  LEARNING FROM ECONOMICS  ·  §§4.9–4.10, 9.6</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What Economics Can Teach</a:t>
            </a:r>
          </a:p>
        </p:txBody>
      </p:sp>
      <p:sp>
        <p:nvSpPr>
          <p:cNvPr id="7" name="Rounded Rectangle 6"/>
          <p:cNvSpPr/>
          <p:nvPr/>
        </p:nvSpPr>
        <p:spPr>
          <a:xfrm>
            <a:off x="640080" y="132588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1732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Coordination</a:t>
            </a:r>
          </a:p>
        </p:txBody>
      </p:sp>
      <p:sp>
        <p:nvSpPr>
          <p:cNvPr id="9" name="TextBox 8"/>
          <p:cNvSpPr txBox="1"/>
          <p:nvPr/>
        </p:nvSpPr>
        <p:spPr>
          <a:xfrm>
            <a:off x="777240" y="174650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prices carry dispersed knowledge (Hayek)</a:t>
            </a:r>
          </a:p>
        </p:txBody>
      </p:sp>
      <p:sp>
        <p:nvSpPr>
          <p:cNvPr id="10" name="Rounded Rectangle 9"/>
          <p:cNvSpPr/>
          <p:nvPr/>
        </p:nvSpPr>
        <p:spPr>
          <a:xfrm>
            <a:off x="3328415" y="132588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5" y="141732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Measurement</a:t>
            </a:r>
          </a:p>
        </p:txBody>
      </p:sp>
      <p:sp>
        <p:nvSpPr>
          <p:cNvPr id="12" name="TextBox 11"/>
          <p:cNvSpPr txBox="1"/>
          <p:nvPr/>
        </p:nvSpPr>
        <p:spPr>
          <a:xfrm>
            <a:off x="3465575" y="174650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accounts, input–output, material flows</a:t>
            </a:r>
          </a:p>
        </p:txBody>
      </p:sp>
      <p:sp>
        <p:nvSpPr>
          <p:cNvPr id="13" name="Rounded Rectangle 12"/>
          <p:cNvSpPr/>
          <p:nvPr/>
        </p:nvSpPr>
        <p:spPr>
          <a:xfrm>
            <a:off x="6016752" y="132588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3912" y="141732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Commons &amp; embeddedness</a:t>
            </a:r>
          </a:p>
        </p:txBody>
      </p:sp>
      <p:sp>
        <p:nvSpPr>
          <p:cNvPr id="15" name="TextBox 14"/>
          <p:cNvSpPr txBox="1"/>
          <p:nvPr/>
        </p:nvSpPr>
        <p:spPr>
          <a:xfrm>
            <a:off x="6153912" y="174650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polycentric rules; non-commodities (Ostrom, Polanyi)</a:t>
            </a:r>
          </a:p>
        </p:txBody>
      </p:sp>
      <p:sp>
        <p:nvSpPr>
          <p:cNvPr id="16" name="Rounded Rectangle 15"/>
          <p:cNvSpPr/>
          <p:nvPr/>
        </p:nvSpPr>
        <p:spPr>
          <a:xfrm>
            <a:off x="640080" y="242316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51460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Needs &amp; capabilities</a:t>
            </a:r>
          </a:p>
        </p:txBody>
      </p:sp>
      <p:sp>
        <p:nvSpPr>
          <p:cNvPr id="18" name="TextBox 17"/>
          <p:cNvSpPr txBox="1"/>
          <p:nvPr/>
        </p:nvSpPr>
        <p:spPr>
          <a:xfrm>
            <a:off x="777240" y="284378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objective needs &amp; functionings (Max-Neef, Sen)</a:t>
            </a:r>
          </a:p>
        </p:txBody>
      </p:sp>
      <p:sp>
        <p:nvSpPr>
          <p:cNvPr id="19" name="Rounded Rectangle 18"/>
          <p:cNvSpPr/>
          <p:nvPr/>
        </p:nvSpPr>
        <p:spPr>
          <a:xfrm>
            <a:off x="3328415" y="242316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65575" y="251460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Credit &amp; mutual clearing</a:t>
            </a:r>
          </a:p>
        </p:txBody>
      </p:sp>
      <p:sp>
        <p:nvSpPr>
          <p:cNvPr id="21" name="TextBox 20"/>
          <p:cNvSpPr txBox="1"/>
          <p:nvPr/>
        </p:nvSpPr>
        <p:spPr>
          <a:xfrm>
            <a:off x="3465575" y="284378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bank credit vs. interest-free WIR clearing (Stodder)</a:t>
            </a:r>
          </a:p>
        </p:txBody>
      </p:sp>
      <p:sp>
        <p:nvSpPr>
          <p:cNvPr id="22" name="Rounded Rectangle 21"/>
          <p:cNvSpPr/>
          <p:nvPr/>
        </p:nvSpPr>
        <p:spPr>
          <a:xfrm>
            <a:off x="6016752" y="2423160"/>
            <a:ext cx="2487168" cy="932688"/>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3912" y="2514600"/>
            <a:ext cx="2212848" cy="292608"/>
          </a:xfrm>
          <a:prstGeom prst="rect">
            <a:avLst/>
          </a:prstGeom>
          <a:noFill/>
        </p:spPr>
        <p:txBody>
          <a:bodyPr wrap="square" lIns="0" rIns="0" tIns="0" bIns="0" anchor="ctr">
            <a:spAutoFit/>
          </a:bodyPr>
          <a:lstStyle/>
          <a:p>
            <a:pPr>
              <a:spcAft>
                <a:spcPts val="0"/>
              </a:spcAft>
            </a:pPr>
            <a:r>
              <a:rPr sz="1250" b="1" i="0">
                <a:solidFill>
                  <a:srgbClr val="1E2447"/>
                </a:solidFill>
                <a:latin typeface="Cambria"/>
              </a:rPr>
              <a:t>Labour &amp; rent accounting</a:t>
            </a:r>
          </a:p>
        </p:txBody>
      </p:sp>
      <p:sp>
        <p:nvSpPr>
          <p:cNvPr id="24" name="TextBox 23"/>
          <p:cNvSpPr txBox="1"/>
          <p:nvPr/>
        </p:nvSpPr>
        <p:spPr>
          <a:xfrm>
            <a:off x="6153912" y="2843784"/>
            <a:ext cx="2212848" cy="457200"/>
          </a:xfrm>
          <a:prstGeom prst="rect">
            <a:avLst/>
          </a:prstGeom>
          <a:noFill/>
        </p:spPr>
        <p:txBody>
          <a:bodyPr wrap="square" lIns="0" rIns="0" tIns="0" bIns="0" anchor="t">
            <a:spAutoFit/>
          </a:bodyPr>
          <a:lstStyle/>
          <a:p>
            <a:pPr>
              <a:spcAft>
                <a:spcPts val="0"/>
              </a:spcAft>
            </a:pPr>
            <a:r>
              <a:rPr sz="1050" b="0" i="0">
                <a:solidFill>
                  <a:srgbClr val="5A6377"/>
                </a:solidFill>
                <a:latin typeface="Calibri"/>
              </a:rPr>
              <a:t>input–output, depreciation &amp; differential rent (Ricardo)</a:t>
            </a:r>
          </a:p>
        </p:txBody>
      </p:sp>
      <p:sp>
        <p:nvSpPr>
          <p:cNvPr id="25" name="Rounded Rectangle 24"/>
          <p:cNvSpPr/>
          <p:nvPr/>
        </p:nvSpPr>
        <p:spPr>
          <a:xfrm>
            <a:off x="7635240" y="1234440"/>
            <a:ext cx="868680" cy="182880"/>
          </a:xfrm>
          <a:prstGeom prst="roundRect">
            <a:avLst>
              <a:gd name="adj" fmla="val 7000"/>
            </a:avLst>
          </a:prstGeom>
          <a:solidFill>
            <a:srgbClr val="7A8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1234440"/>
            <a:ext cx="86868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COMPARISON</a:t>
            </a:r>
          </a:p>
        </p:txBody>
      </p:sp>
      <p:sp>
        <p:nvSpPr>
          <p:cNvPr id="27" name="Rounded Rectangle 26"/>
          <p:cNvSpPr/>
          <p:nvPr/>
        </p:nvSpPr>
        <p:spPr>
          <a:xfrm>
            <a:off x="640080" y="3611880"/>
            <a:ext cx="7863840" cy="68580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3611880"/>
            <a:ext cx="7406640" cy="685800"/>
          </a:xfrm>
          <a:prstGeom prst="rect">
            <a:avLst/>
          </a:prstGeom>
          <a:noFill/>
        </p:spPr>
        <p:txBody>
          <a:bodyPr wrap="square" lIns="0" rIns="0" tIns="0" bIns="0" anchor="ctr">
            <a:spAutoFit/>
          </a:bodyPr>
          <a:lstStyle/>
          <a:p>
            <a:pPr algn="ctr">
              <a:spcAft>
                <a:spcPts val="0"/>
              </a:spcAft>
            </a:pPr>
            <a:r>
              <a:rPr sz="1250" b="0" i="0">
                <a:solidFill>
                  <a:srgbClr val="FFFFFF"/>
                </a:solidFill>
                <a:latin typeface="Calibri"/>
              </a:rPr>
              <a:t>Economic tools can serve a cyclical economy once that economy supplies the criteria the discipline leaves out.</a:t>
            </a:r>
          </a:p>
        </p:txBody>
      </p:sp>
      <p:sp>
        <p:nvSpPr>
          <p:cNvPr id="29" name="TextBox 28"/>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Ricardo 1817  ·  Leontief 1936  ·  Polanyi 1944  ·  Hayek 1945  ·  Sen 1999  ·  Stodder 2009  ·  Ostrom 2010  ·  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INSTRUMENTS  ·  §8.1</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What to Measure, What to Judge</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Law · regulation · balance</a:t>
            </a:r>
          </a:p>
        </p:txBody>
      </p:sp>
      <p:sp>
        <p:nvSpPr>
          <p:cNvPr id="9" name="TextBox 8"/>
          <p:cNvSpPr txBox="1"/>
          <p:nvPr/>
        </p:nvSpPr>
        <p:spPr>
          <a:xfrm>
            <a:off x="822960" y="1755648"/>
            <a:ext cx="3474720" cy="16002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Quantities, rates and rules: regeneration of a forest, fertility of a field, stock in a store, labour time in a product.</a:t>
            </a:r>
          </a:p>
          <a:p>
            <a:pPr>
              <a:spcBef>
                <a:spcPts val="600"/>
              </a:spcBef>
              <a:spcAft>
                <a:spcPts val="0"/>
              </a:spcAft>
            </a:pPr>
            <a:r>
              <a:rPr sz="1150" b="1" i="0">
                <a:solidFill>
                  <a:srgbClr val="1E2447"/>
                </a:solidFill>
                <a:latin typeface="Calibri"/>
              </a:rPr>
              <a:t>Measured, recorded, and partly handled by instruments.</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Justice · dharma · truth</a:t>
            </a:r>
          </a:p>
        </p:txBody>
      </p:sp>
      <p:sp>
        <p:nvSpPr>
          <p:cNvPr id="12" name="TextBox 11"/>
          <p:cNvSpPr txBox="1"/>
          <p:nvPr/>
        </p:nvSpPr>
        <p:spPr>
          <a:xfrm>
            <a:off x="4846320" y="1755648"/>
            <a:ext cx="3474720" cy="160020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 fulfilment of relationships, the purpose of a choice, its accord with coexistence.</a:t>
            </a:r>
          </a:p>
          <a:p>
            <a:pPr>
              <a:spcBef>
                <a:spcPts val="600"/>
              </a:spcBef>
              <a:spcAft>
                <a:spcPts val="0"/>
              </a:spcAft>
            </a:pPr>
            <a:r>
              <a:rPr sz="1150" b="1" i="0">
                <a:solidFill>
                  <a:srgbClr val="9A6414"/>
                </a:solidFill>
                <a:latin typeface="Calibri"/>
              </a:rPr>
              <a:t>Judged by people; still under review in human tradition.</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spAutoFit/>
          </a:bodyPr>
          <a:lstStyle/>
          <a:p>
            <a:pPr algn="ctr">
              <a:spcAft>
                <a:spcPts val="0"/>
              </a:spcAft>
            </a:pPr>
            <a:r>
              <a:rPr sz="1350" b="1" i="0">
                <a:solidFill>
                  <a:srgbClr val="C9821E"/>
                </a:solidFill>
                <a:latin typeface="Cambria"/>
              </a:rPr>
              <a:t>The darshan's rule for instruments</a:t>
            </a:r>
          </a:p>
          <a:p>
            <a:pPr algn="ctr">
              <a:spcAft>
                <a:spcPts val="0"/>
              </a:spcAft>
            </a:pPr>
            <a:r>
              <a:rPr sz="1250" b="0" i="0">
                <a:solidFill>
                  <a:srgbClr val="FFFFFF"/>
                </a:solidFill>
                <a:latin typeface="Calibri"/>
              </a:rPr>
              <a:t>An instrument embodies its planners' mentality and falls short of its purpose: trust and use it below that purpose, and let a human read every signal.</a:t>
            </a:r>
          </a:p>
        </p:txBody>
      </p:sp>
      <p:sp>
        <p:nvSpPr>
          <p:cNvPr id="15" name="TextBox 14"/>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MVD p. 173  ·  AA pp. 18, 117  ·  KD p. 139  ·  SB p. 267  ·  AI Study §§1.2–1.5  ·  AnalyticMadhyasthDarshan.org  ·  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BEYOND DATABASES  ·  §8.2</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Why Databases Alone Are Not Enough</a:t>
            </a:r>
          </a:p>
        </p:txBody>
      </p:sp>
      <p:sp>
        <p:nvSpPr>
          <p:cNvPr id="7" name="Rounded Rectangle 6"/>
          <p:cNvSpPr/>
          <p:nvPr/>
        </p:nvSpPr>
        <p:spPr>
          <a:xfrm>
            <a:off x="640080" y="1280160"/>
            <a:ext cx="3840480" cy="141732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Part-time governance constraint</a:t>
            </a:r>
          </a:p>
        </p:txBody>
      </p:sp>
      <p:sp>
        <p:nvSpPr>
          <p:cNvPr id="9" name="TextBox 8"/>
          <p:cNvSpPr txBox="1"/>
          <p:nvPr/>
        </p:nvSpPr>
        <p:spPr>
          <a:xfrm>
            <a:off x="822959" y="1719072"/>
            <a:ext cx="3474720" cy="8686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Councils serve part-time while producing (AA p. 127) and the exchange-reserve has 3 staff (p. 138); manual databases would force a bureaucracy.</a:t>
            </a:r>
          </a:p>
        </p:txBody>
      </p:sp>
      <p:sp>
        <p:nvSpPr>
          <p:cNvPr id="10" name="Rounded Rectangle 9"/>
          <p:cNvSpPr/>
          <p:nvPr/>
        </p:nvSpPr>
        <p:spPr>
          <a:xfrm>
            <a:off x="4663440" y="1280160"/>
            <a:ext cx="3840480" cy="141732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99031"/>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Non-price calculation at scale</a:t>
            </a:r>
          </a:p>
        </p:txBody>
      </p:sp>
      <p:sp>
        <p:nvSpPr>
          <p:cNvPr id="12" name="TextBox 11"/>
          <p:cNvSpPr txBox="1"/>
          <p:nvPr/>
        </p:nvSpPr>
        <p:spPr>
          <a:xfrm>
            <a:off x="4846320" y="1719072"/>
            <a:ext cx="3474720" cy="868680"/>
          </a:xfrm>
          <a:prstGeom prst="rect">
            <a:avLst/>
          </a:prstGeom>
          <a:noFill/>
        </p:spPr>
        <p:txBody>
          <a:bodyPr wrap="square" lIns="0" rIns="0" tIns="0" bIns="0" anchor="t">
            <a:spAutoFit/>
          </a:bodyPr>
          <a:lstStyle/>
          <a:p>
            <a:pPr>
              <a:spcAft>
                <a:spcPts val="0"/>
              </a:spcAft>
            </a:pPr>
            <a:r>
              <a:rPr sz="1150" b="0" i="0">
                <a:solidFill>
                  <a:srgbClr val="5A6377"/>
                </a:solidFill>
                <a:latin typeface="Calibri"/>
              </a:rPr>
              <a:t>Replacing prices across millions of inputs, tool depreciation and Ricardian soil differences needs active input–output and constraint solving.</a:t>
            </a:r>
          </a:p>
        </p:txBody>
      </p:sp>
      <p:sp>
        <p:nvSpPr>
          <p:cNvPr id="13" name="Rounded Rectangle 12"/>
          <p:cNvSpPr/>
          <p:nvPr/>
        </p:nvSpPr>
        <p:spPr>
          <a:xfrm>
            <a:off x="640080" y="288036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9992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Qualitative to quantitative</a:t>
            </a:r>
          </a:p>
        </p:txBody>
      </p:sp>
      <p:sp>
        <p:nvSpPr>
          <p:cNvPr id="15" name="TextBox 14"/>
          <p:cNvSpPr txBox="1"/>
          <p:nvPr/>
        </p:nvSpPr>
        <p:spPr>
          <a:xfrm>
            <a:off x="822959" y="331927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Village surveys, family needs and skill plans combine numbers with local language; intelligent agents keep producers from becoming clerks.</a:t>
            </a:r>
          </a:p>
        </p:txBody>
      </p:sp>
      <p:sp>
        <p:nvSpPr>
          <p:cNvPr id="16" name="Rounded Rectangle 15"/>
          <p:cNvSpPr/>
          <p:nvPr/>
        </p:nvSpPr>
        <p:spPr>
          <a:xfrm>
            <a:off x="4663440" y="2880360"/>
            <a:ext cx="3840480" cy="12801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9992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Transition before full awakening</a:t>
            </a:r>
          </a:p>
        </p:txBody>
      </p:sp>
      <p:sp>
        <p:nvSpPr>
          <p:cNvPr id="18" name="TextBox 17"/>
          <p:cNvSpPr txBox="1"/>
          <p:nvPr/>
        </p:nvSpPr>
        <p:spPr>
          <a:xfrm>
            <a:off x="4846320" y="3319271"/>
            <a:ext cx="3474720" cy="73151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Anubhav-gami people and villages need real-time mirrors and dual currency/labour ledgers across the 3 stages (AA pp. 142–143).</a:t>
            </a:r>
          </a:p>
        </p:txBody>
      </p:sp>
      <p:sp>
        <p:nvSpPr>
          <p:cNvPr id="19" name="TextBox 18"/>
          <p:cNvSpPr txBox="1"/>
          <p:nvPr/>
        </p:nvSpPr>
        <p:spPr>
          <a:xfrm>
            <a:off x="640080" y="4279392"/>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Passive databases only store records after the fact; intelligent agents are needed as core transition infrastructure.</a:t>
            </a:r>
          </a:p>
        </p:txBody>
      </p:sp>
      <p:sp>
        <p:nvSpPr>
          <p:cNvPr id="20" name="TextBox 19"/>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§8.2  ·  AA pp. 72, 107, 122–127, 131–132, 136–138, 142–149  ·  MVD p. 259  ·  JVD p. 35  ·  27 / 33</a:t>
            </a:r>
          </a:p>
        </p:txBody>
      </p:sp>
      <p:sp>
        <p:nvSpPr>
          <p:cNvPr id="7" name="Rounded Rectangle 6"/>
          <p:cNvSpPr/>
          <p:nvPr/>
        </p:nvSpPr>
        <p:spPr>
          <a:xfrm>
            <a:off x="7031736" y="1042415"/>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31736" y="1042415"/>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MULTI-LEVEL AGENTS  ·  §8.3</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AI Agents Across the Ten-Tier Order</a:t>
            </a:r>
          </a:p>
        </p:txBody>
      </p:sp>
      <p:sp>
        <p:nvSpPr>
          <p:cNvPr id="7" name="Rounded Rectangle 6"/>
          <p:cNvSpPr/>
          <p:nvPr/>
        </p:nvSpPr>
        <p:spPr>
          <a:xfrm>
            <a:off x="7031736" y="1042415"/>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31736" y="1042415"/>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9" name="Rectangle 8"/>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1280160"/>
            <a:ext cx="210312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Human unit</a:t>
            </a:r>
          </a:p>
        </p:txBody>
      </p:sp>
      <p:sp>
        <p:nvSpPr>
          <p:cNvPr id="11" name="TextBox 10"/>
          <p:cNvSpPr txBox="1"/>
          <p:nvPr/>
        </p:nvSpPr>
        <p:spPr>
          <a:xfrm>
            <a:off x="2971800" y="1280160"/>
            <a:ext cx="265176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Paired AI agent &amp; role in the cycle</a:t>
            </a:r>
          </a:p>
        </p:txBody>
      </p:sp>
      <p:sp>
        <p:nvSpPr>
          <p:cNvPr id="12" name="TextBox 11"/>
          <p:cNvSpPr txBox="1"/>
          <p:nvPr/>
        </p:nvSpPr>
        <p:spPr>
          <a:xfrm>
            <a:off x="5760720" y="1280160"/>
            <a:ext cx="269748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Judgement kept by people</a:t>
            </a:r>
          </a:p>
        </p:txBody>
      </p:sp>
      <p:sp>
        <p:nvSpPr>
          <p:cNvPr id="13" name="Rectangle 12"/>
          <p:cNvSpPr/>
          <p:nvPr/>
        </p:nvSpPr>
        <p:spPr>
          <a:xfrm>
            <a:off x="640080" y="1572768"/>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196596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1600200"/>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Individual (anubhav-gami)</a:t>
            </a:r>
          </a:p>
        </p:txBody>
      </p:sp>
      <p:sp>
        <p:nvSpPr>
          <p:cNvPr id="16" name="TextBox 15"/>
          <p:cNvSpPr txBox="1"/>
          <p:nvPr/>
        </p:nvSpPr>
        <p:spPr>
          <a:xfrm>
            <a:off x="2971800" y="1600200"/>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Personal Assistant: mirror &amp; study</a:t>
            </a:r>
          </a:p>
        </p:txBody>
      </p:sp>
      <p:sp>
        <p:nvSpPr>
          <p:cNvPr id="17" name="TextBox 16"/>
          <p:cNvSpPr txBox="1"/>
          <p:nvPr/>
        </p:nvSpPr>
        <p:spPr>
          <a:xfrm>
            <a:off x="5760720" y="1600200"/>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Self-examination, sanskar, work</a:t>
            </a:r>
          </a:p>
        </p:txBody>
      </p:sp>
      <p:sp>
        <p:nvSpPr>
          <p:cNvPr id="18" name="Rectangle 17"/>
          <p:cNvSpPr/>
          <p:nvPr/>
        </p:nvSpPr>
        <p:spPr>
          <a:xfrm>
            <a:off x="640080" y="2368296"/>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2002536"/>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Family (10–12 members)</a:t>
            </a:r>
          </a:p>
        </p:txBody>
      </p:sp>
      <p:sp>
        <p:nvSpPr>
          <p:cNvPr id="20" name="TextBox 19"/>
          <p:cNvSpPr txBox="1"/>
          <p:nvPr/>
        </p:nvSpPr>
        <p:spPr>
          <a:xfrm>
            <a:off x="2971800" y="2002536"/>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Family Agent: need &amp; restful work</a:t>
            </a:r>
          </a:p>
        </p:txBody>
      </p:sp>
      <p:sp>
        <p:nvSpPr>
          <p:cNvPr id="21" name="TextBox 20"/>
          <p:cNvSpPr txBox="1"/>
          <p:nvPr/>
        </p:nvSpPr>
        <p:spPr>
          <a:xfrm>
            <a:off x="5760720" y="2002536"/>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True family need, care, sharing</a:t>
            </a:r>
          </a:p>
        </p:txBody>
      </p:sp>
      <p:sp>
        <p:nvSpPr>
          <p:cNvPr id="22" name="Rectangle 21"/>
          <p:cNvSpPr/>
          <p:nvPr/>
        </p:nvSpPr>
        <p:spPr>
          <a:xfrm>
            <a:off x="640080" y="2377440"/>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0632"/>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19" y="2404872"/>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Family cluster (Tier 1)</a:t>
            </a:r>
          </a:p>
        </p:txBody>
      </p:sp>
      <p:sp>
        <p:nvSpPr>
          <p:cNvPr id="25" name="TextBox 24"/>
          <p:cNvSpPr txBox="1"/>
          <p:nvPr/>
        </p:nvSpPr>
        <p:spPr>
          <a:xfrm>
            <a:off x="2971800" y="2404872"/>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Cluster Agent: 10-family synthesis</a:t>
            </a:r>
          </a:p>
        </p:txBody>
      </p:sp>
      <p:sp>
        <p:nvSpPr>
          <p:cNvPr id="26" name="TextBox 25"/>
          <p:cNvSpPr txBox="1"/>
          <p:nvPr/>
        </p:nvSpPr>
        <p:spPr>
          <a:xfrm>
            <a:off x="5760720" y="2404872"/>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Evaluating representatives, aid</a:t>
            </a:r>
          </a:p>
        </p:txBody>
      </p:sp>
      <p:sp>
        <p:nvSpPr>
          <p:cNvPr id="27" name="Rectangle 26"/>
          <p:cNvSpPr/>
          <p:nvPr/>
        </p:nvSpPr>
        <p:spPr>
          <a:xfrm>
            <a:off x="640080" y="3172968"/>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19" y="2807208"/>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Village &amp; 5 committees</a:t>
            </a:r>
          </a:p>
        </p:txBody>
      </p:sp>
      <p:sp>
        <p:nvSpPr>
          <p:cNvPr id="29" name="TextBox 28"/>
          <p:cNvSpPr txBox="1"/>
          <p:nvPr/>
        </p:nvSpPr>
        <p:spPr>
          <a:xfrm>
            <a:off x="2971800" y="2807208"/>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Village Agents: survey &amp; 3-stage</a:t>
            </a:r>
          </a:p>
        </p:txBody>
      </p:sp>
      <p:sp>
        <p:nvSpPr>
          <p:cNvPr id="30" name="TextBox 29"/>
          <p:cNvSpPr txBox="1"/>
          <p:nvPr/>
        </p:nvSpPr>
        <p:spPr>
          <a:xfrm>
            <a:off x="5760720" y="2807208"/>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Labour values, training, justice</a:t>
            </a:r>
          </a:p>
        </p:txBody>
      </p:sp>
      <p:sp>
        <p:nvSpPr>
          <p:cNvPr id="31" name="Rectangle 30"/>
          <p:cNvSpPr/>
          <p:nvPr/>
        </p:nvSpPr>
        <p:spPr>
          <a:xfrm>
            <a:off x="640080" y="3182112"/>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57530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19" y="3209544"/>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Regional tiers (3–9)</a:t>
            </a:r>
          </a:p>
        </p:txBody>
      </p:sp>
      <p:sp>
        <p:nvSpPr>
          <p:cNvPr id="34" name="TextBox 33"/>
          <p:cNvSpPr txBox="1"/>
          <p:nvPr/>
        </p:nvSpPr>
        <p:spPr>
          <a:xfrm>
            <a:off x="2971800" y="3209544"/>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Regional Agents: I–O &amp; rent match</a:t>
            </a:r>
          </a:p>
        </p:txBody>
      </p:sp>
      <p:sp>
        <p:nvSpPr>
          <p:cNvPr id="35" name="TextBox 34"/>
          <p:cNvSpPr txBox="1"/>
          <p:nvPr/>
        </p:nvSpPr>
        <p:spPr>
          <a:xfrm>
            <a:off x="5760720" y="3209544"/>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Exchange rules &amp; infrastructure</a:t>
            </a:r>
          </a:p>
        </p:txBody>
      </p:sp>
      <p:sp>
        <p:nvSpPr>
          <p:cNvPr id="36" name="Rectangle 35"/>
          <p:cNvSpPr/>
          <p:nvPr/>
        </p:nvSpPr>
        <p:spPr>
          <a:xfrm>
            <a:off x="640080" y="397764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19" y="3611879"/>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World council (Tier 10)</a:t>
            </a:r>
          </a:p>
        </p:txBody>
      </p:sp>
      <p:sp>
        <p:nvSpPr>
          <p:cNvPr id="38" name="TextBox 37"/>
          <p:cNvSpPr txBox="1"/>
          <p:nvPr/>
        </p:nvSpPr>
        <p:spPr>
          <a:xfrm>
            <a:off x="2971800" y="3611879"/>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Global Agents: planetary bounds</a:t>
            </a:r>
          </a:p>
        </p:txBody>
      </p:sp>
      <p:sp>
        <p:nvSpPr>
          <p:cNvPr id="39" name="TextBox 38"/>
          <p:cNvSpPr txBox="1"/>
          <p:nvPr/>
        </p:nvSpPr>
        <p:spPr>
          <a:xfrm>
            <a:off x="5760720" y="3611879"/>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Global covenants on coexistence</a:t>
            </a:r>
          </a:p>
        </p:txBody>
      </p:sp>
      <p:sp>
        <p:nvSpPr>
          <p:cNvPr id="40" name="TextBox 39"/>
          <p:cNvSpPr txBox="1"/>
          <p:nvPr/>
        </p:nvSpPr>
        <p:spPr>
          <a:xfrm>
            <a:off x="640080" y="434340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Every human unit from the person and family to the ten tiers works with a paired agent; authority stays with people.</a:t>
            </a:r>
          </a:p>
        </p:txBody>
      </p:sp>
      <p:sp>
        <p:nvSpPr>
          <p:cNvPr id="41" name="TextBox 40"/>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§8.3  ·  Technical Note  ·  AA pp. 14–15, 27–30, 65–67, 112–145  ·  MVD p. 268  ·  AnalyticMadhyasthDarshan.org  ·  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FAILURE POINTS  ·  §8.4</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Failure Points of the Cycle</a:t>
            </a:r>
          </a:p>
        </p:txBody>
      </p:sp>
      <p:sp>
        <p:nvSpPr>
          <p:cNvPr id="7" name="Rounded Rectangle 6"/>
          <p:cNvSpPr/>
          <p:nvPr/>
        </p:nvSpPr>
        <p:spPr>
          <a:xfrm>
            <a:off x="7031736" y="1042415"/>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31736" y="1042415"/>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9" name="Rectangle 8"/>
          <p:cNvSpPr/>
          <p:nvPr/>
        </p:nvSpPr>
        <p:spPr>
          <a:xfrm>
            <a:off x="640080" y="1280160"/>
            <a:ext cx="7863840" cy="29260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1280160"/>
            <a:ext cx="210312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Condition</a:t>
            </a:r>
          </a:p>
        </p:txBody>
      </p:sp>
      <p:sp>
        <p:nvSpPr>
          <p:cNvPr id="11" name="TextBox 10"/>
          <p:cNvSpPr txBox="1"/>
          <p:nvPr/>
        </p:nvSpPr>
        <p:spPr>
          <a:xfrm>
            <a:off x="2971800" y="1280160"/>
            <a:ext cx="265176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Early signal</a:t>
            </a:r>
          </a:p>
        </p:txBody>
      </p:sp>
      <p:sp>
        <p:nvSpPr>
          <p:cNvPr id="12" name="TextBox 11"/>
          <p:cNvSpPr txBox="1"/>
          <p:nvPr/>
        </p:nvSpPr>
        <p:spPr>
          <a:xfrm>
            <a:off x="5760720" y="1280160"/>
            <a:ext cx="2697480" cy="292608"/>
          </a:xfrm>
          <a:prstGeom prst="rect">
            <a:avLst/>
          </a:prstGeom>
          <a:noFill/>
        </p:spPr>
        <p:txBody>
          <a:bodyPr wrap="square" lIns="0" rIns="0" tIns="0" bIns="0" anchor="ctr">
            <a:spAutoFit/>
          </a:bodyPr>
          <a:lstStyle/>
          <a:p>
            <a:pPr>
              <a:spcAft>
                <a:spcPts val="0"/>
              </a:spcAft>
            </a:pPr>
            <a:r>
              <a:rPr sz="1050" b="1" i="0">
                <a:solidFill>
                  <a:srgbClr val="FFFFFF"/>
                </a:solidFill>
                <a:latin typeface="Calibri"/>
              </a:rPr>
              <a:t>Question returned to people</a:t>
            </a:r>
          </a:p>
        </p:txBody>
      </p:sp>
      <p:sp>
        <p:nvSpPr>
          <p:cNvPr id="13" name="Rectangle 12"/>
          <p:cNvSpPr/>
          <p:nvPr/>
        </p:nvSpPr>
        <p:spPr>
          <a:xfrm>
            <a:off x="640080" y="1572768"/>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196596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1600200"/>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Need is definite</a:t>
            </a:r>
          </a:p>
        </p:txBody>
      </p:sp>
      <p:sp>
        <p:nvSpPr>
          <p:cNvPr id="16" name="TextBox 15"/>
          <p:cNvSpPr txBox="1"/>
          <p:nvPr/>
        </p:nvSpPr>
        <p:spPr>
          <a:xfrm>
            <a:off x="2971800" y="1600200"/>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Use rising faster than assessed need</a:t>
            </a:r>
          </a:p>
        </p:txBody>
      </p:sp>
      <p:sp>
        <p:nvSpPr>
          <p:cNvPr id="17" name="TextBox 16"/>
          <p:cNvSpPr txBox="1"/>
          <p:nvPr/>
        </p:nvSpPr>
        <p:spPr>
          <a:xfrm>
            <a:off x="5760720" y="1600200"/>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Is the assessment true and fair?</a:t>
            </a:r>
          </a:p>
        </p:txBody>
      </p:sp>
      <p:sp>
        <p:nvSpPr>
          <p:cNvPr id="18" name="Rectangle 17"/>
          <p:cNvSpPr/>
          <p:nvPr/>
        </p:nvSpPr>
        <p:spPr>
          <a:xfrm>
            <a:off x="640080" y="2368296"/>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19" y="2002536"/>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Labour gets its value</a:t>
            </a:r>
          </a:p>
        </p:txBody>
      </p:sp>
      <p:sp>
        <p:nvSpPr>
          <p:cNvPr id="20" name="TextBox 19"/>
          <p:cNvSpPr txBox="1"/>
          <p:nvPr/>
        </p:nvSpPr>
        <p:spPr>
          <a:xfrm>
            <a:off x="2971800" y="2002536"/>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Producers paid below labour value</a:t>
            </a:r>
          </a:p>
        </p:txBody>
      </p:sp>
      <p:sp>
        <p:nvSpPr>
          <p:cNvPr id="21" name="TextBox 20"/>
          <p:cNvSpPr txBox="1"/>
          <p:nvPr/>
        </p:nvSpPr>
        <p:spPr>
          <a:xfrm>
            <a:off x="5760720" y="2002536"/>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Is the fruit of labour exploited?</a:t>
            </a:r>
          </a:p>
        </p:txBody>
      </p:sp>
      <p:sp>
        <p:nvSpPr>
          <p:cNvPr id="22" name="Rectangle 21"/>
          <p:cNvSpPr/>
          <p:nvPr/>
        </p:nvSpPr>
        <p:spPr>
          <a:xfrm>
            <a:off x="640080" y="2377440"/>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70632"/>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19" y="2404872"/>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Exchange at labour value</a:t>
            </a:r>
          </a:p>
        </p:txBody>
      </p:sp>
      <p:sp>
        <p:nvSpPr>
          <p:cNvPr id="25" name="TextBox 24"/>
          <p:cNvSpPr txBox="1"/>
          <p:nvPr/>
        </p:nvSpPr>
        <p:spPr>
          <a:xfrm>
            <a:off x="2971800" y="2404872"/>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Ratios drifting; margins appearing</a:t>
            </a:r>
          </a:p>
        </p:txBody>
      </p:sp>
      <p:sp>
        <p:nvSpPr>
          <p:cNvPr id="26" name="TextBox 25"/>
          <p:cNvSpPr txBox="1"/>
          <p:nvPr/>
        </p:nvSpPr>
        <p:spPr>
          <a:xfrm>
            <a:off x="5760720" y="2404872"/>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Is this exchange free of exploitation?</a:t>
            </a:r>
          </a:p>
        </p:txBody>
      </p:sp>
      <p:sp>
        <p:nvSpPr>
          <p:cNvPr id="27" name="Rectangle 26"/>
          <p:cNvSpPr/>
          <p:nvPr/>
        </p:nvSpPr>
        <p:spPr>
          <a:xfrm>
            <a:off x="640080" y="3172968"/>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19" y="2807208"/>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Everyone produces</a:t>
            </a:r>
          </a:p>
        </p:txBody>
      </p:sp>
      <p:sp>
        <p:nvSpPr>
          <p:cNvPr id="29" name="TextBox 28"/>
          <p:cNvSpPr txBox="1"/>
          <p:nvPr/>
        </p:nvSpPr>
        <p:spPr>
          <a:xfrm>
            <a:off x="2971800" y="2807208"/>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People displaced; skills idle</a:t>
            </a:r>
          </a:p>
        </p:txBody>
      </p:sp>
      <p:sp>
        <p:nvSpPr>
          <p:cNvPr id="30" name="TextBox 29"/>
          <p:cNvSpPr txBox="1"/>
          <p:nvPr/>
        </p:nvSpPr>
        <p:spPr>
          <a:xfrm>
            <a:off x="5760720" y="2807208"/>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How do they return to production?</a:t>
            </a:r>
          </a:p>
        </p:txBody>
      </p:sp>
      <p:sp>
        <p:nvSpPr>
          <p:cNvPr id="31" name="Rectangle 30"/>
          <p:cNvSpPr/>
          <p:nvPr/>
        </p:nvSpPr>
        <p:spPr>
          <a:xfrm>
            <a:off x="640080" y="3182112"/>
            <a:ext cx="7863840" cy="40233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575304"/>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19" y="3209544"/>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Goods used, not hoarded</a:t>
            </a:r>
          </a:p>
        </p:txBody>
      </p:sp>
      <p:sp>
        <p:nvSpPr>
          <p:cNvPr id="34" name="TextBox 33"/>
          <p:cNvSpPr txBox="1"/>
          <p:nvPr/>
        </p:nvSpPr>
        <p:spPr>
          <a:xfrm>
            <a:off x="2971800" y="3209544"/>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Stock ageing; balances idle</a:t>
            </a:r>
          </a:p>
        </p:txBody>
      </p:sp>
      <p:sp>
        <p:nvSpPr>
          <p:cNvPr id="35" name="TextBox 34"/>
          <p:cNvSpPr txBox="1"/>
          <p:nvPr/>
        </p:nvSpPr>
        <p:spPr>
          <a:xfrm>
            <a:off x="5760720" y="3209544"/>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Why held, and for whose benefit?</a:t>
            </a:r>
          </a:p>
        </p:txBody>
      </p:sp>
      <p:sp>
        <p:nvSpPr>
          <p:cNvPr id="36" name="Rectangle 35"/>
          <p:cNvSpPr/>
          <p:nvPr/>
        </p:nvSpPr>
        <p:spPr>
          <a:xfrm>
            <a:off x="640080" y="3977640"/>
            <a:ext cx="7863840" cy="9144"/>
          </a:xfrm>
          <a:prstGeom prst="rect">
            <a:avLst/>
          </a:prstGeom>
          <a:solidFill>
            <a:srgbClr val="D5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19" y="3611879"/>
            <a:ext cx="2075688" cy="347472"/>
          </a:xfrm>
          <a:prstGeom prst="rect">
            <a:avLst/>
          </a:prstGeom>
          <a:noFill/>
        </p:spPr>
        <p:txBody>
          <a:bodyPr wrap="square" lIns="0" rIns="0" tIns="0" bIns="0" anchor="ctr">
            <a:spAutoFit/>
          </a:bodyPr>
          <a:lstStyle/>
          <a:p>
            <a:pPr>
              <a:spcAft>
                <a:spcPts val="0"/>
              </a:spcAft>
            </a:pPr>
            <a:r>
              <a:rPr sz="1050" b="1" i="0">
                <a:solidFill>
                  <a:srgbClr val="1E2447"/>
                </a:solidFill>
                <a:latin typeface="Calibri"/>
              </a:rPr>
              <a:t>Nature in proportion</a:t>
            </a:r>
          </a:p>
        </p:txBody>
      </p:sp>
      <p:sp>
        <p:nvSpPr>
          <p:cNvPr id="38" name="TextBox 37"/>
          <p:cNvSpPr txBox="1"/>
          <p:nvPr/>
        </p:nvSpPr>
        <p:spPr>
          <a:xfrm>
            <a:off x="2971800" y="3611879"/>
            <a:ext cx="2624327"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Drawdown; falling fertility</a:t>
            </a:r>
          </a:p>
        </p:txBody>
      </p:sp>
      <p:sp>
        <p:nvSpPr>
          <p:cNvPr id="39" name="TextBox 38"/>
          <p:cNvSpPr txBox="1"/>
          <p:nvPr/>
        </p:nvSpPr>
        <p:spPr>
          <a:xfrm>
            <a:off x="5760720" y="3611879"/>
            <a:ext cx="2670048" cy="347472"/>
          </a:xfrm>
          <a:prstGeom prst="rect">
            <a:avLst/>
          </a:prstGeom>
          <a:noFill/>
        </p:spPr>
        <p:txBody>
          <a:bodyPr wrap="square" lIns="0" rIns="0" tIns="0" bIns="0" anchor="ctr">
            <a:spAutoFit/>
          </a:bodyPr>
          <a:lstStyle/>
          <a:p>
            <a:pPr>
              <a:spcAft>
                <a:spcPts val="0"/>
              </a:spcAft>
            </a:pPr>
            <a:r>
              <a:rPr sz="1000" b="0" i="0">
                <a:solidFill>
                  <a:srgbClr val="5A6377"/>
                </a:solidFill>
                <a:latin typeface="Calibri"/>
              </a:rPr>
              <a:t>Which use serves the earth's balance?</a:t>
            </a:r>
          </a:p>
        </p:txBody>
      </p:sp>
      <p:sp>
        <p:nvSpPr>
          <p:cNvPr id="40" name="TextBox 39"/>
          <p:cNvSpPr txBox="1"/>
          <p:nvPr/>
        </p:nvSpPr>
        <p:spPr>
          <a:xfrm>
            <a:off x="640080" y="434340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Most failures leave traces in records long before they become crises.</a:t>
            </a:r>
          </a:p>
        </p:txBody>
      </p:sp>
      <p:sp>
        <p:nvSpPr>
          <p:cNvPr id="41" name="TextBox 40"/>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§8.4  ·  AA pp. 26, 49, 106, 119, 127, 142–146  ·  MVD pp. 263–268  ·  AnalyticMadhyasthDarshan.org  ·  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VALUING LABOUR  ·  §8.5</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AI Agents to Give Labour Its Value</a:t>
            </a:r>
          </a:p>
        </p:txBody>
      </p:sp>
      <p:sp>
        <p:nvSpPr>
          <p:cNvPr id="7" name="Rounded Rectangle 6"/>
          <p:cNvSpPr/>
          <p:nvPr/>
        </p:nvSpPr>
        <p:spPr>
          <a:xfrm>
            <a:off x="640080" y="1298448"/>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298448"/>
            <a:ext cx="1261872" cy="713232"/>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Records</a:t>
            </a:r>
          </a:p>
          <a:p>
            <a:pPr algn="ctr">
              <a:spcAft>
                <a:spcPts val="0"/>
              </a:spcAft>
            </a:pPr>
            <a:r>
              <a:rPr sz="950" b="0" i="1">
                <a:solidFill>
                  <a:srgbClr val="C9D4EF"/>
                </a:solidFill>
                <a:latin typeface="Calibri"/>
              </a:rPr>
              <a:t>pace, time, means, pay</a:t>
            </a:r>
          </a:p>
        </p:txBody>
      </p:sp>
      <p:sp>
        <p:nvSpPr>
          <p:cNvPr id="9" name="TextBox 8"/>
          <p:cNvSpPr txBox="1"/>
          <p:nvPr/>
        </p:nvSpPr>
        <p:spPr>
          <a:xfrm>
            <a:off x="20116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0" name="Rounded Rectangle 9"/>
          <p:cNvSpPr/>
          <p:nvPr/>
        </p:nvSpPr>
        <p:spPr>
          <a:xfrm>
            <a:off x="2240280" y="1298448"/>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95144" y="1298448"/>
            <a:ext cx="1261872" cy="713232"/>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Common values</a:t>
            </a:r>
          </a:p>
          <a:p>
            <a:pPr algn="ctr">
              <a:spcAft>
                <a:spcPts val="0"/>
              </a:spcAft>
            </a:pPr>
            <a:r>
              <a:rPr sz="950" b="0" i="1">
                <a:solidFill>
                  <a:srgbClr val="C9D4EF"/>
                </a:solidFill>
                <a:latin typeface="Calibri"/>
              </a:rPr>
              <a:t>across many villages</a:t>
            </a:r>
          </a:p>
        </p:txBody>
      </p:sp>
      <p:sp>
        <p:nvSpPr>
          <p:cNvPr id="12" name="TextBox 11"/>
          <p:cNvSpPr txBox="1"/>
          <p:nvPr/>
        </p:nvSpPr>
        <p:spPr>
          <a:xfrm>
            <a:off x="36118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3" name="Rounded Rectangle 12"/>
          <p:cNvSpPr/>
          <p:nvPr/>
        </p:nvSpPr>
        <p:spPr>
          <a:xfrm>
            <a:off x="3840480" y="1298448"/>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95344" y="1298448"/>
            <a:ext cx="1261872" cy="713232"/>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Embodied labour</a:t>
            </a:r>
          </a:p>
          <a:p>
            <a:pPr algn="ctr">
              <a:spcAft>
                <a:spcPts val="0"/>
              </a:spcAft>
            </a:pPr>
            <a:r>
              <a:rPr sz="950" b="0" i="1">
                <a:solidFill>
                  <a:srgbClr val="C9D4EF"/>
                </a:solidFill>
                <a:latin typeface="Calibri"/>
              </a:rPr>
              <a:t>I–O, depreciation, rent</a:t>
            </a:r>
          </a:p>
        </p:txBody>
      </p:sp>
      <p:sp>
        <p:nvSpPr>
          <p:cNvPr id="15" name="TextBox 14"/>
          <p:cNvSpPr txBox="1"/>
          <p:nvPr/>
        </p:nvSpPr>
        <p:spPr>
          <a:xfrm>
            <a:off x="52120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6" name="Rounded Rectangle 15"/>
          <p:cNvSpPr/>
          <p:nvPr/>
        </p:nvSpPr>
        <p:spPr>
          <a:xfrm>
            <a:off x="5440680" y="1298448"/>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95544" y="1298448"/>
            <a:ext cx="1261872" cy="713232"/>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Two ledgers</a:t>
            </a:r>
          </a:p>
          <a:p>
            <a:pPr algn="ctr">
              <a:spcAft>
                <a:spcPts val="0"/>
              </a:spcAft>
            </a:pPr>
            <a:r>
              <a:rPr sz="950" b="0" i="1">
                <a:solidFill>
                  <a:srgbClr val="C9D4EF"/>
                </a:solidFill>
                <a:latin typeface="Calibri"/>
              </a:rPr>
              <a:t>price and labour value</a:t>
            </a:r>
          </a:p>
        </p:txBody>
      </p:sp>
      <p:sp>
        <p:nvSpPr>
          <p:cNvPr id="18" name="TextBox 17"/>
          <p:cNvSpPr txBox="1"/>
          <p:nvPr/>
        </p:nvSpPr>
        <p:spPr>
          <a:xfrm>
            <a:off x="6812280" y="1463040"/>
            <a:ext cx="228600" cy="365760"/>
          </a:xfrm>
          <a:prstGeom prst="rect">
            <a:avLst/>
          </a:prstGeom>
          <a:noFill/>
        </p:spPr>
        <p:txBody>
          <a:bodyPr wrap="square" lIns="0" rIns="0" tIns="0" bIns="0" anchor="ctr">
            <a:spAutoFit/>
          </a:bodyPr>
          <a:lstStyle/>
          <a:p>
            <a:pPr algn="ctr">
              <a:spcAft>
                <a:spcPts val="0"/>
              </a:spcAft>
            </a:pPr>
            <a:r>
              <a:rPr sz="1800" b="1" i="0">
                <a:solidFill>
                  <a:srgbClr val="C9821E"/>
                </a:solidFill>
                <a:latin typeface="Calibri"/>
              </a:rPr>
              <a:t>›</a:t>
            </a:r>
          </a:p>
        </p:txBody>
      </p:sp>
      <p:sp>
        <p:nvSpPr>
          <p:cNvPr id="19" name="Rounded Rectangle 18"/>
          <p:cNvSpPr/>
          <p:nvPr/>
        </p:nvSpPr>
        <p:spPr>
          <a:xfrm>
            <a:off x="7040880" y="1298448"/>
            <a:ext cx="1371600" cy="713232"/>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95744" y="1298448"/>
            <a:ext cx="1261872" cy="713232"/>
          </a:xfrm>
          <a:prstGeom prst="rect">
            <a:avLst/>
          </a:prstGeom>
          <a:noFill/>
        </p:spPr>
        <p:txBody>
          <a:bodyPr wrap="square" lIns="0" rIns="0" tIns="0" bIns="0" anchor="ctr">
            <a:spAutoFit/>
          </a:bodyPr>
          <a:lstStyle/>
          <a:p>
            <a:pPr algn="ctr">
              <a:spcAft>
                <a:spcPts val="0"/>
              </a:spcAft>
            </a:pPr>
            <a:r>
              <a:rPr sz="1150" b="1" i="0">
                <a:solidFill>
                  <a:srgbClr val="FFFFFF"/>
                </a:solidFill>
                <a:latin typeface="Cambria"/>
              </a:rPr>
              <a:t>Visible</a:t>
            </a:r>
          </a:p>
          <a:p>
            <a:pPr algn="ctr">
              <a:spcAft>
                <a:spcPts val="0"/>
              </a:spcAft>
            </a:pPr>
            <a:r>
              <a:rPr sz="950" b="0" i="1">
                <a:solidFill>
                  <a:srgbClr val="C9D4EF"/>
                </a:solidFill>
                <a:latin typeface="Calibri"/>
              </a:rPr>
              <a:t>to each producer</a:t>
            </a:r>
          </a:p>
        </p:txBody>
      </p:sp>
      <p:sp>
        <p:nvSpPr>
          <p:cNvPr id="21" name="Rounded Rectangle 20"/>
          <p:cNvSpPr/>
          <p:nvPr/>
        </p:nvSpPr>
        <p:spPr>
          <a:xfrm>
            <a:off x="7040880" y="1042415"/>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1042415"/>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23" name="Rounded Rectangle 22"/>
          <p:cNvSpPr/>
          <p:nvPr/>
        </p:nvSpPr>
        <p:spPr>
          <a:xfrm>
            <a:off x="640080" y="2240280"/>
            <a:ext cx="3840480" cy="155448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235915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What the agent network computes</a:t>
            </a:r>
          </a:p>
        </p:txBody>
      </p:sp>
      <p:sp>
        <p:nvSpPr>
          <p:cNvPr id="25" name="TextBox 24"/>
          <p:cNvSpPr txBox="1"/>
          <p:nvPr/>
        </p:nvSpPr>
        <p:spPr>
          <a:xfrm>
            <a:off x="822959" y="2679191"/>
            <a:ext cx="3474720" cy="10058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Multi-village midpoint values, Leontief input–output chains, tool depreciation without interest, Ricardian soil adjustments, and 3-stage dual ledgers.</a:t>
            </a:r>
          </a:p>
        </p:txBody>
      </p:sp>
      <p:sp>
        <p:nvSpPr>
          <p:cNvPr id="26" name="Rounded Rectangle 25"/>
          <p:cNvSpPr/>
          <p:nvPr/>
        </p:nvSpPr>
        <p:spPr>
          <a:xfrm>
            <a:off x="4663440" y="2240280"/>
            <a:ext cx="3840480" cy="155448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235915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What people decide</a:t>
            </a:r>
          </a:p>
        </p:txBody>
      </p:sp>
      <p:sp>
        <p:nvSpPr>
          <p:cNvPr id="28" name="TextBox 27"/>
          <p:cNvSpPr txBox="1"/>
          <p:nvPr/>
        </p:nvSpPr>
        <p:spPr>
          <a:xfrm>
            <a:off x="4846320" y="2679191"/>
            <a:ext cx="3474720" cy="1005839"/>
          </a:xfrm>
          <a:prstGeom prst="rect">
            <a:avLst/>
          </a:prstGeom>
          <a:noFill/>
        </p:spPr>
        <p:txBody>
          <a:bodyPr wrap="square" lIns="0" rIns="0" tIns="0" bIns="0" anchor="t">
            <a:spAutoFit/>
          </a:bodyPr>
          <a:lstStyle/>
          <a:p>
            <a:pPr>
              <a:spcAft>
                <a:spcPts val="0"/>
              </a:spcAft>
            </a:pPr>
            <a:r>
              <a:rPr sz="1150" b="0" i="0">
                <a:solidFill>
                  <a:srgbClr val="5A6377"/>
                </a:solidFill>
                <a:latin typeface="Calibri"/>
              </a:rPr>
              <a:t>The village council sets the valuation method; committees fix quantity, quality and value of labour. Inside the family, nothing is weighed.</a:t>
            </a:r>
          </a:p>
        </p:txBody>
      </p:sp>
      <p:sp>
        <p:nvSpPr>
          <p:cNvPr id="29" name="TextBox 28"/>
          <p:cNvSpPr txBox="1"/>
          <p:nvPr/>
        </p:nvSpPr>
        <p:spPr>
          <a:xfrm>
            <a:off x="640080" y="3977639"/>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True value is more than an exchange ratio: it is what labour establishes for the families who use its products.</a:t>
            </a:r>
          </a:p>
        </p:txBody>
      </p:sp>
      <p:sp>
        <p:nvSpPr>
          <p:cNvPr id="30" name="TextBox 29"/>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§§4.2, 4.10, 8.5  ·  AA pp. 66–67, 118–120, 131, 142–145  ·  Ricardo 1817  ·  Leontief 1936  ·  30 /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  ·  BALANCE AND SAFEGUARDS  ·  §§8.6–8.8</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Keeping the Cycle Balanced and Governed</a:t>
            </a:r>
          </a:p>
        </p:txBody>
      </p:sp>
      <p:sp>
        <p:nvSpPr>
          <p:cNvPr id="7" name="Rounded Rectangle 6"/>
          <p:cNvSpPr/>
          <p:nvPr/>
        </p:nvSpPr>
        <p:spPr>
          <a:xfrm>
            <a:off x="640080" y="1280160"/>
            <a:ext cx="2496312" cy="19659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45335" y="1188719"/>
            <a:ext cx="1463040" cy="182880"/>
          </a:xfrm>
          <a:prstGeom prst="roundRect">
            <a:avLst>
              <a:gd name="adj" fmla="val 7000"/>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5" y="1188719"/>
            <a:ext cx="146304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THIS STUDY'S PROPOSAL</a:t>
            </a:r>
          </a:p>
        </p:txBody>
      </p:sp>
      <p:sp>
        <p:nvSpPr>
          <p:cNvPr id="10" name="TextBox 9"/>
          <p:cNvSpPr txBox="1"/>
          <p:nvPr/>
        </p:nvSpPr>
        <p:spPr>
          <a:xfrm>
            <a:off x="822959" y="1399031"/>
            <a:ext cx="2130552"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Accelerate transition</a:t>
            </a:r>
          </a:p>
        </p:txBody>
      </p:sp>
      <p:sp>
        <p:nvSpPr>
          <p:cNvPr id="11" name="TextBox 10"/>
          <p:cNvSpPr txBox="1"/>
          <p:nvPr/>
        </p:nvSpPr>
        <p:spPr>
          <a:xfrm>
            <a:off x="822959" y="1719072"/>
            <a:ext cx="2130552" cy="1417319"/>
          </a:xfrm>
          <a:prstGeom prst="rect">
            <a:avLst/>
          </a:prstGeom>
          <a:noFill/>
        </p:spPr>
        <p:txBody>
          <a:bodyPr wrap="square" lIns="0" rIns="0" tIns="0" bIns="0" anchor="t">
            <a:spAutoFit/>
          </a:bodyPr>
          <a:lstStyle/>
          <a:p>
            <a:pPr>
              <a:spcAft>
                <a:spcPts val="0"/>
              </a:spcAft>
            </a:pPr>
            <a:r>
              <a:rPr sz="1100" b="0" i="0">
                <a:solidFill>
                  <a:srgbClr val="5A6377"/>
                </a:solidFill>
                <a:latin typeface="Calibri"/>
              </a:rPr>
              <a:t>Living surveys, inter-tier surplus routing at labour value, and pre-configured agents that onboard new villages into the 3 stages.</a:t>
            </a:r>
          </a:p>
        </p:txBody>
      </p:sp>
      <p:sp>
        <p:nvSpPr>
          <p:cNvPr id="12" name="Rounded Rectangle 11"/>
          <p:cNvSpPr/>
          <p:nvPr/>
        </p:nvSpPr>
        <p:spPr>
          <a:xfrm>
            <a:off x="3328416" y="1280160"/>
            <a:ext cx="2496312" cy="19659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1399031"/>
            <a:ext cx="2130552"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Participation &amp; commons</a:t>
            </a:r>
          </a:p>
        </p:txBody>
      </p:sp>
      <p:sp>
        <p:nvSpPr>
          <p:cNvPr id="14" name="TextBox 13"/>
          <p:cNvSpPr txBox="1"/>
          <p:nvPr/>
        </p:nvSpPr>
        <p:spPr>
          <a:xfrm>
            <a:off x="3511296" y="1719072"/>
            <a:ext cx="2130552" cy="1417319"/>
          </a:xfrm>
          <a:prstGeom prst="rect">
            <a:avLst/>
          </a:prstGeom>
          <a:noFill/>
        </p:spPr>
        <p:txBody>
          <a:bodyPr wrap="square" lIns="0" rIns="0" tIns="0" bIns="0" anchor="t">
            <a:spAutoFit/>
          </a:bodyPr>
          <a:lstStyle/>
          <a:p>
            <a:pPr>
              <a:spcAft>
                <a:spcPts val="0"/>
              </a:spcAft>
            </a:pPr>
            <a:r>
              <a:rPr sz="1100" b="0" i="0">
                <a:solidFill>
                  <a:srgbClr val="5A6377"/>
                </a:solidFill>
                <a:latin typeface="Calibri"/>
              </a:rPr>
              <a:t>Reduce drudgery without displacing producers; keep all models, weights and protocols open as shared generational means.</a:t>
            </a:r>
          </a:p>
        </p:txBody>
      </p:sp>
      <p:sp>
        <p:nvSpPr>
          <p:cNvPr id="15" name="Rounded Rectangle 14"/>
          <p:cNvSpPr/>
          <p:nvPr/>
        </p:nvSpPr>
        <p:spPr>
          <a:xfrm>
            <a:off x="6016752" y="1280160"/>
            <a:ext cx="2487168" cy="196596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399031"/>
            <a:ext cx="2121408"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Subsidiarity &amp; boundaries</a:t>
            </a:r>
          </a:p>
        </p:txBody>
      </p:sp>
      <p:sp>
        <p:nvSpPr>
          <p:cNvPr id="17" name="TextBox 16"/>
          <p:cNvSpPr txBox="1"/>
          <p:nvPr/>
        </p:nvSpPr>
        <p:spPr>
          <a:xfrm>
            <a:off x="6199632" y="1719072"/>
            <a:ext cx="2121408" cy="1417319"/>
          </a:xfrm>
          <a:prstGeom prst="rect">
            <a:avLst/>
          </a:prstGeom>
          <a:noFill/>
        </p:spPr>
        <p:txBody>
          <a:bodyPr wrap="square" lIns="0" rIns="0" tIns="0" bIns="0" anchor="t">
            <a:spAutoFit/>
          </a:bodyPr>
          <a:lstStyle/>
          <a:p>
            <a:pPr>
              <a:spcAft>
                <a:spcPts val="0"/>
              </a:spcAft>
            </a:pPr>
            <a:r>
              <a:rPr sz="1100" b="0" i="0">
                <a:solidFill>
                  <a:srgbClr val="5A6377"/>
                </a:solidFill>
                <a:latin typeface="Calibri"/>
              </a:rPr>
              <a:t>Data stays with person, family and village; never optimise for profit or rule; return justice, dharma and truth to people.</a:t>
            </a:r>
          </a:p>
        </p:txBody>
      </p:sp>
      <p:sp>
        <p:nvSpPr>
          <p:cNvPr id="18" name="Rounded Rectangle 17"/>
          <p:cNvSpPr/>
          <p:nvPr/>
        </p:nvSpPr>
        <p:spPr>
          <a:xfrm>
            <a:off x="640080" y="3429000"/>
            <a:ext cx="7863840" cy="914400"/>
          </a:xfrm>
          <a:prstGeom prst="roundRect">
            <a:avLst>
              <a:gd name="adj" fmla="val 7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3520440"/>
            <a:ext cx="868680" cy="182880"/>
          </a:xfrm>
          <a:prstGeom prst="roundRect">
            <a:avLst>
              <a:gd name="adj" fmla="val 7000"/>
            </a:avLst>
          </a:prstGeom>
          <a:solidFill>
            <a:srgbClr val="7A8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20440"/>
            <a:ext cx="868680" cy="182880"/>
          </a:xfrm>
          <a:prstGeom prst="rect">
            <a:avLst/>
          </a:prstGeom>
          <a:noFill/>
        </p:spPr>
        <p:txBody>
          <a:bodyPr wrap="square" lIns="0" rIns="0" tIns="0" bIns="0" anchor="ctr">
            <a:spAutoFit/>
          </a:bodyPr>
          <a:lstStyle/>
          <a:p>
            <a:pPr algn="ctr">
              <a:spcAft>
                <a:spcPts val="0"/>
              </a:spcAft>
            </a:pPr>
            <a:r>
              <a:rPr sz="750" b="1" i="0">
                <a:solidFill>
                  <a:srgbClr val="FFFFFF"/>
                </a:solidFill>
                <a:latin typeface="Calibri"/>
              </a:rPr>
              <a:t>COMPARISON</a:t>
            </a:r>
          </a:p>
        </p:txBody>
      </p:sp>
      <p:sp>
        <p:nvSpPr>
          <p:cNvPr id="21" name="TextBox 20"/>
          <p:cNvSpPr txBox="1"/>
          <p:nvPr/>
        </p:nvSpPr>
        <p:spPr>
          <a:xfrm>
            <a:off x="1874519" y="3465576"/>
            <a:ext cx="6492240" cy="841248"/>
          </a:xfrm>
          <a:prstGeom prst="rect">
            <a:avLst/>
          </a:prstGeom>
          <a:noFill/>
        </p:spPr>
        <p:txBody>
          <a:bodyPr wrap="square" lIns="0" rIns="0" tIns="0" bIns="0" anchor="ctr">
            <a:spAutoFit/>
          </a:bodyPr>
          <a:lstStyle/>
          <a:p>
            <a:pPr>
              <a:spcAft>
                <a:spcPts val="0"/>
              </a:spcAft>
            </a:pPr>
            <a:r>
              <a:rPr sz="1100" b="0" i="1">
                <a:solidFill>
                  <a:srgbClr val="1E2447"/>
                </a:solidFill>
                <a:latin typeface="Calibri"/>
              </a:rPr>
              <a:t>Recommendation and advertising systems now tune AI to keep the selection–taste cycle running. Aimed at use and right use, the same AI can help a family keep to its assessed needs.</a:t>
            </a:r>
          </a:p>
        </p:txBody>
      </p:sp>
      <p:sp>
        <p:nvSpPr>
          <p:cNvPr id="22" name="TextBox 2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§§8.6–8.8  ·  AA pp. 29, 56–58, 72, 82, 92, 107, 118, 128, 132  ·  MVD pp. 265, 268  ·  JVD p. 35  ·  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spAutoFit/>
          </a:bodyPr>
          <a:lstStyle/>
          <a:p>
            <a:pPr>
              <a:spcAft>
                <a:spcPts val="0"/>
              </a:spcAft>
            </a:pPr>
            <a:r>
              <a:rPr sz="1050" b="1" i="0">
                <a:solidFill>
                  <a:srgbClr val="9A6414"/>
                </a:solidFill>
                <a:latin typeface="Calibri"/>
              </a:rPr>
              <a:t>VI  ·  CRITICAL REVIEW  ·  §9</a:t>
            </a:r>
          </a:p>
        </p:txBody>
      </p:sp>
      <p:sp>
        <p:nvSpPr>
          <p:cNvPr id="6" name="TextBox 5"/>
          <p:cNvSpPr txBox="1"/>
          <p:nvPr/>
        </p:nvSpPr>
        <p:spPr>
          <a:xfrm>
            <a:off x="960120" y="457200"/>
            <a:ext cx="7726679" cy="566928"/>
          </a:xfrm>
          <a:prstGeom prst="rect">
            <a:avLst/>
          </a:prstGeom>
          <a:noFill/>
        </p:spPr>
        <p:txBody>
          <a:bodyPr wrap="square" lIns="0" rIns="0" tIns="0" bIns="0" anchor="ctr">
            <a:spAutoFit/>
          </a:bodyPr>
          <a:lstStyle/>
          <a:p>
            <a:pPr>
              <a:spcAft>
                <a:spcPts val="0"/>
              </a:spcAft>
            </a:pPr>
            <a:r>
              <a:rPr sz="3000" b="1" i="0">
                <a:solidFill>
                  <a:srgbClr val="1E2447"/>
                </a:solidFill>
                <a:latin typeface="Cambria"/>
              </a:rPr>
              <a:t>Strengths and Open Problems</a:t>
            </a:r>
          </a:p>
        </p:txBody>
      </p:sp>
      <p:sp>
        <p:nvSpPr>
          <p:cNvPr id="7" name="Rounded Rectangle 6"/>
          <p:cNvSpPr/>
          <p:nvPr/>
        </p:nvSpPr>
        <p:spPr>
          <a:xfrm>
            <a:off x="640080" y="1280160"/>
            <a:ext cx="3840480" cy="301752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spAutoFit/>
          </a:bodyPr>
          <a:lstStyle/>
          <a:p>
            <a:pPr>
              <a:spcAft>
                <a:spcPts val="0"/>
              </a:spcAft>
            </a:pPr>
            <a:r>
              <a:rPr sz="1300" b="1" i="0">
                <a:solidFill>
                  <a:srgbClr val="1E2447"/>
                </a:solidFill>
                <a:latin typeface="Cambria"/>
              </a:rPr>
              <a:t>Strengths</a:t>
            </a:r>
          </a:p>
        </p:txBody>
      </p:sp>
      <p:sp>
        <p:nvSpPr>
          <p:cNvPr id="9" name="Oval 8"/>
          <p:cNvSpPr/>
          <p:nvPr/>
        </p:nvSpPr>
        <p:spPr>
          <a:xfrm>
            <a:off x="868680" y="1856231"/>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7556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Explains insatiability rather than assuming it</a:t>
            </a:r>
          </a:p>
        </p:txBody>
      </p:sp>
      <p:sp>
        <p:nvSpPr>
          <p:cNvPr id="11" name="Oval 10"/>
          <p:cNvSpPr/>
          <p:nvPr/>
        </p:nvSpPr>
        <p:spPr>
          <a:xfrm>
            <a:off x="868680" y="23134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2128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Wealth as produced objects; labour as capital</a:t>
            </a:r>
          </a:p>
        </p:txBody>
      </p:sp>
      <p:sp>
        <p:nvSpPr>
          <p:cNvPr id="13" name="Oval 12"/>
          <p:cNvSpPr/>
          <p:nvPr/>
        </p:nvSpPr>
        <p:spPr>
          <a:xfrm>
            <a:off x="868680" y="27706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6700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Pairs family need-sharing with labour-value exchange</a:t>
            </a:r>
          </a:p>
        </p:txBody>
      </p:sp>
      <p:sp>
        <p:nvSpPr>
          <p:cNvPr id="15" name="Oval 14"/>
          <p:cNvSpPr/>
          <p:nvPr/>
        </p:nvSpPr>
        <p:spPr>
          <a:xfrm>
            <a:off x="868680" y="32278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1272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Names the value of labour in policy</a:t>
            </a:r>
          </a:p>
        </p:txBody>
      </p:sp>
      <p:sp>
        <p:nvSpPr>
          <p:cNvPr id="17" name="Oval 16"/>
          <p:cNvSpPr/>
          <p:nvPr/>
        </p:nvSpPr>
        <p:spPr>
          <a:xfrm>
            <a:off x="868680" y="3685031"/>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5844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A staged path, with a rule for instruments</a:t>
            </a:r>
          </a:p>
        </p:txBody>
      </p:sp>
      <p:sp>
        <p:nvSpPr>
          <p:cNvPr id="19" name="Rounded Rectangle 18"/>
          <p:cNvSpPr/>
          <p:nvPr/>
        </p:nvSpPr>
        <p:spPr>
          <a:xfrm>
            <a:off x="4663440" y="1280160"/>
            <a:ext cx="3840480" cy="301752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1399032"/>
            <a:ext cx="3474720" cy="274320"/>
          </a:xfrm>
          <a:prstGeom prst="rect">
            <a:avLst/>
          </a:prstGeom>
          <a:noFill/>
        </p:spPr>
        <p:txBody>
          <a:bodyPr wrap="square" lIns="0" rIns="0" tIns="0" bIns="0" anchor="ctr">
            <a:spAutoFit/>
          </a:bodyPr>
          <a:lstStyle/>
          <a:p>
            <a:pPr>
              <a:spcAft>
                <a:spcPts val="0"/>
              </a:spcAft>
            </a:pPr>
            <a:r>
              <a:rPr sz="1300" b="1" i="0">
                <a:solidFill>
                  <a:srgbClr val="9A6414"/>
                </a:solidFill>
                <a:latin typeface="Cambria"/>
              </a:rPr>
              <a:t>Open problems</a:t>
            </a:r>
          </a:p>
        </p:txBody>
      </p:sp>
      <p:sp>
        <p:nvSpPr>
          <p:cNvPr id="21" name="Oval 20"/>
          <p:cNvSpPr/>
          <p:nvPr/>
        </p:nvSpPr>
        <p:spPr>
          <a:xfrm>
            <a:off x="4892040" y="1856231"/>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47488" y="17556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Need assessed at the scale of a nation</a:t>
            </a:r>
          </a:p>
        </p:txBody>
      </p:sp>
      <p:sp>
        <p:nvSpPr>
          <p:cNvPr id="23" name="Oval 22"/>
          <p:cNvSpPr/>
          <p:nvPr/>
        </p:nvSpPr>
        <p:spPr>
          <a:xfrm>
            <a:off x="4892040" y="23134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47488" y="22128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Embodied labour, depreciation &amp; Ricardian rent</a:t>
            </a:r>
          </a:p>
        </p:txBody>
      </p:sp>
      <p:sp>
        <p:nvSpPr>
          <p:cNvPr id="25" name="Oval 24"/>
          <p:cNvSpPr/>
          <p:nvPr/>
        </p:nvSpPr>
        <p:spPr>
          <a:xfrm>
            <a:off x="4892040" y="27706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47488" y="26700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10-tier coordination via AI agents without bureaucracy</a:t>
            </a:r>
          </a:p>
        </p:txBody>
      </p:sp>
      <p:sp>
        <p:nvSpPr>
          <p:cNvPr id="27" name="Oval 26"/>
          <p:cNvSpPr/>
          <p:nvPr/>
        </p:nvSpPr>
        <p:spPr>
          <a:xfrm>
            <a:off x="4892040" y="3227832"/>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7488" y="31272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Automation without displacement</a:t>
            </a:r>
          </a:p>
        </p:txBody>
      </p:sp>
      <p:sp>
        <p:nvSpPr>
          <p:cNvPr id="29" name="Oval 28"/>
          <p:cNvSpPr/>
          <p:nvPr/>
        </p:nvSpPr>
        <p:spPr>
          <a:xfrm>
            <a:off x="4892040" y="3685031"/>
            <a:ext cx="73152" cy="73152"/>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47488" y="3584448"/>
            <a:ext cx="3291840" cy="292608"/>
          </a:xfrm>
          <a:prstGeom prst="rect">
            <a:avLst/>
          </a:prstGeom>
          <a:noFill/>
        </p:spPr>
        <p:txBody>
          <a:bodyPr wrap="square" lIns="0" rIns="0" tIns="0" bIns="0" anchor="ctr">
            <a:spAutoFit/>
          </a:bodyPr>
          <a:lstStyle/>
          <a:p>
            <a:pPr>
              <a:spcAft>
                <a:spcPts val="0"/>
              </a:spcAft>
            </a:pPr>
            <a:r>
              <a:rPr sz="1150" b="0" i="0">
                <a:solidFill>
                  <a:srgbClr val="5A6377"/>
                </a:solidFill>
                <a:latin typeface="Calibri"/>
              </a:rPr>
              <a:t>Governing multi-level agents without ceding judgement</a:t>
            </a:r>
          </a:p>
        </p:txBody>
      </p:sp>
      <p:sp>
        <p:nvSpPr>
          <p:cNvPr id="31" name="TextBox 30"/>
          <p:cNvSpPr txBox="1"/>
          <p:nvPr/>
        </p:nvSpPr>
        <p:spPr>
          <a:xfrm>
            <a:off x="640080" y="4389120"/>
            <a:ext cx="7863840" cy="329184"/>
          </a:xfrm>
          <a:prstGeom prst="rect">
            <a:avLst/>
          </a:prstGeom>
          <a:noFill/>
        </p:spPr>
        <p:txBody>
          <a:bodyPr wrap="square" lIns="0" rIns="0" tIns="0" bIns="0" anchor="ctr">
            <a:spAutoFit/>
          </a:bodyPr>
          <a:lstStyle/>
          <a:p>
            <a:pPr>
              <a:spcAft>
                <a:spcPts val="0"/>
              </a:spcAft>
            </a:pPr>
            <a:r>
              <a:rPr sz="1150" b="0" i="1">
                <a:solidFill>
                  <a:srgbClr val="1E2447"/>
                </a:solidFill>
                <a:latin typeface="Calibri"/>
              </a:rPr>
              <a:t>Its practicability depends on understanding the darshan has yet to evidence beyond small communities.</a:t>
            </a:r>
          </a:p>
        </p:txBody>
      </p:sp>
      <p:sp>
        <p:nvSpPr>
          <p:cNvPr id="32" name="TextBox 31"/>
          <p:cNvSpPr txBox="1"/>
          <p:nvPr/>
        </p:nvSpPr>
        <p:spPr>
          <a:xfrm>
            <a:off x="502920" y="4828032"/>
            <a:ext cx="8138160" cy="256032"/>
          </a:xfrm>
          <a:prstGeom prst="rect">
            <a:avLst/>
          </a:prstGeom>
          <a:noFill/>
        </p:spPr>
        <p:txBody>
          <a:bodyPr wrap="square" lIns="0" rIns="0" tIns="0" bIns="0" anchor="ctr">
            <a:spAutoFit/>
          </a:bodyPr>
          <a:lstStyle/>
          <a:p>
            <a:pPr>
              <a:spcAft>
                <a:spcPts val="0"/>
              </a:spcAft>
            </a:pPr>
            <a:r>
              <a:rPr sz="950" b="0" i="1">
                <a:solidFill>
                  <a:srgbClr val="5A6377"/>
                </a:solidFill>
                <a:latin typeface="Calibri"/>
              </a:rPr>
              <a:t>Study §§9.1–9.7  ·  AnalyticMadhyasthDarshan.org  ·  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960120"/>
            <a:ext cx="5852160" cy="274320"/>
          </a:xfrm>
          <a:prstGeom prst="rect">
            <a:avLst/>
          </a:prstGeom>
          <a:noFill/>
        </p:spPr>
        <p:txBody>
          <a:bodyPr wrap="square" lIns="0" rIns="0" tIns="0" bIns="0" anchor="ctr">
            <a:spAutoFit/>
          </a:bodyPr>
          <a:lstStyle/>
          <a:p>
            <a:pPr>
              <a:spcAft>
                <a:spcPts val="0"/>
              </a:spcAft>
            </a:pPr>
            <a:r>
              <a:rPr sz="1200" b="1" i="0">
                <a:solidFill>
                  <a:srgbClr val="C9821E"/>
                </a:solidFill>
                <a:latin typeface="Calibri"/>
              </a:rPr>
              <a:t>CULMINATION  ·  CONCLUSION  ·  §10</a:t>
            </a:r>
          </a:p>
        </p:txBody>
      </p:sp>
      <p:sp>
        <p:nvSpPr>
          <p:cNvPr id="12" name="TextBox 11"/>
          <p:cNvSpPr txBox="1"/>
          <p:nvPr/>
        </p:nvSpPr>
        <p:spPr>
          <a:xfrm>
            <a:off x="640080" y="1298448"/>
            <a:ext cx="5120640" cy="1371600"/>
          </a:xfrm>
          <a:prstGeom prst="rect">
            <a:avLst/>
          </a:prstGeom>
          <a:noFill/>
        </p:spPr>
        <p:txBody>
          <a:bodyPr wrap="square" lIns="0" rIns="0" tIns="0" bIns="0" anchor="ctr">
            <a:spAutoFit/>
          </a:bodyPr>
          <a:lstStyle/>
          <a:p>
            <a:pPr>
              <a:spcAft>
                <a:spcPts val="0"/>
              </a:spcAft>
            </a:pPr>
            <a:r>
              <a:rPr sz="4000" b="1" i="0">
                <a:solidFill>
                  <a:srgbClr val="FFFFFF"/>
                </a:solidFill>
                <a:latin typeface="Cambria"/>
              </a:rPr>
              <a:t>Labour Valued, Cycle Closed</a:t>
            </a:r>
          </a:p>
        </p:txBody>
      </p:sp>
      <p:sp>
        <p:nvSpPr>
          <p:cNvPr id="13" name="TextBox 12"/>
          <p:cNvSpPr txBox="1"/>
          <p:nvPr/>
        </p:nvSpPr>
        <p:spPr>
          <a:xfrm>
            <a:off x="640080" y="2670048"/>
            <a:ext cx="5120640" cy="347472"/>
          </a:xfrm>
          <a:prstGeom prst="rect">
            <a:avLst/>
          </a:prstGeom>
          <a:noFill/>
        </p:spPr>
        <p:txBody>
          <a:bodyPr wrap="square" lIns="0" rIns="0" tIns="0" bIns="0" anchor="ctr">
            <a:spAutoFit/>
          </a:bodyPr>
          <a:lstStyle/>
          <a:p>
            <a:pPr>
              <a:spcAft>
                <a:spcPts val="0"/>
              </a:spcAft>
            </a:pPr>
            <a:r>
              <a:rPr sz="1400" b="1" i="0">
                <a:solidFill>
                  <a:srgbClr val="FFFFFF"/>
                </a:solidFill>
                <a:latin typeface="Cambria"/>
              </a:rPr>
              <a:t>Indefinite want   →   definite need in the family</a:t>
            </a:r>
          </a:p>
        </p:txBody>
      </p:sp>
      <p:sp>
        <p:nvSpPr>
          <p:cNvPr id="14" name="TextBox 13"/>
          <p:cNvSpPr txBox="1"/>
          <p:nvPr/>
        </p:nvSpPr>
        <p:spPr>
          <a:xfrm>
            <a:off x="640080" y="3072384"/>
            <a:ext cx="5120640" cy="347472"/>
          </a:xfrm>
          <a:prstGeom prst="rect">
            <a:avLst/>
          </a:prstGeom>
          <a:noFill/>
        </p:spPr>
        <p:txBody>
          <a:bodyPr wrap="square" lIns="0" rIns="0" tIns="0" bIns="0" anchor="ctr">
            <a:spAutoFit/>
          </a:bodyPr>
          <a:lstStyle/>
          <a:p>
            <a:pPr>
              <a:spcAft>
                <a:spcPts val="0"/>
              </a:spcAft>
            </a:pPr>
            <a:r>
              <a:rPr sz="1400" b="1" i="0">
                <a:solidFill>
                  <a:srgbClr val="FFFFFF"/>
                </a:solidFill>
                <a:latin typeface="Cambria"/>
              </a:rPr>
              <a:t>Price of labour   →   the usefulness labour establishes</a:t>
            </a:r>
          </a:p>
        </p:txBody>
      </p:sp>
      <p:sp>
        <p:nvSpPr>
          <p:cNvPr id="15" name="TextBox 14"/>
          <p:cNvSpPr txBox="1"/>
          <p:nvPr/>
        </p:nvSpPr>
        <p:spPr>
          <a:xfrm>
            <a:off x="640080" y="3474720"/>
            <a:ext cx="5120640" cy="347472"/>
          </a:xfrm>
          <a:prstGeom prst="rect">
            <a:avLst/>
          </a:prstGeom>
          <a:noFill/>
        </p:spPr>
        <p:txBody>
          <a:bodyPr wrap="square" lIns="0" rIns="0" tIns="0" bIns="0" anchor="ctr">
            <a:spAutoFit/>
          </a:bodyPr>
          <a:lstStyle/>
          <a:p>
            <a:pPr>
              <a:spcAft>
                <a:spcPts val="0"/>
              </a:spcAft>
            </a:pPr>
            <a:r>
              <a:rPr sz="1400" b="1" i="0">
                <a:solidFill>
                  <a:srgbClr val="FFFFFF"/>
                </a:solidFill>
                <a:latin typeface="Cambria"/>
              </a:rPr>
              <a:t>Open spiral   →   a cycle within nature's balance</a:t>
            </a:r>
          </a:p>
        </p:txBody>
      </p:sp>
      <p:sp>
        <p:nvSpPr>
          <p:cNvPr id="16" name="TextBox 15"/>
          <p:cNvSpPr txBox="1"/>
          <p:nvPr/>
        </p:nvSpPr>
        <p:spPr>
          <a:xfrm>
            <a:off x="640080" y="3931920"/>
            <a:ext cx="4526280" cy="457200"/>
          </a:xfrm>
          <a:prstGeom prst="rect">
            <a:avLst/>
          </a:prstGeom>
          <a:noFill/>
        </p:spPr>
        <p:txBody>
          <a:bodyPr wrap="square" lIns="0" rIns="0" tIns="0" bIns="0" anchor="ctr">
            <a:spAutoFit/>
          </a:bodyPr>
          <a:lstStyle/>
          <a:p>
            <a:pPr>
              <a:spcAft>
                <a:spcPts val="0"/>
              </a:spcAft>
            </a:pPr>
            <a:r>
              <a:rPr sz="1250" b="0" i="1">
                <a:solidFill>
                  <a:srgbClr val="C9D4EF"/>
                </a:solidFill>
                <a:latin typeface="Calibri"/>
              </a:rPr>
              <a:t>Multi-level AI agents can accelerate the transition and make balance visible; understanding and judgement belong to people.</a:t>
            </a:r>
          </a:p>
        </p:txBody>
      </p:sp>
      <p:sp>
        <p:nvSpPr>
          <p:cNvPr id="17" name="TextBox 16"/>
          <p:cNvSpPr txBox="1"/>
          <p:nvPr/>
        </p:nvSpPr>
        <p:spPr>
          <a:xfrm>
            <a:off x="640080" y="4434840"/>
            <a:ext cx="4754880" cy="274320"/>
          </a:xfrm>
          <a:prstGeom prst="rect">
            <a:avLst/>
          </a:prstGeom>
          <a:noFill/>
        </p:spPr>
        <p:txBody>
          <a:bodyPr wrap="square" lIns="0" rIns="0" tIns="0" bIns="0" anchor="ctr">
            <a:spAutoFit/>
          </a:bodyPr>
          <a:lstStyle/>
          <a:p>
            <a:pPr>
              <a:spcAft>
                <a:spcPts val="0"/>
              </a:spcAft>
            </a:pPr>
            <a:r>
              <a:rPr sz="1100" b="0" i="0">
                <a:solidFill>
                  <a:srgbClr val="8E9BC4"/>
                </a:solidFill>
                <a:latin typeface="Calibri"/>
              </a:rPr>
              <a:t>A study based on our current best understanding of the texts</a:t>
            </a:r>
          </a:p>
        </p:txBody>
      </p:sp>
      <p:sp>
        <p:nvSpPr>
          <p:cNvPr id="18" name="TextBox 17"/>
          <p:cNvSpPr txBox="1"/>
          <p:nvPr/>
        </p:nvSpPr>
        <p:spPr>
          <a:xfrm>
            <a:off x="640080" y="4681728"/>
            <a:ext cx="4754880" cy="274320"/>
          </a:xfrm>
          <a:prstGeom prst="rect">
            <a:avLst/>
          </a:prstGeom>
          <a:noFill/>
        </p:spPr>
        <p:txBody>
          <a:bodyPr wrap="square" lIns="0" rIns="0" tIns="0" bIns="0" anchor="ctr">
            <a:spAutoFit/>
          </a:bodyPr>
          <a:lstStyle/>
          <a:p>
            <a:pPr>
              <a:spcAft>
                <a:spcPts val="0"/>
              </a:spcAft>
            </a:pPr>
            <a:r>
              <a:rPr sz="1100" b="0" i="0">
                <a:solidFill>
                  <a:srgbClr val="8E9BC4"/>
                </a:solidFill>
                <a:latin typeface="Calibri"/>
              </a:rPr>
              <a:t>AnalyticMadhyasthDarshan.org  ·  33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