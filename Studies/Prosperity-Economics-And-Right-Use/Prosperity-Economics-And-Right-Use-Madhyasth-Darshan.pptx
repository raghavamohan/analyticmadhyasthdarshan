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9" r:id="rId41"/>
    <p:sldId id="290" r:id="rId4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8.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26.xml"/><Relationship Id="rId4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brings out Madhyasth Darshan's vision of an undivided society (akhand samaj) and universal orderliness (sarvabhaum vyavastha) — resolved (samadhan), prosperous (samriddhi), fearless (abhay) individuals and families living in balance with nature across the ten-tier order — and asks how human labour can receive its true value, judged by the usefulness it establishes rather than by scarcity, accumulation, and price.</a:t>
            </a:r>
          </a:p>
          <a:p/>
          <a:p>
            <a:r>
              <a:t>The study's principal source is Avartansheel Arthshastra, Shri A. Nagraj's treatise on cyclical economics, read alongside Madhyasth Darshan, Jeevan Vidya, Samadhanatmak Bhautikvad, Karm Darshan, Janvad, and Adhyatmvad. It examines why existing economic principles and methods — mainstream neoclassical and heterodox Marxian, institutional, ecological, capability, and Gandhian traditions alike — fall short of establishing an undivided society and universal orderliness: by treating the human being as a body-centric organism without jeevan (the constitutionally complete conscious atom) and without the realisation (anubhav) of coexistence, they hit six recurring deadlocks.</a:t>
            </a:r>
          </a:p>
          <a:p/>
          <a:p>
            <a:r>
              <a:t>Finally, the deck examines how measurement and a federated ten-tier AI agentic framework can serve as a practical coordination tool (yantra) extending the treatise's computerised exchange-reserves and networked committees while humanity is in the process of realisation (anubhav-gami), keeping every judgement of justice, dharma, and truth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extract more each generation, accumulate wealth that no one can use, and treat a continuing rise in consumption as success. Mainstream economics takes unlimited wants and scarce means as its starting point, while heterodox traditions try to cap extraction or redistribute output while still treating the human being as a purely biological or socially conditioned organism.</a:t>
            </a:r>
          </a:p>
          <a:p/>
          <a:p>
            <a:r>
              <a:t>Madhyasth Darshan shows why prevailing economic principles and methods cannot achieve an undivided society (akhand samaj) and universal orderliness (sarvabhaum vyavastha) without jeevan and the realisation (anubhav) of coexistence, and sets out a constructive family-to-world economic order — assisted in large-scale coordination by measurement and AI agentic tools.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because jeevan, the conscious unit with inexhaustible powers, seeks continuity of happiness; in delusion it reads its own dissatisfaction as a shortage of objects, which is why prevailing economic theories cannot close the cycle without jeevan and the realisation (anubhav) of coexistence. Third, cyclical economics establishes resolved, prosperous, fearless individuals and families living in balance with nature from the ten-member family to the ten-tier universal order: need assessed in the family, labour valued by usefulness, exchange free of profit and loss, and production within natural regeneration. Fourth, while humanity is moving toward realisation (anubhav-gami), measurement and a federated ten-tier AI agentic tool can assist part-time councils in tracking material balances, computing labour values, and examining discrepancies, while keeping justice, dharma, and truth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intellectual resolution (samadhan), material prosperity (samriddhi), social fearlessness (abhay), and coexistence (sah-astitva) with all four orders across the Earth and in universal orderliness (MVD p. 105; AA pp. 72, 94, 116).</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 a constitutionally complete sentient atom (gathan-poorna parmanu) whose mass does not change while its powers of knowing, desiring, thinking, and selecting are inexhaustible and continuously active (akshay, uditodit; AA pp. 47–51, 58, 60). Every human being carries out all activities in the expectation of happiness, peace, contentment, and bliss. Contentment is accepted by every human being and discontent by none (AA pp. 13, 48).</a:t>
            </a:r>
          </a:p>
          <a:p/>
          <a:p>
            <a:r>
              <a:t>Jeevan has ten activities across five faculties: mun (selection, taste), vritti (analysis, deliberation), chitta (visualisation, contemplation), buddhi (resolve, enlightenment), and atma (authenticity, realisation; AA p. 50; JV pp. 72–73). The four jeevan values name harmony between adjacent faculties: happiness between mun and vritti, peace between vritti and chitta, contentment between chitta and buddhi, and bliss between buddhi and atma (AA pp. 20–21, 92; JV p. 137).</a:t>
            </a:r>
          </a:p>
          <a:p/>
          <a:p>
            <a:r>
              <a:t>Deliberation (tulan, in vritti) is the pivot. Deliberation in terms of pleasure, health, and profit (priya, hit, labh) can never reach universal agreement across distinct bodies (JV pp. 72–73; AA pp. 58–60), which is why body-centric economics hits Arrow's impossibility barrier and cannot find an objective anchor for value. Upon the realisation (anubhav) of eternal coexistence (trikalabadh satya, AA p. 51; MVD p. 203), justice, dharma, and truth have an observer-invariant reference point where universal agreement is natural (AA pp. 19–20, 58–60).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This explains why neither mainstream nor heterodox economics can close the cycle without jeevan and realisation. Because the powers of jeevan are inexhaustible (AA pp. 17–18, 48), when the higher 5.5 activities remain unawakened, that continuous energy has no outlet except the 4.5 loop of sensory selection, taste, and positional comparison. External ecological rationing or ascetic suppression (sadhana, renunciation; AA pp. 46–47, 61) merely dams an inexhaustible spring without opening its higher channel, inevitably breeding psychological rebound or black markets. Only awakening the higher activities regulates taste from within.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MVD p. 243). Through paravartan–pratyavartan, the five powers of jeevan project into human living through bodily skill and proficiency, and reflect back in mutual evaluation across family and society (AA pp. 18–19, 48–50). In that state, the restfulness of labour is resolution itself (shram ka vishram in samadhan, AA p. 23): productive work is how a resolved jeevan expresses justice and generosity through the body, breaking the classical trilemma that treats work as disutility requiring either wage fear or unequal pay.</a:t>
            </a:r>
          </a:p>
          <a:p/>
          <a:p>
            <a:r>
              <a:t>Labour applied with skill and proficiency to natural abundance produces objects that carry usefulness value and aesthetic value. Wealth (dhan) is only the produced object, not money (AA pp. 25, 105), and the primary capital is human labour power, which is always the person's own (AA p. 73; MVD p. 56). Because the powers of jeevan are inexhaustible, every human being can produce more than immediate necessity — the foundational principle of human prosperity (SB p. 268; JVD p. 168).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at least ten autonomous people living together with justice, recognising relationships, fulfilling values, and complementary in production (AA pp. 14, 65; JV p. 153). A ten-member household can share unconditionally according to need without weighing individual labour or dependency ratios (AA pp. 119–120) because every member is jeevan, endowed with the ability to realise (anubhav) the coexistence of all-pervasive omnipresence (satta, vyapak) and nature as a whole at once (AA pp. 47, 51, 60; MVD p. 203), removing bodily narrowing so their bodies serve a shared journey of awakening. In a wise family, two to four members easily produce beyond the whole family's limited necessity (AA p. 26; KD p. 115).</a:t>
            </a:r>
          </a:p>
          <a:p/>
          <a:p>
            <a:r>
              <a:t>Prosperity is the absence of the sentiment of lacking and production in excess of needs, together with right use and security (MVD p. 71; AA p. 113). Prosperity cannot be private: for one family to be prosperous, more than one family must be (AA pp. 62–63).</a:t>
            </a:r>
          </a:p>
          <a:p/>
          <a:p>
            <a:r>
              <a:t>In exchange between families and villages, the treatise identifies a satiation point of exchange (vinimay ka tripti bindu, AA p. 76): grounded in inner sovereignty (samprabhuta, AA p. 104) and mutual satisfaction (ubhay-tripti, AA p. 113), remuneration after exchange is just as much as was produced, with neither profit nor loss in labour.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 what food, shelter, a tool, or a vehicle fulfils in nourishing and protecting the body and in social participation.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 extending from the Earth to the whole of existence (KD p. 116; AA p. 116).</a:t>
            </a:r>
          </a:p>
          <a:p/>
          <a:p>
            <a:r>
              <a:t>This places economics within the darshan's hierarchy of thirty values across five categories: two object values, nine civic values, nine established values, one human value, and four jeevan values, alongside five obligatory allegiances (AA pp. 20–24, 92; KD p. 4).</a:t>
            </a:r>
          </a:p>
          <a:p/>
          <a:p>
            <a:r>
              <a:t>Because a realised human sees the prosperity of oneself and one's family in the prosperity of the whole and the perpetuity of human civilization across generations (AA pp. 62–63, 72, 94, 142, 146; KD p. 7), intergenerational discounting drops to zero: preserving soil, forests, and generational tools across centuries is part of one's own and one's family's prosperity in the whole.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achieves resolution and prosperity, the propensity of benevolence (upkar — help and inspiration for awakening and prosperity, MVD p. 72; AA pp. 23–24, 101) naturally arises (KD pp. 115–116), directing surplus production into use within the family, right use (sadupyog) in society, and purposeful use in the universal order rather than accumulation (KD pp. 116–117; AA p. 116; MVD p. 150).</a:t>
            </a:r>
          </a:p>
          <a:p/>
          <a:p>
            <a:r>
              <a:t>The texts treat agriculture and industry as the two primary forms of production, with all other vocations complementary to them (MVD p. 267), and distinguish two forms of service (seva, MVD p. 72). Benevolence-focused service (upkar-pradhan seva) covers household care, teaching, medical care and healing, and societal representation (AA pp. 24, 29, 127, 130–132, 139–140; JV pp. 166–168; KD pp. 116–117); because these practitioners belong to self-reliant ten-member families producing in excess of need, their household's abundance sustains them without salaried employment (KD pp. 115–117; AA pp. 119–120, 137). Remuneration-focused service (pratiphal-pradhan seva) covers material maintenance and village operations — repairing tools, bicycles, and appliances, laundry, barbering, and exchange-reserve upkeep (AA pp. 133, 136, 138) — which earn labour-value credit in the village exchange-reserve. Teaching and healing remain unpaid because awakening jeevan and restoring a person in distress are direct works of kindness in human relationship; material repair and upkeep are remunerated because they maintain produced objects and extend physical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 MVD p. 263).</a:t>
            </a:r>
          </a:p>
          <a:p/>
          <a:p>
            <a:r>
              <a:t>Why does every body-centric economic model struggle with intergenerational discounting, where a positive discount rate makes ecological exhaustion centuries from now look rational to agents seeking isolated gain? In Madhyasth Darshan, a realised human sees the prosperity of oneself and one's family in the prosperity of the whole — both undivided society and nature — and in the perpetuity of human civilization across generations (AA pp. 62–63, 72, 94, 142, 146; KD p. 7).</a:t>
            </a:r>
          </a:p>
          <a:p/>
          <a:p>
            <a:r>
              <a:t>Flowing and falling water, wind, solar heat, biogas from dung and refuse, and vegetable oil from roadside trees provide cyclical, pollution-free energy (AA pp. 31–33, 106–107), and determining a village's land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education-sanskar,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168).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This institutional architecture scales resolved, prosperous, fearless living from the family to the entire Earth. From the Tier-1 family council (parivar sabha, at least ten members) and Tier-2 family cluster (parivar samuh sabha, ten families) to the Tier-3 village family council (gram parivar sabha, a hundred families nominating the five committees; AA pp. 67, 125–145), Tiers 4–8 scale by factors of ten up to ten million families, while Tiers 9 and 10 span the continent councils and the World Family Council (vishva parivar sabha; AA pp. 27–30, 125–127).</a:t>
            </a:r>
          </a:p>
          <a:p/>
          <a:p>
            <a:r>
              <a:t>At the village tier, the production and exchange-reserve committees jointly evaluate the quantity, quality, and fivefold value of labour (AA pp. 67, 143, 145) and coordinate nine branches of village work — agriculture, animal husbandry, fuel, adornment, housing, craft, industry, metallurgy, and the village service branch (AA pp. 133–136). The village exchange-reserve is staffed on average by three people (more when needed; AA p. 138) who receive remuneration-focused service credit, while teachers, doctors, and council representatives serve part-time without salary, supported by their prosperous families and selected by consensus with zero election expenditure (AA pp. 110, 127; MVD pp. 259, 264–271; KD p. 67).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168–169).</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existing economic traditions — what each is, what problem it was meant to solve, and where it falls short — shows why prevailing economic principles and methods cannot establish an undivided society (akhand samaj) and universal orderliness (sarvabhaum vyavastha) of resolved, prosperous individuals living fearlessly in balance with nature.</a:t>
            </a:r>
          </a:p>
          <a:p/>
          <a:p>
            <a:r>
              <a:t>Neoclassical and marginalist theory (Jevons 1871; Robbins 1932) coordinates markets through subjective utility and non-satiation, leaving no observer-invariant basis for social agreement (Arrow 1951). Aristotle and Marx diagnosed the limitlessness of money-getting and capital, yet Marx (1875) had to defer need-based sharing to a distant future because without understanding that every person is jeevan, able to realise the coexistence of satta (vyapak) and nature as a whole at once, the ten-member family, non-kin sharing, and restful work in resolution (shram ka vishram in samadhan) lack an ontological foundation. Keynes, Veblen, and Hirsch diagnosed positional competition, and ecological economists (Daly 1974) call for steady-state throughput caps, yet external caps face psychological rebound whenever jeevan's inexhaustible powers remain trapped in the 4.5 activities. Gandhian economics (Kumarappa 1945) relies on ascetic moral restraint and Advaita renounces worldly life, whereas Madhyasth Darshan regulates taste through the realisation of coexistence, grounding prosperous, fearless living across the Earth.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analytical and institutional methods from modern economics can serve a cyclical economy once they are anchored in jeevan, the realisation (anubhav) of coexistence, and ten-tier self-governance.</a:t>
            </a:r>
          </a:p>
          <a:p/>
          <a:p>
            <a:r>
              <a:t>First, Hayek (1945) showed that market prices compress dispersed knowledge; replacing speculative prices across ten tiers can be assisted by computational and AI coordination tools that aggregate local surpluses and deficits for part-time councils. Second, national accounts, input–output tables, and material-flow accounting measure physical throughput, and gain a stopping point when paired with the family's definite need assessment. Third, Ostrom's polycentric commons and Polanyi's analysis of non-commodities protect local resources, and gain a planetary anchor through universal agreement in coexistence (MVD p. 203). Fourth, Max-Neef, Doyal &amp; Gough, and Sen define objective needs and adaptive preference, while awakening jeevan's higher 5.5 activities prevents hedonic rebound once basic needs are met. Fifth, interest-free mutual-credit clearing (such as the Swiss WIR; Stodder 2009) models the village exchange-reserve, while the satiation point of exchange (AA p. 76) prevents strategic hoarding. Sixth, Leontief input–output matrices and Ricardian differential rent (1817) help separate natural fertility from human effort.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the realisation of coexistence is dharma and truth (MVD p. 173; AA pp. 18, 117). Where a relation is governed by law, regulation, or balance and can be stated as a quantity, rate, or constraint, it can be measured and traced by an instrument. Where a question concerns the fulfilment of a relationship or its accord with coexistence, it belongs to human evaluation (KD p. 139).</a:t>
            </a:r>
          </a:p>
          <a:p/>
          <a:p>
            <a:r>
              <a:t>In Avartansheel Arthshastra, evaluation is carried out collectively across nested councils: family members help correct mistakes within the household, the ten-family cluster evaluates family representatives, the village council and assembly evaluate the five committees, and the justice-security committee conducts a self-motivated process of reform (AA pp. 128–130, 138–140, 146–149).</a:t>
            </a:r>
          </a:p>
          <a:p/>
          <a:p>
            <a:r>
              <a:t>Instruments assist those councils by measuring physical balances, stock age, embodied fivefold labour, and regional surpluses and deficits, placing clear facts before the responsible council while leaving every judgement of justice, dharma, and truth to human beings.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architecture of §8.3, the Family, Committee, and Regional AI Agents monitor these indicators and route early warnings — together with the underlying data — to the responsible council so that errors can be examined and corrected through the treatise's reformative procedures (AA pp. 129–130, 139–140, 146–149).</a:t>
            </a:r>
          </a:p>
          <a:p/>
          <a:p>
            <a:r>
              <a:t>Need is definite: the Family Agent flags use rising faster than assessed need. Labour receives its value: Production and Exchange-Reserve Agents flag producers receiving less than labour value. Exchange follows labour value: regional agents flag drifting ratios or margins. Everyone produces: committee agents flag displaced workers or idle skills so the education-sanskar committee can plan training. Goods are used, not hoarded: agents flag ageing stock and idle balances. Nature in proportion: agents flag drawdown or soil degradation.</a:t>
            </a:r>
          </a:p>
          <a:p/>
          <a:p>
            <a:r>
              <a:t>In each case, the instrument surfaces the signal and returns the normative question to the responsible human body.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 network turns the village survey and committee evaluation rubrics (AA pp. 122–125, 146–149) into a living operational model, tracks extraction against regeneration, and lowers the practical friction of transitioning from the current economy by helping participating communities run three-stage exchange-reserve clearing and pool surpluses across distances (AA pp. 72, 115, 118,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Four architectural safeguards keep the agent network subordinate to people (§8.8): no optimisation for profit, throughput, or attention capture; strict data subsidiarity from person and family to village (AA p. 128); inspectable and revisable rules that prevent technocratic rulership (AA p. 82); and counting the material, mineral, and energy footprint of computing hardware within regenerative limits.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institutional, ecological, capability, and Gandhian economics and Advaita.</a:t>
            </a:r>
          </a:p>
          <a:p/>
          <a:p>
            <a:r>
              <a:t>On the darshan's account, its strengths are that it sets out a complete vision of an undivided society and universal orderliness — resolved, prosperous, fearless humans living in balance with nature; explains insatiability through the joint form of jeevan and body; resolves at a common root the six structural deadlocks that block body-centric economic models without jeevan and realisation; pairs family need-sharing with inter-family fivefold labour-value exchange (skill, proficiency, pace, time, and means); and specifies a concrete three-stage transition path assisted by practical coordination tools.</a:t>
            </a:r>
          </a:p>
          <a:p/>
          <a:p>
            <a:r>
              <a:t>Its open problems include: how family need assessments aggregate at planetary scale; how fivefold labour valuation computes multi-stage inputs, capital depreciation without interest, and Ricardian differential fertility across regions; how a federated ten-tier AI agentic framework can assist non-price coordination without creating a technocratic bottleneck; how automation reduces drudgery without displacing producers; how teachers, doctors, and council representatives are supported in unpaid benevolent service (upkar-pradhan seva) during the transition before their households reach ten-member prosperity; and how communities govern AI tools without ceding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fail to reach balance because the need they are asked to meet is not the need they can meet, and prevailing economic principles and methods — mainstream and heterodox alike — cannot establish an undivided society (akhand samaj) and universal orderliness (sarvabhaum vyavastha) of resolved, prosperous individuals and families living fearlessly in balance with nature. Without recognising jeevan and the realisation (anubhav) of coexistence, neither market prices nor external ecological caps nor moral restraint can close the cycle.</a:t>
            </a:r>
          </a:p>
          <a:p/>
          <a:p>
            <a:r>
              <a:t>On the darshan's account, Avartansheel Arthshastra resolves these deadlocks at their common root through the awakening of jeevan in the realisation of coexistence: definite need assessed and shared in the ten-member family, restful labour valued by the usefulness it establishes, unpaid benevolent service arising from family abundance, exchange settling at the satiation point of fivefold labour value, and production held within natural regeneration across generations.</a:t>
            </a:r>
          </a:p>
          <a:p/>
          <a:p>
            <a:r>
              <a:t>To support transitioning communities and part-time councils across ten tiers while humanity is moving toward realisation (anubhav-gami), a federated ten-tier AI agentic tool can extend the treatise's computerised exchange-reserves and networked committees — tracking material balances, computing multi-stage labour values, and placing clear facts before councils while leaving every judgement of justice, dharma, and truth in human hands.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Extending that institutional design to contemporary computing, a federated ten-tier AI agentic framework can serve as a practical coordination tool where passive databases and network connectivity alone fall short.</a:t>
            </a:r>
          </a:p>
          <a:p/>
          <a:p>
            <a:r>
              <a:t>First, visibility across ten tiers: in a single household, stock, effort, and soil are visible to the naked eye; across ten tiers of villages and regions, active agents cross-check records against physical balances and trace upstream and downstream effects. Second, support while individuals are in the process of realisation (anubhav-gami): when occasional mistakes occur (AA p. 139), paired agents surface verified discrepancies to the relevant council for reformative deliberation (AA pp. 128–130, 138–140) and maintain dual ledgers across the three stages of transition (AA pp. 142–143). Third, part-time governance and lean staffing: representatives continue physical production (AA p. 127; MVD p. 259) and the village exchange-reserve is staffed on average by three people (AA p. 138); automating reconciliation prevents clerical overload without creating a full-time managerial bureaucracy (JVD p. 35). Fourth, non-price input–output calculation, Ricardian soil adjustment, and natural-language translation of village surveys and committee evaluations (AA pp. 122–125, 131, 146–149) become practical for part-time councils.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assist coordination across the ten-tier family-rooted self-governing order (parivar-mulak swarajya vyavastha), each human unit from the person and the Tier-1 family council to the Tier-10 World Family Council can work with a paired AI agent matched to its scope and data-custody boundary.</a:t>
            </a:r>
          </a:p>
          <a:p/>
          <a:p>
            <a:r>
              <a:t>At the individual and Tier-1 family council level (parivar sabha, at least ten members; AA pp. 14, 26–28, 65, 125), the Personal Assistant and Family AI Agent help examine priya–hit–labh impulses, assess common and special aspirations (AA p. 112), track stock age against hoarding, and coordinate complementary household work without weighing individual labour shares (AA pp. 119–120), publishing only aggregate need and surplus summaries to the village (AA p. 130). At Tier 2 (the ten-family cluster council; AA pp. 27, 125) and Tier 3 (the hundred-family village council and its five committees; AA pp. 67, 125–145), the Cluster, Village Council, and five Committee Agents maintain the living village survey, link the five committees horizontally, and run the three-stage transition ledgers alongside the exchange-reserve's three-person staff (AA p. 138).</a:t>
            </a:r>
          </a:p>
          <a:p/>
          <a:p>
            <a:r>
              <a:t>Across Tiers 4 to 10 (from the ten-village cluster to the continent and World Family Councils; AA pp. 27–30, 115, 126–127), federated regional and global agents exchange signed aggregate vectors to compute Leontief input–output chains and Ricardian fertility adjustments, match inter-regional surpluses and deficits at labour value (AA p. 72), coordinate small, medium, and large industry (AA p. 115), and monitor planetary regeneration boundaries (MVD p. 268). This study's companion Technical Note specifies the eight-block architecture and eighteen operational use cases.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Stepping back from the individual schools of economics — neoclassical, Marxian, institutional, ecological, capability, and Gandhian — six structural deadlocks explain why prevailing economic principles and methods cannot achieve an undivided society (akhand samaj) and universal orderliness (sarvabhaum vyavastha). Each arises from modelling the human actor as a physical-biological organism without jeevan and without realisation (anubhav):</a:t>
            </a:r>
          </a:p>
          <a:p/>
          <a:p>
            <a:r>
              <a:t>1. Insatiability rebound vs. ascetic erosion: Dropping the non-satiation axiom on paper or imposing steady-state caps does not stop real-world rebound, positional rivalry, or black markets, while moral calls for ascetic simplicity repeatedly erode, because jeevan's inexhaustible (akshay, uditodit) powers remain trapped in the 4.5 activities until awakening opens the higher 5.5 activities (AA pp. 17–18, 46–51, 95).</a:t>
            </a:r>
          </a:p>
          <a:p>
            <a:r>
              <a:t>2. No uncoerced social agreement (Arrow's impossibility): Body-rooted evaluation (priya, hit, labh) differs in every individual body and admits no fair interpersonal aggregation; every human is jeevan with the ability to realise (anubhav) the coexistence of all-pervasive omnipresence (satta, vyapak) and nature as a whole at once — an eternal, observer-invariant reality (trikalabadh satya) where universal agreement in justice, dharma, and truth is natural (AA pp. 18–20, 47, 51, 58–60; MVD p. 203).</a:t>
            </a:r>
          </a:p>
          <a:p>
            <a:r>
              <a:t>3. Work-disutility and innovation trilemma: Treating work as disutility means removing wage fear, profit, and patents causes shirking or bureaucratic coercion (AA pp. 5, 75–76, 107; JVD p. 35); in Madhyasth Darshan, labour finds its restfulness in resolution (shram ka vishram in samadhan, AA p. 23), and inventions are honoured with prizes (puraskar) and shared openly (AA pp. 56–58, 140, 144).</a:t>
            </a:r>
          </a:p>
          <a:p>
            <a:r>
              <a:t>4. Non-kin sharing collapse: Biological evolutionary theory restricts unconditional sharing to genetic kin; because every member is jeevan with the ability to realise the coexistence of satta (vyapak) and nature as a whole at once (AA pp. 47, 51, 60; MVD p. 203), this forms the basis of the 10-member family where need is shared without weighing individual labour and surplus sustains unpaid benevolent service (upkar-pradhan seva, AA pp. 1, 14, 119–120; KD pp. 115–117).</a:t>
            </a:r>
          </a:p>
          <a:p>
            <a:r>
              <a:t>5. Strategic gaming of ledgers: Interest-free mutual credit and labour-time accounting get gamed by hoarding or padding hours when actors still seek labh; inner sovereignty (samprabhuta, AA p. 104) and mutual satisfaction (ubhay-tripti, AA p. 113) establish a natural satiation point of exchange (vinimay ka tripti bindu, AA p. 76).</a:t>
            </a:r>
          </a:p>
          <a:p>
            <a:r>
              <a:t>6. Intergenerational discounting: Actors seeking isolated private gain discount distant centuries; a realised human sees the prosperity of oneself and one's family in the prosperity of the whole and the perpetuity of human civilization across generations (AA pp. 62–63, 72, 94, 142, 146; KD p. 7), bringing the intergenerational discount rate to zero.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the realisation (anubhav) of coexistence specifically required — and why can't intellectual philosophy, moral exhortation, or institutional rules alone substitute for it?</a:t>
            </a:r>
          </a:p>
          <a:p/>
          <a:p>
            <a:r>
              <a:t>First, because jeevan is a constitutionally complete atom whose powers of hope, thought, and desire are inexhaustible and continuously surging (akshay, uditodit; AA pp. 47–51, 58, 60). Moral vows, ascetic renunciation, or external ecological rationing operate only on the lower faculties while leaving the highest faculties (buddhi and atma) empty. Only when the realisation (anubhav) of coexistence awakens the higher 5.5 activities does jeevan experience continuous happiness, peace, contentment, and bliss within itself, relieving the finite body of the burden of supplying infinite satisfaction (AA pp. 20–21, 50, 95).</a:t>
            </a:r>
          </a:p>
          <a:p/>
          <a:p>
            <a:r>
              <a:t>Second, realisation is the observer-invariant reference point for human society. Sensory pleasure, bodily health, and material profit (priya, hit, labh) are relative to each distinct body. Every human is jeevan with the ability to realise (anubhav) the coexistence of all-pervasive omnipresence (satta, vyapak) and nature as a whole at once (trikalabadh satya — truth uncontradicted across past, present, and future; AA pp. 47, 51; MVD p. 203), giving all humans a shared basis for uncoerced universal agreement (sarvasammati) on justice, dharma, and truth.</a:t>
            </a:r>
          </a:p>
          <a:p/>
          <a:p>
            <a:r>
              <a:t>Third and fourth, realisation transforms human relationship and time horizon from within: because every member is jeevan with the ability to realise the coexistence of satta (vyapak) and nature as a whole at once, this forms the basis of unconditional need-sharing in the ten-member family and restful labour in resolution (shram ka vishram in samadhan, AA p. 23), while inner sovereignty (samprabhuta, AA p. 104) and seeing one's own and one's family's prosperity in the prosperity of the whole and the perpetuity of human civilization establish the satiation point of exchange (AA p. 76) and zero intergenerational discounting (AA pp. 62–63, 72, 94, 142, 146).</a:t>
            </a:r>
          </a:p>
          <a:p/>
          <a:p>
            <a:r>
              <a:t>While communities are moving toward realisation (anubhav-gami), Part V examines how measurement and a federated ten-tier AI agentic tool can assist part-time councils with accounting and coordination.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Resolved, prosperous, fearless living in balance with nature — and giving human labour its true value</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Bodily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vision and the question</a:t>
            </a:r>
          </a:p>
          <a:p>
            <a:pPr algn="ctr">
              <a:spcAft>
                <a:spcPts val="0"/>
              </a:spcAft>
            </a:pPr>
            <a:r>
              <a:rPr sz="1250" b="0" i="0">
                <a:solidFill>
                  <a:srgbClr val="FFFFFF"/>
                </a:solidFill>
                <a:latin typeface="Calibri"/>
              </a:rPr>
              <a:t>How do resolved, prosperous, fearless humans live in balance with nature in an undivided society and universal order — and how does cyclical economics give human labour its true value?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Without jeevan and realisation (anubhav), body-centric economics hits six structural deadlocks.</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6 deadlocks without jeevan
§§2, 4, 7</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realisation &amp; Earth order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Coordination tools</a:t>
            </a:r>
          </a:p>
          <a:p>
            <a:pPr algn="ctr">
              <a:spcAft>
                <a:spcPts val="0"/>
              </a:spcAft>
            </a:pPr>
            <a:r>
              <a:rPr sz="1000" b="0" i="1">
                <a:solidFill>
                  <a:srgbClr val="C9D4EF"/>
                </a:solidFill>
                <a:latin typeface="Calibri"/>
              </a:rPr>
              <a:t>measurement &amp; AI agents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Resolved, prosperous, fearless families; nature regenerated; labour valued by usefulness.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other order is balanced; humans reach balance as resolved, prosperous, fearless people coexisting with nature.</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realisation (anubhav) is needed</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views (priya, hit, labh) differ in every body; only the realisation of coexistence grounds universal agreement.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caps fail without realisation</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Until realisation awakens the higher 5.5 activities, inexhaustible jeevan energy chases more goods or erodes external caps.</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can be fulfilled; needs pursued as indulgence are unlimited and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Needed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resolution, labour finds its restfulness (shram ka vishram in samadhan), and inexhaustible jeevan powers produce beyond need.</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168  ·  AnalyticMadhyasthDarshan.org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every member is jeevan, able to realise the coexistence of satta and nature as a whole, sharing by need.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Grounded in sovereignty (samprabhuta) and mutual satisfaction (ubhay-tripti): exchange returns exact labour value.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across generations</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public service)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168  ·  MVD p. 265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Fearless ten-tier order at Earth scale</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From the 10-member family and 100-family village (9 branches) to the Tier-10 World Family Council: fearless self-governance across the Earth.</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168–169  ·  AVD p. 52  ·  AnalyticMadhyasthDarshan.org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Closure / limit without jeevan</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 realisation, family need, cycles</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observer-relative utility</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Defers need; lacks jeevan &amp; family</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Status shifts; 4.5 activities rebound</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Caps erode without jeevan satiation</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Ascetic restraint erodes across time</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Renounces world; no Earth order</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These methods gain a stable foundation when anchored in jeevan, realisation, and ten-tier self-governance.</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THE SIX DEADLOCKS  ·  §§1.3, 4, 7.2</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Six Deadlocks of Current Economics</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11"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Deadlock in current economics</a:t>
            </a:r>
          </a:p>
        </p:txBody>
      </p:sp>
      <p:sp>
        <p:nvSpPr>
          <p:cNvPr id="13"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Why body-centric economics stalls</a:t>
            </a:r>
          </a:p>
        </p:txBody>
      </p:sp>
      <p:sp>
        <p:nvSpPr>
          <p:cNvPr id="14"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jeevan &amp; realisation resolve it</a:t>
            </a:r>
          </a:p>
        </p:txBody>
      </p:sp>
      <p:sp>
        <p:nvSpPr>
          <p:cNvPr id="15"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1. Rebound vs. caps &amp; vows</a:t>
            </a:r>
          </a:p>
        </p:txBody>
      </p:sp>
      <p:sp>
        <p:nvSpPr>
          <p:cNvPr id="18"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Unawakened 4.5 loop erodes limits</a:t>
            </a:r>
          </a:p>
        </p:txBody>
      </p:sp>
      <p:sp>
        <p:nvSpPr>
          <p:cNvPr id="19"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Awakens 5.5 activities; regulates taste</a:t>
            </a:r>
          </a:p>
        </p:txBody>
      </p:sp>
      <p:sp>
        <p:nvSpPr>
          <p:cNvPr id="20"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2. No social agreement</a:t>
            </a:r>
          </a:p>
        </p:txBody>
      </p:sp>
      <p:sp>
        <p:nvSpPr>
          <p:cNvPr id="22"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Priya–hit–labh differs by body (Arrow)</a:t>
            </a:r>
          </a:p>
        </p:txBody>
      </p:sp>
      <p:sp>
        <p:nvSpPr>
          <p:cNvPr id="23"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Realises satta &amp; nature (MVD p. 203)</a:t>
            </a:r>
          </a:p>
        </p:txBody>
      </p:sp>
      <p:sp>
        <p:nvSpPr>
          <p:cNvPr id="24"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3. Work &amp; patent trilemma</a:t>
            </a:r>
          </a:p>
        </p:txBody>
      </p:sp>
      <p:sp>
        <p:nvSpPr>
          <p:cNvPr id="27"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Work needs wage fear or monopoly rent</a:t>
            </a:r>
          </a:p>
        </p:txBody>
      </p:sp>
      <p:sp>
        <p:nvSpPr>
          <p:cNvPr id="28"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Restful labour in resolution; open skills</a:t>
            </a:r>
          </a:p>
        </p:txBody>
      </p:sp>
      <p:sp>
        <p:nvSpPr>
          <p:cNvPr id="29"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4. Non-kin sharing collapse</a:t>
            </a:r>
          </a:p>
        </p:txBody>
      </p:sp>
      <p:sp>
        <p:nvSpPr>
          <p:cNvPr id="31"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Genetic kinship blocks 10-person family</a:t>
            </a:r>
          </a:p>
        </p:txBody>
      </p:sp>
      <p:sp>
        <p:nvSpPr>
          <p:cNvPr id="32"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Every member is jeevan; realises the whole</a:t>
            </a:r>
          </a:p>
        </p:txBody>
      </p:sp>
      <p:sp>
        <p:nvSpPr>
          <p:cNvPr id="33"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5. Ledger gaming &amp; hoarding</a:t>
            </a:r>
          </a:p>
        </p:txBody>
      </p:sp>
      <p:sp>
        <p:nvSpPr>
          <p:cNvPr id="36"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Co-ops drift to arbitrage or free-riding</a:t>
            </a:r>
          </a:p>
        </p:txBody>
      </p:sp>
      <p:sp>
        <p:nvSpPr>
          <p:cNvPr id="37"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Satiation point of exchange (AA p. 76)</a:t>
            </a:r>
          </a:p>
        </p:txBody>
      </p:sp>
      <p:sp>
        <p:nvSpPr>
          <p:cNvPr id="38"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6. Discounting the future</a:t>
            </a:r>
          </a:p>
        </p:txBody>
      </p:sp>
      <p:sp>
        <p:nvSpPr>
          <p:cNvPr id="40"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Private-gain view discounts the future</a:t>
            </a:r>
          </a:p>
        </p:txBody>
      </p:sp>
      <p:sp>
        <p:nvSpPr>
          <p:cNvPr id="41"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Prosperity in the whole; perpetuity</a:t>
            </a:r>
          </a:p>
        </p:txBody>
      </p:sp>
      <p:sp>
        <p:nvSpPr>
          <p:cNvPr id="42"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mainstream and heterodox model hits these 6 deadlocks because it treats the human being as a body alone.</a:t>
            </a:r>
          </a:p>
        </p:txBody>
      </p:sp>
      <p:sp>
        <p:nvSpPr>
          <p:cNvPr id="43"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§§1.3, 4.1–4.10, 7.2  ·  AA pp. 18–23, 48–60, 76, 95, 119–120  ·  MVD p. 203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WHY REALISATION IS NEEDED  ·  §§2.1–2.2, 7.2, 9.1</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Realisation (Anubhav) Is Required</a:t>
            </a:r>
          </a:p>
        </p:txBody>
      </p:sp>
      <p:sp>
        <p:nvSpPr>
          <p:cNvPr id="9"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Fulfilling inexhaustible jeevan energy</a:t>
            </a:r>
          </a:p>
        </p:txBody>
      </p:sp>
      <p:sp>
        <p:nvSpPr>
          <p:cNvPr id="11"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Rules and ecological caps only dam the 4.5 activities from outside; realisation awakens the higher 5.5 activities so taste is regulated from within (AA p. 95).</a:t>
            </a:r>
          </a:p>
        </p:txBody>
      </p:sp>
      <p:sp>
        <p:nvSpPr>
          <p:cNvPr id="12"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Realising satta &amp; nature at once</a:t>
            </a:r>
          </a:p>
        </p:txBody>
      </p:sp>
      <p:sp>
        <p:nvSpPr>
          <p:cNvPr id="14"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Pleasure, health and profit (priya, hit, labh) differ in every body; realising coexistence of satta (vyapak) and nature as a whole gives one shared anchor (MVD p. 203).</a:t>
            </a:r>
          </a:p>
        </p:txBody>
      </p:sp>
      <p:sp>
        <p:nvSpPr>
          <p:cNvPr id="15"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Every member is jeevan; restful work</a:t>
            </a:r>
          </a:p>
        </p:txBody>
      </p:sp>
      <p:sp>
        <p:nvSpPr>
          <p:cNvPr id="17"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member is jeevan, able to realise the coexistence of satta and nature as a whole — the basis of the 10-member family and restful labour (samadhan, AA p. 23).</a:t>
            </a:r>
          </a:p>
        </p:txBody>
      </p:sp>
      <p:sp>
        <p:nvSpPr>
          <p:cNvPr id="18"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Prosperity in the whole &amp; perpetuity</a:t>
            </a:r>
          </a:p>
        </p:txBody>
      </p:sp>
      <p:sp>
        <p:nvSpPr>
          <p:cNvPr id="20"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realised human sees own and family prosperity in the prosperity of the whole and the perpetuity of human civilization (AA pp. 62–63, 76, 94).</a:t>
            </a:r>
          </a:p>
        </p:txBody>
      </p:sp>
      <p:sp>
        <p:nvSpPr>
          <p:cNvPr id="21"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While humanity is in the process of realisation (anubhav-gami), computational and AI tools can assist ten-tier coordination.</a:t>
            </a:r>
          </a:p>
        </p:txBody>
      </p:sp>
      <p:sp>
        <p:nvSpPr>
          <p:cNvPr id="22"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§§2.1–2.2, 3.1–3.9, 7.2, 9.1  ·  AA pp. 18–23, 47–51, 58–60, 76, 95, 104  ·  MVD p. 203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Fulfilment of relationships, purpose of a choice, and accord with coexistence. Nested councils evaluate conduct and mutually correct individual errors.</a:t>
            </a:r>
          </a:p>
          <a:p>
            <a:pPr>
              <a:spcBef>
                <a:spcPts val="600"/>
              </a:spcBef>
              <a:spcAft>
                <a:spcPts val="0"/>
              </a:spcAft>
            </a:pPr>
            <a:r>
              <a:rPr sz="1150" b="1" i="0">
                <a:solidFill>
                  <a:srgbClr val="9A6414"/>
                </a:solidFill>
                <a:latin typeface="Calibri"/>
              </a:rPr>
              <a:t>Judged collectively by people (AA pp. 128–130, 139).</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Division of labour between instruments and human councils</a:t>
            </a:r>
          </a:p>
          <a:p>
            <a:pPr algn="ctr">
              <a:spcAft>
                <a:spcPts val="0"/>
              </a:spcAft>
            </a:pPr>
            <a:r>
              <a:rPr sz="1250" b="0" i="0">
                <a:solidFill>
                  <a:srgbClr val="FFFFFF"/>
                </a:solidFill>
                <a:latin typeface="Calibri"/>
              </a:rPr>
              <a:t>Instruments measure quantities and trace causal dependencies across tiers; nested councils evaluate relationships and correct errors (KD p. 139; AA p. 139).</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COORDINATION TOOLS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Databases Alone Are Not Enough</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Visibility across ten tiers</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one family, facts are visible by eye; across 10 tiers, agents cross-check balances and trace upstream and downstream effects.</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Support while anubhav-gami</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While individuals are in transition (AA p. 139), agents surface discrepancies for council review and run dual transition ledgers.</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Part-time councils &amp; 3-staff reserves</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reserves average 3 staff (p. 138); without agents, coordination forces a bureaucracy.</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Non-price I–O, surveys &amp; 3-stage ledgers</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Agents compute multi-tier input–output, Ricardian rent, living surveys, and dual currency/labour ledgers across the 3 stages.</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Extending AA's computerised reserves and networked committees, AI agents serve as a practical coordination tool.</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29 / 35</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Across the Ten-Tier Order</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AI agent</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Collective judgement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(Tier 1, ≥10)</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2)</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council (Tier 3)</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(4–9)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Each agent matches the scope and data boundary of its human unit; normative judgement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Early signals return clear facts to the responsible family, cluster, or council so errors can be examined and corrected.</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Living survey &amp; transition</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Turns the village survey into a live model, tracks regeneration, and runs 3-stage dual ledgers for transitioning villages.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via jeevan &amp; realisation</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Resolved, prosperous, fearless living with nature</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Family need-sharing +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Resolves 6 deadlocks of body-centric economics</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3-stage transition path &amp; practical AI tools</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from family to planetary scale</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AI coordination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displacing producers</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10-tier agents while keeping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Cyclical economics grounds balance in jeevan and realisation, paired with a concrete family-to-world institutional path.</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resolved jeevan &amp; family need</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undivided society &amp; universal order</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Ten-tier AI tools assist practical coordination during the transition; judgement of justice, dharma and truth stays with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