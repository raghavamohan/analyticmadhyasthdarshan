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3" r:id="rId25"/>
    <p:sldId id="272" r:id="rId24"/>
    <p:sldId id="274" r:id="rId26"/>
    <p:sldId id="275" r:id="rId27"/>
    <p:sldId id="276" r:id="rId28"/>
    <p:sldId id="277" r:id="rId29"/>
    <p:sldId id="278" r:id="rId30"/>
    <p:sldId id="279" r:id="rId31"/>
    <p:sldId id="280" r:id="rId32"/>
    <p:sldId id="289" r:id="rId41"/>
    <p:sldId id="290" r:id="rId42"/>
    <p:sldId id="281" r:id="rId33"/>
    <p:sldId id="287" r:id="rId39"/>
    <p:sldId id="288" r:id="rId40"/>
    <p:sldId id="282" r:id="rId34"/>
    <p:sldId id="283" r:id="rId35"/>
    <p:sldId id="284" r:id="rId36"/>
    <p:sldId id="285" r:id="rId37"/>
    <p:sldId id="286" r:id="rId3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8.xml"/><Relationship Id="rId25" Type="http://schemas.openxmlformats.org/officeDocument/2006/relationships/slide" Target="slides/slide17.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8.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26.xml"/><Relationship Id="rId4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the study Prosperity Economics and Right Use. It brings out Madhyasth Darshan's vision of an economy of resolved (samadhan), prosperous (samriddhi), fearless (abhay) individuals coexisting with nature across the ten-tier order at the scale of the Earth and in universal orderliness — and asks how human labour can receive its true value, judged by the usefulness it establishes rather than by scarcity, accumulation and price.</a:t>
            </a:r>
          </a:p>
          <a:p/>
          <a:p>
            <a:r>
              <a:t>The study's principal source is Avartansheel Arthshastra, Shri A. Nagraj's treatise on cyclical economics, read alongside Madhyasth Darshan, Jeevan Vidya, Samadhanatmak Bhautikvad, Karm Darshan, Janvad and Adhyatmvad. It demonstrates why this vision is genuinely new: existing economic theories — mainstream neoclassical and heterodox Marxian, institutional, ecological, capability and Gandhian traditions alike — treat the human being as a single body-centric unit and hit structural deadlocks that cannot be resolved without recognising jeevan (the constitutionally complete conscious atom) and realisation (anubhav) in coexistence.</a:t>
            </a:r>
          </a:p>
          <a:p/>
          <a:p>
            <a:r>
              <a:t>Finally, the deck shows why a strong, federated ten-tier AI agentic backbone is a structural requirement — not an optional convenience — for an Earth-scale civilization whose members are in the process of realisation (anubhav-gami). By making objective facts and checkable causal logic visible in common view to families, committees and councils, paired AI agents ensure that inconsistencies cannot be ignored and enable collective self-correction across all ten tiers while keeping normative judgement with people.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study opens with a contrast. A forest, a herd or a field left to itself settles into a definite balance with its surroundings. Soil feeds plants, plants return to soil, and animals take what their bodies need and then stop. The human body belongs to the same nature: its needs for food, shelter and protection are definite and can be counted.</a:t>
            </a:r>
          </a:p>
          <a:p/>
          <a:p>
            <a:r>
              <a:t>Human economies nevertheless extract more each generation, accumulate wealth that no one can use, and treat a continuing rise in consumption as success. Mainstream economics takes unlimited wants and scarce means as its starting point, while heterodox traditions try to cap extraction or redistribute output while still treating the human being as a purely biological or socially conditioned organism.</a:t>
            </a:r>
          </a:p>
          <a:p/>
          <a:p>
            <a:r>
              <a:t>Madhyasth Darshan shows why neither approach can reach balance without jeevan and realisation (anubhav) in coexistence, and sets out the constructive vision of resolved (samadhan), prosperous (samriddhi), fearless (abhay) individuals coexisting with all four orders of nature from the ten-member family to the ten-tier Earth order — supported at planetary scale by a federated ten-tier AI agentic backbone.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argument has four steps, and the deck follows them in order.</a:t>
            </a:r>
          </a:p>
          <a:p/>
          <a:p>
            <a:r>
              <a:t>First, the body's needs are definite, so the body by itself could come to balance with the rest of nature like any other organism. Second, human want is not definite because jeevan, the conscious unit with inexhaustible powers, seeks continuity of happiness; in delusion it reads its own dissatisfaction as a shortage of objects, which is why no economic theory can close the cycle without jeevan and realisation (anubhav). Third, cyclical economics establishes resolved, prosperous, fearless individuals coexisting with nature from the ten-member family to the ten-tier Earth and universal order: need assessed in the family, labour valued by usefulness, exchange free of profit and loss, and production within natural regeneration. Fourth, for an Earth-scale civilization of people still in the process of realisation (anubhav-gami), a federated ten-tier AI agentic backbone is a structural requirement — making objective facts and checkable logic visible to councils so they cannot ignore drift and can collectively self-correct, while keeping justice, dharma and truth with people.</a:t>
            </a:r>
          </a:p>
          <a:p/>
          <a:p>
            <a:r>
              <a:t>Content without a tag presents the primary texts. Small tags mark the study's own proposals and applications, and comparisons with other traditions and the sciences.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Madhyasth Darshan describes nature as four orders: material, plant, animal and the knowledge order, which is the human. Each maintains definite conduct. The material order keeps it through the conformance of its constitution and results; plants reproduce their kind through seed conformance; animals live within the conduct of their species. Every unit of nature except the human exhibits definite conduct, and the human reaches definite conduct only through sanskar, the acceptances formed by understanding (JV pp. 47–48; AA pp. 54–55).</a:t>
            </a:r>
          </a:p>
          <a:p/>
          <a:p>
            <a:r>
              <a:t>Each order is also balanced in its existent state. The material order has the innateness of existence, the plant order of existence and growth, the animal order of existence, growth and the hope of living. The knowledge order is balanced only when it evidences intellectual resolution (samadhan), material prosperity (samriddhi), social fearlessness (abhay), and coexistence (sah-astitva) with all four orders across the Earth and in universal orderliness (MVD p. 105; AA pp. 72, 94, 116).</a:t>
            </a:r>
          </a:p>
          <a:p/>
          <a:p>
            <a:r>
              <a:t>The conclusion is stark. Whatever unit causes disorder in existence is the deluded human being alone (AA p. 41). And prosperity is first a property of the earth itself, which became rich before any human labour touched it (AA pp. 77–78).</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body is a chemical and physical formation, and its needs are of two kinds. Common aspirations are food, shelter and adornment; special aspirations are telephony, broadcasting and transport (AA pp. 26, 73, 93). Both are needs for objects, and objects have definite properties. Grain can be stored for a few years and then rots; a machine left unused rusts; what is produced is for use (JV p. 152). The accumulation of material objects is not feasible, because their use or transformation is inevitable (MVD p. 183). Even prosperity is a temporal need that ends with the body (MVD p. 96).</a:t>
            </a:r>
          </a:p>
          <a:p/>
          <a:p>
            <a:r>
              <a:t>Karm Darshan states the limit precisely. We can know more than we can desire, desire more than we can do, and do more than we can consume, and the limit of consuming is the body alone. Whatever we produce, however much, we cannot consume that much, which is why production beyond necessity is possible (KD p. 114). A person who understands this produces more and consumes less, with little waste (MVD p. 282).</a:t>
            </a:r>
          </a:p>
          <a:p/>
          <a:p>
            <a:r>
              <a:t>For a village of a hundred families, the quantity and quality of food, shelter, adornment and medicine become definite (AA p. 26). The body's balance is not an ideal imposed from outside.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human being is a joint form of body and jeevan — a constitutionally complete sentient atom (gathan-poorna parmanu) whose mass does not change while its powers of knowing, desiring, thinking and selecting are inexhaustible and continuously active (akshay, uditodit; AA pp. 47–51, 58, 60). Every human being carries out all activities in the expectation of happiness, peace, contentment and bliss. Contentment is accepted by every human being and discontent by none (AA pp. 13, 48).</a:t>
            </a:r>
          </a:p>
          <a:p/>
          <a:p>
            <a:r>
              <a:t>Jeevan has ten activities across five faculties: mun (selection, taste), vritti (analysis, deliberation), chitta (visualisation, contemplation), buddhi (resolve, enlightenment), and atma (authenticity, realisation; AA p. 50; JV pp. 72–73). The four jeevan values name harmony between adjacent faculties: happiness between mun and vritti, peace between vritti and chitta, contentment between chitta and buddhi, and bliss between buddhi and atma (AA pp. 20–21, 92; JV p. 137).</a:t>
            </a:r>
          </a:p>
          <a:p/>
          <a:p>
            <a:r>
              <a:t>Deliberation (tulan, in vritti) is the pivot. Deliberation in terms of pleasure, health, and profit (priya, hit, labh) can never reach universal agreement across distinct bodies (JV pp. 72–73; AA pp. 58–60), which is why body-centric economics hits Arrow's impossibility barrier and cannot find an objective anchor for value. Upon realisation (anubhav) in eternal coexistence (trikalabadh satya, AA p. 51; MVD p. 203), justice, dharma, and truth have an observer-invariant reference point where universal agreement is natural (AA pp. 19–20, 58–60).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delusion, only four and a half of the ten activities are effective: selection, taste, analysis, visualisation, and half of deliberation. Taste and selection operate by what is pleasant to the senses; deliberation operates from the perspectives of pleasure, health and profit, priya, hit and labh; and the person lives identified with bodily sensation. The remaining activities lack the substance of understanding, and the result is continuous internal conflict within jeevan (JV pp. 72–73).</a:t>
            </a:r>
          </a:p>
          <a:p/>
          <a:p>
            <a:r>
              <a:t>Avartansheel Arthshastra draws a consequence that bears directly on economics. Selection and tasting form a cycle of their own: after selecting comes tasting, and after tasting the activity of selection arises again. However often the cycle runs, the arising of selection and tasting remains as it was, ready to be done again, because the powers of jeevan are inexhaustible (AA pp. 17–18).</a:t>
            </a:r>
          </a:p>
          <a:p/>
          <a:p>
            <a:r>
              <a:t>The treatise adds that deliberation by pleasure, health and profit has been pushed to decisive conclusions in human tradition, while deliberation by justice, dharma and truth is still under review, its decisive point not yet settled (AA p. 18). We return to that observation when we come to artificial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awakened alternative is not the suppression of taste. It is its regulation. In awakened jeevan, every tasting is balanced and regulated on the touchstone of deliberation, every deliberation on the touchstone of contemplation, all contemplation on the touchstone of enlightenment, all enlightenment on the touchstone of realisation, and all realisation on the touchstone of coexistence. This chain is the darshan's formula of self-regulation and balance in every individual (AA p. 95).</a:t>
            </a:r>
          </a:p>
          <a:p/>
          <a:p>
            <a:r>
              <a:t>This explains why neither mainstream nor heterodox economics can close the cycle without jeevan and realisation. Because the powers of jeevan are inexhaustible (AA pp. 17–18, 48), when the higher 5.5 activities remain unawakened, that continuous energy has no outlet except the 4.5 loop of sensory selection, taste, and positional comparison. External ecological rationing or ascetic suppression (sadhana, renunciation; AA pp. 46–47, 61) merely dams an inexhaustible spring without opening its higher channel, inevitably breeding psychological rebound or black markets. Only awakening the higher activities regulates taste from within.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Decisions based on sensitivity have temporary validity. Eating feels good, but no one can keep eating; sleeping feels good, but no one can keep sleeping. Jeevan Vidya reads this not as a defect but as a provision: the transient nature of sensitivity is an alarm, an inspiration and a direction for awakening (JV pp. 162–163).</a:t>
            </a:r>
          </a:p>
          <a:p/>
          <a:p>
            <a:r>
              <a:t>Whatever indulgence a person carries out through the five senses cannot have continuity, so discontent remains in the reflection that follows (AA p. 48). Temptation towards accumulation and indulgence brings relief for a moment, and afterwards fear and suspicion pervade more than relief (AA p. 33). Pleasure, health and profit are the sources of dissatisfaction; justice, dharma and truth are the sources of satisfaction (AA pp. 58–59).</a:t>
            </a:r>
          </a:p>
          <a:p/>
          <a:p>
            <a:r>
              <a:t>Put together, these passages give the diagnosis. The deluded person reads the discontent that follows every sensory satisfaction, and the conflict of faculties without content, as a shortage of objects, and seeks more of what has just failed to satisfy. The satiation point moves ahead like a mirage (AA p. 78). Duties can be fulfilled because they are definite; needs pursued as indulgence cannot, because they are indefinite and unlimited (MVD p. 128). The study names this a category error.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texts name the lesson that turns this error into economic doctrine. People stray when they are taught that necessities are infinite and means limited, so that necessity can be met only through struggle. That lesson directs attention to accumulation and comfort, neither of which has a point of satisfaction, and leads to the assumption that necessity itself is infinite (KD p. 115).</a:t>
            </a:r>
          </a:p>
          <a:p/>
          <a:p>
            <a:r>
              <a:t>Release from it needs clear evidence: that each family's necessity is limited, that the possibility of fulfilling it is greater, that the powers of jeevan are inexhaustible, and that the body's necessity is limited (KD p. 115). Profit, which has no point of satisfaction, has no definite measure, and so it cannot be universal (SB p. 234).</a:t>
            </a:r>
          </a:p>
          <a:p/>
          <a:p>
            <a:r>
              <a:t>The comparison is direct. Lionel Robbins gave modern economics its standard definition: the study of human behaviour as a relationship between ends and scarce means which have alternative uses. Economists often present non-satiation as a modelling assumption. The darshan treats the premise itself as the error: nature is abundant, bodily needs are definite, and scarcity appears where indefinite want, or a deliberate withholding of goods, meets finite means.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traces how exchange left usefulness behind. Early humans recognised natural resources, shared within the family, and bartered between communities. Seats of state and religion then imposed taxation to sustain non-producing rulers and retainers, and moved exchange from barter to metal coins and finally to paper currency. In that transition, neither unrestrained market economics nor state-regulated economics freed society from exploitation (AA pp. 1–8). Profit means giving less and getting more, and Madhyasth Darshan defines it against labour: seeking more worth than the labour performed (MVD pp. 57, 66).</a:t>
            </a:r>
          </a:p>
          <a:p/>
          <a:p>
            <a:r>
              <a:t>Accumulation settles on money because money escapes the decay that governs real goods. Metal became the symbol of objects and paper the symbol of metal (AA pp. 5–6, 52). Paper currency carries three allurements: it is easily carried from place to place, easily hidden, and easily received and paid (AA p. 45). Once currency becomes the measure of standing, trade expands into seven kinds: strength, learning, knowledge, position, beauty, objects, and deceptive speech are all bought and sold (AA pp. 45–46).</a:t>
            </a:r>
          </a:p>
          <a:p/>
          <a:p>
            <a:r>
              <a:t>Artificial scarcity becomes a principal technique for profit, and because accumulation has no satiation point on a limited earth, it cannot be accessible to all (AA p. 52). Those who produce cannot accumulate, and those who accumulate become slack in production (AA pp. 7, 75).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evaluation produces the ecological crisis. Coal and mineral oil needed to remain in the earth for its balance; extracting and burning them produced pollution, rising heat, a damaged protective layer in the upper atmosphere and rising seas (AA pp. 30–31; KD §3.7). Chemical fertilisers increased quantity while the concentration of nutrition in grain declined and soils were driven towards excess acidity or alkalinity (AA p. 70). Mechanised and input-dependent agriculture replaced autonomy with dependence in seed, manure, ploughing and threshing (AA p. 71). Pollution policy, in the treatise's assessment, does not ask how to stop pollution but how much of it people can live in (AA p. 74).</a:t>
            </a:r>
          </a:p>
          <a:p/>
          <a:p>
            <a:r>
              <a:t>The whole form of exploitation is the exploitation of the earth, and the human being is both exploited and exploiter (AA p. 82).</a:t>
            </a:r>
          </a:p>
          <a:p/>
          <a:p>
            <a:r>
              <a:t>Note what the treatise does not say. The only production it names as opposed in itself to a coexistential economy is the manufacture of war materials; machine production as such is not contrary to economics (AA p. 47). The objection is to the purpose and the evaluation that direct production, not to technique.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Cyclical economics is the right use, security and prosperity of resources, artha, in the form of body, mind and wealth (AA p. 25; MVD p. 243). Through paravartan–pratyavartan, the five powers of jeevan project into human living through bodily skill and proficiency, and reflect back in mutual evaluation across family and society (AA pp. 18–19, 48–50). In that state, the restfulness of labour is resolution itself (shram ka vishram = samadhan, AA p. 23): productive work is how a resolved jeevan expresses justice and generosity through the body, breaking the classical trilemma that treats work as disutility requiring either wage fear or unequal pay.</a:t>
            </a:r>
          </a:p>
          <a:p/>
          <a:p>
            <a:r>
              <a:t>Labour applied with skill and proficiency to natural abundance produces objects that carry usefulness value and aesthetic value. Wealth (dhan) is only the produced object, not money (AA pp. 25, 105), and the primary capital is human labour power, which is always the person's own (AA p. 73; MVD p. 56). Because the powers of jeevan are inexhaustible, every human being can produce more than immediate necessity — the foundational principle of human prosperity (SB p. 268; JVD p. 215).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gives cyclicality a wide sense before it gives it an economic one. Complementarity itself is the meaning of cyclicality, and cyclicality is mutual sustenance: particles sustain one another as atoms, atoms as molecules, molecules as formations, and the orders of nature as one another's support (AA p. 42).</a:t>
            </a:r>
          </a:p>
          <a:p/>
          <a:p>
            <a:r>
              <a:t>It can be seen at many scales. Seed becomes tree and tree becomes seed. Relationship grounds value, value grounds evaluation, and evaluation returns to relationship. The individual's complementarity is linked into the family and the family's into the individual, and the same holds between family and village. Production through labour, valuation by the value of labour, and exchange on that basis together form a cycle, and so do the four orders (AA p. 15). Water evaporates, gathers as cloud, falls as rain and runs back to the sea; plants decompose and make the earth fertile for further plants (AA pp. 34–35; MVD p. 152).</a:t>
            </a:r>
          </a:p>
          <a:p/>
          <a:p>
            <a:r>
              <a:t>Two features matter for economics. A cycle returns: whatever is drawn out is restored to the conditions of the next round. And a cycle is purposive: it is linked in the sense of prosperity, so its return is the fulfilment of a goal, not mere repetition. The treatise's own definition is a compressed sentence; the study records its reading in the Editorial Notes.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Applied to provision, the cycle has a definite sequence. A need for production arises. A mentality fitted to that need, endowed with skill, proficiency and scholarliness, forms. Through a healthy body, labour establishes usefulness value and aesthetic value in objects drawn from natural abundance. The objects are rightly used according to their usefulness, the need is supplied, and the remainder is exchanged (AA p. 106).</a:t>
            </a:r>
          </a:p>
          <a:p/>
          <a:p>
            <a:r>
              <a:t>Jeevan Vidya states the same cycle as a renewal of capacity: "We deploy our resources in the form of body, mind, and wealth on natural abundance for production, and the produced goods become the basis of nourishment and protection of our body and social participation. We again become capable of producing on the basis of this social participation, nourishment, and protection. In this way, it is cyclical" (JV p. 154).</a:t>
            </a:r>
          </a:p>
          <a:p/>
          <a:p>
            <a:r>
              <a:t>The cycle runs through the joint form itself: the mind operates the body, mind and body together manifest object values, and object values are useful to the body and satisfying to jeevan (AA p. 26). Tools made by one generation serve the next, so each generation can offer the next means in excess of need; the means of production increase and the time required decreases (AA pp. 106, 118). The cycle grows richer without growing larger in consumption.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cycle closes only where need is definite, and the darshan locates that definiteness in the family: at least ten autonomous people living together with justice, recognising relationships, fulfilling values, and complementary in production (AA pp. 14, 65; JV p. 153). Why can a ten-member household share unconditionally according to need without weighing individual labour or dependency ratios (AA pp. 119–120), when historical communes frayed along biological kinship lines? Because every member is jeevan, which has the ability to realise (anubhav) in the coexistence of all-pervasive omnipresence (satta / vyapak) and nature as a whole at once (AA pp. 47, 51, 60; MVD p. 203), removing bodily narrowing so their bodies serve a shared journey of awakening. In a wise family, two to four members easily produce beyond the whole family's limited necessity (AA p. 26; KD p. 115).</a:t>
            </a:r>
          </a:p>
          <a:p/>
          <a:p>
            <a:r>
              <a:t>Prosperity is the lack of the sentiment of lacking and production in excess of needs, together with right use and security (MVD p. 71; AA p. 113). Prosperity cannot be private: for one family to be prosperous, more than one family must be (AA pp. 62–63).</a:t>
            </a:r>
          </a:p>
          <a:p/>
          <a:p>
            <a:r>
              <a:t>In exchange between families and villages, the treatise identifies a satiation point of exchange (vinimay ka tripti bindu, AA p. 76): grounded in inner sovereignty (samprabhuta, AA p. 104) and mutual satisfaction (ubhay-tripti, AA p. 113), remuneration after exchange is just as much as was produced, with neither profit nor loss in labour and no motive for strategic ledger gaming.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Value in Madhyasth Darshan is not price. The value of a unit is its participation in the orderliness of the whole: what its activity fulfils in relation to others. For produced things this participation is usefulness, what food, shelter, a tool or a vehicle fulfils in nourishing and protecting the body and in social participation. The collection's study of axiology develops this account. Human labour is the joint deployment of mind (manas, the jeevan powers) and body that establishes usefulness and beauty upon natural abundance (AA p. 143). The value of an object is determined in a chain: labour-based object, object-based usefulness, usefulness-based valuation (AA p. 49). Evaluation can be made only of labour, not of symbolic objects (AA p. 112).</a:t>
            </a:r>
          </a:p>
          <a:p/>
          <a:p>
            <a:r>
              <a:t>For exchange between families and villages, the treatise evaluates labour by the total combination of five factors: skill (kushalata), proficiency (nipunata), speed of work (karya-gati), time (samay) and means (sadhan), together with scholarliness (panditya) (AA pp. 119, 145). Wheat sown under various circumstances yields various quantities, and the midpoint gives a common value for the labour of producing wheat (AA p. 66). Inside the ten-member family, by contrast, individual contributions and dependency ratios are not weighed: the goal is the product and mutual fulfilment, not more or less labour (AA pp. 119–120).</a:t>
            </a:r>
          </a:p>
          <a:p/>
          <a:p>
            <a:r>
              <a:t>The darshan's state policy makes the point explicit: respect and honour according to capacity, ability and receptivity, and a policy that prevents the exploitation of the fruits of labour (MVD pp. 265–268).</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objects can be valued in exchange, the treatise defines the three levels at which resources serve human purposes: use, right use and purposeful use. Use is the utilisation of body, mind and wealth in the nourishment and protection of the body and in social participation. Right use is their utilisation in orderliness and in the motion of undivided society. Purposeful use is their utilisation in evidencing, from generation to generation, knowledge of coexistence, of jeevan, and of humane conduct (AA pp. 72, 94; MVD p. 56). In scale, production is used within the family, rightly used in society, and put to purpose in the universal order — extending from the Earth to the whole of existence (KD p. 116; AA p. 116).</a:t>
            </a:r>
          </a:p>
          <a:p/>
          <a:p>
            <a:r>
              <a:t>This places economics within the darshan's hierarchy of thirty values across five categories: two object values, nine civic values, nine established values, one human value, and four jeevan values, alongside five obligatory allegiances (AA pp. 20–24, 92; KD p. 4).</a:t>
            </a:r>
          </a:p>
          <a:p/>
          <a:p>
            <a:r>
              <a:t>Because a realised human sees the prosperity of oneself and one's family in the prosperity of the whole and the perpetuity of human civilization across generations (AA pp. 62–63, 72, 94, 142, 146; KD p. 7), intergenerational discounting drops to zero: preserving soil, forests, and generational tools across centuries is part of one's own and one's family's prosperity in the whole.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ethics of the economy are stated in terms of character. Humane character consists of righteous wealth, marital faithfulness, and kindness in work and behaviour (AA p. 54). Righteous wealth, svadhan, is wealth received as the remuneration of one's own labour, as a gift, or as an award for a special display of art, technique or scholarship (AA p. 140; AVD p. 170). Its opposite, ill-gotten wealth obtained through exploitation and hypocrisy, is counted as crime (MVD pp. 59, 263), and moral accountability extends across doing, commissioning and consenting in body, speech and mind (KD pp. 1–2, 117; SB pp. 207, 258).</a:t>
            </a:r>
          </a:p>
          <a:p/>
          <a:p>
            <a:r>
              <a:t>The darshan distinguishes animal instincts from the three humane motives: progeny (putreshana), wealth (vitteshana), and public welfare or reputation (lokeshana), with public welfare highest (MVD pp. 318, 320). Upon awakening, once a ten-member family (where two to four members already produce beyond the household's limited physical needs) achieves resolution and prosperity, the propensity of benevolence (upkar — help and inspiration for awakening and prosperity, MVD p. 72; AA pp. 23–24, 101) naturally arises (KD pp. 115–116). Instead of diverting surplus into limitless accumulation (sangrah), household abundance is channelled into use within the family, right use (sadupyog) in society, and purposeful use in the universal order rather than hoarded (KD pp. 116–117; AA p. 116; MVD p. 150).</a:t>
            </a:r>
          </a:p>
          <a:p/>
          <a:p>
            <a:r>
              <a:t>The texts treat agriculture and industry as the two primary forms of production, with all other vocations complementary to them (MVD p. 267), and distinguish two forms of service (seva, MVD p. 72). First, benevolence-focused service (upkar-pradhan seva) covers household care, child and elder support, teaching under the education-sanskar committee (AA pp. 24, 29, 130–132, 140), medical care and healing by doctors under the health-restraint committee at village and regional medical centres (AA pp. 139–140; JV pp. 166–168), service on the five committees (AA p. 127), and representation in the ten-tier council order (lok-pratinidhi, KD pp. 116–117); because these practitioners belong to a self-reliant ten-member family producing in excess of need, their household's abundance provides all objects needed for their bodily nourishment, protection, and societal motion without salaried employment (KD pp. 115–117; AA pp. 119–120, 137). Second, remuneration-focused service (pratiphal-pradhan seva) covers the village service branch (AA pp. 133, 136) and exchange-reserve staffing (AA p. 138) — repairing bicycles, radios, TVs and machines, washing clothes, barbering, and staffing the exchange-reserve — whose council-fixed remuneration (parishramik as svadhan, AA pp. 136, 140) credits their account in the cooperative exchange-reserve (AA pp. 137–138) so they draw needed objects at labour value. Healing falls on the unpaid side because restoring a person in distress or disease is a direct work of kindness (daya) in human relationship, and selling it for gain turns it into trade (vyapar) and distorts its purpose (AA pp. 22–24, 45–46, 140; JV pp. 166–168). Repair, laundry, barbering, and reserve staffing fall on the paid side because they maintain produced objects and village operations and so extend material production.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provision cycle is nested within the cycles of nature, and the treatise draws a sharp line between production (utpadan) and extraction (paddat-prapti). Production is inherently cyclical and leaves natural equilibrium undisturbed; drawing coal and mineral oil from the earth is mere extraction, not production (AA p. 78). Natural assets, minerals and vegetation, are to be used in proportion to their regeneration; their production is not to be obstructed; and human beings are to become helpful in it. Without keeping nature prosperous, the human being cannot be prosperous (AA pp. 142, 146; KD p. 7; MVD p. 263).</a:t>
            </a:r>
          </a:p>
          <a:p/>
          <a:p>
            <a:r>
              <a:t>Why does every body-centric economic model struggle with intergenerational discounting, where a positive discount rate makes ecological exhaustion centuries from now look rational to agents seeking isolated gain? In Madhyasth Darshan, a realised human sees the prosperity of oneself and one's family in the prosperity of the whole — both undivided society and nature — and in the perpetuity of human civilization across generations (AA pp. 62–63, 72, 94, 142, 146; KD p. 7).</a:t>
            </a:r>
          </a:p>
          <a:p/>
          <a:p>
            <a:r>
              <a:t>Flowing and falling water, wind, solar heat, biogas from dung and refuse, and vegetable oil from roadside trees provide cyclical, pollution-free energy (AA pp. 31–33, 106–107), and determining a village's land determines how many families it can support with prosperity (AA p. 92).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cyclical economy, every villager is trained across multiple occupations, planned jointly by the education-sanskar, production, and exchange-reserve committees, so that no one suffers occupational fear (AA pp. 64–65, 131). Under “Security of production” (AA p. 144), when a producer or researcher develops an original tool, procedure, method or formula (maulikta) not previously in the tradition, four village committees record its drawings and formulas in writing and honour the inventor with prizes and awards (puraskar), which count as righteous wealth (svadhan, AA p. 140). Research and dissemination remain inseparable: just as one grain multiplies into hundreds only when sown in the field, knowledge and skill reach fruition through open dissemination, not through patent monopolies that sell research while concealing the method (AA pp. 56–58; JV pp. 88–89).</a:t>
            </a:r>
          </a:p>
          <a:p/>
          <a:p>
            <a:r>
              <a:t>Machine production is not contrary to economics (AA p. 47), but technique multiplies the speed of whatever humans do, problems included (SB p. 267). Preoccupation with full automation and centralised industry, resting on capital and bought labour power, displaced producers and replaced a working mindset with a managing mindset (AA p. 107; JVD p. 35).</a:t>
            </a:r>
          </a:p>
          <a:p/>
          <a:p>
            <a:r>
              <a:t>Against this, every person is to be engaged in production according to capacity, receptivity and ability (MVD p. 265). Once an improved tool is disseminated across society, the unit labour value of the product falls and the means of production increase while the time production takes decreases across generations, keeping every member of every family a producer (AA pp. 118, 145; JVD p. 216).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Economics in isolation has no definition or standing (AA p. 117). Self-governance rests on authority (the strength of understanding), identity (evidencing it in living), and independence (unconstrained participation in family and universal orderliness; AA pp. 104–105). The five dimensions link education-sanskar to understanding, health-restraint to balanced expression, justice-security to honesty, production to prosperity, and exchange-reserve to balance (AA p. 112).</a:t>
            </a:r>
          </a:p>
          <a:p/>
          <a:p>
            <a:r>
              <a:t>This institutional architecture scales resolved, prosperous, fearless living to the entire Earth and into universal orderliness. From the Tier-1 family council (parivar sabha, at least ten members) and Tier-2 family cluster (parivar samuh sabha, ten families) to the Tier-3 village family council (gram parivar sabha, a hundred families nominating the five committees and coordinating nine branches of work; AA pp. 67, 127, 133–136), Tiers 4–8 scale by factors of ten up to ten million families, while Tiers 9 and 10 span the continent councils (pradhan rajya sabha) and the World Family Council (vishva parivar sabha; AA pp. 27–30, 125–127). Representatives are selected by consensus with zero election expenditure and serve part-time while continuing production, so governance never creates a non-producing ruling class and every family produces more than its needs, while higher tiers coordinate medium and large industry, planetary regeneration, and inter-nation labour-value exchange free of profit and loss (AA pp. 27–30, 63, 72, 110, 115, 127; MVD pp. 259, 264–271; KD p. 67).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treatise does not assume that the money economy disappears at once. Its plan for a village begins with a detailed survey: population, education, occupations, land, water, crops, livestock, crafts, shops, storage, health, and the state of justice in production and in exchange (AA pp. 122–125).</a:t>
            </a:r>
          </a:p>
          <a:p/>
          <a:p>
            <a:r>
              <a:t>Exchange is then conducted through an autonomous cooperative exchange-reserve working without profit and loss. Members hold accounts, sell what they produce in excess of need, and buy what they need. At first, values follow the nearby market rate less transport; any incidental gain goes to the village's common facilities; members without funds receive interest-free loans repaid in produce; and a nationalised cooperative bank stands as guarantor (AA pp. 136–138).</a:t>
            </a:r>
          </a:p>
          <a:p/>
          <a:p>
            <a:r>
              <a:t>Justice in exchange is reached in three stages. First, the value of labour is evaluated through the prevailing currency. Second, the currency itself is evaluated on the basis of labour. Third, objects are valued on the value of labour alone, and exchange proceeds free of profit, loss and accumulation (AA pp. 142–143). Nagraj records that he lived with prosperity through his own production within the present system (AVD p. 52; JV pp. 153–154), and Janvad puts the choice to families as a question for public dialogue (JVD pp. 217–218).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traditions disagree both on the source of insatiable want and on what closes the economic cycle — and comparing them reveals why none of the existing economic theories can resolve the core deadlocks without jeevan and realisation (anubhav).</a:t>
            </a:r>
          </a:p>
          <a:p/>
          <a:p>
            <a:r>
              <a:t>Neoclassical and marginalist theory (Jevons 1871; Robbins 1932) locks in non-satiation and subjective utility, leaving no observer-invariant basis for social agreement (Arrow 1951). Aristotle and Marx saw the limitlessness of money-getting and capital, yet Marx (1875) had to defer need-based sharing to a distant future because without understanding that every person is jeevan, able to realise in the coexistence of satta (vyapak) and nature as a whole at once — the basis of the ten-member family, non-kin sharing and intrinsic work motivation (shram ka vishram = samadhan) have no ontological anchor. Keynes, Veblen and Hirsch diagnosed positional competition, and ecological economists (Daly 1974) call for steady-state throughput caps, yet external caps and sufficiency thresholds face psychological rebound whenever jeevan's inexhaustible powers remain trapped in the 4.5 activities. Gandhian economics (Kumarappa 1945) relies on ascetic moral restraint and Advaita renounces worldly life, whereas Madhyasth Darshan regulates taste through realisation in coexistence, grounding prosperous, fearless living across the Earth.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analytical and institutional tools from modern economics can serve a cyclical economy, yet each hits a structural ceiling unless anchored in jeevan, realisation (anubhav), and the ten-tier AI agentic backbone.</a:t>
            </a:r>
          </a:p>
          <a:p/>
          <a:p>
            <a:r>
              <a:t>First, Hayek (1945) showed that market prices compress dispersed knowledge; removing speculative prices requires federated AI agents across ten tiers to aggregate local surpluses and deficits without bureaucracy. Second, national accounts, input–output tables, and material-flow accounting measure physical throughput, but need the family's definite need assessment to define enough. Third, Ostrom's polycentric commons and Polanyi's non-commodities protect local resources, but require universal agreement in coexistence (MVD p. 203) to scale across ten planetary tiers without elite capture. Fourth, Max-Neef, Doyal &amp; Gough, and Sen define objective needs and adaptive preference, but require jeevan's higher 5.5 activities to prevent hedonic rebound once basic needs are met. Fifth, interest-free mutual-credit clearing (such as the Swiss WIR; Stodder 2009) models the village exchange-reserve, while the satiation point of exchange (AA p. 76) prevents strategic hoarding. Sixth, Leontief input–output matrices and Ricardian differential rent (1817) let committee AI agents separate natural fertility from human effort.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 joins two kinds of order in one sequence. Knowledge is law, law is regulation, and regulation is balance; balanced living is justice in humans; living within universal orderliness with justice is dharma; and realisation in coexistence is dharma and truth (MVD p. 173; AA pp. 18, 117). Where a relation is governed by law, regulation or balance and can be stated as a quantity, rate, constraint or rule, it can be measured and traced by an instrument. Where a question concerns the fulfilment of a relationship or its accord with coexistence, it belongs to human evaluation (KD p. 139).</a:t>
            </a:r>
          </a:p>
          <a:p/>
          <a:p>
            <a:r>
              <a:t>Crucially, in Avartansheel Arthshastra normative evaluation is never left to an isolated official acting in private: it is carried out collectively in families, ten-family clusters, five village committees, and tiered councils (AA pp. 128–130, 138–140, 146–149). The treatise explicitly notes that even if a mistake or shortcoming occurs from an individual (AA p. 139), the council's collective responsibility protects right use.</a:t>
            </a:r>
          </a:p>
          <a:p/>
          <a:p>
            <a:r>
              <a:t>That collective self-correction rests on two things: the treatise grounds universal agreement (sarvasammati) in realisation and evaluation by justice, dharma, and truth (§2.1; AA pp. 18–20, 58–60; MVD p. 203), and for councils whose members are still in the process of realisation (anubhav-gami) and may slip into a priya–hit–labh impulse, this study argues as a working institutional hypothesis that placing objective facts and checkable causal logic continuously in common view makes it far harder for a group of peers to quietly endorse injustice or ecological waste.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condition of the cycle can fail in a recognisable way, and most failures leave traces in records long before they become crises. Within the federated ten-tier architecture of §8.3, the Family, Committee and Regional AI Agents watch these indicators continuously and present both the factual discrepancy and its checkable causal trace in common view to every member of the responsible family, committee or council.</a:t>
            </a:r>
          </a:p>
          <a:p/>
          <a:p>
            <a:r>
              <a:t>Need is definite: the Family Agent flags use rising faster than assessed need. Labour receives its value: Production and Exchange-Reserve Agents flag producers receiving less than labour value. Exchange follows labour value: regional agents flag drifting ratios or margins. Everyone produces: committee agents flag displaced workers or idle skills and alert the Education-Sanskar Agent to plan training. Goods are used, not hoarded: agents flag ageing stock and idle balances. Nature in proportion: agents flag drawdown or soil degradation.</a:t>
            </a:r>
          </a:p>
          <a:p/>
          <a:p>
            <a:r>
              <a:t>Because these facts and checkable derivations are visible to the whole council at once, no single member's blind spot or mistake can quietly persist: the visible discrepancy prompts the collective to examine the facts and restore balance.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valuation of labour needs records: the pace of work in each activity, the time and means each product requires, the quantities producers achieve under different conditions, and the remuneration they actually receive (AA pp. 66, 119, 145). Within a single village for wheat, these can be kept by hand. Across villages, districts and tiers, and for industrial goods assembled from many inputs, the connected Production and Exchange-Reserve Agents of §8.3 perform the computation.</a:t>
            </a:r>
          </a:p>
          <a:p/>
          <a:p>
            <a:r>
              <a:t>The agents compute common labour values across villages, updating them as generational means reduce the labour required per unit (AA pp. 66, 118, 145). They trace embodied labour through multi-stage input–output tables (Leontief 1936), including tool and building depreciation without charging interest. Across regions with unequal soil fertility, rainfall or mineral access, they separate natural endowment (Ricardo 1817) from human effort so midpoint valuation does not penalise less fertile villages. During the transition they maintain currency prices and labour values side by side for Stages 2 and 3 (AA pp. 142–143).</a:t>
            </a:r>
          </a:p>
          <a:p/>
          <a:p>
            <a:r>
              <a:t>The method of valuation remains a human decision: the village council sets the consolidation method, and the production and exchange-reserve committees fix the quantity, quality and value of labour (AA pp. 67, 143). Inside the family, nothing is weighed.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Across the ten tiers, the agentic backbone keeps the cycle in balance, enables collective self-correction, and lowers the barrier to transition. When a new cluster of families or villages begins transitioning inside today's market economy, pre-configured agents immediately connect its exchange-reserve to regional labour-value benchmarks and mutual-credit clearing, while placing verified discrepancies and checkable causal traces before the whole council simultaneously making them far harder to ignore (AA pp. 72, 115, 118, 139, 142–143; MVD p. 268).</a:t>
            </a:r>
          </a:p>
          <a:p/>
          <a:p>
            <a:r>
              <a:t>The darshan's criterion for technique governs deployment: AI must reduce drudgery and production time while keeping every person a participant in physical production (MVD p. 265; AA p. 107; JVD p. 35), and all models, weights and agricultural or craft records must remain an open commons rather than proprietary intellectual property (AA pp. 29, 56–58, 132).</a:t>
            </a:r>
          </a:p>
          <a:p/>
          <a:p>
            <a:r>
              <a:t>Five safeguards keep the agentic backbone subordinate to people (§8.8): no optimisation for profit or attention capture; strict data subsidiarity (AA p. 128); inspectable rules that prevent technocratic rulership (AA p. 82); counting AI's own energy and mineral footprint within regenerative limits; and shared council visibility with cross-agent auditability making it far harder for any single representative to quietly dismiss an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critical review weighs the darshan's account alongside neoclassical, Marxian, institutional, ecological, capability and Gandhian economics and Advaita.</a:t>
            </a:r>
          </a:p>
          <a:p/>
          <a:p>
            <a:r>
              <a:t>On the darshan's account, its strengths are that it sets out the complete vision of resolved, prosperous, fearless humans coexisting with nature across the Earth; explains insatiability through the joint form of jeevan and body; resolves at a common root the six structural deadlocks that body-centric economics cannot solve without jeevan and realisation (rebound against caps, Arrow's impossibility of social agreement, the work-disutility trilemma, non-kin family sharing, strategic ledger gaming, and intergenerational discounting); pairs family need-sharing with inter-family fivefold labour-value exchange (skill, proficiency, pace, time, and means); and specifies the three-stage transition path, which this study joins to the federated ten-tier AI agentic backbone.</a:t>
            </a:r>
          </a:p>
          <a:p/>
          <a:p>
            <a:r>
              <a:t>Its open problems: how family need assessments aggregate at planetary scale; how fivefold labour valuation computes multi-stage inputs, capital depreciation without interest, and Ricardian differential fertility across regions; how the federated ten-tier AI agentic backbone replaces price and interest signals without creating a technocratic bottleneck; how automation reduces drudgery without displacing producers; how teachers, doctors, and council representatives are supported in unpaid benevolent service (upkar-pradhan seva) during the transition before their households reach ten-member prosperity; and how communities govern Personal, Family and Committee AI Agents without ceding justice, dharma and truth.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Human economies fail to reach balance because body-centric economic theories ask finite material goods to satisfy the continuous qualitative need of jeevan. Without recognising jeevan and realisation (anubhav) in coexistence, neither market growth nor external caps nor ascetic restraint can close the cycle.</a:t>
            </a:r>
          </a:p>
          <a:p/>
          <a:p>
            <a:r>
              <a:t>Madhyasth Darshan answers with the vision of resolved (samadhan), prosperous (samriddhi), fearless (abhay) individuals coexisting with all four orders of nature from the ten-member family and hundred-family village to the ten-tier World Family Council across the Earth and in universal orderliness: definite need assessed in the family, restful labour valued by the usefulness it establishes, exchange free of profit and loss, and production within natural regeneration.</a:t>
            </a:r>
          </a:p>
          <a:p/>
          <a:p>
            <a:r>
              <a:t>To establish and sustain this order at the scale of the Earth while citizens are in the process of realisation (anubhav-gami), a strong, federated ten-tier AI agentic backbone is a structural requirement. Paired with every person, family, committee and council, AI agents make objective facts, early discrepancies, and checkable causal logic simultaneously visible in common view — ensuring that councils cannot ignore inconsistencies and can collectively self-correct even when an individual errs, while keeping the judgements of justice, dharma and truth in human hands.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Writing in the 1990s, Shri A. Nagraj anticipated computers in the village exchange-reserve (AA p. 138) and a computer network linking committees from the village to the world (AA p. 132). Extending that institutional design to contemporary computing, this study argues that at the scale of the whole Earth — and while citizens are in the process of realisation (anubhav-gami) — a federated ten-tier AI agentic backbone is a structural requirement rather than an optional convenience, for four interconnected reasons.</a:t>
            </a:r>
          </a:p>
          <a:p/>
          <a:p>
            <a:r>
              <a:t>First, planetary-scale visibility across ten tiers: in a single household, stock, effort and soil are visible to the naked eye; across ten tiers of villages, regions and continents, no council can see distant ecological drawdown or exchange drift without active agents that continuously cross-check flows and place checkable causal traces in common view. Second, fault-tolerance while individuals are anubhav-gami: even when an individual errs or slips into priya–hit–labh bias (AA p. 139), simultaneous visibility of verified discrepancies and their step-by-step logic before the relevant committee or council brings private drift into common view for reformative deliberation (AA pp. 129–130, 139–140). Third, part-time governance and lean staffing: representatives continue physical production (AA p. 127; MVD p. 259) and the village exchange-reserve is staffed on average by three people (AA p. 138); manual databases would force a full-time managerial bureaucracy (JVD p. 35). Fourth, non-price input–output calculation, Ricardian soil adjustment, natural-language village surveys, and dual currency/labour ledgers across Stages 1–3 (AA pp. 122–125, 142–143) require active agentic computation.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operate at the scale of the Earth while citizens are in the process of realisation (anubhav-gami), every human unit from the person and the Tier-1 family council to the Tier-10 World Family Council is paired with a dedicated AI agent. Across all ten tiers, these agents act both as operational coordinators and as collective consistency mirrors: they place verified facts, discrepancies, and checkable causal logic in common view before all members of the family, cluster, committee, or council simultaneously.</a:t>
            </a:r>
          </a:p>
          <a:p/>
          <a:p>
            <a:r>
              <a:t>At the individual and Tier-1 family council level (parivar sabha, at least ten members; AA pp. 14, 26–28, 65, 125), the Personal Assistant and Family AI Agent help reflect on priya–hit–labh impulses, assess common and special aspirations (AA p. 112), track stock age against hoarding, and coordinate complementary household production without weighing individual labour shares (AA pp. 119–120). At Tier 2 (the ten-family cluster council, parivar samuh sabha; AA pp. 27, 125) and Tier 3 (the hundred-family village council, gram parivar sabha, which is the first tier to nominate the five committees; AA pp. 67, 125–145), the Cluster, Village Council, and five Committee Agents maintain the living village survey, link the five committees horizontally, monitor the four dimensions of justice (in character, behaviour, production, and exchange; AA pp. 140–143), and run the three-stage transition ledgers alongside the exchange-reserve's three-person staff (AA p. 138).</a:t>
            </a:r>
          </a:p>
          <a:p/>
          <a:p>
            <a:r>
              <a:t>Across Tiers 4 to 10 (from the ten-village cluster to the continent and World Family Councils; AA pp. 27–30, 115, 126–127), federated Council and Committee Agents compute Leontief input–output chains and Ricardian fertility adjustments, match inter-regional surpluses and deficits at labour value (AA p. 72), coordinate small, medium and large industry (AA p. 115), and monitor planetary regeneration boundaries (MVD p. 268). This study's companion Technical Note on the Ten-Tier Agentic Infrastructure specifies the eight-block architecture, eighteen use cases, and four-phase Indian transition blueprint.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we step back from the individual schools of economics — neoclassical, Marxian, institutional, ecological, capability and Gandhian — six structural deadlocks emerge that none of them can solve together, because every one of them models the human actor as a physical-biological organism without jeevan and without realisation (anubhav).</a:t>
            </a:r>
          </a:p>
          <a:p/>
          <a:p>
            <a:r>
              <a:t>1. Insatiability rebound vs. ascetic erosion: Dropping the non-satiation axiom on paper or imposing steady-state caps does not stop real-world rebound, positional rivalry, or black markets, while moral calls for ascetic simplicity repeatedly erode, because jeevan's inexhaustible (akshay, uditodit) powers remain trapped in the 4.5 activities until awakening opens the higher 5.5 activities (AA pp. 17–18, 46–51, 95).</a:t>
            </a:r>
          </a:p>
          <a:p>
            <a:r>
              <a:t>2. No uncoerced social agreement (Arrow's impossibility): Body-rooted evaluation (priya, hit, labh) differs in every individual body and admits no fair interpersonal aggregation; every human is jeevan with the ability to realise (anubhav) in the coexistence of all-pervasive omnipresence (satta / vyapak) and nature as a whole at once — an eternal, observer-invariant reality (trikalabadh satya) where universal agreement in justice, dharma and truth is natural (AA pp. 18–20, 47, 51, 58–60; MVD p. 203).</a:t>
            </a:r>
          </a:p>
          <a:p>
            <a:r>
              <a:t>3. Work-disutility and innovation trilemma: Treating work as disutility means removing wage fear, profit, and patents causes shirking or bureaucratic coercion (AA pp. 5, 75–76, 107; JVD p. 35); in Madhyasth Darshan, labour's restfulness is resolution itself (shram ka vishram = samadhan, AA p. 23), and inventions are honoured with prizes (puraskar) and shared openly (AA pp. 56–58, 140, 144).</a:t>
            </a:r>
          </a:p>
          <a:p>
            <a:r>
              <a:t>4. Non-kin sharing collapse: Biological evolutionary theory restricts unconditional sharing to genetic kin; because every member is jeevan with the ability to realise in the coexistence of satta (vyapak) and nature as a whole at once (AA pp. 47, 51, 60; MVD p. 203), this forms the basis of the 10-member family where need is shared without weighing individual labour and surplus funds unpaid benevolent service (upkar-pradhan seva, AA pp. 1, 14, 119–120; KD pp. 115–117).</a:t>
            </a:r>
          </a:p>
          <a:p>
            <a:r>
              <a:t>5. Strategic gaming of ledgers: Interest-free mutual credit and labour-time accounting get gamed by hoarding or padding hours when actors still seek labh; inner sovereignty (samprabhuta, AA p. 104) and mutual satisfaction (ubhay-tripti, AA p. 113) establish a natural satiation point of exchange (vinimay ka tripti bindu, AA p. 76).</a:t>
            </a:r>
          </a:p>
          <a:p>
            <a:r>
              <a:t>6. Intergenerational discounting: Actors seeking isolated private gain discount distant centuries; a realised human sees the prosperity of oneself and one's family in the prosperity of the whole and the perpetuity of human civilization across generations (AA pp. 62–63, 72, 94, 142, 146; KD p. 7), bringing the intergenerational discount rate to zero.</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realisation (anubhav) in coexistence specifically required — and why can't intellectual philosophy, moral exhortation, or better institutional rules substitute for it?</a:t>
            </a:r>
          </a:p>
          <a:p/>
          <a:p>
            <a:r>
              <a:t>First, because jeevan is a constitutionally complete atom whose powers of hope, thought, and desire are inexhaustible and continuously surging (akshay, uditodit; AA pp. 47–51, 58, 60). Moral vows, ascetic renunciation, or external ecological rationing operate only on the lower faculties while leaving the highest faculties (buddhi and atma) empty. Only when realisation (anubhav) in coexistence awakens the higher 5.5 activities does jeevan experience continuous happiness, peace, contentment, and bliss within itself, relieving the finite body of the burden of supplying infinite satisfaction (AA pp. 20–21, 50, 95).</a:t>
            </a:r>
          </a:p>
          <a:p/>
          <a:p>
            <a:r>
              <a:t>Second, realisation is the only observer-invariant reference point for human society. Sensory pleasure, bodily health, and material profit (priya, hit, labh) are relative to each distinct body, and unawakened opinions (manna) vary from person to person. Every human is jeevan with the ability to realise (anubhav) in the coexistence of all-pervasive omnipresence (satta / vyapak) and nature as a whole at once (trikalabadh satya — truth uncontradicted across past, present, and future; AA pp. 47, 51; MVD p. 203), giving all humans one observer-invariant reference point for uncoerced universal agreement (sarvasammati) on justice, dharma, and truth.</a:t>
            </a:r>
          </a:p>
          <a:p/>
          <a:p>
            <a:r>
              <a:t>Third and fourth, realisation transforms human relationship and time horizon from the inside: because every member is jeevan with the ability to realise in the coexistence of satta (vyapak) and nature as a whole at once, this forms the basis of unconditional need-sharing in the ten-member family and restful labour in resolution (shram ka vishram = samadhan, AA p. 23), while inner sovereignty (samprabhuta, AA p. 104) and seeing one's own and one's family's prosperity in the prosperity of the whole and the perpetuity of human civilization establish the satiation point of exchange (AA p. 76) and zero intergenerational discounting (AA pp. 62–63, 72, 94, 142, 146).</a:t>
            </a:r>
          </a:p>
          <a:p/>
          <a:p>
            <a:r>
              <a:t>Finally, this explains the bridge to Part V: because eight billion people are currently in the process of realisation (anubhav-gami) rather than already perfected, operating this order at Earth scale requires a federated ten-tier AI agentic backbone that places objective facts and checkable causal logic before councils in common view so communities can collectively self-correct as they grow in understanding.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MADHYASTH DARSHAN  ·  STUDY</a:t>
            </a:r>
          </a:p>
        </p:txBody>
      </p:sp>
      <p:sp>
        <p:nvSpPr>
          <p:cNvPr id="12" name="TextBox 11"/>
          <p:cNvSpPr txBox="1"/>
          <p:nvPr/>
        </p:nvSpPr>
        <p:spPr>
          <a:xfrm>
            <a:off x="640080" y="1572768"/>
            <a:ext cx="5120640" cy="1371600"/>
          </a:xfrm>
          <a:prstGeom prst="rect">
            <a:avLst/>
          </a:prstGeom>
          <a:noFill/>
        </p:spPr>
        <p:txBody>
          <a:bodyPr wrap="square" lIns="0" rIns="0" tIns="0" bIns="0" anchor="ctr">
            <a:spAutoFit/>
          </a:bodyPr>
          <a:lstStyle/>
          <a:p>
            <a:pPr>
              <a:spcAft>
                <a:spcPts val="0"/>
              </a:spcAft>
            </a:pPr>
            <a:r>
              <a:rPr sz="3800" b="1" i="0">
                <a:solidFill>
                  <a:srgbClr val="FFFFFF"/>
                </a:solidFill>
                <a:latin typeface="Cambria"/>
              </a:rPr>
              <a:t>Prosperity Economics</a:t>
            </a:r>
          </a:p>
          <a:p>
            <a:pPr>
              <a:spcAft>
                <a:spcPts val="0"/>
              </a:spcAft>
            </a:pPr>
            <a:r>
              <a:rPr sz="3800" b="1" i="0">
                <a:solidFill>
                  <a:srgbClr val="FFFFFF"/>
                </a:solidFill>
                <a:latin typeface="Cambria"/>
              </a:rPr>
              <a:t>and Right Use</a:t>
            </a:r>
          </a:p>
        </p:txBody>
      </p:sp>
      <p:sp>
        <p:nvSpPr>
          <p:cNvPr id="13" name="TextBox 12"/>
          <p:cNvSpPr txBox="1"/>
          <p:nvPr/>
        </p:nvSpPr>
        <p:spPr>
          <a:xfrm>
            <a:off x="640080" y="3035808"/>
            <a:ext cx="4663440" cy="685800"/>
          </a:xfrm>
          <a:prstGeom prst="rect">
            <a:avLst/>
          </a:prstGeom>
          <a:noFill/>
        </p:spPr>
        <p:txBody>
          <a:bodyPr wrap="square" lIns="0" rIns="0" tIns="0" bIns="0" anchor="ctr">
            <a:spAutoFit/>
          </a:bodyPr>
          <a:lstStyle/>
          <a:p>
            <a:pPr>
              <a:spcAft>
                <a:spcPts val="0"/>
              </a:spcAft>
            </a:pPr>
            <a:r>
              <a:rPr sz="1600" b="0" i="1">
                <a:solidFill>
                  <a:srgbClr val="C9D4EF"/>
                </a:solidFill>
                <a:latin typeface="Calibri"/>
              </a:rPr>
              <a:t>Resolved, prosperous, fearless living with nature — and the 10-tier AI backbone it requires</a:t>
            </a:r>
          </a:p>
        </p:txBody>
      </p:sp>
      <p:sp>
        <p:nvSpPr>
          <p:cNvPr id="14" name="TextBox 13"/>
          <p:cNvSpPr txBox="1"/>
          <p:nvPr/>
        </p:nvSpPr>
        <p:spPr>
          <a:xfrm>
            <a:off x="640080" y="4160520"/>
            <a:ext cx="4754880" cy="274320"/>
          </a:xfrm>
          <a:prstGeom prst="rect">
            <a:avLst/>
          </a:prstGeom>
          <a:noFill/>
        </p:spPr>
        <p:txBody>
          <a:bodyPr wrap="square" lIns="0" rIns="0" tIns="0" bIns="0" anchor="ctr">
            <a:spAutoFit/>
          </a:bodyPr>
          <a:lstStyle/>
          <a:p>
            <a:pPr>
              <a:spcAft>
                <a:spcPts val="0"/>
              </a:spcAft>
            </a:pPr>
            <a:r>
              <a:rPr sz="1250" b="0" i="0">
                <a:solidFill>
                  <a:srgbClr val="8E9BC4"/>
                </a:solidFill>
                <a:latin typeface="Calibri"/>
              </a:rPr>
              <a:t>Companion to the study Prosperity Economics and Right Use</a:t>
            </a:r>
          </a:p>
        </p:txBody>
      </p:sp>
      <p:sp>
        <p:nvSpPr>
          <p:cNvPr id="15" name="TextBox 14"/>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50" b="0" i="0">
                <a:solidFill>
                  <a:srgbClr val="8E9BC4"/>
                </a:solidFill>
                <a:latin typeface="Calibri"/>
              </a:rPr>
              <a:t>AA · MVD · JV · SB · KD · JVD · AVD  ·  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QUESTION</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Don't Economies Reach Balance?</a:t>
            </a:r>
          </a:p>
        </p:txBody>
      </p:sp>
      <p:sp>
        <p:nvSpPr>
          <p:cNvPr id="7" name="Rounded Rectangle 6"/>
          <p:cNvSpPr/>
          <p:nvPr/>
        </p:nvSpPr>
        <p:spPr>
          <a:xfrm>
            <a:off x="640080"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Every order balances</a:t>
            </a:r>
          </a:p>
        </p:txBody>
      </p:sp>
      <p:sp>
        <p:nvSpPr>
          <p:cNvPr id="9" name="TextBox 8"/>
          <p:cNvSpPr txBox="1"/>
          <p:nvPr/>
        </p:nvSpPr>
        <p:spPr>
          <a:xfrm>
            <a:off x="822959"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Soil, plants and animals settle into a definite balance with their surroundings.</a:t>
            </a:r>
          </a:p>
        </p:txBody>
      </p:sp>
      <p:sp>
        <p:nvSpPr>
          <p:cNvPr id="10" name="Rounded Rectangle 9"/>
          <p:cNvSpPr/>
          <p:nvPr/>
        </p:nvSpPr>
        <p:spPr>
          <a:xfrm>
            <a:off x="3328415" y="1325880"/>
            <a:ext cx="2496312" cy="13258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11296" y="144475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Bodily need is definite</a:t>
            </a:r>
          </a:p>
        </p:txBody>
      </p:sp>
      <p:sp>
        <p:nvSpPr>
          <p:cNvPr id="12" name="TextBox 11"/>
          <p:cNvSpPr txBox="1"/>
          <p:nvPr/>
        </p:nvSpPr>
        <p:spPr>
          <a:xfrm>
            <a:off x="3511296"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 can be counted, met, and held in balance.</a:t>
            </a:r>
          </a:p>
        </p:txBody>
      </p:sp>
      <p:sp>
        <p:nvSpPr>
          <p:cNvPr id="13" name="Rounded Rectangle 12"/>
          <p:cNvSpPr/>
          <p:nvPr/>
        </p:nvSpPr>
        <p:spPr>
          <a:xfrm>
            <a:off x="6016752" y="1325880"/>
            <a:ext cx="2496312"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1444752"/>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Human economies do not</a:t>
            </a:r>
          </a:p>
        </p:txBody>
      </p:sp>
      <p:sp>
        <p:nvSpPr>
          <p:cNvPr id="15" name="TextBox 14"/>
          <p:cNvSpPr txBox="1"/>
          <p:nvPr/>
        </p:nvSpPr>
        <p:spPr>
          <a:xfrm>
            <a:off x="6199632" y="1764792"/>
            <a:ext cx="2130552"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They extract more each generation, accumulate what no one uses, and call it growth.</a:t>
            </a:r>
          </a:p>
        </p:txBody>
      </p:sp>
      <p:sp>
        <p:nvSpPr>
          <p:cNvPr id="16" name="Rounded Rectangle 15"/>
          <p:cNvSpPr/>
          <p:nvPr/>
        </p:nvSpPr>
        <p:spPr>
          <a:xfrm>
            <a:off x="640080" y="2926080"/>
            <a:ext cx="7863840" cy="105156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926080"/>
            <a:ext cx="7406640" cy="105156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The vision and the question</a:t>
            </a:r>
          </a:p>
          <a:p>
            <a:pPr algn="ctr">
              <a:spcAft>
                <a:spcPts val="0"/>
              </a:spcAft>
            </a:pPr>
            <a:r>
              <a:rPr sz="1250" b="0" i="0">
                <a:solidFill>
                  <a:srgbClr val="FFFFFF"/>
                </a:solidFill>
                <a:latin typeface="Calibri"/>
              </a:rPr>
              <a:t>How do resolved, prosperous, fearless humans coexist with nature at Earth scale, giving labour its true value — and why does this require jeevan, realisation, and a 10-tier AI agentic backbone?</a:t>
            </a:r>
          </a:p>
        </p:txBody>
      </p:sp>
      <p:sp>
        <p:nvSpPr>
          <p:cNvPr id="18" name="TextBox 17"/>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Without jeevan and realisation (anubhav), body-centric economics hits six structural deadlocks.</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  ·  AnalyticMadhyasthDarshan.org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ORIENTATION  ·  THE ARGUMENT</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Argument in Four Steps</a:t>
            </a:r>
          </a:p>
        </p:txBody>
      </p:sp>
      <p:sp>
        <p:nvSpPr>
          <p:cNvPr id="7" name="Rounded Rectangle 6"/>
          <p:cNvSpPr/>
          <p:nvPr/>
        </p:nvSpPr>
        <p:spPr>
          <a:xfrm>
            <a:off x="640080"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Need is definite</a:t>
            </a:r>
          </a:p>
          <a:p>
            <a:pPr algn="ctr">
              <a:spcAft>
                <a:spcPts val="0"/>
              </a:spcAft>
            </a:pPr>
            <a:r>
              <a:rPr sz="1000" b="0" i="1">
                <a:solidFill>
                  <a:srgbClr val="C9D4EF"/>
                </a:solidFill>
                <a:latin typeface="Calibri"/>
              </a:rPr>
              <a:t>the body can balance
§1</a:t>
            </a:r>
          </a:p>
        </p:txBody>
      </p:sp>
      <p:sp>
        <p:nvSpPr>
          <p:cNvPr id="9" name="TextBox 8"/>
          <p:cNvSpPr txBox="1"/>
          <p:nvPr/>
        </p:nvSpPr>
        <p:spPr>
          <a:xfrm>
            <a:off x="2423160"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Want is not</a:t>
            </a:r>
          </a:p>
          <a:p>
            <a:pPr algn="ctr">
              <a:spcAft>
                <a:spcPts val="0"/>
              </a:spcAft>
            </a:pPr>
            <a:r>
              <a:rPr sz="1000" b="0" i="1">
                <a:solidFill>
                  <a:srgbClr val="C9D4EF"/>
                </a:solidFill>
                <a:latin typeface="Calibri"/>
              </a:rPr>
              <a:t>6 deadlocks without jeevan
§§2, 4, 7</a:t>
            </a:r>
          </a:p>
        </p:txBody>
      </p:sp>
      <p:sp>
        <p:nvSpPr>
          <p:cNvPr id="12" name="TextBox 11"/>
          <p:cNvSpPr txBox="1"/>
          <p:nvPr/>
        </p:nvSpPr>
        <p:spPr>
          <a:xfrm>
            <a:off x="4425696"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Close the cycle</a:t>
            </a:r>
          </a:p>
          <a:p>
            <a:pPr algn="ctr">
              <a:spcAft>
                <a:spcPts val="0"/>
              </a:spcAft>
            </a:pPr>
            <a:r>
              <a:rPr sz="1000" b="0" i="1">
                <a:solidFill>
                  <a:srgbClr val="C9D4EF"/>
                </a:solidFill>
                <a:latin typeface="Calibri"/>
              </a:rPr>
              <a:t>realisation &amp; Earth order
§3</a:t>
            </a:r>
          </a:p>
        </p:txBody>
      </p:sp>
      <p:sp>
        <p:nvSpPr>
          <p:cNvPr id="15" name="TextBox 14"/>
          <p:cNvSpPr txBox="1"/>
          <p:nvPr/>
        </p:nvSpPr>
        <p:spPr>
          <a:xfrm>
            <a:off x="6428232" y="1481328"/>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786384"/>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786384"/>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AI backbone</a:t>
            </a:r>
          </a:p>
          <a:p>
            <a:pPr algn="ctr">
              <a:spcAft>
                <a:spcPts val="0"/>
              </a:spcAft>
            </a:pPr>
            <a:r>
              <a:rPr sz="1000" b="0" i="1">
                <a:solidFill>
                  <a:srgbClr val="C9D4EF"/>
                </a:solidFill>
                <a:latin typeface="Calibri"/>
              </a:rPr>
              <a:t>required at Earth scale
§8</a:t>
            </a:r>
          </a:p>
        </p:txBody>
      </p:sp>
      <p:sp>
        <p:nvSpPr>
          <p:cNvPr id="18" name="Rounded Rectangle 17"/>
          <p:cNvSpPr/>
          <p:nvPr/>
        </p:nvSpPr>
        <p:spPr>
          <a:xfrm>
            <a:off x="640080" y="2377440"/>
            <a:ext cx="3840480" cy="105156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49631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open spiral</a:t>
            </a:r>
          </a:p>
        </p:txBody>
      </p:sp>
      <p:sp>
        <p:nvSpPr>
          <p:cNvPr id="20" name="TextBox 19"/>
          <p:cNvSpPr txBox="1"/>
          <p:nvPr/>
        </p:nvSpPr>
        <p:spPr>
          <a:xfrm>
            <a:off x="822959"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Indefinite want, accumulation in money, extraction beyond regeneration, and labour valued by price.</a:t>
            </a:r>
          </a:p>
        </p:txBody>
      </p:sp>
      <p:sp>
        <p:nvSpPr>
          <p:cNvPr id="21" name="Rounded Rectangle 20"/>
          <p:cNvSpPr/>
          <p:nvPr/>
        </p:nvSpPr>
        <p:spPr>
          <a:xfrm>
            <a:off x="4663440" y="237744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46320" y="24963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closed cycle</a:t>
            </a:r>
          </a:p>
        </p:txBody>
      </p:sp>
      <p:sp>
        <p:nvSpPr>
          <p:cNvPr id="23" name="TextBox 22"/>
          <p:cNvSpPr txBox="1"/>
          <p:nvPr/>
        </p:nvSpPr>
        <p:spPr>
          <a:xfrm>
            <a:off x="4846320" y="281635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Resolved, prosperous, fearless families; nature regenerated; labour valued by usefulness.</a:t>
            </a:r>
          </a:p>
        </p:txBody>
      </p:sp>
      <p:sp>
        <p:nvSpPr>
          <p:cNvPr id="24" name="Rounded Rectangle 23"/>
          <p:cNvSpPr/>
          <p:nvPr/>
        </p:nvSpPr>
        <p:spPr>
          <a:xfrm>
            <a:off x="640080" y="3703320"/>
            <a:ext cx="7863840" cy="86868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76472"/>
            <a:ext cx="7406640" cy="274320"/>
          </a:xfrm>
          <a:prstGeom prst="rect">
            <a:avLst/>
          </a:prstGeom>
          <a:noFill/>
        </p:spPr>
        <p:txBody>
          <a:bodyPr wrap="square" lIns="0" rIns="0" tIns="0" bIns="0" anchor="ctr">
            <a:spAutoFit/>
          </a:bodyPr>
          <a:lstStyle/>
          <a:p>
            <a:pPr>
              <a:spcAft>
                <a:spcPts val="0"/>
              </a:spcAft>
            </a:pPr>
            <a:r>
              <a:rPr sz="1050" b="0" i="1">
                <a:solidFill>
                  <a:srgbClr val="1E2447"/>
                </a:solidFill>
                <a:latin typeface="Calibri"/>
              </a:rPr>
              <a:t>Untagged content presents the primary texts; small tags mark the rest.</a:t>
            </a:r>
          </a:p>
        </p:txBody>
      </p:sp>
      <p:sp>
        <p:nvSpPr>
          <p:cNvPr id="26" name="Rounded Rectangle 25"/>
          <p:cNvSpPr/>
          <p:nvPr/>
        </p:nvSpPr>
        <p:spPr>
          <a:xfrm>
            <a:off x="868680" y="416052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416052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8" name="TextBox 27"/>
          <p:cNvSpPr txBox="1"/>
          <p:nvPr/>
        </p:nvSpPr>
        <p:spPr>
          <a:xfrm>
            <a:off x="2423160" y="4123944"/>
            <a:ext cx="20116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applications and extensions</a:t>
            </a:r>
          </a:p>
        </p:txBody>
      </p:sp>
      <p:sp>
        <p:nvSpPr>
          <p:cNvPr id="29" name="Rounded Rectangle 28"/>
          <p:cNvSpPr/>
          <p:nvPr/>
        </p:nvSpPr>
        <p:spPr>
          <a:xfrm>
            <a:off x="4526280" y="41605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80" y="41605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31" name="TextBox 30"/>
          <p:cNvSpPr txBox="1"/>
          <p:nvPr/>
        </p:nvSpPr>
        <p:spPr>
          <a:xfrm>
            <a:off x="5486400" y="4123944"/>
            <a:ext cx="2926080" cy="274320"/>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economics, Indian thought, sciences</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opening and §§1–3, 8  ·  AnalyticMadhyasthDarshan.org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BALANCE IN NATURE  ·  §1.1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Balance in Every Order</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Order</a:t>
            </a:r>
          </a:p>
        </p:txBody>
      </p:sp>
      <p:sp>
        <p:nvSpPr>
          <p:cNvPr id="9" name="TextBox 8"/>
          <p:cNvSpPr txBox="1"/>
          <p:nvPr/>
        </p:nvSpPr>
        <p:spPr>
          <a:xfrm>
            <a:off x="2194560" y="1280160"/>
            <a:ext cx="27889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its conduct is kept definite</a:t>
            </a:r>
          </a:p>
        </p:txBody>
      </p:sp>
      <p:sp>
        <p:nvSpPr>
          <p:cNvPr id="10" name="TextBox 9"/>
          <p:cNvSpPr txBox="1"/>
          <p:nvPr/>
        </p:nvSpPr>
        <p:spPr>
          <a:xfrm>
            <a:off x="5120640" y="1280160"/>
            <a:ext cx="33375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Balance in its existent state</a:t>
            </a:r>
          </a:p>
        </p:txBody>
      </p:sp>
      <p:sp>
        <p:nvSpPr>
          <p:cNvPr id="11" name="Rectangle 10"/>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19" y="1600200"/>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Material</a:t>
            </a:r>
          </a:p>
        </p:txBody>
      </p:sp>
      <p:sp>
        <p:nvSpPr>
          <p:cNvPr id="14" name="TextBox 13"/>
          <p:cNvSpPr txBox="1"/>
          <p:nvPr/>
        </p:nvSpPr>
        <p:spPr>
          <a:xfrm>
            <a:off x="2194560" y="1600200"/>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Conformance of constitution and results; law</a:t>
            </a:r>
          </a:p>
        </p:txBody>
      </p:sp>
      <p:sp>
        <p:nvSpPr>
          <p:cNvPr id="15" name="TextBox 14"/>
          <p:cNvSpPr txBox="1"/>
          <p:nvPr/>
        </p:nvSpPr>
        <p:spPr>
          <a:xfrm>
            <a:off x="5120640" y="1600200"/>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a:t>
            </a:r>
          </a:p>
        </p:txBody>
      </p:sp>
      <p:sp>
        <p:nvSpPr>
          <p:cNvPr id="16" name="Rectangle 15"/>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20573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Plant</a:t>
            </a:r>
          </a:p>
        </p:txBody>
      </p:sp>
      <p:sp>
        <p:nvSpPr>
          <p:cNvPr id="18" name="TextBox 17"/>
          <p:cNvSpPr txBox="1"/>
          <p:nvPr/>
        </p:nvSpPr>
        <p:spPr>
          <a:xfrm>
            <a:off x="2194560" y="20573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conformance; regulation</a:t>
            </a:r>
          </a:p>
        </p:txBody>
      </p:sp>
      <p:sp>
        <p:nvSpPr>
          <p:cNvPr id="19" name="TextBox 18"/>
          <p:cNvSpPr txBox="1"/>
          <p:nvPr/>
        </p:nvSpPr>
        <p:spPr>
          <a:xfrm>
            <a:off x="5120640" y="20573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and growth</a:t>
            </a:r>
          </a:p>
        </p:txBody>
      </p:sp>
      <p:sp>
        <p:nvSpPr>
          <p:cNvPr id="20" name="Rectangle 19"/>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25145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Animal</a:t>
            </a:r>
          </a:p>
        </p:txBody>
      </p:sp>
      <p:sp>
        <p:nvSpPr>
          <p:cNvPr id="23" name="TextBox 22"/>
          <p:cNvSpPr txBox="1"/>
          <p:nvPr/>
        </p:nvSpPr>
        <p:spPr>
          <a:xfrm>
            <a:off x="2194560" y="25145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Species conformance</a:t>
            </a:r>
          </a:p>
        </p:txBody>
      </p:sp>
      <p:sp>
        <p:nvSpPr>
          <p:cNvPr id="24" name="TextBox 23"/>
          <p:cNvSpPr txBox="1"/>
          <p:nvPr/>
        </p:nvSpPr>
        <p:spPr>
          <a:xfrm>
            <a:off x="5120640" y="25145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Existence, growth and the hope of living</a:t>
            </a:r>
          </a:p>
        </p:txBody>
      </p:sp>
      <p:sp>
        <p:nvSpPr>
          <p:cNvPr id="25" name="Rectangle 24"/>
          <p:cNvSpPr/>
          <p:nvPr/>
        </p:nvSpPr>
        <p:spPr>
          <a:xfrm>
            <a:off x="640080" y="33924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19" y="2971799"/>
            <a:ext cx="1298448" cy="40233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Human</a:t>
            </a:r>
          </a:p>
        </p:txBody>
      </p:sp>
      <p:sp>
        <p:nvSpPr>
          <p:cNvPr id="27" name="TextBox 26"/>
          <p:cNvSpPr txBox="1"/>
          <p:nvPr/>
        </p:nvSpPr>
        <p:spPr>
          <a:xfrm>
            <a:off x="2194560" y="2971799"/>
            <a:ext cx="276148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Sanskar: acceptances formed by understanding</a:t>
            </a:r>
          </a:p>
        </p:txBody>
      </p:sp>
      <p:sp>
        <p:nvSpPr>
          <p:cNvPr id="28" name="TextBox 27"/>
          <p:cNvSpPr txBox="1"/>
          <p:nvPr/>
        </p:nvSpPr>
        <p:spPr>
          <a:xfrm>
            <a:off x="5120640" y="2971799"/>
            <a:ext cx="3310127"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 prosperity, fearlessness, coexistence</a:t>
            </a:r>
          </a:p>
        </p:txBody>
      </p:sp>
      <p:sp>
        <p:nvSpPr>
          <p:cNvPr id="29" name="Rounded Rectangle 28"/>
          <p:cNvSpPr/>
          <p:nvPr/>
        </p:nvSpPr>
        <p:spPr>
          <a:xfrm>
            <a:off x="640080" y="3611880"/>
            <a:ext cx="7863840" cy="5486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611880"/>
            <a:ext cx="7406640" cy="54864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Every other order is balanced; humans reach balance as resolved, prosperous, fearless people coexisting with nature.</a:t>
            </a:r>
          </a:p>
        </p:txBody>
      </p:sp>
      <p:sp>
        <p:nvSpPr>
          <p:cNvPr id="31" name="TextBox 30"/>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Prosperity is first a property of the earth, which became rich in itself before human labour touched it.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47–48  ·  MVD p. 105  ·  AA pp. 41, 54–55, 77–78, 117  ·  AnalyticMadhyasthDarshan.org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  ·  THE BODY  ·  §1.2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Body's Needs Are Definite</a:t>
            </a:r>
          </a:p>
        </p:txBody>
      </p:sp>
      <p:sp>
        <p:nvSpPr>
          <p:cNvPr id="7" name="Rounded Rectangle 6"/>
          <p:cNvSpPr/>
          <p:nvPr/>
        </p:nvSpPr>
        <p:spPr>
          <a:xfrm>
            <a:off x="640080" y="1280160"/>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Common aspirations</a:t>
            </a:r>
          </a:p>
        </p:txBody>
      </p:sp>
      <p:sp>
        <p:nvSpPr>
          <p:cNvPr id="9" name="TextBox 8"/>
          <p:cNvSpPr txBox="1"/>
          <p:nvPr/>
        </p:nvSpPr>
        <p:spPr>
          <a:xfrm>
            <a:off x="822959" y="1719072"/>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Food, shelter and adornment.</a:t>
            </a:r>
          </a:p>
        </p:txBody>
      </p:sp>
      <p:sp>
        <p:nvSpPr>
          <p:cNvPr id="10" name="Rounded Rectangle 9"/>
          <p:cNvSpPr/>
          <p:nvPr/>
        </p:nvSpPr>
        <p:spPr>
          <a:xfrm>
            <a:off x="640080" y="2212848"/>
            <a:ext cx="3840480"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331720"/>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Special aspirations</a:t>
            </a:r>
          </a:p>
        </p:txBody>
      </p:sp>
      <p:sp>
        <p:nvSpPr>
          <p:cNvPr id="12" name="TextBox 11"/>
          <p:cNvSpPr txBox="1"/>
          <p:nvPr/>
        </p:nvSpPr>
        <p:spPr>
          <a:xfrm>
            <a:off x="822959" y="2651759"/>
            <a:ext cx="3474720" cy="27432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Telephony, broadcasting and transport.</a:t>
            </a:r>
          </a:p>
        </p:txBody>
      </p:sp>
      <p:sp>
        <p:nvSpPr>
          <p:cNvPr id="13" name="Rounded Rectangle 12"/>
          <p:cNvSpPr/>
          <p:nvPr/>
        </p:nvSpPr>
        <p:spPr>
          <a:xfrm>
            <a:off x="640080" y="3145536"/>
            <a:ext cx="3840480" cy="1152144"/>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264408"/>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Goods are for use</a:t>
            </a:r>
          </a:p>
        </p:txBody>
      </p:sp>
      <p:sp>
        <p:nvSpPr>
          <p:cNvPr id="15" name="TextBox 14"/>
          <p:cNvSpPr txBox="1"/>
          <p:nvPr/>
        </p:nvSpPr>
        <p:spPr>
          <a:xfrm>
            <a:off x="822959" y="3584447"/>
            <a:ext cx="3474720" cy="603503"/>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Grain rots and machines rust; objects cannot be accumulated, because their use or transformation is inevitable.</a:t>
            </a:r>
          </a:p>
        </p:txBody>
      </p:sp>
      <p:sp>
        <p:nvSpPr>
          <p:cNvPr id="16" name="Rounded Rectangle 15"/>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body is the limit of consuming</a:t>
            </a:r>
          </a:p>
        </p:txBody>
      </p:sp>
      <p:sp>
        <p:nvSpPr>
          <p:cNvPr id="18" name="Rounded Rectangle 17"/>
          <p:cNvSpPr/>
          <p:nvPr/>
        </p:nvSpPr>
        <p:spPr>
          <a:xfrm>
            <a:off x="489204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4690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Know</a:t>
            </a:r>
          </a:p>
        </p:txBody>
      </p:sp>
      <p:sp>
        <p:nvSpPr>
          <p:cNvPr id="20" name="TextBox 19"/>
          <p:cNvSpPr txBox="1"/>
          <p:nvPr/>
        </p:nvSpPr>
        <p:spPr>
          <a:xfrm>
            <a:off x="564184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1" name="Rounded Rectangle 20"/>
          <p:cNvSpPr/>
          <p:nvPr/>
        </p:nvSpPr>
        <p:spPr>
          <a:xfrm>
            <a:off x="576072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15583"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Desire</a:t>
            </a:r>
          </a:p>
        </p:txBody>
      </p:sp>
      <p:sp>
        <p:nvSpPr>
          <p:cNvPr id="23" name="TextBox 22"/>
          <p:cNvSpPr txBox="1"/>
          <p:nvPr/>
        </p:nvSpPr>
        <p:spPr>
          <a:xfrm>
            <a:off x="651052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4" name="Rounded Rectangle 23"/>
          <p:cNvSpPr/>
          <p:nvPr/>
        </p:nvSpPr>
        <p:spPr>
          <a:xfrm>
            <a:off x="6629400"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8426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Do</a:t>
            </a:r>
          </a:p>
        </p:txBody>
      </p:sp>
      <p:sp>
        <p:nvSpPr>
          <p:cNvPr id="26" name="TextBox 25"/>
          <p:cNvSpPr txBox="1"/>
          <p:nvPr/>
        </p:nvSpPr>
        <p:spPr>
          <a:xfrm>
            <a:off x="7379208" y="1911095"/>
            <a:ext cx="118872" cy="365760"/>
          </a:xfrm>
          <a:prstGeom prst="rect">
            <a:avLst/>
          </a:prstGeom>
          <a:noFill/>
        </p:spPr>
        <p:txBody>
          <a:bodyPr wrap="square" lIns="0" rIns="0" tIns="0" bIns="0" anchor="ctr">
            <a:spAutoFit/>
          </a:bodyPr>
          <a:lstStyle/>
          <a:p>
            <a:pPr algn="ctr">
              <a:spcAft>
                <a:spcPts val="0"/>
              </a:spcAft>
            </a:pPr>
            <a:r>
              <a:rPr sz="1300" b="1" i="0">
                <a:solidFill>
                  <a:srgbClr val="C9821E"/>
                </a:solidFill>
                <a:latin typeface="Calibri"/>
              </a:rPr>
              <a:t>&gt;</a:t>
            </a:r>
          </a:p>
        </p:txBody>
      </p:sp>
      <p:sp>
        <p:nvSpPr>
          <p:cNvPr id="27" name="Rounded Rectangle 26"/>
          <p:cNvSpPr/>
          <p:nvPr/>
        </p:nvSpPr>
        <p:spPr>
          <a:xfrm>
            <a:off x="7498079" y="1874519"/>
            <a:ext cx="749808" cy="43891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52944" y="1874519"/>
            <a:ext cx="640080" cy="438912"/>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Consume</a:t>
            </a:r>
          </a:p>
        </p:txBody>
      </p:sp>
      <p:sp>
        <p:nvSpPr>
          <p:cNvPr id="29" name="TextBox 28"/>
          <p:cNvSpPr txBox="1"/>
          <p:nvPr/>
        </p:nvSpPr>
        <p:spPr>
          <a:xfrm>
            <a:off x="4846320" y="2468880"/>
            <a:ext cx="3474720" cy="17373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We can know more than we desire, desire more than we do, and do more than we consume.</a:t>
            </a:r>
          </a:p>
          <a:p>
            <a:pPr>
              <a:spcBef>
                <a:spcPts val="600"/>
              </a:spcBef>
              <a:spcAft>
                <a:spcPts val="0"/>
              </a:spcAft>
            </a:pPr>
            <a:r>
              <a:rPr sz="1150" b="0" i="0">
                <a:solidFill>
                  <a:srgbClr val="5A6377"/>
                </a:solidFill>
                <a:latin typeface="Calibri"/>
              </a:rPr>
              <a:t>Whatever we produce, we cannot consume that much: production in excess of need is possible.</a:t>
            </a:r>
          </a:p>
          <a:p>
            <a:pPr>
              <a:spcBef>
                <a:spcPts val="600"/>
              </a:spcBef>
              <a:spcAft>
                <a:spcPts val="0"/>
              </a:spcAft>
            </a:pPr>
            <a:r>
              <a:rPr sz="1150" b="0" i="1">
                <a:solidFill>
                  <a:srgbClr val="5A6377"/>
                </a:solidFill>
                <a:latin typeface="Calibri"/>
              </a:rPr>
              <a:t>A person who understands this produces more and consumes less, with little waste.</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73, 93  ·  JV p. 152  ·  MVD pp. 96, 183, 282  ·  KD p. 114  ·  AnalyticMadhyasthDarshan.org  ·  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JOINT FORM  ·  §2.1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Jeevan Seeks Continuing Happiness</a:t>
            </a:r>
          </a:p>
        </p:txBody>
      </p:sp>
      <p:sp>
        <p:nvSpPr>
          <p:cNvPr id="7" name="Rounded Rectangle 6"/>
          <p:cNvSpPr/>
          <p:nvPr/>
        </p:nvSpPr>
        <p:spPr>
          <a:xfrm>
            <a:off x="6400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Mun</a:t>
            </a:r>
          </a:p>
          <a:p>
            <a:pPr algn="ctr">
              <a:spcAft>
                <a:spcPts val="0"/>
              </a:spcAft>
            </a:pPr>
            <a:r>
              <a:rPr sz="900" b="0" i="1">
                <a:solidFill>
                  <a:srgbClr val="C9D4EF"/>
                </a:solidFill>
                <a:latin typeface="Calibri"/>
              </a:rPr>
              <a:t>taste · selection</a:t>
            </a:r>
          </a:p>
        </p:txBody>
      </p:sp>
      <p:sp>
        <p:nvSpPr>
          <p:cNvPr id="9" name="Rounded Rectangle 8"/>
          <p:cNvSpPr/>
          <p:nvPr/>
        </p:nvSpPr>
        <p:spPr>
          <a:xfrm>
            <a:off x="22402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Vritti</a:t>
            </a:r>
          </a:p>
          <a:p>
            <a:pPr algn="ctr">
              <a:spcAft>
                <a:spcPts val="0"/>
              </a:spcAft>
            </a:pPr>
            <a:r>
              <a:rPr sz="900" b="0" i="1">
                <a:solidFill>
                  <a:srgbClr val="C9D4EF"/>
                </a:solidFill>
                <a:latin typeface="Calibri"/>
              </a:rPr>
              <a:t>deliberation · analysis</a:t>
            </a:r>
          </a:p>
        </p:txBody>
      </p:sp>
      <p:sp>
        <p:nvSpPr>
          <p:cNvPr id="11" name="Rounded Rectangle 10"/>
          <p:cNvSpPr/>
          <p:nvPr/>
        </p:nvSpPr>
        <p:spPr>
          <a:xfrm>
            <a:off x="38404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Chitta</a:t>
            </a:r>
          </a:p>
          <a:p>
            <a:pPr algn="ctr">
              <a:spcAft>
                <a:spcPts val="0"/>
              </a:spcAft>
            </a:pPr>
            <a:r>
              <a:rPr sz="900" b="0" i="1">
                <a:solidFill>
                  <a:srgbClr val="C9D4EF"/>
                </a:solidFill>
                <a:latin typeface="Calibri"/>
              </a:rPr>
              <a:t>contemplation · visualisation</a:t>
            </a:r>
          </a:p>
        </p:txBody>
      </p:sp>
      <p:sp>
        <p:nvSpPr>
          <p:cNvPr id="13" name="Rounded Rectangle 12"/>
          <p:cNvSpPr/>
          <p:nvPr/>
        </p:nvSpPr>
        <p:spPr>
          <a:xfrm>
            <a:off x="54406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Buddhi</a:t>
            </a:r>
          </a:p>
          <a:p>
            <a:pPr algn="ctr">
              <a:spcAft>
                <a:spcPts val="0"/>
              </a:spcAft>
            </a:pPr>
            <a:r>
              <a:rPr sz="900" b="0" i="1">
                <a:solidFill>
                  <a:srgbClr val="C9D4EF"/>
                </a:solidFill>
                <a:latin typeface="Calibri"/>
              </a:rPr>
              <a:t>enlightenment · resolve</a:t>
            </a:r>
          </a:p>
        </p:txBody>
      </p:sp>
      <p:sp>
        <p:nvSpPr>
          <p:cNvPr id="15" name="Rounded Rectangle 14"/>
          <p:cNvSpPr/>
          <p:nvPr/>
        </p:nvSpPr>
        <p:spPr>
          <a:xfrm>
            <a:off x="7040880" y="1325880"/>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325880"/>
            <a:ext cx="1261872" cy="713232"/>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Atma</a:t>
            </a:r>
          </a:p>
          <a:p>
            <a:pPr algn="ctr">
              <a:spcAft>
                <a:spcPts val="0"/>
              </a:spcAft>
            </a:pPr>
            <a:r>
              <a:rPr sz="900" b="0" i="1">
                <a:solidFill>
                  <a:srgbClr val="C9D4EF"/>
                </a:solidFill>
                <a:latin typeface="Calibri"/>
              </a:rPr>
              <a:t>realisation · authenticity</a:t>
            </a:r>
          </a:p>
        </p:txBody>
      </p:sp>
      <p:sp>
        <p:nvSpPr>
          <p:cNvPr id="17" name="Rounded Rectangle 16"/>
          <p:cNvSpPr/>
          <p:nvPr/>
        </p:nvSpPr>
        <p:spPr>
          <a:xfrm>
            <a:off x="16916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916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happiness</a:t>
            </a:r>
          </a:p>
        </p:txBody>
      </p:sp>
      <p:sp>
        <p:nvSpPr>
          <p:cNvPr id="19" name="Rounded Rectangle 18"/>
          <p:cNvSpPr/>
          <p:nvPr/>
        </p:nvSpPr>
        <p:spPr>
          <a:xfrm>
            <a:off x="32918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18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peace</a:t>
            </a:r>
          </a:p>
        </p:txBody>
      </p:sp>
      <p:sp>
        <p:nvSpPr>
          <p:cNvPr id="21" name="Rounded Rectangle 20"/>
          <p:cNvSpPr/>
          <p:nvPr/>
        </p:nvSpPr>
        <p:spPr>
          <a:xfrm>
            <a:off x="48920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920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contentment</a:t>
            </a:r>
          </a:p>
        </p:txBody>
      </p:sp>
      <p:sp>
        <p:nvSpPr>
          <p:cNvPr id="23" name="Rounded Rectangle 22"/>
          <p:cNvSpPr/>
          <p:nvPr/>
        </p:nvSpPr>
        <p:spPr>
          <a:xfrm>
            <a:off x="6492240" y="2176272"/>
            <a:ext cx="868680" cy="274320"/>
          </a:xfrm>
          <a:prstGeom prst="roundRect">
            <a:avLst>
              <a:gd name="adj" fmla="val 30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92240" y="2176272"/>
            <a:ext cx="868680" cy="274320"/>
          </a:xfrm>
          <a:prstGeom prst="rect">
            <a:avLst/>
          </a:prstGeom>
          <a:noFill/>
        </p:spPr>
        <p:txBody>
          <a:bodyPr wrap="square" lIns="0" rIns="0" tIns="0" bIns="0" anchor="ctr">
            <a:spAutoFit/>
          </a:bodyPr>
          <a:lstStyle/>
          <a:p>
            <a:pPr algn="ctr">
              <a:spcAft>
                <a:spcPts val="0"/>
              </a:spcAft>
            </a:pPr>
            <a:r>
              <a:rPr sz="1000" b="1" i="0">
                <a:solidFill>
                  <a:srgbClr val="9A6414"/>
                </a:solidFill>
                <a:latin typeface="Calibri"/>
              </a:rPr>
              <a:t>bliss</a:t>
            </a:r>
          </a:p>
        </p:txBody>
      </p:sp>
      <p:sp>
        <p:nvSpPr>
          <p:cNvPr id="25" name="TextBox 24"/>
          <p:cNvSpPr txBox="1"/>
          <p:nvPr/>
        </p:nvSpPr>
        <p:spPr>
          <a:xfrm>
            <a:off x="640080" y="2542032"/>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jeevan value is harmony between two adjacent faculties.</a:t>
            </a:r>
          </a:p>
        </p:txBody>
      </p:sp>
      <p:sp>
        <p:nvSpPr>
          <p:cNvPr id="26" name="Rounded Rectangle 25"/>
          <p:cNvSpPr/>
          <p:nvPr/>
        </p:nvSpPr>
        <p:spPr>
          <a:xfrm>
            <a:off x="640080" y="292608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30449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Innateness of the human</a:t>
            </a:r>
          </a:p>
        </p:txBody>
      </p:sp>
      <p:sp>
        <p:nvSpPr>
          <p:cNvPr id="28" name="TextBox 27"/>
          <p:cNvSpPr txBox="1"/>
          <p:nvPr/>
        </p:nvSpPr>
        <p:spPr>
          <a:xfrm>
            <a:off x="822959"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activity is carried out in the expectation of happiness, peace, contentment and bliss; contentment is accepted by all, discontent by none.</a:t>
            </a:r>
          </a:p>
        </p:txBody>
      </p:sp>
      <p:sp>
        <p:nvSpPr>
          <p:cNvPr id="29" name="Rounded Rectangle 28"/>
          <p:cNvSpPr/>
          <p:nvPr/>
        </p:nvSpPr>
        <p:spPr>
          <a:xfrm>
            <a:off x="4663440" y="2926080"/>
            <a:ext cx="3840480" cy="1234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0" y="30449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realisation (anubhav) is needed</a:t>
            </a:r>
          </a:p>
        </p:txBody>
      </p:sp>
      <p:sp>
        <p:nvSpPr>
          <p:cNvPr id="31" name="TextBox 30"/>
          <p:cNvSpPr txBox="1"/>
          <p:nvPr/>
        </p:nvSpPr>
        <p:spPr>
          <a:xfrm>
            <a:off x="4846320" y="3364991"/>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Body-rooted views (priya, hit, labh) differ in every body; only realisation in coexistence grounds universal agreement.</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13, 18–21, 48, 50, 58–60, 92  ·  JV pp. 72–73, 137  ·  MVD p. 203  ·  AnalyticMadhyasthDarshan.org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DELUSION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Four and a Half Activities</a:t>
            </a:r>
          </a:p>
        </p:txBody>
      </p:sp>
      <p:sp>
        <p:nvSpPr>
          <p:cNvPr id="7" name="Rounded Rectangle 6"/>
          <p:cNvSpPr/>
          <p:nvPr/>
        </p:nvSpPr>
        <p:spPr>
          <a:xfrm>
            <a:off x="640080" y="1280160"/>
            <a:ext cx="3840480" cy="21488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Effective in delusion</a:t>
            </a:r>
          </a:p>
        </p:txBody>
      </p:sp>
      <p:sp>
        <p:nvSpPr>
          <p:cNvPr id="9" name="Oval 8"/>
          <p:cNvSpPr/>
          <p:nvPr/>
        </p:nvSpPr>
        <p:spPr>
          <a:xfrm>
            <a:off x="868680" y="181965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37360"/>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Selection</a:t>
            </a:r>
          </a:p>
        </p:txBody>
      </p:sp>
      <p:sp>
        <p:nvSpPr>
          <p:cNvPr id="11" name="Oval 10"/>
          <p:cNvSpPr/>
          <p:nvPr/>
        </p:nvSpPr>
        <p:spPr>
          <a:xfrm>
            <a:off x="868680" y="211226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029967"/>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Taste</a:t>
            </a:r>
          </a:p>
        </p:txBody>
      </p:sp>
      <p:sp>
        <p:nvSpPr>
          <p:cNvPr id="13" name="Oval 12"/>
          <p:cNvSpPr/>
          <p:nvPr/>
        </p:nvSpPr>
        <p:spPr>
          <a:xfrm>
            <a:off x="868680" y="240487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322576"/>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Analysis</a:t>
            </a:r>
          </a:p>
        </p:txBody>
      </p:sp>
      <p:sp>
        <p:nvSpPr>
          <p:cNvPr id="15" name="Oval 14"/>
          <p:cNvSpPr/>
          <p:nvPr/>
        </p:nvSpPr>
        <p:spPr>
          <a:xfrm>
            <a:off x="868680" y="26974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2615184"/>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Visualisation</a:t>
            </a:r>
          </a:p>
        </p:txBody>
      </p:sp>
      <p:sp>
        <p:nvSpPr>
          <p:cNvPr id="17" name="Oval 16"/>
          <p:cNvSpPr/>
          <p:nvPr/>
        </p:nvSpPr>
        <p:spPr>
          <a:xfrm>
            <a:off x="868680" y="2990088"/>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2907791"/>
            <a:ext cx="329184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Half of deliberation</a:t>
            </a:r>
          </a:p>
        </p:txBody>
      </p:sp>
      <p:sp>
        <p:nvSpPr>
          <p:cNvPr id="19" name="Rounded Rectangle 18"/>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Governed by pleasure, health, profit</a:t>
            </a:r>
          </a:p>
        </p:txBody>
      </p:sp>
      <p:sp>
        <p:nvSpPr>
          <p:cNvPr id="21" name="TextBox 20"/>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Taste and selection follow what is pleasant to the senses; deliberation runs on priya, hit and labh.</a:t>
            </a:r>
          </a:p>
          <a:p>
            <a:pPr>
              <a:spcBef>
                <a:spcPts val="600"/>
              </a:spcBef>
              <a:spcAft>
                <a:spcPts val="0"/>
              </a:spcAft>
            </a:pPr>
            <a:r>
              <a:rPr sz="1150" b="0" i="0">
                <a:solidFill>
                  <a:srgbClr val="5A6377"/>
                </a:solidFill>
                <a:latin typeface="Calibri"/>
              </a:rPr>
              <a:t>The remaining activities lack the substance of understanding: the result is continuous internal conflict within jeevan.</a:t>
            </a:r>
          </a:p>
        </p:txBody>
      </p:sp>
      <p:sp>
        <p:nvSpPr>
          <p:cNvPr id="22" name="Rounded Rectangle 21"/>
          <p:cNvSpPr/>
          <p:nvPr/>
        </p:nvSpPr>
        <p:spPr>
          <a:xfrm>
            <a:off x="640080" y="365760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365760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An inexhaustible cycle</a:t>
            </a:r>
          </a:p>
          <a:p>
            <a:pPr algn="ctr">
              <a:spcAft>
                <a:spcPts val="0"/>
              </a:spcAft>
            </a:pPr>
            <a:r>
              <a:rPr sz="1250" b="0" i="0">
                <a:solidFill>
                  <a:srgbClr val="FFFFFF"/>
                </a:solidFill>
                <a:latin typeface="Calibri"/>
              </a:rPr>
              <a:t>After tasting, selection arises again, as fresh as before; deliberation by pleasure, health and profit is settled, while justice, dharma and truth remain under review.</a:t>
            </a:r>
          </a:p>
        </p:txBody>
      </p:sp>
      <p:sp>
        <p:nvSpPr>
          <p:cNvPr id="24" name="TextBox 2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72–73  ·  AA pp. 17–18  ·  AnalyticMadhyasthDarshan.org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SELF-REGULATION  ·  §2.2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Taste Regulated, Not Suppressed</a:t>
            </a:r>
          </a:p>
        </p:txBody>
      </p:sp>
      <p:sp>
        <p:nvSpPr>
          <p:cNvPr id="7" name="Rounded Rectangle 6"/>
          <p:cNvSpPr/>
          <p:nvPr/>
        </p:nvSpPr>
        <p:spPr>
          <a:xfrm>
            <a:off x="64008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Coexistence</a:t>
            </a:r>
          </a:p>
        </p:txBody>
      </p:sp>
      <p:sp>
        <p:nvSpPr>
          <p:cNvPr id="9" name="TextBox 8"/>
          <p:cNvSpPr txBox="1"/>
          <p:nvPr/>
        </p:nvSpPr>
        <p:spPr>
          <a:xfrm>
            <a:off x="1810512"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1975104"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29968"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Realisation</a:t>
            </a:r>
          </a:p>
          <a:p>
            <a:pPr algn="ctr">
              <a:spcAft>
                <a:spcPts val="0"/>
              </a:spcAft>
            </a:pPr>
            <a:r>
              <a:rPr sz="950" b="0" i="1">
                <a:solidFill>
                  <a:srgbClr val="C9D4EF"/>
                </a:solidFill>
                <a:latin typeface="Calibri"/>
              </a:rPr>
              <a:t>atma</a:t>
            </a:r>
          </a:p>
        </p:txBody>
      </p:sp>
      <p:sp>
        <p:nvSpPr>
          <p:cNvPr id="12" name="TextBox 11"/>
          <p:cNvSpPr txBox="1"/>
          <p:nvPr/>
        </p:nvSpPr>
        <p:spPr>
          <a:xfrm>
            <a:off x="3145536"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10128"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64992"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Enlightenment</a:t>
            </a:r>
          </a:p>
          <a:p>
            <a:pPr algn="ctr">
              <a:spcAft>
                <a:spcPts val="0"/>
              </a:spcAft>
            </a:pPr>
            <a:r>
              <a:rPr sz="950" b="0" i="1">
                <a:solidFill>
                  <a:srgbClr val="C9D4EF"/>
                </a:solidFill>
                <a:latin typeface="Calibri"/>
              </a:rPr>
              <a:t>buddhi</a:t>
            </a:r>
          </a:p>
        </p:txBody>
      </p:sp>
      <p:sp>
        <p:nvSpPr>
          <p:cNvPr id="15" name="TextBox 14"/>
          <p:cNvSpPr txBox="1"/>
          <p:nvPr/>
        </p:nvSpPr>
        <p:spPr>
          <a:xfrm>
            <a:off x="4480560"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4645152"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00016"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Contemplation</a:t>
            </a:r>
          </a:p>
          <a:p>
            <a:pPr algn="ctr">
              <a:spcAft>
                <a:spcPts val="0"/>
              </a:spcAft>
            </a:pPr>
            <a:r>
              <a:rPr sz="950" b="0" i="1">
                <a:solidFill>
                  <a:srgbClr val="C9D4EF"/>
                </a:solidFill>
                <a:latin typeface="Calibri"/>
              </a:rPr>
              <a:t>chitta</a:t>
            </a:r>
          </a:p>
        </p:txBody>
      </p:sp>
      <p:sp>
        <p:nvSpPr>
          <p:cNvPr id="18" name="TextBox 17"/>
          <p:cNvSpPr txBox="1"/>
          <p:nvPr/>
        </p:nvSpPr>
        <p:spPr>
          <a:xfrm>
            <a:off x="5815584"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5980176"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35040"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Deliberation</a:t>
            </a:r>
          </a:p>
          <a:p>
            <a:pPr algn="ctr">
              <a:spcAft>
                <a:spcPts val="0"/>
              </a:spcAft>
            </a:pPr>
            <a:r>
              <a:rPr sz="950" b="0" i="1">
                <a:solidFill>
                  <a:srgbClr val="C9D4EF"/>
                </a:solidFill>
                <a:latin typeface="Calibri"/>
              </a:rPr>
              <a:t>vritti</a:t>
            </a:r>
          </a:p>
        </p:txBody>
      </p:sp>
      <p:sp>
        <p:nvSpPr>
          <p:cNvPr id="21" name="TextBox 20"/>
          <p:cNvSpPr txBox="1"/>
          <p:nvPr/>
        </p:nvSpPr>
        <p:spPr>
          <a:xfrm>
            <a:off x="7150608" y="1508760"/>
            <a:ext cx="164592"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2" name="Rounded Rectangle 21"/>
          <p:cNvSpPr/>
          <p:nvPr/>
        </p:nvSpPr>
        <p:spPr>
          <a:xfrm>
            <a:off x="7315200" y="1371600"/>
            <a:ext cx="1170432"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70064" y="1371600"/>
            <a:ext cx="1060704" cy="6400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Tasting</a:t>
            </a:r>
          </a:p>
          <a:p>
            <a:pPr algn="ctr">
              <a:spcAft>
                <a:spcPts val="0"/>
              </a:spcAft>
            </a:pPr>
            <a:r>
              <a:rPr sz="950" b="0" i="1">
                <a:solidFill>
                  <a:srgbClr val="C9D4EF"/>
                </a:solidFill>
                <a:latin typeface="Calibri"/>
              </a:rPr>
              <a:t>mun</a:t>
            </a:r>
          </a:p>
        </p:txBody>
      </p:sp>
      <p:sp>
        <p:nvSpPr>
          <p:cNvPr id="24" name="TextBox 23"/>
          <p:cNvSpPr txBox="1"/>
          <p:nvPr/>
        </p:nvSpPr>
        <p:spPr>
          <a:xfrm>
            <a:off x="640080" y="2103120"/>
            <a:ext cx="7863840" cy="274320"/>
          </a:xfrm>
          <a:prstGeom prst="rect">
            <a:avLst/>
          </a:prstGeom>
          <a:noFill/>
        </p:spPr>
        <p:txBody>
          <a:bodyPr wrap="square" lIns="0" rIns="0" tIns="0" bIns="0" anchor="ctr">
            <a:spAutoFit/>
          </a:bodyPr>
          <a:lstStyle/>
          <a:p>
            <a:pPr algn="ctr">
              <a:spcAft>
                <a:spcPts val="0"/>
              </a:spcAft>
            </a:pPr>
            <a:r>
              <a:rPr sz="1100" b="0" i="1">
                <a:solidFill>
                  <a:srgbClr val="5A6377"/>
                </a:solidFill>
                <a:latin typeface="Calibri"/>
              </a:rPr>
              <a:t>Each activity is balanced and regulated on the touchstone of the one before it.</a:t>
            </a:r>
          </a:p>
        </p:txBody>
      </p:sp>
      <p:sp>
        <p:nvSpPr>
          <p:cNvPr id="25" name="Rounded Rectangle 24"/>
          <p:cNvSpPr/>
          <p:nvPr/>
        </p:nvSpPr>
        <p:spPr>
          <a:xfrm>
            <a:off x="640080" y="256032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59" y="267919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In awakened jeevan</a:t>
            </a:r>
          </a:p>
        </p:txBody>
      </p:sp>
      <p:sp>
        <p:nvSpPr>
          <p:cNvPr id="27" name="TextBox 26"/>
          <p:cNvSpPr txBox="1"/>
          <p:nvPr/>
        </p:nvSpPr>
        <p:spPr>
          <a:xfrm>
            <a:off x="822959"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tasting is regulated by deliberation, every deliberation by contemplation, and so on to coexistence: the formula of self-regulation and balance in every individual.</a:t>
            </a:r>
          </a:p>
        </p:txBody>
      </p:sp>
      <p:sp>
        <p:nvSpPr>
          <p:cNvPr id="28" name="Rounded Rectangle 27"/>
          <p:cNvSpPr/>
          <p:nvPr/>
        </p:nvSpPr>
        <p:spPr>
          <a:xfrm>
            <a:off x="4663440" y="256032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912864" y="246887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12864" y="246887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31" name="TextBox 30"/>
          <p:cNvSpPr txBox="1"/>
          <p:nvPr/>
        </p:nvSpPr>
        <p:spPr>
          <a:xfrm>
            <a:off x="4846320" y="26791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Why caps fail without realisation</a:t>
            </a:r>
          </a:p>
        </p:txBody>
      </p:sp>
      <p:sp>
        <p:nvSpPr>
          <p:cNvPr id="32" name="TextBox 31"/>
          <p:cNvSpPr txBox="1"/>
          <p:nvPr/>
        </p:nvSpPr>
        <p:spPr>
          <a:xfrm>
            <a:off x="4846320" y="299923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Until realisation awakens the higher 5.5 activities, inexhaustible jeevan energy chases more goods or erodes external caps.</a:t>
            </a:r>
          </a:p>
        </p:txBody>
      </p:sp>
      <p:sp>
        <p:nvSpPr>
          <p:cNvPr id="33" name="TextBox 32"/>
          <p:cNvSpPr txBox="1"/>
          <p:nvPr/>
        </p:nvSpPr>
        <p:spPr>
          <a:xfrm>
            <a:off x="640080" y="4114800"/>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The awakened alternative is not the suppression of taste but its regulation.</a:t>
            </a:r>
          </a:p>
        </p:txBody>
      </p:sp>
      <p:sp>
        <p:nvSpPr>
          <p:cNvPr id="34" name="TextBox 33"/>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 95  ·  Study §2.2  ·  AnalyticMadhyasthDarshan.org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DIAGNOSIS  ·  §2.3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Transience Misread as Lack</a:t>
            </a:r>
          </a:p>
        </p:txBody>
      </p:sp>
      <p:sp>
        <p:nvSpPr>
          <p:cNvPr id="7" name="Rounded Rectangle 6"/>
          <p:cNvSpPr/>
          <p:nvPr/>
        </p:nvSpPr>
        <p:spPr>
          <a:xfrm>
            <a:off x="640080" y="128016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316736"/>
            <a:ext cx="7406640" cy="704088"/>
          </a:xfrm>
          <a:prstGeom prst="rect">
            <a:avLst/>
          </a:prstGeom>
          <a:noFill/>
        </p:spPr>
        <p:txBody>
          <a:bodyPr wrap="square" lIns="0" rIns="0" tIns="0" bIns="0" anchor="ctr">
            <a:spAutoFit/>
          </a:bodyPr>
          <a:lstStyle/>
          <a:p>
            <a:pPr algn="ctr">
              <a:spcAft>
                <a:spcPts val="0"/>
              </a:spcAft>
            </a:pPr>
            <a:r>
              <a:rPr sz="1300" b="0" i="1">
                <a:solidFill>
                  <a:srgbClr val="9A6414"/>
                </a:solidFill>
                <a:latin typeface="Cambria"/>
              </a:rPr>
              <a:t>“The transient nature of sensitivity is such a wonderful provision in humans, serving as an alarm, an inspiration, and a direction for their awakening.”</a:t>
            </a:r>
          </a:p>
          <a:p>
            <a:pPr algn="ctr">
              <a:spcAft>
                <a:spcPts val="0"/>
              </a:spcAft>
            </a:pPr>
            <a:r>
              <a:rPr sz="950" b="0" i="0">
                <a:solidFill>
                  <a:srgbClr val="5A6377"/>
                </a:solidFill>
                <a:latin typeface="Calibri"/>
              </a:rPr>
              <a:t>JV p. 163</a:t>
            </a:r>
          </a:p>
        </p:txBody>
      </p:sp>
      <p:sp>
        <p:nvSpPr>
          <p:cNvPr id="9" name="Rounded Rectangle 8"/>
          <p:cNvSpPr/>
          <p:nvPr/>
        </p:nvSpPr>
        <p:spPr>
          <a:xfrm>
            <a:off x="6400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49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Satisfaction</a:t>
            </a:r>
          </a:p>
          <a:p>
            <a:pPr algn="ctr">
              <a:spcAft>
                <a:spcPts val="0"/>
              </a:spcAft>
            </a:pPr>
            <a:r>
              <a:rPr sz="1000" b="0" i="1">
                <a:solidFill>
                  <a:srgbClr val="C9D4EF"/>
                </a:solidFill>
                <a:latin typeface="Calibri"/>
              </a:rPr>
              <a:t>fades</a:t>
            </a:r>
          </a:p>
        </p:txBody>
      </p:sp>
      <p:sp>
        <p:nvSpPr>
          <p:cNvPr id="11" name="TextBox 10"/>
          <p:cNvSpPr txBox="1"/>
          <p:nvPr/>
        </p:nvSpPr>
        <p:spPr>
          <a:xfrm>
            <a:off x="20116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2" name="Rounded Rectangle 11"/>
          <p:cNvSpPr/>
          <p:nvPr/>
        </p:nvSpPr>
        <p:spPr>
          <a:xfrm>
            <a:off x="22402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951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Discontent</a:t>
            </a:r>
          </a:p>
          <a:p>
            <a:pPr algn="ctr">
              <a:spcAft>
                <a:spcPts val="0"/>
              </a:spcAft>
            </a:pPr>
            <a:r>
              <a:rPr sz="1000" b="0" i="1">
                <a:solidFill>
                  <a:srgbClr val="C9D4EF"/>
                </a:solidFill>
                <a:latin typeface="Calibri"/>
              </a:rPr>
              <a:t>remains</a:t>
            </a:r>
          </a:p>
        </p:txBody>
      </p:sp>
      <p:sp>
        <p:nvSpPr>
          <p:cNvPr id="14" name="TextBox 13"/>
          <p:cNvSpPr txBox="1"/>
          <p:nvPr/>
        </p:nvSpPr>
        <p:spPr>
          <a:xfrm>
            <a:off x="36118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5" name="Rounded Rectangle 14"/>
          <p:cNvSpPr/>
          <p:nvPr/>
        </p:nvSpPr>
        <p:spPr>
          <a:xfrm>
            <a:off x="38404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953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Read as</a:t>
            </a:r>
          </a:p>
          <a:p>
            <a:pPr algn="ctr">
              <a:spcAft>
                <a:spcPts val="0"/>
              </a:spcAft>
            </a:pPr>
            <a:r>
              <a:rPr sz="1000" b="0" i="1">
                <a:solidFill>
                  <a:srgbClr val="C9D4EF"/>
                </a:solidFill>
                <a:latin typeface="Calibri"/>
              </a:rPr>
              <a:t>a shortage</a:t>
            </a:r>
          </a:p>
        </p:txBody>
      </p:sp>
      <p:sp>
        <p:nvSpPr>
          <p:cNvPr id="17" name="TextBox 16"/>
          <p:cNvSpPr txBox="1"/>
          <p:nvPr/>
        </p:nvSpPr>
        <p:spPr>
          <a:xfrm>
            <a:off x="52120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8" name="Rounded Rectangle 17"/>
          <p:cNvSpPr/>
          <p:nvPr/>
        </p:nvSpPr>
        <p:spPr>
          <a:xfrm>
            <a:off x="54406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955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More</a:t>
            </a:r>
          </a:p>
          <a:p>
            <a:pPr algn="ctr">
              <a:spcAft>
                <a:spcPts val="0"/>
              </a:spcAft>
            </a:pPr>
            <a:r>
              <a:rPr sz="1000" b="0" i="1">
                <a:solidFill>
                  <a:srgbClr val="C9D4EF"/>
                </a:solidFill>
                <a:latin typeface="Calibri"/>
              </a:rPr>
              <a:t>acquisition</a:t>
            </a:r>
          </a:p>
        </p:txBody>
      </p:sp>
      <p:sp>
        <p:nvSpPr>
          <p:cNvPr id="20" name="TextBox 19"/>
          <p:cNvSpPr txBox="1"/>
          <p:nvPr/>
        </p:nvSpPr>
        <p:spPr>
          <a:xfrm>
            <a:off x="6812280" y="242316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21" name="Rounded Rectangle 20"/>
          <p:cNvSpPr/>
          <p:nvPr/>
        </p:nvSpPr>
        <p:spPr>
          <a:xfrm>
            <a:off x="7040880" y="2286000"/>
            <a:ext cx="137160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95744" y="2286000"/>
            <a:ext cx="1261872" cy="640080"/>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Satiation</a:t>
            </a:r>
          </a:p>
          <a:p>
            <a:pPr algn="ctr">
              <a:spcAft>
                <a:spcPts val="0"/>
              </a:spcAft>
            </a:pPr>
            <a:r>
              <a:rPr sz="1000" b="0" i="1">
                <a:solidFill>
                  <a:srgbClr val="C9D4EF"/>
                </a:solidFill>
                <a:latin typeface="Calibri"/>
              </a:rPr>
              <a:t>recedes</a:t>
            </a:r>
          </a:p>
        </p:txBody>
      </p:sp>
      <p:sp>
        <p:nvSpPr>
          <p:cNvPr id="23" name="Rounded Rectangle 22"/>
          <p:cNvSpPr/>
          <p:nvPr/>
        </p:nvSpPr>
        <p:spPr>
          <a:xfrm>
            <a:off x="640080" y="3154680"/>
            <a:ext cx="3840480" cy="10515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32735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Duty and indulgence</a:t>
            </a:r>
          </a:p>
        </p:txBody>
      </p:sp>
      <p:sp>
        <p:nvSpPr>
          <p:cNvPr id="25" name="TextBox 24"/>
          <p:cNvSpPr txBox="1"/>
          <p:nvPr/>
        </p:nvSpPr>
        <p:spPr>
          <a:xfrm>
            <a:off x="822959"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Duties are definite and can be fulfilled; needs pursued as indulgence are unlimited and cannot.</a:t>
            </a:r>
          </a:p>
        </p:txBody>
      </p:sp>
      <p:sp>
        <p:nvSpPr>
          <p:cNvPr id="26" name="Rounded Rectangle 25"/>
          <p:cNvSpPr/>
          <p:nvPr/>
        </p:nvSpPr>
        <p:spPr>
          <a:xfrm>
            <a:off x="4663440" y="3154680"/>
            <a:ext cx="3840480" cy="10515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912864" y="3063240"/>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12864" y="3063240"/>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9" name="TextBox 28"/>
          <p:cNvSpPr txBox="1"/>
          <p:nvPr/>
        </p:nvSpPr>
        <p:spPr>
          <a:xfrm>
            <a:off x="4846320" y="32735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A category error</a:t>
            </a:r>
          </a:p>
        </p:txBody>
      </p:sp>
      <p:sp>
        <p:nvSpPr>
          <p:cNvPr id="30" name="TextBox 29"/>
          <p:cNvSpPr txBox="1"/>
          <p:nvPr/>
        </p:nvSpPr>
        <p:spPr>
          <a:xfrm>
            <a:off x="4846320" y="3593591"/>
            <a:ext cx="3474720" cy="5029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continuous, qualitative need of jeevan pursued through transient, quantitative means.</a:t>
            </a:r>
          </a:p>
        </p:txBody>
      </p:sp>
      <p:sp>
        <p:nvSpPr>
          <p:cNvPr id="31" name="TextBox 30"/>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satiation point moves ahead like a mirage.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JV pp. 162–163  ·  AA pp. 33, 48, 58–59, 78  ·  MVD p. 128  ·  AnalyticMadhyasthDarshan.org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SCARCITY PREMISE  ·  §§2.3, 4.4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Scarcity Premise</a:t>
            </a:r>
          </a:p>
        </p:txBody>
      </p:sp>
      <p:sp>
        <p:nvSpPr>
          <p:cNvPr id="7" name="Rounded Rectangle 6"/>
          <p:cNvSpPr/>
          <p:nvPr/>
        </p:nvSpPr>
        <p:spPr>
          <a:xfrm>
            <a:off x="640080" y="1280160"/>
            <a:ext cx="3840480" cy="2377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lesson from which people stray</a:t>
            </a:r>
          </a:p>
        </p:txBody>
      </p:sp>
      <p:sp>
        <p:nvSpPr>
          <p:cNvPr id="9" name="TextBox 8"/>
          <p:cNvSpPr txBox="1"/>
          <p:nvPr/>
        </p:nvSpPr>
        <p:spPr>
          <a:xfrm>
            <a:off x="822960" y="1783080"/>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Taught  </a:t>
            </a:r>
            <a:r>
              <a:rPr sz="1150" b="0" i="0">
                <a:solidFill>
                  <a:srgbClr val="5A6377"/>
                </a:solidFill>
                <a:latin typeface="Calibri"/>
              </a:rPr>
              <a:t>necessities infinite, means limited</a:t>
            </a:r>
          </a:p>
        </p:txBody>
      </p:sp>
      <p:sp>
        <p:nvSpPr>
          <p:cNvPr id="10" name="TextBox 9"/>
          <p:cNvSpPr txBox="1"/>
          <p:nvPr/>
        </p:nvSpPr>
        <p:spPr>
          <a:xfrm>
            <a:off x="822960" y="2212848"/>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So  </a:t>
            </a:r>
            <a:r>
              <a:rPr sz="1150" b="0" i="0">
                <a:solidFill>
                  <a:srgbClr val="5A6377"/>
                </a:solidFill>
                <a:latin typeface="Calibri"/>
              </a:rPr>
              <a:t>necessity met only through struggle</a:t>
            </a:r>
          </a:p>
        </p:txBody>
      </p:sp>
      <p:sp>
        <p:nvSpPr>
          <p:cNvPr id="11" name="TextBox 10"/>
          <p:cNvSpPr txBox="1"/>
          <p:nvPr/>
        </p:nvSpPr>
        <p:spPr>
          <a:xfrm>
            <a:off x="822960" y="2642615"/>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Attention  </a:t>
            </a:r>
            <a:r>
              <a:rPr sz="1150" b="0" i="0">
                <a:solidFill>
                  <a:srgbClr val="5A6377"/>
                </a:solidFill>
                <a:latin typeface="Calibri"/>
              </a:rPr>
              <a:t>turns to accumulation and comfort</a:t>
            </a:r>
          </a:p>
        </p:txBody>
      </p:sp>
      <p:sp>
        <p:nvSpPr>
          <p:cNvPr id="12" name="TextBox 11"/>
          <p:cNvSpPr txBox="1"/>
          <p:nvPr/>
        </p:nvSpPr>
        <p:spPr>
          <a:xfrm>
            <a:off x="822960" y="3072384"/>
            <a:ext cx="3474720" cy="384048"/>
          </a:xfrm>
          <a:prstGeom prst="rect">
            <a:avLst/>
          </a:prstGeom>
          <a:noFill/>
        </p:spPr>
        <p:txBody>
          <a:bodyPr wrap="square" lIns="0" rIns="0" tIns="0" bIns="0" anchor="ctr">
            <a:spAutoFit/>
          </a:bodyPr>
          <a:lstStyle/>
          <a:p>
            <a:pPr>
              <a:spcAft>
                <a:spcPts val="0"/>
              </a:spcAft>
            </a:pPr>
            <a:r>
              <a:rPr sz="1150" b="1" i="0">
                <a:solidFill>
                  <a:srgbClr val="9A6414"/>
                </a:solidFill>
                <a:latin typeface="Calibri"/>
              </a:rPr>
              <a:t>Result  </a:t>
            </a:r>
            <a:r>
              <a:rPr sz="1150" b="0" i="0">
                <a:solidFill>
                  <a:srgbClr val="5A6377"/>
                </a:solidFill>
                <a:latin typeface="Calibri"/>
              </a:rPr>
              <a:t>necessity assumed to be infinite</a:t>
            </a:r>
          </a:p>
        </p:txBody>
      </p:sp>
      <p:sp>
        <p:nvSpPr>
          <p:cNvPr id="13" name="Rounded Rectangle 12"/>
          <p:cNvSpPr/>
          <p:nvPr/>
        </p:nvSpPr>
        <p:spPr>
          <a:xfrm>
            <a:off x="4663440" y="1280160"/>
            <a:ext cx="3840480" cy="23774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releases it</a:t>
            </a:r>
          </a:p>
        </p:txBody>
      </p:sp>
      <p:sp>
        <p:nvSpPr>
          <p:cNvPr id="15" name="Oval 14"/>
          <p:cNvSpPr/>
          <p:nvPr/>
        </p:nvSpPr>
        <p:spPr>
          <a:xfrm>
            <a:off x="4892040" y="1865376"/>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47488" y="1783080"/>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Each family's necessity is limited</a:t>
            </a:r>
          </a:p>
        </p:txBody>
      </p:sp>
      <p:sp>
        <p:nvSpPr>
          <p:cNvPr id="17" name="Oval 16"/>
          <p:cNvSpPr/>
          <p:nvPr/>
        </p:nvSpPr>
        <p:spPr>
          <a:xfrm>
            <a:off x="4892040" y="2295144"/>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47488" y="2212848"/>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possibility of fulfilling it is greater</a:t>
            </a:r>
          </a:p>
        </p:txBody>
      </p:sp>
      <p:sp>
        <p:nvSpPr>
          <p:cNvPr id="19" name="Oval 18"/>
          <p:cNvSpPr/>
          <p:nvPr/>
        </p:nvSpPr>
        <p:spPr>
          <a:xfrm>
            <a:off x="4892040" y="272491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47488" y="2642615"/>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Jeevan's powers are inexhaustible</a:t>
            </a:r>
          </a:p>
        </p:txBody>
      </p:sp>
      <p:sp>
        <p:nvSpPr>
          <p:cNvPr id="21" name="Oval 20"/>
          <p:cNvSpPr/>
          <p:nvPr/>
        </p:nvSpPr>
        <p:spPr>
          <a:xfrm>
            <a:off x="4892040" y="315468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3072384"/>
            <a:ext cx="3291840" cy="274320"/>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The body's necessity is limited</a:t>
            </a:r>
          </a:p>
        </p:txBody>
      </p:sp>
      <p:sp>
        <p:nvSpPr>
          <p:cNvPr id="23" name="Rounded Rectangle 22"/>
          <p:cNvSpPr/>
          <p:nvPr/>
        </p:nvSpPr>
        <p:spPr>
          <a:xfrm>
            <a:off x="640080" y="3840480"/>
            <a:ext cx="7863840" cy="77724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68680" y="393192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93192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6" name="TextBox 25"/>
          <p:cNvSpPr txBox="1"/>
          <p:nvPr/>
        </p:nvSpPr>
        <p:spPr>
          <a:xfrm>
            <a:off x="1874519" y="3858768"/>
            <a:ext cx="6492240" cy="731520"/>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Robbins defined economics as the allocation of scarce means among unlimited ends. The darshan names that very premise as the root of straying.</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KD p. 115  ·  SB p. 234  ·  Robbins 1932  ·  AnalyticMadhyasthDarshan.org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ACCUMULATION  ·  §2.4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Money Escapes Use and Decay</a:t>
            </a:r>
          </a:p>
        </p:txBody>
      </p:sp>
      <p:sp>
        <p:nvSpPr>
          <p:cNvPr id="7" name="Rounded Rectangle 6"/>
          <p:cNvSpPr/>
          <p:nvPr/>
        </p:nvSpPr>
        <p:spPr>
          <a:xfrm>
            <a:off x="6400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Object</a:t>
            </a:r>
          </a:p>
          <a:p>
            <a:pPr algn="ctr">
              <a:spcAft>
                <a:spcPts val="0"/>
              </a:spcAft>
            </a:pPr>
            <a:r>
              <a:rPr sz="950" b="0" i="1">
                <a:solidFill>
                  <a:srgbClr val="C9D4EF"/>
                </a:solidFill>
                <a:latin typeface="Calibri"/>
              </a:rPr>
              <a:t>useful, perishable</a:t>
            </a:r>
          </a:p>
        </p:txBody>
      </p:sp>
      <p:sp>
        <p:nvSpPr>
          <p:cNvPr id="9" name="TextBox 8"/>
          <p:cNvSpPr txBox="1"/>
          <p:nvPr/>
        </p:nvSpPr>
        <p:spPr>
          <a:xfrm>
            <a:off x="1783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0116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665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Metal</a:t>
            </a:r>
          </a:p>
          <a:p>
            <a:pPr algn="ctr">
              <a:spcAft>
                <a:spcPts val="0"/>
              </a:spcAft>
            </a:pPr>
            <a:r>
              <a:rPr sz="950" b="0" i="1">
                <a:solidFill>
                  <a:srgbClr val="C9D4EF"/>
                </a:solidFill>
                <a:latin typeface="Calibri"/>
              </a:rPr>
              <a:t>symbol of objects</a:t>
            </a:r>
          </a:p>
        </p:txBody>
      </p:sp>
      <p:sp>
        <p:nvSpPr>
          <p:cNvPr id="12" name="TextBox 11"/>
          <p:cNvSpPr txBox="1"/>
          <p:nvPr/>
        </p:nvSpPr>
        <p:spPr>
          <a:xfrm>
            <a:off x="3154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383280" y="1325880"/>
            <a:ext cx="114300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1325880"/>
            <a:ext cx="1033271" cy="658368"/>
          </a:xfrm>
          <a:prstGeom prst="rect">
            <a:avLst/>
          </a:prstGeom>
          <a:noFill/>
        </p:spPr>
        <p:txBody>
          <a:bodyPr wrap="square" lIns="0" rIns="0" tIns="0" bIns="0" anchor="ctr">
            <a:spAutoFit/>
          </a:bodyPr>
          <a:lstStyle/>
          <a:p>
            <a:pPr algn="ctr">
              <a:spcAft>
                <a:spcPts val="0"/>
              </a:spcAft>
            </a:pPr>
            <a:r>
              <a:rPr sz="1200" b="1" i="0">
                <a:solidFill>
                  <a:srgbClr val="FFFFFF"/>
                </a:solidFill>
                <a:latin typeface="Cambria"/>
              </a:rPr>
              <a:t>Paper</a:t>
            </a:r>
          </a:p>
          <a:p>
            <a:pPr algn="ctr">
              <a:spcAft>
                <a:spcPts val="0"/>
              </a:spcAft>
            </a:pPr>
            <a:r>
              <a:rPr sz="950" b="0" i="1">
                <a:solidFill>
                  <a:srgbClr val="C9D4EF"/>
                </a:solidFill>
                <a:latin typeface="Calibri"/>
              </a:rPr>
              <a:t>symbol of metal</a:t>
            </a:r>
          </a:p>
        </p:txBody>
      </p:sp>
      <p:sp>
        <p:nvSpPr>
          <p:cNvPr id="15" name="TextBox 14"/>
          <p:cNvSpPr txBox="1"/>
          <p:nvPr/>
        </p:nvSpPr>
        <p:spPr>
          <a:xfrm>
            <a:off x="640080" y="2057400"/>
            <a:ext cx="3840480" cy="457200"/>
          </a:xfrm>
          <a:prstGeom prst="rect">
            <a:avLst/>
          </a:prstGeom>
          <a:noFill/>
        </p:spPr>
        <p:txBody>
          <a:bodyPr wrap="square" lIns="0" rIns="0" tIns="0" bIns="0" anchor="t">
            <a:spAutoFit/>
          </a:bodyPr>
          <a:lstStyle/>
          <a:p>
            <a:pPr>
              <a:spcAft>
                <a:spcPts val="0"/>
              </a:spcAft>
            </a:pPr>
            <a:r>
              <a:rPr sz="1100" b="0" i="1">
                <a:solidFill>
                  <a:srgbClr val="1E2447"/>
                </a:solidFill>
                <a:latin typeface="Calibri"/>
              </a:rPr>
              <a:t>However much currency exists, it cannot replace grain for one person or quench one person's thirst.</a:t>
            </a:r>
          </a:p>
        </p:txBody>
      </p:sp>
      <p:sp>
        <p:nvSpPr>
          <p:cNvPr id="16" name="Rounded Rectangle 15"/>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Profit defined against labour</a:t>
            </a:r>
          </a:p>
        </p:txBody>
      </p:sp>
      <p:sp>
        <p:nvSpPr>
          <p:cNvPr id="18" name="TextBox 17"/>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Seeking more worth than the labour performed. Neither unrestrained nor state-regulated currency economies remove profit-obsession.</a:t>
            </a:r>
          </a:p>
        </p:txBody>
      </p:sp>
      <p:sp>
        <p:nvSpPr>
          <p:cNvPr id="19" name="Rounded Rectangle 18"/>
          <p:cNvSpPr/>
          <p:nvPr/>
        </p:nvSpPr>
        <p:spPr>
          <a:xfrm>
            <a:off x="64008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59"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Three allurements &amp; seven trades</a:t>
            </a:r>
          </a:p>
        </p:txBody>
      </p:sp>
      <p:sp>
        <p:nvSpPr>
          <p:cNvPr id="21" name="TextBox 20"/>
          <p:cNvSpPr txBox="1"/>
          <p:nvPr/>
        </p:nvSpPr>
        <p:spPr>
          <a:xfrm>
            <a:off x="822959"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Paper is easily carried, hidden and paid; objects, strength, learning, knowledge, position and beauty are all sold for currency.</a:t>
            </a:r>
          </a:p>
        </p:txBody>
      </p:sp>
      <p:sp>
        <p:nvSpPr>
          <p:cNvPr id="22" name="Rounded Rectangle 21"/>
          <p:cNvSpPr/>
          <p:nvPr/>
        </p:nvSpPr>
        <p:spPr>
          <a:xfrm>
            <a:off x="4663440" y="269748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0" y="28163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earth is limited</a:t>
            </a:r>
          </a:p>
        </p:txBody>
      </p:sp>
      <p:sp>
        <p:nvSpPr>
          <p:cNvPr id="24" name="TextBox 23"/>
          <p:cNvSpPr txBox="1"/>
          <p:nvPr/>
        </p:nvSpPr>
        <p:spPr>
          <a:xfrm>
            <a:off x="4846320" y="313639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Accumulation has no satiation point, so it cannot be accessible to all. Price changes are changes in the symbol alone.</a:t>
            </a:r>
          </a:p>
        </p:txBody>
      </p:sp>
      <p:sp>
        <p:nvSpPr>
          <p:cNvPr id="25" name="TextBox 2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Those who produce cannot accumulate; those who accumulate become slack in production.</a:t>
            </a:r>
          </a:p>
        </p:txBody>
      </p:sp>
      <p:sp>
        <p:nvSpPr>
          <p:cNvPr id="26" name="TextBox 2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 45–46, 52–53, 75  ·  MVD pp. 57, 66, 182  ·  JV pp. 151–152  ·  AnalyticMadhyasthDarshan.org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  ·  THE EARTH  ·  §2.5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Consequence in the Earth</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Practice</a:t>
            </a:r>
          </a:p>
        </p:txBody>
      </p:sp>
      <p:sp>
        <p:nvSpPr>
          <p:cNvPr id="9" name="TextBox 8"/>
          <p:cNvSpPr txBox="1"/>
          <p:nvPr/>
        </p:nvSpPr>
        <p:spPr>
          <a:xfrm>
            <a:off x="2743200" y="1280160"/>
            <a:ext cx="57150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the treatise observes</a:t>
            </a:r>
          </a:p>
        </p:txBody>
      </p:sp>
      <p:sp>
        <p:nvSpPr>
          <p:cNvPr id="10" name="Rectangle 9"/>
          <p:cNvSpPr/>
          <p:nvPr/>
        </p:nvSpPr>
        <p:spPr>
          <a:xfrm>
            <a:off x="640080" y="1572768"/>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391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Coal and mineral oil</a:t>
            </a:r>
          </a:p>
        </p:txBody>
      </p:sp>
      <p:sp>
        <p:nvSpPr>
          <p:cNvPr id="13" name="TextBox 12"/>
          <p:cNvSpPr txBox="1"/>
          <p:nvPr/>
        </p:nvSpPr>
        <p:spPr>
          <a:xfrm>
            <a:off x="2743200" y="1600200"/>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Needed in the earth for its balance; burning them brought pollution, heat and rising seas</a:t>
            </a:r>
          </a:p>
        </p:txBody>
      </p:sp>
      <p:sp>
        <p:nvSpPr>
          <p:cNvPr id="14" name="Rectangle 13"/>
          <p:cNvSpPr/>
          <p:nvPr/>
        </p:nvSpPr>
        <p:spPr>
          <a:xfrm>
            <a:off x="640080" y="251460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75688"/>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Chemical fertiliser</a:t>
            </a:r>
          </a:p>
        </p:txBody>
      </p:sp>
      <p:sp>
        <p:nvSpPr>
          <p:cNvPr id="16" name="TextBox 15"/>
          <p:cNvSpPr txBox="1"/>
          <p:nvPr/>
        </p:nvSpPr>
        <p:spPr>
          <a:xfrm>
            <a:off x="2743200" y="2075688"/>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Quantity rose while the nutrition in each grain declined, and soils turned acidic or alkaline</a:t>
            </a:r>
          </a:p>
        </p:txBody>
      </p:sp>
      <p:sp>
        <p:nvSpPr>
          <p:cNvPr id="17" name="Rectangle 16"/>
          <p:cNvSpPr/>
          <p:nvPr/>
        </p:nvSpPr>
        <p:spPr>
          <a:xfrm>
            <a:off x="640080" y="2523744"/>
            <a:ext cx="7863840" cy="47548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9008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51176"/>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Input-dependent farming</a:t>
            </a:r>
          </a:p>
        </p:txBody>
      </p:sp>
      <p:sp>
        <p:nvSpPr>
          <p:cNvPr id="20" name="TextBox 19"/>
          <p:cNvSpPr txBox="1"/>
          <p:nvPr/>
        </p:nvSpPr>
        <p:spPr>
          <a:xfrm>
            <a:off x="2743200" y="2551176"/>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Seed, manure, ploughing and threshing moved from autonomy to dependence</a:t>
            </a:r>
          </a:p>
        </p:txBody>
      </p:sp>
      <p:sp>
        <p:nvSpPr>
          <p:cNvPr id="21" name="Rectangle 20"/>
          <p:cNvSpPr/>
          <p:nvPr/>
        </p:nvSpPr>
        <p:spPr>
          <a:xfrm>
            <a:off x="640080" y="346557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19" y="3026664"/>
            <a:ext cx="1847088" cy="420624"/>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Pollution policy</a:t>
            </a:r>
          </a:p>
        </p:txBody>
      </p:sp>
      <p:sp>
        <p:nvSpPr>
          <p:cNvPr id="23" name="TextBox 22"/>
          <p:cNvSpPr txBox="1"/>
          <p:nvPr/>
        </p:nvSpPr>
        <p:spPr>
          <a:xfrm>
            <a:off x="2743200" y="3026664"/>
            <a:ext cx="5687568" cy="420624"/>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It asks how much pollution people can live in, not how to stop it</a:t>
            </a:r>
          </a:p>
        </p:txBody>
      </p:sp>
      <p:sp>
        <p:nvSpPr>
          <p:cNvPr id="24" name="Rounded Rectangle 23"/>
          <p:cNvSpPr/>
          <p:nvPr/>
        </p:nvSpPr>
        <p:spPr>
          <a:xfrm>
            <a:off x="640080" y="3584448"/>
            <a:ext cx="7863840" cy="6400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584448"/>
            <a:ext cx="7406640" cy="64008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 whole form of exploitation is the exploitation of the earth, and the human being is both exploited and exploiter.</a:t>
            </a:r>
          </a:p>
        </p:txBody>
      </p:sp>
      <p:sp>
        <p:nvSpPr>
          <p:cNvPr id="26" name="TextBox 25"/>
          <p:cNvSpPr txBox="1"/>
          <p:nvPr/>
        </p:nvSpPr>
        <p:spPr>
          <a:xfrm>
            <a:off x="640080" y="4334256"/>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Machine production is not contrary to economics: the objection is to the purpose and evaluation that direct it.</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30–31, 47, 70–71, 74, 82  ·  KD §3.7  ·  AnalyticMadhyasthDarshan.org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 ECONOMICS  ·  §3.1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Resources: Body, Mind, Wealth</a:t>
            </a:r>
          </a:p>
        </p:txBody>
      </p:sp>
      <p:sp>
        <p:nvSpPr>
          <p:cNvPr id="7" name="Rounded Rectangle 6"/>
          <p:cNvSpPr/>
          <p:nvPr/>
        </p:nvSpPr>
        <p:spPr>
          <a:xfrm>
            <a:off x="640080" y="128016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Cyclical economics is</a:t>
            </a:r>
          </a:p>
          <a:p>
            <a:pPr algn="ctr">
              <a:spcAft>
                <a:spcPts val="0"/>
              </a:spcAft>
            </a:pPr>
            <a:r>
              <a:rPr sz="1250" b="0" i="0">
                <a:solidFill>
                  <a:srgbClr val="FFFFFF"/>
                </a:solidFill>
                <a:latin typeface="Calibri"/>
              </a:rPr>
              <a:t>the right use, security and prosperity of resources in the form of body, mind and wealth</a:t>
            </a:r>
          </a:p>
        </p:txBody>
      </p:sp>
      <p:sp>
        <p:nvSpPr>
          <p:cNvPr id="9" name="Rounded Rectangle 8"/>
          <p:cNvSpPr/>
          <p:nvPr/>
        </p:nvSpPr>
        <p:spPr>
          <a:xfrm>
            <a:off x="640080"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Wealth</a:t>
            </a:r>
          </a:p>
        </p:txBody>
      </p:sp>
      <p:sp>
        <p:nvSpPr>
          <p:cNvPr id="11" name="TextBox 10"/>
          <p:cNvSpPr txBox="1"/>
          <p:nvPr/>
        </p:nvSpPr>
        <p:spPr>
          <a:xfrm>
            <a:off x="822959"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Only the produced object, carrying usefulness value and aesthetic value; not money.</a:t>
            </a:r>
          </a:p>
        </p:txBody>
      </p:sp>
      <p:sp>
        <p:nvSpPr>
          <p:cNvPr id="12" name="Rounded Rectangle 11"/>
          <p:cNvSpPr/>
          <p:nvPr/>
        </p:nvSpPr>
        <p:spPr>
          <a:xfrm>
            <a:off x="3328416" y="2286000"/>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2404872"/>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Labour is capital</a:t>
            </a:r>
          </a:p>
        </p:txBody>
      </p:sp>
      <p:sp>
        <p:nvSpPr>
          <p:cNvPr id="14" name="TextBox 13"/>
          <p:cNvSpPr txBox="1"/>
          <p:nvPr/>
        </p:nvSpPr>
        <p:spPr>
          <a:xfrm>
            <a:off x="3511296" y="2724911"/>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primary wealth is human labour power, and it is always the person's own.</a:t>
            </a:r>
          </a:p>
        </p:txBody>
      </p:sp>
      <p:sp>
        <p:nvSpPr>
          <p:cNvPr id="15" name="Rounded Rectangle 14"/>
          <p:cNvSpPr/>
          <p:nvPr/>
        </p:nvSpPr>
        <p:spPr>
          <a:xfrm>
            <a:off x="6016752" y="2286000"/>
            <a:ext cx="2487168"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2404872"/>
            <a:ext cx="2121408"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Beyond necessity</a:t>
            </a:r>
          </a:p>
        </p:txBody>
      </p:sp>
      <p:sp>
        <p:nvSpPr>
          <p:cNvPr id="17" name="TextBox 16"/>
          <p:cNvSpPr txBox="1"/>
          <p:nvPr/>
        </p:nvSpPr>
        <p:spPr>
          <a:xfrm>
            <a:off x="6199632" y="2724911"/>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resolution, labour itself is restful (shram ka vishram = samadhan), and inexhaustible jeevan powers produce beyond need.</a:t>
            </a:r>
          </a:p>
        </p:txBody>
      </p:sp>
      <p:sp>
        <p:nvSpPr>
          <p:cNvPr id="18" name="TextBox 17"/>
          <p:cNvSpPr txBox="1"/>
          <p:nvPr/>
        </p:nvSpPr>
        <p:spPr>
          <a:xfrm>
            <a:off x="640080" y="406908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Economics that treats money as the primary resource has studied the symbol rather than the thing.</a:t>
            </a:r>
          </a:p>
        </p:txBody>
      </p:sp>
      <p:sp>
        <p:nvSpPr>
          <p:cNvPr id="19" name="TextBox 1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18–19, 25, 48–50, 73, 105  ·  MVD pp. 56, 243  ·  SB p. 268  ·  JVD p. 215  ·  AnalyticMadhyasthDarshan.org  ·  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CYCLICALITY  ·  §3.2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Cyclicality Means</a:t>
            </a:r>
          </a:p>
        </p:txBody>
      </p:sp>
      <p:sp>
        <p:nvSpPr>
          <p:cNvPr id="7" name="Rounded Rectangle 6"/>
          <p:cNvSpPr/>
          <p:nvPr/>
        </p:nvSpPr>
        <p:spPr>
          <a:xfrm>
            <a:off x="640080"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Seed › tree › seed</a:t>
            </a:r>
          </a:p>
        </p:txBody>
      </p:sp>
      <p:sp>
        <p:nvSpPr>
          <p:cNvPr id="9" name="TextBox 8"/>
          <p:cNvSpPr txBox="1"/>
          <p:nvPr/>
        </p:nvSpPr>
        <p:spPr>
          <a:xfrm>
            <a:off x="777240"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the plant order's own cycle</a:t>
            </a:r>
          </a:p>
        </p:txBody>
      </p:sp>
      <p:sp>
        <p:nvSpPr>
          <p:cNvPr id="10" name="Rounded Rectangle 9"/>
          <p:cNvSpPr/>
          <p:nvPr/>
        </p:nvSpPr>
        <p:spPr>
          <a:xfrm>
            <a:off x="3328415"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Relation › value › evaluation</a:t>
            </a:r>
          </a:p>
        </p:txBody>
      </p:sp>
      <p:sp>
        <p:nvSpPr>
          <p:cNvPr id="12" name="TextBox 11"/>
          <p:cNvSpPr txBox="1"/>
          <p:nvPr/>
        </p:nvSpPr>
        <p:spPr>
          <a:xfrm>
            <a:off x="3465575"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and back to relationship</a:t>
            </a:r>
          </a:p>
        </p:txBody>
      </p:sp>
      <p:sp>
        <p:nvSpPr>
          <p:cNvPr id="13" name="Rounded Rectangle 12"/>
          <p:cNvSpPr/>
          <p:nvPr/>
        </p:nvSpPr>
        <p:spPr>
          <a:xfrm>
            <a:off x="6016752" y="1325880"/>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Individual ⇄ family ⇄ village</a:t>
            </a:r>
          </a:p>
        </p:txBody>
      </p:sp>
      <p:sp>
        <p:nvSpPr>
          <p:cNvPr id="15" name="TextBox 14"/>
          <p:cNvSpPr txBox="1"/>
          <p:nvPr/>
        </p:nvSpPr>
        <p:spPr>
          <a:xfrm>
            <a:off x="6153912" y="1801368"/>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complementarity linked both ways</a:t>
            </a:r>
          </a:p>
        </p:txBody>
      </p:sp>
      <p:sp>
        <p:nvSpPr>
          <p:cNvPr id="16" name="Rounded Rectangle 15"/>
          <p:cNvSpPr/>
          <p:nvPr/>
        </p:nvSpPr>
        <p:spPr>
          <a:xfrm>
            <a:off x="640080"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Labour › valuation › exchange</a:t>
            </a:r>
          </a:p>
        </p:txBody>
      </p:sp>
      <p:sp>
        <p:nvSpPr>
          <p:cNvPr id="18" name="TextBox 17"/>
          <p:cNvSpPr txBox="1"/>
          <p:nvPr/>
        </p:nvSpPr>
        <p:spPr>
          <a:xfrm>
            <a:off x="777240"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production on the value of labour</a:t>
            </a:r>
          </a:p>
        </p:txBody>
      </p:sp>
      <p:sp>
        <p:nvSpPr>
          <p:cNvPr id="19" name="Rounded Rectangle 18"/>
          <p:cNvSpPr/>
          <p:nvPr/>
        </p:nvSpPr>
        <p:spPr>
          <a:xfrm>
            <a:off x="3328415"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Rain › river › sea › cloud</a:t>
            </a:r>
          </a:p>
        </p:txBody>
      </p:sp>
      <p:sp>
        <p:nvSpPr>
          <p:cNvPr id="21" name="TextBox 20"/>
          <p:cNvSpPr txBox="1"/>
          <p:nvPr/>
        </p:nvSpPr>
        <p:spPr>
          <a:xfrm>
            <a:off x="3465575"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water's return; decay renews fertility</a:t>
            </a:r>
          </a:p>
        </p:txBody>
      </p:sp>
      <p:sp>
        <p:nvSpPr>
          <p:cNvPr id="22" name="Rounded Rectangle 21"/>
          <p:cNvSpPr/>
          <p:nvPr/>
        </p:nvSpPr>
        <p:spPr>
          <a:xfrm>
            <a:off x="6016752" y="2313432"/>
            <a:ext cx="2487168" cy="82296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404872"/>
            <a:ext cx="2212848" cy="329184"/>
          </a:xfrm>
          <a:prstGeom prst="rect">
            <a:avLst/>
          </a:prstGeom>
          <a:noFill/>
        </p:spPr>
        <p:txBody>
          <a:bodyPr wrap="square" lIns="0" rIns="0" tIns="0" bIns="0" anchor="ctr">
            <a:spAutoFit/>
          </a:bodyPr>
          <a:lstStyle/>
          <a:p>
            <a:pPr>
              <a:spcAft>
                <a:spcPts val="0"/>
              </a:spcAft>
            </a:pPr>
            <a:r>
              <a:rPr sz="1150" b="1" i="0">
                <a:solidFill>
                  <a:srgbClr val="1E2447"/>
                </a:solidFill>
                <a:latin typeface="Cambria"/>
              </a:rPr>
              <a:t>Four orders</a:t>
            </a:r>
          </a:p>
        </p:txBody>
      </p:sp>
      <p:sp>
        <p:nvSpPr>
          <p:cNvPr id="24" name="TextBox 23"/>
          <p:cNvSpPr txBox="1"/>
          <p:nvPr/>
        </p:nvSpPr>
        <p:spPr>
          <a:xfrm>
            <a:off x="6153912" y="2788920"/>
            <a:ext cx="2212848" cy="274320"/>
          </a:xfrm>
          <a:prstGeom prst="rect">
            <a:avLst/>
          </a:prstGeom>
          <a:noFill/>
        </p:spPr>
        <p:txBody>
          <a:bodyPr wrap="square" lIns="0" rIns="0" tIns="0" bIns="0" anchor="ctr">
            <a:spAutoFit/>
          </a:bodyPr>
          <a:lstStyle/>
          <a:p>
            <a:pPr>
              <a:spcAft>
                <a:spcPts val="0"/>
              </a:spcAft>
            </a:pPr>
            <a:r>
              <a:rPr sz="1050" b="0" i="1">
                <a:solidFill>
                  <a:srgbClr val="5A6377"/>
                </a:solidFill>
                <a:latin typeface="Calibri"/>
              </a:rPr>
              <a:t>each complementary to the others</a:t>
            </a:r>
          </a:p>
        </p:txBody>
      </p:sp>
      <p:sp>
        <p:nvSpPr>
          <p:cNvPr id="25" name="Rounded Rectangle 24"/>
          <p:cNvSpPr/>
          <p:nvPr/>
        </p:nvSpPr>
        <p:spPr>
          <a:xfrm>
            <a:off x="640080" y="3429000"/>
            <a:ext cx="7863840" cy="77724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429000"/>
            <a:ext cx="7406640" cy="77724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Mutual sustenance</a:t>
            </a:r>
          </a:p>
          <a:p>
            <a:pPr algn="ctr">
              <a:spcAft>
                <a:spcPts val="0"/>
              </a:spcAft>
            </a:pPr>
            <a:r>
              <a:rPr sz="1250" b="0" i="0">
                <a:solidFill>
                  <a:srgbClr val="FFFFFF"/>
                </a:solidFill>
                <a:latin typeface="Calibri"/>
              </a:rPr>
              <a:t>A cycle returns to its starting point, and returns with its purpose fulfilled: complementarity is cyclicality.</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15, 34–35, 42  ·  MVD p. 152  ·  AnalyticMadhyasthDarshan.org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PROVISION CYCLE  ·  §3.3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Provision Cycle</a:t>
            </a:r>
          </a:p>
        </p:txBody>
      </p:sp>
      <p:sp>
        <p:nvSpPr>
          <p:cNvPr id="7" name="Rounded Rectangle 6"/>
          <p:cNvSpPr/>
          <p:nvPr/>
        </p:nvSpPr>
        <p:spPr>
          <a:xfrm>
            <a:off x="123444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8930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Need</a:t>
            </a:r>
          </a:p>
          <a:p>
            <a:pPr algn="ctr">
              <a:spcAft>
                <a:spcPts val="0"/>
              </a:spcAft>
            </a:pPr>
            <a:r>
              <a:rPr sz="900" b="0" i="1">
                <a:solidFill>
                  <a:srgbClr val="C9D4EF"/>
                </a:solidFill>
                <a:latin typeface="Calibri"/>
              </a:rPr>
              <a:t>assessed in the family</a:t>
            </a:r>
          </a:p>
        </p:txBody>
      </p:sp>
      <p:sp>
        <p:nvSpPr>
          <p:cNvPr id="9" name="Rounded Rectangle 8"/>
          <p:cNvSpPr/>
          <p:nvPr/>
        </p:nvSpPr>
        <p:spPr>
          <a:xfrm>
            <a:off x="3246120" y="129844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00984" y="129844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Skilled mentality</a:t>
            </a:r>
          </a:p>
          <a:p>
            <a:pPr algn="ctr">
              <a:spcAft>
                <a:spcPts val="0"/>
              </a:spcAft>
            </a:pPr>
            <a:r>
              <a:rPr sz="900" b="0" i="1">
                <a:solidFill>
                  <a:srgbClr val="C9D4EF"/>
                </a:solidFill>
                <a:latin typeface="Calibri"/>
              </a:rPr>
              <a:t>skill, proficiency</a:t>
            </a:r>
          </a:p>
        </p:txBody>
      </p:sp>
      <p:sp>
        <p:nvSpPr>
          <p:cNvPr id="11" name="Rounded Rectangle 10"/>
          <p:cNvSpPr/>
          <p:nvPr/>
        </p:nvSpPr>
        <p:spPr>
          <a:xfrm>
            <a:off x="379476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4962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Labour</a:t>
            </a:r>
          </a:p>
          <a:p>
            <a:pPr algn="ctr">
              <a:spcAft>
                <a:spcPts val="0"/>
              </a:spcAft>
            </a:pPr>
            <a:r>
              <a:rPr sz="900" b="0" i="1">
                <a:solidFill>
                  <a:srgbClr val="C9D4EF"/>
                </a:solidFill>
                <a:latin typeface="Calibri"/>
              </a:rPr>
              <a:t>on natural abundance</a:t>
            </a:r>
          </a:p>
        </p:txBody>
      </p:sp>
      <p:sp>
        <p:nvSpPr>
          <p:cNvPr id="13" name="Rounded Rectangle 12"/>
          <p:cNvSpPr/>
          <p:nvPr/>
        </p:nvSpPr>
        <p:spPr>
          <a:xfrm>
            <a:off x="324612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0098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Usefulness</a:t>
            </a:r>
          </a:p>
          <a:p>
            <a:pPr algn="ctr">
              <a:spcAft>
                <a:spcPts val="0"/>
              </a:spcAft>
            </a:pPr>
            <a:r>
              <a:rPr sz="900" b="0" i="1">
                <a:solidFill>
                  <a:srgbClr val="C9D4EF"/>
                </a:solidFill>
                <a:latin typeface="Calibri"/>
              </a:rPr>
              <a:t>and beauty established</a:t>
            </a:r>
          </a:p>
        </p:txBody>
      </p:sp>
      <p:sp>
        <p:nvSpPr>
          <p:cNvPr id="15" name="Rounded Rectangle 14"/>
          <p:cNvSpPr/>
          <p:nvPr/>
        </p:nvSpPr>
        <p:spPr>
          <a:xfrm>
            <a:off x="1234440" y="385876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89304" y="385876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Right use</a:t>
            </a:r>
          </a:p>
          <a:p>
            <a:pPr algn="ctr">
              <a:spcAft>
                <a:spcPts val="0"/>
              </a:spcAft>
            </a:pPr>
            <a:r>
              <a:rPr sz="900" b="0" i="1">
                <a:solidFill>
                  <a:srgbClr val="C9D4EF"/>
                </a:solidFill>
                <a:latin typeface="Calibri"/>
              </a:rPr>
              <a:t>need met, rest exchanged</a:t>
            </a:r>
          </a:p>
        </p:txBody>
      </p:sp>
      <p:sp>
        <p:nvSpPr>
          <p:cNvPr id="17" name="Rounded Rectangle 16"/>
          <p:cNvSpPr/>
          <p:nvPr/>
        </p:nvSpPr>
        <p:spPr>
          <a:xfrm>
            <a:off x="685800" y="2578608"/>
            <a:ext cx="1554480" cy="56692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578608"/>
            <a:ext cx="1444752" cy="566928"/>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Renewed capacity</a:t>
            </a:r>
          </a:p>
          <a:p>
            <a:pPr algn="ctr">
              <a:spcAft>
                <a:spcPts val="0"/>
              </a:spcAft>
            </a:pPr>
            <a:r>
              <a:rPr sz="900" b="0" i="1">
                <a:solidFill>
                  <a:srgbClr val="C9D4EF"/>
                </a:solidFill>
                <a:latin typeface="Calibri"/>
              </a:rPr>
              <a:t>body and social life</a:t>
            </a:r>
          </a:p>
        </p:txBody>
      </p:sp>
      <p:cxnSp>
        <p:nvCxnSpPr>
          <p:cNvPr id="19" name="Connector 18"/>
          <p:cNvCxnSpPr/>
          <p:nvPr/>
        </p:nvCxnSpPr>
        <p:spPr>
          <a:xfrm>
            <a:off x="2807208" y="158191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056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48056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807208" y="4142232"/>
            <a:ext cx="420624" cy="0"/>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1371600" y="316382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371600" y="1883664"/>
            <a:ext cx="91440" cy="676656"/>
          </a:xfrm>
          <a:prstGeom prst="line">
            <a:avLst/>
          </a:prstGeom>
          <a:ln w="19050">
            <a:solidFill>
              <a:srgbClr val="C982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2057400" y="2542032"/>
            <a:ext cx="1691640" cy="640080"/>
          </a:xfrm>
          <a:prstGeom prst="rect">
            <a:avLst/>
          </a:prstGeom>
          <a:noFill/>
        </p:spPr>
        <p:txBody>
          <a:bodyPr wrap="square" lIns="0" rIns="0" tIns="0" bIns="0" anchor="ctr">
            <a:spAutoFit/>
          </a:bodyPr>
          <a:lstStyle/>
          <a:p>
            <a:pPr algn="ctr">
              <a:spcAft>
                <a:spcPts val="0"/>
              </a:spcAft>
            </a:pPr>
            <a:r>
              <a:rPr sz="1300" b="1" i="0">
                <a:solidFill>
                  <a:srgbClr val="1E2447"/>
                </a:solidFill>
                <a:latin typeface="Cambria"/>
              </a:rPr>
              <a:t>Provision cycle</a:t>
            </a:r>
          </a:p>
          <a:p>
            <a:pPr algn="ctr">
              <a:spcAft>
                <a:spcPts val="0"/>
              </a:spcAft>
            </a:pPr>
            <a:r>
              <a:rPr sz="950" b="0" i="1">
                <a:solidFill>
                  <a:srgbClr val="5A6377"/>
                </a:solidFill>
                <a:latin typeface="Calibri"/>
              </a:rPr>
              <a:t>AA p. 106 · JV p. 154</a:t>
            </a:r>
          </a:p>
        </p:txBody>
      </p:sp>
      <p:sp>
        <p:nvSpPr>
          <p:cNvPr id="26" name="Rounded Rectangle 25"/>
          <p:cNvSpPr/>
          <p:nvPr/>
        </p:nvSpPr>
        <p:spPr>
          <a:xfrm>
            <a:off x="5623560" y="1298448"/>
            <a:ext cx="2880360" cy="3127248"/>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06440" y="1417320"/>
            <a:ext cx="251460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Richer, not larger</a:t>
            </a:r>
          </a:p>
        </p:txBody>
      </p:sp>
      <p:sp>
        <p:nvSpPr>
          <p:cNvPr id="28" name="TextBox 27"/>
          <p:cNvSpPr txBox="1"/>
          <p:nvPr/>
        </p:nvSpPr>
        <p:spPr>
          <a:xfrm>
            <a:off x="5806440" y="1783080"/>
            <a:ext cx="2514600" cy="2560320"/>
          </a:xfrm>
          <a:prstGeom prst="rect">
            <a:avLst/>
          </a:prstGeom>
          <a:noFill/>
        </p:spPr>
        <p:txBody>
          <a:bodyPr wrap="square" lIns="0" rIns="0" tIns="0" bIns="0" anchor="t">
            <a:spAutoFit/>
          </a:bodyPr>
          <a:lstStyle/>
          <a:p>
            <a:pPr>
              <a:spcAft>
                <a:spcPts val="0"/>
              </a:spcAft>
            </a:pPr>
            <a:r>
              <a:rPr sz="1100" b="0" i="0">
                <a:solidFill>
                  <a:srgbClr val="5A6377"/>
                </a:solidFill>
                <a:latin typeface="Calibri"/>
              </a:rPr>
              <a:t>Mind operates body; together they make object values, useful to the body and satisfying to jeevan.</a:t>
            </a:r>
          </a:p>
          <a:p>
            <a:pPr>
              <a:spcBef>
                <a:spcPts val="600"/>
              </a:spcBef>
              <a:spcAft>
                <a:spcPts val="0"/>
              </a:spcAft>
            </a:pPr>
            <a:r>
              <a:rPr sz="1100" b="0" i="0">
                <a:solidFill>
                  <a:srgbClr val="5A6377"/>
                </a:solidFill>
                <a:latin typeface="Calibri"/>
              </a:rPr>
              <a:t>Each generation hands on more means in excess of need: means increase and the time required decreases.</a:t>
            </a:r>
          </a:p>
          <a:p>
            <a:pPr>
              <a:spcBef>
                <a:spcPts val="600"/>
              </a:spcBef>
              <a:spcAft>
                <a:spcPts val="0"/>
              </a:spcAft>
            </a:pPr>
            <a:r>
              <a:rPr sz="1100" b="0" i="1">
                <a:solidFill>
                  <a:srgbClr val="1E2447"/>
                </a:solidFill>
                <a:latin typeface="Calibri"/>
              </a:rPr>
              <a:t>The cycle grows richer without growing larger in consumption.</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26, 106, 118  ·  JV p. 154  ·  AnalyticMadhyasthDarshan.org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NEED AND PROSPERITY  ·  §3.4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Need, Family, and Prosperity</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family makes need definite</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At least ten autonomous people: every member is jeevan, able to realise in coexistence of satta and nature as a whole, sharing by need.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Prosperity</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lack of the sentiment of lacking; production in excess of needs, with its right use and security.</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Prosperity cannot be private</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For one family to be prosperous, more than one must be; prosperity through accumulation is delusion.</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satiation point of exchange</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Grounded in sovereignty (samprabhuta) and mutual satisfaction (ubhay-tripti): exchange returns exact labour value.</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In a wise family, two to four members may produce beyond the whole family's necessity.</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14, 26, 62–63, 65, 76, 113–114  ·  MVD p. 71  ·  JV p. 153  ·  KD p. 115  ·  AnalyticMadhyasthDarshan.org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THREE LEVELS OF USE  ·  §3.5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Use, Right Use, Purposeful Use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1463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Level</a:t>
            </a:r>
          </a:p>
        </p:txBody>
      </p:sp>
      <p:sp>
        <p:nvSpPr>
          <p:cNvPr id="9" name="TextBox 8"/>
          <p:cNvSpPr txBox="1"/>
          <p:nvPr/>
        </p:nvSpPr>
        <p:spPr>
          <a:xfrm>
            <a:off x="2331720" y="1280160"/>
            <a:ext cx="31546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What it serves</a:t>
            </a:r>
          </a:p>
        </p:txBody>
      </p:sp>
      <p:sp>
        <p:nvSpPr>
          <p:cNvPr id="10" name="TextBox 9"/>
          <p:cNvSpPr txBox="1"/>
          <p:nvPr/>
        </p:nvSpPr>
        <p:spPr>
          <a:xfrm>
            <a:off x="5623560" y="1280160"/>
            <a:ext cx="13716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Scale</a:t>
            </a:r>
          </a:p>
        </p:txBody>
      </p:sp>
      <p:sp>
        <p:nvSpPr>
          <p:cNvPr id="11" name="TextBox 10"/>
          <p:cNvSpPr txBox="1"/>
          <p:nvPr/>
        </p:nvSpPr>
        <p:spPr>
          <a:xfrm>
            <a:off x="7132320" y="1280160"/>
            <a:ext cx="13258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with</a:t>
            </a:r>
          </a:p>
        </p:txBody>
      </p:sp>
      <p:sp>
        <p:nvSpPr>
          <p:cNvPr id="12" name="Rectangle 11"/>
          <p:cNvSpPr/>
          <p:nvPr/>
        </p:nvSpPr>
        <p:spPr>
          <a:xfrm>
            <a:off x="640080" y="157276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206654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19" y="160020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Use</a:t>
            </a:r>
          </a:p>
        </p:txBody>
      </p:sp>
      <p:sp>
        <p:nvSpPr>
          <p:cNvPr id="15" name="TextBox 14"/>
          <p:cNvSpPr txBox="1"/>
          <p:nvPr/>
        </p:nvSpPr>
        <p:spPr>
          <a:xfrm>
            <a:off x="2331720" y="160020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Nourishment and protection of the body; social participation</a:t>
            </a:r>
          </a:p>
        </p:txBody>
      </p:sp>
      <p:sp>
        <p:nvSpPr>
          <p:cNvPr id="16" name="TextBox 15"/>
          <p:cNvSpPr txBox="1"/>
          <p:nvPr/>
        </p:nvSpPr>
        <p:spPr>
          <a:xfrm>
            <a:off x="5623560" y="160020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The family</a:t>
            </a:r>
          </a:p>
        </p:txBody>
      </p:sp>
      <p:sp>
        <p:nvSpPr>
          <p:cNvPr id="17" name="TextBox 16"/>
          <p:cNvSpPr txBox="1"/>
          <p:nvPr/>
        </p:nvSpPr>
        <p:spPr>
          <a:xfrm>
            <a:off x="7132320" y="160020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Justice</a:t>
            </a:r>
          </a:p>
        </p:txBody>
      </p:sp>
      <p:sp>
        <p:nvSpPr>
          <p:cNvPr id="18" name="Rectangle 17"/>
          <p:cNvSpPr/>
          <p:nvPr/>
        </p:nvSpPr>
        <p:spPr>
          <a:xfrm>
            <a:off x="640080" y="25694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10312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Right use</a:t>
            </a:r>
          </a:p>
        </p:txBody>
      </p:sp>
      <p:sp>
        <p:nvSpPr>
          <p:cNvPr id="20" name="TextBox 19"/>
          <p:cNvSpPr txBox="1"/>
          <p:nvPr/>
        </p:nvSpPr>
        <p:spPr>
          <a:xfrm>
            <a:off x="2331720" y="210312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Orderliness and the motion of undivided society</a:t>
            </a:r>
          </a:p>
        </p:txBody>
      </p:sp>
      <p:sp>
        <p:nvSpPr>
          <p:cNvPr id="21" name="TextBox 20"/>
          <p:cNvSpPr txBox="1"/>
          <p:nvPr/>
        </p:nvSpPr>
        <p:spPr>
          <a:xfrm>
            <a:off x="5623560" y="210312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Society</a:t>
            </a:r>
          </a:p>
        </p:txBody>
      </p:sp>
      <p:sp>
        <p:nvSpPr>
          <p:cNvPr id="22" name="TextBox 21"/>
          <p:cNvSpPr txBox="1"/>
          <p:nvPr/>
        </p:nvSpPr>
        <p:spPr>
          <a:xfrm>
            <a:off x="7132320" y="210312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Resolution</a:t>
            </a:r>
          </a:p>
        </p:txBody>
      </p:sp>
      <p:sp>
        <p:nvSpPr>
          <p:cNvPr id="23" name="Rectangle 22"/>
          <p:cNvSpPr/>
          <p:nvPr/>
        </p:nvSpPr>
        <p:spPr>
          <a:xfrm>
            <a:off x="640080" y="2578608"/>
            <a:ext cx="7863840" cy="50292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307238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19" y="2606040"/>
            <a:ext cx="1435608" cy="448056"/>
          </a:xfrm>
          <a:prstGeom prst="rect">
            <a:avLst/>
          </a:prstGeom>
          <a:noFill/>
        </p:spPr>
        <p:txBody>
          <a:bodyPr wrap="square" lIns="0" rIns="0" tIns="0" bIns="0" anchor="ctr">
            <a:spAutoFit/>
          </a:bodyPr>
          <a:lstStyle/>
          <a:p>
            <a:pPr>
              <a:spcAft>
                <a:spcPts val="0"/>
              </a:spcAft>
            </a:pPr>
            <a:r>
              <a:rPr sz="1100" b="1" i="0">
                <a:solidFill>
                  <a:srgbClr val="1E2447"/>
                </a:solidFill>
                <a:latin typeface="Calibri"/>
              </a:rPr>
              <a:t>Purposeful use</a:t>
            </a:r>
          </a:p>
        </p:txBody>
      </p:sp>
      <p:sp>
        <p:nvSpPr>
          <p:cNvPr id="26" name="TextBox 25"/>
          <p:cNvSpPr txBox="1"/>
          <p:nvPr/>
        </p:nvSpPr>
        <p:spPr>
          <a:xfrm>
            <a:off x="2331720" y="2606040"/>
            <a:ext cx="31272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Evidencing understanding across generations</a:t>
            </a:r>
          </a:p>
        </p:txBody>
      </p:sp>
      <p:sp>
        <p:nvSpPr>
          <p:cNvPr id="27" name="TextBox 26"/>
          <p:cNvSpPr txBox="1"/>
          <p:nvPr/>
        </p:nvSpPr>
        <p:spPr>
          <a:xfrm>
            <a:off x="5623560" y="2606040"/>
            <a:ext cx="134416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Universal order</a:t>
            </a:r>
          </a:p>
        </p:txBody>
      </p:sp>
      <p:sp>
        <p:nvSpPr>
          <p:cNvPr id="28" name="TextBox 27"/>
          <p:cNvSpPr txBox="1"/>
          <p:nvPr/>
        </p:nvSpPr>
        <p:spPr>
          <a:xfrm>
            <a:off x="7132320" y="2606040"/>
            <a:ext cx="1298448" cy="44805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Authenticity</a:t>
            </a:r>
          </a:p>
        </p:txBody>
      </p:sp>
      <p:sp>
        <p:nvSpPr>
          <p:cNvPr id="29" name="Rounded Rectangle 28"/>
          <p:cNvSpPr/>
          <p:nvPr/>
        </p:nvSpPr>
        <p:spPr>
          <a:xfrm>
            <a:off x="640080" y="3200400"/>
            <a:ext cx="7863840" cy="7772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3246120"/>
            <a:ext cx="1371600" cy="685800"/>
          </a:xfrm>
          <a:prstGeom prst="rect">
            <a:avLst/>
          </a:prstGeom>
          <a:noFill/>
        </p:spPr>
        <p:txBody>
          <a:bodyPr wrap="square" lIns="0" rIns="0" tIns="0" bIns="0" anchor="ctr">
            <a:spAutoFit/>
          </a:bodyPr>
          <a:lstStyle/>
          <a:p>
            <a:pPr>
              <a:spcAft>
                <a:spcPts val="0"/>
              </a:spcAft>
            </a:pPr>
            <a:r>
              <a:rPr sz="1200" b="1" i="0">
                <a:solidFill>
                  <a:srgbClr val="9A6414"/>
                </a:solidFill>
                <a:latin typeface="Cambria"/>
              </a:rPr>
              <a:t>Values are ordered by what they serve</a:t>
            </a:r>
          </a:p>
        </p:txBody>
      </p:sp>
      <p:sp>
        <p:nvSpPr>
          <p:cNvPr id="31" name="Rounded Rectangle 30"/>
          <p:cNvSpPr/>
          <p:nvPr/>
        </p:nvSpPr>
        <p:spPr>
          <a:xfrm>
            <a:off x="2423160"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478024"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object</a:t>
            </a:r>
          </a:p>
        </p:txBody>
      </p:sp>
      <p:sp>
        <p:nvSpPr>
          <p:cNvPr id="33" name="TextBox 32"/>
          <p:cNvSpPr txBox="1"/>
          <p:nvPr/>
        </p:nvSpPr>
        <p:spPr>
          <a:xfrm>
            <a:off x="3383280"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4" name="Rounded Rectangle 33"/>
          <p:cNvSpPr/>
          <p:nvPr/>
        </p:nvSpPr>
        <p:spPr>
          <a:xfrm>
            <a:off x="3639312"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94176"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civic</a:t>
            </a:r>
          </a:p>
        </p:txBody>
      </p:sp>
      <p:sp>
        <p:nvSpPr>
          <p:cNvPr id="36" name="TextBox 35"/>
          <p:cNvSpPr txBox="1"/>
          <p:nvPr/>
        </p:nvSpPr>
        <p:spPr>
          <a:xfrm>
            <a:off x="4599432"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37" name="Rounded Rectangle 36"/>
          <p:cNvSpPr/>
          <p:nvPr/>
        </p:nvSpPr>
        <p:spPr>
          <a:xfrm>
            <a:off x="4855464"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10328"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established</a:t>
            </a:r>
          </a:p>
        </p:txBody>
      </p:sp>
      <p:sp>
        <p:nvSpPr>
          <p:cNvPr id="39" name="TextBox 38"/>
          <p:cNvSpPr txBox="1"/>
          <p:nvPr/>
        </p:nvSpPr>
        <p:spPr>
          <a:xfrm>
            <a:off x="5815584"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0" name="Rounded Rectangle 39"/>
          <p:cNvSpPr/>
          <p:nvPr/>
        </p:nvSpPr>
        <p:spPr>
          <a:xfrm>
            <a:off x="6071616"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0"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human</a:t>
            </a:r>
          </a:p>
        </p:txBody>
      </p:sp>
      <p:sp>
        <p:nvSpPr>
          <p:cNvPr id="42" name="TextBox 41"/>
          <p:cNvSpPr txBox="1"/>
          <p:nvPr/>
        </p:nvSpPr>
        <p:spPr>
          <a:xfrm>
            <a:off x="7031736" y="3401568"/>
            <a:ext cx="256032" cy="365760"/>
          </a:xfrm>
          <a:prstGeom prst="rect">
            <a:avLst/>
          </a:prstGeom>
          <a:noFill/>
        </p:spPr>
        <p:txBody>
          <a:bodyPr wrap="square" lIns="0" rIns="0" tIns="0" bIns="0" anchor="ctr">
            <a:spAutoFit/>
          </a:bodyPr>
          <a:lstStyle/>
          <a:p>
            <a:pPr algn="ctr">
              <a:spcAft>
                <a:spcPts val="0"/>
              </a:spcAft>
            </a:pPr>
            <a:r>
              <a:rPr sz="1600" b="1" i="0">
                <a:solidFill>
                  <a:srgbClr val="C9821E"/>
                </a:solidFill>
                <a:latin typeface="Calibri"/>
              </a:rPr>
              <a:t>›</a:t>
            </a:r>
          </a:p>
        </p:txBody>
      </p:sp>
      <p:sp>
        <p:nvSpPr>
          <p:cNvPr id="43" name="Rounded Rectangle 42"/>
          <p:cNvSpPr/>
          <p:nvPr/>
        </p:nvSpPr>
        <p:spPr>
          <a:xfrm>
            <a:off x="7287768" y="3383280"/>
            <a:ext cx="960120" cy="4114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42632" y="3383280"/>
            <a:ext cx="850392" cy="411480"/>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jeevan</a:t>
            </a:r>
          </a:p>
        </p:txBody>
      </p:sp>
      <p:sp>
        <p:nvSpPr>
          <p:cNvPr id="45" name="TextBox 44"/>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Wealth serving higher purposes ranks high; higher purposes made to serve wealth rank low.</a:t>
            </a:r>
          </a:p>
        </p:txBody>
      </p:sp>
      <p:sp>
        <p:nvSpPr>
          <p:cNvPr id="46" name="TextBox 45"/>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20–24, 68, 72, 92, 94, 116  ·  MVD p. 56  ·  KD pp. 4, 116  ·  AnalyticMadhyasthDarshan.org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THE VALUE OF LABOUR  ·  §§3.6, 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Giving Labour Its True Value</a:t>
            </a:r>
          </a:p>
        </p:txBody>
      </p:sp>
      <p:sp>
        <p:nvSpPr>
          <p:cNvPr id="7" name="Rounded Rectangle 6"/>
          <p:cNvSpPr/>
          <p:nvPr/>
        </p:nvSpPr>
        <p:spPr>
          <a:xfrm>
            <a:off x="640080"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Labour</a:t>
            </a:r>
          </a:p>
          <a:p>
            <a:pPr algn="ctr">
              <a:spcAft>
                <a:spcPts val="0"/>
              </a:spcAft>
            </a:pPr>
            <a:r>
              <a:rPr sz="1000" b="0" i="1">
                <a:solidFill>
                  <a:srgbClr val="C9D4EF"/>
                </a:solidFill>
                <a:latin typeface="Calibri"/>
              </a:rPr>
              <a:t>on natural abundance</a:t>
            </a:r>
          </a:p>
        </p:txBody>
      </p:sp>
      <p:sp>
        <p:nvSpPr>
          <p:cNvPr id="9" name="TextBox 8"/>
          <p:cNvSpPr txBox="1"/>
          <p:nvPr/>
        </p:nvSpPr>
        <p:spPr>
          <a:xfrm>
            <a:off x="2423160"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2642615"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97479"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Object</a:t>
            </a:r>
          </a:p>
          <a:p>
            <a:pPr algn="ctr">
              <a:spcAft>
                <a:spcPts val="0"/>
              </a:spcAft>
            </a:pPr>
            <a:r>
              <a:rPr sz="1000" b="0" i="1">
                <a:solidFill>
                  <a:srgbClr val="C9D4EF"/>
                </a:solidFill>
                <a:latin typeface="Calibri"/>
              </a:rPr>
              <a:t>useful and beautiful</a:t>
            </a:r>
          </a:p>
        </p:txBody>
      </p:sp>
      <p:sp>
        <p:nvSpPr>
          <p:cNvPr id="12" name="TextBox 11"/>
          <p:cNvSpPr txBox="1"/>
          <p:nvPr/>
        </p:nvSpPr>
        <p:spPr>
          <a:xfrm>
            <a:off x="4425696"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4645152"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00016"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Usefulness</a:t>
            </a:r>
          </a:p>
          <a:p>
            <a:pPr algn="ctr">
              <a:spcAft>
                <a:spcPts val="0"/>
              </a:spcAft>
            </a:pPr>
            <a:r>
              <a:rPr sz="1000" b="0" i="1">
                <a:solidFill>
                  <a:srgbClr val="C9D4EF"/>
                </a:solidFill>
                <a:latin typeface="Calibri"/>
              </a:rPr>
              <a:t>what it fulfils</a:t>
            </a:r>
          </a:p>
        </p:txBody>
      </p:sp>
      <p:sp>
        <p:nvSpPr>
          <p:cNvPr id="15" name="TextBox 14"/>
          <p:cNvSpPr txBox="1"/>
          <p:nvPr/>
        </p:nvSpPr>
        <p:spPr>
          <a:xfrm>
            <a:off x="6428232" y="1444752"/>
            <a:ext cx="219456"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6" name="Rounded Rectangle 15"/>
          <p:cNvSpPr/>
          <p:nvPr/>
        </p:nvSpPr>
        <p:spPr>
          <a:xfrm>
            <a:off x="6647688" y="1298448"/>
            <a:ext cx="1783080"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1298448"/>
            <a:ext cx="1673352" cy="658368"/>
          </a:xfrm>
          <a:prstGeom prst="rect">
            <a:avLst/>
          </a:prstGeom>
          <a:noFill/>
        </p:spPr>
        <p:txBody>
          <a:bodyPr wrap="square" lIns="0" rIns="0" tIns="0" bIns="0" anchor="ctr">
            <a:spAutoFit/>
          </a:bodyPr>
          <a:lstStyle/>
          <a:p>
            <a:pPr algn="ctr">
              <a:spcAft>
                <a:spcPts val="0"/>
              </a:spcAft>
            </a:pPr>
            <a:r>
              <a:rPr sz="1250" b="1" i="0">
                <a:solidFill>
                  <a:srgbClr val="FFFFFF"/>
                </a:solidFill>
                <a:latin typeface="Cambria"/>
              </a:rPr>
              <a:t>Valuation</a:t>
            </a:r>
          </a:p>
          <a:p>
            <a:pPr algn="ctr">
              <a:spcAft>
                <a:spcPts val="0"/>
              </a:spcAft>
            </a:pPr>
            <a:r>
              <a:rPr sz="1000" b="0" i="1">
                <a:solidFill>
                  <a:srgbClr val="C9D4EF"/>
                </a:solidFill>
                <a:latin typeface="Calibri"/>
              </a:rPr>
              <a:t>by labour, not symbol</a:t>
            </a:r>
          </a:p>
        </p:txBody>
      </p:sp>
      <p:sp>
        <p:nvSpPr>
          <p:cNvPr id="18" name="Rounded Rectangle 17"/>
          <p:cNvSpPr/>
          <p:nvPr/>
        </p:nvSpPr>
        <p:spPr>
          <a:xfrm>
            <a:off x="640080"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59"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Value is participation</a:t>
            </a:r>
          </a:p>
        </p:txBody>
      </p:sp>
      <p:sp>
        <p:nvSpPr>
          <p:cNvPr id="20" name="TextBox 19"/>
          <p:cNvSpPr txBox="1"/>
          <p:nvPr/>
        </p:nvSpPr>
        <p:spPr>
          <a:xfrm>
            <a:off x="822959" y="2651759"/>
            <a:ext cx="2130552"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value of a thing is what it fulfils in the order of the whole: nourishment, protection, social participation.</a:t>
            </a:r>
          </a:p>
        </p:txBody>
      </p:sp>
      <p:sp>
        <p:nvSpPr>
          <p:cNvPr id="21" name="Rounded Rectangle 20"/>
          <p:cNvSpPr/>
          <p:nvPr/>
        </p:nvSpPr>
        <p:spPr>
          <a:xfrm>
            <a:off x="3328416" y="2212848"/>
            <a:ext cx="2496312" cy="16002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11296" y="2331720"/>
            <a:ext cx="2130552"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Measured for exchange</a:t>
            </a:r>
          </a:p>
        </p:txBody>
      </p:sp>
      <p:sp>
        <p:nvSpPr>
          <p:cNvPr id="23" name="TextBox 22"/>
          <p:cNvSpPr txBox="1"/>
          <p:nvPr/>
        </p:nvSpPr>
        <p:spPr>
          <a:xfrm>
            <a:off x="3511296" y="2651759"/>
            <a:ext cx="2130552" cy="105156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Skill, proficiency, speed, time and means; a common value from the range of yields. Inside the family, no weighing.</a:t>
            </a:r>
          </a:p>
        </p:txBody>
      </p:sp>
      <p:sp>
        <p:nvSpPr>
          <p:cNvPr id="24" name="Rounded Rectangle 23"/>
          <p:cNvSpPr/>
          <p:nvPr/>
        </p:nvSpPr>
        <p:spPr>
          <a:xfrm>
            <a:off x="6016752" y="2212848"/>
            <a:ext cx="2487168" cy="16002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99632" y="2331720"/>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Honoured in policy</a:t>
            </a:r>
          </a:p>
        </p:txBody>
      </p:sp>
      <p:sp>
        <p:nvSpPr>
          <p:cNvPr id="26" name="TextBox 25"/>
          <p:cNvSpPr txBox="1"/>
          <p:nvPr/>
        </p:nvSpPr>
        <p:spPr>
          <a:xfrm>
            <a:off x="6199632" y="2651759"/>
            <a:ext cx="2121408" cy="105156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Honour by capacity, ability and receptivity; no exploitation of the fruits of labour.</a:t>
            </a:r>
          </a:p>
        </p:txBody>
      </p:sp>
      <p:sp>
        <p:nvSpPr>
          <p:cNvPr id="27" name="TextBox 26"/>
          <p:cNvSpPr txBox="1"/>
          <p:nvPr/>
        </p:nvSpPr>
        <p:spPr>
          <a:xfrm>
            <a:off x="640080" y="40233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To give labour its true value is to value it by the usefulness it establishes, not by the currency it can command.</a:t>
            </a:r>
          </a:p>
        </p:txBody>
      </p:sp>
      <p:sp>
        <p:nvSpPr>
          <p:cNvPr id="28" name="TextBox 27"/>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49, 66, 112, 119–120, 143, 145  ·  MVD pp. 265–268  ·  Axiology §§1.1, 1.5–1.6  ·  AnalyticMadhyasthDarshan.org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CHARACTER &amp; SERVICE  ·  §§3.7–3.8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Righteous Wealth and Care</a:t>
            </a:r>
          </a:p>
        </p:txBody>
      </p:sp>
      <p:sp>
        <p:nvSpPr>
          <p:cNvPr id="7" name="Rounded Rectangle 6"/>
          <p:cNvSpPr/>
          <p:nvPr/>
        </p:nvSpPr>
        <p:spPr>
          <a:xfrm>
            <a:off x="64008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Righteous wealth (svadhan)</a:t>
            </a:r>
          </a:p>
        </p:txBody>
      </p:sp>
      <p:sp>
        <p:nvSpPr>
          <p:cNvPr id="9" name="TextBox 8"/>
          <p:cNvSpPr txBox="1"/>
          <p:nvPr/>
        </p:nvSpPr>
        <p:spPr>
          <a:xfrm>
            <a:off x="822959"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Received as remuneration of one's own labour, as a gift, or as an award. Ill-gotten wealth, through exploitation and hypocrisy, is crime.</a:t>
            </a:r>
          </a:p>
        </p:txBody>
      </p:sp>
      <p:sp>
        <p:nvSpPr>
          <p:cNvPr id="10" name="Rounded Rectangle 9"/>
          <p:cNvSpPr/>
          <p:nvPr/>
        </p:nvSpPr>
        <p:spPr>
          <a:xfrm>
            <a:off x="4663440" y="12801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Three motives &amp; responsibility</a:t>
            </a:r>
          </a:p>
        </p:txBody>
      </p:sp>
      <p:sp>
        <p:nvSpPr>
          <p:cNvPr id="12" name="TextBox 11"/>
          <p:cNvSpPr txBox="1"/>
          <p:nvPr/>
        </p:nvSpPr>
        <p:spPr>
          <a:xfrm>
            <a:off x="4846320" y="1719072"/>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Progeny, wealth and public welfare are humane motives, with public welfare highest; responsibility covers doing, commissioning and consenting.</a:t>
            </a:r>
          </a:p>
        </p:txBody>
      </p:sp>
      <p:sp>
        <p:nvSpPr>
          <p:cNvPr id="13" name="Rounded Rectangle 12"/>
          <p:cNvSpPr/>
          <p:nvPr/>
        </p:nvSpPr>
        <p:spPr>
          <a:xfrm>
            <a:off x="64008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5351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Generosity &amp; benevolence (upkar)</a:t>
            </a:r>
          </a:p>
        </p:txBody>
      </p:sp>
      <p:sp>
        <p:nvSpPr>
          <p:cNvPr id="15" name="TextBox 14"/>
          <p:cNvSpPr txBox="1"/>
          <p:nvPr/>
        </p:nvSpPr>
        <p:spPr>
          <a:xfrm>
            <a:off x="822959" y="3273551"/>
            <a:ext cx="3474720" cy="7772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From family abundance arises benevolence (upkar), directing surplus into right use in society rather than accumulation.</a:t>
            </a:r>
          </a:p>
        </p:txBody>
      </p:sp>
      <p:sp>
        <p:nvSpPr>
          <p:cNvPr id="16" name="Rounded Rectangle 15"/>
          <p:cNvSpPr/>
          <p:nvPr/>
        </p:nvSpPr>
        <p:spPr>
          <a:xfrm>
            <a:off x="4663440" y="2834640"/>
            <a:ext cx="3840480" cy="13258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53512"/>
            <a:ext cx="3474720" cy="274320"/>
          </a:xfrm>
          <a:prstGeom prst="rect">
            <a:avLst/>
          </a:prstGeom>
          <a:noFill/>
        </p:spPr>
        <p:txBody>
          <a:bodyPr wrap="square" lIns="0" rIns="0" tIns="0" bIns="0" anchor="ctr">
            <a:noAutofit/>
          </a:bodyPr>
          <a:lstStyle/>
          <a:p>
            <a:pPr>
              <a:spcAft>
                <a:spcPts val="0"/>
              </a:spcAft>
            </a:pPr>
            <a:r>
              <a:rPr sz="1300" b="1" i="0">
                <a:solidFill>
                  <a:srgbClr val="9A6414"/>
                </a:solidFill>
                <a:latin typeface="Cambria"/>
              </a:rPr>
              <a:t>Two forms of service (seva)</a:t>
            </a:r>
          </a:p>
        </p:txBody>
      </p:sp>
      <p:sp>
        <p:nvSpPr>
          <p:cNvPr id="18" name="TextBox 17"/>
          <p:cNvSpPr txBox="1"/>
          <p:nvPr/>
        </p:nvSpPr>
        <p:spPr>
          <a:xfrm>
            <a:off x="4846320" y="3273551"/>
            <a:ext cx="3474720" cy="77723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Upkar-pradhan (teaching, healing, councils) is sustained by the prosperous family; pratiphal-pradhan (repair, upkeep) earns reserve credit.</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Once a family is prosperous, benevolence directs its surplus into right use rather than accumulation.</a:t>
            </a:r>
          </a:p>
        </p:txBody>
      </p:sp>
      <p:sp>
        <p:nvSpPr>
          <p:cNvPr id="20" name="TextBox 19"/>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AA pp. 1, 22–24, 54, 101–102, 136–138, 140  ·  MVD pp. 59, 72, 263, 267, 318–320, 339  ·  KD pp. 1–2, 115–117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NATURE'S BALANCE  ·  §3.9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Production Within Nature's Balance</a:t>
            </a:r>
          </a:p>
        </p:txBody>
      </p:sp>
      <p:sp>
        <p:nvSpPr>
          <p:cNvPr id="7" name="Rectangle 6"/>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19"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Lawful</a:t>
            </a:r>
          </a:p>
        </p:txBody>
      </p:sp>
      <p:sp>
        <p:nvSpPr>
          <p:cNvPr id="9" name="TextBox 8"/>
          <p:cNvSpPr txBox="1"/>
          <p:nvPr/>
        </p:nvSpPr>
        <p:spPr>
          <a:xfrm>
            <a:off x="4663440" y="1280160"/>
            <a:ext cx="3794759"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Unlawful</a:t>
            </a:r>
          </a:p>
        </p:txBody>
      </p:sp>
      <p:sp>
        <p:nvSpPr>
          <p:cNvPr id="10" name="Rectangle 9"/>
          <p:cNvSpPr/>
          <p:nvPr/>
        </p:nvSpPr>
        <p:spPr>
          <a:xfrm>
            <a:off x="640080" y="15727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208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19" y="1600200"/>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Using minerals and forests in proportion to their regeneration</a:t>
            </a:r>
          </a:p>
        </p:txBody>
      </p:sp>
      <p:sp>
        <p:nvSpPr>
          <p:cNvPr id="13" name="TextBox 12"/>
          <p:cNvSpPr txBox="1"/>
          <p:nvPr/>
        </p:nvSpPr>
        <p:spPr>
          <a:xfrm>
            <a:off x="4663440" y="1600200"/>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Spending natural abundance beyond its regeneration</a:t>
            </a:r>
          </a:p>
        </p:txBody>
      </p:sp>
      <p:sp>
        <p:nvSpPr>
          <p:cNvPr id="14" name="Rectangle 13"/>
          <p:cNvSpPr/>
          <p:nvPr/>
        </p:nvSpPr>
        <p:spPr>
          <a:xfrm>
            <a:off x="640080" y="24780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20573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Being complementary in the balance of natural abundance</a:t>
            </a:r>
          </a:p>
        </p:txBody>
      </p:sp>
      <p:sp>
        <p:nvSpPr>
          <p:cNvPr id="16" name="TextBox 15"/>
          <p:cNvSpPr txBox="1"/>
          <p:nvPr/>
        </p:nvSpPr>
        <p:spPr>
          <a:xfrm>
            <a:off x="4663440" y="20573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Disproportionate extraction and destruction of the earth</a:t>
            </a:r>
          </a:p>
        </p:txBody>
      </p:sp>
      <p:sp>
        <p:nvSpPr>
          <p:cNvPr id="17" name="Rectangle 16"/>
          <p:cNvSpPr/>
          <p:nvPr/>
        </p:nvSpPr>
        <p:spPr>
          <a:xfrm>
            <a:off x="640080" y="2487168"/>
            <a:ext cx="7863840" cy="45720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 y="293522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514599"/>
            <a:ext cx="3767328" cy="402336"/>
          </a:xfrm>
          <a:prstGeom prst="rect">
            <a:avLst/>
          </a:prstGeom>
          <a:noFill/>
        </p:spPr>
        <p:txBody>
          <a:bodyPr wrap="square" lIns="0" rIns="0" tIns="0" bIns="0" anchor="ctr">
            <a:spAutoFit/>
          </a:bodyPr>
          <a:lstStyle/>
          <a:p>
            <a:pPr>
              <a:spcAft>
                <a:spcPts val="0"/>
              </a:spcAft>
            </a:pPr>
            <a:r>
              <a:rPr sz="1100" b="0" i="0">
                <a:solidFill>
                  <a:srgbClr val="1E2447"/>
                </a:solidFill>
                <a:latin typeface="Calibri"/>
              </a:rPr>
              <a:t>Maintaining circularity in natural abundance</a:t>
            </a:r>
          </a:p>
        </p:txBody>
      </p:sp>
      <p:sp>
        <p:nvSpPr>
          <p:cNvPr id="20" name="TextBox 19"/>
          <p:cNvSpPr txBox="1"/>
          <p:nvPr/>
        </p:nvSpPr>
        <p:spPr>
          <a:xfrm>
            <a:off x="4663440" y="2514599"/>
            <a:ext cx="3767328" cy="402336"/>
          </a:xfrm>
          <a:prstGeom prst="rect">
            <a:avLst/>
          </a:prstGeom>
          <a:noFill/>
        </p:spPr>
        <p:txBody>
          <a:bodyPr wrap="square" lIns="0" rIns="0" tIns="0" bIns="0" anchor="ctr">
            <a:spAutoFit/>
          </a:bodyPr>
          <a:lstStyle/>
          <a:p>
            <a:pPr>
              <a:spcAft>
                <a:spcPts val="0"/>
              </a:spcAft>
            </a:pPr>
            <a:r>
              <a:rPr sz="1050" b="0" i="0">
                <a:solidFill>
                  <a:srgbClr val="5A6377"/>
                </a:solidFill>
                <a:latin typeface="Calibri"/>
              </a:rPr>
              <a:t>Obstructing nature's cycles; exploiting non-renewables</a:t>
            </a:r>
          </a:p>
        </p:txBody>
      </p:sp>
      <p:sp>
        <p:nvSpPr>
          <p:cNvPr id="21" name="Rounded Rectangle 20"/>
          <p:cNvSpPr/>
          <p:nvPr/>
        </p:nvSpPr>
        <p:spPr>
          <a:xfrm>
            <a:off x="64008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Cyclical energy</a:t>
            </a:r>
          </a:p>
        </p:txBody>
      </p:sp>
      <p:sp>
        <p:nvSpPr>
          <p:cNvPr id="23" name="TextBox 22"/>
          <p:cNvSpPr txBox="1"/>
          <p:nvPr/>
        </p:nvSpPr>
        <p:spPr>
          <a:xfrm>
            <a:off x="822959"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Flowing and falling water, wind, solar heat, dung gas; vegetable oil from roadside trees, its smoke food for trees.</a:t>
            </a:r>
          </a:p>
        </p:txBody>
      </p:sp>
      <p:sp>
        <p:nvSpPr>
          <p:cNvPr id="24" name="Rounded Rectangle 23"/>
          <p:cNvSpPr/>
          <p:nvPr/>
        </p:nvSpPr>
        <p:spPr>
          <a:xfrm>
            <a:off x="4663440" y="3017520"/>
            <a:ext cx="3840480" cy="11887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46320" y="3136391"/>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Production vs. extraction</a:t>
            </a:r>
          </a:p>
        </p:txBody>
      </p:sp>
      <p:sp>
        <p:nvSpPr>
          <p:cNvPr id="26" name="TextBox 25"/>
          <p:cNvSpPr txBox="1"/>
          <p:nvPr/>
        </p:nvSpPr>
        <p:spPr>
          <a:xfrm>
            <a:off x="4846320" y="3456431"/>
            <a:ext cx="3474720" cy="6400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Production is cyclical and leaves earth's balance undisturbed; digging coal and oil is extraction, not production.</a:t>
            </a:r>
          </a:p>
        </p:txBody>
      </p:sp>
      <p:sp>
        <p:nvSpPr>
          <p:cNvPr id="27" name="TextBox 26"/>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pp. 263–264  ·  AA pp. 31–33, 78, 92, 106–107, 114, 142, 146  ·  KD p. 7  ·  AnalyticMadhyasthDarshan.org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SKILL AND TECHNIQUE  ·  §§3.10–3.11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Skills, Machines, and Participation</a:t>
            </a:r>
          </a:p>
        </p:txBody>
      </p:sp>
      <p:sp>
        <p:nvSpPr>
          <p:cNvPr id="7" name="Rounded Rectangle 6"/>
          <p:cNvSpPr/>
          <p:nvPr/>
        </p:nvSpPr>
        <p:spPr>
          <a:xfrm>
            <a:off x="64008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noAutofit/>
          </a:bodyPr>
          <a:lstStyle/>
          <a:p>
            <a:pPr>
              <a:spcAft>
                <a:spcPts val="0"/>
              </a:spcAft>
            </a:pPr>
            <a:r>
              <a:rPr sz="1300" b="1" i="0">
                <a:solidFill>
                  <a:srgbClr val="1E2447"/>
                </a:solidFill>
                <a:latin typeface="Cambria"/>
              </a:rPr>
              <a:t>Honoured invention &amp; open skills</a:t>
            </a:r>
          </a:p>
        </p:txBody>
      </p:sp>
      <p:sp>
        <p:nvSpPr>
          <p:cNvPr id="9" name="TextBox 8"/>
          <p:cNvSpPr txBox="1"/>
          <p:nvPr/>
        </p:nvSpPr>
        <p:spPr>
          <a:xfrm>
            <a:off x="822959" y="1719072"/>
            <a:ext cx="3474720" cy="685800"/>
          </a:xfrm>
          <a:prstGeom prst="rect">
            <a:avLst/>
          </a:prstGeom>
          <a:noFill/>
        </p:spPr>
        <p:txBody>
          <a:bodyPr wrap="square" lIns="0" rIns="0" tIns="0" bIns="0" anchor="t">
            <a:noAutofit/>
          </a:bodyPr>
          <a:lstStyle/>
          <a:p>
            <a:pPr>
              <a:spcAft>
                <a:spcPts val="0"/>
              </a:spcAft>
            </a:pPr>
            <a:r>
              <a:rPr sz="1150" b="0" i="0">
                <a:solidFill>
                  <a:srgbClr val="5A6377"/>
                </a:solidFill>
                <a:latin typeface="Calibri"/>
              </a:rPr>
              <a:t>Original tools and methods are recorded and honoured with prizes (puraskar), then taught openly without patents.</a:t>
            </a:r>
          </a:p>
        </p:txBody>
      </p:sp>
      <p:sp>
        <p:nvSpPr>
          <p:cNvPr id="10" name="Rounded Rectangle 9"/>
          <p:cNvSpPr/>
          <p:nvPr/>
        </p:nvSpPr>
        <p:spPr>
          <a:xfrm>
            <a:off x="4663440" y="1280160"/>
            <a:ext cx="3840480" cy="12344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displaced producers</a:t>
            </a:r>
          </a:p>
        </p:txBody>
      </p:sp>
      <p:sp>
        <p:nvSpPr>
          <p:cNvPr id="12" name="TextBox 11"/>
          <p:cNvSpPr txBox="1"/>
          <p:nvPr/>
        </p:nvSpPr>
        <p:spPr>
          <a:xfrm>
            <a:off x="4846320" y="1719072"/>
            <a:ext cx="3474720" cy="6858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Automatic production and centralised industry, resting on capital and bought labour power.</a:t>
            </a:r>
          </a:p>
        </p:txBody>
      </p:sp>
      <p:sp>
        <p:nvSpPr>
          <p:cNvPr id="13" name="Rounded Rectangle 12"/>
          <p:cNvSpPr/>
          <p:nvPr/>
        </p:nvSpPr>
        <p:spPr>
          <a:xfrm>
            <a:off x="640080" y="2697480"/>
            <a:ext cx="7863840" cy="14173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807208"/>
            <a:ext cx="740664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The darshan's criterion for technique</a:t>
            </a:r>
          </a:p>
        </p:txBody>
      </p:sp>
      <p:sp>
        <p:nvSpPr>
          <p:cNvPr id="15" name="Oval 14"/>
          <p:cNvSpPr/>
          <p:nvPr/>
        </p:nvSpPr>
        <p:spPr>
          <a:xfrm>
            <a:off x="914400" y="3246120"/>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316382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Increase the usefulness that labour establishes</a:t>
            </a:r>
          </a:p>
        </p:txBody>
      </p:sp>
      <p:sp>
        <p:nvSpPr>
          <p:cNvPr id="17" name="Oval 16"/>
          <p:cNvSpPr/>
          <p:nvPr/>
        </p:nvSpPr>
        <p:spPr>
          <a:xfrm>
            <a:off x="914400" y="352043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9848" y="3438144"/>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Reduce the time production takes</a:t>
            </a:r>
          </a:p>
        </p:txBody>
      </p:sp>
      <p:sp>
        <p:nvSpPr>
          <p:cNvPr id="19" name="Oval 18"/>
          <p:cNvSpPr/>
          <p:nvPr/>
        </p:nvSpPr>
        <p:spPr>
          <a:xfrm>
            <a:off x="914400" y="3794759"/>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3712463"/>
            <a:ext cx="7223760" cy="256032"/>
          </a:xfrm>
          <a:prstGeom prst="rect">
            <a:avLst/>
          </a:prstGeom>
          <a:noFill/>
        </p:spPr>
        <p:txBody>
          <a:bodyPr wrap="square" lIns="0" rIns="0" tIns="0" bIns="0" anchor="ctr">
            <a:spAutoFit/>
          </a:bodyPr>
          <a:lstStyle/>
          <a:p>
            <a:pPr>
              <a:spcAft>
                <a:spcPts val="0"/>
              </a:spcAft>
            </a:pPr>
            <a:r>
              <a:rPr sz="1150" b="1" i="0">
                <a:solidFill>
                  <a:srgbClr val="5A6377"/>
                </a:solidFill>
                <a:latin typeface="Calibri"/>
              </a:rPr>
              <a:t>Keep every person a participant in production, by capacity, receptivity and ability</a:t>
            </a:r>
          </a:p>
        </p:txBody>
      </p:sp>
      <p:sp>
        <p:nvSpPr>
          <p:cNvPr id="21" name="TextBox 20"/>
          <p:cNvSpPr txBox="1"/>
          <p:nvPr/>
        </p:nvSpPr>
        <p:spPr>
          <a:xfrm>
            <a:off x="640080" y="425196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every member of every family produces, poverty and the trap of accumulation are left behind together.</a:t>
            </a:r>
          </a:p>
        </p:txBody>
      </p:sp>
      <p:sp>
        <p:nvSpPr>
          <p:cNvPr id="22" name="TextBox 21"/>
          <p:cNvSpPr txBox="1"/>
          <p:nvPr/>
        </p:nvSpPr>
        <p:spPr>
          <a:xfrm>
            <a:off x="502920" y="4828032"/>
            <a:ext cx="8138160" cy="256032"/>
          </a:xfrm>
          <a:prstGeom prst="rect">
            <a:avLst/>
          </a:prstGeom>
          <a:noFill/>
        </p:spPr>
        <p:txBody>
          <a:bodyPr wrap="square" lIns="0" rIns="0" tIns="0" bIns="0" anchor="ctr">
            <a:noAutofit/>
          </a:bodyPr>
          <a:lstStyle/>
          <a:p>
            <a:pPr>
              <a:spcAft>
                <a:spcPts val="0"/>
              </a:spcAft>
            </a:pPr>
            <a:r>
              <a:rPr sz="950" b="0" i="1">
                <a:solidFill>
                  <a:srgbClr val="5A6377"/>
                </a:solidFill>
                <a:latin typeface="Calibri"/>
              </a:rPr>
              <a:t>SB p. 267  ·  AA pp. 29, 47, 56–58, 107, 118, 131, 140, 144  ·  JV pp. 88–89  ·  JVD pp. 35, 216  ·  MVD p. 265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ORDERLINESS  ·  §§3.12–3.13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Economy Within Orderliness</a:t>
            </a:r>
          </a:p>
        </p:txBody>
      </p:sp>
      <p:sp>
        <p:nvSpPr>
          <p:cNvPr id="7" name="Rounded Rectangle 6"/>
          <p:cNvSpPr/>
          <p:nvPr/>
        </p:nvSpPr>
        <p:spPr>
          <a:xfrm>
            <a:off x="6400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Education-sanskar</a:t>
            </a:r>
          </a:p>
          <a:p>
            <a:pPr algn="ctr">
              <a:spcAft>
                <a:spcPts val="0"/>
              </a:spcAft>
            </a:pPr>
            <a:r>
              <a:rPr sz="950" b="0" i="1">
                <a:solidFill>
                  <a:srgbClr val="C9D4EF"/>
                </a:solidFill>
                <a:latin typeface="Calibri"/>
              </a:rPr>
              <a:t>understanding</a:t>
            </a:r>
          </a:p>
        </p:txBody>
      </p:sp>
      <p:sp>
        <p:nvSpPr>
          <p:cNvPr id="9" name="Rounded Rectangle 8"/>
          <p:cNvSpPr/>
          <p:nvPr/>
        </p:nvSpPr>
        <p:spPr>
          <a:xfrm>
            <a:off x="22402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Health-restraint</a:t>
            </a:r>
          </a:p>
          <a:p>
            <a:pPr algn="ctr">
              <a:spcAft>
                <a:spcPts val="0"/>
              </a:spcAft>
            </a:pPr>
            <a:r>
              <a:rPr sz="950" b="0" i="1">
                <a:solidFill>
                  <a:srgbClr val="C9D4EF"/>
                </a:solidFill>
                <a:latin typeface="Calibri"/>
              </a:rPr>
              <a:t>balanced expression</a:t>
            </a:r>
          </a:p>
        </p:txBody>
      </p:sp>
      <p:sp>
        <p:nvSpPr>
          <p:cNvPr id="11" name="Rounded Rectangle 10"/>
          <p:cNvSpPr/>
          <p:nvPr/>
        </p:nvSpPr>
        <p:spPr>
          <a:xfrm>
            <a:off x="38404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8953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Justice-security</a:t>
            </a:r>
          </a:p>
          <a:p>
            <a:pPr algn="ctr">
              <a:spcAft>
                <a:spcPts val="0"/>
              </a:spcAft>
            </a:pPr>
            <a:r>
              <a:rPr sz="950" b="0" i="1">
                <a:solidFill>
                  <a:srgbClr val="C9D4EF"/>
                </a:solidFill>
                <a:latin typeface="Calibri"/>
              </a:rPr>
              <a:t>honesty</a:t>
            </a:r>
          </a:p>
        </p:txBody>
      </p:sp>
      <p:sp>
        <p:nvSpPr>
          <p:cNvPr id="13" name="Rounded Rectangle 12"/>
          <p:cNvSpPr/>
          <p:nvPr/>
        </p:nvSpPr>
        <p:spPr>
          <a:xfrm>
            <a:off x="54406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955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Production</a:t>
            </a:r>
          </a:p>
          <a:p>
            <a:pPr algn="ctr">
              <a:spcAft>
                <a:spcPts val="0"/>
              </a:spcAft>
            </a:pPr>
            <a:r>
              <a:rPr sz="950" b="0" i="1">
                <a:solidFill>
                  <a:srgbClr val="C9D4EF"/>
                </a:solidFill>
                <a:latin typeface="Calibri"/>
              </a:rPr>
              <a:t>prosperity</a:t>
            </a:r>
          </a:p>
        </p:txBody>
      </p:sp>
      <p:sp>
        <p:nvSpPr>
          <p:cNvPr id="15" name="Rounded Rectangle 14"/>
          <p:cNvSpPr/>
          <p:nvPr/>
        </p:nvSpPr>
        <p:spPr>
          <a:xfrm>
            <a:off x="7040880" y="1298448"/>
            <a:ext cx="1444752" cy="658368"/>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95744" y="1298448"/>
            <a:ext cx="1335024" cy="658368"/>
          </a:xfrm>
          <a:prstGeom prst="rect">
            <a:avLst/>
          </a:prstGeom>
          <a:noFill/>
        </p:spPr>
        <p:txBody>
          <a:bodyPr wrap="square" lIns="0" rIns="0" tIns="0" bIns="0" anchor="ctr">
            <a:spAutoFit/>
          </a:bodyPr>
          <a:lstStyle/>
          <a:p>
            <a:pPr algn="ctr">
              <a:spcAft>
                <a:spcPts val="0"/>
              </a:spcAft>
            </a:pPr>
            <a:r>
              <a:rPr sz="1100" b="1" i="0">
                <a:solidFill>
                  <a:srgbClr val="FFFFFF"/>
                </a:solidFill>
                <a:latin typeface="Cambria"/>
              </a:rPr>
              <a:t>Exchange-reserve</a:t>
            </a:r>
          </a:p>
          <a:p>
            <a:pPr algn="ctr">
              <a:spcAft>
                <a:spcPts val="0"/>
              </a:spcAft>
            </a:pPr>
            <a:r>
              <a:rPr sz="950" b="0" i="1">
                <a:solidFill>
                  <a:srgbClr val="C9D4EF"/>
                </a:solidFill>
                <a:latin typeface="Calibri"/>
              </a:rPr>
              <a:t>balance</a:t>
            </a:r>
          </a:p>
        </p:txBody>
      </p:sp>
      <p:sp>
        <p:nvSpPr>
          <p:cNvPr id="17" name="Rounded Rectangle 16"/>
          <p:cNvSpPr/>
          <p:nvPr/>
        </p:nvSpPr>
        <p:spPr>
          <a:xfrm>
            <a:off x="640080" y="2194560"/>
            <a:ext cx="3840480" cy="137160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59" y="23134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Fearless ten-tier order at Earth scale</a:t>
            </a:r>
          </a:p>
        </p:txBody>
      </p:sp>
      <p:sp>
        <p:nvSpPr>
          <p:cNvPr id="19" name="TextBox 18"/>
          <p:cNvSpPr txBox="1"/>
          <p:nvPr/>
        </p:nvSpPr>
        <p:spPr>
          <a:xfrm>
            <a:off x="822959" y="2633471"/>
            <a:ext cx="3474720" cy="822959"/>
          </a:xfrm>
          <a:prstGeom prst="rect">
            <a:avLst/>
          </a:prstGeom>
          <a:noFill/>
        </p:spPr>
        <p:txBody>
          <a:bodyPr wrap="square" lIns="0" rIns="0" tIns="0" bIns="0" anchor="t">
            <a:noAutofit/>
          </a:bodyPr>
          <a:lstStyle/>
          <a:p>
            <a:pPr>
              <a:spcAft>
                <a:spcPts val="0"/>
              </a:spcAft>
            </a:pPr>
            <a:r>
              <a:rPr sz="1150" b="0" i="0">
                <a:solidFill>
                  <a:srgbClr val="5A6377"/>
                </a:solidFill>
                <a:latin typeface="Calibri"/>
              </a:rPr>
              <a:t>From the 10-member family and 100-family village (9 branches) to the Tier-10 World Family Council: fearless self-governance across the Earth.</a:t>
            </a:r>
          </a:p>
        </p:txBody>
      </p:sp>
      <p:sp>
        <p:nvSpPr>
          <p:cNvPr id="20" name="Rounded Rectangle 19"/>
          <p:cNvSpPr/>
          <p:nvPr/>
        </p:nvSpPr>
        <p:spPr>
          <a:xfrm>
            <a:off x="4663440" y="2194560"/>
            <a:ext cx="3840480" cy="137160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23134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Six securities</a:t>
            </a:r>
          </a:p>
        </p:txBody>
      </p:sp>
      <p:sp>
        <p:nvSpPr>
          <p:cNvPr id="22" name="TextBox 21"/>
          <p:cNvSpPr txBox="1"/>
          <p:nvPr/>
        </p:nvSpPr>
        <p:spPr>
          <a:xfrm>
            <a:off x="4846320" y="2633471"/>
            <a:ext cx="3474720" cy="82295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National, economic, production, exchange, education and ethical. Exchange between nations too at labour value, free of profit and loss.</a:t>
            </a:r>
          </a:p>
        </p:txBody>
      </p:sp>
      <p:sp>
        <p:nvSpPr>
          <p:cNvPr id="23" name="TextBox 22"/>
          <p:cNvSpPr txBox="1"/>
          <p:nvPr/>
        </p:nvSpPr>
        <p:spPr>
          <a:xfrm>
            <a:off x="640080" y="3749039"/>
            <a:ext cx="7863840" cy="329184"/>
          </a:xfrm>
          <a:prstGeom prst="rect">
            <a:avLst/>
          </a:prstGeom>
          <a:noFill/>
        </p:spPr>
        <p:txBody>
          <a:bodyPr wrap="square" lIns="0" rIns="0" tIns="0" bIns="0" anchor="ctr">
            <a:spAutoFit/>
          </a:bodyPr>
          <a:lstStyle/>
          <a:p>
            <a:pPr>
              <a:spcAft>
                <a:spcPts val="0"/>
              </a:spcAft>
            </a:pPr>
            <a:r>
              <a:rPr sz="1200" b="0" i="1">
                <a:solidFill>
                  <a:srgbClr val="1E2447"/>
                </a:solidFill>
                <a:latin typeface="Calibri"/>
              </a:rPr>
              <a:t>Economics in isolation has no definition or standing.</a:t>
            </a:r>
          </a:p>
        </p:txBody>
      </p:sp>
      <p:sp>
        <p:nvSpPr>
          <p:cNvPr id="24" name="TextBox 23"/>
          <p:cNvSpPr txBox="1"/>
          <p:nvPr/>
        </p:nvSpPr>
        <p:spPr>
          <a:xfrm>
            <a:off x="640080" y="4069080"/>
            <a:ext cx="7863840" cy="457200"/>
          </a:xfrm>
          <a:prstGeom prst="rect">
            <a:avLst/>
          </a:prstGeom>
          <a:noFill/>
        </p:spPr>
        <p:txBody>
          <a:bodyPr wrap="square" lIns="0" rIns="0" tIns="0" bIns="0" anchor="ctr">
            <a:spAutoFit/>
          </a:bodyPr>
          <a:lstStyle/>
          <a:p>
            <a:pPr>
              <a:spcAft>
                <a:spcPts val="0"/>
              </a:spcAft>
            </a:pPr>
            <a:r>
              <a:rPr sz="1100" b="0" i="0">
                <a:solidFill>
                  <a:srgbClr val="5A6377"/>
                </a:solidFill>
                <a:latin typeface="Calibri"/>
              </a:rPr>
              <a:t>Protection is state policy; right use is moral policy; production beyond the family's needs is economic policy.</a:t>
            </a:r>
          </a:p>
        </p:txBody>
      </p:sp>
      <p:sp>
        <p:nvSpPr>
          <p:cNvPr id="25" name="TextBox 2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27–30, 63, 104–105, 110–117, 127, 133–136  ·  MVD pp. 233, 259, 264–271  ·  KD p. 67  ·  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III  ·  TRANSITION  ·  §3.14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The Path of Transition</a:t>
            </a:r>
          </a:p>
        </p:txBody>
      </p:sp>
      <p:sp>
        <p:nvSpPr>
          <p:cNvPr id="7" name="Rounded Rectangle 6"/>
          <p:cNvSpPr/>
          <p:nvPr/>
        </p:nvSpPr>
        <p:spPr>
          <a:xfrm>
            <a:off x="64008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1</a:t>
            </a:r>
          </a:p>
          <a:p>
            <a:pPr algn="ctr">
              <a:spcAft>
                <a:spcPts val="0"/>
              </a:spcAft>
            </a:pPr>
            <a:r>
              <a:rPr sz="1050" b="0" i="1">
                <a:solidFill>
                  <a:srgbClr val="C9D4EF"/>
                </a:solidFill>
                <a:latin typeface="Calibri"/>
              </a:rPr>
              <a:t>labour valued through current prices</a:t>
            </a:r>
          </a:p>
        </p:txBody>
      </p:sp>
      <p:sp>
        <p:nvSpPr>
          <p:cNvPr id="9" name="TextBox 8"/>
          <p:cNvSpPr txBox="1"/>
          <p:nvPr/>
        </p:nvSpPr>
        <p:spPr>
          <a:xfrm>
            <a:off x="301752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0" name="Rounded Rectangle 9"/>
          <p:cNvSpPr/>
          <p:nvPr/>
        </p:nvSpPr>
        <p:spPr>
          <a:xfrm>
            <a:off x="333756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9242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2</a:t>
            </a:r>
          </a:p>
          <a:p>
            <a:pPr algn="ctr">
              <a:spcAft>
                <a:spcPts val="0"/>
              </a:spcAft>
            </a:pPr>
            <a:r>
              <a:rPr sz="1050" b="0" i="1">
                <a:solidFill>
                  <a:srgbClr val="C9D4EF"/>
                </a:solidFill>
                <a:latin typeface="Calibri"/>
              </a:rPr>
              <a:t>currency evaluated by labour</a:t>
            </a:r>
          </a:p>
        </p:txBody>
      </p:sp>
      <p:sp>
        <p:nvSpPr>
          <p:cNvPr id="12" name="TextBox 11"/>
          <p:cNvSpPr txBox="1"/>
          <p:nvPr/>
        </p:nvSpPr>
        <p:spPr>
          <a:xfrm>
            <a:off x="5715000" y="1463040"/>
            <a:ext cx="320040" cy="365760"/>
          </a:xfrm>
          <a:prstGeom prst="rect">
            <a:avLst/>
          </a:prstGeom>
          <a:noFill/>
        </p:spPr>
        <p:txBody>
          <a:bodyPr wrap="square" lIns="0" rIns="0" tIns="0" bIns="0" anchor="ctr">
            <a:spAutoFit/>
          </a:bodyPr>
          <a:lstStyle/>
          <a:p>
            <a:pPr algn="ctr">
              <a:spcAft>
                <a:spcPts val="0"/>
              </a:spcAft>
            </a:pPr>
            <a:r>
              <a:rPr sz="2000" b="1" i="0">
                <a:solidFill>
                  <a:srgbClr val="C9821E"/>
                </a:solidFill>
                <a:latin typeface="Calibri"/>
              </a:rPr>
              <a:t>›</a:t>
            </a:r>
          </a:p>
        </p:txBody>
      </p:sp>
      <p:sp>
        <p:nvSpPr>
          <p:cNvPr id="13" name="Rounded Rectangle 12"/>
          <p:cNvSpPr/>
          <p:nvPr/>
        </p:nvSpPr>
        <p:spPr>
          <a:xfrm>
            <a:off x="6035040" y="1298448"/>
            <a:ext cx="237744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89904" y="1298448"/>
            <a:ext cx="2267712" cy="713232"/>
          </a:xfrm>
          <a:prstGeom prst="rect">
            <a:avLst/>
          </a:prstGeom>
          <a:noFill/>
        </p:spPr>
        <p:txBody>
          <a:bodyPr wrap="square" lIns="0" rIns="0" tIns="0" bIns="0" anchor="ctr">
            <a:spAutoFit/>
          </a:bodyPr>
          <a:lstStyle/>
          <a:p>
            <a:pPr algn="ctr">
              <a:spcAft>
                <a:spcPts val="0"/>
              </a:spcAft>
            </a:pPr>
            <a:r>
              <a:rPr sz="1300" b="1" i="0">
                <a:solidFill>
                  <a:srgbClr val="FFFFFF"/>
                </a:solidFill>
                <a:latin typeface="Cambria"/>
              </a:rPr>
              <a:t>Stage 3</a:t>
            </a:r>
          </a:p>
          <a:p>
            <a:pPr algn="ctr">
              <a:spcAft>
                <a:spcPts val="0"/>
              </a:spcAft>
            </a:pPr>
            <a:r>
              <a:rPr sz="1050" b="0" i="1">
                <a:solidFill>
                  <a:srgbClr val="C9D4EF"/>
                </a:solidFill>
                <a:latin typeface="Calibri"/>
              </a:rPr>
              <a:t>exchange on labour value alone</a:t>
            </a:r>
          </a:p>
        </p:txBody>
      </p:sp>
      <p:sp>
        <p:nvSpPr>
          <p:cNvPr id="15" name="Rounded Rectangle 14"/>
          <p:cNvSpPr/>
          <p:nvPr/>
        </p:nvSpPr>
        <p:spPr>
          <a:xfrm>
            <a:off x="640080" y="2240280"/>
            <a:ext cx="3840480" cy="17830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The village exchange-reserve</a:t>
            </a:r>
          </a:p>
        </p:txBody>
      </p:sp>
      <p:sp>
        <p:nvSpPr>
          <p:cNvPr id="17" name="TextBox 16"/>
          <p:cNvSpPr txBox="1"/>
          <p:nvPr/>
        </p:nvSpPr>
        <p:spPr>
          <a:xfrm>
            <a:off x="822959"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Accounts for every member; surplus sold to the reserve, needs bought from it.</a:t>
            </a:r>
          </a:p>
          <a:p>
            <a:pPr>
              <a:spcAft>
                <a:spcPts val="0"/>
              </a:spcAft>
            </a:pPr>
            <a:r>
              <a:rPr sz="1100" b="0" i="0">
                <a:solidFill>
                  <a:srgbClr val="5A6377"/>
                </a:solidFill>
                <a:latin typeface="Calibri"/>
              </a:rPr>
              <a:t>Any incidental gain goes to common facilities; interest-free loans repaid in produce.</a:t>
            </a:r>
          </a:p>
        </p:txBody>
      </p:sp>
      <p:sp>
        <p:nvSpPr>
          <p:cNvPr id="18" name="Rounded Rectangle 17"/>
          <p:cNvSpPr/>
          <p:nvPr/>
        </p:nvSpPr>
        <p:spPr>
          <a:xfrm>
            <a:off x="4663440" y="2240280"/>
            <a:ext cx="3840480" cy="17830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Begin with a survey</a:t>
            </a:r>
          </a:p>
        </p:txBody>
      </p:sp>
      <p:sp>
        <p:nvSpPr>
          <p:cNvPr id="20" name="TextBox 19"/>
          <p:cNvSpPr txBox="1"/>
          <p:nvPr/>
        </p:nvSpPr>
        <p:spPr>
          <a:xfrm>
            <a:off x="4846320" y="2679191"/>
            <a:ext cx="3474720" cy="123443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Land, water, crops, crafts, skills, health, and the state of justice in production and exchange.</a:t>
            </a:r>
          </a:p>
          <a:p>
            <a:pPr>
              <a:spcAft>
                <a:spcPts val="0"/>
              </a:spcAft>
            </a:pPr>
            <a:r>
              <a:rPr sz="1100" b="0" i="0">
                <a:solidFill>
                  <a:srgbClr val="5A6377"/>
                </a:solidFill>
                <a:latin typeface="Calibri"/>
              </a:rPr>
              <a:t>Nagraj lived with prosperity through his own production within the present system.</a:t>
            </a:r>
          </a:p>
        </p:txBody>
      </p:sp>
      <p:sp>
        <p:nvSpPr>
          <p:cNvPr id="21" name="TextBox 20"/>
          <p:cNvSpPr txBox="1"/>
          <p:nvPr/>
        </p:nvSpPr>
        <p:spPr>
          <a:xfrm>
            <a:off x="640080" y="41605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The dialogue: profit and symbolic currency, or prosperity through exchange on the value of labour?</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AA pp. 122–125, 136–138, 142–143  ·  JV pp. 153–154  ·  JVD pp. 217–218  ·  AVD p. 52  ·  AnalyticMadhyasthDarshan.org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COMPARISON  ·  §§4–7</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Where Insatiability Comes From</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18745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Tradition</a:t>
            </a:r>
          </a:p>
        </p:txBody>
      </p:sp>
      <p:sp>
        <p:nvSpPr>
          <p:cNvPr id="11" name="TextBox 10"/>
          <p:cNvSpPr txBox="1"/>
          <p:nvPr/>
        </p:nvSpPr>
        <p:spPr>
          <a:xfrm>
            <a:off x="2743200" y="1280160"/>
            <a:ext cx="297180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Source of insatiable want</a:t>
            </a:r>
          </a:p>
        </p:txBody>
      </p:sp>
      <p:sp>
        <p:nvSpPr>
          <p:cNvPr id="12" name="TextBox 11"/>
          <p:cNvSpPr txBox="1"/>
          <p:nvPr/>
        </p:nvSpPr>
        <p:spPr>
          <a:xfrm>
            <a:off x="5852160" y="1280160"/>
            <a:ext cx="260604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Closure / limit without jeevan</a:t>
            </a:r>
          </a:p>
        </p:txBody>
      </p:sp>
      <p:sp>
        <p:nvSpPr>
          <p:cNvPr id="13" name="Rectangle 12"/>
          <p:cNvSpPr/>
          <p:nvPr/>
        </p:nvSpPr>
        <p:spPr>
          <a:xfrm>
            <a:off x="640080" y="1572768"/>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4767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Madhyasth Darshan</a:t>
            </a:r>
          </a:p>
        </p:txBody>
      </p:sp>
      <p:sp>
        <p:nvSpPr>
          <p:cNvPr id="16" name="TextBox 15"/>
          <p:cNvSpPr txBox="1"/>
          <p:nvPr/>
        </p:nvSpPr>
        <p:spPr>
          <a:xfrm>
            <a:off x="2743200" y="1600200"/>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Jeevan's discontent read as a shortage of objects</a:t>
            </a:r>
          </a:p>
        </p:txBody>
      </p:sp>
      <p:sp>
        <p:nvSpPr>
          <p:cNvPr id="17" name="TextBox 16"/>
          <p:cNvSpPr txBox="1"/>
          <p:nvPr/>
        </p:nvSpPr>
        <p:spPr>
          <a:xfrm>
            <a:off x="5852160" y="1600200"/>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Jeevan realisation, family need, cycles</a:t>
            </a:r>
          </a:p>
        </p:txBody>
      </p:sp>
      <p:sp>
        <p:nvSpPr>
          <p:cNvPr id="18" name="Rectangle 17"/>
          <p:cNvSpPr/>
          <p:nvPr/>
        </p:nvSpPr>
        <p:spPr>
          <a:xfrm>
            <a:off x="640080" y="233172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198424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Neoclassical &amp; marginalist</a:t>
            </a:r>
          </a:p>
        </p:txBody>
      </p:sp>
      <p:sp>
        <p:nvSpPr>
          <p:cNvPr id="20" name="TextBox 19"/>
          <p:cNvSpPr txBox="1"/>
          <p:nvPr/>
        </p:nvSpPr>
        <p:spPr>
          <a:xfrm>
            <a:off x="2743200" y="198424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Non-satiation; marginal utility (Jevons)</a:t>
            </a:r>
          </a:p>
        </p:txBody>
      </p:sp>
      <p:sp>
        <p:nvSpPr>
          <p:cNvPr id="21" name="TextBox 20"/>
          <p:cNvSpPr txBox="1"/>
          <p:nvPr/>
        </p:nvSpPr>
        <p:spPr>
          <a:xfrm>
            <a:off x="5852160" y="198424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No closure; observer-relative utility</a:t>
            </a:r>
          </a:p>
        </p:txBody>
      </p:sp>
      <p:sp>
        <p:nvSpPr>
          <p:cNvPr id="22" name="Rectangle 21"/>
          <p:cNvSpPr/>
          <p:nvPr/>
        </p:nvSpPr>
        <p:spPr>
          <a:xfrm>
            <a:off x="640080" y="2340864"/>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157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368296"/>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Aristotle and Marx</a:t>
            </a:r>
          </a:p>
        </p:txBody>
      </p:sp>
      <p:sp>
        <p:nvSpPr>
          <p:cNvPr id="25" name="TextBox 24"/>
          <p:cNvSpPr txBox="1"/>
          <p:nvPr/>
        </p:nvSpPr>
        <p:spPr>
          <a:xfrm>
            <a:off x="2743200" y="2368296"/>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Pursuit of money as such</a:t>
            </a:r>
          </a:p>
        </p:txBody>
      </p:sp>
      <p:sp>
        <p:nvSpPr>
          <p:cNvPr id="26" name="TextBox 25"/>
          <p:cNvSpPr txBox="1"/>
          <p:nvPr/>
        </p:nvSpPr>
        <p:spPr>
          <a:xfrm>
            <a:off x="5852160" y="2368296"/>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Defers need; lacks jeevan &amp; family</a:t>
            </a:r>
          </a:p>
        </p:txBody>
      </p:sp>
      <p:sp>
        <p:nvSpPr>
          <p:cNvPr id="27" name="Rectangle 26"/>
          <p:cNvSpPr/>
          <p:nvPr/>
        </p:nvSpPr>
        <p:spPr>
          <a:xfrm>
            <a:off x="640080" y="309981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752344"/>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Keynes, Veblen, Hirsch</a:t>
            </a:r>
          </a:p>
        </p:txBody>
      </p:sp>
      <p:sp>
        <p:nvSpPr>
          <p:cNvPr id="29" name="TextBox 28"/>
          <p:cNvSpPr txBox="1"/>
          <p:nvPr/>
        </p:nvSpPr>
        <p:spPr>
          <a:xfrm>
            <a:off x="2743200" y="2752344"/>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Relative and positional wants</a:t>
            </a:r>
          </a:p>
        </p:txBody>
      </p:sp>
      <p:sp>
        <p:nvSpPr>
          <p:cNvPr id="30" name="TextBox 29"/>
          <p:cNvSpPr txBox="1"/>
          <p:nvPr/>
        </p:nvSpPr>
        <p:spPr>
          <a:xfrm>
            <a:off x="5852160" y="2752344"/>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Status shifts; 4.5 activities rebound</a:t>
            </a:r>
          </a:p>
        </p:txBody>
      </p:sp>
      <p:sp>
        <p:nvSpPr>
          <p:cNvPr id="31" name="Rectangle 30"/>
          <p:cNvSpPr/>
          <p:nvPr/>
        </p:nvSpPr>
        <p:spPr>
          <a:xfrm>
            <a:off x="640080" y="3108960"/>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48386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136391"/>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Ecological economics</a:t>
            </a:r>
          </a:p>
        </p:txBody>
      </p:sp>
      <p:sp>
        <p:nvSpPr>
          <p:cNvPr id="34" name="TextBox 33"/>
          <p:cNvSpPr txBox="1"/>
          <p:nvPr/>
        </p:nvSpPr>
        <p:spPr>
          <a:xfrm>
            <a:off x="2743200" y="3136391"/>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Debt, competition, growth institutions</a:t>
            </a:r>
          </a:p>
        </p:txBody>
      </p:sp>
      <p:sp>
        <p:nvSpPr>
          <p:cNvPr id="35" name="TextBox 34"/>
          <p:cNvSpPr txBox="1"/>
          <p:nvPr/>
        </p:nvSpPr>
        <p:spPr>
          <a:xfrm>
            <a:off x="5852160" y="3136391"/>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Caps erode without jeevan satiation</a:t>
            </a:r>
          </a:p>
        </p:txBody>
      </p:sp>
      <p:sp>
        <p:nvSpPr>
          <p:cNvPr id="36" name="Rectangle 35"/>
          <p:cNvSpPr/>
          <p:nvPr/>
        </p:nvSpPr>
        <p:spPr>
          <a:xfrm>
            <a:off x="640080" y="386791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520439"/>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Gandhian economics</a:t>
            </a:r>
          </a:p>
        </p:txBody>
      </p:sp>
      <p:sp>
        <p:nvSpPr>
          <p:cNvPr id="38" name="TextBox 37"/>
          <p:cNvSpPr txBox="1"/>
          <p:nvPr/>
        </p:nvSpPr>
        <p:spPr>
          <a:xfrm>
            <a:off x="2743200" y="3520439"/>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An economy of transience</a:t>
            </a:r>
          </a:p>
        </p:txBody>
      </p:sp>
      <p:sp>
        <p:nvSpPr>
          <p:cNvPr id="39" name="TextBox 38"/>
          <p:cNvSpPr txBox="1"/>
          <p:nvPr/>
        </p:nvSpPr>
        <p:spPr>
          <a:xfrm>
            <a:off x="5852160" y="3520439"/>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Ascetic restraint erodes across time</a:t>
            </a:r>
          </a:p>
        </p:txBody>
      </p:sp>
      <p:sp>
        <p:nvSpPr>
          <p:cNvPr id="40" name="Rectangle 39"/>
          <p:cNvSpPr/>
          <p:nvPr/>
        </p:nvSpPr>
        <p:spPr>
          <a:xfrm>
            <a:off x="640080" y="3877056"/>
            <a:ext cx="7863840" cy="38404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40080" y="4251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19" y="3904488"/>
            <a:ext cx="1847088" cy="329184"/>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Advaita Vedanta</a:t>
            </a:r>
          </a:p>
        </p:txBody>
      </p:sp>
      <p:sp>
        <p:nvSpPr>
          <p:cNvPr id="43" name="TextBox 42"/>
          <p:cNvSpPr txBox="1"/>
          <p:nvPr/>
        </p:nvSpPr>
        <p:spPr>
          <a:xfrm>
            <a:off x="2743200" y="3904488"/>
            <a:ext cx="294436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Desire from ignorance of the Self</a:t>
            </a:r>
          </a:p>
        </p:txBody>
      </p:sp>
      <p:sp>
        <p:nvSpPr>
          <p:cNvPr id="44" name="TextBox 43"/>
          <p:cNvSpPr txBox="1"/>
          <p:nvPr/>
        </p:nvSpPr>
        <p:spPr>
          <a:xfrm>
            <a:off x="5852160" y="3904488"/>
            <a:ext cx="2578608" cy="329184"/>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Renounces world; no Earth order</a:t>
            </a:r>
          </a:p>
        </p:txBody>
      </p:sp>
      <p:sp>
        <p:nvSpPr>
          <p:cNvPr id="45" name="TextBox 4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§§4–7  ·  Jevons 1871  ·  Marx 1875  ·  Robbins 1932  ·  Polanyi 1944  ·  Daly 1974  ·  Kumarappa 1945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LEARNING FROM ECONOMICS  ·  §§4.9–4.10, 9.6</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Economics Can Teach</a:t>
            </a:r>
          </a:p>
        </p:txBody>
      </p:sp>
      <p:sp>
        <p:nvSpPr>
          <p:cNvPr id="7" name="Rounded Rectangle 6"/>
          <p:cNvSpPr/>
          <p:nvPr/>
        </p:nvSpPr>
        <p:spPr>
          <a:xfrm>
            <a:off x="640080"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Coordination</a:t>
            </a:r>
          </a:p>
        </p:txBody>
      </p:sp>
      <p:sp>
        <p:nvSpPr>
          <p:cNvPr id="9" name="TextBox 8"/>
          <p:cNvSpPr txBox="1"/>
          <p:nvPr/>
        </p:nvSpPr>
        <p:spPr>
          <a:xfrm>
            <a:off x="777240"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prices carry dispersed knowledge (Hayek)</a:t>
            </a:r>
          </a:p>
        </p:txBody>
      </p:sp>
      <p:sp>
        <p:nvSpPr>
          <p:cNvPr id="10" name="Rounded Rectangle 9"/>
          <p:cNvSpPr/>
          <p:nvPr/>
        </p:nvSpPr>
        <p:spPr>
          <a:xfrm>
            <a:off x="3328415"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65575"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Measurement</a:t>
            </a:r>
          </a:p>
        </p:txBody>
      </p:sp>
      <p:sp>
        <p:nvSpPr>
          <p:cNvPr id="12" name="TextBox 11"/>
          <p:cNvSpPr txBox="1"/>
          <p:nvPr/>
        </p:nvSpPr>
        <p:spPr>
          <a:xfrm>
            <a:off x="3465575"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accounts, input–output, material flows</a:t>
            </a:r>
          </a:p>
        </p:txBody>
      </p:sp>
      <p:sp>
        <p:nvSpPr>
          <p:cNvPr id="13" name="Rounded Rectangle 12"/>
          <p:cNvSpPr/>
          <p:nvPr/>
        </p:nvSpPr>
        <p:spPr>
          <a:xfrm>
            <a:off x="6016752" y="132588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41732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Commons &amp; embeddedness</a:t>
            </a:r>
          </a:p>
        </p:txBody>
      </p:sp>
      <p:sp>
        <p:nvSpPr>
          <p:cNvPr id="15" name="TextBox 14"/>
          <p:cNvSpPr txBox="1"/>
          <p:nvPr/>
        </p:nvSpPr>
        <p:spPr>
          <a:xfrm>
            <a:off x="6153912" y="174650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polycentric rules; non-commodities (Ostrom, Polanyi)</a:t>
            </a:r>
          </a:p>
        </p:txBody>
      </p:sp>
      <p:sp>
        <p:nvSpPr>
          <p:cNvPr id="16" name="Rounded Rectangle 15"/>
          <p:cNvSpPr/>
          <p:nvPr/>
        </p:nvSpPr>
        <p:spPr>
          <a:xfrm>
            <a:off x="640080"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Needs &amp; capabilities</a:t>
            </a:r>
          </a:p>
        </p:txBody>
      </p:sp>
      <p:sp>
        <p:nvSpPr>
          <p:cNvPr id="18" name="TextBox 17"/>
          <p:cNvSpPr txBox="1"/>
          <p:nvPr/>
        </p:nvSpPr>
        <p:spPr>
          <a:xfrm>
            <a:off x="777240"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objective needs &amp; functionings (Max-Neef, Sen)</a:t>
            </a:r>
          </a:p>
        </p:txBody>
      </p:sp>
      <p:sp>
        <p:nvSpPr>
          <p:cNvPr id="19" name="Rounded Rectangle 18"/>
          <p:cNvSpPr/>
          <p:nvPr/>
        </p:nvSpPr>
        <p:spPr>
          <a:xfrm>
            <a:off x="3328415"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65575"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Credit &amp; mutual clearing</a:t>
            </a:r>
          </a:p>
        </p:txBody>
      </p:sp>
      <p:sp>
        <p:nvSpPr>
          <p:cNvPr id="21" name="TextBox 20"/>
          <p:cNvSpPr txBox="1"/>
          <p:nvPr/>
        </p:nvSpPr>
        <p:spPr>
          <a:xfrm>
            <a:off x="3465575"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bank credit vs. interest-free WIR clearing (Stodder)</a:t>
            </a:r>
          </a:p>
        </p:txBody>
      </p:sp>
      <p:sp>
        <p:nvSpPr>
          <p:cNvPr id="22" name="Rounded Rectangle 21"/>
          <p:cNvSpPr/>
          <p:nvPr/>
        </p:nvSpPr>
        <p:spPr>
          <a:xfrm>
            <a:off x="6016752" y="2423160"/>
            <a:ext cx="2487168" cy="932688"/>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53912" y="2514600"/>
            <a:ext cx="2212848" cy="292608"/>
          </a:xfrm>
          <a:prstGeom prst="rect">
            <a:avLst/>
          </a:prstGeom>
          <a:noFill/>
        </p:spPr>
        <p:txBody>
          <a:bodyPr wrap="square" lIns="0" rIns="0" tIns="0" bIns="0" anchor="ctr">
            <a:spAutoFit/>
          </a:bodyPr>
          <a:lstStyle/>
          <a:p>
            <a:pPr>
              <a:spcAft>
                <a:spcPts val="0"/>
              </a:spcAft>
            </a:pPr>
            <a:r>
              <a:rPr sz="1250" b="1" i="0">
                <a:solidFill>
                  <a:srgbClr val="1E2447"/>
                </a:solidFill>
                <a:latin typeface="Cambria"/>
              </a:rPr>
              <a:t>Labour &amp; rent accounting</a:t>
            </a:r>
          </a:p>
        </p:txBody>
      </p:sp>
      <p:sp>
        <p:nvSpPr>
          <p:cNvPr id="24" name="TextBox 23"/>
          <p:cNvSpPr txBox="1"/>
          <p:nvPr/>
        </p:nvSpPr>
        <p:spPr>
          <a:xfrm>
            <a:off x="6153912" y="2843784"/>
            <a:ext cx="2212848" cy="457200"/>
          </a:xfrm>
          <a:prstGeom prst="rect">
            <a:avLst/>
          </a:prstGeom>
          <a:noFill/>
        </p:spPr>
        <p:txBody>
          <a:bodyPr wrap="square" lIns="0" rIns="0" tIns="0" bIns="0" anchor="t">
            <a:spAutoFit/>
          </a:bodyPr>
          <a:lstStyle/>
          <a:p>
            <a:pPr>
              <a:spcAft>
                <a:spcPts val="0"/>
              </a:spcAft>
            </a:pPr>
            <a:r>
              <a:rPr sz="1050" b="0" i="0">
                <a:solidFill>
                  <a:srgbClr val="5A6377"/>
                </a:solidFill>
                <a:latin typeface="Calibri"/>
              </a:rPr>
              <a:t>input–output, depreciation &amp; differential rent (Ricardo)</a:t>
            </a:r>
          </a:p>
        </p:txBody>
      </p:sp>
      <p:sp>
        <p:nvSpPr>
          <p:cNvPr id="25" name="Rounded Rectangle 24"/>
          <p:cNvSpPr/>
          <p:nvPr/>
        </p:nvSpPr>
        <p:spPr>
          <a:xfrm>
            <a:off x="7635240" y="1234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1234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7" name="Rounded Rectangle 26"/>
          <p:cNvSpPr/>
          <p:nvPr/>
        </p:nvSpPr>
        <p:spPr>
          <a:xfrm>
            <a:off x="640080" y="3611880"/>
            <a:ext cx="7863840" cy="68580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3611880"/>
            <a:ext cx="7406640" cy="685800"/>
          </a:xfrm>
          <a:prstGeom prst="rect">
            <a:avLst/>
          </a:prstGeom>
          <a:noFill/>
        </p:spPr>
        <p:txBody>
          <a:bodyPr wrap="square" lIns="0" rIns="0" tIns="0" bIns="0" anchor="ctr">
            <a:spAutoFit/>
          </a:bodyPr>
          <a:lstStyle/>
          <a:p>
            <a:pPr algn="ctr">
              <a:spcAft>
                <a:spcPts val="0"/>
              </a:spcAft>
            </a:pPr>
            <a:r>
              <a:rPr sz="1250" b="0" i="0">
                <a:solidFill>
                  <a:srgbClr val="FFFFFF"/>
                </a:solidFill>
                <a:latin typeface="Calibri"/>
              </a:rPr>
              <a:t>These tools gain stability only when anchored in jeevan, realisation, and a 10-tier AI backbone.</a:t>
            </a:r>
          </a:p>
        </p:txBody>
      </p:sp>
      <p:sp>
        <p:nvSpPr>
          <p:cNvPr id="29" name="TextBox 28"/>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Ricardo 1817  ·  Leontief 1936  ·  Polanyi 1944  ·  Hayek 1945  ·  Sen 1999  ·  Stodder 2009  ·  Ostrom 2010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THE SIX DEADLOCKS  ·  §§1.3, 4, 7.2</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Six Deadlocks of Current Economics</a:t>
            </a:r>
          </a:p>
        </p:txBody>
      </p:sp>
      <p:sp>
        <p:nvSpPr>
          <p:cNvPr id="7" name="Rounded Rectangle 6"/>
          <p:cNvSpPr/>
          <p:nvPr/>
        </p:nvSpPr>
        <p:spPr>
          <a:xfrm>
            <a:off x="7635240" y="1042415"/>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35240" y="1042415"/>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11"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Deadlock in current economics</a:t>
            </a:r>
          </a:p>
        </p:txBody>
      </p:sp>
      <p:sp>
        <p:nvSpPr>
          <p:cNvPr id="13"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Why body-centric economics stalls</a:t>
            </a:r>
          </a:p>
        </p:txBody>
      </p:sp>
      <p:sp>
        <p:nvSpPr>
          <p:cNvPr id="14"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How jeevan &amp; realisation resolve it</a:t>
            </a:r>
          </a:p>
        </p:txBody>
      </p:sp>
      <p:sp>
        <p:nvSpPr>
          <p:cNvPr id="15"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1. Rebound vs. caps &amp; vows</a:t>
            </a:r>
          </a:p>
        </p:txBody>
      </p:sp>
      <p:sp>
        <p:nvSpPr>
          <p:cNvPr id="18"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Unawakened 4.5 loop erodes limits</a:t>
            </a:r>
          </a:p>
        </p:txBody>
      </p:sp>
      <p:sp>
        <p:nvSpPr>
          <p:cNvPr id="19"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Awakens 5.5 activities; regulates taste</a:t>
            </a:r>
          </a:p>
        </p:txBody>
      </p:sp>
      <p:sp>
        <p:nvSpPr>
          <p:cNvPr id="20"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2. No social agreement</a:t>
            </a:r>
          </a:p>
        </p:txBody>
      </p:sp>
      <p:sp>
        <p:nvSpPr>
          <p:cNvPr id="22"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Priya–hit–labh differs by body (Arrow)</a:t>
            </a:r>
          </a:p>
        </p:txBody>
      </p:sp>
      <p:sp>
        <p:nvSpPr>
          <p:cNvPr id="23"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Realises satta &amp; nature (MVD p. 203)</a:t>
            </a:r>
          </a:p>
        </p:txBody>
      </p:sp>
      <p:sp>
        <p:nvSpPr>
          <p:cNvPr id="24"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3. Work &amp; patent trilemma</a:t>
            </a:r>
          </a:p>
        </p:txBody>
      </p:sp>
      <p:sp>
        <p:nvSpPr>
          <p:cNvPr id="27"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Work needs wage fear or monopoly rent</a:t>
            </a:r>
          </a:p>
        </p:txBody>
      </p:sp>
      <p:sp>
        <p:nvSpPr>
          <p:cNvPr id="28"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Restful labour in resolution; open skills</a:t>
            </a:r>
          </a:p>
        </p:txBody>
      </p:sp>
      <p:sp>
        <p:nvSpPr>
          <p:cNvPr id="29"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4. Non-kin sharing collapse</a:t>
            </a:r>
          </a:p>
        </p:txBody>
      </p:sp>
      <p:sp>
        <p:nvSpPr>
          <p:cNvPr id="31"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Genetic kinship blocks 10-person family</a:t>
            </a:r>
          </a:p>
        </p:txBody>
      </p:sp>
      <p:sp>
        <p:nvSpPr>
          <p:cNvPr id="32"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Every member is jeevan; realises the whole</a:t>
            </a:r>
          </a:p>
        </p:txBody>
      </p:sp>
      <p:sp>
        <p:nvSpPr>
          <p:cNvPr id="33"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5. Ledger gaming &amp; hoarding</a:t>
            </a:r>
          </a:p>
        </p:txBody>
      </p:sp>
      <p:sp>
        <p:nvSpPr>
          <p:cNvPr id="36"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Co-ops drift to arbitrage or free-riding</a:t>
            </a:r>
          </a:p>
        </p:txBody>
      </p:sp>
      <p:sp>
        <p:nvSpPr>
          <p:cNvPr id="37"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Satiation point of exchange (AA p. 76)</a:t>
            </a:r>
          </a:p>
        </p:txBody>
      </p:sp>
      <p:sp>
        <p:nvSpPr>
          <p:cNvPr id="38"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6. Discounting the future</a:t>
            </a:r>
          </a:p>
        </p:txBody>
      </p:sp>
      <p:sp>
        <p:nvSpPr>
          <p:cNvPr id="40"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Private-gain view discounts the future</a:t>
            </a:r>
          </a:p>
        </p:txBody>
      </p:sp>
      <p:sp>
        <p:nvSpPr>
          <p:cNvPr id="41"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Prosperity in the whole; perpetuity</a:t>
            </a:r>
          </a:p>
        </p:txBody>
      </p:sp>
      <p:sp>
        <p:nvSpPr>
          <p:cNvPr id="42"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Every mainstream and heterodox model hits these 6 deadlocks because it treats the human being as a body alone.</a:t>
            </a:r>
          </a:p>
        </p:txBody>
      </p:sp>
      <p:sp>
        <p:nvSpPr>
          <p:cNvPr id="43"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§§1.3, 4.1–4.10, 7.2  ·  AA pp. 18–23, 48–60, 76, 95, 119–120  ·  MVD p. 203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2" name=""/>
        <p:cNvGrpSpPr/>
        <p:nvPr/>
      </p:nvGrpSpPr>
      <p:grpSpPr/>
      <p:sp>
        <p:nvSpPr>
          <p:cNvPr id="4"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IV  ·  WHY REALISATION IS NEEDED  ·  §§2.1–2.2, 7.2, 9.1</a:t>
            </a:r>
          </a:p>
        </p:txBody>
      </p:sp>
      <p:sp>
        <p:nvSpPr>
          <p:cNvPr id="8"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Realisation (Anubhav) Is Required</a:t>
            </a:r>
          </a:p>
        </p:txBody>
      </p:sp>
      <p:sp>
        <p:nvSpPr>
          <p:cNvPr id="9"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Fulfilling inexhaustible jeevan energy</a:t>
            </a:r>
          </a:p>
        </p:txBody>
      </p:sp>
      <p:sp>
        <p:nvSpPr>
          <p:cNvPr id="11"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Rules and ecological caps only dam the 4.5 activities from outside; realisation awakens the higher 5.5 activities so taste is regulated from within (AA p. 95).</a:t>
            </a:r>
          </a:p>
        </p:txBody>
      </p:sp>
      <p:sp>
        <p:nvSpPr>
          <p:cNvPr id="12"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Realising satta &amp; nature at once</a:t>
            </a:r>
          </a:p>
        </p:txBody>
      </p:sp>
      <p:sp>
        <p:nvSpPr>
          <p:cNvPr id="14"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Pleasure, health and profit (priya, hit, labh) differ in every body; realising coexistence of satta (vyapak) and nature as a whole gives one shared anchor (MVD p. 203).</a:t>
            </a:r>
          </a:p>
        </p:txBody>
      </p:sp>
      <p:sp>
        <p:nvSpPr>
          <p:cNvPr id="15"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Every member is jeevan; restful work</a:t>
            </a:r>
          </a:p>
        </p:txBody>
      </p:sp>
      <p:sp>
        <p:nvSpPr>
          <p:cNvPr id="17"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Every member is jeevan, able to realise in coexistence of satta and nature as a whole — the basis of the 10-member family and restful labour (samadhan, AA p. 23).</a:t>
            </a:r>
          </a:p>
        </p:txBody>
      </p:sp>
      <p:sp>
        <p:nvSpPr>
          <p:cNvPr id="18"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Prosperity in the whole &amp; perpetuity</a:t>
            </a:r>
          </a:p>
        </p:txBody>
      </p:sp>
      <p:sp>
        <p:nvSpPr>
          <p:cNvPr id="20"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 realised human sees own and family prosperity in the prosperity of the whole and the perpetuity of human civilization (AA pp. 62–63, 76, 94).</a:t>
            </a:r>
          </a:p>
        </p:txBody>
      </p:sp>
      <p:sp>
        <p:nvSpPr>
          <p:cNvPr id="21"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While humanity is in the process of realisation (anubhav-gami), an Earth-scale economy requires a 10-tier AI backbone.</a:t>
            </a:r>
          </a:p>
        </p:txBody>
      </p:sp>
      <p:sp>
        <p:nvSpPr>
          <p:cNvPr id="22"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§§2.1–2.2, 3.1–3.9, 7.2, 9.1  ·  AA pp. 18–23, 47–51, 58–60, 76, 95, 104  ·  MVD p. 203  ·  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INSTRUMENTS  ·  §8.1</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What to Measure, What to Judge</a:t>
            </a:r>
          </a:p>
        </p:txBody>
      </p:sp>
      <p:sp>
        <p:nvSpPr>
          <p:cNvPr id="7" name="Rounded Rectangle 6"/>
          <p:cNvSpPr/>
          <p:nvPr/>
        </p:nvSpPr>
        <p:spPr>
          <a:xfrm>
            <a:off x="640080" y="1280160"/>
            <a:ext cx="3840480" cy="214884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Law · regulation · balance</a:t>
            </a:r>
          </a:p>
        </p:txBody>
      </p:sp>
      <p:sp>
        <p:nvSpPr>
          <p:cNvPr id="9" name="TextBox 8"/>
          <p:cNvSpPr txBox="1"/>
          <p:nvPr/>
        </p:nvSpPr>
        <p:spPr>
          <a:xfrm>
            <a:off x="82296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Quantities, rates and rules: regeneration of a forest, fertility of a field, stock in a store, labour time in a product.</a:t>
            </a:r>
          </a:p>
          <a:p>
            <a:pPr>
              <a:spcBef>
                <a:spcPts val="600"/>
              </a:spcBef>
              <a:spcAft>
                <a:spcPts val="0"/>
              </a:spcAft>
            </a:pPr>
            <a:r>
              <a:rPr sz="1150" b="1" i="0">
                <a:solidFill>
                  <a:srgbClr val="1E2447"/>
                </a:solidFill>
                <a:latin typeface="Calibri"/>
              </a:rPr>
              <a:t>Measured, recorded, and partly handled by instruments.</a:t>
            </a:r>
          </a:p>
        </p:txBody>
      </p:sp>
      <p:sp>
        <p:nvSpPr>
          <p:cNvPr id="10" name="Rounded Rectangle 9"/>
          <p:cNvSpPr/>
          <p:nvPr/>
        </p:nvSpPr>
        <p:spPr>
          <a:xfrm>
            <a:off x="4663440" y="1280160"/>
            <a:ext cx="3840480" cy="214884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Justice · dharma · truth</a:t>
            </a:r>
          </a:p>
        </p:txBody>
      </p:sp>
      <p:sp>
        <p:nvSpPr>
          <p:cNvPr id="12" name="TextBox 11"/>
          <p:cNvSpPr txBox="1"/>
          <p:nvPr/>
        </p:nvSpPr>
        <p:spPr>
          <a:xfrm>
            <a:off x="4846320" y="1755648"/>
            <a:ext cx="3474720" cy="160020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Fulfilment of relationships and accord with coexistence. When facts and checkable logic are visible in common view, peers can spot and correct individual errors.</a:t>
            </a:r>
          </a:p>
          <a:p>
            <a:pPr>
              <a:spcBef>
                <a:spcPts val="600"/>
              </a:spcBef>
              <a:spcAft>
                <a:spcPts val="0"/>
              </a:spcAft>
            </a:pPr>
            <a:r>
              <a:rPr sz="1150" b="1" i="0">
                <a:solidFill>
                  <a:srgbClr val="9A6414"/>
                </a:solidFill>
                <a:latin typeface="Calibri"/>
              </a:rPr>
              <a:t>Judged collectively by people (AA pp. 128–130, 139).</a:t>
            </a:r>
          </a:p>
        </p:txBody>
      </p:sp>
      <p:sp>
        <p:nvSpPr>
          <p:cNvPr id="13" name="Rounded Rectangle 12"/>
          <p:cNvSpPr/>
          <p:nvPr/>
        </p:nvSpPr>
        <p:spPr>
          <a:xfrm>
            <a:off x="640080" y="3611880"/>
            <a:ext cx="7863840" cy="868680"/>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611880"/>
            <a:ext cx="7406640" cy="868680"/>
          </a:xfrm>
          <a:prstGeom prst="rect">
            <a:avLst/>
          </a:prstGeom>
          <a:noFill/>
        </p:spPr>
        <p:txBody>
          <a:bodyPr wrap="square" lIns="0" rIns="0" tIns="0" bIns="0" anchor="ctr">
            <a:spAutoFit/>
          </a:bodyPr>
          <a:lstStyle/>
          <a:p>
            <a:pPr algn="ctr">
              <a:spcAft>
                <a:spcPts val="0"/>
              </a:spcAft>
            </a:pPr>
            <a:r>
              <a:rPr sz="1350" b="1" i="0">
                <a:solidFill>
                  <a:srgbClr val="C9821E"/>
                </a:solidFill>
                <a:latin typeface="Cambria"/>
              </a:rPr>
              <a:t>Why collective human judgement self-corrects when facts are visible</a:t>
            </a:r>
          </a:p>
          <a:p>
            <a:pPr algn="ctr">
              <a:spcAft>
                <a:spcPts val="0"/>
              </a:spcAft>
            </a:pPr>
            <a:r>
              <a:rPr sz="1250" b="0" i="0">
                <a:solidFill>
                  <a:srgbClr val="FFFFFF"/>
                </a:solidFill>
                <a:latin typeface="Calibri"/>
              </a:rPr>
              <a:t>Instruments measure quantities and trace checkable logic; when placed before a council in common view, peers collectively correct individual errors (KD p. 139; AA p. 139).</a:t>
            </a:r>
          </a:p>
        </p:txBody>
      </p:sp>
      <p:sp>
        <p:nvSpPr>
          <p:cNvPr id="15" name="TextBox 14"/>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MVD p. 173  ·  AA pp. 18, 117  ·  KD p. 139  ·  SB p. 267  ·  AI Study §§1.2–1.5  ·  AnalyticMadhyasthDarshan.org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STRUCTURAL REQUIREMENT  ·  §8.2</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Why an AI Agentic Backbone Is Required</a:t>
            </a:r>
          </a:p>
        </p:txBody>
      </p:sp>
      <p:sp>
        <p:nvSpPr>
          <p:cNvPr id="7" name="Rounded Rectangle 6"/>
          <p:cNvSpPr/>
          <p:nvPr/>
        </p:nvSpPr>
        <p:spPr>
          <a:xfrm>
            <a:off x="64008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1. Earth-scale visibility &amp; self-correction</a:t>
            </a:r>
          </a:p>
        </p:txBody>
      </p:sp>
      <p:sp>
        <p:nvSpPr>
          <p:cNvPr id="9" name="TextBox 8"/>
          <p:cNvSpPr txBox="1"/>
          <p:nvPr/>
        </p:nvSpPr>
        <p:spPr>
          <a:xfrm>
            <a:off x="822959"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 one family, facts are visible by eye; across 10 tiers on Earth, AI agents make facts and checkable logic visible to councils so drift cannot be ignored.</a:t>
            </a:r>
          </a:p>
        </p:txBody>
      </p:sp>
      <p:sp>
        <p:nvSpPr>
          <p:cNvPr id="10" name="Rounded Rectangle 9"/>
          <p:cNvSpPr/>
          <p:nvPr/>
        </p:nvSpPr>
        <p:spPr>
          <a:xfrm>
            <a:off x="4663440" y="1280160"/>
            <a:ext cx="3840480" cy="14173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1399031"/>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2. Fault-tolerance while anubhav-gami</a:t>
            </a:r>
          </a:p>
        </p:txBody>
      </p:sp>
      <p:sp>
        <p:nvSpPr>
          <p:cNvPr id="12" name="TextBox 11"/>
          <p:cNvSpPr txBox="1"/>
          <p:nvPr/>
        </p:nvSpPr>
        <p:spPr>
          <a:xfrm>
            <a:off x="4846320" y="1719072"/>
            <a:ext cx="3474720" cy="868680"/>
          </a:xfrm>
          <a:prstGeom prst="rect">
            <a:avLst/>
          </a:prstGeom>
          <a:noFill/>
        </p:spPr>
        <p:txBody>
          <a:bodyPr wrap="square" lIns="0" rIns="0" tIns="0" bIns="0" anchor="t">
            <a:spAutoFit/>
          </a:bodyPr>
          <a:lstStyle/>
          <a:p>
            <a:pPr>
              <a:spcAft>
                <a:spcPts val="0"/>
              </a:spcAft>
            </a:pPr>
            <a:r>
              <a:rPr sz="1150" b="0" i="0">
                <a:solidFill>
                  <a:srgbClr val="5A6377"/>
                </a:solidFill>
                <a:latin typeface="Calibri"/>
              </a:rPr>
              <a:t>Individuals in transition can err (AA p. 139); when paired agents surface discrepancies in common view, the group collectively self-corrects.</a:t>
            </a:r>
          </a:p>
        </p:txBody>
      </p:sp>
      <p:sp>
        <p:nvSpPr>
          <p:cNvPr id="13" name="Rounded Rectangle 12"/>
          <p:cNvSpPr/>
          <p:nvPr/>
        </p:nvSpPr>
        <p:spPr>
          <a:xfrm>
            <a:off x="64008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3. Part-time councils &amp; 3-staff reserves</a:t>
            </a:r>
          </a:p>
        </p:txBody>
      </p:sp>
      <p:sp>
        <p:nvSpPr>
          <p:cNvPr id="15" name="TextBox 14"/>
          <p:cNvSpPr txBox="1"/>
          <p:nvPr/>
        </p:nvSpPr>
        <p:spPr>
          <a:xfrm>
            <a:off x="822959"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Councils serve part-time while producing (AA p. 127) and reserves average 3 staff (p. 138); without agents, coordination forces a bureaucracy.</a:t>
            </a:r>
          </a:p>
        </p:txBody>
      </p:sp>
      <p:sp>
        <p:nvSpPr>
          <p:cNvPr id="16" name="Rounded Rectangle 15"/>
          <p:cNvSpPr/>
          <p:nvPr/>
        </p:nvSpPr>
        <p:spPr>
          <a:xfrm>
            <a:off x="4663440" y="2880360"/>
            <a:ext cx="3840480" cy="12801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46320" y="29992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4. Non-price I–O, surveys &amp; 3-stage ledgers</a:t>
            </a:r>
          </a:p>
        </p:txBody>
      </p:sp>
      <p:sp>
        <p:nvSpPr>
          <p:cNvPr id="18" name="TextBox 17"/>
          <p:cNvSpPr txBox="1"/>
          <p:nvPr/>
        </p:nvSpPr>
        <p:spPr>
          <a:xfrm>
            <a:off x="4846320" y="3319271"/>
            <a:ext cx="3474720" cy="73151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Agents compute multi-tier input–output, Ricardian rent, living surveys, and dual currency/labour ledgers across the 3 stages.</a:t>
            </a:r>
          </a:p>
        </p:txBody>
      </p:sp>
      <p:sp>
        <p:nvSpPr>
          <p:cNvPr id="19" name="TextBox 18"/>
          <p:cNvSpPr txBox="1"/>
          <p:nvPr/>
        </p:nvSpPr>
        <p:spPr>
          <a:xfrm>
            <a:off x="640080" y="4279392"/>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Not an optional add-on: an Earth-scale civilization of anubhav-gami humans requires an AI agentic backbone.</a:t>
            </a:r>
          </a:p>
        </p:txBody>
      </p:sp>
      <p:sp>
        <p:nvSpPr>
          <p:cNvPr id="20" name="TextBox 1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§8.2  ·  AA pp. 72, 107, 122–127, 131–132, 136–138, 142–149  ·  MVD p. 259  ·  JVD p. 35  ·  29 / 35</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MULTI-LEVEL AGENTS  ·  §8.3</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Federated Ten-Tier AI Agentic Backbone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Human unit</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Paired agent &amp; consistency mirror</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Collective judgement by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Individual (anubhav-gami)</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Personal Assistant: mirror &amp; study</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Self-examination, sanskar, work</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(Tier 1, ≥10)</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Family Agent: need &amp; shared work</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True family need, care, sharing</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Family cluster (Tier 2)</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Cluster Agent: 10-family synthesis</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Evaluating representatives, aid</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Village council (Tier 3)</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Village Agents: survey &amp; 3-stage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Labour values, training, justice</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Regional tiers (4–9)</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Regional Agents: I–O &amp; rent match</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Exchange rules &amp; infrastructure</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World council (Tier 10)</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Agents: planetary bounds</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Global covenants on coexistence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Paired agents place verified facts and checkable logic before every council; normative authority stays with people.</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§8.3  ·  Technical Note  ·  AA pp. 14–15, 27–30, 65–67, 112–145  ·  MVD p. 268  ·  AnalyticMadhyasthDarshan.org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FAILURE POINTS  ·  §8.4</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Failure Points of the Cycle</a:t>
            </a:r>
          </a:p>
        </p:txBody>
      </p:sp>
      <p:sp>
        <p:nvSpPr>
          <p:cNvPr id="7" name="Rounded Rectangle 6"/>
          <p:cNvSpPr/>
          <p:nvPr/>
        </p:nvSpPr>
        <p:spPr>
          <a:xfrm>
            <a:off x="7031736"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31736"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9" name="Rectangle 8"/>
          <p:cNvSpPr/>
          <p:nvPr/>
        </p:nvSpPr>
        <p:spPr>
          <a:xfrm>
            <a:off x="640080" y="1280160"/>
            <a:ext cx="7863840" cy="292608"/>
          </a:xfrm>
          <a:prstGeom prst="rect">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1280160"/>
            <a:ext cx="210312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Condition</a:t>
            </a:r>
          </a:p>
        </p:txBody>
      </p:sp>
      <p:sp>
        <p:nvSpPr>
          <p:cNvPr id="11" name="TextBox 10"/>
          <p:cNvSpPr txBox="1"/>
          <p:nvPr/>
        </p:nvSpPr>
        <p:spPr>
          <a:xfrm>
            <a:off x="2971800" y="1280160"/>
            <a:ext cx="265176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Early signal</a:t>
            </a:r>
          </a:p>
        </p:txBody>
      </p:sp>
      <p:sp>
        <p:nvSpPr>
          <p:cNvPr id="12" name="TextBox 11"/>
          <p:cNvSpPr txBox="1"/>
          <p:nvPr/>
        </p:nvSpPr>
        <p:spPr>
          <a:xfrm>
            <a:off x="5760720" y="1280160"/>
            <a:ext cx="2697480" cy="292608"/>
          </a:xfrm>
          <a:prstGeom prst="rect">
            <a:avLst/>
          </a:prstGeom>
          <a:noFill/>
        </p:spPr>
        <p:txBody>
          <a:bodyPr wrap="square" lIns="0" rIns="0" tIns="0" bIns="0" anchor="ctr">
            <a:spAutoFit/>
          </a:bodyPr>
          <a:lstStyle/>
          <a:p>
            <a:pPr>
              <a:spcAft>
                <a:spcPts val="0"/>
              </a:spcAft>
            </a:pPr>
            <a:r>
              <a:rPr sz="1050" b="1" i="0">
                <a:solidFill>
                  <a:srgbClr val="FFFFFF"/>
                </a:solidFill>
                <a:latin typeface="Calibri"/>
              </a:rPr>
              <a:t>Question returned to people</a:t>
            </a:r>
          </a:p>
        </p:txBody>
      </p:sp>
      <p:sp>
        <p:nvSpPr>
          <p:cNvPr id="13" name="Rectangle 12"/>
          <p:cNvSpPr/>
          <p:nvPr/>
        </p:nvSpPr>
        <p:spPr>
          <a:xfrm>
            <a:off x="640080" y="1572768"/>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196596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19" y="1600200"/>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Need is definite</a:t>
            </a:r>
          </a:p>
        </p:txBody>
      </p:sp>
      <p:sp>
        <p:nvSpPr>
          <p:cNvPr id="16" name="TextBox 15"/>
          <p:cNvSpPr txBox="1"/>
          <p:nvPr/>
        </p:nvSpPr>
        <p:spPr>
          <a:xfrm>
            <a:off x="2971800" y="1600200"/>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Use rising faster than assessed need</a:t>
            </a:r>
          </a:p>
        </p:txBody>
      </p:sp>
      <p:sp>
        <p:nvSpPr>
          <p:cNvPr id="17" name="TextBox 16"/>
          <p:cNvSpPr txBox="1"/>
          <p:nvPr/>
        </p:nvSpPr>
        <p:spPr>
          <a:xfrm>
            <a:off x="5760720" y="1600200"/>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assessment true and fair?</a:t>
            </a:r>
          </a:p>
        </p:txBody>
      </p:sp>
      <p:sp>
        <p:nvSpPr>
          <p:cNvPr id="18" name="Rectangle 17"/>
          <p:cNvSpPr/>
          <p:nvPr/>
        </p:nvSpPr>
        <p:spPr>
          <a:xfrm>
            <a:off x="640080" y="2368296"/>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19" y="2002536"/>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Labour gets its value</a:t>
            </a:r>
          </a:p>
        </p:txBody>
      </p:sp>
      <p:sp>
        <p:nvSpPr>
          <p:cNvPr id="20" name="TextBox 19"/>
          <p:cNvSpPr txBox="1"/>
          <p:nvPr/>
        </p:nvSpPr>
        <p:spPr>
          <a:xfrm>
            <a:off x="2971800" y="2002536"/>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Producers paid below labour value</a:t>
            </a:r>
          </a:p>
        </p:txBody>
      </p:sp>
      <p:sp>
        <p:nvSpPr>
          <p:cNvPr id="21" name="TextBox 20"/>
          <p:cNvSpPr txBox="1"/>
          <p:nvPr/>
        </p:nvSpPr>
        <p:spPr>
          <a:xfrm>
            <a:off x="5760720" y="2002536"/>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the fruit of labour exploited?</a:t>
            </a:r>
          </a:p>
        </p:txBody>
      </p:sp>
      <p:sp>
        <p:nvSpPr>
          <p:cNvPr id="22" name="Rectangle 21"/>
          <p:cNvSpPr/>
          <p:nvPr/>
        </p:nvSpPr>
        <p:spPr>
          <a:xfrm>
            <a:off x="640080" y="2377440"/>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2770632"/>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2404872"/>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Exchange at labour value</a:t>
            </a:r>
          </a:p>
        </p:txBody>
      </p:sp>
      <p:sp>
        <p:nvSpPr>
          <p:cNvPr id="25" name="TextBox 24"/>
          <p:cNvSpPr txBox="1"/>
          <p:nvPr/>
        </p:nvSpPr>
        <p:spPr>
          <a:xfrm>
            <a:off x="2971800" y="2404872"/>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Ratios drifting; margins appearing</a:t>
            </a:r>
          </a:p>
        </p:txBody>
      </p:sp>
      <p:sp>
        <p:nvSpPr>
          <p:cNvPr id="26" name="TextBox 25"/>
          <p:cNvSpPr txBox="1"/>
          <p:nvPr/>
        </p:nvSpPr>
        <p:spPr>
          <a:xfrm>
            <a:off x="5760720" y="2404872"/>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Is this exchange free of exploitation?</a:t>
            </a:r>
          </a:p>
        </p:txBody>
      </p:sp>
      <p:sp>
        <p:nvSpPr>
          <p:cNvPr id="27" name="Rectangle 26"/>
          <p:cNvSpPr/>
          <p:nvPr/>
        </p:nvSpPr>
        <p:spPr>
          <a:xfrm>
            <a:off x="640080" y="3172968"/>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19" y="2807208"/>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Everyone produces</a:t>
            </a:r>
          </a:p>
        </p:txBody>
      </p:sp>
      <p:sp>
        <p:nvSpPr>
          <p:cNvPr id="29" name="TextBox 28"/>
          <p:cNvSpPr txBox="1"/>
          <p:nvPr/>
        </p:nvSpPr>
        <p:spPr>
          <a:xfrm>
            <a:off x="2971800" y="2807208"/>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People displaced; skills idle</a:t>
            </a:r>
          </a:p>
        </p:txBody>
      </p:sp>
      <p:sp>
        <p:nvSpPr>
          <p:cNvPr id="30" name="TextBox 29"/>
          <p:cNvSpPr txBox="1"/>
          <p:nvPr/>
        </p:nvSpPr>
        <p:spPr>
          <a:xfrm>
            <a:off x="5760720" y="2807208"/>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How do they return to production?</a:t>
            </a:r>
          </a:p>
        </p:txBody>
      </p:sp>
      <p:sp>
        <p:nvSpPr>
          <p:cNvPr id="31" name="Rectangle 30"/>
          <p:cNvSpPr/>
          <p:nvPr/>
        </p:nvSpPr>
        <p:spPr>
          <a:xfrm>
            <a:off x="640080" y="3182112"/>
            <a:ext cx="7863840" cy="402336"/>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3575304"/>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19" y="3209544"/>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Goods used, not hoarded</a:t>
            </a:r>
          </a:p>
        </p:txBody>
      </p:sp>
      <p:sp>
        <p:nvSpPr>
          <p:cNvPr id="34" name="TextBox 33"/>
          <p:cNvSpPr txBox="1"/>
          <p:nvPr/>
        </p:nvSpPr>
        <p:spPr>
          <a:xfrm>
            <a:off x="2971800" y="3209544"/>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Stock ageing; balances idle</a:t>
            </a:r>
          </a:p>
        </p:txBody>
      </p:sp>
      <p:sp>
        <p:nvSpPr>
          <p:cNvPr id="35" name="TextBox 34"/>
          <p:cNvSpPr txBox="1"/>
          <p:nvPr/>
        </p:nvSpPr>
        <p:spPr>
          <a:xfrm>
            <a:off x="5760720" y="3209544"/>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Why held, and for whose benefit?</a:t>
            </a:r>
          </a:p>
        </p:txBody>
      </p:sp>
      <p:sp>
        <p:nvSpPr>
          <p:cNvPr id="36" name="Rectangle 35"/>
          <p:cNvSpPr/>
          <p:nvPr/>
        </p:nvSpPr>
        <p:spPr>
          <a:xfrm>
            <a:off x="640080" y="3977640"/>
            <a:ext cx="7863840" cy="9144"/>
          </a:xfrm>
          <a:prstGeom prst="rect">
            <a:avLst/>
          </a:prstGeom>
          <a:solidFill>
            <a:srgbClr val="D5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19" y="3611879"/>
            <a:ext cx="2075688" cy="347472"/>
          </a:xfrm>
          <a:prstGeom prst="rect">
            <a:avLst/>
          </a:prstGeom>
          <a:noFill/>
        </p:spPr>
        <p:txBody>
          <a:bodyPr wrap="square" lIns="0" rIns="0" tIns="0" bIns="0" anchor="ctr">
            <a:spAutoFit/>
          </a:bodyPr>
          <a:lstStyle/>
          <a:p>
            <a:pPr>
              <a:spcAft>
                <a:spcPts val="0"/>
              </a:spcAft>
            </a:pPr>
            <a:r>
              <a:rPr sz="1050" b="1" i="0">
                <a:solidFill>
                  <a:srgbClr val="1E2447"/>
                </a:solidFill>
                <a:latin typeface="Calibri"/>
              </a:rPr>
              <a:t>Nature in proportion</a:t>
            </a:r>
          </a:p>
        </p:txBody>
      </p:sp>
      <p:sp>
        <p:nvSpPr>
          <p:cNvPr id="38" name="TextBox 37"/>
          <p:cNvSpPr txBox="1"/>
          <p:nvPr/>
        </p:nvSpPr>
        <p:spPr>
          <a:xfrm>
            <a:off x="2971800" y="3611879"/>
            <a:ext cx="2624327"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Drawdown; falling fertility</a:t>
            </a:r>
          </a:p>
        </p:txBody>
      </p:sp>
      <p:sp>
        <p:nvSpPr>
          <p:cNvPr id="39" name="TextBox 38"/>
          <p:cNvSpPr txBox="1"/>
          <p:nvPr/>
        </p:nvSpPr>
        <p:spPr>
          <a:xfrm>
            <a:off x="5760720" y="3611879"/>
            <a:ext cx="2670048" cy="347472"/>
          </a:xfrm>
          <a:prstGeom prst="rect">
            <a:avLst/>
          </a:prstGeom>
          <a:noFill/>
        </p:spPr>
        <p:txBody>
          <a:bodyPr wrap="square" lIns="0" rIns="0" tIns="0" bIns="0" anchor="ctr">
            <a:spAutoFit/>
          </a:bodyPr>
          <a:lstStyle/>
          <a:p>
            <a:pPr>
              <a:spcAft>
                <a:spcPts val="0"/>
              </a:spcAft>
            </a:pPr>
            <a:r>
              <a:rPr sz="1000" b="0" i="0">
                <a:solidFill>
                  <a:srgbClr val="5A6377"/>
                </a:solidFill>
                <a:latin typeface="Calibri"/>
              </a:rPr>
              <a:t>Which use serves the earth's balance?</a:t>
            </a:r>
          </a:p>
        </p:txBody>
      </p:sp>
      <p:sp>
        <p:nvSpPr>
          <p:cNvPr id="40" name="TextBox 39"/>
          <p:cNvSpPr txBox="1"/>
          <p:nvPr/>
        </p:nvSpPr>
        <p:spPr>
          <a:xfrm>
            <a:off x="640080" y="434340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When agents make early traces and checkable logic visible in common view, councils cannot ignore them and self-correct.</a:t>
            </a:r>
          </a:p>
        </p:txBody>
      </p:sp>
      <p:sp>
        <p:nvSpPr>
          <p:cNvPr id="41" name="TextBox 40"/>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§8.4  ·  AA pp. 26, 49, 106, 119, 127, 142–146  ·  MVD pp. 263–268  ·  AnalyticMadhyasthDarshan.org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VALUING LABOUR  ·  §8.5</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AI Agents to Give Labour Its Value</a:t>
            </a:r>
          </a:p>
        </p:txBody>
      </p:sp>
      <p:sp>
        <p:nvSpPr>
          <p:cNvPr id="7" name="Rounded Rectangle 6"/>
          <p:cNvSpPr/>
          <p:nvPr/>
        </p:nvSpPr>
        <p:spPr>
          <a:xfrm>
            <a:off x="6400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949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Records</a:t>
            </a:r>
          </a:p>
          <a:p>
            <a:pPr algn="ctr">
              <a:spcAft>
                <a:spcPts val="0"/>
              </a:spcAft>
            </a:pPr>
            <a:r>
              <a:rPr sz="950" b="0" i="1">
                <a:solidFill>
                  <a:srgbClr val="C9D4EF"/>
                </a:solidFill>
                <a:latin typeface="Calibri"/>
              </a:rPr>
              <a:t>pace, time, means, pay</a:t>
            </a:r>
          </a:p>
        </p:txBody>
      </p:sp>
      <p:sp>
        <p:nvSpPr>
          <p:cNvPr id="9" name="TextBox 8"/>
          <p:cNvSpPr txBox="1"/>
          <p:nvPr/>
        </p:nvSpPr>
        <p:spPr>
          <a:xfrm>
            <a:off x="20116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0" name="Rounded Rectangle 9"/>
          <p:cNvSpPr/>
          <p:nvPr/>
        </p:nvSpPr>
        <p:spPr>
          <a:xfrm>
            <a:off x="22402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951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Common values</a:t>
            </a:r>
          </a:p>
          <a:p>
            <a:pPr algn="ctr">
              <a:spcAft>
                <a:spcPts val="0"/>
              </a:spcAft>
            </a:pPr>
            <a:r>
              <a:rPr sz="950" b="0" i="1">
                <a:solidFill>
                  <a:srgbClr val="C9D4EF"/>
                </a:solidFill>
                <a:latin typeface="Calibri"/>
              </a:rPr>
              <a:t>across many villages</a:t>
            </a:r>
          </a:p>
        </p:txBody>
      </p:sp>
      <p:sp>
        <p:nvSpPr>
          <p:cNvPr id="12" name="TextBox 11"/>
          <p:cNvSpPr txBox="1"/>
          <p:nvPr/>
        </p:nvSpPr>
        <p:spPr>
          <a:xfrm>
            <a:off x="36118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3" name="Rounded Rectangle 12"/>
          <p:cNvSpPr/>
          <p:nvPr/>
        </p:nvSpPr>
        <p:spPr>
          <a:xfrm>
            <a:off x="38404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953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Embodied labour</a:t>
            </a:r>
          </a:p>
          <a:p>
            <a:pPr algn="ctr">
              <a:spcAft>
                <a:spcPts val="0"/>
              </a:spcAft>
            </a:pPr>
            <a:r>
              <a:rPr sz="950" b="0" i="1">
                <a:solidFill>
                  <a:srgbClr val="C9D4EF"/>
                </a:solidFill>
                <a:latin typeface="Calibri"/>
              </a:rPr>
              <a:t>I–O, depreciation, rent</a:t>
            </a:r>
          </a:p>
        </p:txBody>
      </p:sp>
      <p:sp>
        <p:nvSpPr>
          <p:cNvPr id="15" name="TextBox 14"/>
          <p:cNvSpPr txBox="1"/>
          <p:nvPr/>
        </p:nvSpPr>
        <p:spPr>
          <a:xfrm>
            <a:off x="52120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6" name="Rounded Rectangle 15"/>
          <p:cNvSpPr/>
          <p:nvPr/>
        </p:nvSpPr>
        <p:spPr>
          <a:xfrm>
            <a:off x="54406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955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Two ledgers</a:t>
            </a:r>
          </a:p>
          <a:p>
            <a:pPr algn="ctr">
              <a:spcAft>
                <a:spcPts val="0"/>
              </a:spcAft>
            </a:pPr>
            <a:r>
              <a:rPr sz="950" b="0" i="1">
                <a:solidFill>
                  <a:srgbClr val="C9D4EF"/>
                </a:solidFill>
                <a:latin typeface="Calibri"/>
              </a:rPr>
              <a:t>price and labour value</a:t>
            </a:r>
          </a:p>
        </p:txBody>
      </p:sp>
      <p:sp>
        <p:nvSpPr>
          <p:cNvPr id="18" name="TextBox 17"/>
          <p:cNvSpPr txBox="1"/>
          <p:nvPr/>
        </p:nvSpPr>
        <p:spPr>
          <a:xfrm>
            <a:off x="6812280" y="1463040"/>
            <a:ext cx="228600" cy="365760"/>
          </a:xfrm>
          <a:prstGeom prst="rect">
            <a:avLst/>
          </a:prstGeom>
          <a:noFill/>
        </p:spPr>
        <p:txBody>
          <a:bodyPr wrap="square" lIns="0" rIns="0" tIns="0" bIns="0" anchor="ctr">
            <a:spAutoFit/>
          </a:bodyPr>
          <a:lstStyle/>
          <a:p>
            <a:pPr algn="ctr">
              <a:spcAft>
                <a:spcPts val="0"/>
              </a:spcAft>
            </a:pPr>
            <a:r>
              <a:rPr sz="1800" b="1" i="0">
                <a:solidFill>
                  <a:srgbClr val="C9821E"/>
                </a:solidFill>
                <a:latin typeface="Calibri"/>
              </a:rPr>
              <a:t>›</a:t>
            </a:r>
          </a:p>
        </p:txBody>
      </p:sp>
      <p:sp>
        <p:nvSpPr>
          <p:cNvPr id="19" name="Rounded Rectangle 18"/>
          <p:cNvSpPr/>
          <p:nvPr/>
        </p:nvSpPr>
        <p:spPr>
          <a:xfrm>
            <a:off x="7040880" y="1298448"/>
            <a:ext cx="1371600" cy="713232"/>
          </a:xfrm>
          <a:prstGeom prst="roundRect">
            <a:avLst>
              <a:gd name="adj" fmla="val 7000"/>
            </a:avLst>
          </a:prstGeom>
          <a:solidFill>
            <a:srgbClr val="1E24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95744" y="1298448"/>
            <a:ext cx="1261872" cy="713232"/>
          </a:xfrm>
          <a:prstGeom prst="rect">
            <a:avLst/>
          </a:prstGeom>
          <a:noFill/>
        </p:spPr>
        <p:txBody>
          <a:bodyPr wrap="square" lIns="0" rIns="0" tIns="0" bIns="0" anchor="ctr">
            <a:spAutoFit/>
          </a:bodyPr>
          <a:lstStyle/>
          <a:p>
            <a:pPr algn="ctr">
              <a:spcAft>
                <a:spcPts val="0"/>
              </a:spcAft>
            </a:pPr>
            <a:r>
              <a:rPr sz="1150" b="1" i="0">
                <a:solidFill>
                  <a:srgbClr val="FFFFFF"/>
                </a:solidFill>
                <a:latin typeface="Cambria"/>
              </a:rPr>
              <a:t>Visible</a:t>
            </a:r>
          </a:p>
          <a:p>
            <a:pPr algn="ctr">
              <a:spcAft>
                <a:spcPts val="0"/>
              </a:spcAft>
            </a:pPr>
            <a:r>
              <a:rPr sz="950" b="0" i="1">
                <a:solidFill>
                  <a:srgbClr val="C9D4EF"/>
                </a:solidFill>
                <a:latin typeface="Calibri"/>
              </a:rPr>
              <a:t>to each producer</a:t>
            </a:r>
          </a:p>
        </p:txBody>
      </p:sp>
      <p:sp>
        <p:nvSpPr>
          <p:cNvPr id="21" name="Rounded Rectangle 20"/>
          <p:cNvSpPr/>
          <p:nvPr/>
        </p:nvSpPr>
        <p:spPr>
          <a:xfrm>
            <a:off x="7040880" y="1042415"/>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0" y="1042415"/>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23" name="Rounded Rectangle 22"/>
          <p:cNvSpPr/>
          <p:nvPr/>
        </p:nvSpPr>
        <p:spPr>
          <a:xfrm>
            <a:off x="640080" y="2240280"/>
            <a:ext cx="3840480" cy="155448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59" y="235915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What the agent network computes</a:t>
            </a:r>
          </a:p>
        </p:txBody>
      </p:sp>
      <p:sp>
        <p:nvSpPr>
          <p:cNvPr id="25" name="TextBox 24"/>
          <p:cNvSpPr txBox="1"/>
          <p:nvPr/>
        </p:nvSpPr>
        <p:spPr>
          <a:xfrm>
            <a:off x="822959"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Multi-village midpoint values, Leontief input–output chains, tool depreciation without interest, Ricardian soil adjustments, and 3-stage dual ledgers.</a:t>
            </a:r>
          </a:p>
        </p:txBody>
      </p:sp>
      <p:sp>
        <p:nvSpPr>
          <p:cNvPr id="26" name="Rounded Rectangle 25"/>
          <p:cNvSpPr/>
          <p:nvPr/>
        </p:nvSpPr>
        <p:spPr>
          <a:xfrm>
            <a:off x="4663440" y="2240280"/>
            <a:ext cx="3840480" cy="155448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6320" y="235915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What people decide</a:t>
            </a:r>
          </a:p>
        </p:txBody>
      </p:sp>
      <p:sp>
        <p:nvSpPr>
          <p:cNvPr id="28" name="TextBox 27"/>
          <p:cNvSpPr txBox="1"/>
          <p:nvPr/>
        </p:nvSpPr>
        <p:spPr>
          <a:xfrm>
            <a:off x="4846320" y="2679191"/>
            <a:ext cx="3474720" cy="1005839"/>
          </a:xfrm>
          <a:prstGeom prst="rect">
            <a:avLst/>
          </a:prstGeom>
          <a:noFill/>
        </p:spPr>
        <p:txBody>
          <a:bodyPr wrap="square" lIns="0" rIns="0" tIns="0" bIns="0" anchor="t">
            <a:spAutoFit/>
          </a:bodyPr>
          <a:lstStyle/>
          <a:p>
            <a:pPr>
              <a:spcAft>
                <a:spcPts val="0"/>
              </a:spcAft>
            </a:pPr>
            <a:r>
              <a:rPr sz="1150" b="0" i="0">
                <a:solidFill>
                  <a:srgbClr val="5A6377"/>
                </a:solidFill>
                <a:latin typeface="Calibri"/>
              </a:rPr>
              <a:t>The village council sets the valuation method; committees fix quantity, quality and value of labour. Inside the family, nothing is weighed.</a:t>
            </a:r>
          </a:p>
        </p:txBody>
      </p:sp>
      <p:sp>
        <p:nvSpPr>
          <p:cNvPr id="29" name="TextBox 28"/>
          <p:cNvSpPr txBox="1"/>
          <p:nvPr/>
        </p:nvSpPr>
        <p:spPr>
          <a:xfrm>
            <a:off x="640080" y="3977639"/>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True value is more than an exchange ratio: it is what labour establishes for the families who use its products.</a:t>
            </a:r>
          </a:p>
        </p:txBody>
      </p:sp>
      <p:sp>
        <p:nvSpPr>
          <p:cNvPr id="30" name="TextBox 29"/>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§§4.2, 4.10, 8.5  ·  AA pp. 66–67, 118–120, 131, 142–145  ·  Ricardo 1817  ·  Leontief 1936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  ·  BALANCE AND SAFEGUARDS  ·  §§8.6–8.8</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Keeping the Cycle Balanced and Governed</a:t>
            </a:r>
          </a:p>
        </p:txBody>
      </p:sp>
      <p:sp>
        <p:nvSpPr>
          <p:cNvPr id="7" name="Rounded Rectangle 6"/>
          <p:cNvSpPr/>
          <p:nvPr/>
        </p:nvSpPr>
        <p:spPr>
          <a:xfrm>
            <a:off x="640080"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545335" y="1188719"/>
            <a:ext cx="1463040" cy="182880"/>
          </a:xfrm>
          <a:prstGeom prst="roundRect">
            <a:avLst>
              <a:gd name="adj" fmla="val 7000"/>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545335" y="1188719"/>
            <a:ext cx="146304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THIS STUDY'S PROPOSAL</a:t>
            </a:r>
          </a:p>
        </p:txBody>
      </p:sp>
      <p:sp>
        <p:nvSpPr>
          <p:cNvPr id="10" name="TextBox 9"/>
          <p:cNvSpPr txBox="1"/>
          <p:nvPr/>
        </p:nvSpPr>
        <p:spPr>
          <a:xfrm>
            <a:off x="822959"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Collective visibility</a:t>
            </a:r>
          </a:p>
        </p:txBody>
      </p:sp>
      <p:sp>
        <p:nvSpPr>
          <p:cNvPr id="11" name="TextBox 10"/>
          <p:cNvSpPr txBox="1"/>
          <p:nvPr/>
        </p:nvSpPr>
        <p:spPr>
          <a:xfrm>
            <a:off x="822959"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Shared council views make drift, causal logic, and 3-stage ledgers visible to all peers at once, supporting collective self-correction across 10 tiers.</a:t>
            </a:r>
          </a:p>
        </p:txBody>
      </p:sp>
      <p:sp>
        <p:nvSpPr>
          <p:cNvPr id="12" name="Rounded Rectangle 11"/>
          <p:cNvSpPr/>
          <p:nvPr/>
        </p:nvSpPr>
        <p:spPr>
          <a:xfrm>
            <a:off x="3328416" y="1280160"/>
            <a:ext cx="2496312"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11296" y="1399031"/>
            <a:ext cx="2130552"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Participation &amp; commons</a:t>
            </a:r>
          </a:p>
        </p:txBody>
      </p:sp>
      <p:sp>
        <p:nvSpPr>
          <p:cNvPr id="14" name="TextBox 13"/>
          <p:cNvSpPr txBox="1"/>
          <p:nvPr/>
        </p:nvSpPr>
        <p:spPr>
          <a:xfrm>
            <a:off x="3511296" y="1719072"/>
            <a:ext cx="2130552"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Reduce drudgery without displacing producers; keep all models, weights and protocols open as shared generational means.</a:t>
            </a:r>
          </a:p>
        </p:txBody>
      </p:sp>
      <p:sp>
        <p:nvSpPr>
          <p:cNvPr id="15" name="Rounded Rectangle 14"/>
          <p:cNvSpPr/>
          <p:nvPr/>
        </p:nvSpPr>
        <p:spPr>
          <a:xfrm>
            <a:off x="6016752" y="1280160"/>
            <a:ext cx="2487168" cy="196596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99632" y="1399031"/>
            <a:ext cx="2121408"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Subsidiarity &amp; boundaries</a:t>
            </a:r>
          </a:p>
        </p:txBody>
      </p:sp>
      <p:sp>
        <p:nvSpPr>
          <p:cNvPr id="17" name="TextBox 16"/>
          <p:cNvSpPr txBox="1"/>
          <p:nvPr/>
        </p:nvSpPr>
        <p:spPr>
          <a:xfrm>
            <a:off x="6199632" y="1719072"/>
            <a:ext cx="2121408" cy="1417319"/>
          </a:xfrm>
          <a:prstGeom prst="rect">
            <a:avLst/>
          </a:prstGeom>
          <a:noFill/>
        </p:spPr>
        <p:txBody>
          <a:bodyPr wrap="square" lIns="0" rIns="0" tIns="0" bIns="0" anchor="t">
            <a:spAutoFit/>
          </a:bodyPr>
          <a:lstStyle/>
          <a:p>
            <a:pPr>
              <a:spcAft>
                <a:spcPts val="0"/>
              </a:spcAft>
            </a:pPr>
            <a:r>
              <a:rPr sz="1100" b="0" i="0">
                <a:solidFill>
                  <a:srgbClr val="5A6377"/>
                </a:solidFill>
                <a:latin typeface="Calibri"/>
              </a:rPr>
              <a:t>Data stays with person, family and village; never optimise for profit or rule; return justice, dharma and truth to people.</a:t>
            </a:r>
          </a:p>
        </p:txBody>
      </p:sp>
      <p:sp>
        <p:nvSpPr>
          <p:cNvPr id="18" name="Rounded Rectangle 17"/>
          <p:cNvSpPr/>
          <p:nvPr/>
        </p:nvSpPr>
        <p:spPr>
          <a:xfrm>
            <a:off x="640080" y="3429000"/>
            <a:ext cx="7863840" cy="914400"/>
          </a:xfrm>
          <a:prstGeom prst="roundRect">
            <a:avLst>
              <a:gd name="adj" fmla="val 7000"/>
            </a:avLst>
          </a:prstGeom>
          <a:solidFill>
            <a:srgbClr val="F1F2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8680" y="3520440"/>
            <a:ext cx="868680" cy="182880"/>
          </a:xfrm>
          <a:prstGeom prst="roundRect">
            <a:avLst>
              <a:gd name="adj" fmla="val 7000"/>
            </a:avLst>
          </a:prstGeom>
          <a:solidFill>
            <a:srgbClr val="7A82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520440"/>
            <a:ext cx="868680" cy="182880"/>
          </a:xfrm>
          <a:prstGeom prst="rect">
            <a:avLst/>
          </a:prstGeom>
          <a:noFill/>
        </p:spPr>
        <p:txBody>
          <a:bodyPr wrap="square" lIns="0" rIns="0" tIns="0" bIns="0" anchor="ctr">
            <a:spAutoFit/>
          </a:bodyPr>
          <a:lstStyle/>
          <a:p>
            <a:pPr algn="ctr">
              <a:spcAft>
                <a:spcPts val="0"/>
              </a:spcAft>
            </a:pPr>
            <a:r>
              <a:rPr sz="750" b="1" i="0">
                <a:solidFill>
                  <a:srgbClr val="FFFFFF"/>
                </a:solidFill>
                <a:latin typeface="Calibri"/>
              </a:rPr>
              <a:t>COMPARISON</a:t>
            </a:r>
          </a:p>
        </p:txBody>
      </p:sp>
      <p:sp>
        <p:nvSpPr>
          <p:cNvPr id="21" name="TextBox 20"/>
          <p:cNvSpPr txBox="1"/>
          <p:nvPr/>
        </p:nvSpPr>
        <p:spPr>
          <a:xfrm>
            <a:off x="1874519" y="3465576"/>
            <a:ext cx="6492240" cy="841248"/>
          </a:xfrm>
          <a:prstGeom prst="rect">
            <a:avLst/>
          </a:prstGeom>
          <a:noFill/>
        </p:spPr>
        <p:txBody>
          <a:bodyPr wrap="square" lIns="0" rIns="0" tIns="0" bIns="0" anchor="ctr">
            <a:spAutoFit/>
          </a:bodyPr>
          <a:lstStyle/>
          <a:p>
            <a:pPr>
              <a:spcAft>
                <a:spcPts val="0"/>
              </a:spcAft>
            </a:pPr>
            <a:r>
              <a:rPr sz="1100" b="0" i="1">
                <a:solidFill>
                  <a:srgbClr val="1E2447"/>
                </a:solidFill>
                <a:latin typeface="Calibri"/>
              </a:rPr>
              <a:t>Recommendation and advertising systems now tune AI to keep the selection–taste cycle running. Aimed at use and right use, the same AI can help a family keep to its assessed needs.</a:t>
            </a:r>
          </a:p>
        </p:txBody>
      </p:sp>
      <p:sp>
        <p:nvSpPr>
          <p:cNvPr id="22" name="TextBox 2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§§8.6–8.8  ·  AA pp. 29, 56–58, 72, 82, 92, 107, 118, 128, 132  ·  MVD pp. 265, 268  ·  JVD p. 35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30352" y="457200"/>
            <a:ext cx="219456" cy="219456"/>
          </a:xfrm>
          <a:prstGeom prst="ellipse">
            <a:avLst/>
          </a:prstGeom>
          <a:noFill/>
          <a:ln w="12700">
            <a:solidFill>
              <a:srgbClr val="3B4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spAutoFit/>
          </a:bodyPr>
          <a:lstStyle/>
          <a:p>
            <a:pPr>
              <a:spcAft>
                <a:spcPts val="0"/>
              </a:spcAft>
            </a:pPr>
            <a:r>
              <a:rPr sz="1050" b="1" i="0">
                <a:solidFill>
                  <a:srgbClr val="9A6414"/>
                </a:solidFill>
                <a:latin typeface="Calibri"/>
              </a:rPr>
              <a:t>VI  ·  CRITICAL REVIEW  ·  §9</a:t>
            </a:r>
          </a:p>
        </p:txBody>
      </p:sp>
      <p:sp>
        <p:nvSpPr>
          <p:cNvPr id="6" name="TextBox 5"/>
          <p:cNvSpPr txBox="1"/>
          <p:nvPr/>
        </p:nvSpPr>
        <p:spPr>
          <a:xfrm>
            <a:off x="960120" y="457200"/>
            <a:ext cx="7726679" cy="566928"/>
          </a:xfrm>
          <a:prstGeom prst="rect">
            <a:avLst/>
          </a:prstGeom>
          <a:noFill/>
        </p:spPr>
        <p:txBody>
          <a:bodyPr wrap="square" lIns="0" rIns="0" tIns="0" bIns="0" anchor="ctr">
            <a:spAutoFit/>
          </a:bodyPr>
          <a:lstStyle/>
          <a:p>
            <a:pPr>
              <a:spcAft>
                <a:spcPts val="0"/>
              </a:spcAft>
            </a:pPr>
            <a:r>
              <a:rPr sz="3000" b="1" i="0">
                <a:solidFill>
                  <a:srgbClr val="1E2447"/>
                </a:solidFill>
                <a:latin typeface="Cambria"/>
              </a:rPr>
              <a:t>Strengths and Open Problems</a:t>
            </a:r>
          </a:p>
        </p:txBody>
      </p:sp>
      <p:sp>
        <p:nvSpPr>
          <p:cNvPr id="7" name="Rounded Rectangle 6"/>
          <p:cNvSpPr/>
          <p:nvPr/>
        </p:nvSpPr>
        <p:spPr>
          <a:xfrm>
            <a:off x="640080" y="1280160"/>
            <a:ext cx="3840480" cy="3017520"/>
          </a:xfrm>
          <a:prstGeom prst="roundRect">
            <a:avLst>
              <a:gd name="adj" fmla="val 7000"/>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99032"/>
            <a:ext cx="3474720" cy="274320"/>
          </a:xfrm>
          <a:prstGeom prst="rect">
            <a:avLst/>
          </a:prstGeom>
          <a:noFill/>
        </p:spPr>
        <p:txBody>
          <a:bodyPr wrap="square" lIns="0" rIns="0" tIns="0" bIns="0" anchor="ctr">
            <a:spAutoFit/>
          </a:bodyPr>
          <a:lstStyle/>
          <a:p>
            <a:pPr>
              <a:spcAft>
                <a:spcPts val="0"/>
              </a:spcAft>
            </a:pPr>
            <a:r>
              <a:rPr sz="1300" b="1" i="0">
                <a:solidFill>
                  <a:srgbClr val="1E2447"/>
                </a:solidFill>
                <a:latin typeface="Cambria"/>
              </a:rPr>
              <a:t>Strengths</a:t>
            </a:r>
          </a:p>
        </p:txBody>
      </p:sp>
      <p:sp>
        <p:nvSpPr>
          <p:cNvPr id="9" name="Oval 8"/>
          <p:cNvSpPr/>
          <p:nvPr/>
        </p:nvSpPr>
        <p:spPr>
          <a:xfrm>
            <a:off x="86868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2412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Explains insatiability via jeevan &amp; realisation</a:t>
            </a:r>
          </a:p>
        </p:txBody>
      </p:sp>
      <p:sp>
        <p:nvSpPr>
          <p:cNvPr id="11" name="Oval 10"/>
          <p:cNvSpPr/>
          <p:nvPr/>
        </p:nvSpPr>
        <p:spPr>
          <a:xfrm>
            <a:off x="86868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Resolved, prosperous, fearless living with nature</a:t>
            </a:r>
          </a:p>
        </p:txBody>
      </p:sp>
      <p:sp>
        <p:nvSpPr>
          <p:cNvPr id="13" name="Oval 12"/>
          <p:cNvSpPr/>
          <p:nvPr/>
        </p:nvSpPr>
        <p:spPr>
          <a:xfrm>
            <a:off x="86868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Family need-sharing + labour-value exchange</a:t>
            </a:r>
          </a:p>
        </p:txBody>
      </p:sp>
      <p:sp>
        <p:nvSpPr>
          <p:cNvPr id="15" name="Oval 14"/>
          <p:cNvSpPr/>
          <p:nvPr/>
        </p:nvSpPr>
        <p:spPr>
          <a:xfrm>
            <a:off x="86868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Resolves 6 deadlocks of body-centric economics</a:t>
            </a:r>
          </a:p>
        </p:txBody>
      </p:sp>
      <p:sp>
        <p:nvSpPr>
          <p:cNvPr id="17" name="Oval 16"/>
          <p:cNvSpPr/>
          <p:nvPr/>
        </p:nvSpPr>
        <p:spPr>
          <a:xfrm>
            <a:off x="86868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3-stage path + required 10-tier AI backbone</a:t>
            </a:r>
          </a:p>
        </p:txBody>
      </p:sp>
      <p:sp>
        <p:nvSpPr>
          <p:cNvPr id="19" name="Rounded Rectangle 18"/>
          <p:cNvSpPr/>
          <p:nvPr/>
        </p:nvSpPr>
        <p:spPr>
          <a:xfrm>
            <a:off x="4663440" y="1280160"/>
            <a:ext cx="3840480" cy="3017520"/>
          </a:xfrm>
          <a:prstGeom prst="roundRect">
            <a:avLst>
              <a:gd name="adj" fmla="val 7000"/>
            </a:avLst>
          </a:prstGeom>
          <a:solidFill>
            <a:srgbClr val="FAF1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0" y="1399032"/>
            <a:ext cx="3474720" cy="274320"/>
          </a:xfrm>
          <a:prstGeom prst="rect">
            <a:avLst/>
          </a:prstGeom>
          <a:noFill/>
        </p:spPr>
        <p:txBody>
          <a:bodyPr wrap="square" lIns="0" rIns="0" tIns="0" bIns="0" anchor="ctr">
            <a:spAutoFit/>
          </a:bodyPr>
          <a:lstStyle/>
          <a:p>
            <a:pPr>
              <a:spcAft>
                <a:spcPts val="0"/>
              </a:spcAft>
            </a:pPr>
            <a:r>
              <a:rPr sz="1300" b="1" i="0">
                <a:solidFill>
                  <a:srgbClr val="9A6414"/>
                </a:solidFill>
                <a:latin typeface="Cambria"/>
              </a:rPr>
              <a:t>Open problems</a:t>
            </a:r>
          </a:p>
        </p:txBody>
      </p:sp>
      <p:sp>
        <p:nvSpPr>
          <p:cNvPr id="21" name="Oval 20"/>
          <p:cNvSpPr/>
          <p:nvPr/>
        </p:nvSpPr>
        <p:spPr>
          <a:xfrm>
            <a:off x="4892040" y="18562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47488" y="17556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Need assessed from family to planetary scale</a:t>
            </a:r>
          </a:p>
        </p:txBody>
      </p:sp>
      <p:sp>
        <p:nvSpPr>
          <p:cNvPr id="23" name="Oval 22"/>
          <p:cNvSpPr/>
          <p:nvPr/>
        </p:nvSpPr>
        <p:spPr>
          <a:xfrm>
            <a:off x="4892040" y="23134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47488" y="22128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Embodied labour, depreciation &amp; Ricardian rent</a:t>
            </a:r>
          </a:p>
        </p:txBody>
      </p:sp>
      <p:sp>
        <p:nvSpPr>
          <p:cNvPr id="25" name="Oval 24"/>
          <p:cNvSpPr/>
          <p:nvPr/>
        </p:nvSpPr>
        <p:spPr>
          <a:xfrm>
            <a:off x="4892040" y="27706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47488" y="26700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10-tier AI coordination without bureaucracy</a:t>
            </a:r>
          </a:p>
        </p:txBody>
      </p:sp>
      <p:sp>
        <p:nvSpPr>
          <p:cNvPr id="27" name="Oval 26"/>
          <p:cNvSpPr/>
          <p:nvPr/>
        </p:nvSpPr>
        <p:spPr>
          <a:xfrm>
            <a:off x="4892040" y="3227832"/>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47488" y="31272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Automation without displacing producers</a:t>
            </a:r>
          </a:p>
        </p:txBody>
      </p:sp>
      <p:sp>
        <p:nvSpPr>
          <p:cNvPr id="29" name="Oval 28"/>
          <p:cNvSpPr/>
          <p:nvPr/>
        </p:nvSpPr>
        <p:spPr>
          <a:xfrm>
            <a:off x="4892040" y="3685031"/>
            <a:ext cx="73152" cy="73152"/>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47488" y="3584448"/>
            <a:ext cx="3291840" cy="292608"/>
          </a:xfrm>
          <a:prstGeom prst="rect">
            <a:avLst/>
          </a:prstGeom>
          <a:noFill/>
        </p:spPr>
        <p:txBody>
          <a:bodyPr wrap="square" lIns="0" rIns="0" tIns="0" bIns="0" anchor="ctr">
            <a:spAutoFit/>
          </a:bodyPr>
          <a:lstStyle/>
          <a:p>
            <a:pPr>
              <a:spcAft>
                <a:spcPts val="0"/>
              </a:spcAft>
            </a:pPr>
            <a:r>
              <a:rPr sz="1150" b="0" i="0">
                <a:solidFill>
                  <a:srgbClr val="5A6377"/>
                </a:solidFill>
                <a:latin typeface="Calibri"/>
              </a:rPr>
              <a:t>Governing 10-tier agents while keeping judgement</a:t>
            </a:r>
          </a:p>
        </p:txBody>
      </p:sp>
      <p:sp>
        <p:nvSpPr>
          <p:cNvPr id="31" name="TextBox 30"/>
          <p:cNvSpPr txBox="1"/>
          <p:nvPr/>
        </p:nvSpPr>
        <p:spPr>
          <a:xfrm>
            <a:off x="640080" y="4389120"/>
            <a:ext cx="7863840" cy="329184"/>
          </a:xfrm>
          <a:prstGeom prst="rect">
            <a:avLst/>
          </a:prstGeom>
          <a:noFill/>
        </p:spPr>
        <p:txBody>
          <a:bodyPr wrap="square" lIns="0" rIns="0" tIns="0" bIns="0" anchor="ctr">
            <a:spAutoFit/>
          </a:bodyPr>
          <a:lstStyle/>
          <a:p>
            <a:pPr>
              <a:spcAft>
                <a:spcPts val="0"/>
              </a:spcAft>
            </a:pPr>
            <a:r>
              <a:rPr sz="1150" b="0" i="1">
                <a:solidFill>
                  <a:srgbClr val="1E2447"/>
                </a:solidFill>
                <a:latin typeface="Calibri"/>
              </a:rPr>
              <a:t>Realising this vision at Earth scale requires both jeevan understanding and the 10-tier AI agentic backbone.</a:t>
            </a:r>
          </a:p>
        </p:txBody>
      </p:sp>
      <p:sp>
        <p:nvSpPr>
          <p:cNvPr id="32" name="TextBox 31"/>
          <p:cNvSpPr txBox="1"/>
          <p:nvPr/>
        </p:nvSpPr>
        <p:spPr>
          <a:xfrm>
            <a:off x="502920" y="4828032"/>
            <a:ext cx="8138160" cy="256032"/>
          </a:xfrm>
          <a:prstGeom prst="rect">
            <a:avLst/>
          </a:prstGeom>
          <a:noFill/>
        </p:spPr>
        <p:txBody>
          <a:bodyPr wrap="square" lIns="0" rIns="0" tIns="0" bIns="0" anchor="ctr">
            <a:spAutoFit/>
          </a:bodyPr>
          <a:lstStyle/>
          <a:p>
            <a:pPr>
              <a:spcAft>
                <a:spcPts val="0"/>
              </a:spcAft>
            </a:pPr>
            <a:r>
              <a:rPr sz="950" b="0" i="1">
                <a:solidFill>
                  <a:srgbClr val="5A6377"/>
                </a:solidFill>
                <a:latin typeface="Calibri"/>
              </a:rPr>
              <a:t>Study §§9.1–9.7  ·  AnalyticMadhyasthDarshan.org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960120"/>
            <a:ext cx="5852160" cy="274320"/>
          </a:xfrm>
          <a:prstGeom prst="rect">
            <a:avLst/>
          </a:prstGeom>
          <a:noFill/>
        </p:spPr>
        <p:txBody>
          <a:bodyPr wrap="square" lIns="0" rIns="0" tIns="0" bIns="0" anchor="ctr">
            <a:spAutoFit/>
          </a:bodyPr>
          <a:lstStyle/>
          <a:p>
            <a:pPr>
              <a:spcAft>
                <a:spcPts val="0"/>
              </a:spcAft>
            </a:pPr>
            <a:r>
              <a:rPr sz="1200" b="1" i="0">
                <a:solidFill>
                  <a:srgbClr val="C9821E"/>
                </a:solidFill>
                <a:latin typeface="Calibri"/>
              </a:rPr>
              <a:t>CULMINATION  ·  CONCLUSION  ·  §10</a:t>
            </a:r>
          </a:p>
        </p:txBody>
      </p:sp>
      <p:sp>
        <p:nvSpPr>
          <p:cNvPr id="12" name="TextBox 11"/>
          <p:cNvSpPr txBox="1"/>
          <p:nvPr/>
        </p:nvSpPr>
        <p:spPr>
          <a:xfrm>
            <a:off x="640080" y="1298448"/>
            <a:ext cx="5120640" cy="1371600"/>
          </a:xfrm>
          <a:prstGeom prst="rect">
            <a:avLst/>
          </a:prstGeom>
          <a:noFill/>
        </p:spPr>
        <p:txBody>
          <a:bodyPr wrap="square" lIns="0" rIns="0" tIns="0" bIns="0" anchor="ctr">
            <a:spAutoFit/>
          </a:bodyPr>
          <a:lstStyle/>
          <a:p>
            <a:pPr>
              <a:spcAft>
                <a:spcPts val="0"/>
              </a:spcAft>
            </a:pPr>
            <a:r>
              <a:rPr sz="4000" b="1" i="0">
                <a:solidFill>
                  <a:srgbClr val="FFFFFF"/>
                </a:solidFill>
                <a:latin typeface="Cambria"/>
              </a:rPr>
              <a:t>Labour Valued, Cycle Closed</a:t>
            </a:r>
          </a:p>
        </p:txBody>
      </p:sp>
      <p:sp>
        <p:nvSpPr>
          <p:cNvPr id="13" name="TextBox 12"/>
          <p:cNvSpPr txBox="1"/>
          <p:nvPr/>
        </p:nvSpPr>
        <p:spPr>
          <a:xfrm>
            <a:off x="640080" y="2670048"/>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Indefinite want   →   resolved jeevan &amp; family need</a:t>
            </a:r>
          </a:p>
        </p:txBody>
      </p:sp>
      <p:sp>
        <p:nvSpPr>
          <p:cNvPr id="14" name="TextBox 13"/>
          <p:cNvSpPr txBox="1"/>
          <p:nvPr/>
        </p:nvSpPr>
        <p:spPr>
          <a:xfrm>
            <a:off x="640080" y="3072384"/>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Price of labour   →   the usefulness labour establishes</a:t>
            </a:r>
          </a:p>
        </p:txBody>
      </p:sp>
      <p:sp>
        <p:nvSpPr>
          <p:cNvPr id="15" name="TextBox 14"/>
          <p:cNvSpPr txBox="1"/>
          <p:nvPr/>
        </p:nvSpPr>
        <p:spPr>
          <a:xfrm>
            <a:off x="640080" y="3474720"/>
            <a:ext cx="5120640" cy="347472"/>
          </a:xfrm>
          <a:prstGeom prst="rect">
            <a:avLst/>
          </a:prstGeom>
          <a:noFill/>
        </p:spPr>
        <p:txBody>
          <a:bodyPr wrap="square" lIns="0" rIns="0" tIns="0" bIns="0" anchor="ctr">
            <a:spAutoFit/>
          </a:bodyPr>
          <a:lstStyle/>
          <a:p>
            <a:pPr>
              <a:spcAft>
                <a:spcPts val="0"/>
              </a:spcAft>
            </a:pPr>
            <a:r>
              <a:rPr sz="1400" b="1" i="0">
                <a:solidFill>
                  <a:srgbClr val="FFFFFF"/>
                </a:solidFill>
                <a:latin typeface="Cambria"/>
              </a:rPr>
              <a:t>Open spiral   →   fearless coexistence at Earth scale</a:t>
            </a:r>
          </a:p>
        </p:txBody>
      </p:sp>
      <p:sp>
        <p:nvSpPr>
          <p:cNvPr id="16" name="TextBox 15"/>
          <p:cNvSpPr txBox="1"/>
          <p:nvPr/>
        </p:nvSpPr>
        <p:spPr>
          <a:xfrm>
            <a:off x="640080" y="3931920"/>
            <a:ext cx="4526280" cy="457200"/>
          </a:xfrm>
          <a:prstGeom prst="rect">
            <a:avLst/>
          </a:prstGeom>
          <a:noFill/>
        </p:spPr>
        <p:txBody>
          <a:bodyPr wrap="square" lIns="0" rIns="0" tIns="0" bIns="0" anchor="ctr">
            <a:spAutoFit/>
          </a:bodyPr>
          <a:lstStyle/>
          <a:p>
            <a:pPr>
              <a:spcAft>
                <a:spcPts val="0"/>
              </a:spcAft>
            </a:pPr>
            <a:r>
              <a:rPr sz="1250" b="0" i="1">
                <a:solidFill>
                  <a:srgbClr val="C9D4EF"/>
                </a:solidFill>
                <a:latin typeface="Calibri"/>
              </a:rPr>
              <a:t>A 10-tier AI backbone is required to make facts visible for collective self-correction; judgement stays with people.</a:t>
            </a:r>
          </a:p>
        </p:txBody>
      </p:sp>
      <p:sp>
        <p:nvSpPr>
          <p:cNvPr id="17" name="TextBox 16"/>
          <p:cNvSpPr txBox="1"/>
          <p:nvPr/>
        </p:nvSpPr>
        <p:spPr>
          <a:xfrm>
            <a:off x="640080" y="4434840"/>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 study based on our current best understanding of the texts</a:t>
            </a:r>
          </a:p>
        </p:txBody>
      </p:sp>
      <p:sp>
        <p:nvSpPr>
          <p:cNvPr id="18" name="TextBox 17"/>
          <p:cNvSpPr txBox="1"/>
          <p:nvPr/>
        </p:nvSpPr>
        <p:spPr>
          <a:xfrm>
            <a:off x="640080" y="4681728"/>
            <a:ext cx="4754880" cy="274320"/>
          </a:xfrm>
          <a:prstGeom prst="rect">
            <a:avLst/>
          </a:prstGeom>
          <a:noFill/>
        </p:spPr>
        <p:txBody>
          <a:bodyPr wrap="square" lIns="0" rIns="0" tIns="0" bIns="0" anchor="ctr">
            <a:spAutoFit/>
          </a:bodyPr>
          <a:lstStyle/>
          <a:p>
            <a:pPr>
              <a:spcAft>
                <a:spcPts val="0"/>
              </a:spcAft>
            </a:pPr>
            <a:r>
              <a:rPr sz="1100" b="0" i="0">
                <a:solidFill>
                  <a:srgbClr val="8E9BC4"/>
                </a:solidFill>
                <a:latin typeface="Calibri"/>
              </a:rPr>
              <a:t>AnalyticMadhyasthDarshan.org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