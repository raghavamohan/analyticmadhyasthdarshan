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study Prosperity Economics and Right Use. It asks a question that ordinary economics rarely asks: why do human economies, unlike every other order of nature, fail to reach balance? And what would an economy look like that gives human labour its true value, judged by the usefulness it establishes, rather than by scarcity, accumulation and price?</a:t>
            </a:r>
          </a:p>
          <a:p/>
          <a:p>
            <a:r>
              <a:t>The study's principal source is Avartansheel Arthshastra, Shri A. Nagraj's treatise on cyclical economics, read through the project's working English translation. It draws as well on Madhyasth Darshan, Jeevan Vidya, Samadhanatmak Bhautikvad, Karm Darshan, Janvad and Adhyatmvad, and it compares the darshan's account with economic theory, with Indian and Advaita teaching on desire, and with the sciences of satiation and natural limits.</a:t>
            </a:r>
          </a:p>
          <a:p/>
          <a:p>
            <a:r>
              <a:t>The deck follows the study in five parts: balance in nature and in the body; the source of insatiability; cyclical economics; comparison; and what measurement and artificial intelligence can contribute, and what they must leave to people.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opens with a contrast. A forest, a herd or a field left to itself settles into a definite balance with its surroundings. Soil feeds plants, plants return to soil, and animals take what their bodies need and then stop. The human body belongs to the same nature: its needs for food, shelter and protection are definite and can be counted.</a:t>
            </a:r>
          </a:p>
          <a:p/>
          <a:p>
            <a:r>
              <a:t>Human economies nevertheless behave differently. They extract more each generation, accumulate wealth that no one can use, and treat a continuing rise in consumption as the measure of success. Mainstream economics takes this imbalance as its starting point: wants are assumed to be unlimited and means scarce, so economic life becomes the permanent allocation of what is never enough.</a:t>
            </a:r>
          </a:p>
          <a:p/>
          <a:p>
            <a:r>
              <a:t>The darshan locates the problem elsewhere, and from that diagnosis asks a constructive question. What would an economy look like that gives human labour its true value, judged by the usefulness labour establishes for human living and for the wider order of nature, rather than by scarcity, accumulation and price?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has four steps, and the deck follows them in order.</a:t>
            </a:r>
          </a:p>
          <a:p/>
          <a:p>
            <a:r>
              <a:t>First, the body's needs are definite, so the body by itself could come to balance with the rest of nature like any other organism. Second, human want is not definite. The darshan explains why: jeevan, the conscious unit, seeks continuity of happiness, and in delusion it reads its own dissatisfaction as a shortage of objects. Third, cyclical economics closes the cycle at the points where it now runs open: need assessed in the family, labour applied to natural abundance, goods produced for use, exchange at the value of labour, and the remainder given to right use. Fourth, instruments, including artificial intelligence, can help keep that cycle in balance and give labour its value, while the judgements of justice, dharma and truth stay with people.</a:t>
            </a:r>
          </a:p>
          <a:p/>
          <a:p>
            <a:r>
              <a:t>Content without a tag presents the primary texts. Small tags mark the study's own proposals and applications, and comparisons with other traditions and the sciences.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describes nature as four orders: material, plant, animal and the knowledge order, which is the human. Each maintains definite conduct. The material order keeps it through the conformance of its constitution and results; plants reproduce their kind through seed conformance; animals live within the conduct of their species. Every unit of nature except the human exhibits definite conduct, and the human reaches definite conduct only through sanskar, the acceptances formed by understanding (JV pp. 47–48; AA pp. 54–55).</a:t>
            </a:r>
          </a:p>
          <a:p/>
          <a:p>
            <a:r>
              <a:t>Each order is also balanced in its existent state. The material order has the innateness of existence, the plant order of existence and growth, the animal order of existence, growth and the hope of living. The knowledge order is balanced only when it evidences resolution, prosperity, fearlessness and coexistence (MVD p. 105).</a:t>
            </a:r>
          </a:p>
          <a:p/>
          <a:p>
            <a:r>
              <a:t>The conclusion is stark. Whatever unit causes disorder in existence is the deluded human being alone (AA p. 41). And prosperity is first a property of the earth itself, which became rich before any human labour touched it (AA pp. 77–78).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is a chemical and physical formation, and its needs are of two kinds. Common aspirations are food, shelter and adornment; special aspirations are telephony, broadcasting and transport (AA pp. 26, 73, 93). Both are needs for objects, and objects have definite properties. Grain can be stored for a few years and then rots; a machine left unused rusts; what is produced is for use (JV p. 152). The accumulation of material objects is not feasible, because their use or transformation is inevitable (MVD p. 183). Even prosperity is a temporal need that ends with the body (MVD p. 96).</a:t>
            </a:r>
          </a:p>
          <a:p/>
          <a:p>
            <a:r>
              <a:t>Karm Darshan states the limit precisely. We can know more than we can desire, desire more than we can do, and do more than we can consume, and the limit of consuming is the body alone. Whatever we produce, however much, we cannot consume that much, which is why production beyond necessity is possible (KD p. 114). A person who understands this produces more and consumes less, with little waste (MVD p. 282).</a:t>
            </a:r>
          </a:p>
          <a:p/>
          <a:p>
            <a:r>
              <a:t>For a village of a hundred families, the quantity and quality of food, shelter, adornment and medicine become definite (AA p. 26). The body's balance is not an ideal imposed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being is a joint form of body and jeevan. Every human being carries out all activities in the hope and expectation of happiness, peace, contentment and bliss. This expectation is the human's innateness, present in every person (AA p. 13). Contentment is accepted by every human being and discontent by none (AA p. 48).</a:t>
            </a:r>
          </a:p>
          <a:p/>
          <a:p>
            <a:r>
              <a:t>Jeevan has ten activities, borne by five faculties: mun, with selection and taste; vritti, with analysis and deliberation; chitta, with visualisation and contemplation; buddhi, with resolve and enlightenment; and atma, with authenticity and realisation (AA p. 50; JV pp. 72–73).</a:t>
            </a:r>
          </a:p>
          <a:p/>
          <a:p>
            <a:r>
              <a:t>The four jeevan values name harmony between adjacent faculties. Happiness is harmony between mun and vritti, peace between vritti and chitta, contentment between chitta and buddhi, and bliss between buddhi and atma (AA pp. 20–21, 92; JV p. 137). Happiness in this sense is not a sensation. It is a state of the whole conscious unit, and its continuity depends on the higher faculties having the content of understanding. That point carries the rest of the argument.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only four and a half of the ten activities are effective: selection, taste, analysis, visualisation, and half of deliberation. Taste and selection operate by what is pleasant to the senses; deliberation operates from the perspectives of pleasure, health and profit, priya, hit and labh; and the person lives identified with bodily sensation. The remaining activities lack the substance of understanding, and the result is continuous internal conflict within jeevan (JV pp. 72–73).</a:t>
            </a:r>
          </a:p>
          <a:p/>
          <a:p>
            <a:r>
              <a:t>Avartansheel Arthshastra draws a consequence that bears directly on economics. Selection and tasting form a cycle of their own: after selecting comes tasting, and after tasting the activity of selection arises again. However often the cycle runs, the arising of selection and tasting remains as it was, ready to be done again, because the powers of jeevan are inexhaustible (AA pp. 17–18).</a:t>
            </a:r>
          </a:p>
          <a:p/>
          <a:p>
            <a:r>
              <a:t>The treatise adds that deliberation by pleasure, health and profit has been pushed to decisive conclusions in human tradition, while deliberation by justice, dharma and truth is still under review, its decisive point not yet settled (AA p. 18). We return to that observation when we come to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awakened alternative is not the suppression of taste. It is its regulation. The treatise states the order of that regulation precisely. In awakened jeevan, every tasting is balanced and regulated on the touchstone of deliberation, every deliberation on the touchstone of contemplation, all contemplation on the touchstone of enlightenment, all enlightenment on the touchstone of realisation, and all realisation on the touchstone of coexistence. This chain is the darshan's formula of self-regulation and balance in every individual (AA p. 95).</a:t>
            </a:r>
          </a:p>
          <a:p/>
          <a:p>
            <a:r>
              <a:t>The study draws the economic meaning. Insatiability is what selection and tasting become when that chain is missing: an inexhaustible activity with no higher activity to give it measure. Taste itself is not the problem. The problem is taste that answers to nothing above it.</a:t>
            </a:r>
          </a:p>
          <a:p/>
          <a:p>
            <a:r>
              <a:t>This is why the darshan does not ask people to renounce enjoyment or wealth. It asks for the understanding that lets the higher faculties give enjoyment and wealth their measure.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based on sensitivity have temporary validity. Eating feels good, but no one can keep eating; sleeping feels good, but no one can keep sleeping. Jeevan Vidya reads this not as a defect but as a provision: the transient nature of sensitivity is an alarm, an inspiration and a direction for awakening (JV pp. 162–163).</a:t>
            </a:r>
          </a:p>
          <a:p/>
          <a:p>
            <a:r>
              <a:t>Whatever indulgence a person carries out through the five senses cannot have continuity, so discontent remains in the reflection that follows (AA p. 48). Temptation towards accumulation and indulgence brings relief for a moment, and afterwards fear and suspicion pervade more than relief (AA p. 33). Pleasure, health and profit are the sources of dissatisfaction; justice, dharma and truth are the sources of satisfaction (AA pp. 58–59).</a:t>
            </a:r>
          </a:p>
          <a:p/>
          <a:p>
            <a:r>
              <a:t>Put together, these passages give the diagnosis. The deluded person reads the discontent that follows every sensory satisfaction, and the conflict of faculties without content, as a shortage of objects, and seeks more of what has just failed to satisfy. The satiation point moves ahead like a mirage (AA p. 78). Duties can be fulfilled because they are definite; needs pursued as indulgence cannot, because they are indefinite and unlimited (MVD p. 128). The study names this a category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texts name the lesson that turns this error into economic doctrine. People stray when they are taught that necessities are infinite and means limited, so that necessity can be met only through struggle. That lesson directs attention to accumulation and comfort, neither of which has a point of satisfaction, and leads to the assumption that necessity itself is infinite (KD p. 115).</a:t>
            </a:r>
          </a:p>
          <a:p/>
          <a:p>
            <a:r>
              <a:t>Release from it needs clear evidence: that each family's necessity is limited, that the possibility of fulfilling it is greater, that the powers of jeevan are inexhaustible, and that the body's necessity is limited (KD p. 115). Profit, which has no point of satisfaction, has no definite measure, and so it cannot be universal (SB p. 234).</a:t>
            </a:r>
          </a:p>
          <a:p/>
          <a:p>
            <a:r>
              <a:t>The comparison is direct. Lionel Robbins gave modern economics its standard definition: the study of human behaviour as a relationship between ends and scarce means which have alternative uses. Economists often present non-satiation as a modelling assumption. The darshan treats the premise itself as the error: nature is abundant, bodily needs are definite, and scarcity appears where indefinite want, or a deliberate withholding of goods, meets finite means.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Profit has always meant giving less and getting more, and prevailing economics has fixed no limit to how much less and how much more (AA p. 5). Madhyasth Darshan defines profit against labour: seeking more worth than the labour performed, obtaining a higher value in exchange for a lower one (MVD pp. 57, 66).</a:t>
            </a:r>
          </a:p>
          <a:p/>
          <a:p>
            <a:r>
              <a:t>Accumulation settles on money because money escapes the constraint that governs real goods. Metal became the symbol of objects and paper the symbol of metal, so that economics became the study of a symbol (AA pp. 5–6, 52). However much currency exists, it cannot replace grain for one person or quench one person's thirst (AA p. 6; JV pp. 151–152). The accumulation is only of money, which is symbolic value (MVD p. 182). Once objects are subject to currency, labour is subject to it too, and accumulated currency becomes the measure of a person's standing (AA p. 45). Changes in price over decades are changes in the symbol alone (AA pp. 52–53).</a:t>
            </a:r>
          </a:p>
          <a:p/>
          <a:p>
            <a:r>
              <a:t>Two consequences follow. Artificial scarcity becomes a principal technique for gaining profit. And because accumulation has no satiation point, it cannot be accessible to all, since the earth is limited (AA p. 52). Those who produce are unable to accumulate, and the producer of objects has generally remained poor (AA pp. 7, 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produces the ecological crisis. Coal and mineral oil needed to remain in the earth for its balance; extracting and burning them produced pollution, rising heat, a damaged protective layer in the upper atmosphere and rising seas (AA pp. 30–31; KD §3.7). Chemical fertilisers increased quantity while the concentration of nutrition in grain declined and soils were driven towards excess acidity or alkalinity (AA p. 70). Mechanised and input-dependent agriculture replaced autonomy with dependence in seed, manure, ploughing and threshing (AA p. 71). Pollution policy, in the treatise's assessment, does not ask how to stop pollution but how much of it people can live in (AA p. 74).</a:t>
            </a:r>
          </a:p>
          <a:p/>
          <a:p>
            <a:r>
              <a:t>The whole form of exploitation is the exploitation of the earth, and the human being is both exploited and exploiter (AA p. 82).</a:t>
            </a:r>
          </a:p>
          <a:p/>
          <a:p>
            <a:r>
              <a:t>Note what the treatise does not say. The only production it names as opposed in itself to a coexistential economy is the manufacture of war materials; machine production as such is not contrary to economics (AA p. 47). The objection is to the purpose and the evaluation that direct production, not to technique.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Cyclical economics is the right use, security and prosperity of resources, artha, in the form of body, mind and wealth (AA p. 25). The means of a human being are only body, mind and wealth (MVD p. 243). When the mind works through the body by a realisation-based method, labour applied with skill and proficiency to natural abundance produces objects that carry usefulness value and aesthetic value. These objects are wealth, dhan. Wealth is only the produced object, not money (AA pp. 25, 105).</a:t>
            </a:r>
          </a:p>
          <a:p/>
          <a:p>
            <a:r>
              <a:t>This changes what counts as capital. All production is the outcome of human labour applied to natural abundance, so the primary wealth is the labour power inherent in human beings, and this primary capital is always the person's own (AA p. 73). Earning wealth is the definite measure of usefulness and aesthetic value realised from natural abundance through the planned deployment of labour (MVD p. 56). Because the powers of jeevan are inexhaustible, every human being can produce more than immediate necessity; Samadhanatmak Bhautikvad calls this the foundational principle of human prosperity (SB p. 268). Janvad proposes that public dialogue on the economy begin from this recognition (JVD p. 215).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gives cyclicality a wide sense before it gives it an economic one. Complementarity itself is the meaning of cyclicality, and cyclicality is mutual sustenance: particles sustain one another as atoms, atoms as molecules, molecules as formations, and the orders of nature as one another's support (AA p. 42).</a:t>
            </a:r>
          </a:p>
          <a:p/>
          <a:p>
            <a:r>
              <a:t>It can be seen at many scales. Seed becomes tree and tree becomes seed. Relationship grounds value, value grounds evaluation, and evaluation returns to relationship. The individual's complementarity is linked into the family and the family's into the individual, and the same holds between family and village. Production through labour, valuation by the value of labour, and exchange on that basis together form a cycle, and so do the four orders (AA p. 15). Water evaporates, gathers as cloud, falls as rain and runs back to the sea; plants decompose and make the earth fertile for further plants (AA pp. 34–35; MVD p. 152).</a:t>
            </a:r>
          </a:p>
          <a:p/>
          <a:p>
            <a:r>
              <a:t>Two features matter for economics. A cycle returns: whatever is drawn out is restored to the conditions of the next round. And a cycle is purposive: it is linked in the sense of prosperity, so its return is the fulfilment of a goal, not mere repetition. The treatise's own definition is a compressed sentence; the study records its reading in the Editorial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provision, the cycle has a definite sequence. A need for production arises. A mentality fitted to that need, endowed with skill, proficiency and scholarliness, forms. Through a healthy body, labour establishes usefulness value and aesthetic value in objects drawn from natural abundance. The objects are rightly used according to their usefulness, the need is supplied, and the remainder is exchanged (AA p. 106).</a:t>
            </a:r>
          </a:p>
          <a:p/>
          <a:p>
            <a:r>
              <a:t>Jeevan Vidya states the same cycle as a renewal of capacity: "We deploy our resources in the form of body, mind, and wealth on natural abundance for production, and the produced goods become the basis of nourishment and protection of our body and social participation. We again become capable of producing on the basis of this social participation, nourishment, and protection. In this way, it is cyclical" (JV p. 154).</a:t>
            </a:r>
          </a:p>
          <a:p/>
          <a:p>
            <a:r>
              <a:t>The cycle runs through the joint form itself: the mind operates the body, mind and body together manifest object values, and object values are useful to the body and satisfying to jeevan (AA p. 26). Tools made by one generation serve the next, so each generation can offer the next means in excess of need; the means of production increase and the time required decreases (AA pp. 106, 118). The cycle grows richer without growing larger in consumption.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closes only where need is definite, and the darshan locates that definiteness in the family. A family is a limited number of autonomous people, at least ten, living together with justice: recognising their relationships, fulfilling the values in them, evaluating, reaching mutual satisfaction, and complementary to one another in the family's production (AA pp. 14, 65). Needs are ascertained at the level of the family, not the individual (JV p. 153). In a humane family, needs become limited because use, right use and purposeful use become definite, and production in excess of need is therefore possible in every family (AA p. 26). In an understanding family, two to four members may produce beyond the whole family's necessity (KD p. 115).</a:t>
            </a:r>
          </a:p>
          <a:p/>
          <a:p>
            <a:r>
              <a:t>Prosperity follows directly. The lack of the sentiment of lacking is prosperity, and production in excess of needs is prosperity (MVD p. 71). Its basis is the sum of objects produced in excess of need, together with their right use and security (AA p. 113). Prosperity cannot be private: for one family to be prosperous, more than one family must be (AA pp. 62–63).</a:t>
            </a:r>
          </a:p>
          <a:p/>
          <a:p>
            <a:r>
              <a:t>The treatise also identifies a satiation point within exchange. Production is the remuneration of labour, and after exchange the remuneration remains just as much as was produced. In the utilisation of labour there is neither profit nor loss (AA p. 76).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in Madhyasth Darshan is not price. The value of a unit is its participation in the orderliness of the whole: what its activity fulfils in relation to others. For produced things this participation is usefulness, what food, shelter, a tool or a vehicle fulfils in nourishing and protecting the body and in the motion of society. The collection's study of axiology develops this account. Human labour is the activity that establishes usefulness and beauty upon natural abundance. The value of an object is determined in a chain: labour-based object, object-based usefulness, usefulness-based valuation (AA p. 49). Evaluation can be made only of labour, not of symbolic objects (AA p. 112).</a:t>
            </a:r>
          </a:p>
          <a:p/>
          <a:p>
            <a:r>
              <a:t>For exchange, the treatise proposes a practical method. Wheat sown under various circumstances yields various quantities, and the midpoint gives a common value for the labour of producing wheat (AA p. 66). Each person's pace of work, the time and the means count, and a product made in measured time counts as one unit of labour (AA pp. 119, 145). Inside the family, contributions are not weighed: the goal is the product, not more or less labour (AA pp. 119–120).</a:t>
            </a:r>
          </a:p>
          <a:p/>
          <a:p>
            <a:r>
              <a:t>The darshan's state policy makes the point explicit: respect and honour according to capacity, ability and receptivity, and a policy that prevents the exploitation of the fruits of labour (MVD pp. 265–268).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right use and purposeful use name three levels at which resources serve human purposes. Use is the utilisation of body, mind and wealth in the nourishment and protection of the body and in the motion of society. Right use is their utilisation in orderliness and in the motion of undivided society. Purposeful use is their utilisation in evidencing, from generation to generation, knowledge of coexistence, of jeevan, and of humane conduct (AA pp. 72, 94; MVD p. 56). In terms of scale, production is used within the family, rightly used in society, and put to purpose in the universal order (KD p. 116). The treatise pairs use with justice, right use with resolution, and purposeful use with authenticity (AA p. 116).</a:t>
            </a:r>
          </a:p>
          <a:p/>
          <a:p>
            <a:r>
              <a:t>Values are ordered by what they serve. In offering and surrender, object values are dedicated to civic values, civic values to established values, established values to human values, and human values to jeevan values, happiness, peace, contentment and bliss (AA p. 92).</a:t>
            </a:r>
          </a:p>
          <a:p/>
          <a:p>
            <a:r>
              <a:t>Karm Darshan ranks wealth by the same logic. Wealth placed in the service of liberation, dharma or the fulfilment of desire is ranked high; those purposes placed in the service of wealth are ranked low; wealth sought for its own sake falls in between (KD p. 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ethics of the economy are stated in terms of character. Humane character consists of righteous wealth, marital faithfulness, and kindness in work and behaviour (AA p. 54). Righteous wealth, svadhan, is wealth received as the remuneration of one's own labour, as a gift, or as an award for a special display of art, technique or scholarship (AA p. 140; AVD p. 170). Its opposite, ill-gotten wealth, is obtained through exploitation and hypocrisy, and the darshan counts it, with adultery and hurting others, as crime (MVD pp. 59, 263).</a:t>
            </a:r>
          </a:p>
          <a:p/>
          <a:p>
            <a:r>
              <a:t>The darshan does not ask people to renounce wealth. The motives for progeny, wealth and reputation are humane propensities (MVD pp. 59, 137). What changes is their orientation: people, wealth and reputation are assets of the family and of the undivided society (MVD p. 221), and wealth finds its satisfaction through generosity, the happy offering of body, mind and wealth for the awakening, health and prosperity of others (MVD pp. 211, 339; AA p. 22).</a:t>
            </a:r>
          </a:p>
          <a:p/>
          <a:p>
            <a:r>
              <a:t>Within the family goods are shared; between families they are exchanged (AA p. 1). Those who cannot produce are provided for through kindness, including help to the helpless, the distressed, the sick and those struck by calamity (AA pp. 23–24, 140). Once a family is resolved and prosperous, the propensity of benevolence answers where its surplus goes (KD p. 116).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provision cycle is nested within the cycles of nature, and its production must keep them intact. Natural assets, minerals and vegetation, are to be used in proportion to their production; their production is not to be obstructed; and human beings are to become helpful in it. Without keeping nature prosperous, the human being cannot be prosperous (AA pp. 142, 146; KD p. 7).</a:t>
            </a:r>
          </a:p>
          <a:p/>
          <a:p>
            <a:r>
              <a:t>Madhyasth Darshan sets out the same rule as lawful and unlawful conduct. Spending minerals and forests in proportion to their regeneration, being complementary in the balance of natural abundance, and maintaining circularity are lawful; spending beyond regeneration, disproportionate extraction, and exploiting non-renewable materials are not (MVD p. 263). Its state policy names production security as maintained through the principle of maintaining nature's balance (MVD p. 264).</a:t>
            </a:r>
          </a:p>
          <a:p/>
          <a:p>
            <a:r>
              <a:t>The treatise is specific about energy. Mineral oil, coal and radioactive fuels are the most harmful; flowing and falling water, wind, solar heat and gas from dung and refuse are pollution-free. Vegetable oil from roadside trees forms a closed cycle: tree, seed, oil, smoke taken up by trees, and seed again (AA pp. 31–33, 106–107). Determining the land of a village also determines how many families it can support with prosperity (AA p. 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production is not contrary to economics (AA p. 47). Technique multiplies the speed of whatever humans do. Until people can live as members of society and of an orderly system, that multiplication increases the speed of problems and the number of crimes; only with such understanding do machines become available to every family as prosperity (SB p. 267).</a:t>
            </a:r>
          </a:p>
          <a:p/>
          <a:p>
            <a:r>
              <a:t>The treatise names two drives that kept technique from serving this purpose: the preoccupation with making all production automatic, and the centralisation of industry. Both rest on capital investment and on buying labour power. Automatic production reduced the number of people engaged in production, so that of two equally educated people one finds work and the other feels useless (AA p. 107). Janvad observes that a working mindset has given way to a managing mindset (JVD p. 35).</a:t>
            </a:r>
          </a:p>
          <a:p/>
          <a:p>
            <a:r>
              <a:t>Against this, every person is to be engaged in production according to capacity, receptivity and ability (MVD p. 265). When every member of every family takes part in production, poverty, deprivation and the trap of accumulation and comfort are left behind together (JVD p. 216). Means rightly used increase from generation to generation while the time required decreases (AA p. 118). The criterion is twofold: raise the usefulness labour establishes and reduce its time, while keeping every person a producer.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in isolation has no definition or standing (AA p. 117). Cyclical economics is one part of self-governance, which means accessibility to justice, to production and to exchange, sustained by education-sanskar and health-restraint (AA p. 63). The five dimensions are drawn as a circle joined to a pentagon: education-sanskar to understanding, health-restraint to expression consistent with science and wisdom, justice-security to honesty, production to prosperity, and exchange-reserve to balance (AA p. 112).</a:t>
            </a:r>
          </a:p>
          <a:p/>
          <a:p>
            <a:r>
              <a:t>The village of about a hundred families is the first unit. Ten families form a family cluster, ten clusters a village council, and so on through ten tiers to a world family council, each with five committees (AA pp. 27–28). Production scale rises with the tier: cottage industry in the village, large industry at the region and world (AA pp. 29–30, 115).</a:t>
            </a:r>
          </a:p>
          <a:p/>
          <a:p>
            <a:r>
              <a:t>The darshan names three policies: protection is state policy, right use is moral policy, and production beyond the family's needs is economic policy (KD p. 67). Its state policy sets out six securities, including exchange security through the evaluation of human labour, and exchange between nations too is to be free of profit and loss, based on object value and labour value (MVD pp. 264–268). Today, countries with large foreign exchange reserves are able to exploit others (JVD p. 32).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does not assume that the money economy disappears at once. Its plan for a village begins with a detailed survey: population, education, occupations, land, water, crops, livestock, crafts, shops, storage, health, and the state of justice in production and in exchange (AA pp. 122–125).</a:t>
            </a:r>
          </a:p>
          <a:p/>
          <a:p>
            <a:r>
              <a:t>Exchange is then conducted through an autonomous cooperative exchange-reserve working without profit and loss. Members hold accounts, sell what they produce in excess of need, and buy what they need. At first, values follow the nearby market rate less transport; any incidental gain goes to the village's common facilities; members without funds receive interest-free loans repaid in produce; and a nationalised cooperative bank stands as guarantor (AA pp. 136–138).</a:t>
            </a:r>
          </a:p>
          <a:p/>
          <a:p>
            <a:r>
              <a:t>Justice in exchange is reached in three stages. First, the value of labour is evaluated through the prevailing currency. Second, the currency itself is evaluated on the basis of labour. Third, objects are valued on the value of labour alone, and exchange proceeds free of profit, loss and accumulation (AA pp. 142–143). Nagraj records that he lived with prosperity through his own production within the present system (AVD p. 52; JV pp. 153–154), and Janvad puts the choice to families as a question for public dialogue (JVD pp. 217–218).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traditions disagree most sharply on the source of insatiable want. Neoclassical theory takes non-satiation as given and does not ask its source. Aristotle distinguished household management, limited by need, from wealth-getting for its own sake, which has no limit; Marx contrasted selling in order to buy, which ends in use, with buying in order to sell for more, whose movement is limitless. Keynes distinguished absolute needs, which can be met, from relative needs, which may be insatiable; Veblen and Hirsch located insatiability in status and positional goods. Ecological economists explain continued growth through debt, competition and employment. Kumarappa contrasted an economy of transience with an economy of permanence. The Gita and Advaita trace desire to ignorance of the Self.</a:t>
            </a:r>
          </a:p>
          <a:p/>
          <a:p>
            <a:r>
              <a:t>The darshan places the source in the joint form: a jeevan whose higher activities lack understanding, whose discontent is read as a shortage of objects, and whose capacity for selection and taste is left without regulation. On this account the other explanations describe real consequences of the same error.</a:t>
            </a:r>
          </a:p>
          <a:p/>
          <a:p>
            <a:r>
              <a:t>On what closes the cycle, ecological economics closes material loops, and Daly's steady state addresses throughput. Only the darshan, Gandhian economics and in part Keynes make the definiteness of need a condition of the economy's structure.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does not treat economic theory as an adversary. Six lessons bear directly on cyclical economics.</a:t>
            </a:r>
          </a:p>
          <a:p/>
          <a:p>
            <a:r>
              <a:t>First, coordination beyond the village needs information. Hayek argued that prices communicate knowledge dispersed among many people, and the treatise's own transitional use of market rates shows that a labour-based system must obtain that knowledge in another form. Second, prosperity and production security can be evidenced only if they are measured; national accounting, input–output analysis, material-flow accounting and life-cycle assessment provide methods. Third, Elinor Ostrom showed that communities can govern shared resources, which bears on the village's jurisdiction over forests, water and minerals. Fourth, theories of human need, from Max-Neef, Doyal and Gough, can sharpen the family's assessment of need. Fifth, money today is mostly credit created by banks when they lend; the darshan's critique of symbolic value can address that system directly. Sixth, Leontief's input–output tables, and Cockshott and Cottrell's work on labour-time accounting, show how the labour embodied in complex goods can be computed.</a:t>
            </a:r>
          </a:p>
          <a:p/>
          <a:p>
            <a:r>
              <a:t>Neoclassical economics coordinates without a stopping point. Its tools can serve a cyclical economy once that economy supplies the criteria the discipline leaves 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 joins two kinds of order in one sequence. Knowledge is law, law is regulation, and regulation is balance; balanced living is justice in humans; living within universal orderliness with justice is dharma; and realisation in coexistence is dharma and truth (MVD p. 173). Law, regulation and balance are already evident in the orders other than the human, which are bound by their own laws (AA p. 117). Justice, dharma and truth are the evaluations by which humans establish their own orderliness, and the treatise describes them as still under review in human tradition (AA p. 18).</a:t>
            </a:r>
          </a:p>
          <a:p/>
          <a:p>
            <a:r>
              <a:t>This suggests a division of labour. Where a relation can be stated as a quantity, a rate or a rule, it can be measured, recorded and in part handled by an instrument. Where a question concerns the fulfilment of a relationship, the purpose of a choice, or its accord with coexistence, it belongs to human evaluation. The treatise already prescribes surveys and committee evaluations, and expects computers in the exchange-reserve and a computer system linking committees from village to world (AA pp. 122–125, 132, 138).</a:t>
            </a:r>
          </a:p>
          <a:p/>
          <a:p>
            <a:r>
              <a:t>Karm Darshan gives the rule for trusting instruments. Every instrument embodies the mentality of those who plan it and falls short of the purpose it was planned for; trust and use should stay below that purpose, and every signal must still be read by a human being (KD p. 139).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of the cycle can fail in a recognisable way, and most failures leave traces in records long before they become crises. The study pairs each condition with what can be recorded, the early signal of failure, and the question the signal raises for people.</a:t>
            </a:r>
          </a:p>
          <a:p/>
          <a:p>
            <a:r>
              <a:t>Need is definite: the signal is use rising faster than the family's assessed need, and the question is whether the assessment is true to the family's need and fair to each member. Labour receives its value: the signal is producers receiving less than the labour value of what they make, or a widening gap between producer and consumer, and the question is whether the fruit of this labour is being exploited. Exchange follows labour value: the signal is ratios drifting and margins appearing between villages. Everyone takes part in production: the signal is people displaced and skills left idle. Goods are used, not hoarded: the signal is stock ageing in store and balances accumulating. Natural assets are used in proportion to their production: the signal is drawdown, falling fertility, soils turning acidic or saline.</a:t>
            </a:r>
          </a:p>
          <a:p/>
          <a:p>
            <a:r>
              <a:t>The table in the study also covers cyclical energy, village autonomy, and education and health. In every row, the instrument's work ends at the question; the answer belongs to people.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valuation of labour needs records: the pace of work in each activity, the time and means each product requires, the quantities producers achieve under different conditions, and the remuneration they actually receive (AA pp. 66, 119, 145). Within a village these can be kept by hand. Between villages and regions, and for products assembled from many inputs, they become a large accounting task, and this is where computing systems help most directly.</a:t>
            </a:r>
          </a:p>
          <a:p/>
          <a:p>
            <a:r>
              <a:t>A system can keep labour records for each kind of product and compute a common value of labour from the range of yields across many villages, as the treatise does for wheat within one village (AA p. 66). It can compute the labour embodied in complex goods by tracing inputs back through the chain of production, using input–output methods from economics. During the transition it can keep prices and labour values side by side, so the second and third stages have the figures they need (AA pp. 142–143). It can show each producer what their labour established and what they received, and help plan training for the work a village needs (AA p. 131).</a:t>
            </a:r>
          </a:p>
          <a:p/>
          <a:p>
            <a:r>
              <a:t>The method of valuation remains a human decision: the village council decides how values are set, and the committees fix the quantity, quality and value of labour (AA pp. 67, 143). Inside the family, contributions are not weighed at 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keep the cycle in balance, a system can maintain the village survey as a living record, track stock and its age, compare extraction with regeneration for each natural asset, and estimate from the land and water how many families a village can support with prosperity (AA p. 92). Where a rule has been settled by the people concerned, such as the share of a forest that may be cut in a year, it can apply the rule and report what it did. Across tiers it can show a district the balance of production and need, plan which village supplies what another lacks, and keep exchange between regions at labour value (AA p. 72; MVD p. 268).</a:t>
            </a:r>
          </a:p>
          <a:p/>
          <a:p>
            <a:r>
              <a:t>The criterion for technique applies to AI with special force. AI can take over drudgery and reduce the time production takes, which is the generational gain the treatise expects from means rightly used (AA p. 118). It can also concentrate capital and displace producers, the very drives the treatise identifies as obstacles (AA p. 107; JVD p. 35). A cyclical economy would keep every person engaged in production (MVD p. 265). Its knowledge, models and records would be shared, since research and dissemination are inseparable (AA pp. 56–58, 132).</a:t>
            </a:r>
          </a:p>
          <a:p/>
          <a:p>
            <a:r>
              <a:t>Today's recommendation and advertising systems give the selection–taste cycle an instrument tuned to keep it running. Directed by use and right use, the same capacities can help a family keep to its assessed needs.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review weighs the darshan's account as the study weighs every tradition.</a:t>
            </a:r>
          </a:p>
          <a:p/>
          <a:p>
            <a:r>
              <a:t>Its strengths: it explains insatiability rather than postulating it, through the distinction between the body's definite needs and jeevan's need for continuing happiness. It unifies diagnoses other traditions hold separately: limitless money-making, relative needs, throughput, and desire. Its definition of wealth as produced objects and of capital as human labour power keeps economics tied to provision. Its cycle closes need, use and regeneration together. Its policy names the value of human labour explicitly, and it gives a staged path of transition and a clear rule for instruments.</a:t>
            </a:r>
          </a:p>
          <a:p/>
          <a:p>
            <a:r>
              <a:t>Its open problems: how family-level assessment of need aggregates across a district or a nation; how common values of labour are set when skills and conditions differ widely, and how far computed labour values for complex goods can be relied on; what replaces the information carried by prices in the third stage; how machines and AI can reduce drudgery without displacing people from production; and what observations in communities practising the darshan would show that needs become definite, that producers receive the value of their labour, and that material throughput falls.</a:t>
            </a:r>
          </a:p>
          <a:p/>
          <a:p>
            <a:r>
              <a:t>The darshan gives the most complete account of why economies do not reach balance; its practicability depends on understanding it has yet to evidence at scale.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economies do not reach balance because the need they are asked to meet is not the need they can meet. The body's requirements are definite, and the rest of nature shows what balance with them looks like. Jeevan seeks continuity of happiness, and in delusion it pursues that continuity through the transient satisfactions of selection and taste, reading each failure as a shortage of objects. Accumulation, especially of money, gives this pursuit an object that never decays and never satisfies.</a:t>
            </a:r>
          </a:p>
          <a:p/>
          <a:p>
            <a:r>
              <a:t>Cyclical economics answers by closing the cycle where it now runs open. Need is assessed and made definite within the family. Labour applied to natural abundance produces objects for use; the objects nourish and protect the body and sustain social life, which renews the capacity to produce. Labour is valued by the usefulness it establishes, and exchange follows that value, so that remuneration equals production. Production stays within the proportions of natural regeneration, and the remainder flows into right use.</a:t>
            </a:r>
          </a:p>
          <a:p/>
          <a:p>
            <a:r>
              <a:t>Instruments, including AI, can help bring the economy into balance and give labour its true value: they can measure, account, warn and apply settled rules, and show each producer what their labour established. They must return to people the questions of whether a need is real, an exchange just and a valuation fair, and they must keep every person a participant in production. The economy the darshan describes depends finally on understanding. Instruments can show quickly where understanding is missing; they cannot supply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MADHYASTH DARSHAN  ·  STUDY</a:t>
            </a:r>
          </a:p>
        </p:txBody>
      </p:sp>
      <p:sp>
        <p:nvSpPr>
          <p:cNvPr id="12" name="TextBox 11"/>
          <p:cNvSpPr txBox="1"/>
          <p:nvPr/>
        </p:nvSpPr>
        <p:spPr>
          <a:xfrm>
            <a:off x="640080" y="1572768"/>
            <a:ext cx="5120640" cy="1371600"/>
          </a:xfrm>
          <a:prstGeom prst="rect">
            <a:avLst/>
          </a:prstGeom>
          <a:noFill/>
        </p:spPr>
        <p:txBody>
          <a:bodyPr wrap="square" lIns="0" rIns="0" tIns="0" bIns="0" anchor="ctr">
            <a:spAutoFit/>
          </a:bodyPr>
          <a:lstStyle/>
          <a:p>
            <a:pPr>
              <a:spcAft>
                <a:spcPts val="0"/>
              </a:spcAft>
            </a:pPr>
            <a:r>
              <a:rPr sz="3800" b="1" i="0">
                <a:solidFill>
                  <a:srgbClr val="FFFFFF"/>
                </a:solidFill>
                <a:latin typeface="Cambria"/>
              </a:rPr>
              <a:t>Prosperity Economics</a:t>
            </a:r>
          </a:p>
          <a:p>
            <a:pPr>
              <a:spcAft>
                <a:spcPts val="0"/>
              </a:spcAft>
            </a:pPr>
            <a:r>
              <a:rPr sz="3800" b="1" i="0">
                <a:solidFill>
                  <a:srgbClr val="FFFFFF"/>
                </a:solidFill>
                <a:latin typeface="Cambria"/>
              </a:rPr>
              <a:t>and Right Use</a:t>
            </a:r>
          </a:p>
        </p:txBody>
      </p:sp>
      <p:sp>
        <p:nvSpPr>
          <p:cNvPr id="13" name="TextBox 12"/>
          <p:cNvSpPr txBox="1"/>
          <p:nvPr/>
        </p:nvSpPr>
        <p:spPr>
          <a:xfrm>
            <a:off x="640080" y="3035808"/>
            <a:ext cx="4663440" cy="685800"/>
          </a:xfrm>
          <a:prstGeom prst="rect">
            <a:avLst/>
          </a:prstGeom>
          <a:noFill/>
        </p:spPr>
        <p:txBody>
          <a:bodyPr wrap="square" lIns="0" rIns="0" tIns="0" bIns="0" anchor="ctr">
            <a:spAutoFit/>
          </a:bodyPr>
          <a:lstStyle/>
          <a:p>
            <a:pPr>
              <a:spcAft>
                <a:spcPts val="0"/>
              </a:spcAft>
            </a:pPr>
            <a:r>
              <a:rPr sz="1600" b="0" i="1">
                <a:solidFill>
                  <a:srgbClr val="C9D4EF"/>
                </a:solidFill>
                <a:latin typeface="Calibri"/>
              </a:rPr>
              <a:t>Why economies fail to reach balance, and how human labour can receive its true value</a:t>
            </a:r>
          </a:p>
        </p:txBody>
      </p:sp>
      <p:sp>
        <p:nvSpPr>
          <p:cNvPr id="14" name="TextBox 13"/>
          <p:cNvSpPr txBox="1"/>
          <p:nvPr/>
        </p:nvSpPr>
        <p:spPr>
          <a:xfrm>
            <a:off x="640080" y="4160520"/>
            <a:ext cx="4754880" cy="274320"/>
          </a:xfrm>
          <a:prstGeom prst="rect">
            <a:avLst/>
          </a:prstGeom>
          <a:noFill/>
        </p:spPr>
        <p:txBody>
          <a:bodyPr wrap="square" lIns="0" rIns="0" tIns="0" bIns="0" anchor="ctr">
            <a:spAutoFit/>
          </a:bodyPr>
          <a:lstStyle/>
          <a:p>
            <a:pPr>
              <a:spcAft>
                <a:spcPts val="0"/>
              </a:spcAft>
            </a:pPr>
            <a:r>
              <a:rPr sz="1250" b="0" i="0">
                <a:solidFill>
                  <a:srgbClr val="8E9BC4"/>
                </a:solidFill>
                <a:latin typeface="Calibri"/>
              </a:rPr>
              <a:t>Companion to the study Prosperity Economics and Right Use</a:t>
            </a:r>
          </a:p>
        </p:txBody>
      </p:sp>
      <p:sp>
        <p:nvSpPr>
          <p:cNvPr id="15" name="TextBox 14"/>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50" b="0" i="0">
                <a:solidFill>
                  <a:srgbClr val="8E9BC4"/>
                </a:solidFill>
                <a:latin typeface="Calibri"/>
              </a:rPr>
              <a:t>AA · MVD · JV · SB · KD · JVD · AVD  ·  1 / 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Don't Economies Reach Balance?</a:t>
            </a:r>
          </a:p>
        </p:txBody>
      </p:sp>
      <p:sp>
        <p:nvSpPr>
          <p:cNvPr id="7" name="Rounded Rectangle 6"/>
          <p:cNvSpPr/>
          <p:nvPr/>
        </p:nvSpPr>
        <p:spPr>
          <a:xfrm>
            <a:off x="640080"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Every order balances</a:t>
            </a:r>
          </a:p>
        </p:txBody>
      </p:sp>
      <p:sp>
        <p:nvSpPr>
          <p:cNvPr id="9" name="TextBox 8"/>
          <p:cNvSpPr txBox="1"/>
          <p:nvPr/>
        </p:nvSpPr>
        <p:spPr>
          <a:xfrm>
            <a:off x="822959"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Soil, plants and animals settle into a definite balance with their surroundings.</a:t>
            </a:r>
          </a:p>
        </p:txBody>
      </p:sp>
      <p:sp>
        <p:nvSpPr>
          <p:cNvPr id="10" name="Rounded Rectangle 9"/>
          <p:cNvSpPr/>
          <p:nvPr/>
        </p:nvSpPr>
        <p:spPr>
          <a:xfrm>
            <a:off x="3328415"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body's need is definite</a:t>
            </a:r>
          </a:p>
        </p:txBody>
      </p:sp>
      <p:sp>
        <p:nvSpPr>
          <p:cNvPr id="12" name="TextBox 11"/>
          <p:cNvSpPr txBox="1"/>
          <p:nvPr/>
        </p:nvSpPr>
        <p:spPr>
          <a:xfrm>
            <a:off x="3511296"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 can be counted, met, and held in balance.</a:t>
            </a:r>
          </a:p>
        </p:txBody>
      </p:sp>
      <p:sp>
        <p:nvSpPr>
          <p:cNvPr id="13" name="Rounded Rectangle 12"/>
          <p:cNvSpPr/>
          <p:nvPr/>
        </p:nvSpPr>
        <p:spPr>
          <a:xfrm>
            <a:off x="6016752" y="1325880"/>
            <a:ext cx="2496312"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444752"/>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Human economies do not</a:t>
            </a:r>
          </a:p>
        </p:txBody>
      </p:sp>
      <p:sp>
        <p:nvSpPr>
          <p:cNvPr id="15" name="TextBox 14"/>
          <p:cNvSpPr txBox="1"/>
          <p:nvPr/>
        </p:nvSpPr>
        <p:spPr>
          <a:xfrm>
            <a:off x="6199632"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They extract more each generation, accumulate what no one uses, and call it growth.</a:t>
            </a:r>
          </a:p>
        </p:txBody>
      </p:sp>
      <p:sp>
        <p:nvSpPr>
          <p:cNvPr id="16" name="Rounded Rectangle 15"/>
          <p:cNvSpPr/>
          <p:nvPr/>
        </p:nvSpPr>
        <p:spPr>
          <a:xfrm>
            <a:off x="640080" y="2926080"/>
            <a:ext cx="7863840" cy="105156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26080"/>
            <a:ext cx="7406640" cy="105156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study's question</a:t>
            </a:r>
          </a:p>
          <a:p>
            <a:pPr algn="ctr">
              <a:spcAft>
                <a:spcPts val="0"/>
              </a:spcAft>
            </a:pPr>
            <a:r>
              <a:rPr sz="1250" b="0" i="0">
                <a:solidFill>
                  <a:srgbClr val="FFFFFF"/>
                </a:solidFill>
                <a:latin typeface="Calibri"/>
              </a:rPr>
              <a:t>What would an economy look like that gives human labour its true value, judged by the usefulness it establishes, rather than by scarcity, accumulation and price?</a:t>
            </a:r>
          </a:p>
        </p:txBody>
      </p:sp>
      <p:sp>
        <p:nvSpPr>
          <p:cNvPr id="18" name="TextBox 17"/>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Mainstream economics begins from unlimited wants and scarce means; the darshan locates the problem elsewhere.</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  ·  AnalyticMadhyasthDarshan.org  ·  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Argument in Four Steps</a:t>
            </a:r>
          </a:p>
        </p:txBody>
      </p:sp>
      <p:sp>
        <p:nvSpPr>
          <p:cNvPr id="7" name="Rounded Rectangle 6"/>
          <p:cNvSpPr/>
          <p:nvPr/>
        </p:nvSpPr>
        <p:spPr>
          <a:xfrm>
            <a:off x="640080"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Need is definite</a:t>
            </a:r>
          </a:p>
          <a:p>
            <a:pPr algn="ctr">
              <a:spcAft>
                <a:spcPts val="0"/>
              </a:spcAft>
            </a:pPr>
            <a:r>
              <a:rPr sz="1000" b="0" i="1">
                <a:solidFill>
                  <a:srgbClr val="C9D4EF"/>
                </a:solidFill>
                <a:latin typeface="Calibri"/>
              </a:rPr>
              <a:t>the body can balance
§1</a:t>
            </a:r>
          </a:p>
        </p:txBody>
      </p:sp>
      <p:sp>
        <p:nvSpPr>
          <p:cNvPr id="9" name="TextBox 8"/>
          <p:cNvSpPr txBox="1"/>
          <p:nvPr/>
        </p:nvSpPr>
        <p:spPr>
          <a:xfrm>
            <a:off x="2423160"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Want is not</a:t>
            </a:r>
          </a:p>
          <a:p>
            <a:pPr algn="ctr">
              <a:spcAft>
                <a:spcPts val="0"/>
              </a:spcAft>
            </a:pPr>
            <a:r>
              <a:rPr sz="1000" b="0" i="1">
                <a:solidFill>
                  <a:srgbClr val="C9D4EF"/>
                </a:solidFill>
                <a:latin typeface="Calibri"/>
              </a:rPr>
              <a:t>jeevan's lack misread
§2</a:t>
            </a:r>
          </a:p>
        </p:txBody>
      </p:sp>
      <p:sp>
        <p:nvSpPr>
          <p:cNvPr id="12" name="TextBox 11"/>
          <p:cNvSpPr txBox="1"/>
          <p:nvPr/>
        </p:nvSpPr>
        <p:spPr>
          <a:xfrm>
            <a:off x="4425696"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Close the cycle</a:t>
            </a:r>
          </a:p>
          <a:p>
            <a:pPr algn="ctr">
              <a:spcAft>
                <a:spcPts val="0"/>
              </a:spcAft>
            </a:pPr>
            <a:r>
              <a:rPr sz="1000" b="0" i="1">
                <a:solidFill>
                  <a:srgbClr val="C9D4EF"/>
                </a:solidFill>
                <a:latin typeface="Calibri"/>
              </a:rPr>
              <a:t>labour, use, right use
§3</a:t>
            </a:r>
          </a:p>
        </p:txBody>
      </p:sp>
      <p:sp>
        <p:nvSpPr>
          <p:cNvPr id="15" name="TextBox 14"/>
          <p:cNvSpPr txBox="1"/>
          <p:nvPr/>
        </p:nvSpPr>
        <p:spPr>
          <a:xfrm>
            <a:off x="6428232"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Instruments help</a:t>
            </a:r>
          </a:p>
          <a:p>
            <a:pPr algn="ctr">
              <a:spcAft>
                <a:spcPts val="0"/>
              </a:spcAft>
            </a:pPr>
            <a:r>
              <a:rPr sz="1000" b="0" i="1">
                <a:solidFill>
                  <a:srgbClr val="C9D4EF"/>
                </a:solidFill>
                <a:latin typeface="Calibri"/>
              </a:rPr>
              <a:t>balance and value
§8</a:t>
            </a:r>
          </a:p>
        </p:txBody>
      </p:sp>
      <p:sp>
        <p:nvSpPr>
          <p:cNvPr id="18" name="Rounded Rectangle 17"/>
          <p:cNvSpPr/>
          <p:nvPr/>
        </p:nvSpPr>
        <p:spPr>
          <a:xfrm>
            <a:off x="640080" y="2377440"/>
            <a:ext cx="3840480" cy="105156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49631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open spiral</a:t>
            </a:r>
          </a:p>
        </p:txBody>
      </p:sp>
      <p:sp>
        <p:nvSpPr>
          <p:cNvPr id="20" name="TextBox 19"/>
          <p:cNvSpPr txBox="1"/>
          <p:nvPr/>
        </p:nvSpPr>
        <p:spPr>
          <a:xfrm>
            <a:off x="822959"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Indefinite want, accumulation in money, extraction beyond regeneration, and labour valued by price.</a:t>
            </a:r>
          </a:p>
        </p:txBody>
      </p:sp>
      <p:sp>
        <p:nvSpPr>
          <p:cNvPr id="21" name="Rounded Rectangle 20"/>
          <p:cNvSpPr/>
          <p:nvPr/>
        </p:nvSpPr>
        <p:spPr>
          <a:xfrm>
            <a:off x="4663440" y="237744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4963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closed cycle</a:t>
            </a:r>
          </a:p>
        </p:txBody>
      </p:sp>
      <p:sp>
        <p:nvSpPr>
          <p:cNvPr id="23" name="TextBox 22"/>
          <p:cNvSpPr txBox="1"/>
          <p:nvPr/>
        </p:nvSpPr>
        <p:spPr>
          <a:xfrm>
            <a:off x="4846320"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Definite need, goods for use, nature used in proportion to its regeneration, and labour valued by the usefulness it establishes.</a:t>
            </a:r>
          </a:p>
        </p:txBody>
      </p:sp>
      <p:sp>
        <p:nvSpPr>
          <p:cNvPr id="24" name="Rounded Rectangle 23"/>
          <p:cNvSpPr/>
          <p:nvPr/>
        </p:nvSpPr>
        <p:spPr>
          <a:xfrm>
            <a:off x="640080" y="3703320"/>
            <a:ext cx="7863840" cy="86868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76472"/>
            <a:ext cx="7406640" cy="274320"/>
          </a:xfrm>
          <a:prstGeom prst="rect">
            <a:avLst/>
          </a:prstGeom>
          <a:noFill/>
        </p:spPr>
        <p:txBody>
          <a:bodyPr wrap="square" lIns="0" rIns="0" tIns="0" bIns="0" anchor="ctr">
            <a:spAutoFit/>
          </a:bodyPr>
          <a:lstStyle/>
          <a:p>
            <a:pPr>
              <a:spcAft>
                <a:spcPts val="0"/>
              </a:spcAft>
            </a:pPr>
            <a:r>
              <a:rPr sz="1050" b="0" i="1">
                <a:solidFill>
                  <a:srgbClr val="1E2447"/>
                </a:solidFill>
                <a:latin typeface="Calibri"/>
              </a:rPr>
              <a:t>Untagged content presents the primary texts; small tags mark the rest.</a:t>
            </a:r>
          </a:p>
        </p:txBody>
      </p:sp>
      <p:sp>
        <p:nvSpPr>
          <p:cNvPr id="26" name="Rounded Rectangle 25"/>
          <p:cNvSpPr/>
          <p:nvPr/>
        </p:nvSpPr>
        <p:spPr>
          <a:xfrm>
            <a:off x="868680" y="416052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6052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8" name="TextBox 27"/>
          <p:cNvSpPr txBox="1"/>
          <p:nvPr/>
        </p:nvSpPr>
        <p:spPr>
          <a:xfrm>
            <a:off x="2423160" y="4123944"/>
            <a:ext cx="20116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applications and extensions</a:t>
            </a:r>
          </a:p>
        </p:txBody>
      </p:sp>
      <p:sp>
        <p:nvSpPr>
          <p:cNvPr id="29" name="Rounded Rectangle 28"/>
          <p:cNvSpPr/>
          <p:nvPr/>
        </p:nvSpPr>
        <p:spPr>
          <a:xfrm>
            <a:off x="4526280" y="41605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1605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31" name="TextBox 30"/>
          <p:cNvSpPr txBox="1"/>
          <p:nvPr/>
        </p:nvSpPr>
        <p:spPr>
          <a:xfrm>
            <a:off x="5486400" y="4123944"/>
            <a:ext cx="29260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economics, Indian thought, sciences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§§1–3, 8  ·  AnalyticMadhyasthDarshan.org  ·  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BALANCE IN NATURE  ·  §1.1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Balance in Every Order</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Order</a:t>
            </a:r>
          </a:p>
        </p:txBody>
      </p:sp>
      <p:sp>
        <p:nvSpPr>
          <p:cNvPr id="9" name="TextBox 8"/>
          <p:cNvSpPr txBox="1"/>
          <p:nvPr/>
        </p:nvSpPr>
        <p:spPr>
          <a:xfrm>
            <a:off x="2194560" y="1280160"/>
            <a:ext cx="27889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its conduct is kept definite</a:t>
            </a:r>
          </a:p>
        </p:txBody>
      </p:sp>
      <p:sp>
        <p:nvSpPr>
          <p:cNvPr id="10" name="TextBox 9"/>
          <p:cNvSpPr txBox="1"/>
          <p:nvPr/>
        </p:nvSpPr>
        <p:spPr>
          <a:xfrm>
            <a:off x="5120640" y="1280160"/>
            <a:ext cx="33375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Balance in its existent state</a:t>
            </a:r>
          </a:p>
        </p:txBody>
      </p:sp>
      <p:sp>
        <p:nvSpPr>
          <p:cNvPr id="11" name="Rectangle 10"/>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600200"/>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Material</a:t>
            </a:r>
          </a:p>
        </p:txBody>
      </p:sp>
      <p:sp>
        <p:nvSpPr>
          <p:cNvPr id="14" name="TextBox 13"/>
          <p:cNvSpPr txBox="1"/>
          <p:nvPr/>
        </p:nvSpPr>
        <p:spPr>
          <a:xfrm>
            <a:off x="2194560" y="1600200"/>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Conformance of constitution and results; law</a:t>
            </a:r>
          </a:p>
        </p:txBody>
      </p:sp>
      <p:sp>
        <p:nvSpPr>
          <p:cNvPr id="15" name="TextBox 14"/>
          <p:cNvSpPr txBox="1"/>
          <p:nvPr/>
        </p:nvSpPr>
        <p:spPr>
          <a:xfrm>
            <a:off x="5120640" y="1600200"/>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a:t>
            </a:r>
          </a:p>
        </p:txBody>
      </p:sp>
      <p:sp>
        <p:nvSpPr>
          <p:cNvPr id="16" name="Rectangle 15"/>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0573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Plant</a:t>
            </a:r>
          </a:p>
        </p:txBody>
      </p:sp>
      <p:sp>
        <p:nvSpPr>
          <p:cNvPr id="18" name="TextBox 17"/>
          <p:cNvSpPr txBox="1"/>
          <p:nvPr/>
        </p:nvSpPr>
        <p:spPr>
          <a:xfrm>
            <a:off x="2194560" y="20573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conformance; regulation</a:t>
            </a:r>
          </a:p>
        </p:txBody>
      </p:sp>
      <p:sp>
        <p:nvSpPr>
          <p:cNvPr id="19" name="TextBox 18"/>
          <p:cNvSpPr txBox="1"/>
          <p:nvPr/>
        </p:nvSpPr>
        <p:spPr>
          <a:xfrm>
            <a:off x="5120640" y="20573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and growth</a:t>
            </a:r>
          </a:p>
        </p:txBody>
      </p:sp>
      <p:sp>
        <p:nvSpPr>
          <p:cNvPr id="20" name="Rectangle 19"/>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5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Animal</a:t>
            </a:r>
          </a:p>
        </p:txBody>
      </p:sp>
      <p:sp>
        <p:nvSpPr>
          <p:cNvPr id="23" name="TextBox 22"/>
          <p:cNvSpPr txBox="1"/>
          <p:nvPr/>
        </p:nvSpPr>
        <p:spPr>
          <a:xfrm>
            <a:off x="2194560" y="25145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Species conformance</a:t>
            </a:r>
          </a:p>
        </p:txBody>
      </p:sp>
      <p:sp>
        <p:nvSpPr>
          <p:cNvPr id="24" name="TextBox 23"/>
          <p:cNvSpPr txBox="1"/>
          <p:nvPr/>
        </p:nvSpPr>
        <p:spPr>
          <a:xfrm>
            <a:off x="5120640" y="25145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growth and the hope of living</a:t>
            </a:r>
          </a:p>
        </p:txBody>
      </p:sp>
      <p:sp>
        <p:nvSpPr>
          <p:cNvPr id="25" name="Rectangle 24"/>
          <p:cNvSpPr/>
          <p:nvPr/>
        </p:nvSpPr>
        <p:spPr>
          <a:xfrm>
            <a:off x="640080" y="33924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19" y="29717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Human</a:t>
            </a:r>
          </a:p>
        </p:txBody>
      </p:sp>
      <p:sp>
        <p:nvSpPr>
          <p:cNvPr id="27" name="TextBox 26"/>
          <p:cNvSpPr txBox="1"/>
          <p:nvPr/>
        </p:nvSpPr>
        <p:spPr>
          <a:xfrm>
            <a:off x="2194560" y="29717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Sanskar: acceptances formed by understanding</a:t>
            </a:r>
          </a:p>
        </p:txBody>
      </p:sp>
      <p:sp>
        <p:nvSpPr>
          <p:cNvPr id="28" name="TextBox 27"/>
          <p:cNvSpPr txBox="1"/>
          <p:nvPr/>
        </p:nvSpPr>
        <p:spPr>
          <a:xfrm>
            <a:off x="5120640" y="29717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 prosperity, fearlessness, coexistence</a:t>
            </a:r>
          </a:p>
        </p:txBody>
      </p:sp>
      <p:sp>
        <p:nvSpPr>
          <p:cNvPr id="29" name="Rounded Rectangle 28"/>
          <p:cNvSpPr/>
          <p:nvPr/>
        </p:nvSpPr>
        <p:spPr>
          <a:xfrm>
            <a:off x="640080" y="3611880"/>
            <a:ext cx="7863840" cy="5486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611880"/>
            <a:ext cx="7406640" cy="54864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Every unit except the human shows definite conduct; only the deluded human causes disorder.</a:t>
            </a:r>
          </a:p>
        </p:txBody>
      </p:sp>
      <p:sp>
        <p:nvSpPr>
          <p:cNvPr id="31" name="TextBox 30"/>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Prosperity is first a property of the earth, which became rich in itself before human labour touched it.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47–48  ·  MVD p. 105  ·  AA pp. 41, 54–55, 77–78, 117  ·  AnalyticMadhyasthDarshan.org  ·  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THE BODY  ·  §1.2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Body's Needs Are Definite</a:t>
            </a:r>
          </a:p>
        </p:txBody>
      </p:sp>
      <p:sp>
        <p:nvSpPr>
          <p:cNvPr id="7" name="Rounded Rectangle 6"/>
          <p:cNvSpPr/>
          <p:nvPr/>
        </p:nvSpPr>
        <p:spPr>
          <a:xfrm>
            <a:off x="640080" y="1280160"/>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Common aspirations</a:t>
            </a:r>
          </a:p>
        </p:txBody>
      </p:sp>
      <p:sp>
        <p:nvSpPr>
          <p:cNvPr id="9" name="TextBox 8"/>
          <p:cNvSpPr txBox="1"/>
          <p:nvPr/>
        </p:nvSpPr>
        <p:spPr>
          <a:xfrm>
            <a:off x="822959" y="1719072"/>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a:t>
            </a:r>
          </a:p>
        </p:txBody>
      </p:sp>
      <p:sp>
        <p:nvSpPr>
          <p:cNvPr id="10" name="Rounded Rectangle 9"/>
          <p:cNvSpPr/>
          <p:nvPr/>
        </p:nvSpPr>
        <p:spPr>
          <a:xfrm>
            <a:off x="640080" y="2212848"/>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331720"/>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Special aspirations</a:t>
            </a:r>
          </a:p>
        </p:txBody>
      </p:sp>
      <p:sp>
        <p:nvSpPr>
          <p:cNvPr id="12" name="TextBox 11"/>
          <p:cNvSpPr txBox="1"/>
          <p:nvPr/>
        </p:nvSpPr>
        <p:spPr>
          <a:xfrm>
            <a:off x="822959" y="2651759"/>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Telephony, broadcasting and transport.</a:t>
            </a:r>
          </a:p>
        </p:txBody>
      </p:sp>
      <p:sp>
        <p:nvSpPr>
          <p:cNvPr id="13" name="Rounded Rectangle 12"/>
          <p:cNvSpPr/>
          <p:nvPr/>
        </p:nvSpPr>
        <p:spPr>
          <a:xfrm>
            <a:off x="640080" y="3145536"/>
            <a:ext cx="3840480" cy="1152144"/>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264408"/>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Goods are for use</a:t>
            </a:r>
          </a:p>
        </p:txBody>
      </p:sp>
      <p:sp>
        <p:nvSpPr>
          <p:cNvPr id="15" name="TextBox 14"/>
          <p:cNvSpPr txBox="1"/>
          <p:nvPr/>
        </p:nvSpPr>
        <p:spPr>
          <a:xfrm>
            <a:off x="822959" y="3584447"/>
            <a:ext cx="3474720" cy="603503"/>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Grain rots and machines rust; objects cannot be accumulated, because their use or transformation is inevitable.</a:t>
            </a:r>
          </a:p>
        </p:txBody>
      </p:sp>
      <p:sp>
        <p:nvSpPr>
          <p:cNvPr id="16" name="Rounded Rectangle 15"/>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body is the limit of consuming</a:t>
            </a:r>
          </a:p>
        </p:txBody>
      </p:sp>
      <p:sp>
        <p:nvSpPr>
          <p:cNvPr id="18" name="Rounded Rectangle 17"/>
          <p:cNvSpPr/>
          <p:nvPr/>
        </p:nvSpPr>
        <p:spPr>
          <a:xfrm>
            <a:off x="489204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4690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Know</a:t>
            </a:r>
          </a:p>
        </p:txBody>
      </p:sp>
      <p:sp>
        <p:nvSpPr>
          <p:cNvPr id="20" name="TextBox 19"/>
          <p:cNvSpPr txBox="1"/>
          <p:nvPr/>
        </p:nvSpPr>
        <p:spPr>
          <a:xfrm>
            <a:off x="564184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1" name="Rounded Rectangle 20"/>
          <p:cNvSpPr/>
          <p:nvPr/>
        </p:nvSpPr>
        <p:spPr>
          <a:xfrm>
            <a:off x="576072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Desire</a:t>
            </a:r>
          </a:p>
        </p:txBody>
      </p:sp>
      <p:sp>
        <p:nvSpPr>
          <p:cNvPr id="23" name="TextBox 22"/>
          <p:cNvSpPr txBox="1"/>
          <p:nvPr/>
        </p:nvSpPr>
        <p:spPr>
          <a:xfrm>
            <a:off x="651052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4" name="Rounded Rectangle 23"/>
          <p:cNvSpPr/>
          <p:nvPr/>
        </p:nvSpPr>
        <p:spPr>
          <a:xfrm>
            <a:off x="662940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426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Do</a:t>
            </a:r>
          </a:p>
        </p:txBody>
      </p:sp>
      <p:sp>
        <p:nvSpPr>
          <p:cNvPr id="26" name="TextBox 25"/>
          <p:cNvSpPr txBox="1"/>
          <p:nvPr/>
        </p:nvSpPr>
        <p:spPr>
          <a:xfrm>
            <a:off x="737920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7" name="Rounded Rectangle 26"/>
          <p:cNvSpPr/>
          <p:nvPr/>
        </p:nvSpPr>
        <p:spPr>
          <a:xfrm>
            <a:off x="7498079"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5294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Consume</a:t>
            </a:r>
          </a:p>
        </p:txBody>
      </p:sp>
      <p:sp>
        <p:nvSpPr>
          <p:cNvPr id="29" name="TextBox 28"/>
          <p:cNvSpPr txBox="1"/>
          <p:nvPr/>
        </p:nvSpPr>
        <p:spPr>
          <a:xfrm>
            <a:off x="4846320" y="2468880"/>
            <a:ext cx="3474720" cy="17373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We can know more than we desire, desire more than we do, and do more than we consume.</a:t>
            </a:r>
          </a:p>
          <a:p>
            <a:pPr>
              <a:spcBef>
                <a:spcPts val="600"/>
              </a:spcBef>
              <a:spcAft>
                <a:spcPts val="0"/>
              </a:spcAft>
            </a:pPr>
            <a:r>
              <a:rPr sz="1150" b="0" i="0">
                <a:solidFill>
                  <a:srgbClr val="5A6377"/>
                </a:solidFill>
                <a:latin typeface="Calibri"/>
              </a:rPr>
              <a:t>Whatever we produce, we cannot consume that much: production in excess of need is possible.</a:t>
            </a:r>
          </a:p>
          <a:p>
            <a:pPr>
              <a:spcBef>
                <a:spcPts val="600"/>
              </a:spcBef>
              <a:spcAft>
                <a:spcPts val="0"/>
              </a:spcAft>
            </a:pPr>
            <a:r>
              <a:rPr sz="1150" b="0" i="1">
                <a:solidFill>
                  <a:srgbClr val="5A6377"/>
                </a:solidFill>
                <a:latin typeface="Calibri"/>
              </a:rPr>
              <a:t>A person who understands this produces more and consumes less, with little waste.</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73, 93  ·  JV p. 152  ·  MVD pp. 96, 183, 282  ·  KD p. 114  ·  AnalyticMadhyasthDarshan.org  ·  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JOINT FORM  ·  §2.1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Jeevan Seeks Continuing Happiness</a:t>
            </a:r>
          </a:p>
        </p:txBody>
      </p:sp>
      <p:sp>
        <p:nvSpPr>
          <p:cNvPr id="7" name="Rounded Rectangle 6"/>
          <p:cNvSpPr/>
          <p:nvPr/>
        </p:nvSpPr>
        <p:spPr>
          <a:xfrm>
            <a:off x="6400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Mun</a:t>
            </a:r>
          </a:p>
          <a:p>
            <a:pPr algn="ctr">
              <a:spcAft>
                <a:spcPts val="0"/>
              </a:spcAft>
            </a:pPr>
            <a:r>
              <a:rPr sz="900" b="0" i="1">
                <a:solidFill>
                  <a:srgbClr val="C9D4EF"/>
                </a:solidFill>
                <a:latin typeface="Calibri"/>
              </a:rPr>
              <a:t>taste · selection</a:t>
            </a:r>
          </a:p>
        </p:txBody>
      </p:sp>
      <p:sp>
        <p:nvSpPr>
          <p:cNvPr id="9" name="Rounded Rectangle 8"/>
          <p:cNvSpPr/>
          <p:nvPr/>
        </p:nvSpPr>
        <p:spPr>
          <a:xfrm>
            <a:off x="22402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Vritti</a:t>
            </a:r>
          </a:p>
          <a:p>
            <a:pPr algn="ctr">
              <a:spcAft>
                <a:spcPts val="0"/>
              </a:spcAft>
            </a:pPr>
            <a:r>
              <a:rPr sz="900" b="0" i="1">
                <a:solidFill>
                  <a:srgbClr val="C9D4EF"/>
                </a:solidFill>
                <a:latin typeface="Calibri"/>
              </a:rPr>
              <a:t>deliberation · analysis</a:t>
            </a:r>
          </a:p>
        </p:txBody>
      </p:sp>
      <p:sp>
        <p:nvSpPr>
          <p:cNvPr id="11" name="Rounded Rectangle 10"/>
          <p:cNvSpPr/>
          <p:nvPr/>
        </p:nvSpPr>
        <p:spPr>
          <a:xfrm>
            <a:off x="38404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Chitta</a:t>
            </a:r>
          </a:p>
          <a:p>
            <a:pPr algn="ctr">
              <a:spcAft>
                <a:spcPts val="0"/>
              </a:spcAft>
            </a:pPr>
            <a:r>
              <a:rPr sz="900" b="0" i="1">
                <a:solidFill>
                  <a:srgbClr val="C9D4EF"/>
                </a:solidFill>
                <a:latin typeface="Calibri"/>
              </a:rPr>
              <a:t>contemplation · visualisation</a:t>
            </a:r>
          </a:p>
        </p:txBody>
      </p:sp>
      <p:sp>
        <p:nvSpPr>
          <p:cNvPr id="13" name="Rounded Rectangle 12"/>
          <p:cNvSpPr/>
          <p:nvPr/>
        </p:nvSpPr>
        <p:spPr>
          <a:xfrm>
            <a:off x="54406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Buddhi</a:t>
            </a:r>
          </a:p>
          <a:p>
            <a:pPr algn="ctr">
              <a:spcAft>
                <a:spcPts val="0"/>
              </a:spcAft>
            </a:pPr>
            <a:r>
              <a:rPr sz="900" b="0" i="1">
                <a:solidFill>
                  <a:srgbClr val="C9D4EF"/>
                </a:solidFill>
                <a:latin typeface="Calibri"/>
              </a:rPr>
              <a:t>enlightenment · resolve</a:t>
            </a:r>
          </a:p>
        </p:txBody>
      </p:sp>
      <p:sp>
        <p:nvSpPr>
          <p:cNvPr id="15" name="Rounded Rectangle 14"/>
          <p:cNvSpPr/>
          <p:nvPr/>
        </p:nvSpPr>
        <p:spPr>
          <a:xfrm>
            <a:off x="70408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Atma</a:t>
            </a:r>
          </a:p>
          <a:p>
            <a:pPr algn="ctr">
              <a:spcAft>
                <a:spcPts val="0"/>
              </a:spcAft>
            </a:pPr>
            <a:r>
              <a:rPr sz="900" b="0" i="1">
                <a:solidFill>
                  <a:srgbClr val="C9D4EF"/>
                </a:solidFill>
                <a:latin typeface="Calibri"/>
              </a:rPr>
              <a:t>realisation · authenticity</a:t>
            </a:r>
          </a:p>
        </p:txBody>
      </p:sp>
      <p:sp>
        <p:nvSpPr>
          <p:cNvPr id="17" name="Rounded Rectangle 16"/>
          <p:cNvSpPr/>
          <p:nvPr/>
        </p:nvSpPr>
        <p:spPr>
          <a:xfrm>
            <a:off x="16916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916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happiness</a:t>
            </a:r>
          </a:p>
        </p:txBody>
      </p:sp>
      <p:sp>
        <p:nvSpPr>
          <p:cNvPr id="19" name="Rounded Rectangle 18"/>
          <p:cNvSpPr/>
          <p:nvPr/>
        </p:nvSpPr>
        <p:spPr>
          <a:xfrm>
            <a:off x="32918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peace</a:t>
            </a:r>
          </a:p>
        </p:txBody>
      </p:sp>
      <p:sp>
        <p:nvSpPr>
          <p:cNvPr id="21" name="Rounded Rectangle 20"/>
          <p:cNvSpPr/>
          <p:nvPr/>
        </p:nvSpPr>
        <p:spPr>
          <a:xfrm>
            <a:off x="48920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contentment</a:t>
            </a:r>
          </a:p>
        </p:txBody>
      </p:sp>
      <p:sp>
        <p:nvSpPr>
          <p:cNvPr id="23" name="Rounded Rectangle 22"/>
          <p:cNvSpPr/>
          <p:nvPr/>
        </p:nvSpPr>
        <p:spPr>
          <a:xfrm>
            <a:off x="64922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bliss</a:t>
            </a:r>
          </a:p>
        </p:txBody>
      </p:sp>
      <p:sp>
        <p:nvSpPr>
          <p:cNvPr id="25" name="TextBox 24"/>
          <p:cNvSpPr txBox="1"/>
          <p:nvPr/>
        </p:nvSpPr>
        <p:spPr>
          <a:xfrm>
            <a:off x="640080" y="2542032"/>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jeevan value is harmony between two adjacent faculties.</a:t>
            </a:r>
          </a:p>
        </p:txBody>
      </p:sp>
      <p:sp>
        <p:nvSpPr>
          <p:cNvPr id="26" name="Rounded Rectangle 25"/>
          <p:cNvSpPr/>
          <p:nvPr/>
        </p:nvSpPr>
        <p:spPr>
          <a:xfrm>
            <a:off x="640080" y="292608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449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Innateness of the human</a:t>
            </a:r>
          </a:p>
        </p:txBody>
      </p:sp>
      <p:sp>
        <p:nvSpPr>
          <p:cNvPr id="28" name="TextBox 27"/>
          <p:cNvSpPr txBox="1"/>
          <p:nvPr/>
        </p:nvSpPr>
        <p:spPr>
          <a:xfrm>
            <a:off x="822959"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activity is carried out in the expectation of happiness, peace, contentment and bliss; contentment is accepted by all, discontent by none.</a:t>
            </a:r>
          </a:p>
        </p:txBody>
      </p:sp>
      <p:sp>
        <p:nvSpPr>
          <p:cNvPr id="29" name="Rounded Rectangle 28"/>
          <p:cNvSpPr/>
          <p:nvPr/>
        </p:nvSpPr>
        <p:spPr>
          <a:xfrm>
            <a:off x="4663440" y="2926080"/>
            <a:ext cx="3840480" cy="1234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0449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Not a sensation</a:t>
            </a:r>
          </a:p>
        </p:txBody>
      </p:sp>
      <p:sp>
        <p:nvSpPr>
          <p:cNvPr id="31" name="TextBox 30"/>
          <p:cNvSpPr txBox="1"/>
          <p:nvPr/>
        </p:nvSpPr>
        <p:spPr>
          <a:xfrm>
            <a:off x="4846320"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Happiness is a state of the whole conscious unit; its continuity depends on the higher faculties having the content of understanding.</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13, 20–21, 48, 50, 92  ·  JV pp. 72–73, 137  ·  AnalyticMadhyasthDarshan.org  ·  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DELUSION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Four and a Half Activities</a:t>
            </a:r>
          </a:p>
        </p:txBody>
      </p:sp>
      <p:sp>
        <p:nvSpPr>
          <p:cNvPr id="7" name="Rounded Rectangle 6"/>
          <p:cNvSpPr/>
          <p:nvPr/>
        </p:nvSpPr>
        <p:spPr>
          <a:xfrm>
            <a:off x="640080" y="1280160"/>
            <a:ext cx="3840480" cy="21488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Effective in delusion</a:t>
            </a:r>
          </a:p>
        </p:txBody>
      </p:sp>
      <p:sp>
        <p:nvSpPr>
          <p:cNvPr id="9" name="Oval 8"/>
          <p:cNvSpPr/>
          <p:nvPr/>
        </p:nvSpPr>
        <p:spPr>
          <a:xfrm>
            <a:off x="868680" y="181965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37360"/>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Selection</a:t>
            </a:r>
          </a:p>
        </p:txBody>
      </p:sp>
      <p:sp>
        <p:nvSpPr>
          <p:cNvPr id="11" name="Oval 10"/>
          <p:cNvSpPr/>
          <p:nvPr/>
        </p:nvSpPr>
        <p:spPr>
          <a:xfrm>
            <a:off x="868680" y="211226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029967"/>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Taste</a:t>
            </a:r>
          </a:p>
        </p:txBody>
      </p:sp>
      <p:sp>
        <p:nvSpPr>
          <p:cNvPr id="13" name="Oval 12"/>
          <p:cNvSpPr/>
          <p:nvPr/>
        </p:nvSpPr>
        <p:spPr>
          <a:xfrm>
            <a:off x="868680" y="240487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322576"/>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Analysis</a:t>
            </a:r>
          </a:p>
        </p:txBody>
      </p:sp>
      <p:sp>
        <p:nvSpPr>
          <p:cNvPr id="15" name="Oval 14"/>
          <p:cNvSpPr/>
          <p:nvPr/>
        </p:nvSpPr>
        <p:spPr>
          <a:xfrm>
            <a:off x="868680" y="26974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615184"/>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Visualisation</a:t>
            </a:r>
          </a:p>
        </p:txBody>
      </p:sp>
      <p:sp>
        <p:nvSpPr>
          <p:cNvPr id="17" name="Oval 16"/>
          <p:cNvSpPr/>
          <p:nvPr/>
        </p:nvSpPr>
        <p:spPr>
          <a:xfrm>
            <a:off x="868680" y="2990088"/>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907791"/>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Half of deliberation</a:t>
            </a:r>
          </a:p>
        </p:txBody>
      </p:sp>
      <p:sp>
        <p:nvSpPr>
          <p:cNvPr id="19" name="Rounded Rectangle 18"/>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Governed by pleasure, health, profit</a:t>
            </a:r>
          </a:p>
        </p:txBody>
      </p:sp>
      <p:sp>
        <p:nvSpPr>
          <p:cNvPr id="21" name="TextBox 20"/>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Taste and selection follow what is pleasant to the senses; deliberation runs on priya, hit and labh.</a:t>
            </a:r>
          </a:p>
          <a:p>
            <a:pPr>
              <a:spcBef>
                <a:spcPts val="600"/>
              </a:spcBef>
              <a:spcAft>
                <a:spcPts val="0"/>
              </a:spcAft>
            </a:pPr>
            <a:r>
              <a:rPr sz="1150" b="0" i="0">
                <a:solidFill>
                  <a:srgbClr val="5A6377"/>
                </a:solidFill>
                <a:latin typeface="Calibri"/>
              </a:rPr>
              <a:t>The remaining activities lack the substance of understanding: the result is continuous internal conflict within jeevan.</a:t>
            </a:r>
          </a:p>
        </p:txBody>
      </p:sp>
      <p:sp>
        <p:nvSpPr>
          <p:cNvPr id="22" name="Rounded Rectangle 21"/>
          <p:cNvSpPr/>
          <p:nvPr/>
        </p:nvSpPr>
        <p:spPr>
          <a:xfrm>
            <a:off x="640080" y="365760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5760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An inexhaustible cycle</a:t>
            </a:r>
          </a:p>
          <a:p>
            <a:pPr algn="ctr">
              <a:spcAft>
                <a:spcPts val="0"/>
              </a:spcAft>
            </a:pPr>
            <a:r>
              <a:rPr sz="1250" b="0" i="0">
                <a:solidFill>
                  <a:srgbClr val="FFFFFF"/>
                </a:solidFill>
                <a:latin typeface="Calibri"/>
              </a:rPr>
              <a:t>After tasting, selection arises again, as fresh as before; deliberation by pleasure, health and profit is settled, while justice, dharma and truth remain under review.</a:t>
            </a:r>
          </a:p>
        </p:txBody>
      </p:sp>
      <p:sp>
        <p:nvSpPr>
          <p:cNvPr id="24" name="TextBox 2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72–73  ·  AA pp. 17–18  ·  AnalyticMadhyasthDarshan.org  ·  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SELF-REGULATION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Taste Regulated, Not Suppressed</a:t>
            </a:r>
          </a:p>
        </p:txBody>
      </p:sp>
      <p:sp>
        <p:nvSpPr>
          <p:cNvPr id="7" name="Rounded Rectangle 6"/>
          <p:cNvSpPr/>
          <p:nvPr/>
        </p:nvSpPr>
        <p:spPr>
          <a:xfrm>
            <a:off x="64008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Coexistence</a:t>
            </a:r>
          </a:p>
        </p:txBody>
      </p:sp>
      <p:sp>
        <p:nvSpPr>
          <p:cNvPr id="9" name="TextBox 8"/>
          <p:cNvSpPr txBox="1"/>
          <p:nvPr/>
        </p:nvSpPr>
        <p:spPr>
          <a:xfrm>
            <a:off x="1810512"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1975104"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29968"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Realisation</a:t>
            </a:r>
          </a:p>
          <a:p>
            <a:pPr algn="ctr">
              <a:spcAft>
                <a:spcPts val="0"/>
              </a:spcAft>
            </a:pPr>
            <a:r>
              <a:rPr sz="950" b="0" i="1">
                <a:solidFill>
                  <a:srgbClr val="C9D4EF"/>
                </a:solidFill>
                <a:latin typeface="Calibri"/>
              </a:rPr>
              <a:t>atma</a:t>
            </a:r>
          </a:p>
        </p:txBody>
      </p:sp>
      <p:sp>
        <p:nvSpPr>
          <p:cNvPr id="12" name="TextBox 11"/>
          <p:cNvSpPr txBox="1"/>
          <p:nvPr/>
        </p:nvSpPr>
        <p:spPr>
          <a:xfrm>
            <a:off x="3145536"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10128"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64992"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Enlightenment</a:t>
            </a:r>
          </a:p>
          <a:p>
            <a:pPr algn="ctr">
              <a:spcAft>
                <a:spcPts val="0"/>
              </a:spcAft>
            </a:pPr>
            <a:r>
              <a:rPr sz="950" b="0" i="1">
                <a:solidFill>
                  <a:srgbClr val="C9D4EF"/>
                </a:solidFill>
                <a:latin typeface="Calibri"/>
              </a:rPr>
              <a:t>buddhi</a:t>
            </a:r>
          </a:p>
        </p:txBody>
      </p:sp>
      <p:sp>
        <p:nvSpPr>
          <p:cNvPr id="15" name="TextBox 14"/>
          <p:cNvSpPr txBox="1"/>
          <p:nvPr/>
        </p:nvSpPr>
        <p:spPr>
          <a:xfrm>
            <a:off x="4480560"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4645152"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Contemplation</a:t>
            </a:r>
          </a:p>
          <a:p>
            <a:pPr algn="ctr">
              <a:spcAft>
                <a:spcPts val="0"/>
              </a:spcAft>
            </a:pPr>
            <a:r>
              <a:rPr sz="950" b="0" i="1">
                <a:solidFill>
                  <a:srgbClr val="C9D4EF"/>
                </a:solidFill>
                <a:latin typeface="Calibri"/>
              </a:rPr>
              <a:t>chitta</a:t>
            </a:r>
          </a:p>
        </p:txBody>
      </p:sp>
      <p:sp>
        <p:nvSpPr>
          <p:cNvPr id="18" name="TextBox 17"/>
          <p:cNvSpPr txBox="1"/>
          <p:nvPr/>
        </p:nvSpPr>
        <p:spPr>
          <a:xfrm>
            <a:off x="5815584"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5980176"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Deliberation</a:t>
            </a:r>
          </a:p>
          <a:p>
            <a:pPr algn="ctr">
              <a:spcAft>
                <a:spcPts val="0"/>
              </a:spcAft>
            </a:pPr>
            <a:r>
              <a:rPr sz="950" b="0" i="1">
                <a:solidFill>
                  <a:srgbClr val="C9D4EF"/>
                </a:solidFill>
                <a:latin typeface="Calibri"/>
              </a:rPr>
              <a:t>vritti</a:t>
            </a:r>
          </a:p>
        </p:txBody>
      </p:sp>
      <p:sp>
        <p:nvSpPr>
          <p:cNvPr id="21" name="TextBox 20"/>
          <p:cNvSpPr txBox="1"/>
          <p:nvPr/>
        </p:nvSpPr>
        <p:spPr>
          <a:xfrm>
            <a:off x="7150608"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2" name="Rounded Rectangle 21"/>
          <p:cNvSpPr/>
          <p:nvPr/>
        </p:nvSpPr>
        <p:spPr>
          <a:xfrm>
            <a:off x="731520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006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Tasting</a:t>
            </a:r>
          </a:p>
          <a:p>
            <a:pPr algn="ctr">
              <a:spcAft>
                <a:spcPts val="0"/>
              </a:spcAft>
            </a:pPr>
            <a:r>
              <a:rPr sz="950" b="0" i="1">
                <a:solidFill>
                  <a:srgbClr val="C9D4EF"/>
                </a:solidFill>
                <a:latin typeface="Calibri"/>
              </a:rPr>
              <a:t>mun</a:t>
            </a:r>
          </a:p>
        </p:txBody>
      </p:sp>
      <p:sp>
        <p:nvSpPr>
          <p:cNvPr id="24" name="TextBox 23"/>
          <p:cNvSpPr txBox="1"/>
          <p:nvPr/>
        </p:nvSpPr>
        <p:spPr>
          <a:xfrm>
            <a:off x="640080" y="2103120"/>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activity is balanced and regulated on the touchstone of the one before it.</a:t>
            </a:r>
          </a:p>
        </p:txBody>
      </p:sp>
      <p:sp>
        <p:nvSpPr>
          <p:cNvPr id="25" name="Rounded Rectangle 24"/>
          <p:cNvSpPr/>
          <p:nvPr/>
        </p:nvSpPr>
        <p:spPr>
          <a:xfrm>
            <a:off x="640080" y="256032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267919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 awakened jeevan</a:t>
            </a:r>
          </a:p>
        </p:txBody>
      </p:sp>
      <p:sp>
        <p:nvSpPr>
          <p:cNvPr id="27" name="TextBox 26"/>
          <p:cNvSpPr txBox="1"/>
          <p:nvPr/>
        </p:nvSpPr>
        <p:spPr>
          <a:xfrm>
            <a:off x="822959"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tasting is regulated by deliberation, every deliberation by contemplation, and so on to coexistence: the formula of self-regulation and balance in every individual.</a:t>
            </a:r>
          </a:p>
        </p:txBody>
      </p:sp>
      <p:sp>
        <p:nvSpPr>
          <p:cNvPr id="28" name="Rounded Rectangle 27"/>
          <p:cNvSpPr/>
          <p:nvPr/>
        </p:nvSpPr>
        <p:spPr>
          <a:xfrm>
            <a:off x="4663440" y="256032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246887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46887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31" name="TextBox 30"/>
          <p:cNvSpPr txBox="1"/>
          <p:nvPr/>
        </p:nvSpPr>
        <p:spPr>
          <a:xfrm>
            <a:off x="4846320" y="26791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Where the chain is missing</a:t>
            </a:r>
          </a:p>
        </p:txBody>
      </p:sp>
      <p:sp>
        <p:nvSpPr>
          <p:cNvPr id="32" name="TextBox 31"/>
          <p:cNvSpPr txBox="1"/>
          <p:nvPr/>
        </p:nvSpPr>
        <p:spPr>
          <a:xfrm>
            <a:off x="4846320"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Selection and taste become an inexhaustible activity with no higher activity to give them measure. That is insatiability.</a:t>
            </a:r>
          </a:p>
        </p:txBody>
      </p:sp>
      <p:sp>
        <p:nvSpPr>
          <p:cNvPr id="33" name="TextBox 32"/>
          <p:cNvSpPr txBox="1"/>
          <p:nvPr/>
        </p:nvSpPr>
        <p:spPr>
          <a:xfrm>
            <a:off x="640080" y="411480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The awakened alternative is not the suppression of taste but its regulation.</a:t>
            </a:r>
          </a:p>
        </p:txBody>
      </p:sp>
      <p:sp>
        <p:nvSpPr>
          <p:cNvPr id="34" name="TextBox 3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 95  ·  Study §2.2  ·  AnalyticMadhyasthDarshan.org  ·  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DIAGNOSIS  ·  §2.3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Transience Misread as Lack</a:t>
            </a:r>
          </a:p>
        </p:txBody>
      </p:sp>
      <p:sp>
        <p:nvSpPr>
          <p:cNvPr id="7" name="Rounded Rectangle 6"/>
          <p:cNvSpPr/>
          <p:nvPr/>
        </p:nvSpPr>
        <p:spPr>
          <a:xfrm>
            <a:off x="640080" y="128016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16736"/>
            <a:ext cx="7406640" cy="704088"/>
          </a:xfrm>
          <a:prstGeom prst="rect">
            <a:avLst/>
          </a:prstGeom>
          <a:noFill/>
        </p:spPr>
        <p:txBody>
          <a:bodyPr wrap="square" lIns="0" rIns="0" tIns="0" bIns="0" anchor="ctr">
            <a:spAutoFit/>
          </a:bodyPr>
          <a:lstStyle/>
          <a:p>
            <a:pPr algn="ctr">
              <a:spcAft>
                <a:spcPts val="0"/>
              </a:spcAft>
            </a:pPr>
            <a:r>
              <a:rPr sz="1300" b="0" i="1">
                <a:solidFill>
                  <a:srgbClr val="9A6414"/>
                </a:solidFill>
                <a:latin typeface="Cambria"/>
              </a:rPr>
              <a:t>“The transient nature of sensitivity is such a wonderful provision in humans, serving as an alarm, an inspiration, and a direction for their awakening.”</a:t>
            </a:r>
          </a:p>
          <a:p>
            <a:pPr algn="ctr">
              <a:spcAft>
                <a:spcPts val="0"/>
              </a:spcAft>
            </a:pPr>
            <a:r>
              <a:rPr sz="950" b="0" i="0">
                <a:solidFill>
                  <a:srgbClr val="5A6377"/>
                </a:solidFill>
                <a:latin typeface="Calibri"/>
              </a:rPr>
              <a:t>JV p. 163</a:t>
            </a:r>
          </a:p>
        </p:txBody>
      </p:sp>
      <p:sp>
        <p:nvSpPr>
          <p:cNvPr id="9" name="Rounded Rectangle 8"/>
          <p:cNvSpPr/>
          <p:nvPr/>
        </p:nvSpPr>
        <p:spPr>
          <a:xfrm>
            <a:off x="6400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Satisfaction</a:t>
            </a:r>
          </a:p>
          <a:p>
            <a:pPr algn="ctr">
              <a:spcAft>
                <a:spcPts val="0"/>
              </a:spcAft>
            </a:pPr>
            <a:r>
              <a:rPr sz="1000" b="0" i="1">
                <a:solidFill>
                  <a:srgbClr val="C9D4EF"/>
                </a:solidFill>
                <a:latin typeface="Calibri"/>
              </a:rPr>
              <a:t>fades</a:t>
            </a:r>
          </a:p>
        </p:txBody>
      </p:sp>
      <p:sp>
        <p:nvSpPr>
          <p:cNvPr id="11" name="TextBox 10"/>
          <p:cNvSpPr txBox="1"/>
          <p:nvPr/>
        </p:nvSpPr>
        <p:spPr>
          <a:xfrm>
            <a:off x="20116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2" name="Rounded Rectangle 11"/>
          <p:cNvSpPr/>
          <p:nvPr/>
        </p:nvSpPr>
        <p:spPr>
          <a:xfrm>
            <a:off x="22402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951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Discontent</a:t>
            </a:r>
          </a:p>
          <a:p>
            <a:pPr algn="ctr">
              <a:spcAft>
                <a:spcPts val="0"/>
              </a:spcAft>
            </a:pPr>
            <a:r>
              <a:rPr sz="1000" b="0" i="1">
                <a:solidFill>
                  <a:srgbClr val="C9D4EF"/>
                </a:solidFill>
                <a:latin typeface="Calibri"/>
              </a:rPr>
              <a:t>remains</a:t>
            </a:r>
          </a:p>
        </p:txBody>
      </p:sp>
      <p:sp>
        <p:nvSpPr>
          <p:cNvPr id="14" name="TextBox 13"/>
          <p:cNvSpPr txBox="1"/>
          <p:nvPr/>
        </p:nvSpPr>
        <p:spPr>
          <a:xfrm>
            <a:off x="36118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5" name="Rounded Rectangle 14"/>
          <p:cNvSpPr/>
          <p:nvPr/>
        </p:nvSpPr>
        <p:spPr>
          <a:xfrm>
            <a:off x="38404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53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Read as</a:t>
            </a:r>
          </a:p>
          <a:p>
            <a:pPr algn="ctr">
              <a:spcAft>
                <a:spcPts val="0"/>
              </a:spcAft>
            </a:pPr>
            <a:r>
              <a:rPr sz="1000" b="0" i="1">
                <a:solidFill>
                  <a:srgbClr val="C9D4EF"/>
                </a:solidFill>
                <a:latin typeface="Calibri"/>
              </a:rPr>
              <a:t>a shortage</a:t>
            </a:r>
          </a:p>
        </p:txBody>
      </p:sp>
      <p:sp>
        <p:nvSpPr>
          <p:cNvPr id="17" name="TextBox 16"/>
          <p:cNvSpPr txBox="1"/>
          <p:nvPr/>
        </p:nvSpPr>
        <p:spPr>
          <a:xfrm>
            <a:off x="52120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8" name="Rounded Rectangle 17"/>
          <p:cNvSpPr/>
          <p:nvPr/>
        </p:nvSpPr>
        <p:spPr>
          <a:xfrm>
            <a:off x="54406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955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More</a:t>
            </a:r>
          </a:p>
          <a:p>
            <a:pPr algn="ctr">
              <a:spcAft>
                <a:spcPts val="0"/>
              </a:spcAft>
            </a:pPr>
            <a:r>
              <a:rPr sz="1000" b="0" i="1">
                <a:solidFill>
                  <a:srgbClr val="C9D4EF"/>
                </a:solidFill>
                <a:latin typeface="Calibri"/>
              </a:rPr>
              <a:t>acquisition</a:t>
            </a:r>
          </a:p>
        </p:txBody>
      </p:sp>
      <p:sp>
        <p:nvSpPr>
          <p:cNvPr id="20" name="TextBox 19"/>
          <p:cNvSpPr txBox="1"/>
          <p:nvPr/>
        </p:nvSpPr>
        <p:spPr>
          <a:xfrm>
            <a:off x="68122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1" name="Rounded Rectangle 20"/>
          <p:cNvSpPr/>
          <p:nvPr/>
        </p:nvSpPr>
        <p:spPr>
          <a:xfrm>
            <a:off x="70408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Satiation</a:t>
            </a:r>
          </a:p>
          <a:p>
            <a:pPr algn="ctr">
              <a:spcAft>
                <a:spcPts val="0"/>
              </a:spcAft>
            </a:pPr>
            <a:r>
              <a:rPr sz="1000" b="0" i="1">
                <a:solidFill>
                  <a:srgbClr val="C9D4EF"/>
                </a:solidFill>
                <a:latin typeface="Calibri"/>
              </a:rPr>
              <a:t>recedes</a:t>
            </a:r>
          </a:p>
        </p:txBody>
      </p:sp>
      <p:sp>
        <p:nvSpPr>
          <p:cNvPr id="23" name="Rounded Rectangle 22"/>
          <p:cNvSpPr/>
          <p:nvPr/>
        </p:nvSpPr>
        <p:spPr>
          <a:xfrm>
            <a:off x="640080" y="3154680"/>
            <a:ext cx="3840480" cy="10515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32735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Duty and indulgence</a:t>
            </a:r>
          </a:p>
        </p:txBody>
      </p:sp>
      <p:sp>
        <p:nvSpPr>
          <p:cNvPr id="25" name="TextBox 24"/>
          <p:cNvSpPr txBox="1"/>
          <p:nvPr/>
        </p:nvSpPr>
        <p:spPr>
          <a:xfrm>
            <a:off x="822959"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Duties are definite and limited, so they can be fulfilled; needs pursued as indulgence are indefinite and unlimited, so they cannot.</a:t>
            </a:r>
          </a:p>
        </p:txBody>
      </p:sp>
      <p:sp>
        <p:nvSpPr>
          <p:cNvPr id="26" name="Rounded Rectangle 25"/>
          <p:cNvSpPr/>
          <p:nvPr/>
        </p:nvSpPr>
        <p:spPr>
          <a:xfrm>
            <a:off x="4663440" y="315468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12864" y="306324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12864" y="306324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9" name="TextBox 28"/>
          <p:cNvSpPr txBox="1"/>
          <p:nvPr/>
        </p:nvSpPr>
        <p:spPr>
          <a:xfrm>
            <a:off x="4846320" y="32735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 category error</a:t>
            </a:r>
          </a:p>
        </p:txBody>
      </p:sp>
      <p:sp>
        <p:nvSpPr>
          <p:cNvPr id="30" name="TextBox 29"/>
          <p:cNvSpPr txBox="1"/>
          <p:nvPr/>
        </p:nvSpPr>
        <p:spPr>
          <a:xfrm>
            <a:off x="4846320"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continuous, qualitative need of jeevan pursued through transient, quantitative means.</a:t>
            </a:r>
          </a:p>
        </p:txBody>
      </p:sp>
      <p:sp>
        <p:nvSpPr>
          <p:cNvPr id="31" name="TextBox 30"/>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satiation point moves ahead like a mirage.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162–163  ·  AA pp. 33, 48, 58–59, 78  ·  MVD p. 128  ·  AnalyticMadhyasthDarshan.org  ·  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SCARCITY PREMISE  ·  §§2.3, 4.4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Scarcity Premise</a:t>
            </a:r>
          </a:p>
        </p:txBody>
      </p:sp>
      <p:sp>
        <p:nvSpPr>
          <p:cNvPr id="7" name="Rounded Rectangle 6"/>
          <p:cNvSpPr/>
          <p:nvPr/>
        </p:nvSpPr>
        <p:spPr>
          <a:xfrm>
            <a:off x="640080" y="1280160"/>
            <a:ext cx="3840480" cy="2377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lesson from which people stray</a:t>
            </a:r>
          </a:p>
        </p:txBody>
      </p:sp>
      <p:sp>
        <p:nvSpPr>
          <p:cNvPr id="9" name="TextBox 8"/>
          <p:cNvSpPr txBox="1"/>
          <p:nvPr/>
        </p:nvSpPr>
        <p:spPr>
          <a:xfrm>
            <a:off x="822960" y="1783080"/>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Taught  </a:t>
            </a:r>
            <a:r>
              <a:rPr sz="1150" b="0" i="0">
                <a:solidFill>
                  <a:srgbClr val="5A6377"/>
                </a:solidFill>
                <a:latin typeface="Calibri"/>
              </a:rPr>
              <a:t>necessities infinite, means limited</a:t>
            </a:r>
          </a:p>
        </p:txBody>
      </p:sp>
      <p:sp>
        <p:nvSpPr>
          <p:cNvPr id="10" name="TextBox 9"/>
          <p:cNvSpPr txBox="1"/>
          <p:nvPr/>
        </p:nvSpPr>
        <p:spPr>
          <a:xfrm>
            <a:off x="822960" y="2212848"/>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So  </a:t>
            </a:r>
            <a:r>
              <a:rPr sz="1150" b="0" i="0">
                <a:solidFill>
                  <a:srgbClr val="5A6377"/>
                </a:solidFill>
                <a:latin typeface="Calibri"/>
              </a:rPr>
              <a:t>necessity met only through struggle</a:t>
            </a:r>
          </a:p>
        </p:txBody>
      </p:sp>
      <p:sp>
        <p:nvSpPr>
          <p:cNvPr id="11" name="TextBox 10"/>
          <p:cNvSpPr txBox="1"/>
          <p:nvPr/>
        </p:nvSpPr>
        <p:spPr>
          <a:xfrm>
            <a:off x="822960" y="2642615"/>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Attention  </a:t>
            </a:r>
            <a:r>
              <a:rPr sz="1150" b="0" i="0">
                <a:solidFill>
                  <a:srgbClr val="5A6377"/>
                </a:solidFill>
                <a:latin typeface="Calibri"/>
              </a:rPr>
              <a:t>turns to accumulation and comfort</a:t>
            </a:r>
          </a:p>
        </p:txBody>
      </p:sp>
      <p:sp>
        <p:nvSpPr>
          <p:cNvPr id="12" name="TextBox 11"/>
          <p:cNvSpPr txBox="1"/>
          <p:nvPr/>
        </p:nvSpPr>
        <p:spPr>
          <a:xfrm>
            <a:off x="822960" y="3072384"/>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Result  </a:t>
            </a:r>
            <a:r>
              <a:rPr sz="1150" b="0" i="0">
                <a:solidFill>
                  <a:srgbClr val="5A6377"/>
                </a:solidFill>
                <a:latin typeface="Calibri"/>
              </a:rPr>
              <a:t>necessity assumed to be infinite</a:t>
            </a:r>
          </a:p>
        </p:txBody>
      </p:sp>
      <p:sp>
        <p:nvSpPr>
          <p:cNvPr id="13" name="Rounded Rectangle 12"/>
          <p:cNvSpPr/>
          <p:nvPr/>
        </p:nvSpPr>
        <p:spPr>
          <a:xfrm>
            <a:off x="4663440" y="1280160"/>
            <a:ext cx="3840480" cy="2377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releases it</a:t>
            </a:r>
          </a:p>
        </p:txBody>
      </p:sp>
      <p:sp>
        <p:nvSpPr>
          <p:cNvPr id="15" name="Oval 14"/>
          <p:cNvSpPr/>
          <p:nvPr/>
        </p:nvSpPr>
        <p:spPr>
          <a:xfrm>
            <a:off x="4892040" y="186537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7488" y="1783080"/>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Each family's necessity is limited</a:t>
            </a:r>
          </a:p>
        </p:txBody>
      </p:sp>
      <p:sp>
        <p:nvSpPr>
          <p:cNvPr id="17" name="Oval 16"/>
          <p:cNvSpPr/>
          <p:nvPr/>
        </p:nvSpPr>
        <p:spPr>
          <a:xfrm>
            <a:off x="4892040" y="229514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7488" y="2212848"/>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possibility of fulfilling it is greater</a:t>
            </a:r>
          </a:p>
        </p:txBody>
      </p:sp>
      <p:sp>
        <p:nvSpPr>
          <p:cNvPr id="19" name="Oval 18"/>
          <p:cNvSpPr/>
          <p:nvPr/>
        </p:nvSpPr>
        <p:spPr>
          <a:xfrm>
            <a:off x="4892040" y="272491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7488" y="2642615"/>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Jeevan's powers are inexhaustible</a:t>
            </a:r>
          </a:p>
        </p:txBody>
      </p:sp>
      <p:sp>
        <p:nvSpPr>
          <p:cNvPr id="21" name="Oval 20"/>
          <p:cNvSpPr/>
          <p:nvPr/>
        </p:nvSpPr>
        <p:spPr>
          <a:xfrm>
            <a:off x="4892040" y="31546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072384"/>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body's necessity is limited</a:t>
            </a:r>
          </a:p>
        </p:txBody>
      </p:sp>
      <p:sp>
        <p:nvSpPr>
          <p:cNvPr id="23" name="Rounded Rectangle 22"/>
          <p:cNvSpPr/>
          <p:nvPr/>
        </p:nvSpPr>
        <p:spPr>
          <a:xfrm>
            <a:off x="640080" y="3840480"/>
            <a:ext cx="7863840" cy="7772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39319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6" name="TextBox 25"/>
          <p:cNvSpPr txBox="1"/>
          <p:nvPr/>
        </p:nvSpPr>
        <p:spPr>
          <a:xfrm>
            <a:off x="1874519" y="3858768"/>
            <a:ext cx="6492240" cy="731520"/>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Robbins defined economics as the allocation of scarce means among unlimited ends. The darshan names that very premise as the root of straying.</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KD p. 115  ·  SB p. 234  ·  Robbins 1932  ·  AnalyticMadhyasthDarshan.org  ·  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ACCUMULATION  ·  §2.4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Money Escapes Use and Decay</a:t>
            </a:r>
          </a:p>
        </p:txBody>
      </p:sp>
      <p:sp>
        <p:nvSpPr>
          <p:cNvPr id="7" name="Rounded Rectangle 6"/>
          <p:cNvSpPr/>
          <p:nvPr/>
        </p:nvSpPr>
        <p:spPr>
          <a:xfrm>
            <a:off x="6400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Object</a:t>
            </a:r>
          </a:p>
          <a:p>
            <a:pPr algn="ctr">
              <a:spcAft>
                <a:spcPts val="0"/>
              </a:spcAft>
            </a:pPr>
            <a:r>
              <a:rPr sz="950" b="0" i="1">
                <a:solidFill>
                  <a:srgbClr val="C9D4EF"/>
                </a:solidFill>
                <a:latin typeface="Calibri"/>
              </a:rPr>
              <a:t>useful, perishable</a:t>
            </a:r>
          </a:p>
        </p:txBody>
      </p:sp>
      <p:sp>
        <p:nvSpPr>
          <p:cNvPr id="9" name="TextBox 8"/>
          <p:cNvSpPr txBox="1"/>
          <p:nvPr/>
        </p:nvSpPr>
        <p:spPr>
          <a:xfrm>
            <a:off x="1783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0116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665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Metal</a:t>
            </a:r>
          </a:p>
          <a:p>
            <a:pPr algn="ctr">
              <a:spcAft>
                <a:spcPts val="0"/>
              </a:spcAft>
            </a:pPr>
            <a:r>
              <a:rPr sz="950" b="0" i="1">
                <a:solidFill>
                  <a:srgbClr val="C9D4EF"/>
                </a:solidFill>
                <a:latin typeface="Calibri"/>
              </a:rPr>
              <a:t>symbol of objects</a:t>
            </a:r>
          </a:p>
        </p:txBody>
      </p:sp>
      <p:sp>
        <p:nvSpPr>
          <p:cNvPr id="12" name="TextBox 11"/>
          <p:cNvSpPr txBox="1"/>
          <p:nvPr/>
        </p:nvSpPr>
        <p:spPr>
          <a:xfrm>
            <a:off x="3154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832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Paper</a:t>
            </a:r>
          </a:p>
          <a:p>
            <a:pPr algn="ctr">
              <a:spcAft>
                <a:spcPts val="0"/>
              </a:spcAft>
            </a:pPr>
            <a:r>
              <a:rPr sz="950" b="0" i="1">
                <a:solidFill>
                  <a:srgbClr val="C9D4EF"/>
                </a:solidFill>
                <a:latin typeface="Calibri"/>
              </a:rPr>
              <a:t>symbol of metal</a:t>
            </a:r>
          </a:p>
        </p:txBody>
      </p:sp>
      <p:sp>
        <p:nvSpPr>
          <p:cNvPr id="15" name="TextBox 14"/>
          <p:cNvSpPr txBox="1"/>
          <p:nvPr/>
        </p:nvSpPr>
        <p:spPr>
          <a:xfrm>
            <a:off x="640080" y="2057400"/>
            <a:ext cx="3840480" cy="457200"/>
          </a:xfrm>
          <a:prstGeom prst="rect">
            <a:avLst/>
          </a:prstGeom>
          <a:noFill/>
        </p:spPr>
        <p:txBody>
          <a:bodyPr wrap="square" lIns="0" rIns="0" tIns="0" bIns="0" anchor="t">
            <a:spAutoFit/>
          </a:bodyPr>
          <a:lstStyle/>
          <a:p>
            <a:pPr>
              <a:spcAft>
                <a:spcPts val="0"/>
              </a:spcAft>
            </a:pPr>
            <a:r>
              <a:rPr sz="1100" b="0" i="1">
                <a:solidFill>
                  <a:srgbClr val="1E2447"/>
                </a:solidFill>
                <a:latin typeface="Calibri"/>
              </a:rPr>
              <a:t>However much currency exists, it cannot replace grain for one person or quench one person's thirst.</a:t>
            </a:r>
          </a:p>
        </p:txBody>
      </p:sp>
      <p:sp>
        <p:nvSpPr>
          <p:cNvPr id="16" name="Rounded Rectangle 15"/>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Profit defined against labour</a:t>
            </a:r>
          </a:p>
        </p:txBody>
      </p:sp>
      <p:sp>
        <p:nvSpPr>
          <p:cNvPr id="18" name="TextBox 17"/>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Seeking more worth than the labour performed: a higher value in exchange for a lower one. It has no fixed limit.</a:t>
            </a:r>
          </a:p>
        </p:txBody>
      </p:sp>
      <p:sp>
        <p:nvSpPr>
          <p:cNvPr id="19" name="Rounded Rectangle 18"/>
          <p:cNvSpPr/>
          <p:nvPr/>
        </p:nvSpPr>
        <p:spPr>
          <a:xfrm>
            <a:off x="64008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Artificial scarcity</a:t>
            </a:r>
          </a:p>
        </p:txBody>
      </p:sp>
      <p:sp>
        <p:nvSpPr>
          <p:cNvPr id="21" name="TextBox 20"/>
          <p:cNvSpPr txBox="1"/>
          <p:nvPr/>
        </p:nvSpPr>
        <p:spPr>
          <a:xfrm>
            <a:off x="822959"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Where currency is concentrated, objects are held back from the motion that makes them accessible to all.</a:t>
            </a:r>
          </a:p>
        </p:txBody>
      </p:sp>
      <p:sp>
        <p:nvSpPr>
          <p:cNvPr id="22" name="Rounded Rectangle 21"/>
          <p:cNvSpPr/>
          <p:nvPr/>
        </p:nvSpPr>
        <p:spPr>
          <a:xfrm>
            <a:off x="466344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earth is limited</a:t>
            </a:r>
          </a:p>
        </p:txBody>
      </p:sp>
      <p:sp>
        <p:nvSpPr>
          <p:cNvPr id="24" name="TextBox 23"/>
          <p:cNvSpPr txBox="1"/>
          <p:nvPr/>
        </p:nvSpPr>
        <p:spPr>
          <a:xfrm>
            <a:off x="4846320"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Accumulation has no satiation point, so it cannot be accessible to all. Price changes are changes in the symbol alone.</a:t>
            </a:r>
          </a:p>
        </p:txBody>
      </p:sp>
      <p:sp>
        <p:nvSpPr>
          <p:cNvPr id="25" name="TextBox 2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Those who produce cannot accumulate; those who accumulate become slack in production.</a:t>
            </a:r>
          </a:p>
        </p:txBody>
      </p:sp>
      <p:sp>
        <p:nvSpPr>
          <p:cNvPr id="26" name="TextBox 2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5–7, 45, 52–53, 75  ·  MVD pp. 57, 66, 182  ·  JV pp. 151–152  ·  AnalyticMadhyasthDarshan.org  ·  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EARTH  ·  §2.5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Consequence in the Earth</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Practice</a:t>
            </a:r>
          </a:p>
        </p:txBody>
      </p:sp>
      <p:sp>
        <p:nvSpPr>
          <p:cNvPr id="9" name="TextBox 8"/>
          <p:cNvSpPr txBox="1"/>
          <p:nvPr/>
        </p:nvSpPr>
        <p:spPr>
          <a:xfrm>
            <a:off x="2743200" y="1280160"/>
            <a:ext cx="57150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the treatise observes</a:t>
            </a:r>
          </a:p>
        </p:txBody>
      </p:sp>
      <p:sp>
        <p:nvSpPr>
          <p:cNvPr id="10" name="Rectangle 9"/>
          <p:cNvSpPr/>
          <p:nvPr/>
        </p:nvSpPr>
        <p:spPr>
          <a:xfrm>
            <a:off x="640080" y="1572768"/>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391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Coal and mineral oil</a:t>
            </a:r>
          </a:p>
        </p:txBody>
      </p:sp>
      <p:sp>
        <p:nvSpPr>
          <p:cNvPr id="13" name="TextBox 12"/>
          <p:cNvSpPr txBox="1"/>
          <p:nvPr/>
        </p:nvSpPr>
        <p:spPr>
          <a:xfrm>
            <a:off x="2743200" y="1600200"/>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They needed to remain in the earth for its balance; burning them brought pollution, heat and rising seas</a:t>
            </a:r>
          </a:p>
        </p:txBody>
      </p:sp>
      <p:sp>
        <p:nvSpPr>
          <p:cNvPr id="14" name="Rectangle 13"/>
          <p:cNvSpPr/>
          <p:nvPr/>
        </p:nvSpPr>
        <p:spPr>
          <a:xfrm>
            <a:off x="640080" y="251460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75688"/>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Chemical fertiliser</a:t>
            </a:r>
          </a:p>
        </p:txBody>
      </p:sp>
      <p:sp>
        <p:nvSpPr>
          <p:cNvPr id="16" name="TextBox 15"/>
          <p:cNvSpPr txBox="1"/>
          <p:nvPr/>
        </p:nvSpPr>
        <p:spPr>
          <a:xfrm>
            <a:off x="2743200" y="2075688"/>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Quantity rose while the nutrition in each grain declined, and soils turned acidic or alkaline</a:t>
            </a:r>
          </a:p>
        </p:txBody>
      </p:sp>
      <p:sp>
        <p:nvSpPr>
          <p:cNvPr id="17" name="Rectangle 16"/>
          <p:cNvSpPr/>
          <p:nvPr/>
        </p:nvSpPr>
        <p:spPr>
          <a:xfrm>
            <a:off x="640080" y="2523744"/>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9008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51176"/>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Input-dependent farming</a:t>
            </a:r>
          </a:p>
        </p:txBody>
      </p:sp>
      <p:sp>
        <p:nvSpPr>
          <p:cNvPr id="20" name="TextBox 19"/>
          <p:cNvSpPr txBox="1"/>
          <p:nvPr/>
        </p:nvSpPr>
        <p:spPr>
          <a:xfrm>
            <a:off x="2743200" y="2551176"/>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manure, ploughing and threshing moved from autonomy to dependence</a:t>
            </a:r>
          </a:p>
        </p:txBody>
      </p:sp>
      <p:sp>
        <p:nvSpPr>
          <p:cNvPr id="21" name="Rectangle 20"/>
          <p:cNvSpPr/>
          <p:nvPr/>
        </p:nvSpPr>
        <p:spPr>
          <a:xfrm>
            <a:off x="640080" y="346557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3026664"/>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Pollution policy</a:t>
            </a:r>
          </a:p>
        </p:txBody>
      </p:sp>
      <p:sp>
        <p:nvSpPr>
          <p:cNvPr id="23" name="TextBox 22"/>
          <p:cNvSpPr txBox="1"/>
          <p:nvPr/>
        </p:nvSpPr>
        <p:spPr>
          <a:xfrm>
            <a:off x="2743200" y="3026664"/>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It asks how much pollution people can live in, not how to stop it</a:t>
            </a:r>
          </a:p>
        </p:txBody>
      </p:sp>
      <p:sp>
        <p:nvSpPr>
          <p:cNvPr id="24" name="Rounded Rectangle 23"/>
          <p:cNvSpPr/>
          <p:nvPr/>
        </p:nvSpPr>
        <p:spPr>
          <a:xfrm>
            <a:off x="640080" y="3584448"/>
            <a:ext cx="786384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7406640" cy="64008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 whole form of exploitation is the exploitation of the earth, and the human being is both exploited and exploiter.</a:t>
            </a:r>
          </a:p>
        </p:txBody>
      </p:sp>
      <p:sp>
        <p:nvSpPr>
          <p:cNvPr id="26" name="TextBox 25"/>
          <p:cNvSpPr txBox="1"/>
          <p:nvPr/>
        </p:nvSpPr>
        <p:spPr>
          <a:xfrm>
            <a:off x="640080" y="4334256"/>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Machine production is not contrary to economics: the objection is to the purpose and evaluation that direct it.</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30–31, 47, 70–71, 74, 82  ·  KD §3.7  ·  AnalyticMadhyasthDarshan.org  ·  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 ECONOMICS  ·  §3.1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Resources: Body, Mind, Wealth</a:t>
            </a:r>
          </a:p>
        </p:txBody>
      </p:sp>
      <p:sp>
        <p:nvSpPr>
          <p:cNvPr id="7" name="Rounded Rectangle 6"/>
          <p:cNvSpPr/>
          <p:nvPr/>
        </p:nvSpPr>
        <p:spPr>
          <a:xfrm>
            <a:off x="640080" y="128016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Cyclical economics is</a:t>
            </a:r>
          </a:p>
          <a:p>
            <a:pPr algn="ctr">
              <a:spcAft>
                <a:spcPts val="0"/>
              </a:spcAft>
            </a:pPr>
            <a:r>
              <a:rPr sz="1250" b="0" i="0">
                <a:solidFill>
                  <a:srgbClr val="FFFFFF"/>
                </a:solidFill>
                <a:latin typeface="Calibri"/>
              </a:rPr>
              <a:t>the right use, security and prosperity of resources in the form of body, mind and wealth</a:t>
            </a:r>
          </a:p>
        </p:txBody>
      </p:sp>
      <p:sp>
        <p:nvSpPr>
          <p:cNvPr id="9" name="Rounded Rectangle 8"/>
          <p:cNvSpPr/>
          <p:nvPr/>
        </p:nvSpPr>
        <p:spPr>
          <a:xfrm>
            <a:off x="640080"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a:t>
            </a:r>
          </a:p>
        </p:txBody>
      </p:sp>
      <p:sp>
        <p:nvSpPr>
          <p:cNvPr id="11" name="TextBox 10"/>
          <p:cNvSpPr txBox="1"/>
          <p:nvPr/>
        </p:nvSpPr>
        <p:spPr>
          <a:xfrm>
            <a:off x="822959"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Only the produced object, carrying usefulness value and aesthetic value; not money.</a:t>
            </a:r>
          </a:p>
        </p:txBody>
      </p:sp>
      <p:sp>
        <p:nvSpPr>
          <p:cNvPr id="12" name="Rounded Rectangle 11"/>
          <p:cNvSpPr/>
          <p:nvPr/>
        </p:nvSpPr>
        <p:spPr>
          <a:xfrm>
            <a:off x="3328416"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Labour is capital</a:t>
            </a:r>
          </a:p>
        </p:txBody>
      </p:sp>
      <p:sp>
        <p:nvSpPr>
          <p:cNvPr id="14" name="TextBox 13"/>
          <p:cNvSpPr txBox="1"/>
          <p:nvPr/>
        </p:nvSpPr>
        <p:spPr>
          <a:xfrm>
            <a:off x="3511296"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primary wealth is human labour power, and it is always the person's own.</a:t>
            </a:r>
          </a:p>
        </p:txBody>
      </p:sp>
      <p:sp>
        <p:nvSpPr>
          <p:cNvPr id="15" name="Rounded Rectangle 14"/>
          <p:cNvSpPr/>
          <p:nvPr/>
        </p:nvSpPr>
        <p:spPr>
          <a:xfrm>
            <a:off x="6016752" y="2286000"/>
            <a:ext cx="2487168"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404872"/>
            <a:ext cx="2121408"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Beyond necessity</a:t>
            </a:r>
          </a:p>
        </p:txBody>
      </p:sp>
      <p:sp>
        <p:nvSpPr>
          <p:cNvPr id="17" name="TextBox 16"/>
          <p:cNvSpPr txBox="1"/>
          <p:nvPr/>
        </p:nvSpPr>
        <p:spPr>
          <a:xfrm>
            <a:off x="6199632" y="2724911"/>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Because jeevan's powers are inexhaustible, every person can produce more than necessity.</a:t>
            </a:r>
          </a:p>
        </p:txBody>
      </p:sp>
      <p:sp>
        <p:nvSpPr>
          <p:cNvPr id="18" name="TextBox 17"/>
          <p:cNvSpPr txBox="1"/>
          <p:nvPr/>
        </p:nvSpPr>
        <p:spPr>
          <a:xfrm>
            <a:off x="640080" y="406908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Economics that treats money as the primary resource has studied the symbol rather than the thing.</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25, 73, 105  ·  MVD pp. 56, 243  ·  SB p. 268  ·  JV p. 151  ·  JVD p. 215  ·  AnalyticMadhyasthDarshan.org  ·  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CYCLICALITY  ·  §3.2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Cyclicality Means</a:t>
            </a:r>
          </a:p>
        </p:txBody>
      </p:sp>
      <p:sp>
        <p:nvSpPr>
          <p:cNvPr id="7" name="Rounded Rectangle 6"/>
          <p:cNvSpPr/>
          <p:nvPr/>
        </p:nvSpPr>
        <p:spPr>
          <a:xfrm>
            <a:off x="640080"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Seed › tree › seed</a:t>
            </a:r>
          </a:p>
        </p:txBody>
      </p:sp>
      <p:sp>
        <p:nvSpPr>
          <p:cNvPr id="9" name="TextBox 8"/>
          <p:cNvSpPr txBox="1"/>
          <p:nvPr/>
        </p:nvSpPr>
        <p:spPr>
          <a:xfrm>
            <a:off x="777240"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the plant order's own cycle</a:t>
            </a:r>
          </a:p>
        </p:txBody>
      </p:sp>
      <p:sp>
        <p:nvSpPr>
          <p:cNvPr id="10" name="Rounded Rectangle 9"/>
          <p:cNvSpPr/>
          <p:nvPr/>
        </p:nvSpPr>
        <p:spPr>
          <a:xfrm>
            <a:off x="3328415"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Relationship › value › evaluation</a:t>
            </a:r>
          </a:p>
        </p:txBody>
      </p:sp>
      <p:sp>
        <p:nvSpPr>
          <p:cNvPr id="12" name="TextBox 11"/>
          <p:cNvSpPr txBox="1"/>
          <p:nvPr/>
        </p:nvSpPr>
        <p:spPr>
          <a:xfrm>
            <a:off x="3465575"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and back to relationship</a:t>
            </a:r>
          </a:p>
        </p:txBody>
      </p:sp>
      <p:sp>
        <p:nvSpPr>
          <p:cNvPr id="13" name="Rounded Rectangle 12"/>
          <p:cNvSpPr/>
          <p:nvPr/>
        </p:nvSpPr>
        <p:spPr>
          <a:xfrm>
            <a:off x="6016752"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Individual ⇄ family ⇄ village</a:t>
            </a:r>
          </a:p>
        </p:txBody>
      </p:sp>
      <p:sp>
        <p:nvSpPr>
          <p:cNvPr id="15" name="TextBox 14"/>
          <p:cNvSpPr txBox="1"/>
          <p:nvPr/>
        </p:nvSpPr>
        <p:spPr>
          <a:xfrm>
            <a:off x="6153912"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complementarity linked both ways</a:t>
            </a:r>
          </a:p>
        </p:txBody>
      </p:sp>
      <p:sp>
        <p:nvSpPr>
          <p:cNvPr id="16" name="Rounded Rectangle 15"/>
          <p:cNvSpPr/>
          <p:nvPr/>
        </p:nvSpPr>
        <p:spPr>
          <a:xfrm>
            <a:off x="640080"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Labour › valuation › exchange</a:t>
            </a:r>
          </a:p>
        </p:txBody>
      </p:sp>
      <p:sp>
        <p:nvSpPr>
          <p:cNvPr id="18" name="TextBox 17"/>
          <p:cNvSpPr txBox="1"/>
          <p:nvPr/>
        </p:nvSpPr>
        <p:spPr>
          <a:xfrm>
            <a:off x="777240"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production on the value of labour</a:t>
            </a:r>
          </a:p>
        </p:txBody>
      </p:sp>
      <p:sp>
        <p:nvSpPr>
          <p:cNvPr id="19" name="Rounded Rectangle 18"/>
          <p:cNvSpPr/>
          <p:nvPr/>
        </p:nvSpPr>
        <p:spPr>
          <a:xfrm>
            <a:off x="3328415"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Rain › river › sea › cloud</a:t>
            </a:r>
          </a:p>
        </p:txBody>
      </p:sp>
      <p:sp>
        <p:nvSpPr>
          <p:cNvPr id="21" name="TextBox 20"/>
          <p:cNvSpPr txBox="1"/>
          <p:nvPr/>
        </p:nvSpPr>
        <p:spPr>
          <a:xfrm>
            <a:off x="3465575"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water's return; decay renews fertility</a:t>
            </a:r>
          </a:p>
        </p:txBody>
      </p:sp>
      <p:sp>
        <p:nvSpPr>
          <p:cNvPr id="22" name="Rounded Rectangle 21"/>
          <p:cNvSpPr/>
          <p:nvPr/>
        </p:nvSpPr>
        <p:spPr>
          <a:xfrm>
            <a:off x="6016752"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Four orders</a:t>
            </a:r>
          </a:p>
        </p:txBody>
      </p:sp>
      <p:sp>
        <p:nvSpPr>
          <p:cNvPr id="24" name="TextBox 23"/>
          <p:cNvSpPr txBox="1"/>
          <p:nvPr/>
        </p:nvSpPr>
        <p:spPr>
          <a:xfrm>
            <a:off x="6153912"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each complementary to the others</a:t>
            </a:r>
          </a:p>
        </p:txBody>
      </p:sp>
      <p:sp>
        <p:nvSpPr>
          <p:cNvPr id="25" name="Rounded Rectangle 24"/>
          <p:cNvSpPr/>
          <p:nvPr/>
        </p:nvSpPr>
        <p:spPr>
          <a:xfrm>
            <a:off x="640080" y="342900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2900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Mutual sustenance</a:t>
            </a:r>
          </a:p>
          <a:p>
            <a:pPr algn="ctr">
              <a:spcAft>
                <a:spcPts val="0"/>
              </a:spcAft>
            </a:pPr>
            <a:r>
              <a:rPr sz="1250" b="0" i="0">
                <a:solidFill>
                  <a:srgbClr val="FFFFFF"/>
                </a:solidFill>
                <a:latin typeface="Calibri"/>
              </a:rPr>
              <a:t>A cycle returns to its starting point, and returns with its purpose fulfilled: complementarity is cyclicality.</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15, 34–35, 42  ·  MVD p. 152  ·  AnalyticMadhyasthDarshan.org  ·  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PROVISION CYCLE  ·  §3.3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Provision Cycle</a:t>
            </a:r>
          </a:p>
        </p:txBody>
      </p:sp>
      <p:sp>
        <p:nvSpPr>
          <p:cNvPr id="7" name="Rounded Rectangle 6"/>
          <p:cNvSpPr/>
          <p:nvPr/>
        </p:nvSpPr>
        <p:spPr>
          <a:xfrm>
            <a:off x="123444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930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Need</a:t>
            </a:r>
          </a:p>
          <a:p>
            <a:pPr algn="ctr">
              <a:spcAft>
                <a:spcPts val="0"/>
              </a:spcAft>
            </a:pPr>
            <a:r>
              <a:rPr sz="900" b="0" i="1">
                <a:solidFill>
                  <a:srgbClr val="C9D4EF"/>
                </a:solidFill>
                <a:latin typeface="Calibri"/>
              </a:rPr>
              <a:t>assessed in the family</a:t>
            </a:r>
          </a:p>
        </p:txBody>
      </p:sp>
      <p:sp>
        <p:nvSpPr>
          <p:cNvPr id="9" name="Rounded Rectangle 8"/>
          <p:cNvSpPr/>
          <p:nvPr/>
        </p:nvSpPr>
        <p:spPr>
          <a:xfrm>
            <a:off x="324612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0098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Skilled mentality</a:t>
            </a:r>
          </a:p>
          <a:p>
            <a:pPr algn="ctr">
              <a:spcAft>
                <a:spcPts val="0"/>
              </a:spcAft>
            </a:pPr>
            <a:r>
              <a:rPr sz="900" b="0" i="1">
                <a:solidFill>
                  <a:srgbClr val="C9D4EF"/>
                </a:solidFill>
                <a:latin typeface="Calibri"/>
              </a:rPr>
              <a:t>skill, proficiency</a:t>
            </a:r>
          </a:p>
        </p:txBody>
      </p:sp>
      <p:sp>
        <p:nvSpPr>
          <p:cNvPr id="11" name="Rounded Rectangle 10"/>
          <p:cNvSpPr/>
          <p:nvPr/>
        </p:nvSpPr>
        <p:spPr>
          <a:xfrm>
            <a:off x="379476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962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Labour</a:t>
            </a:r>
          </a:p>
          <a:p>
            <a:pPr algn="ctr">
              <a:spcAft>
                <a:spcPts val="0"/>
              </a:spcAft>
            </a:pPr>
            <a:r>
              <a:rPr sz="900" b="0" i="1">
                <a:solidFill>
                  <a:srgbClr val="C9D4EF"/>
                </a:solidFill>
                <a:latin typeface="Calibri"/>
              </a:rPr>
              <a:t>on natural abundance</a:t>
            </a:r>
          </a:p>
        </p:txBody>
      </p:sp>
      <p:sp>
        <p:nvSpPr>
          <p:cNvPr id="13" name="Rounded Rectangle 12"/>
          <p:cNvSpPr/>
          <p:nvPr/>
        </p:nvSpPr>
        <p:spPr>
          <a:xfrm>
            <a:off x="324612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0098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Usefulness</a:t>
            </a:r>
          </a:p>
          <a:p>
            <a:pPr algn="ctr">
              <a:spcAft>
                <a:spcPts val="0"/>
              </a:spcAft>
            </a:pPr>
            <a:r>
              <a:rPr sz="900" b="0" i="1">
                <a:solidFill>
                  <a:srgbClr val="C9D4EF"/>
                </a:solidFill>
                <a:latin typeface="Calibri"/>
              </a:rPr>
              <a:t>and beauty established</a:t>
            </a:r>
          </a:p>
        </p:txBody>
      </p:sp>
      <p:sp>
        <p:nvSpPr>
          <p:cNvPr id="15" name="Rounded Rectangle 14"/>
          <p:cNvSpPr/>
          <p:nvPr/>
        </p:nvSpPr>
        <p:spPr>
          <a:xfrm>
            <a:off x="123444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Right use</a:t>
            </a:r>
          </a:p>
          <a:p>
            <a:pPr algn="ctr">
              <a:spcAft>
                <a:spcPts val="0"/>
              </a:spcAft>
            </a:pPr>
            <a:r>
              <a:rPr sz="900" b="0" i="1">
                <a:solidFill>
                  <a:srgbClr val="C9D4EF"/>
                </a:solidFill>
                <a:latin typeface="Calibri"/>
              </a:rPr>
              <a:t>need met, rest exchanged</a:t>
            </a:r>
          </a:p>
        </p:txBody>
      </p:sp>
      <p:sp>
        <p:nvSpPr>
          <p:cNvPr id="17" name="Rounded Rectangle 16"/>
          <p:cNvSpPr/>
          <p:nvPr/>
        </p:nvSpPr>
        <p:spPr>
          <a:xfrm>
            <a:off x="68580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Renewed capacity</a:t>
            </a:r>
          </a:p>
          <a:p>
            <a:pPr algn="ctr">
              <a:spcAft>
                <a:spcPts val="0"/>
              </a:spcAft>
            </a:pPr>
            <a:r>
              <a:rPr sz="900" b="0" i="1">
                <a:solidFill>
                  <a:srgbClr val="C9D4EF"/>
                </a:solidFill>
                <a:latin typeface="Calibri"/>
              </a:rPr>
              <a:t>body and social life</a:t>
            </a:r>
          </a:p>
        </p:txBody>
      </p:sp>
      <p:cxnSp>
        <p:nvCxnSpPr>
          <p:cNvPr id="19" name="Connector 18"/>
          <p:cNvCxnSpPr/>
          <p:nvPr/>
        </p:nvCxnSpPr>
        <p:spPr>
          <a:xfrm>
            <a:off x="2807208" y="158191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056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48056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807208" y="414223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7160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37160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057400" y="2542032"/>
            <a:ext cx="1691640" cy="640080"/>
          </a:xfrm>
          <a:prstGeom prst="rect">
            <a:avLst/>
          </a:prstGeom>
          <a:noFill/>
        </p:spPr>
        <p:txBody>
          <a:bodyPr wrap="square" lIns="0" rIns="0" tIns="0" bIns="0" anchor="ctr">
            <a:spAutoFit/>
          </a:bodyPr>
          <a:lstStyle/>
          <a:p>
            <a:pPr algn="ctr">
              <a:spcAft>
                <a:spcPts val="0"/>
              </a:spcAft>
            </a:pPr>
            <a:r>
              <a:rPr sz="1300" b="1" i="0">
                <a:solidFill>
                  <a:srgbClr val="1E2447"/>
                </a:solidFill>
                <a:latin typeface="Cambria"/>
              </a:rPr>
              <a:t>Provision cycle</a:t>
            </a:r>
          </a:p>
          <a:p>
            <a:pPr algn="ctr">
              <a:spcAft>
                <a:spcPts val="0"/>
              </a:spcAft>
            </a:pPr>
            <a:r>
              <a:rPr sz="950" b="0" i="1">
                <a:solidFill>
                  <a:srgbClr val="5A6377"/>
                </a:solidFill>
                <a:latin typeface="Calibri"/>
              </a:rPr>
              <a:t>AA p. 106 · JV p. 154</a:t>
            </a:r>
          </a:p>
        </p:txBody>
      </p:sp>
      <p:sp>
        <p:nvSpPr>
          <p:cNvPr id="26" name="Rounded Rectangle 25"/>
          <p:cNvSpPr/>
          <p:nvPr/>
        </p:nvSpPr>
        <p:spPr>
          <a:xfrm>
            <a:off x="5623560" y="1298448"/>
            <a:ext cx="2880360" cy="3127248"/>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06440" y="1417320"/>
            <a:ext cx="251460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Richer, not larger</a:t>
            </a:r>
          </a:p>
        </p:txBody>
      </p:sp>
      <p:sp>
        <p:nvSpPr>
          <p:cNvPr id="28" name="TextBox 27"/>
          <p:cNvSpPr txBox="1"/>
          <p:nvPr/>
        </p:nvSpPr>
        <p:spPr>
          <a:xfrm>
            <a:off x="5806440" y="1783080"/>
            <a:ext cx="2514600" cy="2560320"/>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Mind operates body; together they make object values, useful to the body and satisfying to jeevan.</a:t>
            </a:r>
          </a:p>
          <a:p>
            <a:pPr>
              <a:spcBef>
                <a:spcPts val="600"/>
              </a:spcBef>
              <a:spcAft>
                <a:spcPts val="0"/>
              </a:spcAft>
            </a:pPr>
            <a:r>
              <a:rPr sz="1100" b="0" i="0">
                <a:solidFill>
                  <a:srgbClr val="5A6377"/>
                </a:solidFill>
                <a:latin typeface="Calibri"/>
              </a:rPr>
              <a:t>Each generation hands on more means in excess of need: means increase and the time required decreases.</a:t>
            </a:r>
          </a:p>
          <a:p>
            <a:pPr>
              <a:spcBef>
                <a:spcPts val="600"/>
              </a:spcBef>
              <a:spcAft>
                <a:spcPts val="0"/>
              </a:spcAft>
            </a:pPr>
            <a:r>
              <a:rPr sz="1100" b="0" i="1">
                <a:solidFill>
                  <a:srgbClr val="1E2447"/>
                </a:solidFill>
                <a:latin typeface="Calibri"/>
              </a:rPr>
              <a:t>The cycle grows richer without growing larger in consumption.</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106, 118  ·  JV p. 154  ·  AnalyticMadhyasthDarshan.org  ·  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NEED AND PROSPERITY  ·  §3.4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Need, Family, and Prosperity</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family makes need definite</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At least ten autonomous people, complementary in production. Use, right use and purposeful use become definite, so needs become limited.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Prosperity</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lack of the sentiment of lacking; production in excess of needs, with its right use and security.</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Prosperity cannot be private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For one family to be prosperous, more than one must be; prosperity through accumulation is delusion.</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satiation point of exchange</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After exchange, remuneration is just as much as was produced: no profit and no loss in labour.</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In an understanding family, two to four members may produce beyond the whole family's necessity.</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14, 26, 62–63, 65, 76, 113–114  ·  MVD p. 71  ·  JV p. 153  ·  KD p. 115  ·  AnalyticMadhyasthDarshan.org  ·  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VALUE OF LABOUR  ·  §§3.5, 3.12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Giving Labour Its True Value</a:t>
            </a:r>
          </a:p>
        </p:txBody>
      </p:sp>
      <p:sp>
        <p:nvSpPr>
          <p:cNvPr id="7" name="Rounded Rectangle 6"/>
          <p:cNvSpPr/>
          <p:nvPr/>
        </p:nvSpPr>
        <p:spPr>
          <a:xfrm>
            <a:off x="640080"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Labour</a:t>
            </a:r>
          </a:p>
          <a:p>
            <a:pPr algn="ctr">
              <a:spcAft>
                <a:spcPts val="0"/>
              </a:spcAft>
            </a:pPr>
            <a:r>
              <a:rPr sz="1000" b="0" i="1">
                <a:solidFill>
                  <a:srgbClr val="C9D4EF"/>
                </a:solidFill>
                <a:latin typeface="Calibri"/>
              </a:rPr>
              <a:t>on natural abundance</a:t>
            </a:r>
          </a:p>
        </p:txBody>
      </p:sp>
      <p:sp>
        <p:nvSpPr>
          <p:cNvPr id="9" name="TextBox 8"/>
          <p:cNvSpPr txBox="1"/>
          <p:nvPr/>
        </p:nvSpPr>
        <p:spPr>
          <a:xfrm>
            <a:off x="2423160"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Object</a:t>
            </a:r>
          </a:p>
          <a:p>
            <a:pPr algn="ctr">
              <a:spcAft>
                <a:spcPts val="0"/>
              </a:spcAft>
            </a:pPr>
            <a:r>
              <a:rPr sz="1000" b="0" i="1">
                <a:solidFill>
                  <a:srgbClr val="C9D4EF"/>
                </a:solidFill>
                <a:latin typeface="Calibri"/>
              </a:rPr>
              <a:t>useful and beautiful</a:t>
            </a:r>
          </a:p>
        </p:txBody>
      </p:sp>
      <p:sp>
        <p:nvSpPr>
          <p:cNvPr id="12" name="TextBox 11"/>
          <p:cNvSpPr txBox="1"/>
          <p:nvPr/>
        </p:nvSpPr>
        <p:spPr>
          <a:xfrm>
            <a:off x="4425696"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Usefulness</a:t>
            </a:r>
          </a:p>
          <a:p>
            <a:pPr algn="ctr">
              <a:spcAft>
                <a:spcPts val="0"/>
              </a:spcAft>
            </a:pPr>
            <a:r>
              <a:rPr sz="1000" b="0" i="1">
                <a:solidFill>
                  <a:srgbClr val="C9D4EF"/>
                </a:solidFill>
                <a:latin typeface="Calibri"/>
              </a:rPr>
              <a:t>what it fulfils</a:t>
            </a:r>
          </a:p>
        </p:txBody>
      </p:sp>
      <p:sp>
        <p:nvSpPr>
          <p:cNvPr id="15" name="TextBox 14"/>
          <p:cNvSpPr txBox="1"/>
          <p:nvPr/>
        </p:nvSpPr>
        <p:spPr>
          <a:xfrm>
            <a:off x="6428232"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Valuation</a:t>
            </a:r>
          </a:p>
          <a:p>
            <a:pPr algn="ctr">
              <a:spcAft>
                <a:spcPts val="0"/>
              </a:spcAft>
            </a:pPr>
            <a:r>
              <a:rPr sz="1000" b="0" i="1">
                <a:solidFill>
                  <a:srgbClr val="C9D4EF"/>
                </a:solidFill>
                <a:latin typeface="Calibri"/>
              </a:rPr>
              <a:t>by labour, not symbol</a:t>
            </a:r>
          </a:p>
        </p:txBody>
      </p:sp>
      <p:sp>
        <p:nvSpPr>
          <p:cNvPr id="18" name="Rounded Rectangle 17"/>
          <p:cNvSpPr/>
          <p:nvPr/>
        </p:nvSpPr>
        <p:spPr>
          <a:xfrm>
            <a:off x="640080"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Value is participation</a:t>
            </a:r>
          </a:p>
        </p:txBody>
      </p:sp>
      <p:sp>
        <p:nvSpPr>
          <p:cNvPr id="20" name="TextBox 19"/>
          <p:cNvSpPr txBox="1"/>
          <p:nvPr/>
        </p:nvSpPr>
        <p:spPr>
          <a:xfrm>
            <a:off x="822959"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value of a thing is what it fulfils in the order of the whole: nourishment, protection, the motion of society.</a:t>
            </a:r>
          </a:p>
        </p:txBody>
      </p:sp>
      <p:sp>
        <p:nvSpPr>
          <p:cNvPr id="21" name="Rounded Rectangle 20"/>
          <p:cNvSpPr/>
          <p:nvPr/>
        </p:nvSpPr>
        <p:spPr>
          <a:xfrm>
            <a:off x="3328416"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Measured for exchange</a:t>
            </a:r>
          </a:p>
        </p:txBody>
      </p:sp>
      <p:sp>
        <p:nvSpPr>
          <p:cNvPr id="23" name="TextBox 22"/>
          <p:cNvSpPr txBox="1"/>
          <p:nvPr/>
        </p:nvSpPr>
        <p:spPr>
          <a:xfrm>
            <a:off x="3511296"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Pace, time and means; a common value from the range of yields. Inside the family, no weighing.</a:t>
            </a:r>
          </a:p>
        </p:txBody>
      </p:sp>
      <p:sp>
        <p:nvSpPr>
          <p:cNvPr id="24" name="Rounded Rectangle 23"/>
          <p:cNvSpPr/>
          <p:nvPr/>
        </p:nvSpPr>
        <p:spPr>
          <a:xfrm>
            <a:off x="6016752" y="2212848"/>
            <a:ext cx="2487168" cy="16002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2331720"/>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Honoured in policy</a:t>
            </a:r>
          </a:p>
        </p:txBody>
      </p:sp>
      <p:sp>
        <p:nvSpPr>
          <p:cNvPr id="26" name="TextBox 25"/>
          <p:cNvSpPr txBox="1"/>
          <p:nvPr/>
        </p:nvSpPr>
        <p:spPr>
          <a:xfrm>
            <a:off x="6199632" y="2651759"/>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Honour by capacity, ability and receptivity; no exploitation of the fruits of labour.</a:t>
            </a:r>
          </a:p>
        </p:txBody>
      </p:sp>
      <p:sp>
        <p:nvSpPr>
          <p:cNvPr id="27" name="TextBox 26"/>
          <p:cNvSpPr txBox="1"/>
          <p:nvPr/>
        </p:nvSpPr>
        <p:spPr>
          <a:xfrm>
            <a:off x="640080" y="40233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To give labour its true value is to value it by the usefulness it establishes, not by the currency it can command.</a:t>
            </a:r>
          </a:p>
        </p:txBody>
      </p:sp>
      <p:sp>
        <p:nvSpPr>
          <p:cNvPr id="28" name="TextBox 27"/>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49, 66, 112, 119–120, 145  ·  MVD pp. 265–268  ·  Axiology §§1.1, 1.5–1.6  ·  AnalyticMadhyasthDarshan.org  ·  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THREE LEVELS OF USE  ·  §3.6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Use, Right Use, Purposeful Use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463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Level</a:t>
            </a:r>
          </a:p>
        </p:txBody>
      </p:sp>
      <p:sp>
        <p:nvSpPr>
          <p:cNvPr id="9" name="TextBox 8"/>
          <p:cNvSpPr txBox="1"/>
          <p:nvPr/>
        </p:nvSpPr>
        <p:spPr>
          <a:xfrm>
            <a:off x="2331720" y="1280160"/>
            <a:ext cx="31546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it serves</a:t>
            </a:r>
          </a:p>
        </p:txBody>
      </p:sp>
      <p:sp>
        <p:nvSpPr>
          <p:cNvPr id="10" name="TextBox 9"/>
          <p:cNvSpPr txBox="1"/>
          <p:nvPr/>
        </p:nvSpPr>
        <p:spPr>
          <a:xfrm>
            <a:off x="5623560" y="1280160"/>
            <a:ext cx="13716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Scale</a:t>
            </a:r>
          </a:p>
        </p:txBody>
      </p:sp>
      <p:sp>
        <p:nvSpPr>
          <p:cNvPr id="11" name="TextBox 10"/>
          <p:cNvSpPr txBox="1"/>
          <p:nvPr/>
        </p:nvSpPr>
        <p:spPr>
          <a:xfrm>
            <a:off x="7132320"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with</a:t>
            </a:r>
          </a:p>
        </p:txBody>
      </p:sp>
      <p:sp>
        <p:nvSpPr>
          <p:cNvPr id="12" name="Rectangle 11"/>
          <p:cNvSpPr/>
          <p:nvPr/>
        </p:nvSpPr>
        <p:spPr>
          <a:xfrm>
            <a:off x="640080" y="157276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06654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160020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Use</a:t>
            </a:r>
          </a:p>
        </p:txBody>
      </p:sp>
      <p:sp>
        <p:nvSpPr>
          <p:cNvPr id="15" name="TextBox 14"/>
          <p:cNvSpPr txBox="1"/>
          <p:nvPr/>
        </p:nvSpPr>
        <p:spPr>
          <a:xfrm>
            <a:off x="2331720" y="160020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Nourishment and protection of the body; the motion of society</a:t>
            </a:r>
          </a:p>
        </p:txBody>
      </p:sp>
      <p:sp>
        <p:nvSpPr>
          <p:cNvPr id="16" name="TextBox 15"/>
          <p:cNvSpPr txBox="1"/>
          <p:nvPr/>
        </p:nvSpPr>
        <p:spPr>
          <a:xfrm>
            <a:off x="5623560" y="160020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 family</a:t>
            </a:r>
          </a:p>
        </p:txBody>
      </p:sp>
      <p:sp>
        <p:nvSpPr>
          <p:cNvPr id="17" name="TextBox 16"/>
          <p:cNvSpPr txBox="1"/>
          <p:nvPr/>
        </p:nvSpPr>
        <p:spPr>
          <a:xfrm>
            <a:off x="7132320" y="160020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Justice</a:t>
            </a:r>
          </a:p>
        </p:txBody>
      </p:sp>
      <p:sp>
        <p:nvSpPr>
          <p:cNvPr id="18" name="Rectangle 17"/>
          <p:cNvSpPr/>
          <p:nvPr/>
        </p:nvSpPr>
        <p:spPr>
          <a:xfrm>
            <a:off x="640080" y="25694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10312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Right use</a:t>
            </a:r>
          </a:p>
        </p:txBody>
      </p:sp>
      <p:sp>
        <p:nvSpPr>
          <p:cNvPr id="20" name="TextBox 19"/>
          <p:cNvSpPr txBox="1"/>
          <p:nvPr/>
        </p:nvSpPr>
        <p:spPr>
          <a:xfrm>
            <a:off x="2331720" y="210312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Orderliness and the motion of undivided society</a:t>
            </a:r>
          </a:p>
        </p:txBody>
      </p:sp>
      <p:sp>
        <p:nvSpPr>
          <p:cNvPr id="21" name="TextBox 20"/>
          <p:cNvSpPr txBox="1"/>
          <p:nvPr/>
        </p:nvSpPr>
        <p:spPr>
          <a:xfrm>
            <a:off x="5623560" y="210312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Society</a:t>
            </a:r>
          </a:p>
        </p:txBody>
      </p:sp>
      <p:sp>
        <p:nvSpPr>
          <p:cNvPr id="22" name="TextBox 21"/>
          <p:cNvSpPr txBox="1"/>
          <p:nvPr/>
        </p:nvSpPr>
        <p:spPr>
          <a:xfrm>
            <a:off x="7132320" y="210312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a:t>
            </a:r>
          </a:p>
        </p:txBody>
      </p:sp>
      <p:sp>
        <p:nvSpPr>
          <p:cNvPr id="23" name="Rectangle 22"/>
          <p:cNvSpPr/>
          <p:nvPr/>
        </p:nvSpPr>
        <p:spPr>
          <a:xfrm>
            <a:off x="640080" y="257860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07238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19" y="260604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Purposeful use</a:t>
            </a:r>
          </a:p>
        </p:txBody>
      </p:sp>
      <p:sp>
        <p:nvSpPr>
          <p:cNvPr id="26" name="TextBox 25"/>
          <p:cNvSpPr txBox="1"/>
          <p:nvPr/>
        </p:nvSpPr>
        <p:spPr>
          <a:xfrm>
            <a:off x="2331720" y="260604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Evidencing understanding from generation to generation</a:t>
            </a:r>
          </a:p>
        </p:txBody>
      </p:sp>
      <p:sp>
        <p:nvSpPr>
          <p:cNvPr id="27" name="TextBox 26"/>
          <p:cNvSpPr txBox="1"/>
          <p:nvPr/>
        </p:nvSpPr>
        <p:spPr>
          <a:xfrm>
            <a:off x="5623560" y="260604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Universal order</a:t>
            </a:r>
          </a:p>
        </p:txBody>
      </p:sp>
      <p:sp>
        <p:nvSpPr>
          <p:cNvPr id="28" name="TextBox 27"/>
          <p:cNvSpPr txBox="1"/>
          <p:nvPr/>
        </p:nvSpPr>
        <p:spPr>
          <a:xfrm>
            <a:off x="7132320" y="260604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Authenticity</a:t>
            </a:r>
          </a:p>
        </p:txBody>
      </p:sp>
      <p:sp>
        <p:nvSpPr>
          <p:cNvPr id="29" name="Rounded Rectangle 28"/>
          <p:cNvSpPr/>
          <p:nvPr/>
        </p:nvSpPr>
        <p:spPr>
          <a:xfrm>
            <a:off x="640080" y="320040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246120"/>
            <a:ext cx="1371600" cy="685800"/>
          </a:xfrm>
          <a:prstGeom prst="rect">
            <a:avLst/>
          </a:prstGeom>
          <a:noFill/>
        </p:spPr>
        <p:txBody>
          <a:bodyPr wrap="square" lIns="0" rIns="0" tIns="0" bIns="0" anchor="ctr">
            <a:spAutoFit/>
          </a:bodyPr>
          <a:lstStyle/>
          <a:p>
            <a:pPr>
              <a:spcAft>
                <a:spcPts val="0"/>
              </a:spcAft>
            </a:pPr>
            <a:r>
              <a:rPr sz="1200" b="1" i="0">
                <a:solidFill>
                  <a:srgbClr val="9A6414"/>
                </a:solidFill>
                <a:latin typeface="Cambria"/>
              </a:rPr>
              <a:t>Values are ordered by what they serve</a:t>
            </a:r>
          </a:p>
        </p:txBody>
      </p:sp>
      <p:sp>
        <p:nvSpPr>
          <p:cNvPr id="31" name="Rounded Rectangle 30"/>
          <p:cNvSpPr/>
          <p:nvPr/>
        </p:nvSpPr>
        <p:spPr>
          <a:xfrm>
            <a:off x="2423160"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78024"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object</a:t>
            </a:r>
          </a:p>
        </p:txBody>
      </p:sp>
      <p:sp>
        <p:nvSpPr>
          <p:cNvPr id="33" name="TextBox 32"/>
          <p:cNvSpPr txBox="1"/>
          <p:nvPr/>
        </p:nvSpPr>
        <p:spPr>
          <a:xfrm>
            <a:off x="3383280"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4" name="Rounded Rectangle 33"/>
          <p:cNvSpPr/>
          <p:nvPr/>
        </p:nvSpPr>
        <p:spPr>
          <a:xfrm>
            <a:off x="3639312"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94176"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civic</a:t>
            </a:r>
          </a:p>
        </p:txBody>
      </p:sp>
      <p:sp>
        <p:nvSpPr>
          <p:cNvPr id="36" name="TextBox 35"/>
          <p:cNvSpPr txBox="1"/>
          <p:nvPr/>
        </p:nvSpPr>
        <p:spPr>
          <a:xfrm>
            <a:off x="4599432"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7" name="Rounded Rectangle 36"/>
          <p:cNvSpPr/>
          <p:nvPr/>
        </p:nvSpPr>
        <p:spPr>
          <a:xfrm>
            <a:off x="4855464"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0328"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established</a:t>
            </a:r>
          </a:p>
        </p:txBody>
      </p:sp>
      <p:sp>
        <p:nvSpPr>
          <p:cNvPr id="39" name="TextBox 38"/>
          <p:cNvSpPr txBox="1"/>
          <p:nvPr/>
        </p:nvSpPr>
        <p:spPr>
          <a:xfrm>
            <a:off x="5815584"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0" name="Rounded Rectangle 39"/>
          <p:cNvSpPr/>
          <p:nvPr/>
        </p:nvSpPr>
        <p:spPr>
          <a:xfrm>
            <a:off x="6071616"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human</a:t>
            </a:r>
          </a:p>
        </p:txBody>
      </p:sp>
      <p:sp>
        <p:nvSpPr>
          <p:cNvPr id="42" name="TextBox 41"/>
          <p:cNvSpPr txBox="1"/>
          <p:nvPr/>
        </p:nvSpPr>
        <p:spPr>
          <a:xfrm>
            <a:off x="7031736"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3" name="Rounded Rectangle 42"/>
          <p:cNvSpPr/>
          <p:nvPr/>
        </p:nvSpPr>
        <p:spPr>
          <a:xfrm>
            <a:off x="7287768"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2"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jeevan</a:t>
            </a:r>
          </a:p>
        </p:txBody>
      </p:sp>
      <p:sp>
        <p:nvSpPr>
          <p:cNvPr id="45" name="TextBox 4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Wealth serving higher purposes ranks high; higher purposes made to serve wealth rank low.</a:t>
            </a:r>
          </a:p>
        </p:txBody>
      </p:sp>
      <p:sp>
        <p:nvSpPr>
          <p:cNvPr id="46" name="TextBox 4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68, 72, 92, 94, 116  ·  MVD p. 56  ·  KD pp. 4, 116  ·  AnalyticMadhyasthDarshan.org  ·  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CHARACTER  ·  §3.9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Righteous Wealth and Care</a:t>
            </a:r>
          </a:p>
        </p:txBody>
      </p:sp>
      <p:sp>
        <p:nvSpPr>
          <p:cNvPr id="7" name="Rounded Rectangle 6"/>
          <p:cNvSpPr/>
          <p:nvPr/>
        </p:nvSpPr>
        <p:spPr>
          <a:xfrm>
            <a:off x="64008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Righteous wealth (svadhan)</a:t>
            </a:r>
          </a:p>
        </p:txBody>
      </p:sp>
      <p:sp>
        <p:nvSpPr>
          <p:cNvPr id="9" name="TextBox 8"/>
          <p:cNvSpPr txBox="1"/>
          <p:nvPr/>
        </p:nvSpPr>
        <p:spPr>
          <a:xfrm>
            <a:off x="822959"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Received as remuneration of one's own labour, as a gift, or as an award. Ill-gotten wealth, through exploitation and hypocrisy, is crime.</a:t>
            </a:r>
          </a:p>
        </p:txBody>
      </p:sp>
      <p:sp>
        <p:nvSpPr>
          <p:cNvPr id="10" name="Rounded Rectangle 9"/>
          <p:cNvSpPr/>
          <p:nvPr/>
        </p:nvSpPr>
        <p:spPr>
          <a:xfrm>
            <a:off x="466344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 is not renounced</a:t>
            </a:r>
          </a:p>
        </p:txBody>
      </p:sp>
      <p:sp>
        <p:nvSpPr>
          <p:cNvPr id="12" name="TextBox 11"/>
          <p:cNvSpPr txBox="1"/>
          <p:nvPr/>
        </p:nvSpPr>
        <p:spPr>
          <a:xfrm>
            <a:off x="4846320"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motives for progeny, wealth and reputation are humane; they become assets of the family and society.</a:t>
            </a:r>
          </a:p>
        </p:txBody>
      </p:sp>
      <p:sp>
        <p:nvSpPr>
          <p:cNvPr id="13" name="Rounded Rectangle 12"/>
          <p:cNvSpPr/>
          <p:nvPr/>
        </p:nvSpPr>
        <p:spPr>
          <a:xfrm>
            <a:off x="64008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Generosity</a:t>
            </a:r>
          </a:p>
        </p:txBody>
      </p:sp>
      <p:sp>
        <p:nvSpPr>
          <p:cNvPr id="15" name="TextBox 14"/>
          <p:cNvSpPr txBox="1"/>
          <p:nvPr/>
        </p:nvSpPr>
        <p:spPr>
          <a:xfrm>
            <a:off x="822959"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Offering body, mind and wealth, as needed, for others' awakening, health and prosperity; wealth is satisfied through it.</a:t>
            </a:r>
          </a:p>
        </p:txBody>
      </p:sp>
      <p:sp>
        <p:nvSpPr>
          <p:cNvPr id="16" name="Rounded Rectangle 15"/>
          <p:cNvSpPr/>
          <p:nvPr/>
        </p:nvSpPr>
        <p:spPr>
          <a:xfrm>
            <a:off x="466344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Care for those who cannot produce</a:t>
            </a:r>
          </a:p>
        </p:txBody>
      </p:sp>
      <p:sp>
        <p:nvSpPr>
          <p:cNvPr id="18" name="TextBox 17"/>
          <p:cNvSpPr txBox="1"/>
          <p:nvPr/>
        </p:nvSpPr>
        <p:spPr>
          <a:xfrm>
            <a:off x="4846320"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Sharing within the family; kindness that brings an object where there is receptivity but no object.</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Once a family is resolved and prosperous, the propensity of benevolence answers where its surplus goes.</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 22–24, 54, 102, 140  ·  MVD pp. 59, 137, 211, 221, 263, 339  ·  AVD p. 170  ·  KD p. 116  ·  AnalyticMadhyasthDarshan.org  ·  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NATURE'S BALANCE  ·  §3.7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Production Within Nature's Balance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Lawful</a:t>
            </a:r>
          </a:p>
        </p:txBody>
      </p:sp>
      <p:sp>
        <p:nvSpPr>
          <p:cNvPr id="9" name="TextBox 8"/>
          <p:cNvSpPr txBox="1"/>
          <p:nvPr/>
        </p:nvSpPr>
        <p:spPr>
          <a:xfrm>
            <a:off x="4663440"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Unlawful</a:t>
            </a:r>
          </a:p>
        </p:txBody>
      </p:sp>
      <p:sp>
        <p:nvSpPr>
          <p:cNvPr id="10" name="Rectangle 9"/>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Using minerals and forests in proportion to their regeneration</a:t>
            </a:r>
          </a:p>
        </p:txBody>
      </p:sp>
      <p:sp>
        <p:nvSpPr>
          <p:cNvPr id="13" name="TextBox 12"/>
          <p:cNvSpPr txBox="1"/>
          <p:nvPr/>
        </p:nvSpPr>
        <p:spPr>
          <a:xfrm>
            <a:off x="4663440" y="1600200"/>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Spending natural abundance beyond its regeneration</a:t>
            </a:r>
          </a:p>
        </p:txBody>
      </p:sp>
      <p:sp>
        <p:nvSpPr>
          <p:cNvPr id="14" name="Rectangle 13"/>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573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Being complementary in the balance of natural abundance</a:t>
            </a:r>
          </a:p>
        </p:txBody>
      </p:sp>
      <p:sp>
        <p:nvSpPr>
          <p:cNvPr id="16" name="TextBox 15"/>
          <p:cNvSpPr txBox="1"/>
          <p:nvPr/>
        </p:nvSpPr>
        <p:spPr>
          <a:xfrm>
            <a:off x="4663440" y="20573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Disproportionate extraction and destruction of the earth</a:t>
            </a:r>
          </a:p>
        </p:txBody>
      </p:sp>
      <p:sp>
        <p:nvSpPr>
          <p:cNvPr id="17" name="Rectangle 16"/>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5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Maintaining circularity in natural abundance</a:t>
            </a:r>
          </a:p>
        </p:txBody>
      </p:sp>
      <p:sp>
        <p:nvSpPr>
          <p:cNvPr id="20" name="TextBox 19"/>
          <p:cNvSpPr txBox="1"/>
          <p:nvPr/>
        </p:nvSpPr>
        <p:spPr>
          <a:xfrm>
            <a:off x="4663440" y="25145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Obstructing nature's cycles; exploiting non-renewables</a:t>
            </a:r>
          </a:p>
        </p:txBody>
      </p:sp>
      <p:sp>
        <p:nvSpPr>
          <p:cNvPr id="21" name="Rounded Rectangle 20"/>
          <p:cNvSpPr/>
          <p:nvPr/>
        </p:nvSpPr>
        <p:spPr>
          <a:xfrm>
            <a:off x="64008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Cyclical energy</a:t>
            </a:r>
          </a:p>
        </p:txBody>
      </p:sp>
      <p:sp>
        <p:nvSpPr>
          <p:cNvPr id="23" name="TextBox 22"/>
          <p:cNvSpPr txBox="1"/>
          <p:nvPr/>
        </p:nvSpPr>
        <p:spPr>
          <a:xfrm>
            <a:off x="822959"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Flowing and falling water, wind, solar heat, dung gas; vegetable oil from roadside trees, its smoke food for trees.</a:t>
            </a:r>
          </a:p>
        </p:txBody>
      </p:sp>
      <p:sp>
        <p:nvSpPr>
          <p:cNvPr id="24" name="Rounded Rectangle 23"/>
          <p:cNvSpPr/>
          <p:nvPr/>
        </p:nvSpPr>
        <p:spPr>
          <a:xfrm>
            <a:off x="466344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Without a prosperous nature</a:t>
            </a:r>
          </a:p>
        </p:txBody>
      </p:sp>
      <p:sp>
        <p:nvSpPr>
          <p:cNvPr id="26" name="TextBox 25"/>
          <p:cNvSpPr txBox="1"/>
          <p:nvPr/>
        </p:nvSpPr>
        <p:spPr>
          <a:xfrm>
            <a:off x="4846320"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human cannot be prosperous. Production security is maintained through nature's balance.</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pp. 263–264  ·  AA pp. 31–33, 92, 106–107, 114, 134–135, 142, 146  ·  KD p. 7  ·  AnalyticMadhyasthDarshan.org  ·  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TECHNIQUE  ·  §3.11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Machines and Participation</a:t>
            </a:r>
          </a:p>
        </p:txBody>
      </p:sp>
      <p:sp>
        <p:nvSpPr>
          <p:cNvPr id="7" name="Rounded Rectangle 6"/>
          <p:cNvSpPr/>
          <p:nvPr/>
        </p:nvSpPr>
        <p:spPr>
          <a:xfrm>
            <a:off x="64008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Technique multiplies speed</a:t>
            </a:r>
          </a:p>
        </p:txBody>
      </p:sp>
      <p:sp>
        <p:nvSpPr>
          <p:cNvPr id="9" name="TextBox 8"/>
          <p:cNvSpPr txBox="1"/>
          <p:nvPr/>
        </p:nvSpPr>
        <p:spPr>
          <a:xfrm>
            <a:off x="822959"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Of whatever humans do: without social understanding, it multiplies problems too.</a:t>
            </a:r>
          </a:p>
        </p:txBody>
      </p:sp>
      <p:sp>
        <p:nvSpPr>
          <p:cNvPr id="10" name="Rounded Rectangle 9"/>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displaced producers</a:t>
            </a:r>
          </a:p>
        </p:txBody>
      </p:sp>
      <p:sp>
        <p:nvSpPr>
          <p:cNvPr id="12" name="TextBox 11"/>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Automatic production and centralised industry, resting on capital and bought labour power.</a:t>
            </a:r>
          </a:p>
        </p:txBody>
      </p:sp>
      <p:sp>
        <p:nvSpPr>
          <p:cNvPr id="13" name="Rounded Rectangle 12"/>
          <p:cNvSpPr/>
          <p:nvPr/>
        </p:nvSpPr>
        <p:spPr>
          <a:xfrm>
            <a:off x="640080" y="2697480"/>
            <a:ext cx="7863840" cy="14173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07208"/>
            <a:ext cx="740664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darshan's criterion for technique</a:t>
            </a:r>
          </a:p>
        </p:txBody>
      </p:sp>
      <p:sp>
        <p:nvSpPr>
          <p:cNvPr id="15" name="Oval 14"/>
          <p:cNvSpPr/>
          <p:nvPr/>
        </p:nvSpPr>
        <p:spPr>
          <a:xfrm>
            <a:off x="914400" y="324612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316382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Increase the usefulness that labour establishes</a:t>
            </a:r>
          </a:p>
        </p:txBody>
      </p:sp>
      <p:sp>
        <p:nvSpPr>
          <p:cNvPr id="17" name="Oval 16"/>
          <p:cNvSpPr/>
          <p:nvPr/>
        </p:nvSpPr>
        <p:spPr>
          <a:xfrm>
            <a:off x="914400" y="352043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343814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Reduce the time production takes</a:t>
            </a:r>
          </a:p>
        </p:txBody>
      </p:sp>
      <p:sp>
        <p:nvSpPr>
          <p:cNvPr id="19" name="Oval 18"/>
          <p:cNvSpPr/>
          <p:nvPr/>
        </p:nvSpPr>
        <p:spPr>
          <a:xfrm>
            <a:off x="914400" y="379475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3712463"/>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Keep every person a participant in production, by capacity, receptivity and ability</a:t>
            </a:r>
          </a:p>
        </p:txBody>
      </p:sp>
      <p:sp>
        <p:nvSpPr>
          <p:cNvPr id="21" name="TextBox 20"/>
          <p:cNvSpPr txBox="1"/>
          <p:nvPr/>
        </p:nvSpPr>
        <p:spPr>
          <a:xfrm>
            <a:off x="640080" y="42519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every member of every family produces, poverty and the trap of accumulation are left behind together.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SB p. 267  ·  AA pp. 47, 75–76, 107, 115, 118, 137  ·  JVD pp. 35, 216  ·  MVD p. 265  ·  AnalyticMadhyasthDarshan.org  ·  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ORDERLINESS  ·  §§3.8, 3.12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Economy Within Orderliness</a:t>
            </a:r>
          </a:p>
        </p:txBody>
      </p:sp>
      <p:sp>
        <p:nvSpPr>
          <p:cNvPr id="7" name="Rounded Rectangle 6"/>
          <p:cNvSpPr/>
          <p:nvPr/>
        </p:nvSpPr>
        <p:spPr>
          <a:xfrm>
            <a:off x="6400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Education-sanskar</a:t>
            </a:r>
          </a:p>
          <a:p>
            <a:pPr algn="ctr">
              <a:spcAft>
                <a:spcPts val="0"/>
              </a:spcAft>
            </a:pPr>
            <a:r>
              <a:rPr sz="950" b="0" i="1">
                <a:solidFill>
                  <a:srgbClr val="C9D4EF"/>
                </a:solidFill>
                <a:latin typeface="Calibri"/>
              </a:rPr>
              <a:t>understanding</a:t>
            </a:r>
          </a:p>
        </p:txBody>
      </p:sp>
      <p:sp>
        <p:nvSpPr>
          <p:cNvPr id="9" name="Rounded Rectangle 8"/>
          <p:cNvSpPr/>
          <p:nvPr/>
        </p:nvSpPr>
        <p:spPr>
          <a:xfrm>
            <a:off x="22402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Health-restraint</a:t>
            </a:r>
          </a:p>
          <a:p>
            <a:pPr algn="ctr">
              <a:spcAft>
                <a:spcPts val="0"/>
              </a:spcAft>
            </a:pPr>
            <a:r>
              <a:rPr sz="950" b="0" i="1">
                <a:solidFill>
                  <a:srgbClr val="C9D4EF"/>
                </a:solidFill>
                <a:latin typeface="Calibri"/>
              </a:rPr>
              <a:t>balanced expression</a:t>
            </a:r>
          </a:p>
        </p:txBody>
      </p:sp>
      <p:sp>
        <p:nvSpPr>
          <p:cNvPr id="11" name="Rounded Rectangle 10"/>
          <p:cNvSpPr/>
          <p:nvPr/>
        </p:nvSpPr>
        <p:spPr>
          <a:xfrm>
            <a:off x="38404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Justice-security</a:t>
            </a:r>
          </a:p>
          <a:p>
            <a:pPr algn="ctr">
              <a:spcAft>
                <a:spcPts val="0"/>
              </a:spcAft>
            </a:pPr>
            <a:r>
              <a:rPr sz="950" b="0" i="1">
                <a:solidFill>
                  <a:srgbClr val="C9D4EF"/>
                </a:solidFill>
                <a:latin typeface="Calibri"/>
              </a:rPr>
              <a:t>honesty</a:t>
            </a:r>
          </a:p>
        </p:txBody>
      </p:sp>
      <p:sp>
        <p:nvSpPr>
          <p:cNvPr id="13" name="Rounded Rectangle 12"/>
          <p:cNvSpPr/>
          <p:nvPr/>
        </p:nvSpPr>
        <p:spPr>
          <a:xfrm>
            <a:off x="54406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Production</a:t>
            </a:r>
          </a:p>
          <a:p>
            <a:pPr algn="ctr">
              <a:spcAft>
                <a:spcPts val="0"/>
              </a:spcAft>
            </a:pPr>
            <a:r>
              <a:rPr sz="950" b="0" i="1">
                <a:solidFill>
                  <a:srgbClr val="C9D4EF"/>
                </a:solidFill>
                <a:latin typeface="Calibri"/>
              </a:rPr>
              <a:t>prosperity</a:t>
            </a:r>
          </a:p>
        </p:txBody>
      </p:sp>
      <p:sp>
        <p:nvSpPr>
          <p:cNvPr id="15" name="Rounded Rectangle 14"/>
          <p:cNvSpPr/>
          <p:nvPr/>
        </p:nvSpPr>
        <p:spPr>
          <a:xfrm>
            <a:off x="70408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Exchange-reserve</a:t>
            </a:r>
          </a:p>
          <a:p>
            <a:pPr algn="ctr">
              <a:spcAft>
                <a:spcPts val="0"/>
              </a:spcAft>
            </a:pPr>
            <a:r>
              <a:rPr sz="950" b="0" i="1">
                <a:solidFill>
                  <a:srgbClr val="C9D4EF"/>
                </a:solidFill>
                <a:latin typeface="Calibri"/>
              </a:rPr>
              <a:t>balance</a:t>
            </a:r>
          </a:p>
        </p:txBody>
      </p:sp>
      <p:sp>
        <p:nvSpPr>
          <p:cNvPr id="17" name="Rounded Rectangle 16"/>
          <p:cNvSpPr/>
          <p:nvPr/>
        </p:nvSpPr>
        <p:spPr>
          <a:xfrm>
            <a:off x="640080" y="21945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3134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From village to world</a:t>
            </a:r>
          </a:p>
        </p:txBody>
      </p:sp>
      <p:sp>
        <p:nvSpPr>
          <p:cNvPr id="19" name="TextBox 18"/>
          <p:cNvSpPr txBox="1"/>
          <p:nvPr/>
        </p:nvSpPr>
        <p:spPr>
          <a:xfrm>
            <a:off x="822959"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village of about 100 families; ten tiers of councils, each with five committees. Small industry below, large industry at higher tiers.</a:t>
            </a:r>
          </a:p>
        </p:txBody>
      </p:sp>
      <p:sp>
        <p:nvSpPr>
          <p:cNvPr id="20" name="Rounded Rectangle 19"/>
          <p:cNvSpPr/>
          <p:nvPr/>
        </p:nvSpPr>
        <p:spPr>
          <a:xfrm>
            <a:off x="4663440" y="219456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23134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Six securities</a:t>
            </a:r>
          </a:p>
        </p:txBody>
      </p:sp>
      <p:sp>
        <p:nvSpPr>
          <p:cNvPr id="22" name="TextBox 21"/>
          <p:cNvSpPr txBox="1"/>
          <p:nvPr/>
        </p:nvSpPr>
        <p:spPr>
          <a:xfrm>
            <a:off x="4846320"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National, economic, production, exchange, education and ethical. Exchange between nations too at labour value, free of profit and loss.</a:t>
            </a:r>
          </a:p>
        </p:txBody>
      </p:sp>
      <p:sp>
        <p:nvSpPr>
          <p:cNvPr id="23" name="TextBox 22"/>
          <p:cNvSpPr txBox="1"/>
          <p:nvPr/>
        </p:nvSpPr>
        <p:spPr>
          <a:xfrm>
            <a:off x="640080" y="3749039"/>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Economics in isolation has no definition or standing.</a:t>
            </a:r>
          </a:p>
        </p:txBody>
      </p:sp>
      <p:sp>
        <p:nvSpPr>
          <p:cNvPr id="24" name="TextBox 23"/>
          <p:cNvSpPr txBox="1"/>
          <p:nvPr/>
        </p:nvSpPr>
        <p:spPr>
          <a:xfrm>
            <a:off x="640080" y="4069080"/>
            <a:ext cx="7863840" cy="457200"/>
          </a:xfrm>
          <a:prstGeom prst="rect">
            <a:avLst/>
          </a:prstGeom>
          <a:noFill/>
        </p:spPr>
        <p:txBody>
          <a:bodyPr wrap="square" lIns="0" rIns="0" tIns="0" bIns="0" anchor="ctr">
            <a:spAutoFit/>
          </a:bodyPr>
          <a:lstStyle/>
          <a:p>
            <a:pPr>
              <a:spcAft>
                <a:spcPts val="0"/>
              </a:spcAft>
            </a:pPr>
            <a:r>
              <a:rPr sz="1100" b="0" i="0">
                <a:solidFill>
                  <a:srgbClr val="5A6377"/>
                </a:solidFill>
                <a:latin typeface="Calibri"/>
              </a:rPr>
              <a:t>Protection is state policy; right use is moral policy; production beyond the family's needs is economic policy.</a:t>
            </a:r>
          </a:p>
        </p:txBody>
      </p:sp>
      <p:sp>
        <p:nvSpPr>
          <p:cNvPr id="25" name="TextBox 2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27–30, 63, 110, 112, 115, 117  ·  MVD pp. 233, 264–271  ·  KD p. 67  ·  JVD p. 32  ·  AnalyticMadhyasthDarshan.org  ·  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TRANSITION  ·  §3.13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Path of Transition</a:t>
            </a:r>
          </a:p>
        </p:txBody>
      </p:sp>
      <p:sp>
        <p:nvSpPr>
          <p:cNvPr id="7" name="Rounded Rectangle 6"/>
          <p:cNvSpPr/>
          <p:nvPr/>
        </p:nvSpPr>
        <p:spPr>
          <a:xfrm>
            <a:off x="64008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1</a:t>
            </a:r>
          </a:p>
          <a:p>
            <a:pPr algn="ctr">
              <a:spcAft>
                <a:spcPts val="0"/>
              </a:spcAft>
            </a:pPr>
            <a:r>
              <a:rPr sz="1050" b="0" i="1">
                <a:solidFill>
                  <a:srgbClr val="C9D4EF"/>
                </a:solidFill>
                <a:latin typeface="Calibri"/>
              </a:rPr>
              <a:t>labour valued through current prices</a:t>
            </a:r>
          </a:p>
        </p:txBody>
      </p:sp>
      <p:sp>
        <p:nvSpPr>
          <p:cNvPr id="9" name="TextBox 8"/>
          <p:cNvSpPr txBox="1"/>
          <p:nvPr/>
        </p:nvSpPr>
        <p:spPr>
          <a:xfrm>
            <a:off x="301752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333756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242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2</a:t>
            </a:r>
          </a:p>
          <a:p>
            <a:pPr algn="ctr">
              <a:spcAft>
                <a:spcPts val="0"/>
              </a:spcAft>
            </a:pPr>
            <a:r>
              <a:rPr sz="1050" b="0" i="1">
                <a:solidFill>
                  <a:srgbClr val="C9D4EF"/>
                </a:solidFill>
                <a:latin typeface="Calibri"/>
              </a:rPr>
              <a:t>currency evaluated by labour</a:t>
            </a:r>
          </a:p>
        </p:txBody>
      </p:sp>
      <p:sp>
        <p:nvSpPr>
          <p:cNvPr id="12" name="TextBox 11"/>
          <p:cNvSpPr txBox="1"/>
          <p:nvPr/>
        </p:nvSpPr>
        <p:spPr>
          <a:xfrm>
            <a:off x="571500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603504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990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3</a:t>
            </a:r>
          </a:p>
          <a:p>
            <a:pPr algn="ctr">
              <a:spcAft>
                <a:spcPts val="0"/>
              </a:spcAft>
            </a:pPr>
            <a:r>
              <a:rPr sz="1050" b="0" i="1">
                <a:solidFill>
                  <a:srgbClr val="C9D4EF"/>
                </a:solidFill>
                <a:latin typeface="Calibri"/>
              </a:rPr>
              <a:t>exchange on labour value alone</a:t>
            </a:r>
          </a:p>
        </p:txBody>
      </p:sp>
      <p:sp>
        <p:nvSpPr>
          <p:cNvPr id="15" name="Rounded Rectangle 14"/>
          <p:cNvSpPr/>
          <p:nvPr/>
        </p:nvSpPr>
        <p:spPr>
          <a:xfrm>
            <a:off x="640080" y="2240280"/>
            <a:ext cx="3840480" cy="17830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village exchange-reserve</a:t>
            </a:r>
          </a:p>
        </p:txBody>
      </p:sp>
      <p:sp>
        <p:nvSpPr>
          <p:cNvPr id="17" name="TextBox 16"/>
          <p:cNvSpPr txBox="1"/>
          <p:nvPr/>
        </p:nvSpPr>
        <p:spPr>
          <a:xfrm>
            <a:off x="822959"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Accounts for every member; surplus sold to the reserve, needs bought from it.</a:t>
            </a:r>
          </a:p>
          <a:p>
            <a:pPr>
              <a:spcAft>
                <a:spcPts val="0"/>
              </a:spcAft>
            </a:pPr>
            <a:r>
              <a:rPr sz="1100" b="0" i="0">
                <a:solidFill>
                  <a:srgbClr val="5A6377"/>
                </a:solidFill>
                <a:latin typeface="Calibri"/>
              </a:rPr>
              <a:t>Any incidental gain goes to common facilities; interest-free loans repaid in produce.</a:t>
            </a:r>
          </a:p>
        </p:txBody>
      </p:sp>
      <p:sp>
        <p:nvSpPr>
          <p:cNvPr id="18" name="Rounded Rectangle 17"/>
          <p:cNvSpPr/>
          <p:nvPr/>
        </p:nvSpPr>
        <p:spPr>
          <a:xfrm>
            <a:off x="4663440" y="2240280"/>
            <a:ext cx="3840480" cy="17830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Begin with a survey</a:t>
            </a:r>
          </a:p>
        </p:txBody>
      </p:sp>
      <p:sp>
        <p:nvSpPr>
          <p:cNvPr id="20" name="TextBox 19"/>
          <p:cNvSpPr txBox="1"/>
          <p:nvPr/>
        </p:nvSpPr>
        <p:spPr>
          <a:xfrm>
            <a:off x="4846320"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Land, water, crops, crafts, skills, health, and the state of justice in production and exchange.</a:t>
            </a:r>
          </a:p>
          <a:p>
            <a:pPr>
              <a:spcAft>
                <a:spcPts val="0"/>
              </a:spcAft>
            </a:pPr>
            <a:r>
              <a:rPr sz="1100" b="0" i="0">
                <a:solidFill>
                  <a:srgbClr val="5A6377"/>
                </a:solidFill>
                <a:latin typeface="Calibri"/>
              </a:rPr>
              <a:t>Nagraj lived with prosperity through his own production within the present system.</a:t>
            </a:r>
          </a:p>
        </p:txBody>
      </p:sp>
      <p:sp>
        <p:nvSpPr>
          <p:cNvPr id="21" name="TextBox 20"/>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dialogue: profit and symbolic currency, or prosperity through exchange on the value of labour?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122–125, 136–138, 142–143  ·  JV pp. 153–154  ·  JVD pp. 217–218  ·  AVD p. 52  ·  AnalyticMadhyasthDarshan.org  ·  23 /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COMPARISON  ·  §§4–7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Where Insatiability Comes From</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Tradition</a:t>
            </a:r>
          </a:p>
        </p:txBody>
      </p:sp>
      <p:sp>
        <p:nvSpPr>
          <p:cNvPr id="11" name="TextBox 10"/>
          <p:cNvSpPr txBox="1"/>
          <p:nvPr/>
        </p:nvSpPr>
        <p:spPr>
          <a:xfrm>
            <a:off x="2743200" y="1280160"/>
            <a:ext cx="29718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Source of insatiable want</a:t>
            </a:r>
          </a:p>
        </p:txBody>
      </p:sp>
      <p:sp>
        <p:nvSpPr>
          <p:cNvPr id="12" name="TextBox 11"/>
          <p:cNvSpPr txBox="1"/>
          <p:nvPr/>
        </p:nvSpPr>
        <p:spPr>
          <a:xfrm>
            <a:off x="5852160" y="1280160"/>
            <a:ext cx="2606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closes the cycle</a:t>
            </a:r>
          </a:p>
        </p:txBody>
      </p:sp>
      <p:sp>
        <p:nvSpPr>
          <p:cNvPr id="13" name="Rectangle 12"/>
          <p:cNvSpPr/>
          <p:nvPr/>
        </p:nvSpPr>
        <p:spPr>
          <a:xfrm>
            <a:off x="640080" y="1572768"/>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Madhyasth Darshan</a:t>
            </a:r>
          </a:p>
        </p:txBody>
      </p:sp>
      <p:sp>
        <p:nvSpPr>
          <p:cNvPr id="16" name="TextBox 15"/>
          <p:cNvSpPr txBox="1"/>
          <p:nvPr/>
        </p:nvSpPr>
        <p:spPr>
          <a:xfrm>
            <a:off x="2743200" y="1600200"/>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Jeevan's discontent read as a shortage of objects</a:t>
            </a:r>
          </a:p>
        </p:txBody>
      </p:sp>
      <p:sp>
        <p:nvSpPr>
          <p:cNvPr id="17" name="TextBox 16"/>
          <p:cNvSpPr txBox="1"/>
          <p:nvPr/>
        </p:nvSpPr>
        <p:spPr>
          <a:xfrm>
            <a:off x="5852160" y="1600200"/>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Definite need, use, regeneration</a:t>
            </a:r>
          </a:p>
        </p:txBody>
      </p:sp>
      <p:sp>
        <p:nvSpPr>
          <p:cNvPr id="18" name="Rectangle 17"/>
          <p:cNvSpPr/>
          <p:nvPr/>
        </p:nvSpPr>
        <p:spPr>
          <a:xfrm>
            <a:off x="640080" y="233172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198424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Neoclassical economics</a:t>
            </a:r>
          </a:p>
        </p:txBody>
      </p:sp>
      <p:sp>
        <p:nvSpPr>
          <p:cNvPr id="20" name="TextBox 19"/>
          <p:cNvSpPr txBox="1"/>
          <p:nvPr/>
        </p:nvSpPr>
        <p:spPr>
          <a:xfrm>
            <a:off x="2743200" y="198424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Taken as given: non-satiation and scarcity</a:t>
            </a:r>
          </a:p>
        </p:txBody>
      </p:sp>
      <p:sp>
        <p:nvSpPr>
          <p:cNvPr id="21" name="TextBox 20"/>
          <p:cNvSpPr txBox="1"/>
          <p:nvPr/>
        </p:nvSpPr>
        <p:spPr>
          <a:xfrm>
            <a:off x="5852160" y="198424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 closure; growth is the norm</a:t>
            </a:r>
          </a:p>
        </p:txBody>
      </p:sp>
      <p:sp>
        <p:nvSpPr>
          <p:cNvPr id="22" name="Rectangle 21"/>
          <p:cNvSpPr/>
          <p:nvPr/>
        </p:nvSpPr>
        <p:spPr>
          <a:xfrm>
            <a:off x="640080" y="2340864"/>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157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368296"/>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Aristotle and Marx</a:t>
            </a:r>
          </a:p>
        </p:txBody>
      </p:sp>
      <p:sp>
        <p:nvSpPr>
          <p:cNvPr id="25" name="TextBox 24"/>
          <p:cNvSpPr txBox="1"/>
          <p:nvPr/>
        </p:nvSpPr>
        <p:spPr>
          <a:xfrm>
            <a:off x="2743200" y="2368296"/>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Pursuit of money as such</a:t>
            </a:r>
          </a:p>
        </p:txBody>
      </p:sp>
      <p:sp>
        <p:nvSpPr>
          <p:cNvPr id="26" name="TextBox 25"/>
          <p:cNvSpPr txBox="1"/>
          <p:nvPr/>
        </p:nvSpPr>
        <p:spPr>
          <a:xfrm>
            <a:off x="5852160" y="2368296"/>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limits household acquisition</a:t>
            </a:r>
          </a:p>
        </p:txBody>
      </p:sp>
      <p:sp>
        <p:nvSpPr>
          <p:cNvPr id="27" name="Rectangle 26"/>
          <p:cNvSpPr/>
          <p:nvPr/>
        </p:nvSpPr>
        <p:spPr>
          <a:xfrm>
            <a:off x="640080" y="309981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752344"/>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Keynes, Veblen, Hirsch</a:t>
            </a:r>
          </a:p>
        </p:txBody>
      </p:sp>
      <p:sp>
        <p:nvSpPr>
          <p:cNvPr id="29" name="TextBox 28"/>
          <p:cNvSpPr txBox="1"/>
          <p:nvPr/>
        </p:nvSpPr>
        <p:spPr>
          <a:xfrm>
            <a:off x="2743200" y="2752344"/>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Relative and positional wants</a:t>
            </a:r>
          </a:p>
        </p:txBody>
      </p:sp>
      <p:sp>
        <p:nvSpPr>
          <p:cNvPr id="30" name="TextBox 29"/>
          <p:cNvSpPr txBox="1"/>
          <p:nvPr/>
        </p:nvSpPr>
        <p:spPr>
          <a:xfrm>
            <a:off x="5852160" y="2752344"/>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Absolute needs can be met</a:t>
            </a:r>
          </a:p>
        </p:txBody>
      </p:sp>
      <p:sp>
        <p:nvSpPr>
          <p:cNvPr id="31" name="Rectangle 30"/>
          <p:cNvSpPr/>
          <p:nvPr/>
        </p:nvSpPr>
        <p:spPr>
          <a:xfrm>
            <a:off x="640080" y="3108960"/>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4838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136391"/>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Ecological economics</a:t>
            </a:r>
          </a:p>
        </p:txBody>
      </p:sp>
      <p:sp>
        <p:nvSpPr>
          <p:cNvPr id="34" name="TextBox 33"/>
          <p:cNvSpPr txBox="1"/>
          <p:nvPr/>
        </p:nvSpPr>
        <p:spPr>
          <a:xfrm>
            <a:off x="2743200" y="3136391"/>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Debt, competition, growth institutions</a:t>
            </a:r>
          </a:p>
        </p:txBody>
      </p:sp>
      <p:sp>
        <p:nvSpPr>
          <p:cNvPr id="35" name="TextBox 34"/>
          <p:cNvSpPr txBox="1"/>
          <p:nvPr/>
        </p:nvSpPr>
        <p:spPr>
          <a:xfrm>
            <a:off x="5852160" y="3136391"/>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Steady throughput; material loops</a:t>
            </a:r>
          </a:p>
        </p:txBody>
      </p:sp>
      <p:sp>
        <p:nvSpPr>
          <p:cNvPr id="36" name="Rectangle 35"/>
          <p:cNvSpPr/>
          <p:nvPr/>
        </p:nvSpPr>
        <p:spPr>
          <a:xfrm>
            <a:off x="640080" y="38679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520439"/>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Gandhian economics</a:t>
            </a:r>
          </a:p>
        </p:txBody>
      </p:sp>
      <p:sp>
        <p:nvSpPr>
          <p:cNvPr id="38" name="TextBox 37"/>
          <p:cNvSpPr txBox="1"/>
          <p:nvPr/>
        </p:nvSpPr>
        <p:spPr>
          <a:xfrm>
            <a:off x="2743200" y="3520439"/>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An economy of transience</a:t>
            </a:r>
          </a:p>
        </p:txBody>
      </p:sp>
      <p:sp>
        <p:nvSpPr>
          <p:cNvPr id="39" name="TextBox 38"/>
          <p:cNvSpPr txBox="1"/>
          <p:nvPr/>
        </p:nvSpPr>
        <p:spPr>
          <a:xfrm>
            <a:off x="5852160" y="3520439"/>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Permanence within nature's cycles</a:t>
            </a:r>
          </a:p>
        </p:txBody>
      </p:sp>
      <p:sp>
        <p:nvSpPr>
          <p:cNvPr id="40" name="Rectangle 39"/>
          <p:cNvSpPr/>
          <p:nvPr/>
        </p:nvSpPr>
        <p:spPr>
          <a:xfrm>
            <a:off x="640080" y="3877056"/>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4251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90448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Advaita Vedanta</a:t>
            </a:r>
          </a:p>
        </p:txBody>
      </p:sp>
      <p:sp>
        <p:nvSpPr>
          <p:cNvPr id="43" name="TextBox 42"/>
          <p:cNvSpPr txBox="1"/>
          <p:nvPr/>
        </p:nvSpPr>
        <p:spPr>
          <a:xfrm>
            <a:off x="2743200" y="390448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Desire from ignorance of the Self</a:t>
            </a:r>
          </a:p>
        </p:txBody>
      </p:sp>
      <p:sp>
        <p:nvSpPr>
          <p:cNvPr id="44" name="TextBox 43"/>
          <p:cNvSpPr txBox="1"/>
          <p:nvPr/>
        </p:nvSpPr>
        <p:spPr>
          <a:xfrm>
            <a:off x="5852160" y="390448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Liberation beyond economic life</a:t>
            </a:r>
          </a:p>
        </p:txBody>
      </p:sp>
      <p:sp>
        <p:nvSpPr>
          <p:cNvPr id="45" name="TextBox 4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§§4–7  ·  Robbins 1932  ·  Keynes 1930  ·  Daly 1974  ·  Kumarappa 1945  ·  BG 3.37–39  ·  AnalyticMadhyasthDarshan.org  ·  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LEARNING FROM ECONOMICS  ·  §§4.9–4.10, 9.6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Economics Can Teach</a:t>
            </a:r>
          </a:p>
        </p:txBody>
      </p:sp>
      <p:sp>
        <p:nvSpPr>
          <p:cNvPr id="7" name="Rounded Rectangle 6"/>
          <p:cNvSpPr/>
          <p:nvPr/>
        </p:nvSpPr>
        <p:spPr>
          <a:xfrm>
            <a:off x="640080"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Coordination</a:t>
            </a:r>
          </a:p>
        </p:txBody>
      </p:sp>
      <p:sp>
        <p:nvSpPr>
          <p:cNvPr id="9" name="TextBox 8"/>
          <p:cNvSpPr txBox="1"/>
          <p:nvPr/>
        </p:nvSpPr>
        <p:spPr>
          <a:xfrm>
            <a:off x="777240"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prices carry dispersed knowledge (Hayek)</a:t>
            </a:r>
          </a:p>
        </p:txBody>
      </p:sp>
      <p:sp>
        <p:nvSpPr>
          <p:cNvPr id="10" name="Rounded Rectangle 9"/>
          <p:cNvSpPr/>
          <p:nvPr/>
        </p:nvSpPr>
        <p:spPr>
          <a:xfrm>
            <a:off x="3328415"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Measurement</a:t>
            </a:r>
          </a:p>
        </p:txBody>
      </p:sp>
      <p:sp>
        <p:nvSpPr>
          <p:cNvPr id="12" name="TextBox 11"/>
          <p:cNvSpPr txBox="1"/>
          <p:nvPr/>
        </p:nvSpPr>
        <p:spPr>
          <a:xfrm>
            <a:off x="3465575"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accounts, input–output, material flows</a:t>
            </a:r>
          </a:p>
        </p:txBody>
      </p:sp>
      <p:sp>
        <p:nvSpPr>
          <p:cNvPr id="13" name="Rounded Rectangle 12"/>
          <p:cNvSpPr/>
          <p:nvPr/>
        </p:nvSpPr>
        <p:spPr>
          <a:xfrm>
            <a:off x="6016752"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Commons</a:t>
            </a:r>
          </a:p>
        </p:txBody>
      </p:sp>
      <p:sp>
        <p:nvSpPr>
          <p:cNvPr id="15" name="TextBox 14"/>
          <p:cNvSpPr txBox="1"/>
          <p:nvPr/>
        </p:nvSpPr>
        <p:spPr>
          <a:xfrm>
            <a:off x="6153912"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shared assets can be governed (Ostrom)</a:t>
            </a:r>
          </a:p>
        </p:txBody>
      </p:sp>
      <p:sp>
        <p:nvSpPr>
          <p:cNvPr id="16" name="Rounded Rectangle 15"/>
          <p:cNvSpPr/>
          <p:nvPr/>
        </p:nvSpPr>
        <p:spPr>
          <a:xfrm>
            <a:off x="640080"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Needs theory</a:t>
            </a:r>
          </a:p>
        </p:txBody>
      </p:sp>
      <p:sp>
        <p:nvSpPr>
          <p:cNvPr id="18" name="TextBox 17"/>
          <p:cNvSpPr txBox="1"/>
          <p:nvPr/>
        </p:nvSpPr>
        <p:spPr>
          <a:xfrm>
            <a:off x="777240"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finite, classifiable needs (Max-Neef)</a:t>
            </a:r>
          </a:p>
        </p:txBody>
      </p:sp>
      <p:sp>
        <p:nvSpPr>
          <p:cNvPr id="19" name="Rounded Rectangle 18"/>
          <p:cNvSpPr/>
          <p:nvPr/>
        </p:nvSpPr>
        <p:spPr>
          <a:xfrm>
            <a:off x="3328415"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Money as credit</a:t>
            </a:r>
          </a:p>
        </p:txBody>
      </p:sp>
      <p:sp>
        <p:nvSpPr>
          <p:cNvPr id="21" name="TextBox 20"/>
          <p:cNvSpPr txBox="1"/>
          <p:nvPr/>
        </p:nvSpPr>
        <p:spPr>
          <a:xfrm>
            <a:off x="3465575"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banks create money by lending</a:t>
            </a:r>
          </a:p>
        </p:txBody>
      </p:sp>
      <p:sp>
        <p:nvSpPr>
          <p:cNvPr id="22" name="Rounded Rectangle 21"/>
          <p:cNvSpPr/>
          <p:nvPr/>
        </p:nvSpPr>
        <p:spPr>
          <a:xfrm>
            <a:off x="6016752"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Labour accounting</a:t>
            </a:r>
          </a:p>
        </p:txBody>
      </p:sp>
      <p:sp>
        <p:nvSpPr>
          <p:cNvPr id="24" name="TextBox 23"/>
          <p:cNvSpPr txBox="1"/>
          <p:nvPr/>
        </p:nvSpPr>
        <p:spPr>
          <a:xfrm>
            <a:off x="6153912"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embodied labour can be computed</a:t>
            </a:r>
          </a:p>
        </p:txBody>
      </p:sp>
      <p:sp>
        <p:nvSpPr>
          <p:cNvPr id="25" name="Rounded Rectangle 24"/>
          <p:cNvSpPr/>
          <p:nvPr/>
        </p:nvSpPr>
        <p:spPr>
          <a:xfrm>
            <a:off x="7635240" y="1234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234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7" name="Rounded Rectangle 26"/>
          <p:cNvSpPr/>
          <p:nvPr/>
        </p:nvSpPr>
        <p:spPr>
          <a:xfrm>
            <a:off x="640080" y="3611880"/>
            <a:ext cx="7863840" cy="68580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3611880"/>
            <a:ext cx="7406640" cy="68580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Economic tools can serve a cyclical economy once that economy supplies the criteria the discipline leaves out.</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Hayek 1945  ·  Leontief 1936  ·  Ostrom 2010  ·  Max-Neef et al. 1989  ·  BoE 2014  ·  Cockshott and Cottrell 1993  ·  AnalyticMadhyasthDarshan.org  ·  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INSTRUMENTS  ·  §8.1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to Measure, What to Judge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Law · regulation · balance</a:t>
            </a:r>
          </a:p>
        </p:txBody>
      </p:sp>
      <p:sp>
        <p:nvSpPr>
          <p:cNvPr id="9" name="TextBox 8"/>
          <p:cNvSpPr txBox="1"/>
          <p:nvPr/>
        </p:nvSpPr>
        <p:spPr>
          <a:xfrm>
            <a:off x="82296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Quantities, rates and rules: regeneration of a forest, fertility of a field, stock in a store, labour time in a product.</a:t>
            </a:r>
          </a:p>
          <a:p>
            <a:pPr>
              <a:spcBef>
                <a:spcPts val="600"/>
              </a:spcBef>
              <a:spcAft>
                <a:spcPts val="0"/>
              </a:spcAft>
            </a:pPr>
            <a:r>
              <a:rPr sz="1150" b="1" i="0">
                <a:solidFill>
                  <a:srgbClr val="1E2447"/>
                </a:solidFill>
                <a:latin typeface="Calibri"/>
              </a:rPr>
              <a:t>Measured, recorded, and partly handled by instruments.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Justice · dharma · truth</a:t>
            </a:r>
          </a:p>
        </p:txBody>
      </p:sp>
      <p:sp>
        <p:nvSpPr>
          <p:cNvPr id="12" name="TextBox 11"/>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fulfilment of relationships, the purpose of a choice, its accord with coexistence.</a:t>
            </a:r>
          </a:p>
          <a:p>
            <a:pPr>
              <a:spcBef>
                <a:spcPts val="600"/>
              </a:spcBef>
              <a:spcAft>
                <a:spcPts val="0"/>
              </a:spcAft>
            </a:pPr>
            <a:r>
              <a:rPr sz="1150" b="1" i="0">
                <a:solidFill>
                  <a:srgbClr val="9A6414"/>
                </a:solidFill>
                <a:latin typeface="Calibri"/>
              </a:rPr>
              <a:t>Judged by people; still under review in human tradition.</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darshan's rule for instruments</a:t>
            </a:r>
          </a:p>
          <a:p>
            <a:pPr algn="ctr">
              <a:spcAft>
                <a:spcPts val="0"/>
              </a:spcAft>
            </a:pPr>
            <a:r>
              <a:rPr sz="1250" b="0" i="0">
                <a:solidFill>
                  <a:srgbClr val="FFFFFF"/>
                </a:solidFill>
                <a:latin typeface="Calibri"/>
              </a:rPr>
              <a:t>An instrument embodies its planners' mentality and falls short of its purpose: trust and use it below that purpose, and let a human read every signal.</a:t>
            </a:r>
          </a:p>
        </p:txBody>
      </p:sp>
      <p:sp>
        <p:nvSpPr>
          <p:cNvPr id="15" name="TextBox 1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 173  ·  AA pp. 18, 117, 122–125, 132, 138  ·  KD p. 139  ·  SB p. 267  ·  AnalyticMadhyasthDarshan.org  ·  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FAILURE POINTS  ·  §8.2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Failure Points of the Cycle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Condition</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Early signal</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Question returned to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Need is definite</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rising faster than assessed need</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assessment true and fair?</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Labour gets its value</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Producers paid below labour value</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fruit of labour exploited?</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Exchange at labour value</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Ratios drifting; margins appearing</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this exchange free of exploitation?</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Everyone produces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People displaced; skills idle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How do they return to production?</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Goods used, not hoarded</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Stock ageing; balances idle</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Why held, and for whose benefit?</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Nature in proportion</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Drawdown; falling fertility</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Which use serves the earth's balance?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Most failures leave traces in records long before they become crises.</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§8.2  ·  AA pp. 26, 49, 106, 119, 127, 142–146  ·  MVD pp. 263–268  ·  AnalyticMadhyasthDarshan.org  ·  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VALUING LABOUR  ·  §8.3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to Give Labour Its Value</a:t>
            </a:r>
          </a:p>
        </p:txBody>
      </p:sp>
      <p:sp>
        <p:nvSpPr>
          <p:cNvPr id="7" name="Rounded Rectangle 6"/>
          <p:cNvSpPr/>
          <p:nvPr/>
        </p:nvSpPr>
        <p:spPr>
          <a:xfrm>
            <a:off x="6400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Records</a:t>
            </a:r>
          </a:p>
          <a:p>
            <a:pPr algn="ctr">
              <a:spcAft>
                <a:spcPts val="0"/>
              </a:spcAft>
            </a:pPr>
            <a:r>
              <a:rPr sz="950" b="0" i="1">
                <a:solidFill>
                  <a:srgbClr val="C9D4EF"/>
                </a:solidFill>
                <a:latin typeface="Calibri"/>
              </a:rPr>
              <a:t>pace, time, means, pay</a:t>
            </a:r>
          </a:p>
        </p:txBody>
      </p:sp>
      <p:sp>
        <p:nvSpPr>
          <p:cNvPr id="9" name="TextBox 8"/>
          <p:cNvSpPr txBox="1"/>
          <p:nvPr/>
        </p:nvSpPr>
        <p:spPr>
          <a:xfrm>
            <a:off x="2011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2402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951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Common values</a:t>
            </a:r>
          </a:p>
          <a:p>
            <a:pPr algn="ctr">
              <a:spcAft>
                <a:spcPts val="0"/>
              </a:spcAft>
            </a:pPr>
            <a:r>
              <a:rPr sz="950" b="0" i="1">
                <a:solidFill>
                  <a:srgbClr val="C9D4EF"/>
                </a:solidFill>
                <a:latin typeface="Calibri"/>
              </a:rPr>
              <a:t>across many villages</a:t>
            </a:r>
          </a:p>
        </p:txBody>
      </p:sp>
      <p:sp>
        <p:nvSpPr>
          <p:cNvPr id="12" name="TextBox 11"/>
          <p:cNvSpPr txBox="1"/>
          <p:nvPr/>
        </p:nvSpPr>
        <p:spPr>
          <a:xfrm>
            <a:off x="36118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8404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53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Embodied labour</a:t>
            </a:r>
          </a:p>
          <a:p>
            <a:pPr algn="ctr">
              <a:spcAft>
                <a:spcPts val="0"/>
              </a:spcAft>
            </a:pPr>
            <a:r>
              <a:rPr sz="950" b="0" i="1">
                <a:solidFill>
                  <a:srgbClr val="C9D4EF"/>
                </a:solidFill>
                <a:latin typeface="Calibri"/>
              </a:rPr>
              <a:t>input–output tracing</a:t>
            </a:r>
          </a:p>
        </p:txBody>
      </p:sp>
      <p:sp>
        <p:nvSpPr>
          <p:cNvPr id="15" name="TextBox 14"/>
          <p:cNvSpPr txBox="1"/>
          <p:nvPr/>
        </p:nvSpPr>
        <p:spPr>
          <a:xfrm>
            <a:off x="5212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54406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Two ledgers</a:t>
            </a:r>
          </a:p>
          <a:p>
            <a:pPr algn="ctr">
              <a:spcAft>
                <a:spcPts val="0"/>
              </a:spcAft>
            </a:pPr>
            <a:r>
              <a:rPr sz="950" b="0" i="1">
                <a:solidFill>
                  <a:srgbClr val="C9D4EF"/>
                </a:solidFill>
                <a:latin typeface="Calibri"/>
              </a:rPr>
              <a:t>price and labour value</a:t>
            </a:r>
          </a:p>
        </p:txBody>
      </p:sp>
      <p:sp>
        <p:nvSpPr>
          <p:cNvPr id="18" name="TextBox 17"/>
          <p:cNvSpPr txBox="1"/>
          <p:nvPr/>
        </p:nvSpPr>
        <p:spPr>
          <a:xfrm>
            <a:off x="68122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70408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Visible</a:t>
            </a:r>
          </a:p>
          <a:p>
            <a:pPr algn="ctr">
              <a:spcAft>
                <a:spcPts val="0"/>
              </a:spcAft>
            </a:pPr>
            <a:r>
              <a:rPr sz="950" b="0" i="1">
                <a:solidFill>
                  <a:srgbClr val="C9D4EF"/>
                </a:solidFill>
                <a:latin typeface="Calibri"/>
              </a:rPr>
              <a:t>to each producer</a:t>
            </a:r>
          </a:p>
        </p:txBody>
      </p:sp>
      <p:sp>
        <p:nvSpPr>
          <p:cNvPr id="21" name="Rounded Rectangle 20"/>
          <p:cNvSpPr/>
          <p:nvPr/>
        </p:nvSpPr>
        <p:spPr>
          <a:xfrm>
            <a:off x="7040880"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3" name="Rounded Rectangle 22"/>
          <p:cNvSpPr/>
          <p:nvPr/>
        </p:nvSpPr>
        <p:spPr>
          <a:xfrm>
            <a:off x="640080" y="2240280"/>
            <a:ext cx="3840480" cy="15544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the instrument carries</a:t>
            </a:r>
          </a:p>
        </p:txBody>
      </p:sp>
      <p:sp>
        <p:nvSpPr>
          <p:cNvPr id="25" name="TextBox 24"/>
          <p:cNvSpPr txBox="1"/>
          <p:nvPr/>
        </p:nvSpPr>
        <p:spPr>
          <a:xfrm>
            <a:off x="822959"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Records, computation, and the figures the second and third stages of the transition need; matching skills to the work a village needs.</a:t>
            </a:r>
          </a:p>
        </p:txBody>
      </p:sp>
      <p:sp>
        <p:nvSpPr>
          <p:cNvPr id="26" name="Rounded Rectangle 25"/>
          <p:cNvSpPr/>
          <p:nvPr/>
        </p:nvSpPr>
        <p:spPr>
          <a:xfrm>
            <a:off x="4663440" y="2240280"/>
            <a:ext cx="3840480" cy="15544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people decide</a:t>
            </a:r>
          </a:p>
        </p:txBody>
      </p:sp>
      <p:sp>
        <p:nvSpPr>
          <p:cNvPr id="28" name="TextBox 27"/>
          <p:cNvSpPr txBox="1"/>
          <p:nvPr/>
        </p:nvSpPr>
        <p:spPr>
          <a:xfrm>
            <a:off x="4846320"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village council sets the valuation method; committees fix quantity, quality and value of labour. Inside the family, nothing is weighed.</a:t>
            </a:r>
          </a:p>
        </p:txBody>
      </p:sp>
      <p:sp>
        <p:nvSpPr>
          <p:cNvPr id="29" name="TextBox 28"/>
          <p:cNvSpPr txBox="1"/>
          <p:nvPr/>
        </p:nvSpPr>
        <p:spPr>
          <a:xfrm>
            <a:off x="640080" y="3977639"/>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True value is more than an exchange ratio: it is what labour establishes for the families who use its products.</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§§4.10, 8.3  ·  AA pp. 66–67, 119–120, 131, 142–145  ·  Leontief 1936  ·  AnalyticMadhyasthDarshan.org  ·  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BALANCE AND PARTICIPATION  ·  §§8.4–8.6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to Keep the Cycle in Balance</a:t>
            </a:r>
          </a:p>
        </p:txBody>
      </p:sp>
      <p:sp>
        <p:nvSpPr>
          <p:cNvPr id="7" name="Rounded Rectangle 6"/>
          <p:cNvSpPr/>
          <p:nvPr/>
        </p:nvSpPr>
        <p:spPr>
          <a:xfrm>
            <a:off x="640080"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45335" y="118871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5" y="118871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10" name="TextBox 9"/>
          <p:cNvSpPr txBox="1"/>
          <p:nvPr/>
        </p:nvSpPr>
        <p:spPr>
          <a:xfrm>
            <a:off x="822959"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Keep it visible</a:t>
            </a:r>
          </a:p>
        </p:txBody>
      </p:sp>
      <p:sp>
        <p:nvSpPr>
          <p:cNvPr id="11" name="TextBox 10"/>
          <p:cNvSpPr txBox="1"/>
          <p:nvPr/>
        </p:nvSpPr>
        <p:spPr>
          <a:xfrm>
            <a:off x="822959"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 living village survey; stock and its age; extraction against regeneration; how many families the land supports.</a:t>
            </a:r>
          </a:p>
        </p:txBody>
      </p:sp>
      <p:sp>
        <p:nvSpPr>
          <p:cNvPr id="12" name="Rounded Rectangle 11"/>
          <p:cNvSpPr/>
          <p:nvPr/>
        </p:nvSpPr>
        <p:spPr>
          <a:xfrm>
            <a:off x="3328416"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Keep everyone producing</a:t>
            </a:r>
          </a:p>
        </p:txBody>
      </p:sp>
      <p:sp>
        <p:nvSpPr>
          <p:cNvPr id="14" name="TextBox 13"/>
          <p:cNvSpPr txBox="1"/>
          <p:nvPr/>
        </p:nvSpPr>
        <p:spPr>
          <a:xfrm>
            <a:off x="3511296"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Reduce drudgery and time; never displace producers or concentrate the means.</a:t>
            </a:r>
          </a:p>
        </p:txBody>
      </p:sp>
      <p:sp>
        <p:nvSpPr>
          <p:cNvPr id="15" name="Rounded Rectangle 14"/>
          <p:cNvSpPr/>
          <p:nvPr/>
        </p:nvSpPr>
        <p:spPr>
          <a:xfrm>
            <a:off x="6016752" y="1280160"/>
            <a:ext cx="2487168"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1399031"/>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Keep knowledge common</a:t>
            </a:r>
          </a:p>
        </p:txBody>
      </p:sp>
      <p:sp>
        <p:nvSpPr>
          <p:cNvPr id="17" name="TextBox 16"/>
          <p:cNvSpPr txBox="1"/>
          <p:nvPr/>
        </p:nvSpPr>
        <p:spPr>
          <a:xfrm>
            <a:off x="6199632" y="1719072"/>
            <a:ext cx="2121408"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Models and records shared as means handed down, never enclosed for profit.</a:t>
            </a:r>
          </a:p>
        </p:txBody>
      </p:sp>
      <p:sp>
        <p:nvSpPr>
          <p:cNvPr id="18" name="Rounded Rectangle 17"/>
          <p:cNvSpPr/>
          <p:nvPr/>
        </p:nvSpPr>
        <p:spPr>
          <a:xfrm>
            <a:off x="640080" y="3429000"/>
            <a:ext cx="7863840" cy="91440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3520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520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1" name="TextBox 20"/>
          <p:cNvSpPr txBox="1"/>
          <p:nvPr/>
        </p:nvSpPr>
        <p:spPr>
          <a:xfrm>
            <a:off x="1874519" y="3465576"/>
            <a:ext cx="6492240" cy="841248"/>
          </a:xfrm>
          <a:prstGeom prst="rect">
            <a:avLst/>
          </a:prstGeom>
          <a:noFill/>
        </p:spPr>
        <p:txBody>
          <a:bodyPr wrap="square" lIns="0" rIns="0" tIns="0" bIns="0" anchor="ctr">
            <a:spAutoFit/>
          </a:bodyPr>
          <a:lstStyle/>
          <a:p>
            <a:pPr>
              <a:spcAft>
                <a:spcPts val="0"/>
              </a:spcAft>
            </a:pPr>
            <a:r>
              <a:rPr sz="1100" b="0" i="1">
                <a:solidFill>
                  <a:srgbClr val="1E2447"/>
                </a:solidFill>
                <a:latin typeface="Calibri"/>
              </a:rPr>
              <a:t>Recommendation and advertising systems now tune AI to keep the selection–taste cycle running. Aimed at use and right use, the same AI can help a family keep to its assessed needs.</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§§8.4–8.7  ·  AA pp. 29, 56–58, 72, 92, 107, 118, 132  ·  MVD pp. 265, 268  ·  JVD p. 35  ·  AnalyticMadhyasthDarshan.org  ·  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VI  ·  CRITICAL REVIEW  ·  §9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Strengths and Open Problems</a:t>
            </a:r>
          </a:p>
        </p:txBody>
      </p:sp>
      <p:sp>
        <p:nvSpPr>
          <p:cNvPr id="7" name="Rounded Rectangle 6"/>
          <p:cNvSpPr/>
          <p:nvPr/>
        </p:nvSpPr>
        <p:spPr>
          <a:xfrm>
            <a:off x="640080" y="1280160"/>
            <a:ext cx="3840480" cy="30175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Strengths</a:t>
            </a:r>
          </a:p>
        </p:txBody>
      </p:sp>
      <p:sp>
        <p:nvSpPr>
          <p:cNvPr id="9" name="Oval 8"/>
          <p:cNvSpPr/>
          <p:nvPr/>
        </p:nvSpPr>
        <p:spPr>
          <a:xfrm>
            <a:off x="86868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Explains insatiability rather than assuming it</a:t>
            </a:r>
          </a:p>
        </p:txBody>
      </p:sp>
      <p:sp>
        <p:nvSpPr>
          <p:cNvPr id="11" name="Oval 10"/>
          <p:cNvSpPr/>
          <p:nvPr/>
        </p:nvSpPr>
        <p:spPr>
          <a:xfrm>
            <a:off x="86868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Wealth as produced objects; labour as capital</a:t>
            </a:r>
          </a:p>
        </p:txBody>
      </p:sp>
      <p:sp>
        <p:nvSpPr>
          <p:cNvPr id="13" name="Oval 12"/>
          <p:cNvSpPr/>
          <p:nvPr/>
        </p:nvSpPr>
        <p:spPr>
          <a:xfrm>
            <a:off x="86868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Closes need, use and regeneration together</a:t>
            </a:r>
          </a:p>
        </p:txBody>
      </p:sp>
      <p:sp>
        <p:nvSpPr>
          <p:cNvPr id="15" name="Oval 14"/>
          <p:cNvSpPr/>
          <p:nvPr/>
        </p:nvSpPr>
        <p:spPr>
          <a:xfrm>
            <a:off x="86868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Names the value of labour in policy</a:t>
            </a:r>
          </a:p>
        </p:txBody>
      </p:sp>
      <p:sp>
        <p:nvSpPr>
          <p:cNvPr id="17" name="Oval 16"/>
          <p:cNvSpPr/>
          <p:nvPr/>
        </p:nvSpPr>
        <p:spPr>
          <a:xfrm>
            <a:off x="86868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 staged path, with a rule for instruments</a:t>
            </a:r>
          </a:p>
        </p:txBody>
      </p:sp>
      <p:sp>
        <p:nvSpPr>
          <p:cNvPr id="19" name="Rounded Rectangle 18"/>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Open problems</a:t>
            </a:r>
          </a:p>
        </p:txBody>
      </p:sp>
      <p:sp>
        <p:nvSpPr>
          <p:cNvPr id="21" name="Oval 20"/>
          <p:cNvSpPr/>
          <p:nvPr/>
        </p:nvSpPr>
        <p:spPr>
          <a:xfrm>
            <a:off x="489204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Need assessed at the scale of a nation</a:t>
            </a:r>
          </a:p>
        </p:txBody>
      </p:sp>
      <p:sp>
        <p:nvSpPr>
          <p:cNvPr id="23" name="Oval 22"/>
          <p:cNvSpPr/>
          <p:nvPr/>
        </p:nvSpPr>
        <p:spPr>
          <a:xfrm>
            <a:off x="489204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Labour values for complex goods</a:t>
            </a:r>
          </a:p>
        </p:txBody>
      </p:sp>
      <p:sp>
        <p:nvSpPr>
          <p:cNvPr id="25" name="Oval 24"/>
          <p:cNvSpPr/>
          <p:nvPr/>
        </p:nvSpPr>
        <p:spPr>
          <a:xfrm>
            <a:off x="489204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Coordination without prices</a:t>
            </a:r>
          </a:p>
        </p:txBody>
      </p:sp>
      <p:sp>
        <p:nvSpPr>
          <p:cNvPr id="27" name="Oval 26"/>
          <p:cNvSpPr/>
          <p:nvPr/>
        </p:nvSpPr>
        <p:spPr>
          <a:xfrm>
            <a:off x="489204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748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Automation without displacement</a:t>
            </a:r>
          </a:p>
        </p:txBody>
      </p:sp>
      <p:sp>
        <p:nvSpPr>
          <p:cNvPr id="29" name="Oval 28"/>
          <p:cNvSpPr/>
          <p:nvPr/>
        </p:nvSpPr>
        <p:spPr>
          <a:xfrm>
            <a:off x="489204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4748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Evidence from practising communities</a:t>
            </a:r>
          </a:p>
        </p:txBody>
      </p:sp>
      <p:sp>
        <p:nvSpPr>
          <p:cNvPr id="31" name="TextBox 30"/>
          <p:cNvSpPr txBox="1"/>
          <p:nvPr/>
        </p:nvSpPr>
        <p:spPr>
          <a:xfrm>
            <a:off x="640080" y="43891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Its practicability depends on understanding the darshan has yet to evidence beyond small communities.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§§9.1, 9.7  ·  AnalyticMadhyasthDarshan.org  ·  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CULMINATION  ·  CONCLUSION  ·  §10</a:t>
            </a:r>
          </a:p>
        </p:txBody>
      </p:sp>
      <p:sp>
        <p:nvSpPr>
          <p:cNvPr id="12" name="TextBox 11"/>
          <p:cNvSpPr txBox="1"/>
          <p:nvPr/>
        </p:nvSpPr>
        <p:spPr>
          <a:xfrm>
            <a:off x="640080" y="1298448"/>
            <a:ext cx="5120640" cy="1371600"/>
          </a:xfrm>
          <a:prstGeom prst="rect">
            <a:avLst/>
          </a:prstGeom>
          <a:noFill/>
        </p:spPr>
        <p:txBody>
          <a:bodyPr wrap="square" lIns="0" rIns="0" tIns="0" bIns="0" anchor="ctr">
            <a:spAutoFit/>
          </a:bodyPr>
          <a:lstStyle/>
          <a:p>
            <a:pPr>
              <a:spcAft>
                <a:spcPts val="0"/>
              </a:spcAft>
            </a:pPr>
            <a:r>
              <a:rPr sz="4000" b="1" i="0">
                <a:solidFill>
                  <a:srgbClr val="FFFFFF"/>
                </a:solidFill>
                <a:latin typeface="Cambria"/>
              </a:rPr>
              <a:t>Labour Valued, Cycle Closed</a:t>
            </a:r>
          </a:p>
        </p:txBody>
      </p:sp>
      <p:sp>
        <p:nvSpPr>
          <p:cNvPr id="13" name="TextBox 12"/>
          <p:cNvSpPr txBox="1"/>
          <p:nvPr/>
        </p:nvSpPr>
        <p:spPr>
          <a:xfrm>
            <a:off x="640080" y="2670048"/>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Indefinite want   →   definite need in the family</a:t>
            </a:r>
          </a:p>
        </p:txBody>
      </p:sp>
      <p:sp>
        <p:nvSpPr>
          <p:cNvPr id="14" name="TextBox 13"/>
          <p:cNvSpPr txBox="1"/>
          <p:nvPr/>
        </p:nvSpPr>
        <p:spPr>
          <a:xfrm>
            <a:off x="640080" y="3072384"/>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Price of labour   →   the usefulness labour establishes</a:t>
            </a:r>
          </a:p>
        </p:txBody>
      </p:sp>
      <p:sp>
        <p:nvSpPr>
          <p:cNvPr id="15" name="TextBox 14"/>
          <p:cNvSpPr txBox="1"/>
          <p:nvPr/>
        </p:nvSpPr>
        <p:spPr>
          <a:xfrm>
            <a:off x="640080" y="3474720"/>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Open spiral   →   a cycle within nature's balance</a:t>
            </a:r>
          </a:p>
        </p:txBody>
      </p:sp>
      <p:sp>
        <p:nvSpPr>
          <p:cNvPr id="16" name="TextBox 15"/>
          <p:cNvSpPr txBox="1"/>
          <p:nvPr/>
        </p:nvSpPr>
        <p:spPr>
          <a:xfrm>
            <a:off x="640080" y="3931920"/>
            <a:ext cx="4526280" cy="457200"/>
          </a:xfrm>
          <a:prstGeom prst="rect">
            <a:avLst/>
          </a:prstGeom>
          <a:noFill/>
        </p:spPr>
        <p:txBody>
          <a:bodyPr wrap="square" lIns="0" rIns="0" tIns="0" bIns="0" anchor="ctr">
            <a:spAutoFit/>
          </a:bodyPr>
          <a:lstStyle/>
          <a:p>
            <a:pPr>
              <a:spcAft>
                <a:spcPts val="0"/>
              </a:spcAft>
            </a:pPr>
            <a:r>
              <a:rPr sz="1250" b="0" i="1">
                <a:solidFill>
                  <a:srgbClr val="C9D4EF"/>
                </a:solidFill>
                <a:latin typeface="Calibri"/>
              </a:rPr>
              <a:t>Instruments can show quickly where understanding is missing; they cannot supply it.</a:t>
            </a:r>
          </a:p>
        </p:txBody>
      </p:sp>
      <p:sp>
        <p:nvSpPr>
          <p:cNvPr id="17" name="TextBox 16"/>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 study based on our current best understanding of the texts</a:t>
            </a:r>
          </a:p>
        </p:txBody>
      </p:sp>
      <p:sp>
        <p:nvSpPr>
          <p:cNvPr id="18" name="TextBox 17"/>
          <p:cNvSpPr txBox="1"/>
          <p:nvPr/>
        </p:nvSpPr>
        <p:spPr>
          <a:xfrm>
            <a:off x="640080" y="4681728"/>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AnalyticMadhyasthDarshan.org  ·  31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