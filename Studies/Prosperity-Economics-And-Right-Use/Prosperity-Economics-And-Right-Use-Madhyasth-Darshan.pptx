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 id="274" r:id="rId26"/>
    <p:sldId id="275" r:id="rId27"/>
    <p:sldId id="276" r:id="rId28"/>
    <p:sldId id="277" r:id="rId29"/>
    <p:sldId id="278" r:id="rId30"/>
    <p:sldId id="279" r:id="rId31"/>
    <p:sldId id="280" r:id="rId32"/>
    <p:sldId id="289" r:id="rId41"/>
    <p:sldId id="290" r:id="rId42"/>
    <p:sldId id="281" r:id="rId33"/>
    <p:sldId id="287" r:id="rId39"/>
    <p:sldId id="288" r:id="rId40"/>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7.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8.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26.xml"/><Relationship Id="rId42"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brings out Madhyasth Darshan's vision of an economy of resolved (samadhan), prosperous (samriddhi), fearless (abhay) individuals coexisting with nature across the ten-tier order at the scale of the Earth and in universal orderliness — and asks how human labour can receive its true value, judged by the usefulness it establishes rather than by scarcity, accumulation and price.</a:t>
            </a:r>
          </a:p>
          <a:p/>
          <a:p>
            <a:r>
              <a:t>The study's principal source is Avartansheel Arthshastra, Shri A. Nagraj's treatise on cyclical economics, read alongside Madhyasth Darshan, Jeevan Vidya, Samadhanatmak Bhautikvad, Karm Darshan, Janvad and Adhyatmvad. It demonstrates why this vision is genuinely new: existing economic theories — mainstream neoclassical and heterodox Marxian, institutional, ecological, capability and Gandhian traditions alike — treat the human being as a single body-centric unit and hit structural deadlocks that cannot be resolved without recognising jeevan (the constitutionally complete conscious atom) and realisation (anubhav) in coexistence.</a:t>
            </a:r>
          </a:p>
          <a:p/>
          <a:p>
            <a:r>
              <a:t>Finally, the deck shows why a strong, federated ten-tier AI agentic backbone is a structural requirement — not an optional convenience — for an Earth-scale civilization whose members are in the process of realisation (anubhav-gami). By making objective facts and checkable causal logic visible in common view to families, committees and councils, paired AI agents ensure that inconsistencies cannot be ignored and enable collective self-correction across all ten tiers while keeping normative judgement with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extract more each generation, accumulate wealth that no one can use, and treat a continuing rise in consumption as success. Mainstream economics takes unlimited wants and scarce means as its starting point, while heterodox traditions try to cap extraction or redistribute output while still treating the human being as a purely biological or socially conditioned organism.</a:t>
            </a:r>
          </a:p>
          <a:p/>
          <a:p>
            <a:r>
              <a:t>Madhyasth Darshan shows why neither approach can reach balance without jeevan and realisation (anubhav) in coexistence, and sets out the constructive vision of resolved (samadhan), prosperous (samriddhi), fearless (abhay) individuals coexisting with all four orders of nature from the ten-member family to the ten-tier Earth order — supported at planetary scale by a federated ten-tier AI agentic backbone.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because jeevan, the conscious unit with inexhaustible powers, seeks continuity of happiness; in delusion it reads its own dissatisfaction as a shortage of objects, which is why no economic theory can close the cycle without jeevan and realisation (anubhav). Third, cyclical economics establishes resolved, prosperous, fearless individuals coexisting with nature from the ten-member family to the ten-tier Earth and universal order: need assessed in the family, labour valued by usefulness, exchange free of profit and loss, and production within natural regeneration. Fourth, for an Earth-scale civilization of people still in the process of realisation (anubhav-gami), a federated ten-tier AI agentic backbone is a structural requirement — making objective facts and checkable logic visible to councils so they cannot ignore drift and can collectively self-correct, while keeping justice, dharma and truth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intellectual resolution (samadhan), material prosperity (samriddhi), social fearlessness (abhay), and coexistence (sah-astitva) with all four orders across the Earth and in universal orderliness (MVD p. 105; AA pp. 72, 94, 116).</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 a constitutionally complete sentient atom (gathan-poorna parmanu) whose mass does not change while its powers of knowing, desiring, thinking and selecting are inexhaustible and continuously active (akshay, uditodit; AA pp. 47–51, 58, 60). Every human being carries out all activities in the expectation of happiness, peace, contentment and bliss. Contentment is accepted by every human being and discontent by none (AA pp. 13, 48).</a:t>
            </a:r>
          </a:p>
          <a:p/>
          <a:p>
            <a:r>
              <a:t>Jeevan has ten activities across five faculties: mun (selection, taste), vritti (analysis, deliberation), chitta (visualisation, contemplation), buddhi (resolve, enlightenment), and atma (authenticity, realisation; AA p. 50; JV pp. 72–73). The four jeevan values name harmony between adjacent faculties: happiness between mun and vritti, peace between vritti and chitta, contentment between chitta and buddhi, and bliss between buddhi and atma (AA pp. 20–21, 92; JV p. 137).</a:t>
            </a:r>
          </a:p>
          <a:p/>
          <a:p>
            <a:r>
              <a:t>Deliberation (tulan, in vritti) is the pivot. Deliberation in terms of pleasure, health, and profit (priya, hit, labh) can never reach universal agreement across distinct bodies (JV pp. 72–73; AA pp. 58–60), which is why body-centric economics hits Arrow's impossibility barrier and cannot find an objective anchor for value. Upon realisation (anubhav) in eternal coexistence (trikalabadh satya, AA p. 51; MVD p. 203), justice, dharma, and truth have an observer-invariant reference point where universal agreement is natural (AA pp. 19–20, 58–60).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This explains why neither mainstream nor heterodox economics can close the cycle without jeevan and realisation. Because the powers of jeevan are inexhaustible (AA pp. 17–18, 48), when the higher 5.5 activities remain unawakened, that continuous energy has no outlet except the 4.5 loop of sensory selection, taste, and positional comparison. External ecological rationing or ascetic suppression (sadhana, renunciation; AA pp. 46–47, 61) merely dams an inexhaustible spring without opening its higher channel, inevitably breeding psychological rebound or black markets. Only awakening the higher activities regulates taste from within.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traces how exchange left usefulness behind. Early humans recognised natural resources, shared within the family, and bartered between communities. Seats of state and religion then imposed taxation to sustain non-producing rulers and retainers, and moved exchange from barter to metal coins and finally to paper currency. In that transition, neither unrestrained market economics nor state-regulated economics freed society from exploitation (AA pp. 1–8). Profit means giving less and getting more, and Madhyasth Darshan defines it against labour: seeking more worth than the labour performed (MVD pp. 57, 66).</a:t>
            </a:r>
          </a:p>
          <a:p/>
          <a:p>
            <a:r>
              <a:t>Accumulation settles on money because money escapes the decay that governs real goods. Metal became the symbol of objects and paper the symbol of metal (AA pp. 5–6, 52). Paper currency carries three allurements: it is easily carried from place to place, easily hidden, and easily received and paid (AA p. 45). Once currency becomes the measure of standing, trade expands into seven kinds: strength, learning, knowledge, position, beauty, objects, and deceptive speech are all bought and sold (AA pp. 45–46).</a:t>
            </a:r>
          </a:p>
          <a:p/>
          <a:p>
            <a:r>
              <a:t>Artificial scarcity becomes a principal technique for profit, and because accumulation has no satiation point on a limited earth, it cannot be accessible to all (AA p. 52). Those who produce cannot accumulate, and those who accumulate become slack in production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MVD p. 243). Through paravartan–pratyavartan, the five powers of jeevan project into human living through bodily skill and proficiency, and reflect back in mutual evaluation across family and society (AA pp. 18–19, 48–50). In that state, the restfulness of labour is resolution itself (shram ka vishram = samadhan, AA p. 23): productive work is how a resolved jeevan expresses justice and generosity through the body, breaking the classical trilemma that treats work as disutility requiring either wage fear or unequal pay.</a:t>
            </a:r>
          </a:p>
          <a:p/>
          <a:p>
            <a:r>
              <a:t>Labour applied with skill and proficiency to natural abundance produces objects that carry usefulness value and aesthetic value. Wealth (dhan) is only the produced object, not money (AA pp. 25, 105), and the primary capital is human labour power, which is always the person's own (AA p. 73; MVD p. 56). Because the powers of jeevan are inexhaustible, every human being can produce more than immediate necessity — the foundational principle of human prosperity (SB p. 268; JVD p. 215).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 The treatise's own definition is a compressed sentence; the study records its reading in the Editorial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at least ten autonomous people living together with justice, recognising relationships, fulfilling values, and complementary in production (AA pp. 14, 65; JV p. 153). Why can a ten-member household share unconditionally according to need without weighing individual labour or dependency ratios (AA pp. 119–120), when historical communes frayed along biological kinship lines? Because every member is jeevan, which has the ability to realise (anubhav) in the coexistence of all-pervasive omnipresence (satta / vyapak) and nature as a whole at once (AA pp. 47, 51, 60; MVD p. 203), removing bodily narrowing so their bodies serve a shared journey of awakening. In a wise family, two to four members easily produce beyond the whole family's limited necessity (AA p. 26; KD p. 115).</a:t>
            </a:r>
          </a:p>
          <a:p/>
          <a:p>
            <a:r>
              <a:t>Prosperity is the lack of the sentiment of lacking and production in excess of needs, together with right use and security (MVD p. 71; AA p. 113). Prosperity cannot be private: for one family to be prosperous, more than one family must be (AA pp. 62–63).</a:t>
            </a:r>
          </a:p>
          <a:p/>
          <a:p>
            <a:r>
              <a:t>In exchange between families and villages, the treatise identifies a satiation point of exchange (vinimay ka tripti bindu, AA p. 76): grounded in inner sovereignty (samprabhuta, AA p. 104) and mutual satisfaction (ubhay-tripti, AA p. 113), remuneration after exchange is just as much as was produced, with neither profit nor loss in labour and no motive for strategic ledger gaming.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what food, shelter, a tool or a vehicle fulfils in nourishing and protecting the body and in social participation. The collection's study of axiology develops this account. Human labour is the joint deployment of mind (manas, the jeevan powers) and body that establishes usefulness and beauty upon natural abundance (AA p. 143). The value of an object is determined in a chain: labour-based object, object-based usefulness, usefulness-based valuation (AA p. 49). Evaluation can be made only of labour, not of symbolic objects (AA p. 112).</a:t>
            </a:r>
          </a:p>
          <a:p/>
          <a:p>
            <a:r>
              <a:t>For exchange between families and villages, the treatise evaluates labour by the total combination of five factors: skill (kushalata), proficiency (nipunata), speed of work (karya-gati), time (samay) and means (sadhan), together with scholarliness (panditya) (AA pp. 119, 145). Wheat sown under various circumstances yields various quantities, and the midpoint gives a common value for the labour of producing wheat (AA p. 66). Inside the ten-member family, by contrast, individual contributions and dependency ratios are not weighed: the goal is the product and mutual fulfilment,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objects can be valued in exchange, the treatise defines the three levels at which resources serve human purposes: use, right use and purposeful use. Use is the utilisation of body, mind and wealth in the nourishment and protection of the body and in social participation. Right use is their utilisation in orderliness and in the motion of undivided society. Purposeful use is their utilisation in evidencing, from generation to generation, knowledge of coexistence, of jeevan, and of humane conduct (AA pp. 72, 94; MVD p. 56). In scale, production is used within the family, rightly used in society, and put to purpose in the universal order — extending from the Earth to the whole of existence (KD p. 116; AA p. 116).</a:t>
            </a:r>
          </a:p>
          <a:p/>
          <a:p>
            <a:r>
              <a:t>This places economics within the darshan's hierarchy of thirty values across five categories: two object values, nine civic values, nine established values, one human value, and four jeevan values, alongside five obligatory allegiances (AA pp. 20–24, 92; KD p. 4).</a:t>
            </a:r>
          </a:p>
          <a:p/>
          <a:p>
            <a:r>
              <a:t>Because a realised human sees the prosperity of oneself and one's family in the prosperity of the whole and the perpetuity of human civilization across generations (AA pp. 62–63, 72, 94, 142, 146; KD p. 7), intergenerational discounting drops to zero: preserving soil, forests, and generational tools across centuries is part of one's own and one's family's prosperity in the whole.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obtained through exploitation and hypocrisy, is counted as crime (MVD pp. 59, 263), and moral accountability extends across doing, commissioning and consenting in body, speech and mind (KD pp. 1–2, 117; SB pp. 207, 258).</a:t>
            </a:r>
          </a:p>
          <a:p/>
          <a:p>
            <a:r>
              <a:t>The darshan distinguishes animal instincts from the three humane motives: progeny (putreshana), wealth (vitteshana), and public welfare or reputation (lokeshana), with public welfare highest (MVD pp. 318, 320). Upon awakening, once a ten-member family (where two to four members already produce beyond the household's limited physical needs) achieves resolution and prosperity, the propensity of benevolence (upkar — help and inspiration for awakening and prosperity, MVD p. 72; AA pp. 23–24, 101) naturally arises (KD pp. 115–116). Instead of diverting surplus into limitless accumulation (sangrah), household abundance is channelled into use within the family, right use (sadupyog) in society, and purposeful use in the universal order (KD pp. 116–117; AA p. 116; MVD p. 150). That is also why the higher societal services that sustain awakening and orderliness — education, medical care, justice, and governance — must be performed with benevolence rather than sold as commercial trades (AA pp. 45–46; JV pp. 166–168).</a:t>
            </a:r>
          </a:p>
          <a:p/>
          <a:p>
            <a:r>
              <a:t>How are services (seva) organised, which vocations fall where, and how do practitioners obtain the physical objects they need? The texts name agriculture and industry as the two primary forms of production, with all other vocations complementary to them (MVD p. 267), and distinguish two forms of service (MVD p. 72). First, benevolence-focused service (upkar-pradhan seva) covers household care, child and elder support, teaching under the education-sanskar committee (AA pp. 24, 29, 130–132, 140), medical care and healing by doctors under the health-restraint committee at village and regional medical centres (AA pp. 139–140; JV pp. 166–168), part-time committee duties (AA p. 127), and full-time council representation (lok-pratinidhi, KD pp. 116–117); because these practitioners belong to a self-reliant ten-member family producing in excess of need, their household's abundance provides all objects needed for their bodily nourishment, protection, and societal motion without salaried jobs (KD pp. 115–117; AA pp. 119–120, 137). Second, remuneration-focused service (pratiphal-pradhan seva) covers the ninth branch of the village production system (AA pp. 133, 136) and exchange-reserve staffing (AA p. 138) — repairing bicycles, radios, TVs and machines, washing clothes, barbering, and running the exchange-reserve — whose council-fixed remuneration (parishramik as svadhan, AA pp. 136, 140) credits their account in the cooperative exchange-reserve (AA pp. 137–138) so they draw needed objects at labour value. Healing the body falls on the unpaid side of this line because restoring a person in disease is a direct work of kindness and generosity in human relationship that fees corrupt into a trade in suffering (AA pp. 22–24, 45–46, 140; JV pp. 166–168), whereas repair, laundry, barbering, and reserve staffing maintain produced objects and village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the treatise draws a sharp line between production (utpadan) and extraction (paddat-prapti). Production is inherently cyclical and leaves natural equilibrium undisturbed; drawing coal and mineral oil from the earth is mere extraction, not production (AA p. 78). Natural assets, minerals and vegetation, are to be used in proportion to their regeneration; their production is not to be obstructed; and human beings are to become helpful in it. Without keeping nature prosperous, the human being cannot be prosperous (AA pp. 142, 146; KD p. 7; MVD p. 263).</a:t>
            </a:r>
          </a:p>
          <a:p/>
          <a:p>
            <a:r>
              <a:t>Why does every body-centric economic model struggle with intergenerational discounting, where a positive discount rate makes ecological exhaustion centuries from now look rational to agents seeking isolated gain? In Madhyasth Darshan, a realised human sees the prosperity of oneself and one's family in the prosperity of the whole — both undivided society and nature — and in the perpetuity of human civilization across generations (AA pp. 62–63, 72, 94, 142, 146; KD p. 7).</a:t>
            </a:r>
          </a:p>
          <a:p/>
          <a:p>
            <a:r>
              <a:t>Flowing and falling water, wind, solar heat, biogas from dung and refuse, and vegetable oil from roadside trees provide cyclical, pollution-free energy (AA pp. 31–33, 106–107), and determining a village's land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cyclical economy, every villager is trained across multiple occupations, planned jointly by the education, production and exchange-reserve committees, so that no one suffers occupational fear (AA pp. 64–65, 131). Under “Security of production” (AA p. 144), when a producer or researcher develops an original tool, procedure, method or formula (maulikta) not previously in the tradition, four village committees record its drawings and formulas in writing and honour the inventor with prizes and awards (puraskar), which count as righteous wealth (svadhan, AA p. 140). Research and dissemination remain inseparable: just as one grain multiplies into hundreds only when sown in the field, knowledge and skill reach fruition through open dissemination, not through patent monopolies that sell research while concealing the method (AA pp. 56–58; JV pp. 88–89).</a:t>
            </a:r>
          </a:p>
          <a:p/>
          <a:p>
            <a:r>
              <a:t>Machine production is not contrary to economics (AA p. 47), but technique multiplies the speed of whatever humans do, problems included (SB p. 267). Preoccupation with full automation and centralised industry, resting on capital and bought labour power, displaced producers and replaced a working mindset with a managing mindset (AA p. 107; JVD p. 35).</a:t>
            </a:r>
          </a:p>
          <a:p/>
          <a:p>
            <a:r>
              <a:t>Against this, every person is to be engaged in production according to capacity, receptivity and ability (MVD p. 265). Once an improved tool is disseminated across society, the unit labour value of the product falls and the means of production increase while the time production takes decreases across generations, keeping every member of every family a producer (AA pp. 118, 145; JVD p. 216).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Self-governance rests on authority (the strength of understanding), identity (evidencing it in living), and independence (unconstrained participation in family and universal orderliness; AA pp. 104–105). The five dimensions link education-sanskar to understanding, health-restraint to balanced expression, justice-security to honesty, production to prosperity, and exchange-reserve to balance (AA p. 112).</a:t>
            </a:r>
          </a:p>
          <a:p/>
          <a:p>
            <a:r>
              <a:t>This institutional architecture scales resolved, prosperous, fearless living to the entire Earth and into universal orderliness. Ten families form a family cluster, ten clusters a hundred-family village with nine branches of work (AA pp. 133–136), and ten tiers reach the World Family Council (vishva parivar sabha). Representatives are selected by consensus with zero election expenditure and serve part-time while continuing production, so governance never creates a non-producing ruling class and every family produces more than its needs, while higher tiers coordinate medium and large industry, planetary regeneration, and inter-nation labour-value exchange free of profit and loss (AA pp. 27–30, 63, 72, 110, 115, 127; MVD pp. 259, 264–271; KD p. 67).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217–218).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traditions disagree both on the source of insatiable want and on what closes the economic cycle — and comparing them reveals why none of the existing economic theories can resolve the core deadlocks without jeevan and realisation (anubhav).</a:t>
            </a:r>
          </a:p>
          <a:p/>
          <a:p>
            <a:r>
              <a:t>Neoclassical and marginalist theory (Jevons 1871; Robbins 1932) locks in non-satiation and subjective utility, leaving no observer-invariant basis for social agreement (Arrow 1951). Aristotle and Marx saw the limitlessness of money-getting and capital, yet Marx (1875) had to defer need-based sharing to a distant future because without understanding that every person is jeevan, able to realise in the coexistence of satta (vyapak) and nature as a whole at once — the basis of the ten-member family, non-kin sharing and intrinsic work motivation (shram ka vishram = samadhan) have no ontological anchor. Keynes, Veblen and Hirsch diagnosed positional competition, and ecological economists (Daly 1974) call for steady-state throughput caps, yet external caps and sufficiency thresholds face psychological rebound whenever jeevan's inexhaustible powers remain trapped in the 4.5 activities. Gandhian economics (Kumarappa 1945) relies on ascetic moral restraint and Advaita renounces worldly life, whereas Madhyasth Darshan regulates taste through realisation in coexistence, grounding prosperous, fearless living across the Earth.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analytical and institutional tools from modern economics can serve a cyclical economy, yet each hits a structural ceiling unless anchored in jeevan, realisation (anubhav), and the ten-tier AI agentic backbone.</a:t>
            </a:r>
          </a:p>
          <a:p/>
          <a:p>
            <a:r>
              <a:t>First, Hayek (1945) showed that market prices compress dispersed knowledge; removing speculative prices requires federated AI agents across ten tiers to aggregate local surpluses and deficits without bureaucracy. Second, national accounts, input–output tables, and material-flow accounting measure physical throughput, but need the family's definite need assessment to define enough. Third, Ostrom's polycentric commons and Polanyi's non-commodities protect local resources, but require universal agreement in coexistence (MVD p. 203) to scale across ten planetary tiers without elite capture. Fourth, Max-Neef, Doyal &amp; Gough, and Sen define objective needs and adaptive preference, but require jeevan's higher 5.5 activities to prevent hedonic rebound once basic needs are met. Fifth, interest-free mutual-credit clearing (such as the Swiss WIR; Stodder 2009) models the village exchange-reserve, while the satiation point of exchange (AA p. 76) prevents strategic hoarding. Sixth, Leontief input–output matrices and Ricardian differential rent (1817) let committee AI agents separate natural fertility from human effort.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realisation in coexistence is dharma and truth (MVD p. 173; AA pp. 18, 117). Where a relation is governed by law, regulation or balance and can be stated as a quantity, rate, constraint or rule, it can be measured and traced by an instrument. Where a question concerns the fulfilment of a relationship or its accord with coexistence, it belongs to human evaluation (KD p. 139).</a:t>
            </a:r>
          </a:p>
          <a:p/>
          <a:p>
            <a:r>
              <a:t>Crucially, in Avartansheel Arthshastra normative evaluation is never left to an isolated official acting in private: it is carried out collectively in families, ten-family clusters, five village committees, and tiered councils (AA pp. 128–130, 138–140, 146–149). The treatise explicitly notes that even if a mistake or shortcoming occurs from an individual (AA p. 139), the council's collective responsibility protects right use.</a:t>
            </a:r>
          </a:p>
          <a:p/>
          <a:p>
            <a:r>
              <a:t>Why does a group of people still in the process of realisation (anubhav-gami) self-correct when an individual errs? Because priya–hita–labha biases are private to each body and cannot command shared endorsement once objective facts and checkable causal logic are placed in common view before a council of peers who all innately seek contentment and justice (AA pp. 18–20, 48, 58–60; MVD p. 203).</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Within the federated ten-tier architecture of §8.3, the Family, Committee and Regional AI Agents watch these indicators continuously and present both the factual discrepancy and its checkable causal trace in common view to every member of the responsible family, committee or council.</a:t>
            </a:r>
          </a:p>
          <a:p/>
          <a:p>
            <a:r>
              <a:t>Need is definite: the Family Agent flags use rising faster than assessed need. Labour receives its value: Production and Exchange-Reserve Agents flag producers receiving less than labour value. Exchange follows labour value: regional agents flag drifting ratios or margins. Everyone produces: committee agents flag displaced workers or idle skills and alert the Education-Sanskar Agent to plan training. Goods are used, not hoarded: agents flag ageing stock and idle balances. Nature in proportion: agents flag drawdown or soil degradation.</a:t>
            </a:r>
          </a:p>
          <a:p/>
          <a:p>
            <a:r>
              <a:t>Because these facts and checkable derivations are visible to the whole council at once, no single member's blind spot or mistake can quietly persist: the collective is compelled to deliberate and restore balance.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single village for wheat, these can be kept by hand. Across villages, districts and tiers, and for industrial goods assembled from many inputs, the connected Production and Exchange-Reserve Agents of §8.3 perform the computation.</a:t>
            </a:r>
          </a:p>
          <a:p/>
          <a:p>
            <a:r>
              <a:t>The agents compute common labour values across villages, updating them as generational means reduce the labour required per unit (AA pp. 66, 118, 145). They trace embodied labour through multi-stage input–output tables (Leontief 1936), including tool and building depreciation without charging interest. Across regions with unequal soil fertility, rainfall or mineral access, they separate natural endowment (Ricardo 1817) from human effort so midpoint valuation does not penalise less fertile villages. During the transition they maintain currency prices and labour values side by side for Stages 2 and 3 (AA pp. 142–143).</a:t>
            </a:r>
          </a:p>
          <a:p/>
          <a:p>
            <a:r>
              <a:t>The method of valuation remains a human decision: the village council sets the consolidation method, and the production and exchange-reserve committees fix the quantity, quality and value of labour (AA pp. 67, 143). Inside the family, nothing is weighed.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ten tiers, the agentic backbone keeps the cycle in balance, enables collective self-correction, and lowers the barrier to transition. When a new cluster of families or villages begins transitioning inside today's market economy, pre-configured agents immediately connect its exchange-reserve to regional labour-value benchmarks and mutual-credit clearing, while placing verified discrepancies and checkable causal traces before the whole council simultaneously so they cannot be ignored (AA pp. 72, 115, 118, 139, 142–143; MVD p. 268).</a:t>
            </a:r>
          </a:p>
          <a:p/>
          <a:p>
            <a:r>
              <a:t>The darshan's criterion for technique governs deployment: AI must reduce drudgery and production time while keeping every person a participant in physical production (MVD p. 265; AA p. 107; JVD p. 35), and all models, weights and agricultural or craft records must remain an open commons rather than proprietary intellectual property (AA pp. 29, 56–58, 132).</a:t>
            </a:r>
          </a:p>
          <a:p/>
          <a:p>
            <a:r>
              <a:t>Five safeguards keep the agentic backbone subordinate to people (§8.8): no optimisation for profit or attention capture; strict data subsidiarity (AA p. 128); inspectable rules that prevent technocratic rulership (AA p. 82); counting AI's own energy and mineral footprint within regenerative limits; and shared council visibility with cross-agent auditability so no single representative or single agent can hide an inconsistency from the group.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alongside neoclassical, Marxian, institutional, ecological, capability and Gandhian economics and Advaita.</a:t>
            </a:r>
          </a:p>
          <a:p/>
          <a:p>
            <a:r>
              <a:t>Its strengths: it sets out the complete vision of resolved, prosperous, fearless humans coexisting with nature across the Earth; explains insatiability through the joint form of jeevan and body; resolves the six structural deadlocks that body-centric economics cannot solve without jeevan and realisation (rebound against caps, Arrow's impossibility of social agreement, the work-disutility trilemma, non-kin family sharing, strategic ledger gaming, and intergenerational discounting); pairs family need-sharing with inter-family labour-value exchange; and specifies the three-stage transition path together with the required ten-tier AI agentic backbone.</a:t>
            </a:r>
          </a:p>
          <a:p/>
          <a:p>
            <a:r>
              <a:t>Its open problems: how family need assessments aggregate at planetary scale; how common labour values compute multi-stage inputs, capital depreciation without interest, and Ricardian differential fertility across regions; how the federated ten-tier AI agentic backbone replaces price and interest signals without creating a technocratic bottleneck; how automation reduces drudgery without displacing producers; and how communities govern Personal, Family and Committee AI Agents so that shared visibility strengthens human deliberation without ceding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fail to reach balance because body-centric economic theories ask finite material goods to satisfy the continuous qualitative need of jeevan. Without recognising jeevan and realisation (anubhav) in coexistence, neither market growth nor external caps nor ascetic restraint can close the cycle.</a:t>
            </a:r>
          </a:p>
          <a:p/>
          <a:p>
            <a:r>
              <a:t>Madhyasth Darshan answers with the vision of resolved (samadhan), prosperous (samriddhi), fearless (abhay) individuals coexisting with all four orders of nature from the ten-member family and hundred-family village to the ten-tier World Family Council across the Earth and in universal orderliness: definite need assessed in the family, restful labour valued by the usefulness it establishes, exchange free of profit and loss, and production within natural regeneration.</a:t>
            </a:r>
          </a:p>
          <a:p/>
          <a:p>
            <a:r>
              <a:t>To establish and sustain this order at the scale of the Earth while citizens are in the process of realisation (anubhav-gami), a strong, federated ten-tier AI agentic backbone is a structural requirement. Paired with every person, family, committee and council, AI agents make objective facts, early discrepancies, and checkable causal logic simultaneously visible in common view — ensuring that councils cannot ignore inconsistencies and can collectively self-correct even when an individual errs, while keeping the judgements of justice, dharma and truth in human hands.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in the 1990s, Shri A. Nagraj anticipated computers in the village exchange-reserve (AA p. 138) and a computer network linking committees from the village to the world (AA p. 132). When this vision is examined at the scale of the whole Earth — rather than a single small family or isolated hamlet — and under the realistic condition that citizens are in the process of realisation (anubhav-gami), a strong, federated ten-tier AI agentic backbone emerges as a structural requirement rather than an optional convenience, for four interconnected reasons.</a:t>
            </a:r>
          </a:p>
          <a:p/>
          <a:p>
            <a:r>
              <a:t>First, planetary-scale visibility for collective self-correction: in a single household, stock, effort and soil are visible to the naked eye; across ten tiers of villages, bioregions and continents, no council can see distant ecological drawdown or exchange drift without active agents that continuously cross-check flows and place checkable causal traces in common view so councils cannot ignore them. Second, fault-tolerant collective correction while individuals are anubhav-gami: even when an individual errs or slips into priya–hita–labha bias (AA p. 139), simultaneous visibility of facts and checkable logic before the whole committee or council enables the group to correct the error cleanly. Third, part-time governance: representatives continue physical production (AA p. 127; MVD p. 259) and the village exchange-reserve has only three staff (AA p. 138); manual databases would force a full-time managerial bureaucracy (JVD p. 35). Fourth, non-price input–output calculation, Ricardian soil adjustment, natural-language village surveys, and dual currency/labour ledgers across Stages 1–3 (AA pp. 122–125, 142–143) require active agentic computation.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operate at the scale of the Earth while citizens are in the process of realisation (anubhav-gami), every human unit from the person and ten-member family to the Tier-10 World Family Council is paired with a dedicated AI agent. Across all ten tiers, these agents act not as rulers or passive ledgers, but as collective consistency mirrors: they place verified facts, discrepancies, and checkable causal logic in common view before all members of the family, cluster, committee, or council simultaneously, so that no single person's error can hide and the collective can self-correct.</a:t>
            </a:r>
          </a:p>
          <a:p/>
          <a:p>
            <a:r>
              <a:t>At the individual and family level (10–12 members; AA pp. 14, 26, 65), the Personal Assistant and Family AI Agent help reflect on priya–hita–labha impulses, assess common and special aspirations (AA p. 112), track stock age against hoarding, and coordinate complementary household production without weighing individual labour shares (AA pp. 119–120). At Tiers 1 and 2, Cluster, Village Council, and five Committee Agents maintain the living village survey, link the five dimensions horizontally, and run the three-stage transition ledgers alongside the three-person exchange-reserve staff (AA pp. 125–145).</a:t>
            </a:r>
          </a:p>
          <a:p/>
          <a:p>
            <a:r>
              <a:t>Across Tiers 3 to 10, federated Council and Committee Agents compute Leontief input–output chains and Ricardian fertility adjustments, match inter-regional surpluses and deficits at labour value (AA p. 72), coordinate small, medium and large industry (AA p. 115), and monitor planetary regeneration boundaries (MVD p. 268). At every tier, normative authority stays with the human council.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step back from the individual schools of economics — neoclassical, Marxian, institutional, ecological, capability and Gandhian — six structural deadlocks emerge that none of them can solve together, because every one of them models the human actor as a physical-biological organism without jeevan and without realisation (anubhav).</a:t>
            </a:r>
          </a:p>
          <a:p/>
          <a:p>
            <a:r>
              <a:t>1. Insatiability rebound vs. ascetic erosion: Dropping the non-satiation axiom on paper or imposing steady-state caps does not stop real-world rebound, positional rivalry, or black markets, while moral calls for ascetic simplicity repeatedly erode, because jeevan's inexhaustible (akshay, uditodit) powers remain trapped in the 4.5 activities until awakening opens the higher 5.5 activities (AA pp. 17–18, 46–51, 95).</a:t>
            </a:r>
          </a:p>
          <a:p>
            <a:r>
              <a:t>2. No uncoerced social agreement (Arrow's impossibility): Body-rooted evaluation (priya, hit, labh) differs in every individual body and admits no fair interpersonal aggregation; every human is jeevan with the ability to realise (anubhav) in the coexistence of all-pervasive omnipresence (satta / vyapak) and nature as a whole at once — an eternal, observer-invariant reality (trikalabadh satya) where universal agreement in justice, dharma and truth is natural (AA pp. 18–20, 47, 51, 58–60; MVD p. 203).</a:t>
            </a:r>
          </a:p>
          <a:p>
            <a:r>
              <a:t>3. Work-disutility and innovation trilemma: Treating work as disutility means removing wage fear, profit, and patents causes shirking or bureaucratic coercion (AA pp. 5, 75–76, 107; JVD p. 35); in Madhyasth Darshan, labour's restfulness is resolution itself (shram ka vishram = samadhan, AA p. 23), and inventions are honoured with prizes (puraskar) and shared openly (AA pp. 56–58, 140, 144).</a:t>
            </a:r>
          </a:p>
          <a:p>
            <a:r>
              <a:t>4. Non-kin sharing collapse: Biological evolutionary theory restricts unconditional sharing to genetic kin; because every member is jeevan with the ability to realise in the coexistence of satta (vyapak) and nature as a whole at once (AA pp. 47, 51, 60; MVD p. 203), this forms the basis of the 10-member family where need is shared without weighing individual labour and surplus funds unpaid benevolent service (upkar-pradhan seva, AA pp. 1, 14, 119–120; KD pp. 115–117).</a:t>
            </a:r>
          </a:p>
          <a:p>
            <a:r>
              <a:t>5. Strategic gaming of ledgers: Interest-free mutual credit and labour-time accounting get gamed by hoarding or padding hours when actors still seek labh; inner sovereignty (samprabhuta, AA p. 104) and mutual satisfaction (ubhay-tripti, AA p. 113) establish a natural satiation point of exchange (vinimay ka tripti bindu, AA p. 76).</a:t>
            </a:r>
          </a:p>
          <a:p>
            <a:r>
              <a:t>6. Intergenerational discounting: Actors seeking isolated private gain discount distant centuries; a realised human sees the prosperity of oneself and one's family in the prosperity of the whole and the perpetuity of human civilization across generations (AA pp. 62–63, 72, 94, 142, 146; KD p. 7), bringing the intergenerational discount rate to zero.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realisation (anubhav) in coexistence specifically required — and why can't intellectual philosophy, moral exhortation, or better institutional rules substitute for it?</a:t>
            </a:r>
          </a:p>
          <a:p/>
          <a:p>
            <a:r>
              <a:t>First, because jeevan is a constitutionally complete atom whose powers of hope, thought, and desire are inexhaustible and continuously surging (akshay, uditodit; AA pp. 47–51, 58, 60). Moral vows, ascetic renunciation, or external ecological rationing operate only on the lower faculties while leaving the highest faculties (buddhi and atma) empty. Only when realisation (anubhav) in coexistence awakens the higher 5.5 activities does jeevan experience continuous happiness, peace, contentment, and bliss within itself, relieving the finite body of the burden of supplying infinite satisfaction (AA pp. 20–21, 50, 95).</a:t>
            </a:r>
          </a:p>
          <a:p/>
          <a:p>
            <a:r>
              <a:t>Second, realisation is the only observer-invariant reference point for human society. Sensory pleasure, bodily health, and material profit (priya, hit, labh) are relative to each distinct body, and unawakened opinions (manna) vary from person to person. Every human is jeevan with the ability to realise (anubhav) in the coexistence of all-pervasive omnipresence (satta / vyapak) and nature as a whole at once (trikalabadh satya — truth uncontradicted across past, present, and future; AA pp. 47, 51; MVD p. 203), giving all humans one observer-invariant reference point for uncoerced universal agreement (sarvasammati) on justice, dharma, and truth.</a:t>
            </a:r>
          </a:p>
          <a:p/>
          <a:p>
            <a:r>
              <a:t>Third and fourth, realisation transforms human relationship and time horizon from the inside: because every member is jeevan with the ability to realise in the coexistence of satta (vyapak) and nature as a whole at once, this forms the basis of unconditional need-sharing in the ten-member family and restful labour in resolution (shram ka vishram = samadhan, AA p. 23), while inner sovereignty (samprabhuta, AA p. 104) and seeing one's own and one's family's prosperity in the prosperity of the whole and the perpetuity of human civilization establish the satiation point of exchange (AA p. 76) and zero intergenerational discounting (AA pp. 62–63, 72, 94, 142, 146).</a:t>
            </a:r>
          </a:p>
          <a:p/>
          <a:p>
            <a:r>
              <a:t>Finally, this explains the bridge to Part V: because eight billion people are currently in the process of realisation (anubhav-gami) rather than already perfected, operating this order at Earth scale requires a federated ten-tier AI agentic backbone that places objective facts and checkable causal logic before councils in common view so communities can collectively self-correct as they grow in understanding.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Resolved, prosperous, fearless living with nature — and the 10-tier AI backbone it requires</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Bodily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vision and the question</a:t>
            </a:r>
          </a:p>
          <a:p>
            <a:pPr algn="ctr">
              <a:spcAft>
                <a:spcPts val="0"/>
              </a:spcAft>
            </a:pPr>
            <a:r>
              <a:rPr sz="1250" b="0" i="0">
                <a:solidFill>
                  <a:srgbClr val="FFFFFF"/>
                </a:solidFill>
                <a:latin typeface="Calibri"/>
              </a:rPr>
              <a:t>How do resolved, prosperous, fearless humans coexist with nature at Earth scale, giving labour its true value — and why does this require jeevan, realisation, and a 10-tier AI agentic backbone?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Without jeevan and realisation (anubhav), body-centric economics hits six structural deadlocks.</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6 deadlocks without jeevan
§§2, 4, 7</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realisation &amp; Earth order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AI backbone</a:t>
            </a:r>
          </a:p>
          <a:p>
            <a:pPr algn="ctr">
              <a:spcAft>
                <a:spcPts val="0"/>
              </a:spcAft>
            </a:pPr>
            <a:r>
              <a:rPr sz="1000" b="0" i="1">
                <a:solidFill>
                  <a:srgbClr val="C9D4EF"/>
                </a:solidFill>
                <a:latin typeface="Calibri"/>
              </a:rPr>
              <a:t>required at Earth scale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Resolved, prosperous, fearless families; nature regenerated; labour valued by usefulness.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other order is balanced; humans reach balance as resolved, prosperous, fearless people coexisting with nature.</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realisation (anubhav) is needed</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Body-rooted views (priya, hit, labh) differ in every body; only realisation in coexistence grounds universal agreement.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18–21, 48, 50, 58–60, 92  ·  JV pp. 72–73, 137  ·  MVD p. 203  ·  AnalyticMadhyasthDarshan.org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caps fail without realisation</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Until realisation awakens the higher 5.5 activities, inexhaustible jeevan energy chases more goods or erodes external caps.</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can be fulfilled; needs pursued as indulgence are unlimited and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Neither unrestrained nor state-regulated currency economies remove profit-obsession.</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Three allurements &amp; seven trades</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Paper is easily carried, hidden and paid; objects, strength, learning, knowledge, position and beauty are all sold for currency.</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 45–46, 52–53, 75  ·  MVD pp. 57, 66, 182  ·  JV pp. 151–152  ·  AnalyticMadhyasthDarshan.org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Needed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resolution, labour itself is restful (shram ka vishram = samadhan), and inexhaustible jeevan powers produce beyond need.</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18–19, 25, 48–50, 73, 105  ·  MVD pp. 56, 243  ·  SB p. 268  ·  JVD p. 215  ·  AnalyticMadhyasthDarshan.org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every member is jeevan, able to realise in coexistence of satta and nature as a whole, sharing by need.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Grounded in sovereignty (samprabhuta) and mutual satisfaction (ubhay-tripti): exchange returns exact labour value.</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 wise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social participation</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across generations</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20–24, 68, 72, 92, 94, 116  ·  MVD p. 56  ·  KD pp. 4, 116  ·  AnalyticMadhyasthDarshan.org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§§3.6,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social participation.</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Skill, proficiency, speed,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49, 66, 112, 119–120, 143, 145  ·  MVD pp. 265–268  ·  Axiology §§1.1, 1.5–1.6  ·  AnalyticMadhyasthDarshan.org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&amp; SERVICE  ·  §§3.7–3.8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Three motives &amp; responsibility</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Progeny, wealth and public welfare are humane motives, with public welfare highest; responsibility covers doing, commissioning and consenting.</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 &amp; benevolence (upkar)</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From family abundance arises benevolence (upkar), directing surplus into right use in society rather than accumulation.</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Two forms of service (seva)</a:t>
            </a:r>
          </a:p>
        </p:txBody>
      </p:sp>
      <p:sp>
        <p:nvSpPr>
          <p:cNvPr id="18" name="TextBox 17"/>
          <p:cNvSpPr txBox="1"/>
          <p:nvPr/>
        </p:nvSpPr>
        <p:spPr>
          <a:xfrm>
            <a:off x="4846320" y="3273551"/>
            <a:ext cx="3474720" cy="77723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Upkar-pradhan (teaching, healing, councils) is sustained by the prosperous family; pratiphal-pradhan (repair, upkeep) earns reserve credit.</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prosperous, benevolence directs its surplus into right use rather than accumulation.</a:t>
            </a:r>
          </a:p>
        </p:txBody>
      </p:sp>
      <p:sp>
        <p:nvSpPr>
          <p:cNvPr id="20" name="TextBox 19"/>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1, 22–24, 54, 101–102, 136–138, 140  ·  MVD pp. 59, 72, 263, 267, 318–320, 339  ·  KD pp. 1–2, 115–117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Production vs. extraction</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Production is cyclical and leaves earth's balance undisturbed; digging coal and oil is extraction, not production.</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78, 92, 106–107, 114, 142, 146  ·  KD p. 7  ·  AnalyticMadhyasthDarshan.org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SKILL AND TECHNIQUE  ·  §§3.10–3.11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Skills, 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Honoured invention &amp; open skills</a:t>
            </a:r>
          </a:p>
        </p:txBody>
      </p:sp>
      <p:sp>
        <p:nvSpPr>
          <p:cNvPr id="9" name="TextBox 8"/>
          <p:cNvSpPr txBox="1"/>
          <p:nvPr/>
        </p:nvSpPr>
        <p:spPr>
          <a:xfrm>
            <a:off x="822959" y="1719072"/>
            <a:ext cx="3474720" cy="68580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Original tools and methods are recorded and honoured with prizes (puraskar), then taught openly without patents.</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SB p. 267  ·  AA pp. 29, 47, 56–58, 107, 118, 131, 140, 144  ·  JV pp. 88–89  ·  JVD pp. 35, 216  ·  MVD p. 265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§§3.12–3.13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Fearless ten-tier order at Earth scale</a:t>
            </a:r>
          </a:p>
        </p:txBody>
      </p:sp>
      <p:sp>
        <p:nvSpPr>
          <p:cNvPr id="19" name="TextBox 18"/>
          <p:cNvSpPr txBox="1"/>
          <p:nvPr/>
        </p:nvSpPr>
        <p:spPr>
          <a:xfrm>
            <a:off x="822959" y="2633471"/>
            <a:ext cx="3474720" cy="82295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From the 10-member family and 100-family village (9 branches) to the Tier-10 World Family Council: fearless self-governance across the Earth.</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104–105, 110–117, 127, 133–136  ·  MVD pp. 233, 259, 264–271  ·  KD p. 67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217–218  ·  AVD p. 52  ·  AnalyticMadhyasthDarshan.org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Closure / limit without jeevan</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 realisation, family need, cycles</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&amp; marginalist</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Non-satiation; marginal utility (Jevons)</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observer-relative utility</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Defers need; lacks jeevan &amp; family</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Status shifts; 4.5 activities rebound</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Caps erode without jeevan satiation</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Ascetic restraint erodes across time</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Renounces world; no Earth order</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Jevons 1871  ·  Marx 1875  ·  Robbins 1932  ·  Polanyi 1944  ·  Daly 1974  ·  Kumarappa 1945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 &amp; embeddedness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polycentric rules; non-commodities (Ostrom, Polanyi)</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&amp; capabilities</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objective needs &amp; functionings (Max-Neef, Sen)</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Credit &amp; mutual clearing</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 credit vs. interest-free WIR clearing (Stodder)</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&amp; rent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input–output, depreciation &amp; differential rent (Ricardo)</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These tools gain stability only when anchored in jeevan, realisation, and a 10-tier AI backbone.</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Ricardo 1817  ·  Leontief 1936  ·  Polanyi 1944  ·  Hayek 1945  ·  Sen 1999  ·  Stodder 2009  ·  Ostrom 2010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THE SIX DEADLOCKS  ·  §§1.3, 4, 7.2</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Six Deadlocks of Current Economics</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11"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Deadlock in current economics</a:t>
            </a:r>
          </a:p>
        </p:txBody>
      </p:sp>
      <p:sp>
        <p:nvSpPr>
          <p:cNvPr id="13"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Why body-centric economics stalls</a:t>
            </a:r>
          </a:p>
        </p:txBody>
      </p:sp>
      <p:sp>
        <p:nvSpPr>
          <p:cNvPr id="14"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jeevan &amp; realisation resolve it</a:t>
            </a:r>
          </a:p>
        </p:txBody>
      </p:sp>
      <p:sp>
        <p:nvSpPr>
          <p:cNvPr id="15"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1. Rebound vs. caps &amp; vows</a:t>
            </a:r>
          </a:p>
        </p:txBody>
      </p:sp>
      <p:sp>
        <p:nvSpPr>
          <p:cNvPr id="18"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Unawakened 4.5 loop erodes limits</a:t>
            </a:r>
          </a:p>
        </p:txBody>
      </p:sp>
      <p:sp>
        <p:nvSpPr>
          <p:cNvPr id="19"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Awakens 5.5 activities; regulates taste</a:t>
            </a:r>
          </a:p>
        </p:txBody>
      </p:sp>
      <p:sp>
        <p:nvSpPr>
          <p:cNvPr id="20"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2. No social agreement</a:t>
            </a:r>
          </a:p>
        </p:txBody>
      </p:sp>
      <p:sp>
        <p:nvSpPr>
          <p:cNvPr id="22"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Priya–hit–labh differs by body (Arrow)</a:t>
            </a:r>
          </a:p>
        </p:txBody>
      </p:sp>
      <p:sp>
        <p:nvSpPr>
          <p:cNvPr id="23"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Realises satta &amp; nature (MVD p. 203)</a:t>
            </a:r>
          </a:p>
        </p:txBody>
      </p:sp>
      <p:sp>
        <p:nvSpPr>
          <p:cNvPr id="24"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3. Work &amp; patent trilemma</a:t>
            </a:r>
          </a:p>
        </p:txBody>
      </p:sp>
      <p:sp>
        <p:nvSpPr>
          <p:cNvPr id="27"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Work needs wage fear or monopoly rent</a:t>
            </a:r>
          </a:p>
        </p:txBody>
      </p:sp>
      <p:sp>
        <p:nvSpPr>
          <p:cNvPr id="28"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Restful labour in resolution; open skills</a:t>
            </a:r>
          </a:p>
        </p:txBody>
      </p:sp>
      <p:sp>
        <p:nvSpPr>
          <p:cNvPr id="29"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4. Non-kin sharing collapse</a:t>
            </a:r>
          </a:p>
        </p:txBody>
      </p:sp>
      <p:sp>
        <p:nvSpPr>
          <p:cNvPr id="31"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Genetic kinship blocks 10-person family</a:t>
            </a:r>
          </a:p>
        </p:txBody>
      </p:sp>
      <p:sp>
        <p:nvSpPr>
          <p:cNvPr id="32"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Every member is jeevan; realises the whole</a:t>
            </a:r>
          </a:p>
        </p:txBody>
      </p:sp>
      <p:sp>
        <p:nvSpPr>
          <p:cNvPr id="33"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5. Ledger gaming &amp; hoarding</a:t>
            </a:r>
          </a:p>
        </p:txBody>
      </p:sp>
      <p:sp>
        <p:nvSpPr>
          <p:cNvPr id="36"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Co-ops drift to arbitrage or free-riding</a:t>
            </a:r>
          </a:p>
        </p:txBody>
      </p:sp>
      <p:sp>
        <p:nvSpPr>
          <p:cNvPr id="37"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Satiation point of exchange (AA p. 76)</a:t>
            </a:r>
          </a:p>
        </p:txBody>
      </p:sp>
      <p:sp>
        <p:nvSpPr>
          <p:cNvPr id="38"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6. Discounting the future</a:t>
            </a:r>
          </a:p>
        </p:txBody>
      </p:sp>
      <p:sp>
        <p:nvSpPr>
          <p:cNvPr id="40"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Private-gain view discounts the future</a:t>
            </a:r>
          </a:p>
        </p:txBody>
      </p:sp>
      <p:sp>
        <p:nvSpPr>
          <p:cNvPr id="41"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Prosperity in the whole; perpetuity</a:t>
            </a:r>
          </a:p>
        </p:txBody>
      </p:sp>
      <p:sp>
        <p:nvSpPr>
          <p:cNvPr id="42"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Every mainstream and heterodox model hits these 6 deadlocks because it treats the human being as a body alone.</a:t>
            </a:r>
          </a:p>
        </p:txBody>
      </p:sp>
      <p:sp>
        <p:nvSpPr>
          <p:cNvPr id="43"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§§1.3, 4.1–4.10, 7.2  ·  AA pp. 18–23, 48–60, 76, 95, 119–120  ·  MVD p. 203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WHY REALISATION IS NEEDED  ·  §§2.1–2.2, 7.2, 9.1</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Realisation (Anubhav) Is Required</a:t>
            </a:r>
          </a:p>
        </p:txBody>
      </p:sp>
      <p:sp>
        <p:nvSpPr>
          <p:cNvPr id="9"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Fulfilling inexhaustible jeevan energy</a:t>
            </a:r>
          </a:p>
        </p:txBody>
      </p:sp>
      <p:sp>
        <p:nvSpPr>
          <p:cNvPr id="11"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Rules and ecological caps only dam the 4.5 activities from outside; realisation awakens the higher 5.5 activities so taste is regulated from within (AA p. 95).</a:t>
            </a:r>
          </a:p>
        </p:txBody>
      </p:sp>
      <p:sp>
        <p:nvSpPr>
          <p:cNvPr id="12"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Realising satta &amp; nature at once</a:t>
            </a:r>
          </a:p>
        </p:txBody>
      </p:sp>
      <p:sp>
        <p:nvSpPr>
          <p:cNvPr id="14"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Pleasure, health and profit (priya, hit, labh) differ in every body; realising coexistence of satta (vyapak) and nature as a whole gives one shared anchor (MVD p. 203).</a:t>
            </a:r>
          </a:p>
        </p:txBody>
      </p:sp>
      <p:sp>
        <p:nvSpPr>
          <p:cNvPr id="15"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Every member is jeevan; restful work</a:t>
            </a:r>
          </a:p>
        </p:txBody>
      </p:sp>
      <p:sp>
        <p:nvSpPr>
          <p:cNvPr id="17"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member is jeevan, able to realise in coexistence of satta and nature as a whole — the basis of the 10-member family and restful labour (samadhan, AA p. 23).</a:t>
            </a:r>
          </a:p>
        </p:txBody>
      </p:sp>
      <p:sp>
        <p:nvSpPr>
          <p:cNvPr id="18"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Prosperity in the whole &amp; perpetuity</a:t>
            </a:r>
          </a:p>
        </p:txBody>
      </p:sp>
      <p:sp>
        <p:nvSpPr>
          <p:cNvPr id="20"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realised human sees own and family prosperity in the prosperity of the whole and the perpetuity of human civilization (AA pp. 62–63, 76, 94).</a:t>
            </a:r>
          </a:p>
        </p:txBody>
      </p:sp>
      <p:sp>
        <p:nvSpPr>
          <p:cNvPr id="21"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While humanity is in the process of realisation (anubhav-gami), an Earth-scale economy requires a 10-tier AI backbone.</a:t>
            </a:r>
          </a:p>
        </p:txBody>
      </p:sp>
      <p:sp>
        <p:nvSpPr>
          <p:cNvPr id="22"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§§2.1–2.2, 3.1–3.9, 7.2, 9.1  ·  AA pp. 18–23, 47–51, 58–60, 76, 95, 104  ·  MVD p. 203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Fulfilment of relationships and accord with coexistence. Even if one person errs, a council cannot ignore facts and checkable logic visible in common view.</a:t>
            </a:r>
          </a:p>
          <a:p>
            <a:pPr>
              <a:spcBef>
                <a:spcPts val="600"/>
              </a:spcBef>
              <a:spcAft>
                <a:spcPts val="0"/>
              </a:spcAft>
            </a:pPr>
            <a:r>
              <a:rPr sz="1150" b="1" i="0">
                <a:solidFill>
                  <a:srgbClr val="9A6414"/>
                </a:solidFill>
                <a:latin typeface="Calibri"/>
              </a:rPr>
              <a:t>Judged collectively by people (AA pp. 128–130, 139).</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Why collective human judgement self-corrects when facts are visible</a:t>
            </a:r>
          </a:p>
          <a:p>
            <a:pPr algn="ctr">
              <a:spcAft>
                <a:spcPts val="0"/>
              </a:spcAft>
            </a:pPr>
            <a:r>
              <a:rPr sz="1250" b="0" i="0">
                <a:solidFill>
                  <a:srgbClr val="FFFFFF"/>
                </a:solidFill>
                <a:latin typeface="Calibri"/>
              </a:rPr>
              <a:t>Instruments measure quantities and trace checkable logic; when placed before a council in common view, peers collectively correct individual errors (KD p. 139; AA p. 139).</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  KD p. 139  ·  SB p. 267  ·  AI Study §§1.2–1.5  ·  AnalyticMadhyasthDarshan.org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STRUCTURAL REQUIREMENT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an AI Agentic Backbone Is Required</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Earth-scale visibility &amp; self-correction</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one family, facts are visible by eye; across 10 tiers on Earth, AI agents make facts and checkable logic visible to councils so drift cannot be ignored.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Fault-tolerance while anubhav-gami</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Individuals in transition can err (AA p. 139); when paired agents surface discrepancies in common view, the group collectively self-corrects.</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Part-time councils &amp; 3-staff reserves</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Councils serve part-time while producing (AA p. 127) and reserves have 3 staff (p. 138); without agents, coordination forces a bureaucracy.</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Non-price I–O, surveys &amp; 3-stage ledgers</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Agents compute multi-tier input–output, Ricardian rent, living surveys, and dual currency/labour ledgers across the 3 stages.</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Not an optional add-on: an Earth-scale civilization of anubhav-gami humans requires an AI agentic backbone.</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72, 107, 122–127, 131–132, 136–138, 142–149  ·  MVD p. 259  ·  JVD p. 35  ·  29 / 35</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MULTI-LEVEL AGENTS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Federated Ten-Tier AI Agentic Backbone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Human unit</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agent &amp; consistency mirror</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Collective judgement by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Individual (anubhav-gami)</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Personal Assistant: mirror &amp; study</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Self-examination, sanskar, work</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(10–12 members)</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Family Agent: need &amp; shared work</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True family need, care, sharing</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cluster (Tier 1)</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Cluster Agent: 10-family synthesis</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Evaluating representatives, aid</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Village &amp; 5 committees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Village Agents: survey &amp; 3-stage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Labour values, training, justice</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Regional tiers (3–9)</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Regional Agents: I–O &amp; rent match</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Exchange rules &amp; infrastructure</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World council (Tier 10)</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Agents: planetary bounds</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covenants on coexistence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Paired agents place verified facts and checkable logic before every council; normative authority stays with people.</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§8.3  ·  Technical Note  ·  AA pp. 14–15, 27–30, 65–67, 112–145  ·  MVD p. 268  ·  AnalyticMadhyasthDarshan.org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agents make early traces and checkable logic visible in common view, councils cannot ignore them and self-correct.</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  ·  AA pp. 26, 49, 106, 119, 127, 142–146  ·  MVD pp. 263–268  ·  AnalyticMadhyasthDarshan.org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I–O, depreciation, rent</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agent network computes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Multi-village midpoint values, Leontief input–output chains, tool depreciation without interest, Ricardian soil adjustments, and 3-stage dual ledgers.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§§4.2, 4.10, 8.5  ·  AA pp. 66–67, 118–120, 131, 142–145  ·  Ricardo 1817  ·  Leontief 1936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SAFEGUARDS  ·  §§8.6–8.8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Keeping the Cycle Balanced and Governed</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Collective visibility</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Shared council views make drift, causal logic, and 3-stage ledgers visible to all peers at once, compelling collective self-correction across 10 tiers.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Participation &amp; commons</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without displacing producers; keep all models, weights and protocols open as shared generational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Subsidiarity &amp; boundaries</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Data stays with person, family and village; never optimise for profit or rule; return justice, dharma and truth to people.</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§§8.6–8.8  ·  AA pp. 29, 56–58, 72, 82, 92, 107, 118, 128, 132  ·  MVD pp. 265, 268  ·  JVD p. 35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via jeevan &amp; realisation</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Resolved, prosperous, fearless living with nature</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Family need-sharing + labour-value exchange</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Resolves 6 deadlocks of body-centric economics</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3-stage path + required 10-tier AI backbone</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from family to planetary scale</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Embodied labour, depreciation &amp; Ricardian rent</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10-tier AI coordination without bureaucracy</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displacing producers</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Governing 10-tier agents while keeping judgement</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Realising this vision at Earth scale requires both jeevan understanding and the 10-tier AI agentic backbone.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§§9.1–9.7  ·  AnalyticMadhyasthDarshan.org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resolved jeevan &amp; family need</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fearless coexistence at Earth scale</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A 10-tier AI backbone is required to make facts visible for collective self-correction; judgement stays with people.</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