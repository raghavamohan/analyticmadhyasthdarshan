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9" r:id="rId41"/>
    <p:sldId id="290" r:id="rId4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8.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26.xml"/><Relationship Id="rId42"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brings out Madhyasth Darshan's vision of an economy of resolved (samadhan), prosperous (samriddhi), fearless (abhay) individuals coexisting with nature across the ten-tier order at the scale of the Earth and in universal orderliness — and asks how human labour can receive its true value, judged by the usefulness it establishes rather than by scarcity, accumulation and price.</a:t>
            </a:r>
          </a:p>
          <a:p/>
          <a:p>
            <a:r>
              <a:t>The study's principal source is Avartansheel Arthshastra, Shri A. Nagraj's treatise on cyclical economics, read alongside Madhyasth Darshan, Jeevan Vidya, Samadhanatmak Bhautikvad, Karm Darshan, Janvad and Adhyatmvad. It demonstrates why this vision is genuinely new: existing economic theories — mainstream neoclassical and heterodox Marxian, institutional, ecological, capability and Gandhian traditions alike — treat the human being as a single body-centric unit and hit structural deadlocks that cannot be resolved without recognising jeevan (the constitutionally complete conscious atom) and realisation (anubhav) in coexistence.</a:t>
            </a:r>
          </a:p>
          <a:p/>
          <a:p>
            <a:r>
              <a:t>Finally, the deck shows why a strong, federated ten-tier AI agentic backbone is a structural requirement — not an optional convenience — for an Earth-scale civilization whose members are in the process of realisation (anubhav-gami). By making objective facts and checkable causal logic visible in common view to families, committees and councils, paired AI agents ensure that inconsistencies cannot be ignored and enable collective self-correction across all ten tiers while keeping normative judgement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extract more each generation, accumulate wealth that no one can use, and treat a continuing rise in consumption as success. Mainstream economics takes unlimited wants and scarce means as its starting point, while heterodox traditions try to cap extraction or redistribute output while still treating the human being as a purely biological or socially conditioned organism.</a:t>
            </a:r>
          </a:p>
          <a:p/>
          <a:p>
            <a:r>
              <a:t>Madhyasth Darshan shows why neither approach can reach balance without jeevan and realisation (anubhav) in coexistence, and sets out the constructive vision of resolved (samadhan), prosperous (samriddhi), fearless (abhay) individuals coexisting with all four orders of nature from the ten-member family to the ten-tier Earth order — supported at planetary scale by a federated ten-tier AI agentic backbone.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because jeevan, the conscious unit with inexhaustible powers, seeks continuity of happiness; in delusion it reads its own dissatisfaction as a shortage of objects, which is why no economic theory can close the cycle without jeevan and realisation (anubhav). Third, cyclical economics establishes resolved, prosperous, fearless individuals coexisting with nature from the ten-member family to the ten-tier Earth and universal order: need assessed in the family, labour valued by usefulness, exchange free of profit and loss, and production within natural regeneration. Fourth, for an Earth-scale civilization of people still in the process of realisation (anubhav-gami), a federated ten-tier AI agentic backbone is a structural requirement — making objective facts and checkable logic visible to councils so they cannot ignore drift and can collectively self-correct, while keeping justice, dharma and truth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intellectual resolution (samadhan), material prosperity (samriddhi), social fearlessness (abhay), and coexistence (sah-astitva) with all four orders across the Earth and in universal orderliness (MVD p. 105; AA pp. 72, 94, 116).</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 a constitutionally complete sentient atom (gathan-poorna parmanu) whose mass does not change while its powers of knowing, desiring, thinking and selecting are inexhaustible and continuously active (akshay, uditodit; AA pp. 47–51, 58, 60). Every human being carries out all activities in the expectation of happiness, peace, contentment and bliss. Contentment is accepted by every human being and discontent by none (AA pp. 13, 48).</a:t>
            </a:r>
          </a:p>
          <a:p/>
          <a:p>
            <a:r>
              <a:t>Jeevan has ten activities across five faculties: mun (selection, taste), vritti (analysis, deliberation), chitta (visualisation, contemplation), buddhi (resolve, enlightenment), and atma (authenticity, realisation; AA p. 50; JV pp. 72–73). The four jeevan values name harmony between adjacent faculties: happiness between mun and vritti, peace between vritti and chitta, contentment between chitta and buddhi, and bliss between buddhi and atma (AA pp. 20–21, 92; JV p. 137).</a:t>
            </a:r>
          </a:p>
          <a:p/>
          <a:p>
            <a:r>
              <a:t>Deliberation (tulan, in vritti) is the pivot. Deliberation in terms of pleasure, health, and profit (priya, hit, labh) can never reach universal agreement across distinct bodies (JV pp. 72–73; AA pp. 58–60), which is why body-centric economics hits Arrow's impossibility barrier and cannot find an objective anchor for value. Upon realisation (anubhav) in eternal coexistence (trikalabadh satya, AA p. 51; MVD p. 203), justice, dharma, and truth have an observer-invariant reference point where universal agreement is natural (AA pp. 19–20, 58–60).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This explains why neither mainstream nor heterodox economics can close the cycle without jeevan and realisation. Because the powers of jeevan are inexhaustible (AA pp. 17–18, 48), when the higher 5.5 activities remain unawakened, that continuous energy has no outlet except the 4.5 loop of sensory selection, taste, and positional comparison. External ecological rationing or ascetic suppression (sadhana, renunciation; AA pp. 46–47, 61) merely dams an inexhaustible spring without opening its higher channel, inevitably breeding psychological rebound or black markets. Only awakening the higher activities regulates taste from within.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MVD p. 243). Through paravartan–pratyavartan, the five powers of jeevan project into human living through bodily skill and proficiency, and reflect back in mutual evaluation across family and society (AA pp. 18–19, 48–50). In that state, the restfulness of labour is resolution itself (shram ka vishram = samadhan, AA p. 23): productive work is how a resolved jeevan expresses justice and generosity through the body, breaking the classical trilemma that treats work as disutility requiring either wage fear or unequal pay.</a:t>
            </a:r>
          </a:p>
          <a:p/>
          <a:p>
            <a:r>
              <a:t>Labour applied with skill and proficiency to natural abundance produces objects that carry usefulness value and aesthetic value. Wealth (dhan) is only the produced object, not money (AA pp. 25, 105), and the primary capital is human labour power, which is always the person's own (AA p. 73; MVD p. 56). Because the powers of jeevan are inexhaustible, every human being can produce more than immediate necessity — the foundational principle of human prosperity (SB p. 268;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at least ten autonomous people living together with justice, recognising relationships, fulfilling values, and complementary in production (AA pp. 14, 65; JV p. 153). Why can a ten-member household share unconditionally according to need without weighing individual labour or dependency ratios (AA pp. 119–120), when historical communes frayed along biological kinship lines? Because every member is jeevan, which has the ability to realise (anubhav) in the coexistence of all-pervasive omnipresence (satta / vyapak) and nature as a whole at once (AA pp. 47, 51, 60; MVD p. 203), removing bodily narrowing so their bodies serve a shared journey of awakening. In a wise family, two to four members easily produce beyond the whole family's limited necessity (AA p. 26; KD p. 115).</a:t>
            </a:r>
          </a:p>
          <a:p/>
          <a:p>
            <a:r>
              <a:t>Prosperity is the lack of the sentiment of lacking and production in excess of needs, together with right use and security (MVD p. 71; AA p. 113). Prosperity cannot be private: for one family to be prosperous, more than one family must be (AA pp. 62–63).</a:t>
            </a:r>
          </a:p>
          <a:p/>
          <a:p>
            <a:r>
              <a:t>In exchange between families and villages, the treatise identifies a satiation point of exchange (vinimay ka tripti bindu, AA p. 76): grounded in inner sovereignty (samprabhuta, AA p. 104) and mutual satisfaction (ubhay-tripti, AA p. 113), remuneration after exchange is just as much as was produced, with neither profit nor loss in labour and no motive for strategic ledger gaming.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 extending from the Earth to the whole of existence (KD p. 116; AA p. 116).</a:t>
            </a:r>
          </a:p>
          <a:p/>
          <a:p>
            <a:r>
              <a:t>This places economics within the darshan's hierarchy of thirty values across five categories: two object values, nine civic values, nine established values, one human value, and four jeevan values, alongside five obligatory allegiances (AA pp. 20–24, 92; KD p. 4).</a:t>
            </a:r>
          </a:p>
          <a:p/>
          <a:p>
            <a:r>
              <a:t>Because a realised human sees the prosperity of oneself and one's family in the prosperity of the whole and the perpetuity of human civilization across generations (AA pp. 62–63, 72, 94, 142, 146; KD p. 7), intergenerational discounting drops to zero: preserving soil, forests, and generational tools across centuries is part of one's own and one's family's prosperity in the whole.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(where two to four members already produce beyond the household's limited physical needs) achieves resolution and prosperity, the propensity of benevolence (upkar — help and inspiration for awakening and prosperity, MVD p. 72; AA pp. 23–24, 101) naturally arises (KD pp. 115–116). Instead of diverting surplus into limitless accumulation (sangrah), household abundance is channelled into use within the family, right use (sadupyog) in society, and purposeful use in the universal order rather than hoarded (KD pp. 116–117; AA p. 116; MVD p. 150).</a:t>
            </a:r>
          </a:p>
          <a:p/>
          <a:p>
            <a:r>
              <a:t>The texts treat agriculture and industry as the two primary forms of production, with all other vocations complementary to them (MVD p. 267), and distinguish two forms of service (seva, MVD p. 72). First, benevolence-focused service (upkar-pradhan seva) covers household care, child and elder support, teaching under the education-sanskar committee (AA pp. 24, 29, 130–132, 140), medical care and healing by doctors under the health-restraint committee at village and regional medical centres (AA pp. 139–140; JV pp. 166–168), service on the five committees (AA p. 127), and representation in the ten-tier council order (lok-pratinidhi, KD pp. 116–117); because these practitioners belong to a self-reliant ten-member family producing in excess of need, their household's abundance provides all objects needed for their bodily nourishment, protection, and societal motion without salaried employment (KD pp. 115–117; AA pp. 119–120, 137). Second, remuneration-focused service (pratiphal-pradhan seva) covers the village service branch (AA pp. 133, 136) and exchange-reserve staffing (AA p. 138) — repairing bicycles, radios, TVs and machines, washing clothes, barbering, and staffing the exchange-reserve — whose council-fixed remuneration (parishramik as svadhan, AA pp. 136, 140) credits their account in the cooperative exchange-reserve (AA pp. 137–138) so they draw needed objects at labour value. Healing falls on the unpaid side because restoring a person in distress or disease is a direct work of kindness (daya) in human relationship, and selling it for gain turns it into trade (vyapar) and distorts its purpose (AA pp. 22–24, 45–46, 140; JV pp. 166–168). Repair, laundry, barbering, and reserve staffing fall on the paid side because they maintain produced objects and village operations and so extend material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 MVD p. 263).</a:t>
            </a:r>
          </a:p>
          <a:p/>
          <a:p>
            <a:r>
              <a:t>Why does every body-centric economic model struggle with intergenerational discounting, where a positive discount rate makes ecological exhaustion centuries from now look rational to agents seeking isolated gain? In Madhyasth Darshan, a realised human sees the prosperity of oneself and one's family in the prosperity of the whole — both undivided society and nature — and in the perpetuity of human civilization across generations (AA pp. 62–63, 72, 94, 142, 146; KD p. 7).</a:t>
            </a:r>
          </a:p>
          <a:p/>
          <a:p>
            <a:r>
              <a:t>Flowing and falling water, wind, solar heat, biogas from dung and refuse, and vegetable oil from roadside trees provide cyclical, pollution-free energy (AA pp. 31–33, 106–107), and determining a village's land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This institutional architecture scales resolved, prosperous, fearless living to the entire Earth and into universal orderliness. Ten families form a family cluster, ten clusters a hundred-family village with nine branches of work (AA pp. 133–136), and ten tiers reach the World Family Council (vishva parivar sabha). Representatives are selected by consensus with zero election expenditure and serve part-time while continuing production, so governance never creates a non-producing ruling class and every family produces more than its needs, while higher tiers coordinate medium and large industry, planetary regeneration, and inter-nation labour-value exchange free of profit and loss (AA pp. 27–30, 63, 72, 110, 115, 127; MVD pp. 259, 264–271; KD p. 67).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both on the source of insatiable want and on what closes the economic cycle — and comparing them reveals why none of the existing economic theories can resolve the core deadlocks without jeevan and realisation (anubhav).</a:t>
            </a:r>
          </a:p>
          <a:p/>
          <a:p>
            <a:r>
              <a:t>Neoclassical and marginalist theory (Jevons 1871; Robbins 1932) locks in non-satiation and subjective utility, leaving no observer-invariant basis for social agreement (Arrow 1951). Aristotle and Marx saw the limitlessness of money-getting and capital, yet Marx (1875) had to defer need-based sharing to a distant future because without understanding that every person is jeevan, able to realise in the coexistence of satta (vyapak) and nature as a whole at once — the basis of the ten-member family, non-kin sharing and intrinsic work motivation (shram ka vishram = samadhan) have no ontological anchor. Keynes, Veblen and Hirsch diagnosed positional competition, and ecological economists (Daly 1974) call for steady-state throughput caps, yet external caps and sufficiency thresholds face psychological rebound whenever jeevan's inexhaustible powers remain trapped in the 4.5 activities. Gandhian economics (Kumarappa 1945) relies on ascetic moral restraint and Advaita renounces worldly life, whereas Madhyasth Darshan regulates taste through realisation in coexistence, grounding prosperous, fearless living across the Earth.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analytical and institutional tools from modern economics can serve a cyclical economy, yet each hits a structural ceiling unless anchored in jeevan, realisation (anubhav), and the ten-tier AI agentic backbone.</a:t>
            </a:r>
          </a:p>
          <a:p/>
          <a:p>
            <a:r>
              <a:t>First, Hayek (1945) showed that market prices compress dispersed knowledge; removing speculative prices requires federated AI agents across ten tiers to aggregate local surpluses and deficits without bureaucracy. Second, national accounts, input–output tables, and material-flow accounting measure physical throughput, but need the family's definite need assessment to define enough. Third, Ostrom's polycentric commons and Polanyi's non-commodities protect local resources, but require universal agreement in coexistence (MVD p. 203) to scale across ten planetary tiers without elite capture. Fourth, Max-Neef, Doyal &amp; Gough, and Sen define objective needs and adaptive preference, but require jeevan's higher 5.5 activities to prevent hedonic rebound once basic needs are met. Fifth, interest-free mutual-credit clearing (such as the Swiss WIR; Stodder 2009) models the village exchange-reserve, while the satiation point of exchange (AA p. 76) prevents strategic hoarding. Sixth, Leontief input–output matrices and Ricardian differential rent (1817) let committee AI agents separate natural fertility from human effort.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AA pp. 18, 117). Where a relation is governed by law, regulation or balance and can be stated as a quantity, rate, constraint or rule, it can be measured and traced by an instrument. Where a question concerns the fulfilment of a relationship or its accord with coexistence, it belongs to human evaluation (KD p. 139).</a:t>
            </a:r>
          </a:p>
          <a:p/>
          <a:p>
            <a:r>
              <a:t>Crucially, in Avartansheel Arthshastra normative evaluation is never left to an isolated official acting in private: it is carried out collectively in families, ten-family clusters, five village committees, and tiered councils (AA pp. 128–130, 138–140, 146–149). The treatise explicitly notes that even if a mistake or shortcoming occurs from an individual (AA p. 139), the council's collective responsibility protects right use.</a:t>
            </a:r>
          </a:p>
          <a:p/>
          <a:p>
            <a:r>
              <a:t>Why does a group of people still in the process of realisation (anubhav-gami) self-correct when an individual errs? Because priya–hita–labha biases are private to each body and cannot command shared endorsement once objective facts and checkable causal logic are placed in common view before a council of peers who all innately seek contentment and justice (AA pp. 18–20, 48,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federated ten-tier architecture of §8.3, the Family, Committee and Regional AI Agents watch these indicators continuously and present both the factual discrepancy and its checkable causal trace in common view to every member of the responsible family, committee or council.</a:t>
            </a:r>
          </a:p>
          <a:p/>
          <a:p>
            <a:r>
              <a:t>Need is definite: the Family Agent flags use rising faster than assessed need. Labour receives its value: Production and Exchange-Reserve Agents flag producers receiving less than labour value. Exchange follows labour value: regional agents flag drifting ratios or margins. Everyone produces: committee agents flag displaced workers or idle skills and alert the Education-Sanskar Agent to plan training. Goods are used, not hoarded: agents flag ageing stock and idle balances. Nature in proportion: agents flag drawdown or soil degradation.</a:t>
            </a:r>
          </a:p>
          <a:p/>
          <a:p>
            <a:r>
              <a:t>Because these facts and checkable derivations are visible to the whole council at once, no single member's blind spot or mistake can quietly persist: the collective is compelled to deliberate and restore balance.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agentic backbone keeps the cycle in balance, enables collective self-correction, and lowers the barrier to transition. When a new cluster of families or villages begins transitioning inside today's market economy, pre-configured agents immediately connect its exchange-reserve to regional labour-value benchmarks and mutual-credit clearing, while placing verified discrepancies and checkable causal traces before the whole council simultaneously so they cannot be ignored (AA pp. 72, 115, 118, 139,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Five safeguards keep the agentic backbone subordinate to people (§8.8): no optimisation for profit or attention capture; strict data subsidiarity (AA p. 128); inspectable rules that prevent technocratic rulership (AA p. 82); counting AI's own energy and mineral footprint within regenerative limits; and shared council visibility with cross-agent auditability so no single representative or single agent can hide an inconsistency from the group.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institutional, ecological, capability and Gandhian economics and Advaita.</a:t>
            </a:r>
          </a:p>
          <a:p/>
          <a:p>
            <a:r>
              <a:t>Its strengths: it sets out the complete vision of resolved, prosperous, fearless humans coexisting with nature across the Earth; explains insatiability through the joint form of jeevan and body; resolves the six structural deadlocks that body-centric economics cannot solve without jeevan and realisation (rebound against caps, Arrow's impossibility of social agreement, the work-disutility trilemma, non-kin family sharing, strategic ledger gaming, and intergenerational discounting); pairs family need-sharing with inter-family labour-value exchange; and specifies the three-stage transition path together with the required ten-tier AI agentic backbone.</a:t>
            </a:r>
          </a:p>
          <a:p/>
          <a:p>
            <a:r>
              <a:t>Its open problems: how family need assessments aggregate at planetary scale; how common labour values compute multi-stage inputs, capital depreciation without interest, and Ricardian differential fertility across regions; how the federated ten-tier AI agentic backbone replaces price and interest signals without creating a technocratic bottleneck; how automation reduces drudgery without displacing producers; and how communities govern Personal, Family and Committee AI Agents so that shared visibility strengthens human deliberation without ceding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fail to reach balance because body-centric economic theories ask finite material goods to satisfy the continuous qualitative need of jeevan. Without recognising jeevan and realisation (anubhav) in coexistence, neither market growth nor external caps nor ascetic restraint can close the cycle.</a:t>
            </a:r>
          </a:p>
          <a:p/>
          <a:p>
            <a:r>
              <a:t>Madhyasth Darshan answers with the vision of resolved (samadhan), prosperous (samriddhi), fearless (abhay) individuals coexisting with all four orders of nature from the ten-member family and hundred-family village to the ten-tier World Family Council across the Earth and in universal orderliness: definite need assessed in the family, restful labour valued by the usefulness it establishes, exchange free of profit and loss, and production within natural regeneration.</a:t>
            </a:r>
          </a:p>
          <a:p/>
          <a:p>
            <a:r>
              <a:t>To establish and sustain this order at the scale of the Earth while citizens are in the process of realisation (anubhav-gami), a strong, federated ten-tier AI agentic backbone is a structural requirement. Paired with every person, family, committee and council, AI agents make objective facts, early discrepancies, and checkable causal logic simultaneously visible in common view — ensuring that councils cannot ignore inconsistencies and can collectively self-correct even when an individual errs, while keeping the judgements of justice, dharma and truth in human hands.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When this vision is examined at the scale of the whole Earth — rather than a single small family or isolated hamlet — and under the realistic condition that citizens are in the process of realisation (anubhav-gami), a strong, federated ten-tier AI agentic backbone emerges as a structural requirement rather than an optional convenience, for four interconnected reasons.</a:t>
            </a:r>
          </a:p>
          <a:p/>
          <a:p>
            <a:r>
              <a:t>First, planetary-scale visibility for collective self-correction: in a single household, stock, effort and soil are visible to the naked eye; across ten tiers of villages, bioregions and continents, no council can see distant ecological drawdown or exchange drift without active agents that continuously cross-check flows and place checkable causal traces in common view so councils cannot ignore them. Second, fault-tolerant collective correction while individuals are anubhav-gami: even when an individual errs or slips into priya–hita–labha bias (AA p. 139), simultaneous visibility of facts and checkable logic before the whole committee or council enables the group to correct the error cleanly. Third, part-time governance: representatives continue physical production (AA p. 127; MVD p. 259) and the village exchange-reserve has only three staff (AA p. 138); manual databases would force a full-time managerial bureaucracy (JVD p. 35). Fourth, non-price input–output calculation, Ricardian soil adjustment, natural-language village surveys, and dual currency/labour ledgers across Stages 1–3 (AA pp. 122–125, 142–143) require active agentic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operate at the scale of the Earth while citizens are in the process of realisation (anubhav-gami), every human unit from the person and ten-member family to the Tier-10 World Family Council is paired with a dedicated AI agent. Across all ten tiers, these agents act not as rulers or passive ledgers, but as collective consistency mirrors: they place verified facts, discrepancies, and checkable causal logic in common view before all members of the family, cluster, committee, or council simultaneously, so that no single person's error can hide and the collective can self-correct.</a:t>
            </a:r>
          </a:p>
          <a:p/>
          <a:p>
            <a:r>
              <a:t>At the individual and family level (10–12 members; AA pp. 14, 26, 65), the Personal Assistant and Family AI Agent help reflect on priya–hita–labha impulses, assess common and special aspirations (AA p. 112), track stock age against hoarding, and coordinate complementary household production without weighing individual labour shares (AA pp. 119–120). At Tiers 1 and 2, Cluster, Village Council, and five Committee Agents maintain the living village survey, link the five dimensions horizontally, and run the three-stage transition ledgers alongside the three-person exchange-reserve staff (AA pp. 125–145).</a:t>
            </a:r>
          </a:p>
          <a:p/>
          <a:p>
            <a:r>
              <a:t>Across Tiers 3 to 10, federated Council and Committee Agents compute Leontief input–output chains and Ricardian fertility adjustments, match inter-regional surpluses and deficits at labour value (AA p. 72), coordinate small, medium and large industry (AA p. 115), and monitor planetary regeneration boundaries (MVD p. 268). At every tier, normative authority stays with the human council.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step back from the individual schools of economics — neoclassical, Marxian, institutional, ecological, capability and Gandhian — six structural deadlocks emerge that none of them can solve together, because every one of them models the human actor as a physical-biological organism without jeevan and without realisation (anubhav).</a:t>
            </a:r>
          </a:p>
          <a:p/>
          <a:p>
            <a:r>
              <a:t>1. Insatiability rebound vs. ascetic erosion: Dropping the non-satiation axiom on paper or imposing steady-state caps does not stop real-world rebound, positional rivalry, or black markets, while moral calls for ascetic simplicity repeatedly erode, because jeevan's inexhaustible (akshay, uditodit) powers remain trapped in the 4.5 activities until awakening opens the higher 5.5 activities (AA pp. 17–18, 46–51, 95).</a:t>
            </a:r>
          </a:p>
          <a:p>
            <a:r>
              <a:t>2. No uncoerced social agreement (Arrow's impossibility): Body-rooted evaluation (priya, hit, labh) differs in every individual body and admits no fair interpersonal aggregation; every human is jeevan with the ability to realise (anubhav) in the coexistence of all-pervasive omnipresence (satta / vyapak) and nature as a whole at once — an eternal, observer-invariant reality (trikalabadh satya) where universal agreement in justice, dharma and truth is natural (AA pp. 18–20, 47, 51, 58–60; MVD p. 203).</a:t>
            </a:r>
          </a:p>
          <a:p>
            <a:r>
              <a:t>3. Work-disutility and innovation trilemma: Treating work as disutility means removing wage fear, profit, and patents causes shirking or bureaucratic coercion (AA pp. 5, 75–76, 107; JVD p. 35); in Madhyasth Darshan, labour's restfulness is resolution itself (shram ka vishram = samadhan, AA p. 23), and inventions are honoured with prizes (puraskar) and shared openly (AA pp. 56–58, 140, 144).</a:t>
            </a:r>
          </a:p>
          <a:p>
            <a:r>
              <a:t>4. Non-kin sharing collapse: Biological evolutionary theory restricts unconditional sharing to genetic kin; because every member is jeevan with the ability to realise in the coexistence of satta (vyapak) and nature as a whole at once (AA pp. 47, 51, 60; MVD p. 203), this forms the basis of the 10-member family where need is shared without weighing individual labour and surplus funds unpaid benevolent service (upkar-pradhan seva, AA pp. 1, 14, 119–120; KD pp. 115–117).</a:t>
            </a:r>
          </a:p>
          <a:p>
            <a:r>
              <a:t>5. Strategic gaming of ledgers: Interest-free mutual credit and labour-time accounting get gamed by hoarding or padding hours when actors still seek labh; inner sovereignty (samprabhuta, AA p. 104) and mutual satisfaction (ubhay-tripti, AA p. 113) establish a natural satiation point of exchange (vinimay ka tripti bindu, AA p. 76).</a:t>
            </a:r>
          </a:p>
          <a:p>
            <a:r>
              <a:t>6. Intergenerational discounting: Actors seeking isolated private gain discount distant centuries; a realised human sees the prosperity of oneself and one's family in the prosperity of the whole and the perpetuity of human civilization across generations (AA pp. 62–63, 72, 94, 142, 146; KD p. 7), bringing the intergenerational discount rate to zero.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realisation (anubhav) in coexistence specifically required — and why can't intellectual philosophy, moral exhortation, or better institutional rules substitute for it?</a:t>
            </a:r>
          </a:p>
          <a:p/>
          <a:p>
            <a:r>
              <a:t>First, because jeevan is a constitutionally complete atom whose powers of hope, thought, and desire are inexhaustible and continuously surging (akshay, uditodit; AA pp. 47–51, 58, 60). Moral vows, ascetic renunciation, or external ecological rationing operate only on the lower faculties while leaving the highest faculties (buddhi and atma) empty. Only when realisation (anubhav) in coexistence awakens the higher 5.5 activities does jeevan experience continuous happiness, peace, contentment, and bliss within itself, relieving the finite body of the burden of supplying infinite satisfaction (AA pp. 20–21, 50, 95).</a:t>
            </a:r>
          </a:p>
          <a:p/>
          <a:p>
            <a:r>
              <a:t>Second, realisation is the only observer-invariant reference point for human society. Sensory pleasure, bodily health, and material profit (priya, hit, labh) are relative to each distinct body, and unawakened opinions (manna) vary from person to person. Every human is jeevan with the ability to realise (anubhav) in the coexistence of all-pervasive omnipresence (satta / vyapak) and nature as a whole at once (trikalabadh satya — truth uncontradicted across past, present, and future; AA pp. 47, 51; MVD p. 203), giving all humans one observer-invariant reference point for uncoerced universal agreement (sarvasammati) on justice, dharma, and truth.</a:t>
            </a:r>
          </a:p>
          <a:p/>
          <a:p>
            <a:r>
              <a:t>Third and fourth, realisation transforms human relationship and time horizon from the inside: because every member is jeevan with the ability to realise in the coexistence of satta (vyapak) and nature as a whole at once, this forms the basis of unconditional need-sharing in the ten-member family and restful labour in resolution (shram ka vishram = samadhan, AA p. 23), while inner sovereignty (samprabhuta, AA p. 104) and seeing one's own and one's family's prosperity in the prosperity of the whole and the perpetuity of human civilization establish the satiation point of exchange (AA p. 76) and zero intergenerational discounting (AA pp. 62–63, 72, 94, 142, 146).</a:t>
            </a:r>
          </a:p>
          <a:p/>
          <a:p>
            <a:r>
              <a:t>Finally, this explains the bridge to Part V: because eight billion people are currently in the process of realisation (anubhav-gami) rather than already perfected, operating this order at Earth scale requires a federated ten-tier AI agentic backbone that places objective facts and checkable causal logic before councils in common view so communities can collectively self-correct as they grow in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Resolved, prosperous, fearless living with nature — and the 10-tier AI backbone it requires</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Bodily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vision and the question</a:t>
            </a:r>
          </a:p>
          <a:p>
            <a:pPr algn="ctr">
              <a:spcAft>
                <a:spcPts val="0"/>
              </a:spcAft>
            </a:pPr>
            <a:r>
              <a:rPr sz="1250" b="0" i="0">
                <a:solidFill>
                  <a:srgbClr val="FFFFFF"/>
                </a:solidFill>
                <a:latin typeface="Calibri"/>
              </a:rPr>
              <a:t>How do resolved, prosperous, fearless humans coexist with nature at Earth scale, giving labour its true value — and why does this require jeevan, realisation, and a 10-tier AI agentic backbone?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Without jeevan and realisation (anubhav), body-centric economics hits six structural deadlocks.</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6 deadlocks without jeevan
§§2, 4, 7</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realisation &amp; Earth order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backbone</a:t>
            </a:r>
          </a:p>
          <a:p>
            <a:pPr algn="ctr">
              <a:spcAft>
                <a:spcPts val="0"/>
              </a:spcAft>
            </a:pPr>
            <a:r>
              <a:rPr sz="1000" b="0" i="1">
                <a:solidFill>
                  <a:srgbClr val="C9D4EF"/>
                </a:solidFill>
                <a:latin typeface="Calibri"/>
              </a:rPr>
              <a:t>required at Earth scale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Resolved, prosperous, fearless families; nature regenerated; labour valued by usefulness.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other order is balanced; humans reach balance as resolved, prosperous, fearless people coexisting with nature.</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realisation (anubhav) is needed</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views (priya, hit, labh) differ in every body; only realisation in coexistence grounds universal agreement.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caps fail without realisation</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Until realisation awakens the higher 5.5 activities, inexhaustible jeevan energy chases more goods or erodes external caps.</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can be fulfilled; needs pursued as indulgence are unlimited and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Needed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resolution, labour itself is restful (shram ka vishram = samadhan), and inexhaustible jeevan powers produce beyond need.</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every member is jeevan, able to realise in coexistence of satta and nature as a whole, sharing by need.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Grounded in sovereignty (samprabhuta) and mutual satisfaction (ubhay-tripti): exchange returns exact labour value.</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across generations</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&amp; SERVICE  ·  §§3.7–3.8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councils)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§§3.10–3.11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§§3.12–3.13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Fearless ten-tier order at Earth scale</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From the 10-member family and 100-family village (9 branches) to the Tier-10 World Family Council: fearless self-governance across the Earth.</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Closure / limit without jeevan</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 realisation, family need, cycles</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observer-relative utility</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Defers need; lacks jeevan &amp; family</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Status shifts; 4.5 activities rebound</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Caps erode without jeevan satiation</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Ascetic restraint erodes across time</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Renounces world; no Earth order</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These tools gain stability only when anchored in jeevan, realisation, and a 10-tier AI backbone.</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THE SIX DEADLOCKS  ·  §§1.3, 4, 7.2</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Six Deadlocks of Current Economics</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11"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Deadlock in current economics</a:t>
            </a:r>
          </a:p>
        </p:txBody>
      </p:sp>
      <p:sp>
        <p:nvSpPr>
          <p:cNvPr id="13"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Why body-centric economics stalls</a:t>
            </a:r>
          </a:p>
        </p:txBody>
      </p:sp>
      <p:sp>
        <p:nvSpPr>
          <p:cNvPr id="14"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jeevan &amp; realisation resolve it</a:t>
            </a:r>
          </a:p>
        </p:txBody>
      </p:sp>
      <p:sp>
        <p:nvSpPr>
          <p:cNvPr id="15"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1. Rebound vs. caps &amp; vows</a:t>
            </a:r>
          </a:p>
        </p:txBody>
      </p:sp>
      <p:sp>
        <p:nvSpPr>
          <p:cNvPr id="18"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Unawakened 4.5 loop erodes limits</a:t>
            </a:r>
          </a:p>
        </p:txBody>
      </p:sp>
      <p:sp>
        <p:nvSpPr>
          <p:cNvPr id="19"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Awakens 5.5 activities; regulates taste</a:t>
            </a:r>
          </a:p>
        </p:txBody>
      </p:sp>
      <p:sp>
        <p:nvSpPr>
          <p:cNvPr id="20"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2. No social agreement</a:t>
            </a:r>
          </a:p>
        </p:txBody>
      </p:sp>
      <p:sp>
        <p:nvSpPr>
          <p:cNvPr id="22"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Priya–hit–labh differs by body (Arrow)</a:t>
            </a:r>
          </a:p>
        </p:txBody>
      </p:sp>
      <p:sp>
        <p:nvSpPr>
          <p:cNvPr id="23"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Realises satta &amp; nature (MVD p. 203)</a:t>
            </a:r>
          </a:p>
        </p:txBody>
      </p:sp>
      <p:sp>
        <p:nvSpPr>
          <p:cNvPr id="24"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3. Work &amp; patent trilemma</a:t>
            </a:r>
          </a:p>
        </p:txBody>
      </p:sp>
      <p:sp>
        <p:nvSpPr>
          <p:cNvPr id="27"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Work needs wage fear or monopoly rent</a:t>
            </a:r>
          </a:p>
        </p:txBody>
      </p:sp>
      <p:sp>
        <p:nvSpPr>
          <p:cNvPr id="28"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Restful labour in resolution; open skills</a:t>
            </a:r>
          </a:p>
        </p:txBody>
      </p:sp>
      <p:sp>
        <p:nvSpPr>
          <p:cNvPr id="29"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4. Non-kin sharing collapse</a:t>
            </a:r>
          </a:p>
        </p:txBody>
      </p:sp>
      <p:sp>
        <p:nvSpPr>
          <p:cNvPr id="31"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Genetic kinship blocks 10-person family</a:t>
            </a:r>
          </a:p>
        </p:txBody>
      </p:sp>
      <p:sp>
        <p:nvSpPr>
          <p:cNvPr id="32"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Every member is jeevan; realises the whole</a:t>
            </a:r>
          </a:p>
        </p:txBody>
      </p:sp>
      <p:sp>
        <p:nvSpPr>
          <p:cNvPr id="33"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5. Ledger gaming &amp; hoarding</a:t>
            </a:r>
          </a:p>
        </p:txBody>
      </p:sp>
      <p:sp>
        <p:nvSpPr>
          <p:cNvPr id="36"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Co-ops drift to arbitrage or free-riding</a:t>
            </a:r>
          </a:p>
        </p:txBody>
      </p:sp>
      <p:sp>
        <p:nvSpPr>
          <p:cNvPr id="37"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Satiation point of exchange (AA p. 76)</a:t>
            </a:r>
          </a:p>
        </p:txBody>
      </p:sp>
      <p:sp>
        <p:nvSpPr>
          <p:cNvPr id="38"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6. Discounting the future</a:t>
            </a:r>
          </a:p>
        </p:txBody>
      </p:sp>
      <p:sp>
        <p:nvSpPr>
          <p:cNvPr id="40"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Private-gain view discounts the future</a:t>
            </a:r>
          </a:p>
        </p:txBody>
      </p:sp>
      <p:sp>
        <p:nvSpPr>
          <p:cNvPr id="41"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Prosperity in the whole; perpetuity</a:t>
            </a:r>
          </a:p>
        </p:txBody>
      </p:sp>
      <p:sp>
        <p:nvSpPr>
          <p:cNvPr id="42"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mainstream and heterodox model hits these 6 deadlocks because it treats the human being as a body alone.</a:t>
            </a:r>
          </a:p>
        </p:txBody>
      </p:sp>
      <p:sp>
        <p:nvSpPr>
          <p:cNvPr id="43"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§§1.3, 4.1–4.10, 7.2  ·  AA pp. 18–23, 48–60, 76, 95, 119–120  ·  MVD p. 203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WHY REALISATION IS NEEDED  ·  §§2.1–2.2, 7.2, 9.1</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Realisation (Anubhav) Is Required</a:t>
            </a:r>
          </a:p>
        </p:txBody>
      </p:sp>
      <p:sp>
        <p:nvSpPr>
          <p:cNvPr id="9"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Fulfilling inexhaustible jeevan energy</a:t>
            </a:r>
          </a:p>
        </p:txBody>
      </p:sp>
      <p:sp>
        <p:nvSpPr>
          <p:cNvPr id="11"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Rules and ecological caps only dam the 4.5 activities from outside; realisation awakens the higher 5.5 activities so taste is regulated from within (AA p. 95).</a:t>
            </a:r>
          </a:p>
        </p:txBody>
      </p:sp>
      <p:sp>
        <p:nvSpPr>
          <p:cNvPr id="12"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Realising satta &amp; nature at once</a:t>
            </a:r>
          </a:p>
        </p:txBody>
      </p:sp>
      <p:sp>
        <p:nvSpPr>
          <p:cNvPr id="14"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Pleasure, health and profit (priya, hit, labh) differ in every body; realising coexistence of satta (vyapak) and nature as a whole gives one shared anchor (MVD p. 203).</a:t>
            </a:r>
          </a:p>
        </p:txBody>
      </p:sp>
      <p:sp>
        <p:nvSpPr>
          <p:cNvPr id="15"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Every member is jeevan; restful work</a:t>
            </a:r>
          </a:p>
        </p:txBody>
      </p:sp>
      <p:sp>
        <p:nvSpPr>
          <p:cNvPr id="17"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member is jeevan, able to realise in coexistence of satta and nature as a whole — the basis of the 10-member family and restful labour (samadhan, AA p. 23).</a:t>
            </a:r>
          </a:p>
        </p:txBody>
      </p:sp>
      <p:sp>
        <p:nvSpPr>
          <p:cNvPr id="18"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Prosperity in the whole &amp; perpetuity</a:t>
            </a:r>
          </a:p>
        </p:txBody>
      </p:sp>
      <p:sp>
        <p:nvSpPr>
          <p:cNvPr id="20"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realised human sees own and family prosperity in the prosperity of the whole and the perpetuity of human civilization (AA pp. 62–63, 76, 94).</a:t>
            </a:r>
          </a:p>
        </p:txBody>
      </p:sp>
      <p:sp>
        <p:nvSpPr>
          <p:cNvPr id="21"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While humanity is in the process of realisation (anubhav-gami), an Earth-scale economy requires a 10-tier AI backbone.</a:t>
            </a:r>
          </a:p>
        </p:txBody>
      </p:sp>
      <p:sp>
        <p:nvSpPr>
          <p:cNvPr id="22"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§§2.1–2.2, 3.1–3.9, 7.2, 9.1  ·  AA pp. 18–23, 47–51, 58–60, 76, 95, 104  ·  MVD p. 203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Fulfilment of relationships and accord with coexistence. Even if one person errs, a council cannot ignore facts and checkable logic visible in common view.</a:t>
            </a:r>
          </a:p>
          <a:p>
            <a:pPr>
              <a:spcBef>
                <a:spcPts val="600"/>
              </a:spcBef>
              <a:spcAft>
                <a:spcPts val="0"/>
              </a:spcAft>
            </a:pPr>
            <a:r>
              <a:rPr sz="1150" b="1" i="0">
                <a:solidFill>
                  <a:srgbClr val="9A6414"/>
                </a:solidFill>
                <a:latin typeface="Calibri"/>
              </a:rPr>
              <a:t>Judged collectively by people (AA pp. 128–130, 139).</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Why collective human judgement self-corrects when facts are visible</a:t>
            </a:r>
          </a:p>
          <a:p>
            <a:pPr algn="ctr">
              <a:spcAft>
                <a:spcPts val="0"/>
              </a:spcAft>
            </a:pPr>
            <a:r>
              <a:rPr sz="1250" b="0" i="0">
                <a:solidFill>
                  <a:srgbClr val="FFFFFF"/>
                </a:solidFill>
                <a:latin typeface="Calibri"/>
              </a:rPr>
              <a:t>Instruments measure quantities and trace checkable logic; when placed before a council in common view, peers collectively correct individual errors (KD p. 139; AA p. 139).</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STRUCTURAL REQUIREMENT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an AI Agentic Backbone Is Required</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Earth-scale visibility &amp; self-correction</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one family, facts are visible by eye; across 10 tiers on Earth, AI agents make facts and checkable logic visible to councils so drift cannot be ignored.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Fault-tolerance while anubhav-gami</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Individuals in transition can err (AA p. 139); when paired agents surface discrepancies in common view, the group collectively self-corrects.</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Part-time councils &amp; 3-staff reserves</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reserves have 3 staff (p. 138); without agents, coordination forces a bureaucracy.</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Non-price I–O, surveys &amp; 3-stage ledgers</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Agents compute multi-tier input–output, Ricardian rent, living surveys, and dual currency/labour ledgers across the 3 stages.</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Not an optional add-on: an Earth-scale civilization of anubhav-gami humans requires an AI agentic backbone.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29 / 35</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Federated Ten-Tier AI Agentic Backbone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agent &amp; consistency mirror</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Collective judgement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shared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Paired agents place verified facts and checkable logic before every council; normative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agents make early traces and checkable logic visible in common view, councils cannot ignore them and self-correct.</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Collective visibility</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Shared council views make drift, causal logic, and 3-stage ledgers visible to all peers at once, compelling collective self-correction across 10 tiers.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via jeevan &amp; realisation</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Resolved, prosperous, fearless living with nature</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Family need-sharing +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Resolves 6 deadlocks of body-centric economics</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3-stage path + required 10-tier AI backbone</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from family to planetary scale</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AI coordination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displacing producers</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10-tier agents while keeping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Realising this vision at Earth scale requires both jeevan understanding and the 10-tier AI agentic backbone.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resolved jeevan &amp; family need</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fearless coexistence at Earth scale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A 10-tier AI backbone is required to make facts visible for collective self-correction; judgement stays with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