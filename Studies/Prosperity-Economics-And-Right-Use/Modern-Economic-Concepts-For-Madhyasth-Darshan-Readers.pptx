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9" r:id="rId41"/>
    <p:sldId id="290" r:id="rId42"/>
    <p:sldId id="291" r:id="rId43"/>
    <p:sldId id="292" r:id="rId44"/>
    <p:sldId id="293" r:id="rId45"/>
    <p:sldId id="294" r:id="rId46"/>
    <p:sldId id="295" r:id="rId47"/>
    <p:sldId id="296" r:id="rId4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41" Type="http://schemas.openxmlformats.org/officeDocument/2006/relationships/slide" Target="slides/slide2.xml"/><Relationship Id="rId42" Type="http://schemas.openxmlformats.org/officeDocument/2006/relationships/slide" Target="slides/slide3.xml"/><Relationship Id="rId43" Type="http://schemas.openxmlformats.org/officeDocument/2006/relationships/slide" Target="slides/slide4.xml"/><Relationship Id="rId44" Type="http://schemas.openxmlformats.org/officeDocument/2006/relationships/slide" Target="slides/slide5.xml"/><Relationship Id="rId45" Type="http://schemas.openxmlformats.org/officeDocument/2006/relationships/slide" Target="slides/slide6.xml"/><Relationship Id="rId46" Type="http://schemas.openxmlformats.org/officeDocument/2006/relationships/slide" Target="slides/slide7.xml"/><Relationship Id="rId47" Type="http://schemas.openxmlformats.org/officeDocument/2006/relationships/slide" Target="slides/slide8.xml"/><Relationship Id="rId4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 nine-part reference deck accompanies the comparative sections (§§4–8 and §9.6) of Prosperity Economics and Right Use.</a:t>
            </a:r>
          </a:p>
          <a:p/>
          <a:p>
            <a:r>
              <a:t>It is designed to be brought up during discussion or Q&amp;A whenever a reader or listener coming from a Madhyasth Darshan background asks what a modern economic term in the comparative tables means, and why we included it in the study.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nine-part reference deck accompanies the comparative sections (§§4–7 and §9.6) of Prosperity Economics and Right Use.</a:t>
            </a:r>
          </a:p>
          <a:p/>
          <a:p>
            <a:r>
              <a:t>For an audience coming from a Madhyasth Darshan background, technical terms from modern economics — such as marginal utility, non-satiation, positional goods, throughput, fictitious commodities, polycentric commons, adaptive preference, endogenous credit, mutual clearing, input–output matrices, and differential rent — can look unfamiliar.</a:t>
            </a:r>
          </a:p>
          <a:p/>
          <a:p>
            <a:r>
              <a:t>Part I (I.1 to I.3) explains the traditions compared under 'Where Insatiability Comes From', and Part II (II.1 to II.4) explains the six tools under 'What Economics Can Teach'. Each view gives just enough explanation to make the comparison with Madhyasth Darshan clear.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second row names Neoclassical and marginalist economics, with the terms non-satiation, scarcity, and marginal utility.</a:t>
            </a:r>
          </a:p>
          <a:p/>
          <a:p>
            <a:r>
              <a:t>Non-satiation is the standard textbook assumption that human desires have no ceiling: more is always preferred to less. Scarcity follows directly from that assumption: if wants are infinite, even an abundant earth is always treated as insufficient (Robbins 1932). Marginal utility (introduced in 1871 by Jevons, Menger, and Walras) says that the value of grain, cloth, or gold is not the human labour embodied in it or its objective usefulness for the body, but the extra subjective satisfaction one additional unit gives to a consumer who has money to spend.</a:t>
            </a:r>
          </a:p>
          <a:p/>
          <a:p>
            <a:r>
              <a:t>In relation to Madhyasth Darshan: what neoclassical economics treats as a permanent law of human nature (non-satiation) is actually the symptom of deluded jeevan operating in 4.5 activities, where selection and taste run without regulation by contemplation, enlightenment, and realisation (AA pp. 17–18, 95). And pricing by subjective marginal utility severs exchange from objective usefulness value (upyogita mulya) and the value of labour (shram mulya; AA pp. 49, 66).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third row groups Aristotle and Marx on the pursuit of money as such.</a:t>
            </a:r>
          </a:p>
          <a:p/>
          <a:p>
            <a:r>
              <a:t>Aristotle pointed out that real household goods — grain, clothes, tools — have a natural limit set by use, whereas money-making for its own sake has no limit because currency never spoils. Marx formalised this as two circuits: simple exchange (selling a product for money in order to buy another needed product) versus the circuit of capital (investing money to buy labour and materials solely to end up with more money). In his Critique of the Gotha Programme (1875), Marx also argued that a post-capitalist society would first have to pay individuals by labour-time certificates, and could only reach distribution according to need in a distant future stage.</a:t>
            </a:r>
          </a:p>
          <a:p/>
          <a:p>
            <a:r>
              <a:t>In relation to Madhyasth Darshan: the treatise likewise shows that real objects cannot be hoarded without spoiling (JV p. 152; MVD p. 183) whereas symbolic currency has no satiation point (AA pp. 5–7, 45). However, Madhyasth Darshan rejects class conflict as the motor of change, and instead of postponing need-based sharing to a distant era, it practices both principles at the same time in different units: sharing according to need inside the family without weighing individual labour, and exchanging at equal labour value between families and villages (AA pp. 1, 119–120).</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fourth and fifth rows refer to relative and positional wants (Keynes, Veblen, Hirsch) and to steady throughput and material loops in ecological economics (Georgescu-Roegen, Boulding, Daly).</a:t>
            </a:r>
          </a:p>
          <a:p/>
          <a:p>
            <a:r>
              <a:t>Positional goods are things desired not for bodily nourishment or protection, but to display social rank — what Veblen called conspicuous consumption. As Hirsch noted, if everyone in a crowd stands on tiptoe to see better, no one sees better, yet everyone's feet hurt. Throughput is the ecological economists' term for the total physical stream of minerals, timber, water, and fossil energy pulled out of the earth and returned as heat and waste. A steady-state economy caps that throughput, and a circular economy recycles materials.</a:t>
            </a:r>
          </a:p>
          <a:p/>
          <a:p>
            <a:r>
              <a:t>In relation to Madhyasth Darshan: positional consumption is what happens when a deluded person tries to obtain the established value of respect (samman) through symbolic wealth and sensory display (AA p. 45). And while Madhyasth Darshan fully agrees with keeping extraction within natural regeneration and using cyclical energy (AA pp. 30–33, 142), it shows that material recycling alone cannot hold unless human need itself becomes definite through understanding in the family (§7.2).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first and third lessons refer to Hayek on price knowledge, Polanyi on embeddedness and non-commodities, and Ostrom on polycentric commons.</a:t>
            </a:r>
          </a:p>
          <a:p/>
          <a:p>
            <a:r>
              <a:t>Friedrich Hayek (1945) pointed out a real coordination problem: knowledge of local soil, weather, equipment, and skills is scattered across millions of households. In a market, rising and falling prices transmit that information automatically, even though prices are distorted by unequal wealth and profiteering. Karl Polanyi (1944) showed that land, human labour, and money were never created to be sold on a market; turning them into commodities disembeds the economy from social relationships. Elinor Ostrom (2010) showed empirically that communities manage shared forests, fisheries, and irrigation best not through privatisation or top-down state control, but through nested, multi-tier local governance.</a:t>
            </a:r>
          </a:p>
          <a:p/>
          <a:p>
            <a:r>
              <a:t>In relation to Madhyasth Darshan: Ostrom's findings directly support the treatise's ten-tier village-to-world council architecture (AA pp. 27–30, 125–127), and Polanyi's critique matches the darshan's refusal to treat nature, labour, or currency as commodities. Hayek's question explains why passive databases are not enough: when market price speculation is removed, federated AI agents paired with each tier's committees help aggregate local surpluses and deficits so part-time human councils can coordinate without a central bureaucracy (§§8.2–8.3).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fourth lesson refers to objective needs, functionings, capabilities, and adaptive preference (Max-Neef, Doyal and Gough, and Amartya Sen).</a:t>
            </a:r>
          </a:p>
          <a:p/>
          <a:p>
            <a:r>
              <a:t>Mainstream market economics refuses to distinguish between a need and a whim: both are just 'preferences' backed by money. By contrast, Manfred Max-Neef and Len Doyal &amp; Ian Gough show that fundamental human needs are finite, objective, and non-substitutable (extra entertainment cannot replace nutrition or health). Amartya Sen's capability approach evaluates an economy by what people are actually able to do and be (their functionings and capabilities). Sen also highlights adaptive preference: people conditioned by chronic poverty often understate their own needs, while people conditioned by consumerism overstate them.</a:t>
            </a:r>
          </a:p>
          <a:p/>
          <a:p>
            <a:r>
              <a:t>In relation to Madhyasth Darshan: this provides modern analytical tools for the treatise's distinction between common aspirations (food, shelter, adornment, health, education) and special aspirations (transport, telecommunications, broadcasting; AA p. 112), and shows how the Family AI Agent and village committees can help families assess true need free from both indulgence and deprivation (§§8.3–8.4).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fifth lesson contrasts bank credit creation with interest-free WIR mutual-credit clearing.</a:t>
            </a:r>
          </a:p>
          <a:p/>
          <a:p>
            <a:r>
              <a:t>How is modern money actually created? As the Bank of England's 2014 report explains, commercial banks do not wait for savers to deposit coins before making loans; when a bank grants a loan, it types new purchasing power into the borrower's account alongside an interest-bearing debt. Because the principal is created but the interest is not, borrowers as a whole must continually expand sales and extraction just to service debt. By contrast, a mutual-credit clearing system — like Switzerland's WIR network studied by Stodder (2009) — is an interest-free cooperative ledger: when a producer contributes goods to the pool, their account is credited, and when they draw goods, it is debited, with no interest and no speculative hoarding.</a:t>
            </a:r>
          </a:p>
          <a:p/>
          <a:p>
            <a:r>
              <a:t>In relation to Madhyasth Darshan: this directly illuminates the institutional mechanics of the village exchange-reserve (vinimay kosh, AA pp. 136–138, 142–143), which maintains family and inter-village accounts of goods given and received without interest, profit, or loss.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sixth lesson (and §§8.2, 8.5 in the AI section) refers to Leontief's input–output analysis, tool depreciation, and Ricardo's differential rent.</a:t>
            </a:r>
          </a:p>
          <a:p/>
          <a:p>
            <a:r>
              <a:t>Wassily Leontief's input–output method solves a practical problem in labour-value accounting: almost every product uses other products as inputs (cloth uses cotton yarn, loom wear, and transport). An input–output matrix adds up the direct labour of the weaver plus the indirect labour embodied in the yarn and the seasonal wear-and-tear (depreciation) of the loom. David Ricardo (1817) identified a second problem: two villages may apply the exact same human labour, skill, and care, yet one harvests twice as much grain per acre because its river soil is richer or its iron ore is closer to the surface. That difference is a gift of nature (differential rent), not extra human labour.</a:t>
            </a:r>
          </a:p>
          <a:p/>
          <a:p>
            <a:r>
              <a:t>In relation to Madhyasth Darshan: the treatise states that objects are valued by the usefulness established by human labour on natural abundance (AA pp. 49, 66, 119–120). Using input–output and differential-rent calculations inside the Production and Exchange-Reserve AI Agents lets councils separate natural endowment from human effort, so every producer and village is honoured fairly for its actual labour (§8.5).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640080" y="1051560"/>
            <a:ext cx="5852160" cy="274320"/>
          </a:xfrm>
          <a:prstGeom prst="rect">
            <a:avLst/>
          </a:prstGeom>
          <a:noFill/>
        </p:spPr>
        <p:txBody>
          <a:bodyPr wrap="square" lIns="0" rIns="0" tIns="0" bIns="0" anchor="ctr">
            <a:noAutofit/>
          </a:bodyPr>
          <a:lstStyle/>
          <a:p>
            <a:pPr>
              <a:spcAft>
                <a:spcPts val="0"/>
              </a:spcAft>
            </a:pPr>
            <a:r>
              <a:rPr sz="1200" b="1" i="0">
                <a:solidFill>
                  <a:srgbClr val="C9821E"/>
                </a:solidFill>
                <a:latin typeface="Calibri"/>
              </a:rPr>
              <a:t>MADHYASTH DARSHAN  ·  REFERENCE COMPANION</a:t>
            </a:r>
          </a:p>
        </p:txBody>
      </p:sp>
      <p:sp>
        <p:nvSpPr>
          <p:cNvPr id="12" name="TextBox 11"/>
          <p:cNvSpPr txBox="1"/>
          <p:nvPr/>
        </p:nvSpPr>
        <p:spPr>
          <a:xfrm>
            <a:off x="640080" y="1417320"/>
            <a:ext cx="5852160" cy="1051560"/>
          </a:xfrm>
          <a:prstGeom prst="rect">
            <a:avLst/>
          </a:prstGeom>
          <a:noFill/>
        </p:spPr>
        <p:txBody>
          <a:bodyPr wrap="square" lIns="0" rIns="0" tIns="0" bIns="0" anchor="ctr">
            <a:noAutofit/>
          </a:bodyPr>
          <a:lstStyle/>
          <a:p>
            <a:pPr>
              <a:spcAft>
                <a:spcPts val="0"/>
              </a:spcAft>
            </a:pPr>
            <a:r>
              <a:rPr sz="3200" b="1" i="0">
                <a:solidFill>
                  <a:srgbClr val="FFFFFF"/>
                </a:solidFill>
                <a:latin typeface="Cambria"/>
              </a:rPr>
              <a:t>Modern Economic Concepts</a:t>
            </a:r>
          </a:p>
          <a:p>
            <a:pPr>
              <a:spcAft>
                <a:spcPts val="0"/>
              </a:spcAft>
            </a:pPr>
            <a:r>
              <a:rPr sz="3200" b="1" i="0">
                <a:solidFill>
                  <a:srgbClr val="FFFFFF"/>
                </a:solidFill>
                <a:latin typeface="Cambria"/>
              </a:rPr>
              <a:t>in Plain Terms</a:t>
            </a:r>
          </a:p>
        </p:txBody>
      </p:sp>
      <p:sp>
        <p:nvSpPr>
          <p:cNvPr id="13" name="TextBox 12"/>
          <p:cNvSpPr txBox="1"/>
          <p:nvPr/>
        </p:nvSpPr>
        <p:spPr>
          <a:xfrm>
            <a:off x="640080" y="2697480"/>
            <a:ext cx="4663440" cy="822960"/>
          </a:xfrm>
          <a:prstGeom prst="rect">
            <a:avLst/>
          </a:prstGeom>
          <a:noFill/>
        </p:spPr>
        <p:txBody>
          <a:bodyPr wrap="square" lIns="0" rIns="0" tIns="0" bIns="0" anchor="ctr">
            <a:noAutofit/>
          </a:bodyPr>
          <a:lstStyle/>
          <a:p>
            <a:pPr>
              <a:spcAft>
                <a:spcPts val="0"/>
              </a:spcAft>
            </a:pPr>
            <a:r>
              <a:rPr sz="1600" b="0" i="1">
                <a:solidFill>
                  <a:srgbClr val="C9D4EF"/>
                </a:solidFill>
                <a:latin typeface="Calibri"/>
              </a:rPr>
              <a:t>A brief reference guide to the modern economic terms in §§4–8, showing the exact point each concept makes in relation to Madhyasth Darshan</a:t>
            </a:r>
          </a:p>
        </p:txBody>
      </p:sp>
      <p:sp>
        <p:nvSpPr>
          <p:cNvPr id="14" name="TextBox 13"/>
          <p:cNvSpPr txBox="1"/>
          <p:nvPr/>
        </p:nvSpPr>
        <p:spPr>
          <a:xfrm>
            <a:off x="640080" y="4160520"/>
            <a:ext cx="4754880" cy="274320"/>
          </a:xfrm>
          <a:prstGeom prst="rect">
            <a:avLst/>
          </a:prstGeom>
          <a:noFill/>
        </p:spPr>
        <p:txBody>
          <a:bodyPr wrap="square" lIns="0" rIns="0" tIns="0" bIns="0" anchor="ctr">
            <a:noAutofit/>
          </a:bodyPr>
          <a:lstStyle/>
          <a:p>
            <a:pPr>
              <a:spcAft>
                <a:spcPts val="0"/>
              </a:spcAft>
            </a:pPr>
            <a:r>
              <a:rPr sz="1250" b="0" i="0">
                <a:solidFill>
                  <a:srgbClr val="8E9BC4"/>
                </a:solidFill>
                <a:latin typeface="Calibri"/>
              </a:rPr>
              <a:t>Companion to Prosperity Economics and Right Use (§§4–8)</a:t>
            </a:r>
          </a:p>
        </p:txBody>
      </p:sp>
      <p:sp>
        <p:nvSpPr>
          <p:cNvPr id="15" name="TextBox 14"/>
          <p:cNvSpPr txBox="1"/>
          <p:nvPr/>
        </p:nvSpPr>
        <p:spPr>
          <a:xfrm>
            <a:off x="640080" y="4434840"/>
            <a:ext cx="4754880" cy="274320"/>
          </a:xfrm>
          <a:prstGeom prst="rect">
            <a:avLst/>
          </a:prstGeom>
          <a:noFill/>
        </p:spPr>
        <p:txBody>
          <a:bodyPr wrap="square" lIns="0" rIns="0" tIns="0" bIns="0" anchor="ctr">
            <a:noAutofit/>
          </a:bodyPr>
          <a:lstStyle/>
          <a:p>
            <a:pPr>
              <a:spcAft>
                <a:spcPts val="0"/>
              </a:spcAft>
            </a:pPr>
            <a:r>
              <a:rPr sz="1150" b="0" i="0">
                <a:solidFill>
                  <a:srgbClr val="8E9BC4"/>
                </a:solidFill>
                <a:latin typeface="Calibri"/>
              </a:rPr>
              <a:t>For Q&amp;A and discussion  ·  1 /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QUICK REFERENCE  ·  STUDY §§4–8</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Guide to the Modern Economic Terms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Part I — Where Insatiability Comes From</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I.1: Non-satiation, scarcity &amp; marginal utility</a:t>
            </a:r>
          </a:p>
          <a:p>
            <a:pPr>
              <a:spcBef>
                <a:spcPts val="600"/>
              </a:spcBef>
              <a:spcAft>
                <a:spcPts val="0"/>
              </a:spcAft>
            </a:pPr>
            <a:r>
              <a:rPr sz="1100" b="0" i="0">
                <a:solidFill>
                  <a:srgbClr val="5A6377"/>
                </a:solidFill>
                <a:latin typeface="Calibri"/>
              </a:rPr>
              <a:t>› I.2: Money-getting, capital &amp; two-stage sharing</a:t>
            </a:r>
          </a:p>
          <a:p>
            <a:r>
              <a:rPr sz="1100" b="0" i="0">
                <a:solidFill>
                  <a:srgbClr val="5A6377"/>
                </a:solidFill>
                <a:latin typeface="Calibri"/>
              </a:rPr>
              <a:t>› I.3: Positional goods, throughput &amp; circular loops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Part II — What Economics Can Teach</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II.1: Price signals, non-commodities &amp; commons</a:t>
            </a:r>
          </a:p>
          <a:p>
            <a:pPr>
              <a:spcBef>
                <a:spcPts val="600"/>
              </a:spcBef>
              <a:spcAft>
                <a:spcPts val="0"/>
              </a:spcAft>
            </a:pPr>
            <a:r>
              <a:rPr sz="1100" b="0" i="0">
                <a:solidFill>
                  <a:srgbClr val="5A6377"/>
                </a:solidFill>
                <a:latin typeface="Calibri"/>
              </a:rPr>
              <a:t>› II.2: Objective needs, capabilities &amp; adaptation</a:t>
            </a:r>
          </a:p>
          <a:p>
            <a:r>
              <a:rPr sz="1100" b="0" i="0">
                <a:solidFill>
                  <a:srgbClr val="5A6377"/>
                </a:solidFill>
                <a:latin typeface="Calibri"/>
              </a:rPr>
              <a:t>› II.3: Bank credit creation vs. WIR clearing</a:t>
            </a:r>
          </a:p>
          <a:p>
            <a:r>
              <a:rPr sz="1100" b="0" i="0">
                <a:solidFill>
                  <a:srgbClr val="5A6377"/>
                </a:solidFill>
                <a:latin typeface="Calibri"/>
              </a:rPr>
              <a:t>› II.4: Input–output tables &amp; differential rent</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How to use this brief companion deck</a:t>
            </a:r>
          </a:p>
          <a:p>
            <a:pPr algn="ctr">
              <a:spcAft>
                <a:spcPts val="0"/>
              </a:spcAft>
            </a:pPr>
            <a:r>
              <a:rPr sz="1150" b="0" i="0">
                <a:solidFill>
                  <a:srgbClr val="FFFFFF"/>
                </a:solidFill>
                <a:latin typeface="Calibri"/>
              </a:rPr>
              <a:t>Each card explains two related modern economic terms in plain words and states the exact point they establish in relation to Madhyasth Darshan.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Companion to Prosperity Economics and Right Use (§§4–8)  ·  AnalyticMadhyasthDarshan.org  ·  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I.1  ·  NEOCLASSICAL &amp; MARGINALIST  ·  §§4.4–4.5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Non-Satiation, Scarcity &amp; Marginal Utility</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Non-satiation &amp; scarcity (Robbins 1932)</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Modern textbooks define economics as allocating scarce resources among unlimited human wants.</a:t>
            </a:r>
          </a:p>
          <a:p>
            <a:pPr>
              <a:spcBef>
                <a:spcPts val="600"/>
              </a:spcBef>
              <a:spcAft>
                <a:spcPts val="0"/>
              </a:spcAft>
            </a:pPr>
            <a:r>
              <a:rPr sz="1100" b="0" i="0">
                <a:solidFill>
                  <a:srgbClr val="5A6377"/>
                </a:solidFill>
                <a:latin typeface="Calibri"/>
              </a:rPr>
              <a:t>Non-satiation assumes that for any person, having more goods or money is always preferred to having less, with no natural stopping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Marginal utility (Jevons, Menger, Walras)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Instead of valuing an object by the labour that produced it, market theory prices it by marginal utility: how much extra subjective satisfaction one more unit gives a buyer.</a:t>
            </a:r>
          </a:p>
          <a:p>
            <a:pPr>
              <a:spcBef>
                <a:spcPts val="600"/>
              </a:spcBef>
              <a:spcAft>
                <a:spcPts val="0"/>
              </a:spcAft>
            </a:pPr>
            <a:r>
              <a:rPr sz="1100" b="0" i="0">
                <a:solidFill>
                  <a:srgbClr val="5A6377"/>
                </a:solidFill>
                <a:latin typeface="Calibri"/>
              </a:rPr>
              <a:t>Value becomes whatever price buyers with money are willing to pay.</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Mainstream economics mistakes unguided selection and taste (mun/vritti in delusion) for human nature, and replaces objective usefulness and labour value with subjective price.</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I.1  ·  Study §§2.1–2.3, 3.6, 4.4–4.5  ·  Jevons 1871  ·  Robbins 1932  ·  AA pp. 17–18, 49, 66  ·  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I.2  ·  ARISTOTLE &amp; MARX  ·  §§4.1, 4.3, 7.2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Money-Getting, Capital &amp; Need-Sharing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Household use vs. money-getting</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Aristotle separated household management (acquiring food, cloth and tools for use, which has a natural limit) from money-getting (trading to multiply currency).</a:t>
            </a:r>
          </a:p>
          <a:p>
            <a:pPr>
              <a:spcBef>
                <a:spcPts val="600"/>
              </a:spcBef>
              <a:spcAft>
                <a:spcPts val="0"/>
              </a:spcAft>
            </a:pPr>
            <a:r>
              <a:rPr sz="1100" b="0" i="0">
                <a:solidFill>
                  <a:srgbClr val="5A6377"/>
                </a:solidFill>
                <a:latin typeface="Calibri"/>
              </a:rPr>
              <a:t>Because money never rots or fills the stomach, chasing money has no satiation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Capital circuit &amp; two stages (Marx)</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Marx contrasted producer exchange (Commodity → Money → Commodity, for use) with capital (Money → Commodity → More Money, M–C–M').</a:t>
            </a:r>
          </a:p>
          <a:p>
            <a:pPr>
              <a:spcBef>
                <a:spcPts val="600"/>
              </a:spcBef>
              <a:spcAft>
                <a:spcPts val="0"/>
              </a:spcAft>
            </a:pPr>
            <a:r>
              <a:rPr sz="1100" b="0" i="0">
                <a:solidFill>
                  <a:srgbClr val="5A6377"/>
                </a:solidFill>
                <a:latin typeface="Calibri"/>
              </a:rPr>
              <a:t>After capitalism, he proposed two stages: first paying workers in labour-time certificates, and only in a distant future sharing by need.</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The darshan agrees that symbolic money removes natural limits and labour creates value, but pairs family need-sharing and inter-family labour exchange simultaneously without class war.</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I.2  ·  Study §§2.4, 3.6, 4.1, 4.3, 7.2  ·  Aristotle Politics I  ·  Marx 1867, 1875  ·  AA pp. 1, 5–7, 119–120  ·  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I.3  ·  POST-GROWTH &amp; ECOLOGICAL  ·  §§4.5–4.7</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Positional Goods, Throughput &amp; Loops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Relative &amp; positional goods (Veblen)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Keynes, Veblen and Hirsch separated bodily needs (food, shelter) from positional goods — things wanted for status, rank or superiority over neighbours.</a:t>
            </a:r>
          </a:p>
          <a:p>
            <a:pPr>
              <a:spcBef>
                <a:spcPts val="600"/>
              </a:spcBef>
              <a:spcAft>
                <a:spcPts val="0"/>
              </a:spcAft>
            </a:pPr>
            <a:r>
              <a:rPr sz="1100" b="0" i="0">
                <a:solidFill>
                  <a:srgbClr val="5A6377"/>
                </a:solidFill>
                <a:latin typeface="Calibri"/>
              </a:rPr>
              <a:t>Because one person's higher status lowers another's, positional competition is a zero-sum race that never reaches enough.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Throughput &amp; circular loops (Daly)</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Throughput is the physical flow of matter and energy extracted from nature, turned into goods, and dumped back as waste.</a:t>
            </a:r>
          </a:p>
          <a:p>
            <a:pPr>
              <a:spcBef>
                <a:spcPts val="600"/>
              </a:spcBef>
              <a:spcAft>
                <a:spcPts val="0"/>
              </a:spcAft>
            </a:pPr>
            <a:r>
              <a:rPr sz="1100" b="0" i="0">
                <a:solidFill>
                  <a:srgbClr val="5A6377"/>
                </a:solidFill>
                <a:latin typeface="Calibri"/>
              </a:rPr>
              <a:t>Ecological economics calls for a steady-state cap on extraction and circular recycling of materials within planetary boundaries.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Positional goods arise when jeevan seeks respect through possessions; recycling closes the material loop, but only definite need in the family closes the human side of the cycle.</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I.3  ·  Study §§2.3, 3.8, 4.5, 4.7, 7.2  ·  Veblen 1899  ·  Keynes 1930  ·  Daly 1974  ·  AA pp. 30–33, 114, 142  ·  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II.1  ·  COORDINATION &amp; COMMONS  ·  §§4.7, 4.9, 8.2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Prices, Non-Commodities &amp; Commons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Dispersed knowledge in prices (Hayek)</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No single central office can know every village's weather, crop yield, tool wear, or local skill.</a:t>
            </a:r>
          </a:p>
          <a:p>
            <a:pPr>
              <a:spcBef>
                <a:spcPts val="600"/>
              </a:spcBef>
              <a:spcAft>
                <a:spcPts val="0"/>
              </a:spcAft>
            </a:pPr>
            <a:r>
              <a:rPr sz="1100" b="0" i="0">
                <a:solidFill>
                  <a:srgbClr val="5A6377"/>
                </a:solidFill>
                <a:latin typeface="Calibri"/>
              </a:rPr>
              <a:t>Hayek argued that market prices compress all that scattered local knowledge into a single number that tells producers what is scarce — though distorted by profit and wealth.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Fictitious commodities &amp; commons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Polanyi showed that land (nature), human labour, and money are fictitious commodities: treating them as market goods destroys society and nature.</a:t>
            </a:r>
          </a:p>
          <a:p>
            <a:pPr>
              <a:spcBef>
                <a:spcPts val="600"/>
              </a:spcBef>
              <a:spcAft>
                <a:spcPts val="0"/>
              </a:spcAft>
            </a:pPr>
            <a:r>
              <a:rPr sz="1100" b="0" i="0">
                <a:solidFill>
                  <a:srgbClr val="5A6377"/>
                </a:solidFill>
                <a:latin typeface="Calibri"/>
              </a:rPr>
              <a:t>Ostrom proved that local communities govern shared forests and water sustainably using nested, multi-tier rules.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Because cyclical economics removes market price speculation and keeps land, labour and money out of the market, federated AI agents help part-time councils coordinate across 10 tiers.</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II.1  ·  Study §§3.11, 4.7, 4.9, 8.2–8.3  ·  Polanyi 1944  ·  Hayek 1945  ·  Ostrom 2010  ·  AA pp. 72, 125–138  ·  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II.2  ·  NEEDS &amp; CAPABILITIES  ·  §§3.4, 4.6, 8.4</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Objective Needs &amp; Adaptive Preference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Objective needs &amp; capabilities (Sen)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Against market theory (which treats a billionaire's luxury whim and a child's need for milk as equal 'preferences'), Max-Neef, Doyal &amp; Gough, and Sen define objective human needs and capabilities — what people actually need to be nourished, healthy, educated and active.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Adaptive preference (Sen 1999)</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Subjective desires can be distorted in two opposite ways: luxury advertising inflates artificial wants, while long deprivation makes poor families lower their expectations and accept undernourishment or lack of schooling as normal.</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Supports the treatise's definite assessment of common and special aspirations in the family (AA p. 112), guided by education-sanskar so need is neither inflated by luxury nor shrunk by deprivation.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II.2  ·  Study §§3.4, 4.6, 8.3–8.4, 9.6  ·  Max-Neef 1991  ·  Doyal &amp; Gough 1991  ·  Sen 1999  ·  AA pp. 26, 112  ·  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II.3  ·  MONEY &amp; CLEARING  ·  §§2.4, 3.13, 4.8</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Bank Credit vs. Mutual-Credit Clearing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Bank money created as debt (BoE 2014)</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today's economy, most money is not printed by the government or backed by gold.</a:t>
            </a:r>
          </a:p>
          <a:p>
            <a:pPr>
              <a:spcBef>
                <a:spcPts val="600"/>
              </a:spcBef>
              <a:spcAft>
                <a:spcPts val="0"/>
              </a:spcAft>
            </a:pPr>
            <a:r>
              <a:rPr sz="1100" b="0" i="0">
                <a:solidFill>
                  <a:srgbClr val="5A6377"/>
                </a:solidFill>
                <a:latin typeface="Calibri"/>
              </a:rPr>
              <a:t>As the Bank of England explains, whenever a commercial bank makes a loan, it creates new digital money on its ledger together with an interest-bearing debt.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Mutual-credit clearing (Swiss WIR)</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a mutual-credit clearing network (such as the Swiss WIR cooperative, operating since 1934), producers trade goods using interest-free ledger credits.</a:t>
            </a:r>
          </a:p>
          <a:p>
            <a:pPr>
              <a:spcBef>
                <a:spcPts val="600"/>
              </a:spcBef>
              <a:spcAft>
                <a:spcPts val="0"/>
              </a:spcAft>
            </a:pPr>
            <a:r>
              <a:rPr sz="1100" b="0" i="0">
                <a:solidFill>
                  <a:srgbClr val="5A6377"/>
                </a:solidFill>
                <a:latin typeface="Calibri"/>
              </a:rPr>
              <a:t>Delivering grain credits your account; taking cloth debits it; across the community the ledger sums to zero.</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Shows practically how the village exchange-reserve (vinimay kosh, AA pp. 136–138, 142–143) can clear production by book accounts without interest, hoarding, or bank debt.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II.3  ·  Study §§2.4, 3.13, 4.8, 8.3–8.4  ·  Stodder 2009  ·  Bank of England 2014  ·  AA pp. 136–138, 142–143  ·  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II.4  ·  LABOUR &amp; RENT ACCOUNTING  ·  §§4.2, 4.10, 8.5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Input–Output &amp; Differential Rent</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Input–output &amp; depreciation (Leontief)</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 loaf of bread requires not only the baker's hours, but also the farmer's grain, the miller's flour, and a small fraction of the oven and plough worn down each season (depreciation).</a:t>
            </a:r>
          </a:p>
          <a:p>
            <a:pPr>
              <a:spcBef>
                <a:spcPts val="600"/>
              </a:spcBef>
              <a:spcAft>
                <a:spcPts val="0"/>
              </a:spcAft>
            </a:pPr>
            <a:r>
              <a:rPr sz="1100" b="0" i="0">
                <a:solidFill>
                  <a:srgbClr val="5A6377"/>
                </a:solidFill>
                <a:latin typeface="Calibri"/>
              </a:rPr>
              <a:t>An input–output table calculates the total direct and indirect labour across every stage.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Differential rent (Ricardo 1817)</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Ten days of equal farming skill and effort may yield 20 quintals of wheat on fertile river-valley soil, but only 10 quintals on stony upland soil.</a:t>
            </a:r>
          </a:p>
          <a:p>
            <a:pPr>
              <a:spcBef>
                <a:spcPts val="600"/>
              </a:spcBef>
              <a:spcAft>
                <a:spcPts val="0"/>
              </a:spcAft>
            </a:pPr>
            <a:r>
              <a:rPr sz="1100" b="0" i="0">
                <a:solidFill>
                  <a:srgbClr val="5A6377"/>
                </a:solidFill>
                <a:latin typeface="Calibri"/>
              </a:rPr>
              <a:t>Ricardo called the extra 10 quintals differential rent: it comes from nature's fertility, not extra human work.</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To exchange fairly at the value of labour (shram mulya, AA pp. 66, 119–120), committee AI agents use input–output accounting and separate natural abundance from human effort.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II.4  ·  Study §§3.6, 4.2, 4.10, 8.2, 8.5  ·  Ricardo 1817  ·  Leontief 1936  ·  Cockshott &amp; Cottrell 1993  ·  AA pp. 66, 118–120  ·  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