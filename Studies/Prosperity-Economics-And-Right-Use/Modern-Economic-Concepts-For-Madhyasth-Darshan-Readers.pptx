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89" r:id="rId41"/>
    <p:sldId id="290" r:id="rId42"/>
    <p:sldId id="291" r:id="rId43"/>
    <p:sldId id="292" r:id="rId44"/>
    <p:sldId id="293" r:id="rId45"/>
    <p:sldId id="294" r:id="rId46"/>
    <p:sldId id="295" r:id="rId47"/>
    <p:sldId id="296" r:id="rId4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41" Type="http://schemas.openxmlformats.org/officeDocument/2006/relationships/slide" Target="slides/slide2.xml"/><Relationship Id="rId42" Type="http://schemas.openxmlformats.org/officeDocument/2006/relationships/slide" Target="slides/slide3.xml"/><Relationship Id="rId43" Type="http://schemas.openxmlformats.org/officeDocument/2006/relationships/slide" Target="slides/slide4.xml"/><Relationship Id="rId44" Type="http://schemas.openxmlformats.org/officeDocument/2006/relationships/slide" Target="slides/slide5.xml"/><Relationship Id="rId45" Type="http://schemas.openxmlformats.org/officeDocument/2006/relationships/slide" Target="slides/slide6.xml"/><Relationship Id="rId46" Type="http://schemas.openxmlformats.org/officeDocument/2006/relationships/slide" Target="slides/slide7.xml"/><Relationship Id="rId47" Type="http://schemas.openxmlformats.org/officeDocument/2006/relationships/slide" Target="slides/slide8.xml"/><Relationship Id="rId4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brief nine-part reference deck accompanies the comparative sections (§§4–8 and §9.6) of Prosperity Economics and Right Use.</a:t>
            </a:r>
          </a:p>
          <a:p/>
          <a:p>
            <a:r>
              <a:t>It is designed to be brought up during discussion or Q&amp;A whenever a reader or listener coming from a Madhyasth Darshan background asks what a modern economic term in the comparative tables means, and why we included it in the study.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nine-part reference deck accompanies the comparative sections (§§4–7 and §9.6) of Prosperity Economics and Right Use.</a:t>
            </a:r>
          </a:p>
          <a:p/>
          <a:p>
            <a:r>
              <a:t>For an audience coming from a Madhyasth Darshan background, technical terms from modern economics — such as marginal utility, non-satiation, positional goods, throughput, fictitious commodities, polycentric commons, adaptive preference, endogenous credit, mutual clearing, input–output matrices, and differential rent — can look unfamiliar.</a:t>
            </a:r>
          </a:p>
          <a:p/>
          <a:p>
            <a:r>
              <a:t>Part I (I.1 to I.3) explains the traditions compared under 'Where Insatiability Comes From', and Part II (II.1 to II.4) explains the six tools under 'What Economics Can Teach'. Each view gives just enough explanation to make the comparison with Madhyasth Darshan clear.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comparison table ('Where Insatiability Comes From'), the second row names Neoclassical and marginalist economics, with the terms non-satiation, scarcity, and marginal utility.</a:t>
            </a:r>
          </a:p>
          <a:p/>
          <a:p>
            <a:r>
              <a:t>Non-satiation is the standard textbook assumption that human desires have no ceiling: more is always preferred to less. Scarcity follows directly from that assumption: if wants are infinite, even an abundant earth is always treated as insufficient (Robbins 1932). Marginal utility (introduced in 1871 by Jevons, Menger, and Walras) says that the value of grain, cloth, or gold is not the human labour embodied in it or its objective usefulness for the body, but the extra subjective satisfaction one additional unit gives to a consumer who has money to spend.</a:t>
            </a:r>
          </a:p>
          <a:p/>
          <a:p>
            <a:r>
              <a:t>In relation to Madhyasth Darshan: what neoclassical economics treats as a permanent law of human nature (non-satiation) is actually the symptom of deluded jeevan operating in 4.5 activities, where selection and taste run without regulation by contemplation, enlightenment, and realisation (AA pp. 17–18, 95). Because body-rooted preferences (priya–hita–labha) differ in every body, subjective utility hits Arrow's impossibility barrier and can never reach universal social agreement without realisation (anubhav) in coexistence (AA pp. 19–20, 58–60; MVD p. 203).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comparison table ('Where Insatiability Comes From'), the third row groups Aristotle and Marx on the pursuit of money as such.</a:t>
            </a:r>
          </a:p>
          <a:p/>
          <a:p>
            <a:r>
              <a:t>Aristotle pointed out that real household goods — grain, clothes, tools — have a natural limit set by use, whereas money-making for its own sake has no limit because currency never spoils. Marx formalised this as two circuits: simple exchange (C → M → C, for use) versus the circuit of capital (M → C → M'). In his Critique of the Gotha Programme (1875), he argued that a post-capitalist society would first have to pay individuals by labour-time certificates and could only reach distribution according to need in a distant future stage.</a:t>
            </a:r>
          </a:p>
          <a:p/>
          <a:p>
            <a:r>
              <a:t>In relation to Madhyasth Darshan: without jeevan and realisation, post-capitalist models hit both the non-kin sharing barrier and the work-disutility trilemma. By recognising every member as an identical jeevan in a ten-member family and discovering that the restfulness of labour is resolution itself (shram ka vishram = samadhan, AA p. 23), Madhyasth Darshan pairs unconditional need-sharing inside the family (AA pp. 1, 119–120) with five-factor inter-family labour-value exchange (AA pp. 119, 145) and open dissemination of honoured inventions (puraskar, AA pp. 56–58, 140, 144)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comparison table ('Where Insatiability Comes From'), the fourth and fifth rows refer to relative and positional wants (Keynes, Veblen, Hirsch) and to steady throughput and material loops in ecological economics (Georgescu-Roegen, Boulding, Daly).</a:t>
            </a:r>
          </a:p>
          <a:p/>
          <a:p>
            <a:r>
              <a:t>Positional goods are things desired not for bodily nourishment or protection, but to display social rank — what Veblen called conspicuous consumption. Throughput is the ecological economists' term for the total physical stream of minerals, timber, water, and fossil energy pulled out of the earth and returned as heat and waste. A steady-state economy caps that throughput, and a circular economy recycles materials.</a:t>
            </a:r>
          </a:p>
          <a:p/>
          <a:p>
            <a:r>
              <a:t>In relation to Madhyasth Darshan: positional consumption arises when a deluded jeevan seeks respect (samman) through possessions (AA p. 45). Moreover, external throughput caps and ascetic restraint erode over time if jeevan's inexhaustible powers remain trapped in the 4.5 activities, and mortal body-centric agents discount the distant future. Only awakening the higher 5.5 activities and recognising the continuity of jeevan across bodily journeys closes the human side of the cycle with zero intergenerational discounting (§§4.8, 7.2).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'What Economics Can Teach' (§9.6), the first and third lessons refer to Hayek on price knowledge, Polanyi on embeddedness and non-commodities, and Ostrom on polycentric commons.</a:t>
            </a:r>
          </a:p>
          <a:p/>
          <a:p>
            <a:r>
              <a:t>Friedrich Hayek (1945) pointed out a real coordination problem: knowledge of local soil, weather, equipment, and skills is scattered across millions of households. Karl Polanyi (1944) showed that land, human labour, and money are fictitious commodities whose marketisation destroys society and nature. Elinor Ostrom (2010) showed empirically that communities manage shared resources best through nested, multi-tier local governance.</a:t>
            </a:r>
          </a:p>
          <a:p/>
          <a:p>
            <a:r>
              <a:t>In relation to Madhyasth Darshan: scaling polycentric self-governance across ten tiers to the whole Earth while citizens are in the process of realisation (anubhav-gami) and councillors serve part-time (AA p. 127) makes a federated ten-tier AI agentic backbone a structural requirement. Paired AI agents replace speculative price signals and place objective facts and checkable causal logic in common view before every council, so inconsistencies cannot be ignored and the collective self-corrects even when an individual errs (§§8.1–8.3; AA p. 139).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'What Economics Can Teach' (§9.6), the fourth lesson refers to objective needs, functionings, capabilities, and adaptive preference (Max-Neef, Doyal and Gough, and Amartya Sen).</a:t>
            </a:r>
          </a:p>
          <a:p/>
          <a:p>
            <a:r>
              <a:t>Mainstream market economics refuses to distinguish between a need and a whim: both are just 'preferences' backed by money. By contrast, Manfred Max-Neef and Len Doyal &amp; Ian Gough show that fundamental human needs are finite, objective, and non-substitutable (extra entertainment cannot replace nutrition or health). Amartya Sen's capability approach evaluates an economy by what people are actually able to do and be (their functionings and capabilities). Sen also highlights adaptive preference: people conditioned by chronic poverty often understate their own needs, while people conditioned by consumerism overstate them.</a:t>
            </a:r>
          </a:p>
          <a:p/>
          <a:p>
            <a:r>
              <a:t>In relation to Madhyasth Darshan: this provides modern analytical tools for the treatise's distinction between common aspirations (food, shelter, adornment, health, education) and special aspirations (transport, telecommunications, broadcasting; AA p. 112), and shows how the Family AI Agent and village committees can help families assess true need free from both indulgence and deprivation (§§8.3–8.4).</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'What Economics Can Teach' (§9.6), the fifth lesson contrasts bank credit creation with interest-free WIR mutual-credit clearing.</a:t>
            </a:r>
          </a:p>
          <a:p/>
          <a:p>
            <a:r>
              <a:t>How is modern money actually created? As the Bank of England's 2014 report explains, commercial banks do not wait for savers to deposit coins before making loans; when a bank grants a loan, it types new purchasing power into the borrower's account alongside an interest-bearing debt. Because the principal is created but the interest is not, borrowers as a whole must continually expand sales and extraction just to service debt. By contrast, a mutual-credit clearing system — like Switzerland's WIR network studied by Stodder (2009) — is an interest-free cooperative ledger: when a producer contributes goods to the pool, their account is credited, and when they draw goods, it is debited, with no interest and no speculative hoarding.</a:t>
            </a:r>
          </a:p>
          <a:p/>
          <a:p>
            <a:r>
              <a:t>In relation to Madhyasth Darshan: this directly illuminates the institutional mechanics of the village exchange-reserve (vinimay kosh, AA pp. 136–138, 142–143), which maintains family and inter-village accounts of goods given and received without interest, profit, or loss.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'What Economics Can Teach' (§9.6), the sixth lesson (and §§8.2, 8.5 in the AI section) refers to Leontief's input–output analysis, tool depreciation, and Ricardo's differential rent.</a:t>
            </a:r>
          </a:p>
          <a:p/>
          <a:p>
            <a:r>
              <a:t>Wassily Leontief's input–output method solves a practical problem in labour-value accounting: almost every product uses other products as inputs (cloth uses cotton yarn, loom wear, and transport). An input–output matrix adds up the direct labour of the weaver plus the indirect labour embodied in the yarn and the seasonal wear-and-tear (depreciation) of the loom. David Ricardo (1817) identified a second problem: two villages may apply the exact same human labour, skill, and care, yet one harvests twice as much grain per acre because its river soil is richer or its iron ore is closer to the surface. That difference is a gift of nature (differential rent), not extra human labour.</a:t>
            </a:r>
          </a:p>
          <a:p/>
          <a:p>
            <a:r>
              <a:t>In relation to Madhyasth Darshan: the treatise states that objects are valued by the usefulness established by human labour on natural abundance (AA pp. 49, 66, 119–120). Using input–output and differential-rent calculations inside the Production and Exchange-Reserve AI Agents lets councils separate natural endowment from human effort, so every producer and village is honoured fairly for its actual labour (§8.5).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447"/>
        </a:solidFill>
        <a:effectLst/>
      </p:bgPr>
    </p:bg>
    <p:spTree>
      <p:nvGrpSpPr>
        <p:cNvPr id="1" name=""/>
        <p:cNvGrpSpPr/>
        <p:nvPr/>
      </p:nvGrpSpPr>
      <p:grpSpPr/>
      <p:sp>
        <p:nvSpPr>
          <p:cNvPr id="2" name="Oval 1"/>
          <p:cNvSpPr/>
          <p:nvPr/>
        </p:nvSpPr>
        <p:spPr>
          <a:xfrm>
            <a:off x="5852160" y="822960"/>
            <a:ext cx="3291840" cy="329184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 name="Oval 2"/>
          <p:cNvSpPr/>
          <p:nvPr/>
        </p:nvSpPr>
        <p:spPr>
          <a:xfrm>
            <a:off x="6510528" y="1481328"/>
            <a:ext cx="1975104" cy="1975104"/>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4" name="Oval 3"/>
          <p:cNvSpPr/>
          <p:nvPr/>
        </p:nvSpPr>
        <p:spPr>
          <a:xfrm>
            <a:off x="7068312" y="2039112"/>
            <a:ext cx="859536" cy="859536"/>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5" name="Oval 4"/>
          <p:cNvSpPr/>
          <p:nvPr/>
        </p:nvSpPr>
        <p:spPr>
          <a:xfrm>
            <a:off x="5394960" y="3566160"/>
            <a:ext cx="1097280" cy="109728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6" name="Oval 5"/>
          <p:cNvSpPr/>
          <p:nvPr/>
        </p:nvSpPr>
        <p:spPr>
          <a:xfrm>
            <a:off x="5614416" y="3785615"/>
            <a:ext cx="658368" cy="658368"/>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7" name="Oval 6"/>
          <p:cNvSpPr/>
          <p:nvPr/>
        </p:nvSpPr>
        <p:spPr>
          <a:xfrm>
            <a:off x="5797296" y="3968496"/>
            <a:ext cx="283464" cy="283464"/>
          </a:xfrm>
          <a:prstGeom prst="ellipse">
            <a:avLst/>
          </a:prstGeom>
          <a:solidFill>
            <a:srgbClr val="C9D4EF"/>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8" name="Oval 7"/>
          <p:cNvSpPr/>
          <p:nvPr/>
        </p:nvSpPr>
        <p:spPr>
          <a:xfrm>
            <a:off x="8138160" y="4023360"/>
            <a:ext cx="731520" cy="731520"/>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9" name="Oval 8"/>
          <p:cNvSpPr/>
          <p:nvPr/>
        </p:nvSpPr>
        <p:spPr>
          <a:xfrm>
            <a:off x="8284464" y="4169663"/>
            <a:ext cx="438912" cy="438912"/>
          </a:xfrm>
          <a:prstGeom prst="ellipse">
            <a:avLst/>
          </a:prstGeom>
          <a:noFill/>
          <a:ln w="15875">
            <a:solidFill>
              <a:srgbClr val="44507E"/>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0" name="Oval 9"/>
          <p:cNvSpPr/>
          <p:nvPr/>
        </p:nvSpPr>
        <p:spPr>
          <a:xfrm>
            <a:off x="8412480" y="4297680"/>
            <a:ext cx="192024" cy="192024"/>
          </a:xfrm>
          <a:prstGeom prst="ellipse">
            <a:avLst/>
          </a:prstGeom>
          <a:solidFill>
            <a:srgbClr val="C9D4EF"/>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1" name="TextBox 10"/>
          <p:cNvSpPr txBox="1"/>
          <p:nvPr/>
        </p:nvSpPr>
        <p:spPr>
          <a:xfrm>
            <a:off x="640080" y="1051560"/>
            <a:ext cx="5852160" cy="274320"/>
          </a:xfrm>
          <a:prstGeom prst="rect">
            <a:avLst/>
          </a:prstGeom>
          <a:noFill/>
        </p:spPr>
        <p:txBody>
          <a:bodyPr wrap="square" lIns="0" rIns="0" tIns="0" bIns="0" anchor="ctr">
            <a:noAutofit/>
          </a:bodyPr>
          <a:lstStyle/>
          <a:p>
            <a:pPr>
              <a:spcAft>
                <a:spcPts val="0"/>
              </a:spcAft>
            </a:pPr>
            <a:r>
              <a:rPr sz="1200" b="1" i="0">
                <a:solidFill>
                  <a:srgbClr val="C9821E"/>
                </a:solidFill>
                <a:latin typeface="Calibri"/>
              </a:rPr>
              <a:t>MADHYASTH DARSHAN  ·  REFERENCE COMPANION</a:t>
            </a:r>
          </a:p>
        </p:txBody>
      </p:sp>
      <p:sp>
        <p:nvSpPr>
          <p:cNvPr id="12" name="TextBox 11"/>
          <p:cNvSpPr txBox="1"/>
          <p:nvPr/>
        </p:nvSpPr>
        <p:spPr>
          <a:xfrm>
            <a:off x="640080" y="1417320"/>
            <a:ext cx="5852160" cy="1051560"/>
          </a:xfrm>
          <a:prstGeom prst="rect">
            <a:avLst/>
          </a:prstGeom>
          <a:noFill/>
        </p:spPr>
        <p:txBody>
          <a:bodyPr wrap="square" lIns="0" rIns="0" tIns="0" bIns="0" anchor="ctr">
            <a:noAutofit/>
          </a:bodyPr>
          <a:lstStyle/>
          <a:p>
            <a:pPr>
              <a:spcAft>
                <a:spcPts val="0"/>
              </a:spcAft>
            </a:pPr>
            <a:r>
              <a:rPr sz="3200" b="1" i="0">
                <a:solidFill>
                  <a:srgbClr val="FFFFFF"/>
                </a:solidFill>
                <a:latin typeface="Cambria"/>
              </a:rPr>
              <a:t>Modern Economic Concepts</a:t>
            </a:r>
          </a:p>
          <a:p>
            <a:pPr>
              <a:spcAft>
                <a:spcPts val="0"/>
              </a:spcAft>
            </a:pPr>
            <a:r>
              <a:rPr sz="3200" b="1" i="0">
                <a:solidFill>
                  <a:srgbClr val="FFFFFF"/>
                </a:solidFill>
                <a:latin typeface="Cambria"/>
              </a:rPr>
              <a:t>in Plain Terms</a:t>
            </a:r>
          </a:p>
        </p:txBody>
      </p:sp>
      <p:sp>
        <p:nvSpPr>
          <p:cNvPr id="13" name="TextBox 12"/>
          <p:cNvSpPr txBox="1"/>
          <p:nvPr/>
        </p:nvSpPr>
        <p:spPr>
          <a:xfrm>
            <a:off x="640080" y="2697480"/>
            <a:ext cx="4663440" cy="822960"/>
          </a:xfrm>
          <a:prstGeom prst="rect">
            <a:avLst/>
          </a:prstGeom>
          <a:noFill/>
        </p:spPr>
        <p:txBody>
          <a:bodyPr wrap="square" lIns="0" rIns="0" tIns="0" bIns="0" anchor="ctr">
            <a:noAutofit/>
          </a:bodyPr>
          <a:lstStyle/>
          <a:p>
            <a:pPr>
              <a:spcAft>
                <a:spcPts val="0"/>
              </a:spcAft>
            </a:pPr>
            <a:r>
              <a:rPr sz="1600" b="0" i="1">
                <a:solidFill>
                  <a:srgbClr val="C9D4EF"/>
                </a:solidFill>
                <a:latin typeface="Calibri"/>
              </a:rPr>
              <a:t>A brief reference guide to the modern economic terms in §§4–8, showing the exact point each concept makes in relation to Madhyasth Darshan</a:t>
            </a:r>
          </a:p>
        </p:txBody>
      </p:sp>
      <p:sp>
        <p:nvSpPr>
          <p:cNvPr id="14" name="TextBox 13"/>
          <p:cNvSpPr txBox="1"/>
          <p:nvPr/>
        </p:nvSpPr>
        <p:spPr>
          <a:xfrm>
            <a:off x="640080" y="4160520"/>
            <a:ext cx="4754880" cy="274320"/>
          </a:xfrm>
          <a:prstGeom prst="rect">
            <a:avLst/>
          </a:prstGeom>
          <a:noFill/>
        </p:spPr>
        <p:txBody>
          <a:bodyPr wrap="square" lIns="0" rIns="0" tIns="0" bIns="0" anchor="ctr">
            <a:noAutofit/>
          </a:bodyPr>
          <a:lstStyle/>
          <a:p>
            <a:pPr>
              <a:spcAft>
                <a:spcPts val="0"/>
              </a:spcAft>
            </a:pPr>
            <a:r>
              <a:rPr sz="1250" b="0" i="0">
                <a:solidFill>
                  <a:srgbClr val="8E9BC4"/>
                </a:solidFill>
                <a:latin typeface="Calibri"/>
              </a:rPr>
              <a:t>Companion to Prosperity Economics and Right Use (§§4–8)</a:t>
            </a:r>
          </a:p>
        </p:txBody>
      </p:sp>
      <p:sp>
        <p:nvSpPr>
          <p:cNvPr id="15" name="TextBox 14"/>
          <p:cNvSpPr txBox="1"/>
          <p:nvPr/>
        </p:nvSpPr>
        <p:spPr>
          <a:xfrm>
            <a:off x="640080" y="4434840"/>
            <a:ext cx="4754880" cy="274320"/>
          </a:xfrm>
          <a:prstGeom prst="rect">
            <a:avLst/>
          </a:prstGeom>
          <a:noFill/>
        </p:spPr>
        <p:txBody>
          <a:bodyPr wrap="square" lIns="0" rIns="0" tIns="0" bIns="0" anchor="ctr">
            <a:noAutofit/>
          </a:bodyPr>
          <a:lstStyle/>
          <a:p>
            <a:pPr>
              <a:spcAft>
                <a:spcPts val="0"/>
              </a:spcAft>
            </a:pPr>
            <a:r>
              <a:rPr sz="1150" b="0" i="0">
                <a:solidFill>
                  <a:srgbClr val="8E9BC4"/>
                </a:solidFill>
                <a:latin typeface="Calibri"/>
              </a:rPr>
              <a:t>For Q&amp;A and discussion  ·  1 / 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spcAft>
                <a:spcPts val="0"/>
              </a:spcAft>
            </a:pPr>
            <a:r>
              <a:rPr sz="1050" b="1" i="0">
                <a:solidFill>
                  <a:srgbClr val="9A6414"/>
                </a:solidFill>
                <a:latin typeface="Calibri"/>
              </a:rPr>
              <a:t>QUICK REFERENCE  ·  STUDY §§4–8</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spcAft>
                <a:spcPts val="0"/>
              </a:spcAft>
            </a:pPr>
            <a:r>
              <a:rPr sz="3000" b="1" i="0">
                <a:solidFill>
                  <a:srgbClr val="1E2447"/>
                </a:solidFill>
                <a:latin typeface="Cambria"/>
              </a:rPr>
              <a:t>Guide to the Modern Economic Terms</a:t>
            </a:r>
          </a:p>
        </p:txBody>
      </p:sp>
      <p:sp>
        <p:nvSpPr>
          <p:cNvPr id="7" name="Rounded Rectangle 6"/>
          <p:cNvSpPr/>
          <p:nvPr/>
        </p:nvSpPr>
        <p:spPr>
          <a:xfrm>
            <a:off x="640080" y="1280160"/>
            <a:ext cx="3840480" cy="214884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8" name="TextBox 7"/>
          <p:cNvSpPr txBox="1"/>
          <p:nvPr/>
        </p:nvSpPr>
        <p:spPr>
          <a:xfrm>
            <a:off x="822960" y="1399032"/>
            <a:ext cx="3474720" cy="274320"/>
          </a:xfrm>
          <a:prstGeom prst="rect">
            <a:avLst/>
          </a:prstGeom>
          <a:noFill/>
        </p:spPr>
        <p:txBody>
          <a:bodyPr wrap="square" lIns="0" rIns="0" tIns="0" bIns="0" anchor="ctr">
            <a:noAutofit/>
          </a:bodyPr>
          <a:lstStyle/>
          <a:p>
            <a:pPr>
              <a:spcAft>
                <a:spcPts val="0"/>
              </a:spcAft>
            </a:pPr>
            <a:r>
              <a:rPr sz="1300" b="1" i="0">
                <a:solidFill>
                  <a:srgbClr val="1E2447"/>
                </a:solidFill>
                <a:latin typeface="Cambria"/>
              </a:rPr>
              <a:t>Part I — Where Insatiability Comes From</a:t>
            </a:r>
          </a:p>
        </p:txBody>
      </p:sp>
      <p:sp>
        <p:nvSpPr>
          <p:cNvPr id="9" name="TextBox 8"/>
          <p:cNvSpPr txBox="1"/>
          <p:nvPr/>
        </p:nvSpPr>
        <p:spPr>
          <a:xfrm>
            <a:off x="82296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 I.1: Non-satiation, scarcity &amp; marginal utility</a:t>
            </a:r>
          </a:p>
          <a:p>
            <a:pPr>
              <a:spcBef>
                <a:spcPts val="600"/>
              </a:spcBef>
              <a:spcAft>
                <a:spcPts val="0"/>
              </a:spcAft>
            </a:pPr>
            <a:r>
              <a:rPr sz="1100" b="0" i="0">
                <a:solidFill>
                  <a:srgbClr val="5A6377"/>
                </a:solidFill>
                <a:latin typeface="Calibri"/>
              </a:rPr>
              <a:t>› I.2: Money-getting, capital &amp; two-stage sharing</a:t>
            </a:r>
          </a:p>
          <a:p>
            <a:r>
              <a:rPr sz="1100" b="0" i="0">
                <a:solidFill>
                  <a:srgbClr val="5A6377"/>
                </a:solidFill>
                <a:latin typeface="Calibri"/>
              </a:rPr>
              <a:t>› I.3: Positional goods, throughput &amp; circular loops</a:t>
            </a:r>
          </a:p>
        </p:txBody>
      </p:sp>
      <p:sp>
        <p:nvSpPr>
          <p:cNvPr id="10" name="Rounded Rectangle 9"/>
          <p:cNvSpPr/>
          <p:nvPr/>
        </p:nvSpPr>
        <p:spPr>
          <a:xfrm>
            <a:off x="4663440" y="1280160"/>
            <a:ext cx="3840480" cy="214884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1" name="TextBox 10"/>
          <p:cNvSpPr txBox="1"/>
          <p:nvPr/>
        </p:nvSpPr>
        <p:spPr>
          <a:xfrm>
            <a:off x="4846320" y="1399032"/>
            <a:ext cx="3474720" cy="274320"/>
          </a:xfrm>
          <a:prstGeom prst="rect">
            <a:avLst/>
          </a:prstGeom>
          <a:noFill/>
        </p:spPr>
        <p:txBody>
          <a:bodyPr wrap="square" lIns="0" rIns="0" tIns="0" bIns="0" anchor="ctr">
            <a:noAutofit/>
          </a:bodyPr>
          <a:lstStyle/>
          <a:p>
            <a:pPr>
              <a:spcAft>
                <a:spcPts val="0"/>
              </a:spcAft>
            </a:pPr>
            <a:r>
              <a:rPr sz="1300" b="1" i="0">
                <a:solidFill>
                  <a:srgbClr val="9A6414"/>
                </a:solidFill>
                <a:latin typeface="Cambria"/>
              </a:rPr>
              <a:t>Part II — What Economics Can Teach</a:t>
            </a:r>
          </a:p>
        </p:txBody>
      </p:sp>
      <p:sp>
        <p:nvSpPr>
          <p:cNvPr id="12" name="TextBox 11"/>
          <p:cNvSpPr txBox="1"/>
          <p:nvPr/>
        </p:nvSpPr>
        <p:spPr>
          <a:xfrm>
            <a:off x="484632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 II.1: Price signals, non-commodities &amp; commons</a:t>
            </a:r>
          </a:p>
          <a:p>
            <a:pPr>
              <a:spcBef>
                <a:spcPts val="600"/>
              </a:spcBef>
              <a:spcAft>
                <a:spcPts val="0"/>
              </a:spcAft>
            </a:pPr>
            <a:r>
              <a:rPr sz="1100" b="0" i="0">
                <a:solidFill>
                  <a:srgbClr val="5A6377"/>
                </a:solidFill>
                <a:latin typeface="Calibri"/>
              </a:rPr>
              <a:t>› II.2: Objective needs, capabilities &amp; adaptation</a:t>
            </a:r>
          </a:p>
          <a:p>
            <a:r>
              <a:rPr sz="1100" b="0" i="0">
                <a:solidFill>
                  <a:srgbClr val="5A6377"/>
                </a:solidFill>
                <a:latin typeface="Calibri"/>
              </a:rPr>
              <a:t>› II.3: Bank credit creation vs. WIR clearing</a:t>
            </a:r>
          </a:p>
          <a:p>
            <a:r>
              <a:rPr sz="1100" b="0" i="0">
                <a:solidFill>
                  <a:srgbClr val="5A6377"/>
                </a:solidFill>
                <a:latin typeface="Calibri"/>
              </a:rPr>
              <a:t>› II.4: Input–output tables &amp; differential rent</a:t>
            </a:r>
          </a:p>
        </p:txBody>
      </p:sp>
      <p:sp>
        <p:nvSpPr>
          <p:cNvPr id="13" name="Rounded Rectangle 12"/>
          <p:cNvSpPr/>
          <p:nvPr/>
        </p:nvSpPr>
        <p:spPr>
          <a:xfrm>
            <a:off x="640080" y="3611880"/>
            <a:ext cx="7863840" cy="8686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4" name="TextBox 13"/>
          <p:cNvSpPr txBox="1"/>
          <p:nvPr/>
        </p:nvSpPr>
        <p:spPr>
          <a:xfrm>
            <a:off x="868680" y="3611880"/>
            <a:ext cx="7406640" cy="868680"/>
          </a:xfrm>
          <a:prstGeom prst="rect">
            <a:avLst/>
          </a:prstGeom>
          <a:noFill/>
        </p:spPr>
        <p:txBody>
          <a:bodyPr wrap="square" lIns="0" rIns="0" tIns="0" bIns="0" anchor="ctr">
            <a:noAutofit/>
          </a:bodyPr>
          <a:lstStyle/>
          <a:p>
            <a:pPr algn="ctr">
              <a:spcAft>
                <a:spcPts val="0"/>
              </a:spcAft>
            </a:pPr>
            <a:r>
              <a:rPr sz="1350" b="1" i="0">
                <a:solidFill>
                  <a:srgbClr val="C9821E"/>
                </a:solidFill>
                <a:latin typeface="Cambria"/>
              </a:rPr>
              <a:t>How to use this brief companion deck</a:t>
            </a:r>
          </a:p>
          <a:p>
            <a:pPr algn="ctr">
              <a:spcAft>
                <a:spcPts val="0"/>
              </a:spcAft>
            </a:pPr>
            <a:r>
              <a:rPr sz="1150" b="0" i="0">
                <a:solidFill>
                  <a:srgbClr val="FFFFFF"/>
                </a:solidFill>
                <a:latin typeface="Calibri"/>
              </a:rPr>
              <a:t>Each card explains two related modern economic terms in plain words and states the exact point they establish in relation to Madhyasth Darshan.</a:t>
            </a:r>
          </a:p>
        </p:txBody>
      </p:sp>
      <p:sp>
        <p:nvSpPr>
          <p:cNvPr id="15" name="TextBox 14"/>
          <p:cNvSpPr txBox="1"/>
          <p:nvPr/>
        </p:nvSpPr>
        <p:spPr>
          <a:xfrm>
            <a:off x="502920" y="4828032"/>
            <a:ext cx="8138160" cy="256032"/>
          </a:xfrm>
          <a:prstGeom prst="rect">
            <a:avLst/>
          </a:prstGeom>
          <a:noFill/>
        </p:spPr>
        <p:txBody>
          <a:bodyPr wrap="square" lIns="0" rIns="0" tIns="0" bIns="0" anchor="ctr">
            <a:noAutofit/>
          </a:bodyPr>
          <a:lstStyle/>
          <a:p>
            <a:pPr>
              <a:spcAft>
                <a:spcPts val="0"/>
              </a:spcAft>
            </a:pPr>
            <a:r>
              <a:rPr sz="950" b="0" i="1">
                <a:solidFill>
                  <a:srgbClr val="5A6377"/>
                </a:solidFill>
                <a:latin typeface="Calibri"/>
              </a:rPr>
              <a:t>Companion to Prosperity Economics and Right Use (§§4–8)  ·  AnalyticMadhyasthDarshan.org  ·  2 / 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spcAft>
                <a:spcPts val="0"/>
              </a:spcAft>
            </a:pPr>
            <a:r>
              <a:rPr sz="1050" b="1" i="0">
                <a:solidFill>
                  <a:srgbClr val="9A6414"/>
                </a:solidFill>
                <a:latin typeface="Calibri"/>
              </a:rPr>
              <a:t>I.1  ·  NEOCLASSICAL &amp; MARGINALIST  ·  §§4.4–4.5</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spcAft>
                <a:spcPts val="0"/>
              </a:spcAft>
            </a:pPr>
            <a:r>
              <a:rPr sz="3000" b="1" i="0">
                <a:solidFill>
                  <a:srgbClr val="1E2447"/>
                </a:solidFill>
                <a:latin typeface="Cambria"/>
              </a:rPr>
              <a:t>Non-Satiation, Scarcity &amp; Marginal Utility</a:t>
            </a:r>
          </a:p>
        </p:txBody>
      </p:sp>
      <p:sp>
        <p:nvSpPr>
          <p:cNvPr id="7" name="Rounded Rectangle 6"/>
          <p:cNvSpPr/>
          <p:nvPr/>
        </p:nvSpPr>
        <p:spPr>
          <a:xfrm>
            <a:off x="640080" y="1280160"/>
            <a:ext cx="3840480" cy="214884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8" name="TextBox 7"/>
          <p:cNvSpPr txBox="1"/>
          <p:nvPr/>
        </p:nvSpPr>
        <p:spPr>
          <a:xfrm>
            <a:off x="822960" y="1399032"/>
            <a:ext cx="3474720" cy="274320"/>
          </a:xfrm>
          <a:prstGeom prst="rect">
            <a:avLst/>
          </a:prstGeom>
          <a:noFill/>
        </p:spPr>
        <p:txBody>
          <a:bodyPr wrap="square" lIns="0" rIns="0" tIns="0" bIns="0" anchor="ctr">
            <a:noAutofit/>
          </a:bodyPr>
          <a:lstStyle/>
          <a:p>
            <a:pPr>
              <a:spcAft>
                <a:spcPts val="0"/>
              </a:spcAft>
            </a:pPr>
            <a:r>
              <a:rPr sz="1300" b="1" i="0">
                <a:solidFill>
                  <a:srgbClr val="1E2447"/>
                </a:solidFill>
                <a:latin typeface="Cambria"/>
              </a:rPr>
              <a:t>Non-satiation &amp; scarcity (Robbins 1932)</a:t>
            </a:r>
          </a:p>
        </p:txBody>
      </p:sp>
      <p:sp>
        <p:nvSpPr>
          <p:cNvPr id="9" name="TextBox 8"/>
          <p:cNvSpPr txBox="1"/>
          <p:nvPr/>
        </p:nvSpPr>
        <p:spPr>
          <a:xfrm>
            <a:off x="82296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Modern textbooks define economics as allocating scarce resources among unlimited human wants.</a:t>
            </a:r>
          </a:p>
          <a:p>
            <a:pPr>
              <a:spcBef>
                <a:spcPts val="600"/>
              </a:spcBef>
              <a:spcAft>
                <a:spcPts val="0"/>
              </a:spcAft>
            </a:pPr>
            <a:r>
              <a:rPr sz="1100" b="0" i="0">
                <a:solidFill>
                  <a:srgbClr val="5A6377"/>
                </a:solidFill>
                <a:latin typeface="Calibri"/>
              </a:rPr>
              <a:t>Non-satiation assumes that for any person, having more goods or money is always preferred to having less, with no natural stopping point.</a:t>
            </a:r>
          </a:p>
        </p:txBody>
      </p:sp>
      <p:sp>
        <p:nvSpPr>
          <p:cNvPr id="10" name="Rounded Rectangle 9"/>
          <p:cNvSpPr/>
          <p:nvPr/>
        </p:nvSpPr>
        <p:spPr>
          <a:xfrm>
            <a:off x="4663440" y="1280160"/>
            <a:ext cx="3840480" cy="214884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1" name="TextBox 10"/>
          <p:cNvSpPr txBox="1"/>
          <p:nvPr/>
        </p:nvSpPr>
        <p:spPr>
          <a:xfrm>
            <a:off x="4846320" y="1399032"/>
            <a:ext cx="3474720" cy="274320"/>
          </a:xfrm>
          <a:prstGeom prst="rect">
            <a:avLst/>
          </a:prstGeom>
          <a:noFill/>
        </p:spPr>
        <p:txBody>
          <a:bodyPr wrap="square" lIns="0" rIns="0" tIns="0" bIns="0" anchor="ctr">
            <a:noAutofit/>
          </a:bodyPr>
          <a:lstStyle/>
          <a:p>
            <a:pPr>
              <a:spcAft>
                <a:spcPts val="0"/>
              </a:spcAft>
            </a:pPr>
            <a:r>
              <a:rPr sz="1300" b="1" i="0">
                <a:solidFill>
                  <a:srgbClr val="9A6414"/>
                </a:solidFill>
                <a:latin typeface="Cambria"/>
              </a:rPr>
              <a:t>Marginal utility (Jevons, Menger, Walras)</a:t>
            </a:r>
          </a:p>
        </p:txBody>
      </p:sp>
      <p:sp>
        <p:nvSpPr>
          <p:cNvPr id="12" name="TextBox 11"/>
          <p:cNvSpPr txBox="1"/>
          <p:nvPr/>
        </p:nvSpPr>
        <p:spPr>
          <a:xfrm>
            <a:off x="484632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Instead of valuing an object by the labour that produced it, market theory prices it by marginal utility: how much extra subjective satisfaction one more unit gives a buyer.</a:t>
            </a:r>
          </a:p>
          <a:p>
            <a:pPr>
              <a:spcBef>
                <a:spcPts val="600"/>
              </a:spcBef>
              <a:spcAft>
                <a:spcPts val="0"/>
              </a:spcAft>
            </a:pPr>
            <a:r>
              <a:rPr sz="1100" b="0" i="0">
                <a:solidFill>
                  <a:srgbClr val="5A6377"/>
                </a:solidFill>
                <a:latin typeface="Calibri"/>
              </a:rPr>
              <a:t>Value becomes whatever price buyers with money are willing to pay.</a:t>
            </a:r>
          </a:p>
        </p:txBody>
      </p:sp>
      <p:sp>
        <p:nvSpPr>
          <p:cNvPr id="13" name="Rounded Rectangle 12"/>
          <p:cNvSpPr/>
          <p:nvPr/>
        </p:nvSpPr>
        <p:spPr>
          <a:xfrm>
            <a:off x="640080" y="3611880"/>
            <a:ext cx="7863840" cy="8686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4" name="TextBox 13"/>
          <p:cNvSpPr txBox="1"/>
          <p:nvPr/>
        </p:nvSpPr>
        <p:spPr>
          <a:xfrm>
            <a:off x="868680" y="3611880"/>
            <a:ext cx="7406640" cy="868680"/>
          </a:xfrm>
          <a:prstGeom prst="rect">
            <a:avLst/>
          </a:prstGeom>
          <a:noFill/>
        </p:spPr>
        <p:txBody>
          <a:bodyPr wrap="square" lIns="0" rIns="0" tIns="0" bIns="0" anchor="ctr">
            <a:noAutofit/>
          </a:bodyPr>
          <a:lstStyle/>
          <a:p>
            <a:pPr algn="ctr">
              <a:spcAft>
                <a:spcPts val="0"/>
              </a:spcAft>
            </a:pPr>
            <a:r>
              <a:rPr sz="1350" b="1" i="0">
                <a:solidFill>
                  <a:srgbClr val="C9821E"/>
                </a:solidFill>
                <a:latin typeface="Cambria"/>
              </a:rPr>
              <a:t>Point for Madhyasth Darshan</a:t>
            </a:r>
          </a:p>
          <a:p>
            <a:pPr algn="ctr">
              <a:spcAft>
                <a:spcPts val="0"/>
              </a:spcAft>
            </a:pPr>
            <a:r>
              <a:rPr sz="1150" b="0" i="0">
                <a:solidFill>
                  <a:srgbClr val="FFFFFF"/>
                </a:solidFill>
                <a:latin typeface="Calibri"/>
              </a:rPr>
              <a:t>Mainstream economics mistakes unguided selection and taste (4.5 activities in delusion) for human nature; without jeevan and realisation in coexistence, subjective utility has no objective anchor.</a:t>
            </a:r>
          </a:p>
        </p:txBody>
      </p:sp>
      <p:sp>
        <p:nvSpPr>
          <p:cNvPr id="15" name="TextBox 14"/>
          <p:cNvSpPr txBox="1"/>
          <p:nvPr/>
        </p:nvSpPr>
        <p:spPr>
          <a:xfrm>
            <a:off x="502920" y="4828032"/>
            <a:ext cx="8138160" cy="256032"/>
          </a:xfrm>
          <a:prstGeom prst="rect">
            <a:avLst/>
          </a:prstGeom>
          <a:noFill/>
        </p:spPr>
        <p:txBody>
          <a:bodyPr wrap="square" lIns="0" rIns="0" tIns="0" bIns="0" anchor="ctr">
            <a:noAutofit/>
          </a:bodyPr>
          <a:lstStyle/>
          <a:p>
            <a:pPr>
              <a:spcAft>
                <a:spcPts val="0"/>
              </a:spcAft>
            </a:pPr>
            <a:r>
              <a:rPr sz="950" b="0" i="1">
                <a:solidFill>
                  <a:srgbClr val="5A6377"/>
                </a:solidFill>
                <a:latin typeface="Calibri"/>
              </a:rPr>
              <a:t>Part I.1  ·  Study §§2.1–2.3, 3.6, 4.4–4.5  ·  Jevons 1871  ·  Robbins 1932  ·  AA pp. 17–18, 49, 66  ·  3 / 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spcAft>
                <a:spcPts val="0"/>
              </a:spcAft>
            </a:pPr>
            <a:r>
              <a:rPr sz="1050" b="1" i="0">
                <a:solidFill>
                  <a:srgbClr val="9A6414"/>
                </a:solidFill>
                <a:latin typeface="Calibri"/>
              </a:rPr>
              <a:t>I.2  ·  ARISTOTLE &amp; MARX  ·  §§4.1, 4.3, 7.2</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spcAft>
                <a:spcPts val="0"/>
              </a:spcAft>
            </a:pPr>
            <a:r>
              <a:rPr sz="3000" b="1" i="0">
                <a:solidFill>
                  <a:srgbClr val="1E2447"/>
                </a:solidFill>
                <a:latin typeface="Cambria"/>
              </a:rPr>
              <a:t>Money-Getting, Capital &amp; Need-Sharing</a:t>
            </a:r>
          </a:p>
        </p:txBody>
      </p:sp>
      <p:sp>
        <p:nvSpPr>
          <p:cNvPr id="7" name="Rounded Rectangle 6"/>
          <p:cNvSpPr/>
          <p:nvPr/>
        </p:nvSpPr>
        <p:spPr>
          <a:xfrm>
            <a:off x="640080" y="1280160"/>
            <a:ext cx="3840480" cy="214884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8" name="TextBox 7"/>
          <p:cNvSpPr txBox="1"/>
          <p:nvPr/>
        </p:nvSpPr>
        <p:spPr>
          <a:xfrm>
            <a:off x="822960" y="1399032"/>
            <a:ext cx="3474720" cy="274320"/>
          </a:xfrm>
          <a:prstGeom prst="rect">
            <a:avLst/>
          </a:prstGeom>
          <a:noFill/>
        </p:spPr>
        <p:txBody>
          <a:bodyPr wrap="square" lIns="0" rIns="0" tIns="0" bIns="0" anchor="ctr">
            <a:noAutofit/>
          </a:bodyPr>
          <a:lstStyle/>
          <a:p>
            <a:pPr>
              <a:spcAft>
                <a:spcPts val="0"/>
              </a:spcAft>
            </a:pPr>
            <a:r>
              <a:rPr sz="1300" b="1" i="0">
                <a:solidFill>
                  <a:srgbClr val="1E2447"/>
                </a:solidFill>
                <a:latin typeface="Cambria"/>
              </a:rPr>
              <a:t>Household use vs. money-getting</a:t>
            </a:r>
          </a:p>
        </p:txBody>
      </p:sp>
      <p:sp>
        <p:nvSpPr>
          <p:cNvPr id="9" name="TextBox 8"/>
          <p:cNvSpPr txBox="1"/>
          <p:nvPr/>
        </p:nvSpPr>
        <p:spPr>
          <a:xfrm>
            <a:off x="82296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Aristotle separated household management (acquiring food, cloth and tools for use, which has a natural limit) from money-getting (trading to multiply currency).</a:t>
            </a:r>
          </a:p>
          <a:p>
            <a:pPr>
              <a:spcBef>
                <a:spcPts val="600"/>
              </a:spcBef>
              <a:spcAft>
                <a:spcPts val="0"/>
              </a:spcAft>
            </a:pPr>
            <a:r>
              <a:rPr sz="1100" b="0" i="0">
                <a:solidFill>
                  <a:srgbClr val="5A6377"/>
                </a:solidFill>
                <a:latin typeface="Calibri"/>
              </a:rPr>
              <a:t>Because money never rots or fills the stomach, chasing money has no satiation point.</a:t>
            </a:r>
          </a:p>
        </p:txBody>
      </p:sp>
      <p:sp>
        <p:nvSpPr>
          <p:cNvPr id="10" name="Rounded Rectangle 9"/>
          <p:cNvSpPr/>
          <p:nvPr/>
        </p:nvSpPr>
        <p:spPr>
          <a:xfrm>
            <a:off x="4663440" y="1280160"/>
            <a:ext cx="3840480" cy="214884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1" name="TextBox 10"/>
          <p:cNvSpPr txBox="1"/>
          <p:nvPr/>
        </p:nvSpPr>
        <p:spPr>
          <a:xfrm>
            <a:off x="4846320" y="1399032"/>
            <a:ext cx="3474720" cy="274320"/>
          </a:xfrm>
          <a:prstGeom prst="rect">
            <a:avLst/>
          </a:prstGeom>
          <a:noFill/>
        </p:spPr>
        <p:txBody>
          <a:bodyPr wrap="square" lIns="0" rIns="0" tIns="0" bIns="0" anchor="ctr">
            <a:noAutofit/>
          </a:bodyPr>
          <a:lstStyle/>
          <a:p>
            <a:pPr>
              <a:spcAft>
                <a:spcPts val="0"/>
              </a:spcAft>
            </a:pPr>
            <a:r>
              <a:rPr sz="1300" b="1" i="0">
                <a:solidFill>
                  <a:srgbClr val="9A6414"/>
                </a:solidFill>
                <a:latin typeface="Cambria"/>
              </a:rPr>
              <a:t>Capital, skill &amp; two stages (Marx)</a:t>
            </a:r>
          </a:p>
        </p:txBody>
      </p:sp>
      <p:sp>
        <p:nvSpPr>
          <p:cNvPr id="12" name="TextBox 11"/>
          <p:cNvSpPr txBox="1"/>
          <p:nvPr/>
        </p:nvSpPr>
        <p:spPr>
          <a:xfrm>
            <a:off x="484632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Marx contrasted simple exchange (C → M → C, for use) with capital (M → C → M'). He valued goods by socially necessary labour (skilled = multiplied simple labour).</a:t>
            </a:r>
          </a:p>
          <a:p>
            <a:pPr>
              <a:spcBef>
                <a:spcPts val="600"/>
              </a:spcBef>
              <a:spcAft>
                <a:spcPts val="0"/>
              </a:spcAft>
            </a:pPr>
            <a:r>
              <a:rPr sz="1100" b="0" i="0">
                <a:solidFill>
                  <a:srgbClr val="5A6377"/>
                </a:solidFill>
                <a:latin typeface="Calibri"/>
              </a:rPr>
              <a:t>After capitalism, he split distribution into two stages: labour-time certificates first (still unequal across family needs), and need-sharing only in a distant future.</a:t>
            </a:r>
          </a:p>
        </p:txBody>
      </p:sp>
      <p:sp>
        <p:nvSpPr>
          <p:cNvPr id="13" name="Rounded Rectangle 12"/>
          <p:cNvSpPr/>
          <p:nvPr/>
        </p:nvSpPr>
        <p:spPr>
          <a:xfrm>
            <a:off x="640080" y="3611880"/>
            <a:ext cx="7863840" cy="8686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4" name="TextBox 13"/>
          <p:cNvSpPr txBox="1"/>
          <p:nvPr/>
        </p:nvSpPr>
        <p:spPr>
          <a:xfrm>
            <a:off x="868680" y="3611880"/>
            <a:ext cx="7406640" cy="868680"/>
          </a:xfrm>
          <a:prstGeom prst="rect">
            <a:avLst/>
          </a:prstGeom>
          <a:noFill/>
        </p:spPr>
        <p:txBody>
          <a:bodyPr wrap="square" lIns="0" rIns="0" tIns="0" bIns="0" anchor="ctr">
            <a:noAutofit/>
          </a:bodyPr>
          <a:lstStyle/>
          <a:p>
            <a:pPr algn="ctr">
              <a:spcAft>
                <a:spcPts val="0"/>
              </a:spcAft>
            </a:pPr>
            <a:r>
              <a:rPr sz="1350" b="1" i="0">
                <a:solidFill>
                  <a:srgbClr val="C9821E"/>
                </a:solidFill>
                <a:latin typeface="Cambria"/>
              </a:rPr>
              <a:t>Point for Madhyasth Darshan</a:t>
            </a:r>
          </a:p>
          <a:p>
            <a:pPr algn="ctr">
              <a:spcAft>
                <a:spcPts val="0"/>
              </a:spcAft>
            </a:pPr>
            <a:r>
              <a:rPr sz="1150" b="0" i="0">
                <a:solidFill>
                  <a:srgbClr val="FFFFFF"/>
                </a:solidFill>
                <a:latin typeface="Calibri"/>
              </a:rPr>
              <a:t>Pairs family need-sharing and 5-factor inter-family labour exchange (skill, proficiency, speed, time, means) simultaneously, honouring new tools with prizes (puraskar) and sharing them openly.</a:t>
            </a:r>
          </a:p>
        </p:txBody>
      </p:sp>
      <p:sp>
        <p:nvSpPr>
          <p:cNvPr id="15" name="TextBox 14"/>
          <p:cNvSpPr txBox="1"/>
          <p:nvPr/>
        </p:nvSpPr>
        <p:spPr>
          <a:xfrm>
            <a:off x="502920" y="4828032"/>
            <a:ext cx="8138160" cy="256032"/>
          </a:xfrm>
          <a:prstGeom prst="rect">
            <a:avLst/>
          </a:prstGeom>
          <a:noFill/>
        </p:spPr>
        <p:txBody>
          <a:bodyPr wrap="square" lIns="0" rIns="0" tIns="0" bIns="0" anchor="ctr">
            <a:noAutofit/>
          </a:bodyPr>
          <a:lstStyle/>
          <a:p>
            <a:pPr>
              <a:spcAft>
                <a:spcPts val="0"/>
              </a:spcAft>
            </a:pPr>
            <a:r>
              <a:rPr sz="950" b="0" i="1">
                <a:solidFill>
                  <a:srgbClr val="5A6377"/>
                </a:solidFill>
                <a:latin typeface="Calibri"/>
              </a:rPr>
              <a:t>Part I.2  ·  Study §§2.4, 3.6, 3.10, 4.1, 4.3, 7.2  ·  Aristotle Politics I  ·  Marx 1867, 1875  ·  AA pp. 1, 119–120, 140, 144–145  ·  4 / 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spcAft>
                <a:spcPts val="0"/>
              </a:spcAft>
            </a:pPr>
            <a:r>
              <a:rPr sz="1050" b="1" i="0">
                <a:solidFill>
                  <a:srgbClr val="9A6414"/>
                </a:solidFill>
                <a:latin typeface="Calibri"/>
              </a:rPr>
              <a:t>I.3  ·  POST-GROWTH &amp; ECOLOGICAL  ·  §§4.5–4.7</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spcAft>
                <a:spcPts val="0"/>
              </a:spcAft>
            </a:pPr>
            <a:r>
              <a:rPr sz="3000" b="1" i="0">
                <a:solidFill>
                  <a:srgbClr val="1E2447"/>
                </a:solidFill>
                <a:latin typeface="Cambria"/>
              </a:rPr>
              <a:t>Positional Goods, Throughput &amp; Loops</a:t>
            </a:r>
          </a:p>
        </p:txBody>
      </p:sp>
      <p:sp>
        <p:nvSpPr>
          <p:cNvPr id="7" name="Rounded Rectangle 6"/>
          <p:cNvSpPr/>
          <p:nvPr/>
        </p:nvSpPr>
        <p:spPr>
          <a:xfrm>
            <a:off x="640080" y="1280160"/>
            <a:ext cx="3840480" cy="214884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8" name="TextBox 7"/>
          <p:cNvSpPr txBox="1"/>
          <p:nvPr/>
        </p:nvSpPr>
        <p:spPr>
          <a:xfrm>
            <a:off x="822960" y="1399032"/>
            <a:ext cx="3474720" cy="274320"/>
          </a:xfrm>
          <a:prstGeom prst="rect">
            <a:avLst/>
          </a:prstGeom>
          <a:noFill/>
        </p:spPr>
        <p:txBody>
          <a:bodyPr wrap="square" lIns="0" rIns="0" tIns="0" bIns="0" anchor="ctr">
            <a:noAutofit/>
          </a:bodyPr>
          <a:lstStyle/>
          <a:p>
            <a:pPr>
              <a:spcAft>
                <a:spcPts val="0"/>
              </a:spcAft>
            </a:pPr>
            <a:r>
              <a:rPr sz="1300" b="1" i="0">
                <a:solidFill>
                  <a:srgbClr val="1E2447"/>
                </a:solidFill>
                <a:latin typeface="Cambria"/>
              </a:rPr>
              <a:t>Relative &amp; positional goods (Veblen)</a:t>
            </a:r>
          </a:p>
        </p:txBody>
      </p:sp>
      <p:sp>
        <p:nvSpPr>
          <p:cNvPr id="9" name="TextBox 8"/>
          <p:cNvSpPr txBox="1"/>
          <p:nvPr/>
        </p:nvSpPr>
        <p:spPr>
          <a:xfrm>
            <a:off x="82296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Keynes, Veblen and Hirsch separated bodily needs (food, shelter) from positional goods — things wanted for status, rank or superiority over neighbours.</a:t>
            </a:r>
          </a:p>
          <a:p>
            <a:pPr>
              <a:spcBef>
                <a:spcPts val="600"/>
              </a:spcBef>
              <a:spcAft>
                <a:spcPts val="0"/>
              </a:spcAft>
            </a:pPr>
            <a:r>
              <a:rPr sz="1100" b="0" i="0">
                <a:solidFill>
                  <a:srgbClr val="5A6377"/>
                </a:solidFill>
                <a:latin typeface="Calibri"/>
              </a:rPr>
              <a:t>Because one person's higher status lowers another's, positional competition is a zero-sum race that never reaches enough.</a:t>
            </a:r>
          </a:p>
        </p:txBody>
      </p:sp>
      <p:sp>
        <p:nvSpPr>
          <p:cNvPr id="10" name="Rounded Rectangle 9"/>
          <p:cNvSpPr/>
          <p:nvPr/>
        </p:nvSpPr>
        <p:spPr>
          <a:xfrm>
            <a:off x="4663440" y="1280160"/>
            <a:ext cx="3840480" cy="214884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1" name="TextBox 10"/>
          <p:cNvSpPr txBox="1"/>
          <p:nvPr/>
        </p:nvSpPr>
        <p:spPr>
          <a:xfrm>
            <a:off x="4846320" y="1399032"/>
            <a:ext cx="3474720" cy="274320"/>
          </a:xfrm>
          <a:prstGeom prst="rect">
            <a:avLst/>
          </a:prstGeom>
          <a:noFill/>
        </p:spPr>
        <p:txBody>
          <a:bodyPr wrap="square" lIns="0" rIns="0" tIns="0" bIns="0" anchor="ctr">
            <a:noAutofit/>
          </a:bodyPr>
          <a:lstStyle/>
          <a:p>
            <a:pPr>
              <a:spcAft>
                <a:spcPts val="0"/>
              </a:spcAft>
            </a:pPr>
            <a:r>
              <a:rPr sz="1300" b="1" i="0">
                <a:solidFill>
                  <a:srgbClr val="9A6414"/>
                </a:solidFill>
                <a:latin typeface="Cambria"/>
              </a:rPr>
              <a:t>Throughput &amp; circular loops (Daly)</a:t>
            </a:r>
          </a:p>
        </p:txBody>
      </p:sp>
      <p:sp>
        <p:nvSpPr>
          <p:cNvPr id="12" name="TextBox 11"/>
          <p:cNvSpPr txBox="1"/>
          <p:nvPr/>
        </p:nvSpPr>
        <p:spPr>
          <a:xfrm>
            <a:off x="484632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Throughput is the physical flow of matter and energy extracted from nature, turned into goods, and dumped back as waste.</a:t>
            </a:r>
          </a:p>
          <a:p>
            <a:pPr>
              <a:spcBef>
                <a:spcPts val="600"/>
              </a:spcBef>
              <a:spcAft>
                <a:spcPts val="0"/>
              </a:spcAft>
            </a:pPr>
            <a:r>
              <a:rPr sz="1100" b="0" i="0">
                <a:solidFill>
                  <a:srgbClr val="5A6377"/>
                </a:solidFill>
                <a:latin typeface="Calibri"/>
              </a:rPr>
              <a:t>Ecological economics calls for a steady-state cap on extraction and circular recycling of materials within planetary boundaries.</a:t>
            </a:r>
          </a:p>
        </p:txBody>
      </p:sp>
      <p:sp>
        <p:nvSpPr>
          <p:cNvPr id="13" name="Rounded Rectangle 12"/>
          <p:cNvSpPr/>
          <p:nvPr/>
        </p:nvSpPr>
        <p:spPr>
          <a:xfrm>
            <a:off x="640080" y="3611880"/>
            <a:ext cx="7863840" cy="8686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4" name="TextBox 13"/>
          <p:cNvSpPr txBox="1"/>
          <p:nvPr/>
        </p:nvSpPr>
        <p:spPr>
          <a:xfrm>
            <a:off x="868680" y="3611880"/>
            <a:ext cx="7406640" cy="868680"/>
          </a:xfrm>
          <a:prstGeom prst="rect">
            <a:avLst/>
          </a:prstGeom>
          <a:noFill/>
        </p:spPr>
        <p:txBody>
          <a:bodyPr wrap="square" lIns="0" rIns="0" tIns="0" bIns="0" anchor="ctr">
            <a:noAutofit/>
          </a:bodyPr>
          <a:lstStyle/>
          <a:p>
            <a:pPr algn="ctr">
              <a:spcAft>
                <a:spcPts val="0"/>
              </a:spcAft>
            </a:pPr>
            <a:r>
              <a:rPr sz="1350" b="1" i="0">
                <a:solidFill>
                  <a:srgbClr val="C9821E"/>
                </a:solidFill>
                <a:latin typeface="Cambria"/>
              </a:rPr>
              <a:t>Point for Madhyasth Darshan</a:t>
            </a:r>
          </a:p>
          <a:p>
            <a:pPr algn="ctr">
              <a:spcAft>
                <a:spcPts val="0"/>
              </a:spcAft>
            </a:pPr>
            <a:r>
              <a:rPr sz="1150" b="0" i="0">
                <a:solidFill>
                  <a:srgbClr val="FFFFFF"/>
                </a:solidFill>
                <a:latin typeface="Calibri"/>
              </a:rPr>
              <a:t>Positional goods arise when jeevan seeks respect through possessions; recycling closes the material loop, but only definite need in the family closes the human side of the cycle.</a:t>
            </a:r>
          </a:p>
        </p:txBody>
      </p:sp>
      <p:sp>
        <p:nvSpPr>
          <p:cNvPr id="15" name="TextBox 14"/>
          <p:cNvSpPr txBox="1"/>
          <p:nvPr/>
        </p:nvSpPr>
        <p:spPr>
          <a:xfrm>
            <a:off x="502920" y="4828032"/>
            <a:ext cx="8138160" cy="256032"/>
          </a:xfrm>
          <a:prstGeom prst="rect">
            <a:avLst/>
          </a:prstGeom>
          <a:noFill/>
        </p:spPr>
        <p:txBody>
          <a:bodyPr wrap="square" lIns="0" rIns="0" tIns="0" bIns="0" anchor="ctr">
            <a:noAutofit/>
          </a:bodyPr>
          <a:lstStyle/>
          <a:p>
            <a:pPr>
              <a:spcAft>
                <a:spcPts val="0"/>
              </a:spcAft>
            </a:pPr>
            <a:r>
              <a:rPr sz="950" b="0" i="1">
                <a:solidFill>
                  <a:srgbClr val="5A6377"/>
                </a:solidFill>
                <a:latin typeface="Calibri"/>
              </a:rPr>
              <a:t>Part I.3  ·  Study §§2.3, 3.9, 4.5, 4.7, 7.2  ·  Veblen 1899  ·  Keynes 1930  ·  Daly 1974  ·  AA pp. 30–33, 114, 142  ·  5 /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spcAft>
                <a:spcPts val="0"/>
              </a:spcAft>
            </a:pPr>
            <a:r>
              <a:rPr sz="1050" b="1" i="0">
                <a:solidFill>
                  <a:srgbClr val="9A6414"/>
                </a:solidFill>
                <a:latin typeface="Calibri"/>
              </a:rPr>
              <a:t>II.1  ·  COORDINATION &amp; COMMONS  ·  §§4.7, 4.9, 8.2</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spcAft>
                <a:spcPts val="0"/>
              </a:spcAft>
            </a:pPr>
            <a:r>
              <a:rPr sz="3000" b="1" i="0">
                <a:solidFill>
                  <a:srgbClr val="1E2447"/>
                </a:solidFill>
                <a:latin typeface="Cambria"/>
              </a:rPr>
              <a:t>Prices, Non-Commodities &amp; Commons</a:t>
            </a:r>
          </a:p>
        </p:txBody>
      </p:sp>
      <p:sp>
        <p:nvSpPr>
          <p:cNvPr id="7" name="Rounded Rectangle 6"/>
          <p:cNvSpPr/>
          <p:nvPr/>
        </p:nvSpPr>
        <p:spPr>
          <a:xfrm>
            <a:off x="640080" y="1280160"/>
            <a:ext cx="3840480" cy="214884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8" name="TextBox 7"/>
          <p:cNvSpPr txBox="1"/>
          <p:nvPr/>
        </p:nvSpPr>
        <p:spPr>
          <a:xfrm>
            <a:off x="822960" y="1399032"/>
            <a:ext cx="3474720" cy="274320"/>
          </a:xfrm>
          <a:prstGeom prst="rect">
            <a:avLst/>
          </a:prstGeom>
          <a:noFill/>
        </p:spPr>
        <p:txBody>
          <a:bodyPr wrap="square" lIns="0" rIns="0" tIns="0" bIns="0" anchor="ctr">
            <a:noAutofit/>
          </a:bodyPr>
          <a:lstStyle/>
          <a:p>
            <a:pPr>
              <a:spcAft>
                <a:spcPts val="0"/>
              </a:spcAft>
            </a:pPr>
            <a:r>
              <a:rPr sz="1300" b="1" i="0">
                <a:solidFill>
                  <a:srgbClr val="1E2447"/>
                </a:solidFill>
                <a:latin typeface="Cambria"/>
              </a:rPr>
              <a:t>Dispersed knowledge in prices (Hayek)</a:t>
            </a:r>
          </a:p>
        </p:txBody>
      </p:sp>
      <p:sp>
        <p:nvSpPr>
          <p:cNvPr id="9" name="TextBox 8"/>
          <p:cNvSpPr txBox="1"/>
          <p:nvPr/>
        </p:nvSpPr>
        <p:spPr>
          <a:xfrm>
            <a:off x="82296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No single central office can know every village's weather, crop yield, tool wear, or local skill.</a:t>
            </a:r>
          </a:p>
          <a:p>
            <a:pPr>
              <a:spcBef>
                <a:spcPts val="600"/>
              </a:spcBef>
              <a:spcAft>
                <a:spcPts val="0"/>
              </a:spcAft>
            </a:pPr>
            <a:r>
              <a:rPr sz="1100" b="0" i="0">
                <a:solidFill>
                  <a:srgbClr val="5A6377"/>
                </a:solidFill>
                <a:latin typeface="Calibri"/>
              </a:rPr>
              <a:t>Hayek argued that market prices compress all that scattered local knowledge into a single number that tells producers what is scarce — though distorted by profit and wealth.</a:t>
            </a:r>
          </a:p>
        </p:txBody>
      </p:sp>
      <p:sp>
        <p:nvSpPr>
          <p:cNvPr id="10" name="Rounded Rectangle 9"/>
          <p:cNvSpPr/>
          <p:nvPr/>
        </p:nvSpPr>
        <p:spPr>
          <a:xfrm>
            <a:off x="4663440" y="1280160"/>
            <a:ext cx="3840480" cy="214884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1" name="TextBox 10"/>
          <p:cNvSpPr txBox="1"/>
          <p:nvPr/>
        </p:nvSpPr>
        <p:spPr>
          <a:xfrm>
            <a:off x="4846320" y="1399032"/>
            <a:ext cx="3474720" cy="274320"/>
          </a:xfrm>
          <a:prstGeom prst="rect">
            <a:avLst/>
          </a:prstGeom>
          <a:noFill/>
        </p:spPr>
        <p:txBody>
          <a:bodyPr wrap="square" lIns="0" rIns="0" tIns="0" bIns="0" anchor="ctr">
            <a:noAutofit/>
          </a:bodyPr>
          <a:lstStyle/>
          <a:p>
            <a:pPr>
              <a:spcAft>
                <a:spcPts val="0"/>
              </a:spcAft>
            </a:pPr>
            <a:r>
              <a:rPr sz="1300" b="1" i="0">
                <a:solidFill>
                  <a:srgbClr val="9A6414"/>
                </a:solidFill>
                <a:latin typeface="Cambria"/>
              </a:rPr>
              <a:t>Fictitious commodities &amp; commons</a:t>
            </a:r>
          </a:p>
        </p:txBody>
      </p:sp>
      <p:sp>
        <p:nvSpPr>
          <p:cNvPr id="12" name="TextBox 11"/>
          <p:cNvSpPr txBox="1"/>
          <p:nvPr/>
        </p:nvSpPr>
        <p:spPr>
          <a:xfrm>
            <a:off x="484632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Polanyi showed that land (nature), human labour, and money are fictitious commodities: treating them as market goods destroys society and nature.</a:t>
            </a:r>
          </a:p>
          <a:p>
            <a:pPr>
              <a:spcBef>
                <a:spcPts val="600"/>
              </a:spcBef>
              <a:spcAft>
                <a:spcPts val="0"/>
              </a:spcAft>
            </a:pPr>
            <a:r>
              <a:rPr sz="1100" b="0" i="0">
                <a:solidFill>
                  <a:srgbClr val="5A6377"/>
                </a:solidFill>
                <a:latin typeface="Calibri"/>
              </a:rPr>
              <a:t>Ostrom proved that local communities govern shared forests and water sustainably using nested, multi-tier rules.</a:t>
            </a:r>
          </a:p>
        </p:txBody>
      </p:sp>
      <p:sp>
        <p:nvSpPr>
          <p:cNvPr id="13" name="Rounded Rectangle 12"/>
          <p:cNvSpPr/>
          <p:nvPr/>
        </p:nvSpPr>
        <p:spPr>
          <a:xfrm>
            <a:off x="640080" y="3611880"/>
            <a:ext cx="7863840" cy="8686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4" name="TextBox 13"/>
          <p:cNvSpPr txBox="1"/>
          <p:nvPr/>
        </p:nvSpPr>
        <p:spPr>
          <a:xfrm>
            <a:off x="868680" y="3611880"/>
            <a:ext cx="7406640" cy="868680"/>
          </a:xfrm>
          <a:prstGeom prst="rect">
            <a:avLst/>
          </a:prstGeom>
          <a:noFill/>
        </p:spPr>
        <p:txBody>
          <a:bodyPr wrap="square" lIns="0" rIns="0" tIns="0" bIns="0" anchor="ctr">
            <a:noAutofit/>
          </a:bodyPr>
          <a:lstStyle/>
          <a:p>
            <a:pPr algn="ctr">
              <a:spcAft>
                <a:spcPts val="0"/>
              </a:spcAft>
            </a:pPr>
            <a:r>
              <a:rPr sz="1350" b="1" i="0">
                <a:solidFill>
                  <a:srgbClr val="C9821E"/>
                </a:solidFill>
                <a:latin typeface="Cambria"/>
              </a:rPr>
              <a:t>Point for Madhyasth Darshan</a:t>
            </a:r>
          </a:p>
          <a:p>
            <a:pPr algn="ctr">
              <a:spcAft>
                <a:spcPts val="0"/>
              </a:spcAft>
            </a:pPr>
            <a:r>
              <a:rPr sz="1150" b="0" i="0">
                <a:solidFill>
                  <a:srgbClr val="FFFFFF"/>
                </a:solidFill>
                <a:latin typeface="Calibri"/>
              </a:rPr>
              <a:t>Removing price speculation across 10 tiers of anubhav-gami humans requires a federated AI agentic backbone that makes facts and checkable logic visible for collective self-correction.</a:t>
            </a:r>
          </a:p>
        </p:txBody>
      </p:sp>
      <p:sp>
        <p:nvSpPr>
          <p:cNvPr id="15" name="TextBox 14"/>
          <p:cNvSpPr txBox="1"/>
          <p:nvPr/>
        </p:nvSpPr>
        <p:spPr>
          <a:xfrm>
            <a:off x="502920" y="4828032"/>
            <a:ext cx="8138160" cy="256032"/>
          </a:xfrm>
          <a:prstGeom prst="rect">
            <a:avLst/>
          </a:prstGeom>
          <a:noFill/>
        </p:spPr>
        <p:txBody>
          <a:bodyPr wrap="square" lIns="0" rIns="0" tIns="0" bIns="0" anchor="ctr">
            <a:noAutofit/>
          </a:bodyPr>
          <a:lstStyle/>
          <a:p>
            <a:pPr>
              <a:spcAft>
                <a:spcPts val="0"/>
              </a:spcAft>
            </a:pPr>
            <a:r>
              <a:rPr sz="950" b="0" i="1">
                <a:solidFill>
                  <a:srgbClr val="5A6377"/>
                </a:solidFill>
                <a:latin typeface="Calibri"/>
              </a:rPr>
              <a:t>Part II.1  ·  Study §§3.12, 4.7, 4.9, 8.2–8.3  ·  Polanyi 1944  ·  Hayek 1945  ·  Ostrom 2010  ·  AA pp. 72, 125–138  ·  6 /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spcAft>
                <a:spcPts val="0"/>
              </a:spcAft>
            </a:pPr>
            <a:r>
              <a:rPr sz="1050" b="1" i="0">
                <a:solidFill>
                  <a:srgbClr val="9A6414"/>
                </a:solidFill>
                <a:latin typeface="Calibri"/>
              </a:rPr>
              <a:t>II.2  ·  NEEDS &amp; CAPABILITIES  ·  §§3.4, 4.6, 8.4</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spcAft>
                <a:spcPts val="0"/>
              </a:spcAft>
            </a:pPr>
            <a:r>
              <a:rPr sz="3000" b="1" i="0">
                <a:solidFill>
                  <a:srgbClr val="1E2447"/>
                </a:solidFill>
                <a:latin typeface="Cambria"/>
              </a:rPr>
              <a:t>Objective Needs &amp; Adaptive Preference</a:t>
            </a:r>
          </a:p>
        </p:txBody>
      </p:sp>
      <p:sp>
        <p:nvSpPr>
          <p:cNvPr id="7" name="Rounded Rectangle 6"/>
          <p:cNvSpPr/>
          <p:nvPr/>
        </p:nvSpPr>
        <p:spPr>
          <a:xfrm>
            <a:off x="640080" y="1280160"/>
            <a:ext cx="3840480" cy="214884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8" name="TextBox 7"/>
          <p:cNvSpPr txBox="1"/>
          <p:nvPr/>
        </p:nvSpPr>
        <p:spPr>
          <a:xfrm>
            <a:off x="822960" y="1399032"/>
            <a:ext cx="3474720" cy="274320"/>
          </a:xfrm>
          <a:prstGeom prst="rect">
            <a:avLst/>
          </a:prstGeom>
          <a:noFill/>
        </p:spPr>
        <p:txBody>
          <a:bodyPr wrap="square" lIns="0" rIns="0" tIns="0" bIns="0" anchor="ctr">
            <a:noAutofit/>
          </a:bodyPr>
          <a:lstStyle/>
          <a:p>
            <a:pPr>
              <a:spcAft>
                <a:spcPts val="0"/>
              </a:spcAft>
            </a:pPr>
            <a:r>
              <a:rPr sz="1300" b="1" i="0">
                <a:solidFill>
                  <a:srgbClr val="1E2447"/>
                </a:solidFill>
                <a:latin typeface="Cambria"/>
              </a:rPr>
              <a:t>Objective needs &amp; capabilities (Sen)</a:t>
            </a:r>
          </a:p>
        </p:txBody>
      </p:sp>
      <p:sp>
        <p:nvSpPr>
          <p:cNvPr id="9" name="TextBox 8"/>
          <p:cNvSpPr txBox="1"/>
          <p:nvPr/>
        </p:nvSpPr>
        <p:spPr>
          <a:xfrm>
            <a:off x="82296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Against market theory (which treats a billionaire's luxury whim and a child's need for milk as equal 'preferences'), Max-Neef, Doyal &amp; Gough, and Sen define objective human needs and capabilities — what people actually need to be nourished, healthy, educated and active.</a:t>
            </a:r>
          </a:p>
        </p:txBody>
      </p:sp>
      <p:sp>
        <p:nvSpPr>
          <p:cNvPr id="10" name="Rounded Rectangle 9"/>
          <p:cNvSpPr/>
          <p:nvPr/>
        </p:nvSpPr>
        <p:spPr>
          <a:xfrm>
            <a:off x="4663440" y="1280160"/>
            <a:ext cx="3840480" cy="214884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1" name="TextBox 10"/>
          <p:cNvSpPr txBox="1"/>
          <p:nvPr/>
        </p:nvSpPr>
        <p:spPr>
          <a:xfrm>
            <a:off x="4846320" y="1399032"/>
            <a:ext cx="3474720" cy="274320"/>
          </a:xfrm>
          <a:prstGeom prst="rect">
            <a:avLst/>
          </a:prstGeom>
          <a:noFill/>
        </p:spPr>
        <p:txBody>
          <a:bodyPr wrap="square" lIns="0" rIns="0" tIns="0" bIns="0" anchor="ctr">
            <a:noAutofit/>
          </a:bodyPr>
          <a:lstStyle/>
          <a:p>
            <a:pPr>
              <a:spcAft>
                <a:spcPts val="0"/>
              </a:spcAft>
            </a:pPr>
            <a:r>
              <a:rPr sz="1300" b="1" i="0">
                <a:solidFill>
                  <a:srgbClr val="9A6414"/>
                </a:solidFill>
                <a:latin typeface="Cambria"/>
              </a:rPr>
              <a:t>Adaptive preference (Sen 1999)</a:t>
            </a:r>
          </a:p>
        </p:txBody>
      </p:sp>
      <p:sp>
        <p:nvSpPr>
          <p:cNvPr id="12" name="TextBox 11"/>
          <p:cNvSpPr txBox="1"/>
          <p:nvPr/>
        </p:nvSpPr>
        <p:spPr>
          <a:xfrm>
            <a:off x="484632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Subjective desires can be distorted in two opposite ways: luxury advertising inflates artificial wants, while long deprivation makes poor families lower their expectations and accept undernourishment or lack of schooling as normal.</a:t>
            </a:r>
          </a:p>
        </p:txBody>
      </p:sp>
      <p:sp>
        <p:nvSpPr>
          <p:cNvPr id="13" name="Rounded Rectangle 12"/>
          <p:cNvSpPr/>
          <p:nvPr/>
        </p:nvSpPr>
        <p:spPr>
          <a:xfrm>
            <a:off x="640080" y="3611880"/>
            <a:ext cx="7863840" cy="8686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4" name="TextBox 13"/>
          <p:cNvSpPr txBox="1"/>
          <p:nvPr/>
        </p:nvSpPr>
        <p:spPr>
          <a:xfrm>
            <a:off x="868680" y="3611880"/>
            <a:ext cx="7406640" cy="868680"/>
          </a:xfrm>
          <a:prstGeom prst="rect">
            <a:avLst/>
          </a:prstGeom>
          <a:noFill/>
        </p:spPr>
        <p:txBody>
          <a:bodyPr wrap="square" lIns="0" rIns="0" tIns="0" bIns="0" anchor="ctr">
            <a:noAutofit/>
          </a:bodyPr>
          <a:lstStyle/>
          <a:p>
            <a:pPr algn="ctr">
              <a:spcAft>
                <a:spcPts val="0"/>
              </a:spcAft>
            </a:pPr>
            <a:r>
              <a:rPr sz="1350" b="1" i="0">
                <a:solidFill>
                  <a:srgbClr val="C9821E"/>
                </a:solidFill>
                <a:latin typeface="Cambria"/>
              </a:rPr>
              <a:t>Point for Madhyasth Darshan</a:t>
            </a:r>
          </a:p>
          <a:p>
            <a:pPr algn="ctr">
              <a:spcAft>
                <a:spcPts val="0"/>
              </a:spcAft>
            </a:pPr>
            <a:r>
              <a:rPr sz="1150" b="0" i="0">
                <a:solidFill>
                  <a:srgbClr val="FFFFFF"/>
                </a:solidFill>
                <a:latin typeface="Calibri"/>
              </a:rPr>
              <a:t>Supports the treatise's definite assessment of common and special aspirations in the family (AA p. 112), guided by education-sanskar so need is neither inflated by luxury nor shrunk by deprivation.</a:t>
            </a:r>
          </a:p>
        </p:txBody>
      </p:sp>
      <p:sp>
        <p:nvSpPr>
          <p:cNvPr id="15" name="TextBox 14"/>
          <p:cNvSpPr txBox="1"/>
          <p:nvPr/>
        </p:nvSpPr>
        <p:spPr>
          <a:xfrm>
            <a:off x="502920" y="4828032"/>
            <a:ext cx="8138160" cy="256032"/>
          </a:xfrm>
          <a:prstGeom prst="rect">
            <a:avLst/>
          </a:prstGeom>
          <a:noFill/>
        </p:spPr>
        <p:txBody>
          <a:bodyPr wrap="square" lIns="0" rIns="0" tIns="0" bIns="0" anchor="ctr">
            <a:noAutofit/>
          </a:bodyPr>
          <a:lstStyle/>
          <a:p>
            <a:pPr>
              <a:spcAft>
                <a:spcPts val="0"/>
              </a:spcAft>
            </a:pPr>
            <a:r>
              <a:rPr sz="950" b="0" i="1">
                <a:solidFill>
                  <a:srgbClr val="5A6377"/>
                </a:solidFill>
                <a:latin typeface="Calibri"/>
              </a:rPr>
              <a:t>Part II.2  ·  Study §§3.4, 4.6, 8.3–8.4, 9.6  ·  Max-Neef 1991  ·  Doyal &amp; Gough 1991  ·  Sen 1999  ·  AA pp. 26, 112  ·  7 / 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spcAft>
                <a:spcPts val="0"/>
              </a:spcAft>
            </a:pPr>
            <a:r>
              <a:rPr sz="1050" b="1" i="0">
                <a:solidFill>
                  <a:srgbClr val="9A6414"/>
                </a:solidFill>
                <a:latin typeface="Calibri"/>
              </a:rPr>
              <a:t>II.3  ·  MONEY &amp; CLEARING  ·  §§2.4, 3.14, 4.6</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spcAft>
                <a:spcPts val="0"/>
              </a:spcAft>
            </a:pPr>
            <a:r>
              <a:rPr sz="3000" b="1" i="0">
                <a:solidFill>
                  <a:srgbClr val="1E2447"/>
                </a:solidFill>
                <a:latin typeface="Cambria"/>
              </a:rPr>
              <a:t>Bank Credit vs. Mutual-Credit Clearing</a:t>
            </a:r>
          </a:p>
        </p:txBody>
      </p:sp>
      <p:sp>
        <p:nvSpPr>
          <p:cNvPr id="7" name="Rounded Rectangle 6"/>
          <p:cNvSpPr/>
          <p:nvPr/>
        </p:nvSpPr>
        <p:spPr>
          <a:xfrm>
            <a:off x="640080" y="1280160"/>
            <a:ext cx="3840480" cy="214884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8" name="TextBox 7"/>
          <p:cNvSpPr txBox="1"/>
          <p:nvPr/>
        </p:nvSpPr>
        <p:spPr>
          <a:xfrm>
            <a:off x="822960" y="1399032"/>
            <a:ext cx="3474720" cy="274320"/>
          </a:xfrm>
          <a:prstGeom prst="rect">
            <a:avLst/>
          </a:prstGeom>
          <a:noFill/>
        </p:spPr>
        <p:txBody>
          <a:bodyPr wrap="square" lIns="0" rIns="0" tIns="0" bIns="0" anchor="ctr">
            <a:noAutofit/>
          </a:bodyPr>
          <a:lstStyle/>
          <a:p>
            <a:pPr>
              <a:spcAft>
                <a:spcPts val="0"/>
              </a:spcAft>
            </a:pPr>
            <a:r>
              <a:rPr sz="1300" b="1" i="0">
                <a:solidFill>
                  <a:srgbClr val="1E2447"/>
                </a:solidFill>
                <a:latin typeface="Cambria"/>
              </a:rPr>
              <a:t>Bank money created as debt (BoE 2014)</a:t>
            </a:r>
          </a:p>
        </p:txBody>
      </p:sp>
      <p:sp>
        <p:nvSpPr>
          <p:cNvPr id="9" name="TextBox 8"/>
          <p:cNvSpPr txBox="1"/>
          <p:nvPr/>
        </p:nvSpPr>
        <p:spPr>
          <a:xfrm>
            <a:off x="82296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In today's economy, most money is not printed by the government or backed by gold.</a:t>
            </a:r>
          </a:p>
          <a:p>
            <a:pPr>
              <a:spcBef>
                <a:spcPts val="600"/>
              </a:spcBef>
              <a:spcAft>
                <a:spcPts val="0"/>
              </a:spcAft>
            </a:pPr>
            <a:r>
              <a:rPr sz="1100" b="0" i="0">
                <a:solidFill>
                  <a:srgbClr val="5A6377"/>
                </a:solidFill>
                <a:latin typeface="Calibri"/>
              </a:rPr>
              <a:t>As the Bank of England explains, whenever a commercial bank makes a loan, it creates new digital money on its ledger together with an interest-bearing debt.</a:t>
            </a:r>
          </a:p>
        </p:txBody>
      </p:sp>
      <p:sp>
        <p:nvSpPr>
          <p:cNvPr id="10" name="Rounded Rectangle 9"/>
          <p:cNvSpPr/>
          <p:nvPr/>
        </p:nvSpPr>
        <p:spPr>
          <a:xfrm>
            <a:off x="4663440" y="1280160"/>
            <a:ext cx="3840480" cy="214884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1" name="TextBox 10"/>
          <p:cNvSpPr txBox="1"/>
          <p:nvPr/>
        </p:nvSpPr>
        <p:spPr>
          <a:xfrm>
            <a:off x="4846320" y="1399032"/>
            <a:ext cx="3474720" cy="274320"/>
          </a:xfrm>
          <a:prstGeom prst="rect">
            <a:avLst/>
          </a:prstGeom>
          <a:noFill/>
        </p:spPr>
        <p:txBody>
          <a:bodyPr wrap="square" lIns="0" rIns="0" tIns="0" bIns="0" anchor="ctr">
            <a:noAutofit/>
          </a:bodyPr>
          <a:lstStyle/>
          <a:p>
            <a:pPr>
              <a:spcAft>
                <a:spcPts val="0"/>
              </a:spcAft>
            </a:pPr>
            <a:r>
              <a:rPr sz="1300" b="1" i="0">
                <a:solidFill>
                  <a:srgbClr val="9A6414"/>
                </a:solidFill>
                <a:latin typeface="Cambria"/>
              </a:rPr>
              <a:t>Mutual-credit clearing (Swiss WIR)</a:t>
            </a:r>
          </a:p>
        </p:txBody>
      </p:sp>
      <p:sp>
        <p:nvSpPr>
          <p:cNvPr id="12" name="TextBox 11"/>
          <p:cNvSpPr txBox="1"/>
          <p:nvPr/>
        </p:nvSpPr>
        <p:spPr>
          <a:xfrm>
            <a:off x="484632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In a mutual-credit clearing network (such as the Swiss WIR cooperative, operating since 1934), producers trade goods using interest-free ledger credits.</a:t>
            </a:r>
          </a:p>
          <a:p>
            <a:pPr>
              <a:spcBef>
                <a:spcPts val="600"/>
              </a:spcBef>
              <a:spcAft>
                <a:spcPts val="0"/>
              </a:spcAft>
            </a:pPr>
            <a:r>
              <a:rPr sz="1100" b="0" i="0">
                <a:solidFill>
                  <a:srgbClr val="5A6377"/>
                </a:solidFill>
                <a:latin typeface="Calibri"/>
              </a:rPr>
              <a:t>Delivering grain credits your account; taking cloth debits it; across the community the ledger sums to zero.</a:t>
            </a:r>
          </a:p>
        </p:txBody>
      </p:sp>
      <p:sp>
        <p:nvSpPr>
          <p:cNvPr id="13" name="Rounded Rectangle 12"/>
          <p:cNvSpPr/>
          <p:nvPr/>
        </p:nvSpPr>
        <p:spPr>
          <a:xfrm>
            <a:off x="640080" y="3611880"/>
            <a:ext cx="7863840" cy="8686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4" name="TextBox 13"/>
          <p:cNvSpPr txBox="1"/>
          <p:nvPr/>
        </p:nvSpPr>
        <p:spPr>
          <a:xfrm>
            <a:off x="868680" y="3611880"/>
            <a:ext cx="7406640" cy="868680"/>
          </a:xfrm>
          <a:prstGeom prst="rect">
            <a:avLst/>
          </a:prstGeom>
          <a:noFill/>
        </p:spPr>
        <p:txBody>
          <a:bodyPr wrap="square" lIns="0" rIns="0" tIns="0" bIns="0" anchor="ctr">
            <a:noAutofit/>
          </a:bodyPr>
          <a:lstStyle/>
          <a:p>
            <a:pPr algn="ctr">
              <a:spcAft>
                <a:spcPts val="0"/>
              </a:spcAft>
            </a:pPr>
            <a:r>
              <a:rPr sz="1350" b="1" i="0">
                <a:solidFill>
                  <a:srgbClr val="C9821E"/>
                </a:solidFill>
                <a:latin typeface="Cambria"/>
              </a:rPr>
              <a:t>Point for Madhyasth Darshan</a:t>
            </a:r>
          </a:p>
          <a:p>
            <a:pPr algn="ctr">
              <a:spcAft>
                <a:spcPts val="0"/>
              </a:spcAft>
            </a:pPr>
            <a:r>
              <a:rPr sz="1150" b="0" i="0">
                <a:solidFill>
                  <a:srgbClr val="FFFFFF"/>
                </a:solidFill>
                <a:latin typeface="Calibri"/>
              </a:rPr>
              <a:t>Shows practically how the village exchange-reserve (vinimay kosh, AA pp. 136–138, 142–143) can clear production by book accounts without interest, hoarding, or bank debt.</a:t>
            </a:r>
          </a:p>
        </p:txBody>
      </p:sp>
      <p:sp>
        <p:nvSpPr>
          <p:cNvPr id="15" name="TextBox 14"/>
          <p:cNvSpPr txBox="1"/>
          <p:nvPr/>
        </p:nvSpPr>
        <p:spPr>
          <a:xfrm>
            <a:off x="502920" y="4828032"/>
            <a:ext cx="8138160" cy="256032"/>
          </a:xfrm>
          <a:prstGeom prst="rect">
            <a:avLst/>
          </a:prstGeom>
          <a:noFill/>
        </p:spPr>
        <p:txBody>
          <a:bodyPr wrap="square" lIns="0" rIns="0" tIns="0" bIns="0" anchor="ctr">
            <a:noAutofit/>
          </a:bodyPr>
          <a:lstStyle/>
          <a:p>
            <a:pPr>
              <a:spcAft>
                <a:spcPts val="0"/>
              </a:spcAft>
            </a:pPr>
            <a:r>
              <a:rPr sz="950" b="0" i="1">
                <a:solidFill>
                  <a:srgbClr val="5A6377"/>
                </a:solidFill>
                <a:latin typeface="Calibri"/>
              </a:rPr>
              <a:t>Part II.3  ·  Study §§2.4, 3.14, 4.6, 8.3–8.4  ·  Stodder 2009  ·  Bank of England 2014  ·  AA pp. 136–138, 142–143  ·  8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57200" y="384048"/>
            <a:ext cx="365760" cy="365760"/>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3" name="Oval 2"/>
          <p:cNvSpPr/>
          <p:nvPr/>
        </p:nvSpPr>
        <p:spPr>
          <a:xfrm>
            <a:off x="530352" y="457200"/>
            <a:ext cx="219456" cy="219456"/>
          </a:xfrm>
          <a:prstGeom prst="ellipse">
            <a:avLst/>
          </a:prstGeom>
          <a:noFill/>
          <a:ln w="12700">
            <a:solidFill>
              <a:srgbClr val="3B4A7A"/>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4" name="Oval 3"/>
          <p:cNvSpPr/>
          <p:nvPr/>
        </p:nvSpPr>
        <p:spPr>
          <a:xfrm>
            <a:off x="594360" y="521207"/>
            <a:ext cx="91440" cy="91440"/>
          </a:xfrm>
          <a:prstGeom prst="ellipse">
            <a:avLst/>
          </a:prstGeom>
          <a:solidFill>
            <a:srgbClr val="C9821E"/>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5" name="TextBox 4"/>
          <p:cNvSpPr txBox="1"/>
          <p:nvPr/>
        </p:nvSpPr>
        <p:spPr>
          <a:xfrm>
            <a:off x="960120" y="256032"/>
            <a:ext cx="7680960" cy="237744"/>
          </a:xfrm>
          <a:prstGeom prst="rect">
            <a:avLst/>
          </a:prstGeom>
          <a:noFill/>
        </p:spPr>
        <p:txBody>
          <a:bodyPr wrap="square" lIns="0" rIns="0" tIns="0" bIns="0" anchor="ctr">
            <a:noAutofit/>
          </a:bodyPr>
          <a:lstStyle/>
          <a:p>
            <a:pPr>
              <a:spcAft>
                <a:spcPts val="0"/>
              </a:spcAft>
            </a:pPr>
            <a:r>
              <a:rPr sz="1050" b="1" i="0">
                <a:solidFill>
                  <a:srgbClr val="9A6414"/>
                </a:solidFill>
                <a:latin typeface="Calibri"/>
              </a:rPr>
              <a:t>II.4  ·  LABOUR &amp; RENT ACCOUNTING  ·  §§4.2, 4.10, 8.5</a:t>
            </a:r>
          </a:p>
        </p:txBody>
      </p:sp>
      <p:sp>
        <p:nvSpPr>
          <p:cNvPr id="6" name="TextBox 5"/>
          <p:cNvSpPr txBox="1"/>
          <p:nvPr/>
        </p:nvSpPr>
        <p:spPr>
          <a:xfrm>
            <a:off x="960120" y="457200"/>
            <a:ext cx="7726679" cy="566928"/>
          </a:xfrm>
          <a:prstGeom prst="rect">
            <a:avLst/>
          </a:prstGeom>
          <a:noFill/>
        </p:spPr>
        <p:txBody>
          <a:bodyPr wrap="square" lIns="0" rIns="0" tIns="0" bIns="0" anchor="ctr">
            <a:noAutofit/>
          </a:bodyPr>
          <a:lstStyle/>
          <a:p>
            <a:pPr>
              <a:spcAft>
                <a:spcPts val="0"/>
              </a:spcAft>
            </a:pPr>
            <a:r>
              <a:rPr sz="3000" b="1" i="0">
                <a:solidFill>
                  <a:srgbClr val="1E2447"/>
                </a:solidFill>
                <a:latin typeface="Cambria"/>
              </a:rPr>
              <a:t>Input–Output &amp; Differential Rent</a:t>
            </a:r>
          </a:p>
        </p:txBody>
      </p:sp>
      <p:sp>
        <p:nvSpPr>
          <p:cNvPr id="7" name="Rounded Rectangle 6"/>
          <p:cNvSpPr/>
          <p:nvPr/>
        </p:nvSpPr>
        <p:spPr>
          <a:xfrm>
            <a:off x="640080" y="1280160"/>
            <a:ext cx="3840480" cy="2148840"/>
          </a:xfrm>
          <a:prstGeom prst="roundRect">
            <a:avLst>
              <a:gd name="adj" fmla="val 7000"/>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8" name="TextBox 7"/>
          <p:cNvSpPr txBox="1"/>
          <p:nvPr/>
        </p:nvSpPr>
        <p:spPr>
          <a:xfrm>
            <a:off x="822960" y="1399032"/>
            <a:ext cx="3474720" cy="274320"/>
          </a:xfrm>
          <a:prstGeom prst="rect">
            <a:avLst/>
          </a:prstGeom>
          <a:noFill/>
        </p:spPr>
        <p:txBody>
          <a:bodyPr wrap="square" lIns="0" rIns="0" tIns="0" bIns="0" anchor="ctr">
            <a:noAutofit/>
          </a:bodyPr>
          <a:lstStyle/>
          <a:p>
            <a:pPr>
              <a:spcAft>
                <a:spcPts val="0"/>
              </a:spcAft>
            </a:pPr>
            <a:r>
              <a:rPr sz="1300" b="1" i="0">
                <a:solidFill>
                  <a:srgbClr val="1E2447"/>
                </a:solidFill>
                <a:latin typeface="Cambria"/>
              </a:rPr>
              <a:t>Input–output &amp; depreciation (Leontief)</a:t>
            </a:r>
          </a:p>
        </p:txBody>
      </p:sp>
      <p:sp>
        <p:nvSpPr>
          <p:cNvPr id="9" name="TextBox 8"/>
          <p:cNvSpPr txBox="1"/>
          <p:nvPr/>
        </p:nvSpPr>
        <p:spPr>
          <a:xfrm>
            <a:off x="82296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A loaf of bread requires not only the baker's hours, but also the farmer's grain, the miller's flour, and a small fraction of the oven and plough worn down each season (depreciation).</a:t>
            </a:r>
          </a:p>
          <a:p>
            <a:pPr>
              <a:spcBef>
                <a:spcPts val="600"/>
              </a:spcBef>
              <a:spcAft>
                <a:spcPts val="0"/>
              </a:spcAft>
            </a:pPr>
            <a:r>
              <a:rPr sz="1100" b="0" i="0">
                <a:solidFill>
                  <a:srgbClr val="5A6377"/>
                </a:solidFill>
                <a:latin typeface="Calibri"/>
              </a:rPr>
              <a:t>An input–output table calculates the total direct and indirect labour across every stage.</a:t>
            </a:r>
          </a:p>
        </p:txBody>
      </p:sp>
      <p:sp>
        <p:nvSpPr>
          <p:cNvPr id="10" name="Rounded Rectangle 9"/>
          <p:cNvSpPr/>
          <p:nvPr/>
        </p:nvSpPr>
        <p:spPr>
          <a:xfrm>
            <a:off x="4663440" y="1280160"/>
            <a:ext cx="3840480" cy="2148840"/>
          </a:xfrm>
          <a:prstGeom prst="roundRect">
            <a:avLst>
              <a:gd name="adj" fmla="val 7000"/>
            </a:avLst>
          </a:prstGeom>
          <a:solidFill>
            <a:srgbClr val="FAF1DF"/>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1" name="TextBox 10"/>
          <p:cNvSpPr txBox="1"/>
          <p:nvPr/>
        </p:nvSpPr>
        <p:spPr>
          <a:xfrm>
            <a:off x="4846320" y="1399032"/>
            <a:ext cx="3474720" cy="274320"/>
          </a:xfrm>
          <a:prstGeom prst="rect">
            <a:avLst/>
          </a:prstGeom>
          <a:noFill/>
        </p:spPr>
        <p:txBody>
          <a:bodyPr wrap="square" lIns="0" rIns="0" tIns="0" bIns="0" anchor="ctr">
            <a:noAutofit/>
          </a:bodyPr>
          <a:lstStyle/>
          <a:p>
            <a:pPr>
              <a:spcAft>
                <a:spcPts val="0"/>
              </a:spcAft>
            </a:pPr>
            <a:r>
              <a:rPr sz="1300" b="1" i="0">
                <a:solidFill>
                  <a:srgbClr val="9A6414"/>
                </a:solidFill>
                <a:latin typeface="Cambria"/>
              </a:rPr>
              <a:t>Differential rent (Ricardo 1817)</a:t>
            </a:r>
          </a:p>
        </p:txBody>
      </p:sp>
      <p:sp>
        <p:nvSpPr>
          <p:cNvPr id="12" name="TextBox 11"/>
          <p:cNvSpPr txBox="1"/>
          <p:nvPr/>
        </p:nvSpPr>
        <p:spPr>
          <a:xfrm>
            <a:off x="4846320" y="1755648"/>
            <a:ext cx="3474720" cy="1600200"/>
          </a:xfrm>
          <a:prstGeom prst="rect">
            <a:avLst/>
          </a:prstGeom>
          <a:noFill/>
        </p:spPr>
        <p:txBody>
          <a:bodyPr wrap="square" lIns="0" rIns="0" tIns="0" bIns="0" anchor="t">
            <a:noAutofit/>
          </a:bodyPr>
          <a:lstStyle/>
          <a:p>
            <a:pPr>
              <a:spcAft>
                <a:spcPts val="0"/>
              </a:spcAft>
            </a:pPr>
            <a:r>
              <a:rPr sz="1100" b="0" i="0">
                <a:solidFill>
                  <a:srgbClr val="5A6377"/>
                </a:solidFill>
                <a:latin typeface="Calibri"/>
              </a:rPr>
              <a:t>Ten days of equal farming skill and effort may yield 20 quintals of wheat on fertile river-valley soil, but only 10 quintals on stony upland soil.</a:t>
            </a:r>
          </a:p>
          <a:p>
            <a:pPr>
              <a:spcBef>
                <a:spcPts val="600"/>
              </a:spcBef>
              <a:spcAft>
                <a:spcPts val="0"/>
              </a:spcAft>
            </a:pPr>
            <a:r>
              <a:rPr sz="1100" b="0" i="0">
                <a:solidFill>
                  <a:srgbClr val="5A6377"/>
                </a:solidFill>
                <a:latin typeface="Calibri"/>
              </a:rPr>
              <a:t>Ricardo called the extra 10 quintals differential rent: it comes from nature's fertility, not extra human work.</a:t>
            </a:r>
          </a:p>
        </p:txBody>
      </p:sp>
      <p:sp>
        <p:nvSpPr>
          <p:cNvPr id="13" name="Rounded Rectangle 12"/>
          <p:cNvSpPr/>
          <p:nvPr/>
        </p:nvSpPr>
        <p:spPr>
          <a:xfrm>
            <a:off x="640080" y="3611880"/>
            <a:ext cx="7863840" cy="868680"/>
          </a:xfrm>
          <a:prstGeom prst="roundRect">
            <a:avLst>
              <a:gd name="adj" fmla="val 7000"/>
            </a:avLst>
          </a:prstGeom>
          <a:solidFill>
            <a:srgbClr val="1E2447"/>
          </a:solidFill>
          <a:ln>
            <a:no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p>
        </p:txBody>
      </p:sp>
      <p:sp>
        <p:nvSpPr>
          <p:cNvPr id="14" name="TextBox 13"/>
          <p:cNvSpPr txBox="1"/>
          <p:nvPr/>
        </p:nvSpPr>
        <p:spPr>
          <a:xfrm>
            <a:off x="868680" y="3611880"/>
            <a:ext cx="7406640" cy="868680"/>
          </a:xfrm>
          <a:prstGeom prst="rect">
            <a:avLst/>
          </a:prstGeom>
          <a:noFill/>
        </p:spPr>
        <p:txBody>
          <a:bodyPr wrap="square" lIns="0" rIns="0" tIns="0" bIns="0" anchor="ctr">
            <a:noAutofit/>
          </a:bodyPr>
          <a:lstStyle/>
          <a:p>
            <a:pPr algn="ctr">
              <a:spcAft>
                <a:spcPts val="0"/>
              </a:spcAft>
            </a:pPr>
            <a:r>
              <a:rPr sz="1350" b="1" i="0">
                <a:solidFill>
                  <a:srgbClr val="C9821E"/>
                </a:solidFill>
                <a:latin typeface="Cambria"/>
              </a:rPr>
              <a:t>Point for Madhyasth Darshan</a:t>
            </a:r>
          </a:p>
          <a:p>
            <a:pPr algn="ctr">
              <a:spcAft>
                <a:spcPts val="0"/>
              </a:spcAft>
            </a:pPr>
            <a:r>
              <a:rPr sz="1150" b="0" i="0">
                <a:solidFill>
                  <a:srgbClr val="FFFFFF"/>
                </a:solidFill>
                <a:latin typeface="Calibri"/>
              </a:rPr>
              <a:t>To exchange fairly at the value of labour (shram mulya, AA pp. 66, 119–120), committee AI agents use input–output accounting and separate natural abundance from human effort.</a:t>
            </a:r>
          </a:p>
        </p:txBody>
      </p:sp>
      <p:sp>
        <p:nvSpPr>
          <p:cNvPr id="15" name="TextBox 14"/>
          <p:cNvSpPr txBox="1"/>
          <p:nvPr/>
        </p:nvSpPr>
        <p:spPr>
          <a:xfrm>
            <a:off x="502920" y="4828032"/>
            <a:ext cx="8138160" cy="256032"/>
          </a:xfrm>
          <a:prstGeom prst="rect">
            <a:avLst/>
          </a:prstGeom>
          <a:noFill/>
        </p:spPr>
        <p:txBody>
          <a:bodyPr wrap="square" lIns="0" rIns="0" tIns="0" bIns="0" anchor="ctr">
            <a:noAutofit/>
          </a:bodyPr>
          <a:lstStyle/>
          <a:p>
            <a:pPr>
              <a:spcAft>
                <a:spcPts val="0"/>
              </a:spcAft>
            </a:pPr>
            <a:r>
              <a:rPr sz="950" b="0" i="1">
                <a:solidFill>
                  <a:srgbClr val="5A6377"/>
                </a:solidFill>
                <a:latin typeface="Calibri"/>
              </a:rPr>
              <a:t>Part II.4  ·  Study §§3.6, 4.2, 4.10, 8.2, 8.5  ·  Ricardo 1817  ·  Leontief 1936  ·  Cockshott &amp; Cottrell 1993  ·  AA pp. 66, 118–120  ·  9 /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