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7" r:id="rId17"/>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7" Type="http://schemas.openxmlformats.org/officeDocument/2006/relationships/slide" Target="slides/slide6.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ten-part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card summarises why existing economic theories — mainstream and heterodox alike — hit six structural deadlocks when they model the human being as a physical-biological body alone, and why jeevan and realisation (anubhav) in coexistence are required to resolve them:</a:t>
            </a:r>
          </a:p>
          <a:p/>
          <a:p>
            <a:r>
              <a:t>1. Rebound vs. ascetic erosion: External caps and moral vows cannot contain jeevan's inexhaustible (akshay, uditodit) powers while the higher 5.5 activities remain unawakened; realisation regulates taste from within (AA pp. 50, 95).</a:t>
            </a:r>
          </a:p>
          <a:p>
            <a:r>
              <a:t>2. No observer-invariant social agreement (Arrow 1951): Body-rooted priya–hita–labha preferences differ in every body; every human is jeevan with the ability to realise in the coexistence of satta (vyapak) and nature as a whole at once (trikalabadh satya, AA pp. 47, 51; MVD p. 203), providing one shared reality for universal agreement.</a:t>
            </a:r>
          </a:p>
          <a:p>
            <a:r>
              <a:t>3. Work-disutility &amp; patent trilemma: Treating work as disutility requires wage fear or monopoly patents; in resolution, labour itself is restful (shram ka vishram = samadhan, AA p. 23) and inventions are honoured with puraskar and shared openly (AA pp. 56–58, 140, 144).</a:t>
            </a:r>
          </a:p>
          <a:p>
            <a:r>
              <a:t>4. Non-kin sharing collapse: Because every member is jeevan with the ability to realise in the coexistence of satta (vyapak) and nature as a whole at once, this forms the basis of unconditional need-sharing in the 10-member family and unpaid benevolent service (upkar-pradhan seva, AA pp. 1, 14, 119–120).</a:t>
            </a:r>
          </a:p>
          <a:p>
            <a:r>
              <a:t>5. Ledger gaming: Inner sovereignty (samprabhuta) and mutual satisfaction (ubhay-tripti) establish the satiation point of exchange (vinimay ka tripti bindu, AA p. 76).</a:t>
            </a:r>
          </a:p>
          <a:p>
            <a:r>
              <a:t>6. Intergenerational discounting: A realised human sees the prosperity of oneself and one's family in the prosperity of the whole and the perpetuity of human civilization across generations (AA pp. 62–63, 72, 94, 142, 146; KD p. 7), eliminating intergenerational discounting.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ten-part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I.4)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Because body-rooted preferences (priya–hita–labha) differ in every body, subjective utility hits Arrow's impossibility barrier and can never reach universal social agreement without realisation (anubhav) in coexistence (AA pp. 19–20,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(C → M → C, for use) versus the circuit of capital (M → C → M'). In his Critique of the Gotha Programme (1875), he argued that a post-capitalist society would first have to pay individuals by labour-time certificates and could only reach distribution according to need in a distant future stage.</a:t>
            </a:r>
          </a:p>
          <a:p/>
          <a:p>
            <a:r>
              <a:t>In relation to Madhyasth Darshan: without jeevan and realisation, post-capitalist models hit both the non-kin sharing barrier and the work-disutility trilemma. By because every member is jeevan, able to realise in the coexistence of satta (vyapak) and nature as a whole at once, forming the basis of the ten-member family and discovering that the restfulness of labour is resolution itself (shram ka vishram = samadhan, AA p. 23), Madhyasth Darshan pairs unconditional need-sharing inside the family (AA pp. 1, 119–120) with five-factor inter-family labour-value exchange (AA pp. 119, 145) and open dissemination of honoured inventions (puraskar, AA pp. 56–58, 140, 144)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arises when a deluded jeevan seeks respect (samman) through possessions (AA p. 45). Moreover, external throughput caps and ascetic restraint erode over time if jeevan's inexhaustible powers remain trapped in the 4.5 activities, and agents seeking private prosperity apart from the whole discount the distant future. Only awakening the higher 5.5 activities and seeing one's own and one's family's prosperity in the prosperity of the whole and the perpetuity of human civilization closes the human side of the cycle with zero intergenerational discounting (§§4.7,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Karl Polanyi (1944) showed that land, human labour, and money are fictitious commodities whose marketisation destroys society and nature. Elinor Ostrom (2010) showed empirically that communities manage shared resources best through nested, multi-tier local governance.</a:t>
            </a:r>
          </a:p>
          <a:p/>
          <a:p>
            <a:r>
              <a:t>In relation to Madhyasth Darshan: scaling polycentric self-governance across ten tiers to the whole Earth while citizens are in the process of realisation (anubhav-gami) and councillors serve part-time (AA p. 127) makes a federated ten-tier AI agentic backbone a structural requirement. Paired AI agents replace speculative price signals and place objective facts and checkable causal logic in common view before every council, so inconsistencies cannot be ignored and the collective self-corrects even when an individual errs (§§8.1–8.3; AA p. 139).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a:p>
            <a:pPr/>
            <a:r>
              <a:rPr sz="1100" b="0" i="0">
                <a:solidFill>
                  <a:srgbClr val="5A6377"/>
                </a:solidFill>
                <a:latin typeface="Calibri"/>
              </a:rPr>
              <a:t>› I.4: Six deadlocks &amp; why realisation is needed</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(4.5 activities in delusion) for human nature; without jeevan and realisation in coexistence, subjective utility has no objective anchor.</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skill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simple exchange (C → M → C, for use) with capital (M → C → M'). He valued goods by socially necessary labour (skilled = multiplied simple labour).</a:t>
            </a:r>
          </a:p>
          <a:p>
            <a:pPr>
              <a:spcBef>
                <a:spcPts val="600"/>
              </a:spcBef>
              <a:spcAft>
                <a:spcPts val="0"/>
              </a:spcAft>
            </a:pPr>
            <a:r>
              <a:rPr sz="1100" b="0" i="0">
                <a:solidFill>
                  <a:srgbClr val="5A6377"/>
                </a:solidFill>
                <a:latin typeface="Calibri"/>
              </a:rPr>
              <a:t>After capitalism, he split distribution into two stages: labour-time certificates first (still unequal across family needs), and need-sharing only in a distant future.</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Pairs family need-sharing and 5-factor inter-family labour exchange (skill, proficiency, speed, time, means) simultaneously, honouring new tools with prizes (puraskar) and sharing them openly.</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3.10, 4.1, 4.3, 7.2  ·  Aristotle Politics I  ·  Marx 1867, 1875  ·  AA pp. 1, 119–120, 140, 144–145  ·  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3.9, 4.5, 4.7, 7.2  ·  Veblen 1899  ·  Keynes 1930  ·  Daly 1974  ·  AA pp. 30–33, 114, 142  ·  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I.4  ·  STRUCTURAL CEILINGS  ·  §§1.3, 7.2, 9.1</a:t>
            </a:r>
          </a:p>
        </p:txBody>
      </p:sp>
      <p:sp>
        <p:nvSpPr>
          <p:cNvPr id="8"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Six Deadlocks &amp; Need for Realisation</a:t>
            </a:r>
          </a:p>
        </p:txBody>
      </p:sp>
      <p:sp>
        <p:nvSpPr>
          <p:cNvPr id="9"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Six deadlocks of body-centric economics</a:t>
            </a:r>
          </a:p>
        </p:txBody>
      </p:sp>
      <p:sp>
        <p:nvSpPr>
          <p:cNvPr id="11"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1. Demand rebound vs. eroding ascetic caps; 2. No observer-invariant social agreement (Arrow); 3. Work-disutility &amp; patent monopoly trap.</a:t>
            </a:r>
          </a:p>
          <a:p>
            <a:pPr>
              <a:spcBef>
                <a:spcPts val="600"/>
              </a:spcBef>
              <a:spcAft>
                <a:spcPts val="0"/>
              </a:spcAft>
            </a:pPr>
            <a:r>
              <a:rPr sz="1100" b="0" i="0">
                <a:solidFill>
                  <a:srgbClr val="5A6377"/>
                </a:solidFill>
                <a:latin typeface="Calibri"/>
              </a:rPr>
              <a:t>4. Non-kin sharing collapse beyond genetic family; 5. Strategic gaming of interest-free ledgers; 6. Discounting future generations for private gain.</a:t>
            </a:r>
          </a:p>
        </p:txBody>
      </p:sp>
      <p:sp>
        <p:nvSpPr>
          <p:cNvPr id="12"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3"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Why realisation (anubhav) is required</a:t>
            </a:r>
          </a:p>
        </p:txBody>
      </p:sp>
      <p:sp>
        <p:nvSpPr>
          <p:cNvPr id="14"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Realisation in the coexistence of satta (vyapak) and nature as a whole at once (MVD p. 203) awakens jeevan's higher 5.5 activities to regulate taste and gives one universal anchor.</a:t>
            </a:r>
          </a:p>
          <a:p>
            <a:pPr>
              <a:spcBef>
                <a:spcPts val="600"/>
              </a:spcBef>
              <a:spcAft>
                <a:spcPts val="0"/>
              </a:spcAft>
            </a:pPr>
            <a:r>
              <a:rPr sz="1100" b="0" i="0">
                <a:solidFill>
                  <a:srgbClr val="5A6377"/>
                </a:solidFill>
                <a:latin typeface="Calibri"/>
              </a:rPr>
              <a:t>Every member is jeevan, able to realise the whole — grounding the 10-member family, restful labour, exchange satiation, and seeing own/family prosperity in the whole and human perpetuity.</a:t>
            </a:r>
          </a:p>
        </p:txBody>
      </p:sp>
      <p:sp>
        <p:nvSpPr>
          <p:cNvPr id="15"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6"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Neither market prices nor external caps nor moral vows can resolve these 6 deadlocks without jeevan and realisation — and while humans are anubhav-gami, a 10-tier AI backbone is required.</a:t>
            </a:r>
          </a:p>
        </p:txBody>
      </p:sp>
      <p:sp>
        <p:nvSpPr>
          <p:cNvPr id="17"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I.4  ·  Study §§1.3, 2.1–2.2, 7.2, 8.2, 9.1  ·  AA pp. 18–23, 47–60, 76, 95  ·  MVD p. 203  ·  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Removing price speculation across 10 tiers of anubhav-gami humans requires a federated AI agentic backbone that makes facts and checkable logic visible for collective self-correction.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§§3.12, 4.7, 4.9, 8.2–8.3  ·  Polanyi 1944  ·  Hayek 1945  ·  Ostrom 2010  ·  AA pp. 72, 125–138  ·  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3.14, 4.6</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3.14, 4.6, 8.3–8.4  ·  Stodder 2009  ·  Bank of England 2014  ·  AA pp. 136–138, 142–143  ·  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