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33b36e64f4544bb" /><Relationship Type="http://schemas.openxmlformats.org/officeDocument/2006/relationships/extended-properties" Target="/docProps/app.xml" Id="R71302599dcab44d8" /><Relationship Type="http://schemas.openxmlformats.org/officeDocument/2006/relationships/officeDocument" Target="/ppt/presentation.xml" Id="Rf3886284409740a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b015f6a3a5a4d63"/>
  </p:sldMasterIdLst>
  <p:notesMasterIdLst>
    <p:notesMasterId xmlns:r="http://schemas.openxmlformats.org/officeDocument/2006/relationships" r:id="Re1c55971af2d491c"/>
  </p:notesMasterIdLst>
  <p:sldIdLst>
    <p:sldId xmlns:r="http://schemas.openxmlformats.org/officeDocument/2006/relationships" id="256" r:id="R13b1ac900b5e421b"/>
    <p:sldId xmlns:r="http://schemas.openxmlformats.org/officeDocument/2006/relationships" id="257" r:id="R35e80d72079c40d7"/>
    <p:sldId xmlns:r="http://schemas.openxmlformats.org/officeDocument/2006/relationships" id="258" r:id="R4e58c8b686b440f1"/>
    <p:sldId xmlns:r="http://schemas.openxmlformats.org/officeDocument/2006/relationships" id="259" r:id="Rb39dbb14bda147fe"/>
    <p:sldId xmlns:r="http://schemas.openxmlformats.org/officeDocument/2006/relationships" id="260" r:id="R6e19d63a04dd4600"/>
    <p:sldId xmlns:r="http://schemas.openxmlformats.org/officeDocument/2006/relationships" id="261" r:id="R72ed33c9374a4001"/>
    <p:sldId xmlns:r="http://schemas.openxmlformats.org/officeDocument/2006/relationships" id="262" r:id="Rec8a5cc6879e4ad2"/>
    <p:sldId xmlns:r="http://schemas.openxmlformats.org/officeDocument/2006/relationships" id="263" r:id="Rb6ba70f236f14450"/>
    <p:sldId xmlns:r="http://schemas.openxmlformats.org/officeDocument/2006/relationships" id="264" r:id="R90973a84bc92489b"/>
    <p:sldId xmlns:r="http://schemas.openxmlformats.org/officeDocument/2006/relationships" id="265" r:id="R67fd0daf4ebf4257"/>
    <p:sldId xmlns:r="http://schemas.openxmlformats.org/officeDocument/2006/relationships" id="266" r:id="R770b18b96d9c4066"/>
    <p:sldId xmlns:r="http://schemas.openxmlformats.org/officeDocument/2006/relationships" id="267" r:id="R4499424b60c5417b"/>
  </p:sldIdLst>
  <p:sldSz cx="9144000" cy="51435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6C92A692-798E-4634-90B1-36CD3966BFCB}">
  <a:tblStyle styleId="{6C92A692-798E-4634-90B1-36CD3966BFC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518b7b39a7946e8" /><Relationship Type="http://schemas.openxmlformats.org/officeDocument/2006/relationships/slideMaster" Target="/ppt/slideMasters/slideMaster1.xml" Id="R7b015f6a3a5a4d63" /><Relationship Type="http://schemas.openxmlformats.org/officeDocument/2006/relationships/notesMaster" Target="/ppt/notesMasters/notesMaster1.xml" Id="Re1c55971af2d491c" /><Relationship Type="http://schemas.openxmlformats.org/officeDocument/2006/relationships/presProps" Target="/ppt/presProps.xml" Id="R769aea95fc144d47" /><Relationship Type="http://schemas.openxmlformats.org/officeDocument/2006/relationships/viewProps" Target="/ppt/viewProps.xml" Id="R86ab15fc8f8c4d7f" /><Relationship Type="http://schemas.openxmlformats.org/officeDocument/2006/relationships/tableStyles" Target="/ppt/tableStyles.xml" Id="Rbf579be66c174465" /><Relationship Type="http://schemas.openxmlformats.org/officeDocument/2006/relationships/slide" Target="/ppt/slides/slide1.xml" Id="R13b1ac900b5e421b" /><Relationship Type="http://schemas.openxmlformats.org/officeDocument/2006/relationships/slide" Target="/ppt/slides/slide2.xml" Id="R35e80d72079c40d7" /><Relationship Type="http://schemas.openxmlformats.org/officeDocument/2006/relationships/slide" Target="/ppt/slides/slide3.xml" Id="R4e58c8b686b440f1" /><Relationship Type="http://schemas.openxmlformats.org/officeDocument/2006/relationships/slide" Target="/ppt/slides/slide4.xml" Id="Rb39dbb14bda147fe" /><Relationship Type="http://schemas.openxmlformats.org/officeDocument/2006/relationships/slide" Target="/ppt/slides/slide5.xml" Id="R6e19d63a04dd4600" /><Relationship Type="http://schemas.openxmlformats.org/officeDocument/2006/relationships/slide" Target="/ppt/slides/slide6.xml" Id="R72ed33c9374a4001" /><Relationship Type="http://schemas.openxmlformats.org/officeDocument/2006/relationships/slide" Target="/ppt/slides/slide7.xml" Id="Rec8a5cc6879e4ad2" /><Relationship Type="http://schemas.openxmlformats.org/officeDocument/2006/relationships/slide" Target="/ppt/slides/slide8.xml" Id="Rb6ba70f236f14450" /><Relationship Type="http://schemas.openxmlformats.org/officeDocument/2006/relationships/slide" Target="/ppt/slides/slide9.xml" Id="R90973a84bc92489b" /><Relationship Type="http://schemas.openxmlformats.org/officeDocument/2006/relationships/slide" Target="/ppt/slides/slide10.xml" Id="R67fd0daf4ebf4257" /><Relationship Type="http://schemas.openxmlformats.org/officeDocument/2006/relationships/slide" Target="/ppt/slides/slide11.xml" Id="R770b18b96d9c4066" /><Relationship Type="http://schemas.openxmlformats.org/officeDocument/2006/relationships/slide" Target="/ppt/slides/slide12.xml" Id="R4499424b60c5417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1528c77e8aa4a6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f413a4b533b4ed2" /><Relationship Type="http://schemas.openxmlformats.org/officeDocument/2006/relationships/notesMaster" Target="/ppt/notesMasters/notesMaster1.xml" Id="R486e3d712e3545c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49787fc8e044c48" /><Relationship Type="http://schemas.openxmlformats.org/officeDocument/2006/relationships/notesMaster" Target="/ppt/notesMasters/notesMaster1.xml" Id="R8f7e57c6ccfa47f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743c48f2fba4c68" /><Relationship Type="http://schemas.openxmlformats.org/officeDocument/2006/relationships/notesMaster" Target="/ppt/notesMasters/notesMaster1.xml" Id="Rfcf7e36cdc7542a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58fa6e8e9e1422e" /><Relationship Type="http://schemas.openxmlformats.org/officeDocument/2006/relationships/notesMaster" Target="/ppt/notesMasters/notesMaster1.xml" Id="R2d3ee7c48eea406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b76c3baf5334e59" /><Relationship Type="http://schemas.openxmlformats.org/officeDocument/2006/relationships/notesMaster" Target="/ppt/notesMasters/notesMaster1.xml" Id="R77ef6d1cea014a9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67e5c6a92ca4f9b" /><Relationship Type="http://schemas.openxmlformats.org/officeDocument/2006/relationships/notesMaster" Target="/ppt/notesMasters/notesMaster1.xml" Id="R4787db1315674d3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1b0fc51648945f4" /><Relationship Type="http://schemas.openxmlformats.org/officeDocument/2006/relationships/notesMaster" Target="/ppt/notesMasters/notesMaster1.xml" Id="Rfdee7d64bcf14b5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fa53982815e40b1" /><Relationship Type="http://schemas.openxmlformats.org/officeDocument/2006/relationships/notesMaster" Target="/ppt/notesMasters/notesMaster1.xml" Id="R71171c04c1434b5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48a95b4c74244cc" /><Relationship Type="http://schemas.openxmlformats.org/officeDocument/2006/relationships/notesMaster" Target="/ppt/notesMasters/notesMaster1.xml" Id="R103a6c39aed345b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1896ac0d30c45ad" /><Relationship Type="http://schemas.openxmlformats.org/officeDocument/2006/relationships/notesMaster" Target="/ppt/notesMasters/notesMaster1.xml" Id="R0467d4ceea864a0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949482c74574da9" /><Relationship Type="http://schemas.openxmlformats.org/officeDocument/2006/relationships/notesMaster" Target="/ppt/notesMasters/notesMaster1.xml" Id="R68935a7a48604e5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c462d5a41ef4851" /><Relationship Type="http://schemas.openxmlformats.org/officeDocument/2006/relationships/notesMaster" Target="/ppt/notesMasters/notesMaster1.xml" Id="Rf110ed9e55904a9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This deck compares traditions only after stating the Madhyasth Darshan view separately. The aim is matched-level comparison, not forced agreement.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Advaita gives different answers at empirical and absolute levels. The comparison must not set MD jeevan against sakshin while ignoring the empirical jiva.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MD integrates epistemology with conduct. Its distinctive claim is not only that jeevan knows, but that understanding must remain coherent across inward realisation and outward consequence.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Keep the levels separate. The jiva is the empirical knower, sakshin illumines cognition without acting, and at paramartha no separate knower remains.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Ordinary empirical knowledge is not dismissed. Liberating knowledge has a different object—or more precisely removes ignorance about non-objectifiable identity.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Do not present analytic epistemology as one doctrine. It supplies tools for distinguishing true belief from knowledge and individual warrant from social conditions.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These approaches create partial bridges to MD emphasis on participation and transmission, without presupposing jeevan or conduct as the ontology of knowledge.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Methodological naturalism is a rule of inquiry, not a proof that every naturalistic metaphysics is complete. Still, MD requires operational markers if jeevan is to enter scientific testing.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This is the matched-level comparison. MD jeevan should be compared first with the empirical jiva and naturalistic agent, then contrasted with Advaita’s final sublation.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The criteria are partially incommensurable. Comparison remains possible through internal consistency, fidelity to experience, public fit, explanatory reach, and error control.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comparison should sharpen disagreement rather than smooth it over. Each approach must control the errors to which its own method is vulnerable.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Close without declaring a winner. MD offers integration of understanding and conduct; Advaita radical witness analysis; philosophy plural tools of warrant and experience; science the strongest public correction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5f9832262546aa" /></Relationships>
</file>

<file path=ppt/slideLayouts/slideLayout1.xml><?xml version="1.0" encoding="utf-8"?>
<p:sldLayout xmlns:p="http://schemas.openxmlformats.org/presentationml/2006/main" matchingName="DEFAULT">
  <p:cSld name="DEFAULT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35075e8c27a47a7" /><Relationship Type="http://schemas.openxmlformats.org/officeDocument/2006/relationships/slideLayout" Target="/ppt/slideLayouts/slideLayout1.xml" Id="Rea4b80d3832e4835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a4b80d3832e4835"/>
  </p:sldLayoutIdLst>
  <p:hf sldNum="0" hdr="0" ftr="0" dt="0"/>
  <p:txStyles>
    <p:titleStyle>
      <a:lvl1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7aa54bdc77418a" /><Relationship Type="http://schemas.openxmlformats.org/officeDocument/2006/relationships/notesSlide" Target="/ppt/notesSlides/notesSlide1.xml" Id="Rfa1350e435f24e0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3cc23d16e54815" /><Relationship Type="http://schemas.openxmlformats.org/officeDocument/2006/relationships/image" Target="/ppt/media/image.png" Id="R18232b6f68d84af9" /><Relationship Type="http://schemas.openxmlformats.org/officeDocument/2006/relationships/notesSlide" Target="/ppt/notesSlides/notesSlide2.xml" Id="R636fbb7f0b504b6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166c85f8c64ca6" /><Relationship Type="http://schemas.openxmlformats.org/officeDocument/2006/relationships/image" Target="/ppt/media/image2.png" Id="R6860b37a6b0b46f6" /><Relationship Type="http://schemas.openxmlformats.org/officeDocument/2006/relationships/image" Target="/ppt/media/image3.png" Id="Rfb5baeae31fa4601" /><Relationship Type="http://schemas.openxmlformats.org/officeDocument/2006/relationships/image" Target="/ppt/media/image4.png" Id="R7f0596e392e5470e" /><Relationship Type="http://schemas.openxmlformats.org/officeDocument/2006/relationships/notesSlide" Target="/ppt/notesSlides/notesSlide3.xml" Id="R8b4477ae0ad34d7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1d56605c9d43e2" /><Relationship Type="http://schemas.openxmlformats.org/officeDocument/2006/relationships/image" Target="/ppt/media/image2.png" Id="R6057df9facb14a9b" /><Relationship Type="http://schemas.openxmlformats.org/officeDocument/2006/relationships/image" Target="/ppt/media/image3.png" Id="R06004eeba4fd488e" /><Relationship Type="http://schemas.openxmlformats.org/officeDocument/2006/relationships/image" Target="/ppt/media/image4.png" Id="R5df1b72d1c4b4a71" /><Relationship Type="http://schemas.openxmlformats.org/officeDocument/2006/relationships/notesSlide" Target="/ppt/notesSlides/notesSlide4.xml" Id="Ra0db1130f81e450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720967059c4b5a" /><Relationship Type="http://schemas.openxmlformats.org/officeDocument/2006/relationships/notesSlide" Target="/ppt/notesSlides/notesSlide5.xml" Id="R3c755a35922f468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85ec612bc84bd7" /><Relationship Type="http://schemas.openxmlformats.org/officeDocument/2006/relationships/image" Target="/ppt/media/image2.png" Id="R7a8aedd0a61b4569" /><Relationship Type="http://schemas.openxmlformats.org/officeDocument/2006/relationships/image" Target="/ppt/media/image3.png" Id="R5d9685d64520400c" /><Relationship Type="http://schemas.openxmlformats.org/officeDocument/2006/relationships/image" Target="/ppt/media/image4.png" Id="Rede979b043b9440e" /><Relationship Type="http://schemas.openxmlformats.org/officeDocument/2006/relationships/notesSlide" Target="/ppt/notesSlides/notesSlide6.xml" Id="R66c60d00487b4c2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0e9badb7ac4a28" /><Relationship Type="http://schemas.openxmlformats.org/officeDocument/2006/relationships/image" Target="/ppt/media/image2.png" Id="R9b88451bd4d94f83" /><Relationship Type="http://schemas.openxmlformats.org/officeDocument/2006/relationships/image" Target="/ppt/media/image3.png" Id="Rec4e516556364cec" /><Relationship Type="http://schemas.openxmlformats.org/officeDocument/2006/relationships/image" Target="/ppt/media/image4.png" Id="R89d1a178df1d47ca" /><Relationship Type="http://schemas.openxmlformats.org/officeDocument/2006/relationships/notesSlide" Target="/ppt/notesSlides/notesSlide7.xml" Id="Re6d5695c71af499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466fd61c364d5b" /><Relationship Type="http://schemas.openxmlformats.org/officeDocument/2006/relationships/image" Target="/ppt/media/image2.png" Id="R845b3c2f91bb4c80" /><Relationship Type="http://schemas.openxmlformats.org/officeDocument/2006/relationships/image" Target="/ppt/media/image3.png" Id="R1a95a8791ca14a0e" /><Relationship Type="http://schemas.openxmlformats.org/officeDocument/2006/relationships/image" Target="/ppt/media/image4.png" Id="R6fb8c4ad366c4d7e" /><Relationship Type="http://schemas.openxmlformats.org/officeDocument/2006/relationships/notesSlide" Target="/ppt/notesSlides/notesSlide8.xml" Id="Rd06e7e77b28f421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543a85e9b045f5" /><Relationship Type="http://schemas.openxmlformats.org/officeDocument/2006/relationships/notesSlide" Target="/ppt/notesSlides/notesSlide9.xml" Id="R860d40e861c94af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81678ec1084e43" /><Relationship Type="http://schemas.openxmlformats.org/officeDocument/2006/relationships/notesSlide" Target="/ppt/notesSlides/notesSlide10.xml" Id="R225f04956dbe4ab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e57f9cfe8e4abb" /><Relationship Type="http://schemas.openxmlformats.org/officeDocument/2006/relationships/notesSlide" Target="/ppt/notesSlides/notesSlide11.xml" Id="R3527c2c93ea5445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4cb0d36ae048ac" /><Relationship Type="http://schemas.openxmlformats.org/officeDocument/2006/relationships/notesSlide" Target="/ppt/notesSlides/notesSlide12.xml" Id="R05ffc012cd93485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E244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Google Shape;16;p3">
            <a:extLst xmlns:a="http://schemas.openxmlformats.org/drawingml/2006/main">
              <a:ext uri="{FF2B5EF4-FFF2-40B4-BE49-F238E27FC236}">
                <a16:creationId xmlns:a16="http://schemas.microsoft.com/office/drawing/2014/main" id="{75FE6B61-565A-45A6-9540-7722013F5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0" y="822960"/>
            <a:ext cx="3291840" cy="329184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5875" cmpd="sng">
            <a:solidFill>
              <a:srgbClr val="44507E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7" name="Google Shape;17;p3">
            <a:extLst xmlns:a="http://schemas.openxmlformats.org/drawingml/2006/main">
              <a:ext uri="{FF2B5EF4-FFF2-40B4-BE49-F238E27FC236}">
                <a16:creationId xmlns:a16="http://schemas.microsoft.com/office/drawing/2014/main" id="{21A78B37-5288-4B37-8F01-A4632A2A2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0528" y="1481328"/>
            <a:ext cx="1975104" cy="1975104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5875" cmpd="sng">
            <a:solidFill>
              <a:srgbClr val="44507E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8" name="Google Shape;18;p3">
            <a:extLst xmlns:a="http://schemas.openxmlformats.org/drawingml/2006/main">
              <a:ext uri="{FF2B5EF4-FFF2-40B4-BE49-F238E27FC236}">
                <a16:creationId xmlns:a16="http://schemas.microsoft.com/office/drawing/2014/main" id="{35274BF8-B136-4D9F-A722-CB80B18EB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0141" y="2040941"/>
            <a:ext cx="855878" cy="85587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821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9" name="Google Shape;19;p3">
            <a:extLst xmlns:a="http://schemas.openxmlformats.org/drawingml/2006/main">
              <a:ext uri="{FF2B5EF4-FFF2-40B4-BE49-F238E27FC236}">
                <a16:creationId xmlns:a16="http://schemas.microsoft.com/office/drawing/2014/main" id="{08D5B1CE-A9B3-4D60-8397-374BC198E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4960" y="3566160"/>
            <a:ext cx="1097280" cy="109728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5875" cmpd="sng">
            <a:solidFill>
              <a:srgbClr val="44507E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0" name="Google Shape;20;p3">
            <a:extLst xmlns:a="http://schemas.openxmlformats.org/drawingml/2006/main">
              <a:ext uri="{FF2B5EF4-FFF2-40B4-BE49-F238E27FC236}">
                <a16:creationId xmlns:a16="http://schemas.microsoft.com/office/drawing/2014/main" id="{2F9A6F27-EBE0-4C3A-BD5B-51E23FBCB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4416" y="3785616"/>
            <a:ext cx="658368" cy="658368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5875" cmpd="sng">
            <a:solidFill>
              <a:srgbClr val="44507E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1" name="Google Shape;21;p3">
            <a:extLst xmlns:a="http://schemas.openxmlformats.org/drawingml/2006/main">
              <a:ext uri="{FF2B5EF4-FFF2-40B4-BE49-F238E27FC236}">
                <a16:creationId xmlns:a16="http://schemas.microsoft.com/office/drawing/2014/main" id="{6F589193-5AE3-467F-9960-71BEAF112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954" y="3972154"/>
            <a:ext cx="285293" cy="28529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D4E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2" name="Google Shape;22;p3">
            <a:extLst xmlns:a="http://schemas.openxmlformats.org/drawingml/2006/main">
              <a:ext uri="{FF2B5EF4-FFF2-40B4-BE49-F238E27FC236}">
                <a16:creationId xmlns:a16="http://schemas.microsoft.com/office/drawing/2014/main" id="{47EB0975-A9FD-4414-A496-C262C8303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4023360"/>
            <a:ext cx="731520" cy="73152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5875" cmpd="sng">
            <a:solidFill>
              <a:srgbClr val="44507E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3" name="Google Shape;23;p3">
            <a:extLst xmlns:a="http://schemas.openxmlformats.org/drawingml/2006/main">
              <a:ext uri="{FF2B5EF4-FFF2-40B4-BE49-F238E27FC236}">
                <a16:creationId xmlns:a16="http://schemas.microsoft.com/office/drawing/2014/main" id="{EBFFAFDE-264C-438B-A02F-85F9E50F7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4464" y="4169664"/>
            <a:ext cx="438912" cy="438912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5875" cmpd="sng">
            <a:solidFill>
              <a:srgbClr val="44507E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4" name="Google Shape;24;p3">
            <a:extLst xmlns:a="http://schemas.openxmlformats.org/drawingml/2006/main">
              <a:ext uri="{FF2B5EF4-FFF2-40B4-BE49-F238E27FC236}">
                <a16:creationId xmlns:a16="http://schemas.microsoft.com/office/drawing/2014/main" id="{52047E37-4816-41A7-B1A8-5ED7B16CE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8822" y="4294022"/>
            <a:ext cx="190195" cy="190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D4E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5" name="Google Shape;25;p3">
            <a:extLst xmlns:a="http://schemas.openxmlformats.org/drawingml/2006/main">
              <a:ext uri="{FF2B5EF4-FFF2-40B4-BE49-F238E27FC236}">
                <a16:creationId xmlns:a16="http://schemas.microsoft.com/office/drawing/2014/main" id="{6BC522C1-F2B8-42B0-BD23-EBBB4C5CE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234440"/>
            <a:ext cx="585216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cap="none">
                <a:solidFill>
                  <a:srgbClr val="C9821E"/>
                </a:solidFill>
                <a:latin typeface="Calibri"/>
                <a:ea typeface="Calibri"/>
                <a:cs typeface="Calibri"/>
              </a:rPr>
              <a:t>COMPARATIVE EPISTEMOLOGY</a:t>
            </a:r>
          </a:p>
        </p:txBody>
      </p:sp>
      <p:sp>
        <p:nvSpPr>
          <p:cNvPr id="26" name="Google Shape;26;p3">
            <a:extLst xmlns:a="http://schemas.openxmlformats.org/drawingml/2006/main">
              <a:ext uri="{FF2B5EF4-FFF2-40B4-BE49-F238E27FC236}">
                <a16:creationId xmlns:a16="http://schemas.microsoft.com/office/drawing/2014/main" id="{47A64A12-D1A5-441F-AA82-AF514D30E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572768"/>
            <a:ext cx="557784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4400" b="1" i="0" u="none" cap="none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Knowledge, Knower, and Known</a:t>
            </a:r>
          </a:p>
        </p:txBody>
      </p:sp>
      <p:sp>
        <p:nvSpPr>
          <p:cNvPr id="27" name="Google Shape;27;p3">
            <a:extLst xmlns:a="http://schemas.openxmlformats.org/drawingml/2006/main">
              <a:ext uri="{FF2B5EF4-FFF2-40B4-BE49-F238E27FC236}">
                <a16:creationId xmlns:a16="http://schemas.microsoft.com/office/drawing/2014/main" id="{E7C7DAAD-F163-4083-A316-3C74C1582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880360"/>
            <a:ext cx="484632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 b="0" i="1" u="none" cap="none">
                <a:solidFill>
                  <a:srgbClr val="C9D4EF"/>
                </a:solidFill>
                <a:latin typeface="Calibri"/>
                <a:ea typeface="Calibri"/>
                <a:cs typeface="Calibri"/>
              </a:rPr>
              <a:t>Comparing Madhyasth Darshan, Advaita Vedanta, modern Western philosophy, and natural science</a:t>
            </a:r>
          </a:p>
        </p:txBody>
      </p:sp>
      <p:sp>
        <p:nvSpPr>
          <p:cNvPr id="28" name="Google Shape;28;p3">
            <a:extLst xmlns:a="http://schemas.openxmlformats.org/drawingml/2006/main">
              <a:ext uri="{FF2B5EF4-FFF2-40B4-BE49-F238E27FC236}">
                <a16:creationId xmlns:a16="http://schemas.microsoft.com/office/drawing/2014/main" id="{458FAD9F-55D3-4855-B3DD-E51566B8B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160520"/>
            <a:ext cx="530352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 u="none" cap="none">
                <a:solidFill>
                  <a:srgbClr val="8E9BC4"/>
                </a:solidFill>
                <a:latin typeface="Calibri"/>
                <a:ea typeface="Calibri"/>
                <a:cs typeface="Calibri"/>
              </a:rPr>
              <a:t>Companion to Knowledge, Knower, and Known (AnalyticMadhyasthDarshan.org)</a:t>
            </a:r>
          </a:p>
        </p:txBody>
      </p:sp>
      <p:sp>
        <p:nvSpPr>
          <p:cNvPr id="29" name="Google Shape;29;p3">
            <a:extLst xmlns:a="http://schemas.openxmlformats.org/drawingml/2006/main">
              <a:ext uri="{FF2B5EF4-FFF2-40B4-BE49-F238E27FC236}">
                <a16:creationId xmlns:a16="http://schemas.microsoft.com/office/drawing/2014/main" id="{DB10076E-E334-428A-B2C0-66347245E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434840"/>
            <a:ext cx="530352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 u="none" cap="none">
                <a:solidFill>
                  <a:srgbClr val="8E9BC4"/>
                </a:solidFill>
                <a:latin typeface="Calibri"/>
                <a:ea typeface="Calibri"/>
                <a:cs typeface="Calibri"/>
              </a:rPr>
              <a:t>Primary MD and Advaita texts; modern philosophy and science sources cited in the study  ·  1 / 12</a:t>
            </a:r>
          </a:p>
        </p:txBody>
      </p:sp>
    </p:spTree>
    <p:extLst>
      <p:ext uri="{BB962C8B-B14F-4D97-AF65-F5344CB8AC3E}">
        <p14:creationId xmlns:p14="http://schemas.microsoft.com/office/powerpoint/2010/main" val="98889843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Google Shape;35;p4">
            <a:extLst xmlns:a="http://schemas.openxmlformats.org/drawingml/2006/main">
              <a:ext uri="{FF2B5EF4-FFF2-40B4-BE49-F238E27FC236}">
                <a16:creationId xmlns:a16="http://schemas.microsoft.com/office/drawing/2014/main" id="{903B402E-185B-4C4D-A4E6-72A03529B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4048"/>
            <a:ext cx="365760" cy="36576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5875" cmpd="sng">
            <a:solidFill>
              <a:srgbClr val="3B4A7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6" name="Google Shape;36;p4">
            <a:extLst xmlns:a="http://schemas.openxmlformats.org/drawingml/2006/main">
              <a:ext uri="{FF2B5EF4-FFF2-40B4-BE49-F238E27FC236}">
                <a16:creationId xmlns:a16="http://schemas.microsoft.com/office/drawing/2014/main" id="{F3D08866-7E78-40FF-A350-E3B8685BC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457200"/>
            <a:ext cx="219456" cy="219456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5875" cmpd="sng">
            <a:solidFill>
              <a:srgbClr val="3B4A7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7" name="Google Shape;37;p4">
            <a:extLst xmlns:a="http://schemas.openxmlformats.org/drawingml/2006/main">
              <a:ext uri="{FF2B5EF4-FFF2-40B4-BE49-F238E27FC236}">
                <a16:creationId xmlns:a16="http://schemas.microsoft.com/office/drawing/2014/main" id="{49647318-3FE3-4554-B311-76A3824F4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531" y="519379"/>
            <a:ext cx="95098" cy="950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821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8" name="Google Shape;38;p4">
            <a:extLst xmlns:a="http://schemas.openxmlformats.org/drawingml/2006/main">
              <a:ext uri="{FF2B5EF4-FFF2-40B4-BE49-F238E27FC236}">
                <a16:creationId xmlns:a16="http://schemas.microsoft.com/office/drawing/2014/main" id="{60EB398F-2D64-4689-80C8-FFAD943A9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56032"/>
            <a:ext cx="7680960" cy="2377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 u="none" cap="none">
                <a:solidFill>
                  <a:srgbClr val="9A6414"/>
                </a:solidFill>
                <a:latin typeface="Calibri"/>
                <a:ea typeface="Calibri"/>
                <a:cs typeface="Calibri"/>
              </a:rPr>
              <a:t>COMPARATIVE METHOD</a:t>
            </a:r>
          </a:p>
        </p:txBody>
      </p:sp>
      <p:sp>
        <p:nvSpPr>
          <p:cNvPr id="39" name="Google Shape;39;p4">
            <a:extLst xmlns:a="http://schemas.openxmlformats.org/drawingml/2006/main">
              <a:ext uri="{FF2B5EF4-FFF2-40B4-BE49-F238E27FC236}">
                <a16:creationId xmlns:a16="http://schemas.microsoft.com/office/drawing/2014/main" id="{2C1BECA4-232C-44E0-ADD0-ED7D91B92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457200"/>
            <a:ext cx="7726680" cy="566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000" b="1" i="0" u="none" cap="none">
                <a:solidFill>
                  <a:srgbClr val="1E2447"/>
                </a:solidFill>
                <a:latin typeface="Cambria"/>
                <a:ea typeface="Cambria"/>
                <a:cs typeface="Cambria"/>
              </a:rPr>
              <a:t>Comparison Begins by Matching Levels</a:t>
            </a:r>
          </a:p>
        </p:txBody>
      </p:sp>
      <p:sp>
        <p:nvSpPr>
          <p:cNvPr id="40" name="Google Shape;40;p4">
            <a:extLst xmlns:a="http://schemas.openxmlformats.org/drawingml/2006/main">
              <a:ext uri="{FF2B5EF4-FFF2-40B4-BE49-F238E27FC236}">
                <a16:creationId xmlns:a16="http://schemas.microsoft.com/office/drawing/2014/main" id="{4960A84B-3100-434B-B8D0-2A9D70A48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225296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4A7A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71" name="Google Shape;41;p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8232b6f68d84af9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35178" y="1320394"/>
            <a:ext cx="175565" cy="17556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42" name="Google Shape;42;p4">
            <a:extLst xmlns:a="http://schemas.openxmlformats.org/drawingml/2006/main">
              <a:ext uri="{FF2B5EF4-FFF2-40B4-BE49-F238E27FC236}">
                <a16:creationId xmlns:a16="http://schemas.microsoft.com/office/drawing/2014/main" id="{C5183355-C64A-436B-9092-2356796F7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1188720"/>
            <a:ext cx="7406640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450" b="1" i="0" u="none" cap="none">
                <a:solidFill>
                  <a:srgbClr val="1E2447"/>
                </a:solidFill>
                <a:latin typeface="Calibri"/>
                <a:ea typeface="Calibri"/>
                <a:cs typeface="Calibri"/>
              </a:rPr>
              <a:t>Who is the knower?  —  Distinct jeevan, empirical jiva, actionless witness, embodied subject, or organism?</a:t>
            </a:r>
          </a:p>
        </p:txBody>
      </p:sp>
      <p:sp>
        <p:nvSpPr>
          <p:cNvPr id="43" name="Google Shape;43;p4">
            <a:extLst xmlns:a="http://schemas.openxmlformats.org/drawingml/2006/main">
              <a:ext uri="{FF2B5EF4-FFF2-40B4-BE49-F238E27FC236}">
                <a16:creationId xmlns:a16="http://schemas.microsoft.com/office/drawing/2014/main" id="{A1DDA8B7-E5B2-41B4-A0A6-6CA140FF2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792224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4A7A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74" name="Google Shape;44;p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8232b6f68d84af9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35178" y="1887322"/>
            <a:ext cx="175565" cy="17556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45" name="Google Shape;45;p4">
            <a:extLst xmlns:a="http://schemas.openxmlformats.org/drawingml/2006/main">
              <a:ext uri="{FF2B5EF4-FFF2-40B4-BE49-F238E27FC236}">
                <a16:creationId xmlns:a16="http://schemas.microsoft.com/office/drawing/2014/main" id="{B75C9CE6-CD3C-43FD-83E0-886C1478F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1755648"/>
            <a:ext cx="7406640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450" b="1" i="0" u="none" cap="none">
                <a:solidFill>
                  <a:srgbClr val="1E2447"/>
                </a:solidFill>
                <a:latin typeface="Calibri"/>
                <a:ea typeface="Calibri"/>
                <a:cs typeface="Calibri"/>
              </a:rPr>
              <a:t>What is knowledge?  —  Realised understanding, ordinary cognition, liberating insight, warranted belief, or public model?</a:t>
            </a:r>
          </a:p>
        </p:txBody>
      </p:sp>
      <p:sp>
        <p:nvSpPr>
          <p:cNvPr id="46" name="Google Shape;46;p4">
            <a:extLst xmlns:a="http://schemas.openxmlformats.org/drawingml/2006/main">
              <a:ext uri="{FF2B5EF4-FFF2-40B4-BE49-F238E27FC236}">
                <a16:creationId xmlns:a16="http://schemas.microsoft.com/office/drawing/2014/main" id="{EDD1C9F9-79A8-4EDE-B88A-91BA496FC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359152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4A7A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77" name="Google Shape;47;p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8232b6f68d84af9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35178" y="2454250"/>
            <a:ext cx="175565" cy="17556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48" name="Google Shape;48;p4">
            <a:extLst xmlns:a="http://schemas.openxmlformats.org/drawingml/2006/main">
              <a:ext uri="{FF2B5EF4-FFF2-40B4-BE49-F238E27FC236}">
                <a16:creationId xmlns:a16="http://schemas.microsoft.com/office/drawing/2014/main" id="{96389C9D-9FE0-4778-A3DB-FE60F9011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2322576"/>
            <a:ext cx="7406640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450" b="1" i="0" u="none" cap="none">
                <a:solidFill>
                  <a:srgbClr val="1E2447"/>
                </a:solidFill>
                <a:latin typeface="Calibri"/>
                <a:ea typeface="Calibri"/>
                <a:cs typeface="Calibri"/>
              </a:rPr>
              <a:t>What is the world’s status?  —  Perpetually real, dependently real, contested, or methodologically investigated?</a:t>
            </a:r>
          </a:p>
        </p:txBody>
      </p:sp>
      <p:sp>
        <p:nvSpPr>
          <p:cNvPr id="49" name="Google Shape;49;p4">
            <a:extLst xmlns:a="http://schemas.openxmlformats.org/drawingml/2006/main">
              <a:ext uri="{FF2B5EF4-FFF2-40B4-BE49-F238E27FC236}">
                <a16:creationId xmlns:a16="http://schemas.microsoft.com/office/drawing/2014/main" id="{8E5D7A1C-B4D5-4C25-AEC3-0809D732B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926080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4A7A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80" name="Google Shape;50;p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8232b6f68d84af9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35178" y="3021178"/>
            <a:ext cx="175565" cy="17556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51" name="Google Shape;51;p4">
            <a:extLst xmlns:a="http://schemas.openxmlformats.org/drawingml/2006/main">
              <a:ext uri="{FF2B5EF4-FFF2-40B4-BE49-F238E27FC236}">
                <a16:creationId xmlns:a16="http://schemas.microsoft.com/office/drawing/2014/main" id="{B1591BAD-E6A7-457C-A811-88AF0B5BA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2889504"/>
            <a:ext cx="7406640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450" b="1" i="0" u="none" cap="none">
                <a:solidFill>
                  <a:srgbClr val="1E2447"/>
                </a:solidFill>
                <a:latin typeface="Calibri"/>
                <a:ea typeface="Calibri"/>
                <a:cs typeface="Calibri"/>
              </a:rPr>
              <a:t>What produces cognition, and what validates it?  —  These are not always the same question.</a:t>
            </a:r>
          </a:p>
        </p:txBody>
      </p:sp>
      <p:sp>
        <p:nvSpPr>
          <p:cNvPr id="52" name="Google Shape;52;p4">
            <a:extLst xmlns:a="http://schemas.openxmlformats.org/drawingml/2006/main">
              <a:ext uri="{FF2B5EF4-FFF2-40B4-BE49-F238E27FC236}">
                <a16:creationId xmlns:a16="http://schemas.microsoft.com/office/drawing/2014/main" id="{FAC8FF81-4EF9-4BA4-B8E6-1B994F766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493008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4A7A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83" name="Google Shape;53;p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8232b6f68d84af9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35178" y="3588106"/>
            <a:ext cx="175565" cy="17556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54" name="Google Shape;54;p4">
            <a:extLst xmlns:a="http://schemas.openxmlformats.org/drawingml/2006/main">
              <a:ext uri="{FF2B5EF4-FFF2-40B4-BE49-F238E27FC236}">
                <a16:creationId xmlns:a16="http://schemas.microsoft.com/office/drawing/2014/main" id="{88A8438F-C330-4A48-9673-52C9074A6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3456432"/>
            <a:ext cx="7406640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450" b="1" i="0" u="none" cap="none">
                <a:solidFill>
                  <a:srgbClr val="1E2447"/>
                </a:solidFill>
                <a:latin typeface="Calibri"/>
                <a:ea typeface="Calibri"/>
                <a:cs typeface="Calibri"/>
              </a:rPr>
              <a:t>How is characteristic error detected?  —  Delusion, superimposition, epistemic luck, bias, or failed prediction?</a:t>
            </a:r>
          </a:p>
        </p:txBody>
      </p:sp>
      <p:sp>
        <p:nvSpPr>
          <p:cNvPr id="55" name="Google Shape;55;p4">
            <a:extLst xmlns:a="http://schemas.openxmlformats.org/drawingml/2006/main">
              <a:ext uri="{FF2B5EF4-FFF2-40B4-BE49-F238E27FC236}">
                <a16:creationId xmlns:a16="http://schemas.microsoft.com/office/drawing/2014/main" id="{8CF393A7-5751-428A-9C15-0EBA54A20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059936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4A7A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86" name="Google Shape;56;p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8232b6f68d84af9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35178" y="4155034"/>
            <a:ext cx="175565" cy="17556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57" name="Google Shape;57;p4">
            <a:extLst xmlns:a="http://schemas.openxmlformats.org/drawingml/2006/main">
              <a:ext uri="{FF2B5EF4-FFF2-40B4-BE49-F238E27FC236}">
                <a16:creationId xmlns:a16="http://schemas.microsoft.com/office/drawing/2014/main" id="{69FE7F80-11B5-4B7E-A5BC-C73663BD6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4023360"/>
            <a:ext cx="7406640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450" b="1" i="0" u="none" cap="none">
                <a:solidFill>
                  <a:srgbClr val="1E2447"/>
                </a:solidFill>
                <a:latin typeface="Calibri"/>
                <a:ea typeface="Calibri"/>
                <a:cs typeface="Calibri"/>
              </a:rPr>
              <a:t>What role does conduct play?  —  Content and evidence, preparation and expression, virtue, or external ethical constraint?</a:t>
            </a:r>
          </a:p>
        </p:txBody>
      </p:sp>
      <p:sp>
        <p:nvSpPr>
          <p:cNvPr id="58" name="Google Shape;58;p4">
            <a:extLst xmlns:a="http://schemas.openxmlformats.org/drawingml/2006/main">
              <a:ext uri="{FF2B5EF4-FFF2-40B4-BE49-F238E27FC236}">
                <a16:creationId xmlns:a16="http://schemas.microsoft.com/office/drawing/2014/main" id="{79C1811C-EDE3-41ED-8DB3-4090B52EC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4645152"/>
            <a:ext cx="740664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1" u="none" cap="none">
                <a:solidFill>
                  <a:srgbClr val="9A6414"/>
                </a:solidFill>
                <a:latin typeface="Calibri"/>
                <a:ea typeface="Calibri"/>
                <a:cs typeface="Calibri"/>
              </a:rPr>
              <a:t>Matching levels prevents the empirical jiva, sakshin, and Brahman from being collapsed into one Advaita “knower.”  ·  Study §§2–5  ·  2 / 12</a:t>
            </a:r>
          </a:p>
        </p:txBody>
      </p:sp>
    </p:spTree>
    <p:extLst>
      <p:ext uri="{BB962C8B-B14F-4D97-AF65-F5344CB8AC3E}">
        <p14:creationId xmlns:p14="http://schemas.microsoft.com/office/powerpoint/2010/main" val="153149057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4" name="Google Shape;94;p6">
            <a:extLst xmlns:a="http://schemas.openxmlformats.org/drawingml/2006/main">
              <a:ext uri="{FF2B5EF4-FFF2-40B4-BE49-F238E27FC236}">
                <a16:creationId xmlns:a16="http://schemas.microsoft.com/office/drawing/2014/main" id="{EBEF7F00-6B49-4A97-A2C9-3872E7D65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4048"/>
            <a:ext cx="365760" cy="36576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5875" cmpd="sng">
            <a:solidFill>
              <a:srgbClr val="3B4A7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5" name="Google Shape;95;p6">
            <a:extLst xmlns:a="http://schemas.openxmlformats.org/drawingml/2006/main">
              <a:ext uri="{FF2B5EF4-FFF2-40B4-BE49-F238E27FC236}">
                <a16:creationId xmlns:a16="http://schemas.microsoft.com/office/drawing/2014/main" id="{C70F0F84-9DBC-4050-9671-0D5C5FC1E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457200"/>
            <a:ext cx="219456" cy="219456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5875" cmpd="sng">
            <a:solidFill>
              <a:srgbClr val="3B4A7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6" name="Google Shape;96;p6">
            <a:extLst xmlns:a="http://schemas.openxmlformats.org/drawingml/2006/main">
              <a:ext uri="{FF2B5EF4-FFF2-40B4-BE49-F238E27FC236}">
                <a16:creationId xmlns:a16="http://schemas.microsoft.com/office/drawing/2014/main" id="{C80D0AF3-2895-41D8-92FE-B1605469D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531" y="519379"/>
            <a:ext cx="95098" cy="950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821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7" name="Google Shape;97;p6">
            <a:extLst xmlns:a="http://schemas.openxmlformats.org/drawingml/2006/main">
              <a:ext uri="{FF2B5EF4-FFF2-40B4-BE49-F238E27FC236}">
                <a16:creationId xmlns:a16="http://schemas.microsoft.com/office/drawing/2014/main" id="{1B657EC0-01A7-4BB0-9C90-17C378E29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56032"/>
            <a:ext cx="7680960" cy="2377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 u="none" cap="none">
                <a:solidFill>
                  <a:srgbClr val="9A6414"/>
                </a:solidFill>
                <a:latin typeface="Calibri"/>
                <a:ea typeface="Calibri"/>
                <a:cs typeface="Calibri"/>
              </a:rPr>
              <a:t>MADHYASTH DARSHAN</a:t>
            </a:r>
          </a:p>
        </p:txBody>
      </p:sp>
      <p:sp>
        <p:nvSpPr>
          <p:cNvPr id="98" name="Google Shape;98;p6">
            <a:extLst xmlns:a="http://schemas.openxmlformats.org/drawingml/2006/main">
              <a:ext uri="{FF2B5EF4-FFF2-40B4-BE49-F238E27FC236}">
                <a16:creationId xmlns:a16="http://schemas.microsoft.com/office/drawing/2014/main" id="{4ECCC323-9F8F-4642-988C-7822F9C0A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457200"/>
            <a:ext cx="7726680" cy="566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000" b="1" i="0" u="none" cap="none">
                <a:solidFill>
                  <a:srgbClr val="1E2447"/>
                </a:solidFill>
                <a:latin typeface="Cambria"/>
                <a:ea typeface="Cambria"/>
                <a:cs typeface="Cambria"/>
              </a:rPr>
              <a:t>MD Integrates Knowledge and Conduct</a:t>
            </a:r>
          </a:p>
        </p:txBody>
      </p:sp>
      <p:sp>
        <p:nvSpPr>
          <p:cNvPr id="99" name="Google Shape;99;p6">
            <a:extLst xmlns:a="http://schemas.openxmlformats.org/drawingml/2006/main">
              <a:ext uri="{FF2B5EF4-FFF2-40B4-BE49-F238E27FC236}">
                <a16:creationId xmlns:a16="http://schemas.microsoft.com/office/drawing/2014/main" id="{DF6B4B7B-D28E-4416-8924-A7383F929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207008"/>
            <a:ext cx="7955280" cy="64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 u="none" cap="none">
                <a:solidFill>
                  <a:srgbClr val="5A6377"/>
                </a:solidFill>
                <a:latin typeface="Calibri"/>
                <a:ea typeface="Calibri"/>
                <a:cs typeface="Calibri"/>
              </a:rPr>
              <a:t>Knowledge is realised understanding of coexistence, jeevan, and humane conduct. The active knower remains distinct, and understanding becomes answerable to life.</a:t>
            </a:r>
          </a:p>
        </p:txBody>
      </p:sp>
      <p:sp>
        <p:nvSpPr>
          <p:cNvPr id="100" name="Google Shape;100;p6">
            <a:extLst xmlns:a="http://schemas.openxmlformats.org/drawingml/2006/main">
              <a:ext uri="{FF2B5EF4-FFF2-40B4-BE49-F238E27FC236}">
                <a16:creationId xmlns:a16="http://schemas.microsoft.com/office/drawing/2014/main" id="{DACC0896-F0C0-40F4-B10C-573B8F396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011680"/>
            <a:ext cx="2615184" cy="2395728"/>
          </a:xfrm>
          <a:prstGeom xmlns:a="http://schemas.openxmlformats.org/drawingml/2006/main" prst="roundRect">
            <a:avLst>
              <a:gd name="adj" fmla="val 3817"/>
            </a:avLst>
          </a:prstGeom>
          <a:solidFill xmlns:a="http://schemas.openxmlformats.org/drawingml/2006/main">
            <a:srgbClr val="EEF1F8"/>
          </a:solidFill>
          <a:ln xmlns:a="http://schemas.openxmlformats.org/drawingml/2006/main">
            <a:noFill/>
          </a:ln>
          <a:effectLst xmlns:a="http://schemas.openxmlformats.org/drawingml/2006/main">
            <a:outerShdw blurRad="88900" dist="25400" dir="2700000" algn="bl" rotWithShape="0">
              <a:srgbClr val="000000">
                <a:alpha val="12941"/>
              </a:srgbClr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1" name="Google Shape;101;p6">
            <a:extLst xmlns:a="http://schemas.openxmlformats.org/drawingml/2006/main">
              <a:ext uri="{FF2B5EF4-FFF2-40B4-BE49-F238E27FC236}">
                <a16:creationId xmlns:a16="http://schemas.microsoft.com/office/drawing/2014/main" id="{322BBC30-630B-42E3-9DD2-412D0D9AE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2212848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4A7A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127" name="Google Shape;102;p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860b37a6b0b46f6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960120" y="2331720"/>
            <a:ext cx="219456" cy="21945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3" name="Google Shape;103;p6">
            <a:extLst xmlns:a="http://schemas.openxmlformats.org/drawingml/2006/main">
              <a:ext uri="{FF2B5EF4-FFF2-40B4-BE49-F238E27FC236}">
                <a16:creationId xmlns:a16="http://schemas.microsoft.com/office/drawing/2014/main" id="{4B81C68F-F7F1-4BFA-948A-90AE27C80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2761488"/>
            <a:ext cx="2240280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450" b="1" i="0" u="none" cap="none">
                <a:solidFill>
                  <a:srgbClr val="1E2447"/>
                </a:solidFill>
                <a:latin typeface="Cambria"/>
                <a:ea typeface="Cambria"/>
                <a:cs typeface="Cambria"/>
              </a:rPr>
              <a:t>Knowledge</a:t>
            </a:r>
          </a:p>
        </p:txBody>
      </p:sp>
      <p:sp>
        <p:nvSpPr>
          <p:cNvPr id="104" name="Google Shape;104;p6">
            <a:extLst xmlns:a="http://schemas.openxmlformats.org/drawingml/2006/main">
              <a:ext uri="{FF2B5EF4-FFF2-40B4-BE49-F238E27FC236}">
                <a16:creationId xmlns:a16="http://schemas.microsoft.com/office/drawing/2014/main" id="{91E8706C-5C84-49C2-950C-C985E9B97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3090672"/>
            <a:ext cx="2240280" cy="1234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cap="none">
                <a:solidFill>
                  <a:srgbClr val="5A6377"/>
                </a:solidFill>
                <a:latin typeface="Calibri"/>
                <a:ea typeface="Calibri"/>
                <a:cs typeface="Calibri"/>
              </a:rPr>
              <a:t>Realised understanding of coexistence, jeevan, and humane conduct—not information or conviction alone.</a:t>
            </a:r>
          </a:p>
        </p:txBody>
      </p:sp>
      <p:sp>
        <p:nvSpPr>
          <p:cNvPr id="105" name="Google Shape;105;p6">
            <a:extLst xmlns:a="http://schemas.openxmlformats.org/drawingml/2006/main">
              <a:ext uri="{FF2B5EF4-FFF2-40B4-BE49-F238E27FC236}">
                <a16:creationId xmlns:a16="http://schemas.microsoft.com/office/drawing/2014/main" id="{7F5058FF-1BB9-4921-BA6D-F70E2BC02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2424" y="2011680"/>
            <a:ext cx="2615184" cy="2395728"/>
          </a:xfrm>
          <a:prstGeom xmlns:a="http://schemas.openxmlformats.org/drawingml/2006/main" prst="roundRect">
            <a:avLst>
              <a:gd name="adj" fmla="val 3817"/>
            </a:avLst>
          </a:prstGeom>
          <a:solidFill xmlns:a="http://schemas.openxmlformats.org/drawingml/2006/main">
            <a:srgbClr val="EEF1F8"/>
          </a:solidFill>
          <a:ln xmlns:a="http://schemas.openxmlformats.org/drawingml/2006/main">
            <a:noFill/>
          </a:ln>
          <a:effectLst xmlns:a="http://schemas.openxmlformats.org/drawingml/2006/main">
            <a:outerShdw blurRad="88900" dist="25400" dir="2700000" algn="bl" rotWithShape="0">
              <a:srgbClr val="000000">
                <a:alpha val="12941"/>
              </a:srgbClr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6" name="Google Shape;106;p6">
            <a:extLst xmlns:a="http://schemas.openxmlformats.org/drawingml/2006/main">
              <a:ext uri="{FF2B5EF4-FFF2-40B4-BE49-F238E27FC236}">
                <a16:creationId xmlns:a16="http://schemas.microsoft.com/office/drawing/2014/main" id="{9B5AA159-1A21-4A1E-BAC5-D38FC94CA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92" y="2212848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4A7A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132" name="Google Shape;107;p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b5baeae31fa4601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3712464" y="2331720"/>
            <a:ext cx="219456" cy="21945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8" name="Google Shape;108;p6">
            <a:extLst xmlns:a="http://schemas.openxmlformats.org/drawingml/2006/main">
              <a:ext uri="{FF2B5EF4-FFF2-40B4-BE49-F238E27FC236}">
                <a16:creationId xmlns:a16="http://schemas.microsoft.com/office/drawing/2014/main" id="{D94D8FC0-69AE-44E1-9D58-6DE6FF8D0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92" y="2761488"/>
            <a:ext cx="2240280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450" b="1" i="0" u="none" cap="none">
                <a:solidFill>
                  <a:srgbClr val="1E2447"/>
                </a:solidFill>
                <a:latin typeface="Cambria"/>
                <a:ea typeface="Cambria"/>
                <a:cs typeface="Cambria"/>
              </a:rPr>
              <a:t>Knower</a:t>
            </a:r>
          </a:p>
        </p:txBody>
      </p:sp>
      <p:sp>
        <p:nvSpPr>
          <p:cNvPr id="109" name="Google Shape;109;p6">
            <a:extLst xmlns:a="http://schemas.openxmlformats.org/drawingml/2006/main">
              <a:ext uri="{FF2B5EF4-FFF2-40B4-BE49-F238E27FC236}">
                <a16:creationId xmlns:a16="http://schemas.microsoft.com/office/drawing/2014/main" id="{B8609BF1-AD34-4D40-9A8A-24A8BC3D1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92" y="3090672"/>
            <a:ext cx="2240280" cy="1234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cap="none">
                <a:solidFill>
                  <a:srgbClr val="5A6377"/>
                </a:solidFill>
                <a:latin typeface="Calibri"/>
                <a:ea typeface="Calibri"/>
                <a:cs typeface="Calibri"/>
              </a:rPr>
              <a:t>Jeevan is the active sentient bearer; the human joint form makes knowing communicable and answerable to result.</a:t>
            </a:r>
          </a:p>
        </p:txBody>
      </p:sp>
      <p:sp>
        <p:nvSpPr>
          <p:cNvPr id="110" name="Google Shape;110;p6">
            <a:extLst xmlns:a="http://schemas.openxmlformats.org/drawingml/2006/main">
              <a:ext uri="{FF2B5EF4-FFF2-40B4-BE49-F238E27FC236}">
                <a16:creationId xmlns:a16="http://schemas.microsoft.com/office/drawing/2014/main" id="{897E6910-9F9B-41AB-900E-EC71D5726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4768" y="2011680"/>
            <a:ext cx="2615184" cy="2395728"/>
          </a:xfrm>
          <a:prstGeom xmlns:a="http://schemas.openxmlformats.org/drawingml/2006/main" prst="roundRect">
            <a:avLst>
              <a:gd name="adj" fmla="val 3817"/>
            </a:avLst>
          </a:prstGeom>
          <a:solidFill xmlns:a="http://schemas.openxmlformats.org/drawingml/2006/main">
            <a:srgbClr val="EEF1F8"/>
          </a:solidFill>
          <a:ln xmlns:a="http://schemas.openxmlformats.org/drawingml/2006/main">
            <a:noFill/>
          </a:ln>
          <a:effectLst xmlns:a="http://schemas.openxmlformats.org/drawingml/2006/main">
            <a:outerShdw blurRad="88900" dist="25400" dir="2700000" algn="bl" rotWithShape="0">
              <a:srgbClr val="000000">
                <a:alpha val="12941"/>
              </a:srgbClr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1" name="Google Shape;111;p6">
            <a:extLst xmlns:a="http://schemas.openxmlformats.org/drawingml/2006/main">
              <a:ext uri="{FF2B5EF4-FFF2-40B4-BE49-F238E27FC236}">
                <a16:creationId xmlns:a16="http://schemas.microsoft.com/office/drawing/2014/main" id="{E67C106F-BE83-49E5-B07F-FBF8361D1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5936" y="2212848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4A7A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137" name="Google Shape;112;p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f0596e392e5470e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464808" y="2331720"/>
            <a:ext cx="219456" cy="21945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13" name="Google Shape;113;p6">
            <a:extLst xmlns:a="http://schemas.openxmlformats.org/drawingml/2006/main">
              <a:ext uri="{FF2B5EF4-FFF2-40B4-BE49-F238E27FC236}">
                <a16:creationId xmlns:a16="http://schemas.microsoft.com/office/drawing/2014/main" id="{7C0E46DA-89DB-4129-A5C8-58FA26CE9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5936" y="2761488"/>
            <a:ext cx="2240280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450" b="1" i="0" u="none" cap="none">
                <a:solidFill>
                  <a:srgbClr val="1E2447"/>
                </a:solidFill>
                <a:latin typeface="Cambria"/>
                <a:ea typeface="Cambria"/>
                <a:cs typeface="Cambria"/>
              </a:rPr>
              <a:t>Validation</a:t>
            </a:r>
          </a:p>
        </p:txBody>
      </p:sp>
      <p:sp>
        <p:nvSpPr>
          <p:cNvPr id="114" name="Google Shape;114;p6">
            <a:extLst xmlns:a="http://schemas.openxmlformats.org/drawingml/2006/main">
              <a:ext uri="{FF2B5EF4-FFF2-40B4-BE49-F238E27FC236}">
                <a16:creationId xmlns:a16="http://schemas.microsoft.com/office/drawing/2014/main" id="{120B2FB7-86A5-48D0-85A7-8E8241896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5936" y="3090672"/>
            <a:ext cx="2240280" cy="1234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cap="none">
                <a:solidFill>
                  <a:srgbClr val="5A6377"/>
                </a:solidFill>
                <a:latin typeface="Calibri"/>
                <a:ea typeface="Calibri"/>
                <a:cs typeface="Calibri"/>
              </a:rPr>
              <a:t>Realisation must cohere with behaviour, work, relationship, evaluation, conveyance, and humane tradition.</a:t>
            </a:r>
          </a:p>
        </p:txBody>
      </p:sp>
      <p:sp>
        <p:nvSpPr>
          <p:cNvPr id="115" name="Google Shape;115;p6">
            <a:extLst xmlns:a="http://schemas.openxmlformats.org/drawingml/2006/main">
              <a:ext uri="{FF2B5EF4-FFF2-40B4-BE49-F238E27FC236}">
                <a16:creationId xmlns:a16="http://schemas.microsoft.com/office/drawing/2014/main" id="{3FFA5695-FD1E-4119-B4FC-199120FA7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828032"/>
            <a:ext cx="8138160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1" u="none" cap="none">
                <a:solidFill>
                  <a:srgbClr val="5A6377"/>
                </a:solidFill>
                <a:latin typeface="Calibri"/>
                <a:ea typeface="Calibri"/>
                <a:cs typeface="Calibri"/>
              </a:rPr>
              <a:t>KD §3.17 · MVD pp. 115–116, 311 · JV pp. 92–93  ·  AnalyticMadhyasthDarshan.org  ·  3 / 12</a:t>
            </a:r>
          </a:p>
        </p:txBody>
      </p:sp>
    </p:spTree>
    <p:extLst>
      <p:ext uri="{BB962C8B-B14F-4D97-AF65-F5344CB8AC3E}">
        <p14:creationId xmlns:p14="http://schemas.microsoft.com/office/powerpoint/2010/main" val="146621908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4" name="Google Shape;94;p6">
            <a:extLst xmlns:a="http://schemas.openxmlformats.org/drawingml/2006/main">
              <a:ext uri="{FF2B5EF4-FFF2-40B4-BE49-F238E27FC236}">
                <a16:creationId xmlns:a16="http://schemas.microsoft.com/office/drawing/2014/main" id="{EBEF7F00-6B49-4A97-A2C9-3872E7D65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4048"/>
            <a:ext cx="365760" cy="36576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5875" cmpd="sng">
            <a:solidFill>
              <a:srgbClr val="3B4A7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5" name="Google Shape;95;p6">
            <a:extLst xmlns:a="http://schemas.openxmlformats.org/drawingml/2006/main">
              <a:ext uri="{FF2B5EF4-FFF2-40B4-BE49-F238E27FC236}">
                <a16:creationId xmlns:a16="http://schemas.microsoft.com/office/drawing/2014/main" id="{C70F0F84-9DBC-4050-9671-0D5C5FC1E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457200"/>
            <a:ext cx="219456" cy="219456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5875" cmpd="sng">
            <a:solidFill>
              <a:srgbClr val="3B4A7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6" name="Google Shape;96;p6">
            <a:extLst xmlns:a="http://schemas.openxmlformats.org/drawingml/2006/main">
              <a:ext uri="{FF2B5EF4-FFF2-40B4-BE49-F238E27FC236}">
                <a16:creationId xmlns:a16="http://schemas.microsoft.com/office/drawing/2014/main" id="{C80D0AF3-2895-41D8-92FE-B1605469D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531" y="519379"/>
            <a:ext cx="95098" cy="950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821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7" name="Google Shape;97;p6">
            <a:extLst xmlns:a="http://schemas.openxmlformats.org/drawingml/2006/main">
              <a:ext uri="{FF2B5EF4-FFF2-40B4-BE49-F238E27FC236}">
                <a16:creationId xmlns:a16="http://schemas.microsoft.com/office/drawing/2014/main" id="{1B657EC0-01A7-4BB0-9C90-17C378E29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56032"/>
            <a:ext cx="7680960" cy="2377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 u="none" cap="none">
                <a:solidFill>
                  <a:srgbClr val="9A6414"/>
                </a:solidFill>
                <a:latin typeface="Calibri"/>
                <a:ea typeface="Calibri"/>
                <a:cs typeface="Calibri"/>
              </a:rPr>
              <a:t>ADVAITA VEDANTA</a:t>
            </a:r>
          </a:p>
        </p:txBody>
      </p:sp>
      <p:sp>
        <p:nvSpPr>
          <p:cNvPr id="98" name="Google Shape;98;p6">
            <a:extLst xmlns:a="http://schemas.openxmlformats.org/drawingml/2006/main">
              <a:ext uri="{FF2B5EF4-FFF2-40B4-BE49-F238E27FC236}">
                <a16:creationId xmlns:a16="http://schemas.microsoft.com/office/drawing/2014/main" id="{4ECCC323-9F8F-4642-988C-7822F9C0A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457200"/>
            <a:ext cx="7726680" cy="566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000" b="1" i="0" u="none" cap="none">
                <a:solidFill>
                  <a:srgbClr val="1E2447"/>
                </a:solidFill>
                <a:latin typeface="Cambria"/>
                <a:ea typeface="Cambria"/>
                <a:cs typeface="Cambria"/>
              </a:rPr>
              <a:t>Advaita Distinguishes Three Levels</a:t>
            </a:r>
          </a:p>
        </p:txBody>
      </p:sp>
      <p:sp>
        <p:nvSpPr>
          <p:cNvPr id="99" name="Google Shape;99;p6">
            <a:extLst xmlns:a="http://schemas.openxmlformats.org/drawingml/2006/main">
              <a:ext uri="{FF2B5EF4-FFF2-40B4-BE49-F238E27FC236}">
                <a16:creationId xmlns:a16="http://schemas.microsoft.com/office/drawing/2014/main" id="{DF6B4B7B-D28E-4416-8924-A7383F929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207008"/>
            <a:ext cx="7955280" cy="64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 u="none" cap="none">
                <a:solidFill>
                  <a:srgbClr val="5A6377"/>
                </a:solidFill>
                <a:latin typeface="Calibri"/>
                <a:ea typeface="Calibri"/>
                <a:cs typeface="Calibri"/>
              </a:rPr>
              <a:t>Advaita preserves ordinary cognition at vyavahara while denying that subject–object plurality is ultimately independent. The witness is not a second empirical operator.</a:t>
            </a:r>
          </a:p>
        </p:txBody>
      </p:sp>
      <p:sp>
        <p:nvSpPr>
          <p:cNvPr id="100" name="Google Shape;100;p6">
            <a:extLst xmlns:a="http://schemas.openxmlformats.org/drawingml/2006/main">
              <a:ext uri="{FF2B5EF4-FFF2-40B4-BE49-F238E27FC236}">
                <a16:creationId xmlns:a16="http://schemas.microsoft.com/office/drawing/2014/main" id="{DACC0896-F0C0-40F4-B10C-573B8F396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011680"/>
            <a:ext cx="2615184" cy="2395728"/>
          </a:xfrm>
          <a:prstGeom xmlns:a="http://schemas.openxmlformats.org/drawingml/2006/main" prst="roundRect">
            <a:avLst>
              <a:gd name="adj" fmla="val 3817"/>
            </a:avLst>
          </a:prstGeom>
          <a:solidFill xmlns:a="http://schemas.openxmlformats.org/drawingml/2006/main">
            <a:srgbClr val="EEF1F8"/>
          </a:solidFill>
          <a:ln xmlns:a="http://schemas.openxmlformats.org/drawingml/2006/main">
            <a:noFill/>
          </a:ln>
          <a:effectLst xmlns:a="http://schemas.openxmlformats.org/drawingml/2006/main">
            <a:outerShdw blurRad="88900" dist="25400" dir="2700000" algn="bl" rotWithShape="0">
              <a:srgbClr val="000000">
                <a:alpha val="12941"/>
              </a:srgbClr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1" name="Google Shape;101;p6">
            <a:extLst xmlns:a="http://schemas.openxmlformats.org/drawingml/2006/main">
              <a:ext uri="{FF2B5EF4-FFF2-40B4-BE49-F238E27FC236}">
                <a16:creationId xmlns:a16="http://schemas.microsoft.com/office/drawing/2014/main" id="{322BBC30-630B-42E3-9DD2-412D0D9AE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2212848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4A7A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127" name="Google Shape;102;p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057df9facb14a9b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960120" y="2331720"/>
            <a:ext cx="219456" cy="21945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3" name="Google Shape;103;p6">
            <a:extLst xmlns:a="http://schemas.openxmlformats.org/drawingml/2006/main">
              <a:ext uri="{FF2B5EF4-FFF2-40B4-BE49-F238E27FC236}">
                <a16:creationId xmlns:a16="http://schemas.microsoft.com/office/drawing/2014/main" id="{4B81C68F-F7F1-4BFA-948A-90AE27C80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2761488"/>
            <a:ext cx="2240280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450" b="1" i="0" u="none" cap="none">
                <a:solidFill>
                  <a:srgbClr val="1E2447"/>
                </a:solidFill>
                <a:latin typeface="Cambria"/>
                <a:ea typeface="Cambria"/>
                <a:cs typeface="Cambria"/>
              </a:rPr>
              <a:t>Empirical jiva</a:t>
            </a:r>
          </a:p>
        </p:txBody>
      </p:sp>
      <p:sp>
        <p:nvSpPr>
          <p:cNvPr id="104" name="Google Shape;104;p6">
            <a:extLst xmlns:a="http://schemas.openxmlformats.org/drawingml/2006/main">
              <a:ext uri="{FF2B5EF4-FFF2-40B4-BE49-F238E27FC236}">
                <a16:creationId xmlns:a16="http://schemas.microsoft.com/office/drawing/2014/main" id="{91E8706C-5C84-49C2-950C-C985E9B97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3090672"/>
            <a:ext cx="2240280" cy="1234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cap="none">
                <a:solidFill>
                  <a:srgbClr val="5A6377"/>
                </a:solidFill>
                <a:latin typeface="Calibri"/>
                <a:ea typeface="Calibri"/>
                <a:cs typeface="Calibri"/>
              </a:rPr>
              <a:t>The embodied person perceives, infers, remembers, deliberates, acts, and bears responsibility through body, senses, and antahkarana.</a:t>
            </a:r>
          </a:p>
        </p:txBody>
      </p:sp>
      <p:sp>
        <p:nvSpPr>
          <p:cNvPr id="105" name="Google Shape;105;p6">
            <a:extLst xmlns:a="http://schemas.openxmlformats.org/drawingml/2006/main">
              <a:ext uri="{FF2B5EF4-FFF2-40B4-BE49-F238E27FC236}">
                <a16:creationId xmlns:a16="http://schemas.microsoft.com/office/drawing/2014/main" id="{7F5058FF-1BB9-4921-BA6D-F70E2BC02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2424" y="2011680"/>
            <a:ext cx="2615184" cy="2395728"/>
          </a:xfrm>
          <a:prstGeom xmlns:a="http://schemas.openxmlformats.org/drawingml/2006/main" prst="roundRect">
            <a:avLst>
              <a:gd name="adj" fmla="val 3817"/>
            </a:avLst>
          </a:prstGeom>
          <a:solidFill xmlns:a="http://schemas.openxmlformats.org/drawingml/2006/main">
            <a:srgbClr val="EEF1F8"/>
          </a:solidFill>
          <a:ln xmlns:a="http://schemas.openxmlformats.org/drawingml/2006/main">
            <a:noFill/>
          </a:ln>
          <a:effectLst xmlns:a="http://schemas.openxmlformats.org/drawingml/2006/main">
            <a:outerShdw blurRad="88900" dist="25400" dir="2700000" algn="bl" rotWithShape="0">
              <a:srgbClr val="000000">
                <a:alpha val="12941"/>
              </a:srgbClr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6" name="Google Shape;106;p6">
            <a:extLst xmlns:a="http://schemas.openxmlformats.org/drawingml/2006/main">
              <a:ext uri="{FF2B5EF4-FFF2-40B4-BE49-F238E27FC236}">
                <a16:creationId xmlns:a16="http://schemas.microsoft.com/office/drawing/2014/main" id="{9B5AA159-1A21-4A1E-BAC5-D38FC94CA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92" y="2212848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4A7A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132" name="Google Shape;107;p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6004eeba4fd488e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3712464" y="2331720"/>
            <a:ext cx="219456" cy="21945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8" name="Google Shape;108;p6">
            <a:extLst xmlns:a="http://schemas.openxmlformats.org/drawingml/2006/main">
              <a:ext uri="{FF2B5EF4-FFF2-40B4-BE49-F238E27FC236}">
                <a16:creationId xmlns:a16="http://schemas.microsoft.com/office/drawing/2014/main" id="{D94D8FC0-69AE-44E1-9D58-6DE6FF8D0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92" y="2761488"/>
            <a:ext cx="2240280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450" b="1" i="0" u="none" cap="none">
                <a:solidFill>
                  <a:srgbClr val="1E2447"/>
                </a:solidFill>
                <a:latin typeface="Cambria"/>
                <a:ea typeface="Cambria"/>
                <a:cs typeface="Cambria"/>
              </a:rPr>
              <a:t>Sakshin — witness</a:t>
            </a:r>
          </a:p>
        </p:txBody>
      </p:sp>
      <p:sp>
        <p:nvSpPr>
          <p:cNvPr id="109" name="Google Shape;109;p6">
            <a:extLst xmlns:a="http://schemas.openxmlformats.org/drawingml/2006/main">
              <a:ext uri="{FF2B5EF4-FFF2-40B4-BE49-F238E27FC236}">
                <a16:creationId xmlns:a16="http://schemas.microsoft.com/office/drawing/2014/main" id="{B8609BF1-AD34-4D40-9A8A-24A8BC3D1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92" y="3090672"/>
            <a:ext cx="2240280" cy="1234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cap="none">
                <a:solidFill>
                  <a:srgbClr val="5A6377"/>
                </a:solidFill>
                <a:latin typeface="Calibri"/>
                <a:ea typeface="Calibri"/>
                <a:cs typeface="Calibri"/>
              </a:rPr>
              <a:t>Actionless consciousness in whose presence changing cognitions are manifest; it does not perform perception or inference alongside the jiva.</a:t>
            </a:r>
          </a:p>
        </p:txBody>
      </p:sp>
      <p:sp>
        <p:nvSpPr>
          <p:cNvPr id="110" name="Google Shape;110;p6">
            <a:extLst xmlns:a="http://schemas.openxmlformats.org/drawingml/2006/main">
              <a:ext uri="{FF2B5EF4-FFF2-40B4-BE49-F238E27FC236}">
                <a16:creationId xmlns:a16="http://schemas.microsoft.com/office/drawing/2014/main" id="{897E6910-9F9B-41AB-900E-EC71D5726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4768" y="2011680"/>
            <a:ext cx="2615184" cy="2395728"/>
          </a:xfrm>
          <a:prstGeom xmlns:a="http://schemas.openxmlformats.org/drawingml/2006/main" prst="roundRect">
            <a:avLst>
              <a:gd name="adj" fmla="val 3817"/>
            </a:avLst>
          </a:prstGeom>
          <a:solidFill xmlns:a="http://schemas.openxmlformats.org/drawingml/2006/main">
            <a:srgbClr val="EEF1F8"/>
          </a:solidFill>
          <a:ln xmlns:a="http://schemas.openxmlformats.org/drawingml/2006/main">
            <a:noFill/>
          </a:ln>
          <a:effectLst xmlns:a="http://schemas.openxmlformats.org/drawingml/2006/main">
            <a:outerShdw blurRad="88900" dist="25400" dir="2700000" algn="bl" rotWithShape="0">
              <a:srgbClr val="000000">
                <a:alpha val="12941"/>
              </a:srgbClr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1" name="Google Shape;111;p6">
            <a:extLst xmlns:a="http://schemas.openxmlformats.org/drawingml/2006/main">
              <a:ext uri="{FF2B5EF4-FFF2-40B4-BE49-F238E27FC236}">
                <a16:creationId xmlns:a16="http://schemas.microsoft.com/office/drawing/2014/main" id="{E67C106F-BE83-49E5-B07F-FBF8361D1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5936" y="2212848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4A7A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137" name="Google Shape;112;p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df1b72d1c4b4a71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464808" y="2331720"/>
            <a:ext cx="219456" cy="21945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13" name="Google Shape;113;p6">
            <a:extLst xmlns:a="http://schemas.openxmlformats.org/drawingml/2006/main">
              <a:ext uri="{FF2B5EF4-FFF2-40B4-BE49-F238E27FC236}">
                <a16:creationId xmlns:a16="http://schemas.microsoft.com/office/drawing/2014/main" id="{7C0E46DA-89DB-4129-A5C8-58FA26CE9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5936" y="2761488"/>
            <a:ext cx="2240280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450" b="1" i="0" u="none" cap="none">
                <a:solidFill>
                  <a:srgbClr val="1E2447"/>
                </a:solidFill>
                <a:latin typeface="Cambria"/>
                <a:ea typeface="Cambria"/>
                <a:cs typeface="Cambria"/>
              </a:rPr>
              <a:t>Paramartha</a:t>
            </a:r>
          </a:p>
        </p:txBody>
      </p:sp>
      <p:sp>
        <p:nvSpPr>
          <p:cNvPr id="114" name="Google Shape;114;p6">
            <a:extLst xmlns:a="http://schemas.openxmlformats.org/drawingml/2006/main">
              <a:ext uri="{FF2B5EF4-FFF2-40B4-BE49-F238E27FC236}">
                <a16:creationId xmlns:a16="http://schemas.microsoft.com/office/drawing/2014/main" id="{120B2FB7-86A5-48D0-85A7-8E8241896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5936" y="3090672"/>
            <a:ext cx="2240280" cy="1234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cap="none">
                <a:solidFill>
                  <a:srgbClr val="5A6377"/>
                </a:solidFill>
                <a:latin typeface="Calibri"/>
                <a:ea typeface="Calibri"/>
                <a:cs typeface="Calibri"/>
              </a:rPr>
              <a:t>Brahman is non-dual consciousness. Knower, means, and known do not remain finally independent terms.</a:t>
            </a:r>
          </a:p>
        </p:txBody>
      </p:sp>
      <p:sp>
        <p:nvSpPr>
          <p:cNvPr id="115" name="Google Shape;115;p6">
            <a:extLst xmlns:a="http://schemas.openxmlformats.org/drawingml/2006/main">
              <a:ext uri="{FF2B5EF4-FFF2-40B4-BE49-F238E27FC236}">
                <a16:creationId xmlns:a16="http://schemas.microsoft.com/office/drawing/2014/main" id="{3FFA5695-FD1E-4119-B4FC-199120FA7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828032"/>
            <a:ext cx="8138160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1" u="none" cap="none">
                <a:solidFill>
                  <a:srgbClr val="5A6377"/>
                </a:solidFill>
                <a:latin typeface="Calibri"/>
                <a:ea typeface="Calibri"/>
                <a:cs typeface="Calibri"/>
              </a:rPr>
              <a:t>DDV p. 15 · BG 13.1–3 · CU 6.2.1 · Study §§2.1, 2.4  ·  AnalyticMadhyasthDarshan.org  ·  4 / 12</a:t>
            </a:r>
          </a:p>
        </p:txBody>
      </p:sp>
    </p:spTree>
    <p:extLst>
      <p:ext uri="{BB962C8B-B14F-4D97-AF65-F5344CB8AC3E}">
        <p14:creationId xmlns:p14="http://schemas.microsoft.com/office/powerpoint/2010/main" val="146621908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1" name="Google Shape;121;p7">
            <a:extLst xmlns:a="http://schemas.openxmlformats.org/drawingml/2006/main">
              <a:ext uri="{FF2B5EF4-FFF2-40B4-BE49-F238E27FC236}">
                <a16:creationId xmlns:a16="http://schemas.microsoft.com/office/drawing/2014/main" id="{1FDF55EE-1DFC-4864-BBCF-6889CF1EF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4048"/>
            <a:ext cx="365760" cy="36576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5875" cmpd="sng">
            <a:solidFill>
              <a:srgbClr val="3B4A7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22" name="Google Shape;122;p7">
            <a:extLst xmlns:a="http://schemas.openxmlformats.org/drawingml/2006/main">
              <a:ext uri="{FF2B5EF4-FFF2-40B4-BE49-F238E27FC236}">
                <a16:creationId xmlns:a16="http://schemas.microsoft.com/office/drawing/2014/main" id="{5AD84244-4940-47B0-823B-B7C36ED1B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457200"/>
            <a:ext cx="219456" cy="219456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5875" cmpd="sng">
            <a:solidFill>
              <a:srgbClr val="3B4A7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23" name="Google Shape;123;p7">
            <a:extLst xmlns:a="http://schemas.openxmlformats.org/drawingml/2006/main">
              <a:ext uri="{FF2B5EF4-FFF2-40B4-BE49-F238E27FC236}">
                <a16:creationId xmlns:a16="http://schemas.microsoft.com/office/drawing/2014/main" id="{11218A88-AD24-47F4-AA7E-CEDB55B36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531" y="519379"/>
            <a:ext cx="95098" cy="950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821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24" name="Google Shape;124;p7">
            <a:extLst xmlns:a="http://schemas.openxmlformats.org/drawingml/2006/main">
              <a:ext uri="{FF2B5EF4-FFF2-40B4-BE49-F238E27FC236}">
                <a16:creationId xmlns:a16="http://schemas.microsoft.com/office/drawing/2014/main" id="{920138EF-D763-4448-A961-8DCEAD2BB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56032"/>
            <a:ext cx="7680960" cy="2377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 u="none" cap="none">
                <a:solidFill>
                  <a:srgbClr val="9A6414"/>
                </a:solidFill>
                <a:latin typeface="Calibri"/>
                <a:ea typeface="Calibri"/>
                <a:cs typeface="Calibri"/>
              </a:rPr>
              <a:t>ADVAITA VEDANTA</a:t>
            </a:r>
          </a:p>
        </p:txBody>
      </p:sp>
      <p:sp>
        <p:nvSpPr>
          <p:cNvPr id="125" name="Google Shape;125;p7">
            <a:extLst xmlns:a="http://schemas.openxmlformats.org/drawingml/2006/main">
              <a:ext uri="{FF2B5EF4-FFF2-40B4-BE49-F238E27FC236}">
                <a16:creationId xmlns:a16="http://schemas.microsoft.com/office/drawing/2014/main" id="{B29B9366-7866-413D-82A0-241730EBC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457200"/>
            <a:ext cx="7726680" cy="566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000" b="1" i="0" u="none" cap="none">
                <a:solidFill>
                  <a:srgbClr val="1E2447"/>
                </a:solidFill>
                <a:latin typeface="Cambria"/>
                <a:ea typeface="Cambria"/>
                <a:cs typeface="Cambria"/>
              </a:rPr>
              <a:t>Advaita Has Two Orders of Knowledge</a:t>
            </a:r>
          </a:p>
        </p:txBody>
      </p:sp>
      <p:sp>
        <p:nvSpPr>
          <p:cNvPr id="126" name="Google Shape;126;p7">
            <a:extLst xmlns:a="http://schemas.openxmlformats.org/drawingml/2006/main">
              <a:ext uri="{FF2B5EF4-FFF2-40B4-BE49-F238E27FC236}">
                <a16:creationId xmlns:a16="http://schemas.microsoft.com/office/drawing/2014/main" id="{7D7417D2-2684-43CB-8AFE-F91CDBDC0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280160"/>
            <a:ext cx="3794760" cy="1188720"/>
          </a:xfrm>
          <a:prstGeom xmlns:a="http://schemas.openxmlformats.org/drawingml/2006/main" prst="roundRect">
            <a:avLst>
              <a:gd name="adj" fmla="val 6923"/>
            </a:avLst>
          </a:prstGeom>
          <a:solidFill xmlns:a="http://schemas.openxmlformats.org/drawingml/2006/main">
            <a:srgbClr val="EEF1F8"/>
          </a:solidFill>
          <a:ln xmlns:a="http://schemas.openxmlformats.org/drawingml/2006/main">
            <a:noFill/>
          </a:ln>
          <a:effectLst xmlns:a="http://schemas.openxmlformats.org/drawingml/2006/main">
            <a:outerShdw blurRad="88900" dist="25400" dir="2700000" algn="bl" rotWithShape="0">
              <a:srgbClr val="000000">
                <a:alpha val="12941"/>
              </a:srgbClr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27" name="Google Shape;127;p7">
            <a:extLst xmlns:a="http://schemas.openxmlformats.org/drawingml/2006/main">
              <a:ext uri="{FF2B5EF4-FFF2-40B4-BE49-F238E27FC236}">
                <a16:creationId xmlns:a16="http://schemas.microsoft.com/office/drawing/2014/main" id="{EE33F6BF-95C0-4816-A54C-B6B00AF45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463040"/>
            <a:ext cx="310896" cy="310896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5875" cmpd="sng">
            <a:solidFill>
              <a:srgbClr val="3B4A7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28" name="Google Shape;128;p7">
            <a:extLst xmlns:a="http://schemas.openxmlformats.org/drawingml/2006/main">
              <a:ext uri="{FF2B5EF4-FFF2-40B4-BE49-F238E27FC236}">
                <a16:creationId xmlns:a16="http://schemas.microsoft.com/office/drawing/2014/main" id="{B6E3019C-45D3-4ED1-A9D2-55D72A508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139" y="1525219"/>
            <a:ext cx="186538" cy="186538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5875" cmpd="sng">
            <a:solidFill>
              <a:srgbClr val="3B4A7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29" name="Google Shape;129;p7">
            <a:extLst xmlns:a="http://schemas.openxmlformats.org/drawingml/2006/main">
              <a:ext uri="{FF2B5EF4-FFF2-40B4-BE49-F238E27FC236}">
                <a16:creationId xmlns:a16="http://schemas.microsoft.com/office/drawing/2014/main" id="{EE1719B3-E68F-4D01-A60C-336CB2754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992" y="1578072"/>
            <a:ext cx="80833" cy="8083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821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30" name="Google Shape;130;p7">
            <a:extLst xmlns:a="http://schemas.openxmlformats.org/drawingml/2006/main">
              <a:ext uri="{FF2B5EF4-FFF2-40B4-BE49-F238E27FC236}">
                <a16:creationId xmlns:a16="http://schemas.microsoft.com/office/drawing/2014/main" id="{A70DDF07-767E-4CA7-8197-976F5965A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872" y="1389888"/>
            <a:ext cx="301752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350" b="1" i="0" u="none" cap="none">
                <a:solidFill>
                  <a:srgbClr val="1E2447"/>
                </a:solidFill>
                <a:latin typeface="Cambria"/>
                <a:ea typeface="Cambria"/>
                <a:cs typeface="Cambria"/>
              </a:rPr>
              <a:t>Empirical pramanas</a:t>
            </a:r>
          </a:p>
        </p:txBody>
      </p:sp>
      <p:sp>
        <p:nvSpPr>
          <p:cNvPr id="131" name="Google Shape;131;p7">
            <a:extLst xmlns:a="http://schemas.openxmlformats.org/drawingml/2006/main">
              <a:ext uri="{FF2B5EF4-FFF2-40B4-BE49-F238E27FC236}">
                <a16:creationId xmlns:a16="http://schemas.microsoft.com/office/drawing/2014/main" id="{6BEFCC17-F959-4C0D-898B-ADDA648A1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872" y="1682496"/>
            <a:ext cx="3063240" cy="731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30" b="0" i="0" u="none" cap="none">
                <a:solidFill>
                  <a:srgbClr val="5A6377"/>
                </a:solidFill>
                <a:latin typeface="Calibri"/>
                <a:ea typeface="Calibri"/>
                <a:cs typeface="Calibri"/>
              </a:rPr>
              <a:t>Perception, inference, comparison, postulation, non-apprehension, and testimony generate valid cognition within shared life.</a:t>
            </a:r>
          </a:p>
        </p:txBody>
      </p:sp>
      <p:sp>
        <p:nvSpPr>
          <p:cNvPr id="132" name="Google Shape;132;p7">
            <a:extLst xmlns:a="http://schemas.openxmlformats.org/drawingml/2006/main">
              <a:ext uri="{FF2B5EF4-FFF2-40B4-BE49-F238E27FC236}">
                <a16:creationId xmlns:a16="http://schemas.microsoft.com/office/drawing/2014/main" id="{2B1D4DE1-906E-43B6-A1AC-A7EA7B235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1280160"/>
            <a:ext cx="3794760" cy="1188720"/>
          </a:xfrm>
          <a:prstGeom xmlns:a="http://schemas.openxmlformats.org/drawingml/2006/main" prst="roundRect">
            <a:avLst>
              <a:gd name="adj" fmla="val 6923"/>
            </a:avLst>
          </a:prstGeom>
          <a:solidFill xmlns:a="http://schemas.openxmlformats.org/drawingml/2006/main">
            <a:srgbClr val="EEF1F8"/>
          </a:solidFill>
          <a:ln xmlns:a="http://schemas.openxmlformats.org/drawingml/2006/main">
            <a:noFill/>
          </a:ln>
          <a:effectLst xmlns:a="http://schemas.openxmlformats.org/drawingml/2006/main">
            <a:outerShdw blurRad="88900" dist="25400" dir="2700000" algn="bl" rotWithShape="0">
              <a:srgbClr val="000000">
                <a:alpha val="12941"/>
              </a:srgbClr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33" name="Google Shape;133;p7">
            <a:extLst xmlns:a="http://schemas.openxmlformats.org/drawingml/2006/main">
              <a:ext uri="{FF2B5EF4-FFF2-40B4-BE49-F238E27FC236}">
                <a16:creationId xmlns:a16="http://schemas.microsoft.com/office/drawing/2014/main" id="{1A555193-C105-42C6-B81B-78A780152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2040" y="1463040"/>
            <a:ext cx="310896" cy="310896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5875" cmpd="sng">
            <a:solidFill>
              <a:srgbClr val="3B4A7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34" name="Google Shape;134;p7">
            <a:extLst xmlns:a="http://schemas.openxmlformats.org/drawingml/2006/main">
              <a:ext uri="{FF2B5EF4-FFF2-40B4-BE49-F238E27FC236}">
                <a16:creationId xmlns:a16="http://schemas.microsoft.com/office/drawing/2014/main" id="{3A08FC77-38FD-4F53-9FDA-4E24295DF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4219" y="1525219"/>
            <a:ext cx="186538" cy="186538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5875" cmpd="sng">
            <a:solidFill>
              <a:srgbClr val="3B4A7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35" name="Google Shape;135;p7">
            <a:extLst xmlns:a="http://schemas.openxmlformats.org/drawingml/2006/main">
              <a:ext uri="{FF2B5EF4-FFF2-40B4-BE49-F238E27FC236}">
                <a16:creationId xmlns:a16="http://schemas.microsoft.com/office/drawing/2014/main" id="{D06E458B-173D-440A-9C47-D542B10D7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7072" y="1578072"/>
            <a:ext cx="80833" cy="8083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821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36" name="Google Shape;136;p7">
            <a:extLst xmlns:a="http://schemas.openxmlformats.org/drawingml/2006/main">
              <a:ext uri="{FF2B5EF4-FFF2-40B4-BE49-F238E27FC236}">
                <a16:creationId xmlns:a16="http://schemas.microsoft.com/office/drawing/2014/main" id="{2E165D08-90C3-4000-8857-A8714F7BC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0952" y="1389888"/>
            <a:ext cx="301752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350" b="1" i="0" u="none" cap="none">
                <a:solidFill>
                  <a:srgbClr val="1E2447"/>
                </a:solidFill>
                <a:latin typeface="Cambria"/>
                <a:ea typeface="Cambria"/>
                <a:cs typeface="Cambria"/>
              </a:rPr>
              <a:t>Upanishadic shabda</a:t>
            </a:r>
          </a:p>
        </p:txBody>
      </p:sp>
      <p:sp>
        <p:nvSpPr>
          <p:cNvPr id="137" name="Google Shape;137;p7">
            <a:extLst xmlns:a="http://schemas.openxmlformats.org/drawingml/2006/main">
              <a:ext uri="{FF2B5EF4-FFF2-40B4-BE49-F238E27FC236}">
                <a16:creationId xmlns:a16="http://schemas.microsoft.com/office/drawing/2014/main" id="{81243F9D-4F30-4A59-8606-FA47AD846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0952" y="1682496"/>
            <a:ext cx="3063240" cy="731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30" b="0" i="0" u="none" cap="none">
                <a:solidFill>
                  <a:srgbClr val="5A6377"/>
                </a:solidFill>
                <a:latin typeface="Calibri"/>
                <a:ea typeface="Calibri"/>
                <a:cs typeface="Calibri"/>
              </a:rPr>
              <a:t>Reveals Self–Brahman identity unavailable to perception and inference; it removes ignorance rather than producing Brahman as an object.</a:t>
            </a:r>
          </a:p>
        </p:txBody>
      </p:sp>
      <p:sp>
        <p:nvSpPr>
          <p:cNvPr id="138" name="Google Shape;138;p7">
            <a:extLst xmlns:a="http://schemas.openxmlformats.org/drawingml/2006/main">
              <a:ext uri="{FF2B5EF4-FFF2-40B4-BE49-F238E27FC236}">
                <a16:creationId xmlns:a16="http://schemas.microsoft.com/office/drawing/2014/main" id="{C24F03F3-13B7-4DA6-B82A-6FFEF115D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606040"/>
            <a:ext cx="3794760" cy="1188720"/>
          </a:xfrm>
          <a:prstGeom xmlns:a="http://schemas.openxmlformats.org/drawingml/2006/main" prst="roundRect">
            <a:avLst>
              <a:gd name="adj" fmla="val 6923"/>
            </a:avLst>
          </a:prstGeom>
          <a:solidFill xmlns:a="http://schemas.openxmlformats.org/drawingml/2006/main">
            <a:srgbClr val="EEF1F8"/>
          </a:solidFill>
          <a:ln xmlns:a="http://schemas.openxmlformats.org/drawingml/2006/main">
            <a:noFill/>
          </a:ln>
          <a:effectLst xmlns:a="http://schemas.openxmlformats.org/drawingml/2006/main">
            <a:outerShdw blurRad="88900" dist="25400" dir="2700000" algn="bl" rotWithShape="0">
              <a:srgbClr val="000000">
                <a:alpha val="12941"/>
              </a:srgbClr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39" name="Google Shape;139;p7">
            <a:extLst xmlns:a="http://schemas.openxmlformats.org/drawingml/2006/main">
              <a:ext uri="{FF2B5EF4-FFF2-40B4-BE49-F238E27FC236}">
                <a16:creationId xmlns:a16="http://schemas.microsoft.com/office/drawing/2014/main" id="{7E860388-B17F-4D86-B9E1-F64D831A8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788920"/>
            <a:ext cx="310896" cy="310896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5875" cmpd="sng">
            <a:solidFill>
              <a:srgbClr val="3B4A7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0" name="Google Shape;140;p7">
            <a:extLst xmlns:a="http://schemas.openxmlformats.org/drawingml/2006/main">
              <a:ext uri="{FF2B5EF4-FFF2-40B4-BE49-F238E27FC236}">
                <a16:creationId xmlns:a16="http://schemas.microsoft.com/office/drawing/2014/main" id="{2DCD6C6B-CF46-4530-A4E5-F7FEC5439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139" y="2851099"/>
            <a:ext cx="186538" cy="186538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5875" cmpd="sng">
            <a:solidFill>
              <a:srgbClr val="3B4A7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1" name="Google Shape;141;p7">
            <a:extLst xmlns:a="http://schemas.openxmlformats.org/drawingml/2006/main">
              <a:ext uri="{FF2B5EF4-FFF2-40B4-BE49-F238E27FC236}">
                <a16:creationId xmlns:a16="http://schemas.microsoft.com/office/drawing/2014/main" id="{0D2E6CD2-706E-4D67-92AD-87B6DF703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992" y="2903952"/>
            <a:ext cx="80833" cy="8083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821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2" name="Google Shape;142;p7">
            <a:extLst xmlns:a="http://schemas.openxmlformats.org/drawingml/2006/main">
              <a:ext uri="{FF2B5EF4-FFF2-40B4-BE49-F238E27FC236}">
                <a16:creationId xmlns:a16="http://schemas.microsoft.com/office/drawing/2014/main" id="{72284CF3-2391-448B-BA27-7D7834BE2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872" y="2715768"/>
            <a:ext cx="301752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350" b="1" i="0" u="none" cap="none">
                <a:solidFill>
                  <a:srgbClr val="1E2447"/>
                </a:solidFill>
                <a:latin typeface="Cambria"/>
                <a:ea typeface="Cambria"/>
                <a:cs typeface="Cambria"/>
              </a:rPr>
              <a:t>Error and sublation</a:t>
            </a:r>
          </a:p>
        </p:txBody>
      </p:sp>
      <p:sp>
        <p:nvSpPr>
          <p:cNvPr id="143" name="Google Shape;143;p7">
            <a:extLst xmlns:a="http://schemas.openxmlformats.org/drawingml/2006/main">
              <a:ext uri="{FF2B5EF4-FFF2-40B4-BE49-F238E27FC236}">
                <a16:creationId xmlns:a16="http://schemas.microsoft.com/office/drawing/2014/main" id="{88B4D163-A60F-4D71-A21A-FF9D66863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872" y="3008376"/>
            <a:ext cx="3063240" cy="731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30" b="0" i="0" u="none" cap="none">
                <a:solidFill>
                  <a:srgbClr val="5A6377"/>
                </a:solidFill>
                <a:latin typeface="Calibri"/>
                <a:ea typeface="Calibri"/>
                <a:cs typeface="Calibri"/>
              </a:rPr>
              <a:t>Adhyasa superimposes self and not-self. Correction sublates error; empirical plurality is ultimately mithya, not sheer non-being.</a:t>
            </a:r>
          </a:p>
        </p:txBody>
      </p:sp>
      <p:sp>
        <p:nvSpPr>
          <p:cNvPr id="144" name="Google Shape;144;p7">
            <a:extLst xmlns:a="http://schemas.openxmlformats.org/drawingml/2006/main">
              <a:ext uri="{FF2B5EF4-FFF2-40B4-BE49-F238E27FC236}">
                <a16:creationId xmlns:a16="http://schemas.microsoft.com/office/drawing/2014/main" id="{35D606E5-7371-49D6-8AFE-E2CD65E2D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2606040"/>
            <a:ext cx="3794760" cy="1188720"/>
          </a:xfrm>
          <a:prstGeom xmlns:a="http://schemas.openxmlformats.org/drawingml/2006/main" prst="roundRect">
            <a:avLst>
              <a:gd name="adj" fmla="val 6923"/>
            </a:avLst>
          </a:prstGeom>
          <a:solidFill xmlns:a="http://schemas.openxmlformats.org/drawingml/2006/main">
            <a:srgbClr val="EEF1F8"/>
          </a:solidFill>
          <a:ln xmlns:a="http://schemas.openxmlformats.org/drawingml/2006/main">
            <a:noFill/>
          </a:ln>
          <a:effectLst xmlns:a="http://schemas.openxmlformats.org/drawingml/2006/main">
            <a:outerShdw blurRad="88900" dist="25400" dir="2700000" algn="bl" rotWithShape="0">
              <a:srgbClr val="000000">
                <a:alpha val="12941"/>
              </a:srgbClr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5" name="Google Shape;145;p7">
            <a:extLst xmlns:a="http://schemas.openxmlformats.org/drawingml/2006/main">
              <a:ext uri="{FF2B5EF4-FFF2-40B4-BE49-F238E27FC236}">
                <a16:creationId xmlns:a16="http://schemas.microsoft.com/office/drawing/2014/main" id="{60ED207F-363E-479B-A217-044586C34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2040" y="2788920"/>
            <a:ext cx="310896" cy="310896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5875" cmpd="sng">
            <a:solidFill>
              <a:srgbClr val="3B4A7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6" name="Google Shape;146;p7">
            <a:extLst xmlns:a="http://schemas.openxmlformats.org/drawingml/2006/main">
              <a:ext uri="{FF2B5EF4-FFF2-40B4-BE49-F238E27FC236}">
                <a16:creationId xmlns:a16="http://schemas.microsoft.com/office/drawing/2014/main" id="{F59040DB-FE8E-4768-B34F-7171056FB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4219" y="2851099"/>
            <a:ext cx="186538" cy="186538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5875" cmpd="sng">
            <a:solidFill>
              <a:srgbClr val="3B4A7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7" name="Google Shape;147;p7">
            <a:extLst xmlns:a="http://schemas.openxmlformats.org/drawingml/2006/main">
              <a:ext uri="{FF2B5EF4-FFF2-40B4-BE49-F238E27FC236}">
                <a16:creationId xmlns:a16="http://schemas.microsoft.com/office/drawing/2014/main" id="{2D39A687-7B45-4546-8894-6BDA52A70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7072" y="2903952"/>
            <a:ext cx="80833" cy="8083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821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8" name="Google Shape;148;p7">
            <a:extLst xmlns:a="http://schemas.openxmlformats.org/drawingml/2006/main">
              <a:ext uri="{FF2B5EF4-FFF2-40B4-BE49-F238E27FC236}">
                <a16:creationId xmlns:a16="http://schemas.microsoft.com/office/drawing/2014/main" id="{40CC8AF1-DE82-4E58-8C0C-0A05484D7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0952" y="2715768"/>
            <a:ext cx="301752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350" b="1" i="0" u="none" cap="none">
                <a:solidFill>
                  <a:srgbClr val="1E2447"/>
                </a:solidFill>
                <a:latin typeface="Cambria"/>
                <a:ea typeface="Cambria"/>
                <a:cs typeface="Cambria"/>
              </a:rPr>
              <a:t>Liberation</a:t>
            </a:r>
          </a:p>
        </p:txBody>
      </p:sp>
      <p:sp>
        <p:nvSpPr>
          <p:cNvPr id="149" name="Google Shape;149;p7">
            <a:extLst xmlns:a="http://schemas.openxmlformats.org/drawingml/2006/main">
              <a:ext uri="{FF2B5EF4-FFF2-40B4-BE49-F238E27FC236}">
                <a16:creationId xmlns:a16="http://schemas.microsoft.com/office/drawing/2014/main" id="{43CACCDB-C99D-4605-856E-E37BB61C6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0952" y="3008376"/>
            <a:ext cx="3063240" cy="731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30" b="0" i="0" u="none" cap="none">
                <a:solidFill>
                  <a:srgbClr val="5A6377"/>
                </a:solidFill>
                <a:latin typeface="Calibri"/>
                <a:ea typeface="Calibri"/>
                <a:cs typeface="Calibri"/>
              </a:rPr>
              <a:t>Shravana, manana, and nididhyasana assimilate liberating knowledge. Conduct prepares and may express freedom, but does not constitute brahma-jnana.</a:t>
            </a:r>
          </a:p>
        </p:txBody>
      </p:sp>
      <p:sp>
        <p:nvSpPr>
          <p:cNvPr id="150" name="Google Shape;150;p7">
            <a:extLst xmlns:a="http://schemas.openxmlformats.org/drawingml/2006/main">
              <a:ext uri="{FF2B5EF4-FFF2-40B4-BE49-F238E27FC236}">
                <a16:creationId xmlns:a16="http://schemas.microsoft.com/office/drawing/2014/main" id="{C900555A-CF8C-4582-8C80-52AF84F08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977640"/>
            <a:ext cx="7863840" cy="749808"/>
          </a:xfrm>
          <a:prstGeom xmlns:a="http://schemas.openxmlformats.org/drawingml/2006/main" prst="roundRect">
            <a:avLst>
              <a:gd name="adj" fmla="val 10976"/>
            </a:avLst>
          </a:prstGeom>
          <a:solidFill xmlns:a="http://schemas.openxmlformats.org/drawingml/2006/main">
            <a:srgbClr val="FAF1D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51" name="Google Shape;151;p7">
            <a:extLst xmlns:a="http://schemas.openxmlformats.org/drawingml/2006/main">
              <a:ext uri="{FF2B5EF4-FFF2-40B4-BE49-F238E27FC236}">
                <a16:creationId xmlns:a16="http://schemas.microsoft.com/office/drawing/2014/main" id="{2117AB49-652B-42CE-AF52-B10AE62D3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977640"/>
            <a:ext cx="7406640" cy="7498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cap="none">
                <a:solidFill>
                  <a:srgbClr val="9A6414"/>
                </a:solidFill>
                <a:latin typeface="Calibri"/>
                <a:ea typeface="Calibri"/>
                <a:cs typeface="Calibri"/>
              </a:rPr>
              <a:t>Advaita’s pramana means a source of valid cognition; MD often uses “evidence” for lived confirmation. The terms overlap but are not equivalent.</a:t>
            </a:r>
          </a:p>
        </p:txBody>
      </p:sp>
      <p:sp>
        <p:nvSpPr>
          <p:cNvPr id="152" name="Google Shape;152;p7">
            <a:extLst xmlns:a="http://schemas.openxmlformats.org/drawingml/2006/main">
              <a:ext uri="{FF2B5EF4-FFF2-40B4-BE49-F238E27FC236}">
                <a16:creationId xmlns:a16="http://schemas.microsoft.com/office/drawing/2014/main" id="{C8AB52DC-457F-4AED-9264-440E84A6C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828032"/>
            <a:ext cx="8138160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1" u="none" cap="none">
                <a:solidFill>
                  <a:srgbClr val="5A6377"/>
                </a:solidFill>
                <a:latin typeface="Calibri"/>
                <a:ea typeface="Calibri"/>
                <a:cs typeface="Calibri"/>
              </a:rPr>
              <a:t>BSB Adhyasa Bhashya · BU 2.4.5 · TU 2.1.1 · Study §§2.2–2.8  ·  AnalyticMadhyasthDarshan.org  ·  5 / 12</a:t>
            </a:r>
          </a:p>
        </p:txBody>
      </p:sp>
    </p:spTree>
    <p:extLst>
      <p:ext uri="{BB962C8B-B14F-4D97-AF65-F5344CB8AC3E}">
        <p14:creationId xmlns:p14="http://schemas.microsoft.com/office/powerpoint/2010/main" val="97238234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4" name="Google Shape;94;p6">
            <a:extLst xmlns:a="http://schemas.openxmlformats.org/drawingml/2006/main">
              <a:ext uri="{FF2B5EF4-FFF2-40B4-BE49-F238E27FC236}">
                <a16:creationId xmlns:a16="http://schemas.microsoft.com/office/drawing/2014/main" id="{EBEF7F00-6B49-4A97-A2C9-3872E7D65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4048"/>
            <a:ext cx="365760" cy="36576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5875" cmpd="sng">
            <a:solidFill>
              <a:srgbClr val="3B4A7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5" name="Google Shape;95;p6">
            <a:extLst xmlns:a="http://schemas.openxmlformats.org/drawingml/2006/main">
              <a:ext uri="{FF2B5EF4-FFF2-40B4-BE49-F238E27FC236}">
                <a16:creationId xmlns:a16="http://schemas.microsoft.com/office/drawing/2014/main" id="{C70F0F84-9DBC-4050-9671-0D5C5FC1E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457200"/>
            <a:ext cx="219456" cy="219456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5875" cmpd="sng">
            <a:solidFill>
              <a:srgbClr val="3B4A7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6" name="Google Shape;96;p6">
            <a:extLst xmlns:a="http://schemas.openxmlformats.org/drawingml/2006/main">
              <a:ext uri="{FF2B5EF4-FFF2-40B4-BE49-F238E27FC236}">
                <a16:creationId xmlns:a16="http://schemas.microsoft.com/office/drawing/2014/main" id="{C80D0AF3-2895-41D8-92FE-B1605469D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531" y="519379"/>
            <a:ext cx="95098" cy="950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821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7" name="Google Shape;97;p6">
            <a:extLst xmlns:a="http://schemas.openxmlformats.org/drawingml/2006/main">
              <a:ext uri="{FF2B5EF4-FFF2-40B4-BE49-F238E27FC236}">
                <a16:creationId xmlns:a16="http://schemas.microsoft.com/office/drawing/2014/main" id="{1B657EC0-01A7-4BB0-9C90-17C378E29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56032"/>
            <a:ext cx="7680960" cy="2377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 u="none" cap="none">
                <a:solidFill>
                  <a:srgbClr val="9A6414"/>
                </a:solidFill>
                <a:latin typeface="Calibri"/>
                <a:ea typeface="Calibri"/>
                <a:cs typeface="Calibri"/>
              </a:rPr>
              <a:t>MODERN WESTERN PHILOSOPHY</a:t>
            </a:r>
          </a:p>
        </p:txBody>
      </p:sp>
      <p:sp>
        <p:nvSpPr>
          <p:cNvPr id="98" name="Google Shape;98;p6">
            <a:extLst xmlns:a="http://schemas.openxmlformats.org/drawingml/2006/main">
              <a:ext uri="{FF2B5EF4-FFF2-40B4-BE49-F238E27FC236}">
                <a16:creationId xmlns:a16="http://schemas.microsoft.com/office/drawing/2014/main" id="{4ECCC323-9F8F-4642-988C-7822F9C0A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457200"/>
            <a:ext cx="7726680" cy="566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000" b="1" i="0" u="none" cap="none">
                <a:solidFill>
                  <a:srgbClr val="1E2447"/>
                </a:solidFill>
                <a:latin typeface="Cambria"/>
                <a:ea typeface="Cambria"/>
                <a:cs typeface="Cambria"/>
              </a:rPr>
              <a:t>Analytic Epistemology Tests Warrant</a:t>
            </a:r>
          </a:p>
        </p:txBody>
      </p:sp>
      <p:sp>
        <p:nvSpPr>
          <p:cNvPr id="99" name="Google Shape;99;p6">
            <a:extLst xmlns:a="http://schemas.openxmlformats.org/drawingml/2006/main">
              <a:ext uri="{FF2B5EF4-FFF2-40B4-BE49-F238E27FC236}">
                <a16:creationId xmlns:a16="http://schemas.microsoft.com/office/drawing/2014/main" id="{DF6B4B7B-D28E-4416-8924-A7383F929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207008"/>
            <a:ext cx="7955280" cy="64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 u="none" cap="none">
                <a:solidFill>
                  <a:srgbClr val="5A6377"/>
                </a:solidFill>
                <a:latin typeface="Calibri"/>
                <a:ea typeface="Calibri"/>
                <a:cs typeface="Calibri"/>
              </a:rPr>
              <a:t>Modern Western philosophy has no single metaphysical knower. Its central contribution here is a family of precise tests for warrant, competence, testimony, and error.</a:t>
            </a:r>
          </a:p>
        </p:txBody>
      </p:sp>
      <p:sp>
        <p:nvSpPr>
          <p:cNvPr id="100" name="Google Shape;100;p6">
            <a:extLst xmlns:a="http://schemas.openxmlformats.org/drawingml/2006/main">
              <a:ext uri="{FF2B5EF4-FFF2-40B4-BE49-F238E27FC236}">
                <a16:creationId xmlns:a16="http://schemas.microsoft.com/office/drawing/2014/main" id="{DACC0896-F0C0-40F4-B10C-573B8F396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011680"/>
            <a:ext cx="2615184" cy="2395728"/>
          </a:xfrm>
          <a:prstGeom xmlns:a="http://schemas.openxmlformats.org/drawingml/2006/main" prst="roundRect">
            <a:avLst>
              <a:gd name="adj" fmla="val 3817"/>
            </a:avLst>
          </a:prstGeom>
          <a:solidFill xmlns:a="http://schemas.openxmlformats.org/drawingml/2006/main">
            <a:srgbClr val="EEF1F8"/>
          </a:solidFill>
          <a:ln xmlns:a="http://schemas.openxmlformats.org/drawingml/2006/main">
            <a:noFill/>
          </a:ln>
          <a:effectLst xmlns:a="http://schemas.openxmlformats.org/drawingml/2006/main">
            <a:outerShdw blurRad="88900" dist="25400" dir="2700000" algn="bl" rotWithShape="0">
              <a:srgbClr val="000000">
                <a:alpha val="12941"/>
              </a:srgbClr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1" name="Google Shape;101;p6">
            <a:extLst xmlns:a="http://schemas.openxmlformats.org/drawingml/2006/main">
              <a:ext uri="{FF2B5EF4-FFF2-40B4-BE49-F238E27FC236}">
                <a16:creationId xmlns:a16="http://schemas.microsoft.com/office/drawing/2014/main" id="{322BBC30-630B-42E3-9DD2-412D0D9AE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2212848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4A7A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127" name="Google Shape;102;p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a8aedd0a61b4569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960120" y="2331720"/>
            <a:ext cx="219456" cy="21945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3" name="Google Shape;103;p6">
            <a:extLst xmlns:a="http://schemas.openxmlformats.org/drawingml/2006/main">
              <a:ext uri="{FF2B5EF4-FFF2-40B4-BE49-F238E27FC236}">
                <a16:creationId xmlns:a16="http://schemas.microsoft.com/office/drawing/2014/main" id="{4B81C68F-F7F1-4BFA-948A-90AE27C80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2761488"/>
            <a:ext cx="2240280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450" b="1" i="0" u="none" cap="none">
                <a:solidFill>
                  <a:srgbClr val="1E2447"/>
                </a:solidFill>
                <a:latin typeface="Cambria"/>
                <a:ea typeface="Cambria"/>
                <a:cs typeface="Cambria"/>
              </a:rPr>
              <a:t>Knowledge</a:t>
            </a:r>
          </a:p>
        </p:txBody>
      </p:sp>
      <p:sp>
        <p:nvSpPr>
          <p:cNvPr id="104" name="Google Shape;104;p6">
            <a:extLst xmlns:a="http://schemas.openxmlformats.org/drawingml/2006/main">
              <a:ext uri="{FF2B5EF4-FFF2-40B4-BE49-F238E27FC236}">
                <a16:creationId xmlns:a16="http://schemas.microsoft.com/office/drawing/2014/main" id="{91E8706C-5C84-49C2-950C-C985E9B97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3090672"/>
            <a:ext cx="2240280" cy="1234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cap="none">
                <a:solidFill>
                  <a:srgbClr val="5A6377"/>
                </a:solidFill>
                <a:latin typeface="Calibri"/>
                <a:ea typeface="Calibri"/>
                <a:cs typeface="Calibri"/>
              </a:rPr>
              <a:t>Propositional knowledge, know-how, acquaintance, and understanding are distinguished; justified true belief is insufficient when truth depends on luck.</a:t>
            </a:r>
          </a:p>
        </p:txBody>
      </p:sp>
      <p:sp>
        <p:nvSpPr>
          <p:cNvPr id="105" name="Google Shape;105;p6">
            <a:extLst xmlns:a="http://schemas.openxmlformats.org/drawingml/2006/main">
              <a:ext uri="{FF2B5EF4-FFF2-40B4-BE49-F238E27FC236}">
                <a16:creationId xmlns:a16="http://schemas.microsoft.com/office/drawing/2014/main" id="{7F5058FF-1BB9-4921-BA6D-F70E2BC02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2424" y="2011680"/>
            <a:ext cx="2615184" cy="2395728"/>
          </a:xfrm>
          <a:prstGeom xmlns:a="http://schemas.openxmlformats.org/drawingml/2006/main" prst="roundRect">
            <a:avLst>
              <a:gd name="adj" fmla="val 3817"/>
            </a:avLst>
          </a:prstGeom>
          <a:solidFill xmlns:a="http://schemas.openxmlformats.org/drawingml/2006/main">
            <a:srgbClr val="EEF1F8"/>
          </a:solidFill>
          <a:ln xmlns:a="http://schemas.openxmlformats.org/drawingml/2006/main">
            <a:noFill/>
          </a:ln>
          <a:effectLst xmlns:a="http://schemas.openxmlformats.org/drawingml/2006/main">
            <a:outerShdw blurRad="88900" dist="25400" dir="2700000" algn="bl" rotWithShape="0">
              <a:srgbClr val="000000">
                <a:alpha val="12941"/>
              </a:srgbClr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6" name="Google Shape;106;p6">
            <a:extLst xmlns:a="http://schemas.openxmlformats.org/drawingml/2006/main">
              <a:ext uri="{FF2B5EF4-FFF2-40B4-BE49-F238E27FC236}">
                <a16:creationId xmlns:a16="http://schemas.microsoft.com/office/drawing/2014/main" id="{9B5AA159-1A21-4A1E-BAC5-D38FC94CA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92" y="2212848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4A7A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132" name="Google Shape;107;p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d9685d64520400c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3712464" y="2331720"/>
            <a:ext cx="219456" cy="21945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8" name="Google Shape;108;p6">
            <a:extLst xmlns:a="http://schemas.openxmlformats.org/drawingml/2006/main">
              <a:ext uri="{FF2B5EF4-FFF2-40B4-BE49-F238E27FC236}">
                <a16:creationId xmlns:a16="http://schemas.microsoft.com/office/drawing/2014/main" id="{D94D8FC0-69AE-44E1-9D58-6DE6FF8D0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92" y="2761488"/>
            <a:ext cx="2240280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450" b="1" i="0" u="none" cap="none">
                <a:solidFill>
                  <a:srgbClr val="1E2447"/>
                </a:solidFill>
                <a:latin typeface="Cambria"/>
                <a:ea typeface="Cambria"/>
                <a:cs typeface="Cambria"/>
              </a:rPr>
              <a:t>Knower</a:t>
            </a:r>
          </a:p>
        </p:txBody>
      </p:sp>
      <p:sp>
        <p:nvSpPr>
          <p:cNvPr id="109" name="Google Shape;109;p6">
            <a:extLst xmlns:a="http://schemas.openxmlformats.org/drawingml/2006/main">
              <a:ext uri="{FF2B5EF4-FFF2-40B4-BE49-F238E27FC236}">
                <a16:creationId xmlns:a16="http://schemas.microsoft.com/office/drawing/2014/main" id="{B8609BF1-AD34-4D40-9A8A-24A8BC3D1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92" y="3090672"/>
            <a:ext cx="2240280" cy="1234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cap="none">
                <a:solidFill>
                  <a:srgbClr val="5A6377"/>
                </a:solidFill>
                <a:latin typeface="Calibri"/>
                <a:ea typeface="Calibri"/>
                <a:cs typeface="Calibri"/>
              </a:rPr>
              <a:t>Depending on theory: organism, embodied subject, socially constituted person, stream of consciousness, or irreducible experiencer.</a:t>
            </a:r>
          </a:p>
        </p:txBody>
      </p:sp>
      <p:sp>
        <p:nvSpPr>
          <p:cNvPr id="110" name="Google Shape;110;p6">
            <a:extLst xmlns:a="http://schemas.openxmlformats.org/drawingml/2006/main">
              <a:ext uri="{FF2B5EF4-FFF2-40B4-BE49-F238E27FC236}">
                <a16:creationId xmlns:a16="http://schemas.microsoft.com/office/drawing/2014/main" id="{897E6910-9F9B-41AB-900E-EC71D5726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4768" y="2011680"/>
            <a:ext cx="2615184" cy="2395728"/>
          </a:xfrm>
          <a:prstGeom xmlns:a="http://schemas.openxmlformats.org/drawingml/2006/main" prst="roundRect">
            <a:avLst>
              <a:gd name="adj" fmla="val 3817"/>
            </a:avLst>
          </a:prstGeom>
          <a:solidFill xmlns:a="http://schemas.openxmlformats.org/drawingml/2006/main">
            <a:srgbClr val="EEF1F8"/>
          </a:solidFill>
          <a:ln xmlns:a="http://schemas.openxmlformats.org/drawingml/2006/main">
            <a:noFill/>
          </a:ln>
          <a:effectLst xmlns:a="http://schemas.openxmlformats.org/drawingml/2006/main">
            <a:outerShdw blurRad="88900" dist="25400" dir="2700000" algn="bl" rotWithShape="0">
              <a:srgbClr val="000000">
                <a:alpha val="12941"/>
              </a:srgbClr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1" name="Google Shape;111;p6">
            <a:extLst xmlns:a="http://schemas.openxmlformats.org/drawingml/2006/main">
              <a:ext uri="{FF2B5EF4-FFF2-40B4-BE49-F238E27FC236}">
                <a16:creationId xmlns:a16="http://schemas.microsoft.com/office/drawing/2014/main" id="{E67C106F-BE83-49E5-B07F-FBF8361D1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5936" y="2212848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4A7A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137" name="Google Shape;112;p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de979b043b9440e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464808" y="2331720"/>
            <a:ext cx="219456" cy="21945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13" name="Google Shape;113;p6">
            <a:extLst xmlns:a="http://schemas.openxmlformats.org/drawingml/2006/main">
              <a:ext uri="{FF2B5EF4-FFF2-40B4-BE49-F238E27FC236}">
                <a16:creationId xmlns:a16="http://schemas.microsoft.com/office/drawing/2014/main" id="{7C0E46DA-89DB-4129-A5C8-58FA26CE9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5936" y="2761488"/>
            <a:ext cx="2240280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450" b="1" i="0" u="none" cap="none">
                <a:solidFill>
                  <a:srgbClr val="1E2447"/>
                </a:solidFill>
                <a:latin typeface="Cambria"/>
                <a:ea typeface="Cambria"/>
                <a:cs typeface="Cambria"/>
              </a:rPr>
              <a:t>Validation and error</a:t>
            </a:r>
          </a:p>
        </p:txBody>
      </p:sp>
      <p:sp>
        <p:nvSpPr>
          <p:cNvPr id="114" name="Google Shape;114;p6">
            <a:extLst xmlns:a="http://schemas.openxmlformats.org/drawingml/2006/main">
              <a:ext uri="{FF2B5EF4-FFF2-40B4-BE49-F238E27FC236}">
                <a16:creationId xmlns:a16="http://schemas.microsoft.com/office/drawing/2014/main" id="{120B2FB7-86A5-48D0-85A7-8E8241896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5936" y="3090672"/>
            <a:ext cx="2240280" cy="1234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cap="none">
                <a:solidFill>
                  <a:srgbClr val="5A6377"/>
                </a:solidFill>
                <a:latin typeface="Calibri"/>
                <a:ea typeface="Calibri"/>
                <a:cs typeface="Calibri"/>
              </a:rPr>
              <a:t>Evidence, reliability, safety, intellectual virtue, testimony, and social conditions address false belief, luck, incompetence, and distortion.</a:t>
            </a:r>
          </a:p>
        </p:txBody>
      </p:sp>
      <p:sp>
        <p:nvSpPr>
          <p:cNvPr id="115" name="Google Shape;115;p6">
            <a:extLst xmlns:a="http://schemas.openxmlformats.org/drawingml/2006/main">
              <a:ext uri="{FF2B5EF4-FFF2-40B4-BE49-F238E27FC236}">
                <a16:creationId xmlns:a16="http://schemas.microsoft.com/office/drawing/2014/main" id="{3FFA5695-FD1E-4119-B4FC-199120FA7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828032"/>
            <a:ext cx="8138160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1" u="none" cap="none">
                <a:solidFill>
                  <a:srgbClr val="5A6377"/>
                </a:solidFill>
                <a:latin typeface="Calibri"/>
                <a:ea typeface="Calibri"/>
                <a:cs typeface="Calibri"/>
              </a:rPr>
              <a:t>Gettier 1963 · Goldman 1979 · Sosa 2007 · Study §3  ·  AnalyticMadhyasthDarshan.org  ·  6 / 12</a:t>
            </a:r>
          </a:p>
        </p:txBody>
      </p:sp>
    </p:spTree>
    <p:extLst>
      <p:ext uri="{BB962C8B-B14F-4D97-AF65-F5344CB8AC3E}">
        <p14:creationId xmlns:p14="http://schemas.microsoft.com/office/powerpoint/2010/main" val="146621908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4" name="Google Shape;94;p6">
            <a:extLst xmlns:a="http://schemas.openxmlformats.org/drawingml/2006/main">
              <a:ext uri="{FF2B5EF4-FFF2-40B4-BE49-F238E27FC236}">
                <a16:creationId xmlns:a16="http://schemas.microsoft.com/office/drawing/2014/main" id="{EBEF7F00-6B49-4A97-A2C9-3872E7D65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4048"/>
            <a:ext cx="365760" cy="36576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5875" cmpd="sng">
            <a:solidFill>
              <a:srgbClr val="3B4A7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5" name="Google Shape;95;p6">
            <a:extLst xmlns:a="http://schemas.openxmlformats.org/drawingml/2006/main">
              <a:ext uri="{FF2B5EF4-FFF2-40B4-BE49-F238E27FC236}">
                <a16:creationId xmlns:a16="http://schemas.microsoft.com/office/drawing/2014/main" id="{C70F0F84-9DBC-4050-9671-0D5C5FC1E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457200"/>
            <a:ext cx="219456" cy="219456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5875" cmpd="sng">
            <a:solidFill>
              <a:srgbClr val="3B4A7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6" name="Google Shape;96;p6">
            <a:extLst xmlns:a="http://schemas.openxmlformats.org/drawingml/2006/main">
              <a:ext uri="{FF2B5EF4-FFF2-40B4-BE49-F238E27FC236}">
                <a16:creationId xmlns:a16="http://schemas.microsoft.com/office/drawing/2014/main" id="{C80D0AF3-2895-41D8-92FE-B1605469D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531" y="519379"/>
            <a:ext cx="95098" cy="950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821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7" name="Google Shape;97;p6">
            <a:extLst xmlns:a="http://schemas.openxmlformats.org/drawingml/2006/main">
              <a:ext uri="{FF2B5EF4-FFF2-40B4-BE49-F238E27FC236}">
                <a16:creationId xmlns:a16="http://schemas.microsoft.com/office/drawing/2014/main" id="{1B657EC0-01A7-4BB0-9C90-17C378E29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56032"/>
            <a:ext cx="7680960" cy="2377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 u="none" cap="none">
                <a:solidFill>
                  <a:srgbClr val="9A6414"/>
                </a:solidFill>
                <a:latin typeface="Calibri"/>
                <a:ea typeface="Calibri"/>
                <a:cs typeface="Calibri"/>
              </a:rPr>
              <a:t>PHENOMENOLOGY · ENACTIVISM · SOCIAL KNOWING</a:t>
            </a:r>
          </a:p>
        </p:txBody>
      </p:sp>
      <p:sp>
        <p:nvSpPr>
          <p:cNvPr id="98" name="Google Shape;98;p6">
            <a:extLst xmlns:a="http://schemas.openxmlformats.org/drawingml/2006/main">
              <a:ext uri="{FF2B5EF4-FFF2-40B4-BE49-F238E27FC236}">
                <a16:creationId xmlns:a16="http://schemas.microsoft.com/office/drawing/2014/main" id="{4ECCC323-9F8F-4642-988C-7822F9C0A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457200"/>
            <a:ext cx="7726680" cy="566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000" b="1" i="0" u="none" cap="none">
                <a:solidFill>
                  <a:srgbClr val="1E2447"/>
                </a:solidFill>
                <a:latin typeface="Cambria"/>
                <a:ea typeface="Cambria"/>
                <a:cs typeface="Cambria"/>
              </a:rPr>
              <a:t>Knowing Is Embodied and Social</a:t>
            </a:r>
          </a:p>
        </p:txBody>
      </p:sp>
      <p:sp>
        <p:nvSpPr>
          <p:cNvPr id="99" name="Google Shape;99;p6">
            <a:extLst xmlns:a="http://schemas.openxmlformats.org/drawingml/2006/main">
              <a:ext uri="{FF2B5EF4-FFF2-40B4-BE49-F238E27FC236}">
                <a16:creationId xmlns:a16="http://schemas.microsoft.com/office/drawing/2014/main" id="{DF6B4B7B-D28E-4416-8924-A7383F929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207008"/>
            <a:ext cx="7955280" cy="64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 u="none" cap="none">
                <a:solidFill>
                  <a:srgbClr val="5A6377"/>
                </a:solidFill>
                <a:latin typeface="Calibri"/>
                <a:ea typeface="Calibri"/>
                <a:cs typeface="Calibri"/>
              </a:rPr>
              <a:t>These approaches resist the picture of a detached inner spectator. They begin from intentional experience, bodily access, skilled activity, and dependence on others.</a:t>
            </a:r>
          </a:p>
        </p:txBody>
      </p:sp>
      <p:sp>
        <p:nvSpPr>
          <p:cNvPr id="100" name="Google Shape;100;p6">
            <a:extLst xmlns:a="http://schemas.openxmlformats.org/drawingml/2006/main">
              <a:ext uri="{FF2B5EF4-FFF2-40B4-BE49-F238E27FC236}">
                <a16:creationId xmlns:a16="http://schemas.microsoft.com/office/drawing/2014/main" id="{DACC0896-F0C0-40F4-B10C-573B8F396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011680"/>
            <a:ext cx="2615184" cy="2395728"/>
          </a:xfrm>
          <a:prstGeom xmlns:a="http://schemas.openxmlformats.org/drawingml/2006/main" prst="roundRect">
            <a:avLst>
              <a:gd name="adj" fmla="val 3817"/>
            </a:avLst>
          </a:prstGeom>
          <a:solidFill xmlns:a="http://schemas.openxmlformats.org/drawingml/2006/main">
            <a:srgbClr val="EEF1F8"/>
          </a:solidFill>
          <a:ln xmlns:a="http://schemas.openxmlformats.org/drawingml/2006/main">
            <a:noFill/>
          </a:ln>
          <a:effectLst xmlns:a="http://schemas.openxmlformats.org/drawingml/2006/main">
            <a:outerShdw blurRad="88900" dist="25400" dir="2700000" algn="bl" rotWithShape="0">
              <a:srgbClr val="000000">
                <a:alpha val="12941"/>
              </a:srgbClr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1" name="Google Shape;101;p6">
            <a:extLst xmlns:a="http://schemas.openxmlformats.org/drawingml/2006/main">
              <a:ext uri="{FF2B5EF4-FFF2-40B4-BE49-F238E27FC236}">
                <a16:creationId xmlns:a16="http://schemas.microsoft.com/office/drawing/2014/main" id="{322BBC30-630B-42E3-9DD2-412D0D9AE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2212848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4A7A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127" name="Google Shape;102;p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b88451bd4d94f83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960120" y="2331720"/>
            <a:ext cx="219456" cy="21945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3" name="Google Shape;103;p6">
            <a:extLst xmlns:a="http://schemas.openxmlformats.org/drawingml/2006/main">
              <a:ext uri="{FF2B5EF4-FFF2-40B4-BE49-F238E27FC236}">
                <a16:creationId xmlns:a16="http://schemas.microsoft.com/office/drawing/2014/main" id="{4B81C68F-F7F1-4BFA-948A-90AE27C80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2761488"/>
            <a:ext cx="2240280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450" b="1" i="0" u="none" cap="none">
                <a:solidFill>
                  <a:srgbClr val="1E2447"/>
                </a:solidFill>
                <a:latin typeface="Cambria"/>
                <a:ea typeface="Cambria"/>
                <a:cs typeface="Cambria"/>
              </a:rPr>
              <a:t>Phenomenology</a:t>
            </a:r>
          </a:p>
        </p:txBody>
      </p:sp>
      <p:sp>
        <p:nvSpPr>
          <p:cNvPr id="104" name="Google Shape;104;p6">
            <a:extLst xmlns:a="http://schemas.openxmlformats.org/drawingml/2006/main">
              <a:ext uri="{FF2B5EF4-FFF2-40B4-BE49-F238E27FC236}">
                <a16:creationId xmlns:a16="http://schemas.microsoft.com/office/drawing/2014/main" id="{91E8706C-5C84-49C2-950C-C985E9B97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3090672"/>
            <a:ext cx="2240280" cy="1234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cap="none">
                <a:solidFill>
                  <a:srgbClr val="5A6377"/>
                </a:solidFill>
                <a:latin typeface="Calibri"/>
                <a:ea typeface="Calibri"/>
                <a:cs typeface="Calibri"/>
              </a:rPr>
              <a:t>Consciousness is consciousness of something; objects are disclosed through temporal, embodied, and perspectival experience.</a:t>
            </a:r>
          </a:p>
        </p:txBody>
      </p:sp>
      <p:sp>
        <p:nvSpPr>
          <p:cNvPr id="105" name="Google Shape;105;p6">
            <a:extLst xmlns:a="http://schemas.openxmlformats.org/drawingml/2006/main">
              <a:ext uri="{FF2B5EF4-FFF2-40B4-BE49-F238E27FC236}">
                <a16:creationId xmlns:a16="http://schemas.microsoft.com/office/drawing/2014/main" id="{7F5058FF-1BB9-4921-BA6D-F70E2BC02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2424" y="2011680"/>
            <a:ext cx="2615184" cy="2395728"/>
          </a:xfrm>
          <a:prstGeom xmlns:a="http://schemas.openxmlformats.org/drawingml/2006/main" prst="roundRect">
            <a:avLst>
              <a:gd name="adj" fmla="val 3817"/>
            </a:avLst>
          </a:prstGeom>
          <a:solidFill xmlns:a="http://schemas.openxmlformats.org/drawingml/2006/main">
            <a:srgbClr val="EEF1F8"/>
          </a:solidFill>
          <a:ln xmlns:a="http://schemas.openxmlformats.org/drawingml/2006/main">
            <a:noFill/>
          </a:ln>
          <a:effectLst xmlns:a="http://schemas.openxmlformats.org/drawingml/2006/main">
            <a:outerShdw blurRad="88900" dist="25400" dir="2700000" algn="bl" rotWithShape="0">
              <a:srgbClr val="000000">
                <a:alpha val="12941"/>
              </a:srgbClr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6" name="Google Shape;106;p6">
            <a:extLst xmlns:a="http://schemas.openxmlformats.org/drawingml/2006/main">
              <a:ext uri="{FF2B5EF4-FFF2-40B4-BE49-F238E27FC236}">
                <a16:creationId xmlns:a16="http://schemas.microsoft.com/office/drawing/2014/main" id="{9B5AA159-1A21-4A1E-BAC5-D38FC94CA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92" y="2212848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4A7A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132" name="Google Shape;107;p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c4e516556364cec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3712464" y="2331720"/>
            <a:ext cx="219456" cy="21945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8" name="Google Shape;108;p6">
            <a:extLst xmlns:a="http://schemas.openxmlformats.org/drawingml/2006/main">
              <a:ext uri="{FF2B5EF4-FFF2-40B4-BE49-F238E27FC236}">
                <a16:creationId xmlns:a16="http://schemas.microsoft.com/office/drawing/2014/main" id="{D94D8FC0-69AE-44E1-9D58-6DE6FF8D0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92" y="2761488"/>
            <a:ext cx="2240280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450" b="1" i="0" u="none" cap="none">
                <a:solidFill>
                  <a:srgbClr val="1E2447"/>
                </a:solidFill>
                <a:latin typeface="Cambria"/>
                <a:ea typeface="Cambria"/>
                <a:cs typeface="Cambria"/>
              </a:rPr>
              <a:t>Embodied and enactive views</a:t>
            </a:r>
          </a:p>
        </p:txBody>
      </p:sp>
      <p:sp>
        <p:nvSpPr>
          <p:cNvPr id="109" name="Google Shape;109;p6">
            <a:extLst xmlns:a="http://schemas.openxmlformats.org/drawingml/2006/main">
              <a:ext uri="{FF2B5EF4-FFF2-40B4-BE49-F238E27FC236}">
                <a16:creationId xmlns:a16="http://schemas.microsoft.com/office/drawing/2014/main" id="{B8609BF1-AD34-4D40-9A8A-24A8BC3D1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92" y="3090672"/>
            <a:ext cx="2240280" cy="1234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cap="none">
                <a:solidFill>
                  <a:srgbClr val="5A6377"/>
                </a:solidFill>
                <a:latin typeface="Calibri"/>
                <a:ea typeface="Calibri"/>
                <a:cs typeface="Calibri"/>
              </a:rPr>
              <a:t>Cognition is skilled activity of brain, body, and environment, not only passive construction of an inner representation.</a:t>
            </a:r>
          </a:p>
        </p:txBody>
      </p:sp>
      <p:sp>
        <p:nvSpPr>
          <p:cNvPr id="110" name="Google Shape;110;p6">
            <a:extLst xmlns:a="http://schemas.openxmlformats.org/drawingml/2006/main">
              <a:ext uri="{FF2B5EF4-FFF2-40B4-BE49-F238E27FC236}">
                <a16:creationId xmlns:a16="http://schemas.microsoft.com/office/drawing/2014/main" id="{897E6910-9F9B-41AB-900E-EC71D5726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4768" y="2011680"/>
            <a:ext cx="2615184" cy="2395728"/>
          </a:xfrm>
          <a:prstGeom xmlns:a="http://schemas.openxmlformats.org/drawingml/2006/main" prst="roundRect">
            <a:avLst>
              <a:gd name="adj" fmla="val 3817"/>
            </a:avLst>
          </a:prstGeom>
          <a:solidFill xmlns:a="http://schemas.openxmlformats.org/drawingml/2006/main">
            <a:srgbClr val="EEF1F8"/>
          </a:solidFill>
          <a:ln xmlns:a="http://schemas.openxmlformats.org/drawingml/2006/main">
            <a:noFill/>
          </a:ln>
          <a:effectLst xmlns:a="http://schemas.openxmlformats.org/drawingml/2006/main">
            <a:outerShdw blurRad="88900" dist="25400" dir="2700000" algn="bl" rotWithShape="0">
              <a:srgbClr val="000000">
                <a:alpha val="12941"/>
              </a:srgbClr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1" name="Google Shape;111;p6">
            <a:extLst xmlns:a="http://schemas.openxmlformats.org/drawingml/2006/main">
              <a:ext uri="{FF2B5EF4-FFF2-40B4-BE49-F238E27FC236}">
                <a16:creationId xmlns:a16="http://schemas.microsoft.com/office/drawing/2014/main" id="{E67C106F-BE83-49E5-B07F-FBF8361D1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5936" y="2212848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4A7A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137" name="Google Shape;112;p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9d1a178df1d47ca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464808" y="2331720"/>
            <a:ext cx="219456" cy="21945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13" name="Google Shape;113;p6">
            <a:extLst xmlns:a="http://schemas.openxmlformats.org/drawingml/2006/main">
              <a:ext uri="{FF2B5EF4-FFF2-40B4-BE49-F238E27FC236}">
                <a16:creationId xmlns:a16="http://schemas.microsoft.com/office/drawing/2014/main" id="{7C0E46DA-89DB-4129-A5C8-58FA26CE9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5936" y="2761488"/>
            <a:ext cx="2240280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450" b="1" i="0" u="none" cap="none">
                <a:solidFill>
                  <a:srgbClr val="1E2447"/>
                </a:solidFill>
                <a:latin typeface="Cambria"/>
                <a:ea typeface="Cambria"/>
                <a:cs typeface="Cambria"/>
              </a:rPr>
              <a:t>Social epistemology</a:t>
            </a:r>
          </a:p>
        </p:txBody>
      </p:sp>
      <p:sp>
        <p:nvSpPr>
          <p:cNvPr id="114" name="Google Shape;114;p6">
            <a:extLst xmlns:a="http://schemas.openxmlformats.org/drawingml/2006/main">
              <a:ext uri="{FF2B5EF4-FFF2-40B4-BE49-F238E27FC236}">
                <a16:creationId xmlns:a16="http://schemas.microsoft.com/office/drawing/2014/main" id="{120B2FB7-86A5-48D0-85A7-8E8241896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5936" y="3090672"/>
            <a:ext cx="2240280" cy="1234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cap="none">
                <a:solidFill>
                  <a:srgbClr val="5A6377"/>
                </a:solidFill>
                <a:latin typeface="Calibri"/>
                <a:ea typeface="Calibri"/>
                <a:cs typeface="Calibri"/>
              </a:rPr>
              <a:t>Testimony, trust, expertise, institutions, and power shape what people can responsibly know and how error is corrected.</a:t>
            </a:r>
          </a:p>
        </p:txBody>
      </p:sp>
      <p:sp>
        <p:nvSpPr>
          <p:cNvPr id="115" name="Google Shape;115;p6">
            <a:extLst xmlns:a="http://schemas.openxmlformats.org/drawingml/2006/main">
              <a:ext uri="{FF2B5EF4-FFF2-40B4-BE49-F238E27FC236}">
                <a16:creationId xmlns:a16="http://schemas.microsoft.com/office/drawing/2014/main" id="{3FFA5695-FD1E-4119-B4FC-199120FA7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828032"/>
            <a:ext cx="8138160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1" u="none" cap="none">
                <a:solidFill>
                  <a:srgbClr val="5A6377"/>
                </a:solidFill>
                <a:latin typeface="Calibri"/>
                <a:ea typeface="Calibri"/>
                <a:cs typeface="Calibri"/>
              </a:rPr>
              <a:t>SEP Phenomenology · IEP Enactivism · Massimi 2022 · Study §3.7  ·  AnalyticMadhyasthDarshan.org  ·  7 / 12</a:t>
            </a:r>
          </a:p>
        </p:txBody>
      </p:sp>
    </p:spTree>
    <p:extLst>
      <p:ext uri="{BB962C8B-B14F-4D97-AF65-F5344CB8AC3E}">
        <p14:creationId xmlns:p14="http://schemas.microsoft.com/office/powerpoint/2010/main" val="146621908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4" name="Google Shape;94;p6">
            <a:extLst xmlns:a="http://schemas.openxmlformats.org/drawingml/2006/main">
              <a:ext uri="{FF2B5EF4-FFF2-40B4-BE49-F238E27FC236}">
                <a16:creationId xmlns:a16="http://schemas.microsoft.com/office/drawing/2014/main" id="{EBEF7F00-6B49-4A97-A2C9-3872E7D65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4048"/>
            <a:ext cx="365760" cy="36576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5875" cmpd="sng">
            <a:solidFill>
              <a:srgbClr val="3B4A7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5" name="Google Shape;95;p6">
            <a:extLst xmlns:a="http://schemas.openxmlformats.org/drawingml/2006/main">
              <a:ext uri="{FF2B5EF4-FFF2-40B4-BE49-F238E27FC236}">
                <a16:creationId xmlns:a16="http://schemas.microsoft.com/office/drawing/2014/main" id="{C70F0F84-9DBC-4050-9671-0D5C5FC1E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457200"/>
            <a:ext cx="219456" cy="219456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5875" cmpd="sng">
            <a:solidFill>
              <a:srgbClr val="3B4A7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6" name="Google Shape;96;p6">
            <a:extLst xmlns:a="http://schemas.openxmlformats.org/drawingml/2006/main">
              <a:ext uri="{FF2B5EF4-FFF2-40B4-BE49-F238E27FC236}">
                <a16:creationId xmlns:a16="http://schemas.microsoft.com/office/drawing/2014/main" id="{C80D0AF3-2895-41D8-92FE-B1605469D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531" y="519379"/>
            <a:ext cx="95098" cy="950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821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7" name="Google Shape;97;p6">
            <a:extLst xmlns:a="http://schemas.openxmlformats.org/drawingml/2006/main">
              <a:ext uri="{FF2B5EF4-FFF2-40B4-BE49-F238E27FC236}">
                <a16:creationId xmlns:a16="http://schemas.microsoft.com/office/drawing/2014/main" id="{1B657EC0-01A7-4BB0-9C90-17C378E29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56032"/>
            <a:ext cx="7680960" cy="2377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 u="none" cap="none">
                <a:solidFill>
                  <a:srgbClr val="9A6414"/>
                </a:solidFill>
                <a:latin typeface="Calibri"/>
                <a:ea typeface="Calibri"/>
                <a:cs typeface="Calibri"/>
              </a:rPr>
              <a:t>NATURAL SCIENCE</a:t>
            </a:r>
          </a:p>
        </p:txBody>
      </p:sp>
      <p:sp>
        <p:nvSpPr>
          <p:cNvPr id="98" name="Google Shape;98;p6">
            <a:extLst xmlns:a="http://schemas.openxmlformats.org/drawingml/2006/main">
              <a:ext uri="{FF2B5EF4-FFF2-40B4-BE49-F238E27FC236}">
                <a16:creationId xmlns:a16="http://schemas.microsoft.com/office/drawing/2014/main" id="{4ECCC323-9F8F-4642-988C-7822F9C0A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457200"/>
            <a:ext cx="7726680" cy="566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000" b="1" i="0" u="none" cap="none">
                <a:solidFill>
                  <a:srgbClr val="1E2447"/>
                </a:solidFill>
                <a:latin typeface="Cambria"/>
                <a:ea typeface="Cambria"/>
                <a:cs typeface="Cambria"/>
              </a:rPr>
              <a:t>Science Prioritises Public Correction</a:t>
            </a:r>
          </a:p>
        </p:txBody>
      </p:sp>
      <p:sp>
        <p:nvSpPr>
          <p:cNvPr id="99" name="Google Shape;99;p6">
            <a:extLst xmlns:a="http://schemas.openxmlformats.org/drawingml/2006/main">
              <a:ext uri="{FF2B5EF4-FFF2-40B4-BE49-F238E27FC236}">
                <a16:creationId xmlns:a16="http://schemas.microsoft.com/office/drawing/2014/main" id="{DF6B4B7B-D28E-4416-8924-A7383F929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207008"/>
            <a:ext cx="7955280" cy="64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 u="none" cap="none">
                <a:solidFill>
                  <a:srgbClr val="5A6377"/>
                </a:solidFill>
                <a:latin typeface="Calibri"/>
                <a:ea typeface="Calibri"/>
                <a:cs typeface="Calibri"/>
              </a:rPr>
              <a:t>Science investigates organisms, brains, behaviour, reports, and environments through operational methods. It constrains metaphysics without settling every metaphysical question.</a:t>
            </a:r>
          </a:p>
        </p:txBody>
      </p:sp>
      <p:sp>
        <p:nvSpPr>
          <p:cNvPr id="100" name="Google Shape;100;p6">
            <a:extLst xmlns:a="http://schemas.openxmlformats.org/drawingml/2006/main">
              <a:ext uri="{FF2B5EF4-FFF2-40B4-BE49-F238E27FC236}">
                <a16:creationId xmlns:a16="http://schemas.microsoft.com/office/drawing/2014/main" id="{DACC0896-F0C0-40F4-B10C-573B8F396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011680"/>
            <a:ext cx="2615184" cy="2395728"/>
          </a:xfrm>
          <a:prstGeom xmlns:a="http://schemas.openxmlformats.org/drawingml/2006/main" prst="roundRect">
            <a:avLst>
              <a:gd name="adj" fmla="val 3817"/>
            </a:avLst>
          </a:prstGeom>
          <a:solidFill xmlns:a="http://schemas.openxmlformats.org/drawingml/2006/main">
            <a:srgbClr val="EEF1F8"/>
          </a:solidFill>
          <a:ln xmlns:a="http://schemas.openxmlformats.org/drawingml/2006/main">
            <a:noFill/>
          </a:ln>
          <a:effectLst xmlns:a="http://schemas.openxmlformats.org/drawingml/2006/main">
            <a:outerShdw blurRad="88900" dist="25400" dir="2700000" algn="bl" rotWithShape="0">
              <a:srgbClr val="000000">
                <a:alpha val="12941"/>
              </a:srgbClr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1" name="Google Shape;101;p6">
            <a:extLst xmlns:a="http://schemas.openxmlformats.org/drawingml/2006/main">
              <a:ext uri="{FF2B5EF4-FFF2-40B4-BE49-F238E27FC236}">
                <a16:creationId xmlns:a16="http://schemas.microsoft.com/office/drawing/2014/main" id="{322BBC30-630B-42E3-9DD2-412D0D9AE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2212848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4A7A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127" name="Google Shape;102;p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45b3c2f91bb4c80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960120" y="2331720"/>
            <a:ext cx="219456" cy="21945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3" name="Google Shape;103;p6">
            <a:extLst xmlns:a="http://schemas.openxmlformats.org/drawingml/2006/main">
              <a:ext uri="{FF2B5EF4-FFF2-40B4-BE49-F238E27FC236}">
                <a16:creationId xmlns:a16="http://schemas.microsoft.com/office/drawing/2014/main" id="{4B81C68F-F7F1-4BFA-948A-90AE27C80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2761488"/>
            <a:ext cx="2240280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450" b="1" i="0" u="none" cap="none">
                <a:solidFill>
                  <a:srgbClr val="1E2447"/>
                </a:solidFill>
                <a:latin typeface="Cambria"/>
                <a:ea typeface="Cambria"/>
                <a:cs typeface="Cambria"/>
              </a:rPr>
              <a:t>Method</a:t>
            </a:r>
          </a:p>
        </p:txBody>
      </p:sp>
      <p:sp>
        <p:nvSpPr>
          <p:cNvPr id="104" name="Google Shape;104;p6">
            <a:extLst xmlns:a="http://schemas.openxmlformats.org/drawingml/2006/main">
              <a:ext uri="{FF2B5EF4-FFF2-40B4-BE49-F238E27FC236}">
                <a16:creationId xmlns:a16="http://schemas.microsoft.com/office/drawing/2014/main" id="{91E8706C-5C84-49C2-950C-C985E9B97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3090672"/>
            <a:ext cx="2240280" cy="1234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cap="none">
                <a:solidFill>
                  <a:srgbClr val="5A6377"/>
                </a:solidFill>
                <a:latin typeface="Calibri"/>
                <a:ea typeface="Calibri"/>
                <a:cs typeface="Calibri"/>
              </a:rPr>
              <a:t>Observation, instruments, modelling, experiment, prediction, replication, and review make claims publicly corrigible.</a:t>
            </a:r>
          </a:p>
        </p:txBody>
      </p:sp>
      <p:sp>
        <p:nvSpPr>
          <p:cNvPr id="105" name="Google Shape;105;p6">
            <a:extLst xmlns:a="http://schemas.openxmlformats.org/drawingml/2006/main">
              <a:ext uri="{FF2B5EF4-FFF2-40B4-BE49-F238E27FC236}">
                <a16:creationId xmlns:a16="http://schemas.microsoft.com/office/drawing/2014/main" id="{7F5058FF-1BB9-4921-BA6D-F70E2BC02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2424" y="2011680"/>
            <a:ext cx="2615184" cy="2395728"/>
          </a:xfrm>
          <a:prstGeom xmlns:a="http://schemas.openxmlformats.org/drawingml/2006/main" prst="roundRect">
            <a:avLst>
              <a:gd name="adj" fmla="val 3817"/>
            </a:avLst>
          </a:prstGeom>
          <a:solidFill xmlns:a="http://schemas.openxmlformats.org/drawingml/2006/main">
            <a:srgbClr val="EEF1F8"/>
          </a:solidFill>
          <a:ln xmlns:a="http://schemas.openxmlformats.org/drawingml/2006/main">
            <a:noFill/>
          </a:ln>
          <a:effectLst xmlns:a="http://schemas.openxmlformats.org/drawingml/2006/main">
            <a:outerShdw blurRad="88900" dist="25400" dir="2700000" algn="bl" rotWithShape="0">
              <a:srgbClr val="000000">
                <a:alpha val="12941"/>
              </a:srgbClr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6" name="Google Shape;106;p6">
            <a:extLst xmlns:a="http://schemas.openxmlformats.org/drawingml/2006/main">
              <a:ext uri="{FF2B5EF4-FFF2-40B4-BE49-F238E27FC236}">
                <a16:creationId xmlns:a16="http://schemas.microsoft.com/office/drawing/2014/main" id="{9B5AA159-1A21-4A1E-BAC5-D38FC94CA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92" y="2212848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4A7A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132" name="Google Shape;107;p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a95a8791ca14a0e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3712464" y="2331720"/>
            <a:ext cx="219456" cy="21945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8" name="Google Shape;108;p6">
            <a:extLst xmlns:a="http://schemas.openxmlformats.org/drawingml/2006/main">
              <a:ext uri="{FF2B5EF4-FFF2-40B4-BE49-F238E27FC236}">
                <a16:creationId xmlns:a16="http://schemas.microsoft.com/office/drawing/2014/main" id="{D94D8FC0-69AE-44E1-9D58-6DE6FF8D0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92" y="2761488"/>
            <a:ext cx="2240280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450" b="1" i="0" u="none" cap="none">
                <a:solidFill>
                  <a:srgbClr val="1E2447"/>
                </a:solidFill>
                <a:latin typeface="Cambria"/>
                <a:ea typeface="Cambria"/>
                <a:cs typeface="Cambria"/>
              </a:rPr>
              <a:t>Operational knower</a:t>
            </a:r>
          </a:p>
        </p:txBody>
      </p:sp>
      <p:sp>
        <p:nvSpPr>
          <p:cNvPr id="109" name="Google Shape;109;p6">
            <a:extLst xmlns:a="http://schemas.openxmlformats.org/drawingml/2006/main">
              <a:ext uri="{FF2B5EF4-FFF2-40B4-BE49-F238E27FC236}">
                <a16:creationId xmlns:a16="http://schemas.microsoft.com/office/drawing/2014/main" id="{B8609BF1-AD34-4D40-9A8A-24A8BC3D1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92" y="3090672"/>
            <a:ext cx="2240280" cy="1234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cap="none">
                <a:solidFill>
                  <a:srgbClr val="5A6377"/>
                </a:solidFill>
                <a:latin typeface="Calibri"/>
                <a:ea typeface="Calibri"/>
                <a:cs typeface="Calibri"/>
              </a:rPr>
              <a:t>The organism and its measurable brain, body, behaviour, reports, and environmental coupling—not a separately measured metaphysical self.</a:t>
            </a:r>
          </a:p>
        </p:txBody>
      </p:sp>
      <p:sp>
        <p:nvSpPr>
          <p:cNvPr id="110" name="Google Shape;110;p6">
            <a:extLst xmlns:a="http://schemas.openxmlformats.org/drawingml/2006/main">
              <a:ext uri="{FF2B5EF4-FFF2-40B4-BE49-F238E27FC236}">
                <a16:creationId xmlns:a16="http://schemas.microsoft.com/office/drawing/2014/main" id="{897E6910-9F9B-41AB-900E-EC71D5726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4768" y="2011680"/>
            <a:ext cx="2615184" cy="2395728"/>
          </a:xfrm>
          <a:prstGeom xmlns:a="http://schemas.openxmlformats.org/drawingml/2006/main" prst="roundRect">
            <a:avLst>
              <a:gd name="adj" fmla="val 3817"/>
            </a:avLst>
          </a:prstGeom>
          <a:solidFill xmlns:a="http://schemas.openxmlformats.org/drawingml/2006/main">
            <a:srgbClr val="EEF1F8"/>
          </a:solidFill>
          <a:ln xmlns:a="http://schemas.openxmlformats.org/drawingml/2006/main">
            <a:noFill/>
          </a:ln>
          <a:effectLst xmlns:a="http://schemas.openxmlformats.org/drawingml/2006/main">
            <a:outerShdw blurRad="88900" dist="25400" dir="2700000" algn="bl" rotWithShape="0">
              <a:srgbClr val="000000">
                <a:alpha val="12941"/>
              </a:srgbClr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1" name="Google Shape;111;p6">
            <a:extLst xmlns:a="http://schemas.openxmlformats.org/drawingml/2006/main">
              <a:ext uri="{FF2B5EF4-FFF2-40B4-BE49-F238E27FC236}">
                <a16:creationId xmlns:a16="http://schemas.microsoft.com/office/drawing/2014/main" id="{E67C106F-BE83-49E5-B07F-FBF8361D1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5936" y="2212848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4A7A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137" name="Google Shape;112;p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fb8c4ad366c4d7e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464808" y="2331720"/>
            <a:ext cx="219456" cy="21945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13" name="Google Shape;113;p6">
            <a:extLst xmlns:a="http://schemas.openxmlformats.org/drawingml/2006/main">
              <a:ext uri="{FF2B5EF4-FFF2-40B4-BE49-F238E27FC236}">
                <a16:creationId xmlns:a16="http://schemas.microsoft.com/office/drawing/2014/main" id="{7C0E46DA-89DB-4129-A5C8-58FA26CE9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5936" y="2761488"/>
            <a:ext cx="2240280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450" b="1" i="0" u="none" cap="none">
                <a:solidFill>
                  <a:srgbClr val="1E2447"/>
                </a:solidFill>
                <a:latin typeface="Cambria"/>
                <a:ea typeface="Cambria"/>
                <a:cs typeface="Cambria"/>
              </a:rPr>
              <a:t>Boundary</a:t>
            </a:r>
          </a:p>
        </p:txBody>
      </p:sp>
      <p:sp>
        <p:nvSpPr>
          <p:cNvPr id="114" name="Google Shape;114;p6">
            <a:extLst xmlns:a="http://schemas.openxmlformats.org/drawingml/2006/main">
              <a:ext uri="{FF2B5EF4-FFF2-40B4-BE49-F238E27FC236}">
                <a16:creationId xmlns:a16="http://schemas.microsoft.com/office/drawing/2014/main" id="{120B2FB7-86A5-48D0-85A7-8E8241896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5936" y="3090672"/>
            <a:ext cx="2240280" cy="1234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cap="none">
                <a:solidFill>
                  <a:srgbClr val="5A6377"/>
                </a:solidFill>
                <a:latin typeface="Calibri"/>
                <a:ea typeface="Calibri"/>
                <a:cs typeface="Calibri"/>
              </a:rPr>
              <a:t>Brain dependence is well established; the hard problem remains open. Neither gap proves jeevan, and no independent evidence establishes post-death continuity.</a:t>
            </a:r>
          </a:p>
        </p:txBody>
      </p:sp>
      <p:sp>
        <p:nvSpPr>
          <p:cNvPr id="115" name="Google Shape;115;p6">
            <a:extLst xmlns:a="http://schemas.openxmlformats.org/drawingml/2006/main">
              <a:ext uri="{FF2B5EF4-FFF2-40B4-BE49-F238E27FC236}">
                <a16:creationId xmlns:a16="http://schemas.microsoft.com/office/drawing/2014/main" id="{3FFA5695-FD1E-4119-B4FC-199120FA7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828032"/>
            <a:ext cx="8138160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1" u="none" cap="none">
                <a:solidFill>
                  <a:srgbClr val="5A6377"/>
                </a:solidFill>
                <a:latin typeface="Calibri"/>
                <a:ea typeface="Calibri"/>
                <a:cs typeface="Calibri"/>
              </a:rPr>
              <a:t>Popper 1959 · Kandel et al. 2021 · Melloni et al. 2025 · Study §4  ·  AnalyticMadhyasthDarshan.org  ·  8 / 12</a:t>
            </a:r>
          </a:p>
        </p:txBody>
      </p:sp>
    </p:spTree>
    <p:extLst>
      <p:ext uri="{BB962C8B-B14F-4D97-AF65-F5344CB8AC3E}">
        <p14:creationId xmlns:p14="http://schemas.microsoft.com/office/powerpoint/2010/main" val="146621908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1" name="Google Shape;121;p7">
            <a:extLst xmlns:a="http://schemas.openxmlformats.org/drawingml/2006/main">
              <a:ext uri="{FF2B5EF4-FFF2-40B4-BE49-F238E27FC236}">
                <a16:creationId xmlns:a16="http://schemas.microsoft.com/office/drawing/2014/main" id="{1FDF55EE-1DFC-4864-BBCF-6889CF1EF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4048"/>
            <a:ext cx="365760" cy="36576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5875" cmpd="sng">
            <a:solidFill>
              <a:srgbClr val="3B4A7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22" name="Google Shape;122;p7">
            <a:extLst xmlns:a="http://schemas.openxmlformats.org/drawingml/2006/main">
              <a:ext uri="{FF2B5EF4-FFF2-40B4-BE49-F238E27FC236}">
                <a16:creationId xmlns:a16="http://schemas.microsoft.com/office/drawing/2014/main" id="{5AD84244-4940-47B0-823B-B7C36ED1B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457200"/>
            <a:ext cx="219456" cy="219456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5875" cmpd="sng">
            <a:solidFill>
              <a:srgbClr val="3B4A7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23" name="Google Shape;123;p7">
            <a:extLst xmlns:a="http://schemas.openxmlformats.org/drawingml/2006/main">
              <a:ext uri="{FF2B5EF4-FFF2-40B4-BE49-F238E27FC236}">
                <a16:creationId xmlns:a16="http://schemas.microsoft.com/office/drawing/2014/main" id="{11218A88-AD24-47F4-AA7E-CEDB55B36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531" y="519379"/>
            <a:ext cx="95098" cy="950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821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24" name="Google Shape;124;p7">
            <a:extLst xmlns:a="http://schemas.openxmlformats.org/drawingml/2006/main">
              <a:ext uri="{FF2B5EF4-FFF2-40B4-BE49-F238E27FC236}">
                <a16:creationId xmlns:a16="http://schemas.microsoft.com/office/drawing/2014/main" id="{920138EF-D763-4448-A961-8DCEAD2BB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56032"/>
            <a:ext cx="7680960" cy="2377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 u="none" cap="none">
                <a:solidFill>
                  <a:srgbClr val="9A6414"/>
                </a:solidFill>
                <a:latin typeface="Calibri"/>
                <a:ea typeface="Calibri"/>
                <a:cs typeface="Calibri"/>
              </a:rPr>
              <a:t>MATCHED COMPARISON · THE KNOWER</a:t>
            </a:r>
          </a:p>
        </p:txBody>
      </p:sp>
      <p:sp>
        <p:nvSpPr>
          <p:cNvPr id="125" name="Google Shape;125;p7">
            <a:extLst xmlns:a="http://schemas.openxmlformats.org/drawingml/2006/main">
              <a:ext uri="{FF2B5EF4-FFF2-40B4-BE49-F238E27FC236}">
                <a16:creationId xmlns:a16="http://schemas.microsoft.com/office/drawing/2014/main" id="{B29B9366-7866-413D-82A0-241730EBC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457200"/>
            <a:ext cx="7726680" cy="566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000" b="1" i="0" u="none" cap="none">
                <a:solidFill>
                  <a:srgbClr val="1E2447"/>
                </a:solidFill>
                <a:latin typeface="Cambria"/>
                <a:ea typeface="Cambria"/>
                <a:cs typeface="Cambria"/>
              </a:rPr>
              <a:t>Four Accounts of the Knower</a:t>
            </a:r>
          </a:p>
        </p:txBody>
      </p:sp>
      <p:sp>
        <p:nvSpPr>
          <p:cNvPr id="126" name="Google Shape;126;p7">
            <a:extLst xmlns:a="http://schemas.openxmlformats.org/drawingml/2006/main">
              <a:ext uri="{FF2B5EF4-FFF2-40B4-BE49-F238E27FC236}">
                <a16:creationId xmlns:a16="http://schemas.microsoft.com/office/drawing/2014/main" id="{7D7417D2-2684-43CB-8AFE-F91CDBDC0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280160"/>
            <a:ext cx="3794760" cy="1188720"/>
          </a:xfrm>
          <a:prstGeom xmlns:a="http://schemas.openxmlformats.org/drawingml/2006/main" prst="roundRect">
            <a:avLst>
              <a:gd name="adj" fmla="val 6923"/>
            </a:avLst>
          </a:prstGeom>
          <a:solidFill xmlns:a="http://schemas.openxmlformats.org/drawingml/2006/main">
            <a:srgbClr val="EEF1F8"/>
          </a:solidFill>
          <a:ln xmlns:a="http://schemas.openxmlformats.org/drawingml/2006/main">
            <a:noFill/>
          </a:ln>
          <a:effectLst xmlns:a="http://schemas.openxmlformats.org/drawingml/2006/main">
            <a:outerShdw blurRad="88900" dist="25400" dir="2700000" algn="bl" rotWithShape="0">
              <a:srgbClr val="000000">
                <a:alpha val="12941"/>
              </a:srgbClr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27" name="Google Shape;127;p7">
            <a:extLst xmlns:a="http://schemas.openxmlformats.org/drawingml/2006/main">
              <a:ext uri="{FF2B5EF4-FFF2-40B4-BE49-F238E27FC236}">
                <a16:creationId xmlns:a16="http://schemas.microsoft.com/office/drawing/2014/main" id="{EE33F6BF-95C0-4816-A54C-B6B00AF45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463040"/>
            <a:ext cx="310896" cy="310896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5875" cmpd="sng">
            <a:solidFill>
              <a:srgbClr val="3B4A7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28" name="Google Shape;128;p7">
            <a:extLst xmlns:a="http://schemas.openxmlformats.org/drawingml/2006/main">
              <a:ext uri="{FF2B5EF4-FFF2-40B4-BE49-F238E27FC236}">
                <a16:creationId xmlns:a16="http://schemas.microsoft.com/office/drawing/2014/main" id="{B6E3019C-45D3-4ED1-A9D2-55D72A508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139" y="1525219"/>
            <a:ext cx="186538" cy="186538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5875" cmpd="sng">
            <a:solidFill>
              <a:srgbClr val="3B4A7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29" name="Google Shape;129;p7">
            <a:extLst xmlns:a="http://schemas.openxmlformats.org/drawingml/2006/main">
              <a:ext uri="{FF2B5EF4-FFF2-40B4-BE49-F238E27FC236}">
                <a16:creationId xmlns:a16="http://schemas.microsoft.com/office/drawing/2014/main" id="{EE1719B3-E68F-4D01-A60C-336CB2754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992" y="1578072"/>
            <a:ext cx="80833" cy="8083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821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30" name="Google Shape;130;p7">
            <a:extLst xmlns:a="http://schemas.openxmlformats.org/drawingml/2006/main">
              <a:ext uri="{FF2B5EF4-FFF2-40B4-BE49-F238E27FC236}">
                <a16:creationId xmlns:a16="http://schemas.microsoft.com/office/drawing/2014/main" id="{A70DDF07-767E-4CA7-8197-976F5965A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872" y="1389888"/>
            <a:ext cx="301752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350" b="1" i="0" u="none" cap="none">
                <a:solidFill>
                  <a:srgbClr val="1E2447"/>
                </a:solidFill>
                <a:latin typeface="Cambria"/>
                <a:ea typeface="Cambria"/>
                <a:cs typeface="Cambria"/>
              </a:rPr>
              <a:t>Madhyasth Darshan</a:t>
            </a:r>
          </a:p>
        </p:txBody>
      </p:sp>
      <p:sp>
        <p:nvSpPr>
          <p:cNvPr id="131" name="Google Shape;131;p7">
            <a:extLst xmlns:a="http://schemas.openxmlformats.org/drawingml/2006/main">
              <a:ext uri="{FF2B5EF4-FFF2-40B4-BE49-F238E27FC236}">
                <a16:creationId xmlns:a16="http://schemas.microsoft.com/office/drawing/2014/main" id="{6BEFCC17-F959-4C0D-898B-ADDA648A1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872" y="1682496"/>
            <a:ext cx="3063240" cy="731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30" b="0" i="0" u="none" cap="none">
                <a:solidFill>
                  <a:srgbClr val="5A6377"/>
                </a:solidFill>
                <a:latin typeface="Calibri"/>
                <a:ea typeface="Calibri"/>
                <a:cs typeface="Calibri"/>
              </a:rPr>
              <a:t>Distinct, enduring, active jeevan; embodied evidence through the human joint form.</a:t>
            </a:r>
          </a:p>
        </p:txBody>
      </p:sp>
      <p:sp>
        <p:nvSpPr>
          <p:cNvPr id="132" name="Google Shape;132;p7">
            <a:extLst xmlns:a="http://schemas.openxmlformats.org/drawingml/2006/main">
              <a:ext uri="{FF2B5EF4-FFF2-40B4-BE49-F238E27FC236}">
                <a16:creationId xmlns:a16="http://schemas.microsoft.com/office/drawing/2014/main" id="{2B1D4DE1-906E-43B6-A1AC-A7EA7B235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1280160"/>
            <a:ext cx="3794760" cy="1188720"/>
          </a:xfrm>
          <a:prstGeom xmlns:a="http://schemas.openxmlformats.org/drawingml/2006/main" prst="roundRect">
            <a:avLst>
              <a:gd name="adj" fmla="val 6923"/>
            </a:avLst>
          </a:prstGeom>
          <a:solidFill xmlns:a="http://schemas.openxmlformats.org/drawingml/2006/main">
            <a:srgbClr val="EEF1F8"/>
          </a:solidFill>
          <a:ln xmlns:a="http://schemas.openxmlformats.org/drawingml/2006/main">
            <a:noFill/>
          </a:ln>
          <a:effectLst xmlns:a="http://schemas.openxmlformats.org/drawingml/2006/main">
            <a:outerShdw blurRad="88900" dist="25400" dir="2700000" algn="bl" rotWithShape="0">
              <a:srgbClr val="000000">
                <a:alpha val="12941"/>
              </a:srgbClr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33" name="Google Shape;133;p7">
            <a:extLst xmlns:a="http://schemas.openxmlformats.org/drawingml/2006/main">
              <a:ext uri="{FF2B5EF4-FFF2-40B4-BE49-F238E27FC236}">
                <a16:creationId xmlns:a16="http://schemas.microsoft.com/office/drawing/2014/main" id="{1A555193-C105-42C6-B81B-78A780152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2040" y="1463040"/>
            <a:ext cx="310896" cy="310896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5875" cmpd="sng">
            <a:solidFill>
              <a:srgbClr val="3B4A7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34" name="Google Shape;134;p7">
            <a:extLst xmlns:a="http://schemas.openxmlformats.org/drawingml/2006/main">
              <a:ext uri="{FF2B5EF4-FFF2-40B4-BE49-F238E27FC236}">
                <a16:creationId xmlns:a16="http://schemas.microsoft.com/office/drawing/2014/main" id="{3A08FC77-38FD-4F53-9FDA-4E24295DF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4219" y="1525219"/>
            <a:ext cx="186538" cy="186538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5875" cmpd="sng">
            <a:solidFill>
              <a:srgbClr val="3B4A7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35" name="Google Shape;135;p7">
            <a:extLst xmlns:a="http://schemas.openxmlformats.org/drawingml/2006/main">
              <a:ext uri="{FF2B5EF4-FFF2-40B4-BE49-F238E27FC236}">
                <a16:creationId xmlns:a16="http://schemas.microsoft.com/office/drawing/2014/main" id="{D06E458B-173D-440A-9C47-D542B10D7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7072" y="1578072"/>
            <a:ext cx="80833" cy="8083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821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36" name="Google Shape;136;p7">
            <a:extLst xmlns:a="http://schemas.openxmlformats.org/drawingml/2006/main">
              <a:ext uri="{FF2B5EF4-FFF2-40B4-BE49-F238E27FC236}">
                <a16:creationId xmlns:a16="http://schemas.microsoft.com/office/drawing/2014/main" id="{2E165D08-90C3-4000-8857-A8714F7BC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0952" y="1389888"/>
            <a:ext cx="301752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350" b="1" i="0" u="none" cap="none">
                <a:solidFill>
                  <a:srgbClr val="1E2447"/>
                </a:solidFill>
                <a:latin typeface="Cambria"/>
                <a:ea typeface="Cambria"/>
                <a:cs typeface="Cambria"/>
              </a:rPr>
              <a:t>Advaita Vedanta</a:t>
            </a:r>
          </a:p>
        </p:txBody>
      </p:sp>
      <p:sp>
        <p:nvSpPr>
          <p:cNvPr id="137" name="Google Shape;137;p7">
            <a:extLst xmlns:a="http://schemas.openxmlformats.org/drawingml/2006/main">
              <a:ext uri="{FF2B5EF4-FFF2-40B4-BE49-F238E27FC236}">
                <a16:creationId xmlns:a16="http://schemas.microsoft.com/office/drawing/2014/main" id="{81243F9D-4F30-4A59-8606-FA47AD846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0952" y="1682496"/>
            <a:ext cx="3063240" cy="731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30" b="0" i="0" u="none" cap="none">
                <a:solidFill>
                  <a:srgbClr val="5A6377"/>
                </a:solidFill>
                <a:latin typeface="Calibri"/>
                <a:ea typeface="Calibri"/>
                <a:cs typeface="Calibri"/>
              </a:rPr>
              <a:t>Empirical jiva cognises; sakshin illumines; separate knower is sublated at paramartha.</a:t>
            </a:r>
          </a:p>
        </p:txBody>
      </p:sp>
      <p:sp>
        <p:nvSpPr>
          <p:cNvPr id="138" name="Google Shape;138;p7">
            <a:extLst xmlns:a="http://schemas.openxmlformats.org/drawingml/2006/main">
              <a:ext uri="{FF2B5EF4-FFF2-40B4-BE49-F238E27FC236}">
                <a16:creationId xmlns:a16="http://schemas.microsoft.com/office/drawing/2014/main" id="{C24F03F3-13B7-4DA6-B82A-6FFEF115D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606040"/>
            <a:ext cx="3794760" cy="1188720"/>
          </a:xfrm>
          <a:prstGeom xmlns:a="http://schemas.openxmlformats.org/drawingml/2006/main" prst="roundRect">
            <a:avLst>
              <a:gd name="adj" fmla="val 6923"/>
            </a:avLst>
          </a:prstGeom>
          <a:solidFill xmlns:a="http://schemas.openxmlformats.org/drawingml/2006/main">
            <a:srgbClr val="EEF1F8"/>
          </a:solidFill>
          <a:ln xmlns:a="http://schemas.openxmlformats.org/drawingml/2006/main">
            <a:noFill/>
          </a:ln>
          <a:effectLst xmlns:a="http://schemas.openxmlformats.org/drawingml/2006/main">
            <a:outerShdw blurRad="88900" dist="25400" dir="2700000" algn="bl" rotWithShape="0">
              <a:srgbClr val="000000">
                <a:alpha val="12941"/>
              </a:srgbClr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39" name="Google Shape;139;p7">
            <a:extLst xmlns:a="http://schemas.openxmlformats.org/drawingml/2006/main">
              <a:ext uri="{FF2B5EF4-FFF2-40B4-BE49-F238E27FC236}">
                <a16:creationId xmlns:a16="http://schemas.microsoft.com/office/drawing/2014/main" id="{7E860388-B17F-4D86-B9E1-F64D831A8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788920"/>
            <a:ext cx="310896" cy="310896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5875" cmpd="sng">
            <a:solidFill>
              <a:srgbClr val="3B4A7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0" name="Google Shape;140;p7">
            <a:extLst xmlns:a="http://schemas.openxmlformats.org/drawingml/2006/main">
              <a:ext uri="{FF2B5EF4-FFF2-40B4-BE49-F238E27FC236}">
                <a16:creationId xmlns:a16="http://schemas.microsoft.com/office/drawing/2014/main" id="{2DCD6C6B-CF46-4530-A4E5-F7FEC5439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139" y="2851099"/>
            <a:ext cx="186538" cy="186538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5875" cmpd="sng">
            <a:solidFill>
              <a:srgbClr val="3B4A7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1" name="Google Shape;141;p7">
            <a:extLst xmlns:a="http://schemas.openxmlformats.org/drawingml/2006/main">
              <a:ext uri="{FF2B5EF4-FFF2-40B4-BE49-F238E27FC236}">
                <a16:creationId xmlns:a16="http://schemas.microsoft.com/office/drawing/2014/main" id="{0D2E6CD2-706E-4D67-92AD-87B6DF703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992" y="2903952"/>
            <a:ext cx="80833" cy="8083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821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2" name="Google Shape;142;p7">
            <a:extLst xmlns:a="http://schemas.openxmlformats.org/drawingml/2006/main">
              <a:ext uri="{FF2B5EF4-FFF2-40B4-BE49-F238E27FC236}">
                <a16:creationId xmlns:a16="http://schemas.microsoft.com/office/drawing/2014/main" id="{72284CF3-2391-448B-BA27-7D7834BE2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872" y="2715768"/>
            <a:ext cx="301752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350" b="1" i="0" u="none" cap="none">
                <a:solidFill>
                  <a:srgbClr val="1E2447"/>
                </a:solidFill>
                <a:latin typeface="Cambria"/>
                <a:ea typeface="Cambria"/>
                <a:cs typeface="Cambria"/>
              </a:rPr>
              <a:t>Western philosophy</a:t>
            </a:r>
          </a:p>
        </p:txBody>
      </p:sp>
      <p:sp>
        <p:nvSpPr>
          <p:cNvPr id="143" name="Google Shape;143;p7">
            <a:extLst xmlns:a="http://schemas.openxmlformats.org/drawingml/2006/main">
              <a:ext uri="{FF2B5EF4-FFF2-40B4-BE49-F238E27FC236}">
                <a16:creationId xmlns:a16="http://schemas.microsoft.com/office/drawing/2014/main" id="{88B4D163-A60F-4D71-A21A-FF9D66863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872" y="3008376"/>
            <a:ext cx="3063240" cy="731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30" b="0" i="0" u="none" cap="none">
                <a:solidFill>
                  <a:srgbClr val="5A6377"/>
                </a:solidFill>
                <a:latin typeface="Calibri"/>
                <a:ea typeface="Calibri"/>
                <a:cs typeface="Calibri"/>
              </a:rPr>
              <a:t>Organism, embodied subject, social person, or consciousness—no settled single account.</a:t>
            </a:r>
          </a:p>
        </p:txBody>
      </p:sp>
      <p:sp>
        <p:nvSpPr>
          <p:cNvPr id="144" name="Google Shape;144;p7">
            <a:extLst xmlns:a="http://schemas.openxmlformats.org/drawingml/2006/main">
              <a:ext uri="{FF2B5EF4-FFF2-40B4-BE49-F238E27FC236}">
                <a16:creationId xmlns:a16="http://schemas.microsoft.com/office/drawing/2014/main" id="{35D606E5-7371-49D6-8AFE-E2CD65E2D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2606040"/>
            <a:ext cx="3794760" cy="1188720"/>
          </a:xfrm>
          <a:prstGeom xmlns:a="http://schemas.openxmlformats.org/drawingml/2006/main" prst="roundRect">
            <a:avLst>
              <a:gd name="adj" fmla="val 6923"/>
            </a:avLst>
          </a:prstGeom>
          <a:solidFill xmlns:a="http://schemas.openxmlformats.org/drawingml/2006/main">
            <a:srgbClr val="EEF1F8"/>
          </a:solidFill>
          <a:ln xmlns:a="http://schemas.openxmlformats.org/drawingml/2006/main">
            <a:noFill/>
          </a:ln>
          <a:effectLst xmlns:a="http://schemas.openxmlformats.org/drawingml/2006/main">
            <a:outerShdw blurRad="88900" dist="25400" dir="2700000" algn="bl" rotWithShape="0">
              <a:srgbClr val="000000">
                <a:alpha val="12941"/>
              </a:srgbClr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5" name="Google Shape;145;p7">
            <a:extLst xmlns:a="http://schemas.openxmlformats.org/drawingml/2006/main">
              <a:ext uri="{FF2B5EF4-FFF2-40B4-BE49-F238E27FC236}">
                <a16:creationId xmlns:a16="http://schemas.microsoft.com/office/drawing/2014/main" id="{60ED207F-363E-479B-A217-044586C34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2040" y="2788920"/>
            <a:ext cx="310896" cy="310896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5875" cmpd="sng">
            <a:solidFill>
              <a:srgbClr val="3B4A7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6" name="Google Shape;146;p7">
            <a:extLst xmlns:a="http://schemas.openxmlformats.org/drawingml/2006/main">
              <a:ext uri="{FF2B5EF4-FFF2-40B4-BE49-F238E27FC236}">
                <a16:creationId xmlns:a16="http://schemas.microsoft.com/office/drawing/2014/main" id="{F59040DB-FE8E-4768-B34F-7171056FB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4219" y="2851099"/>
            <a:ext cx="186538" cy="186538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5875" cmpd="sng">
            <a:solidFill>
              <a:srgbClr val="3B4A7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7" name="Google Shape;147;p7">
            <a:extLst xmlns:a="http://schemas.openxmlformats.org/drawingml/2006/main">
              <a:ext uri="{FF2B5EF4-FFF2-40B4-BE49-F238E27FC236}">
                <a16:creationId xmlns:a16="http://schemas.microsoft.com/office/drawing/2014/main" id="{2D39A687-7B45-4546-8894-6BDA52A70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7072" y="2903952"/>
            <a:ext cx="80833" cy="8083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821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8" name="Google Shape;148;p7">
            <a:extLst xmlns:a="http://schemas.openxmlformats.org/drawingml/2006/main">
              <a:ext uri="{FF2B5EF4-FFF2-40B4-BE49-F238E27FC236}">
                <a16:creationId xmlns:a16="http://schemas.microsoft.com/office/drawing/2014/main" id="{40CC8AF1-DE82-4E58-8C0C-0A05484D7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0952" y="2715768"/>
            <a:ext cx="301752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350" b="1" i="0" u="none" cap="none">
                <a:solidFill>
                  <a:srgbClr val="1E2447"/>
                </a:solidFill>
                <a:latin typeface="Cambria"/>
                <a:ea typeface="Cambria"/>
                <a:cs typeface="Cambria"/>
              </a:rPr>
              <a:t>Natural science</a:t>
            </a:r>
          </a:p>
        </p:txBody>
      </p:sp>
      <p:sp>
        <p:nvSpPr>
          <p:cNvPr id="149" name="Google Shape;149;p7">
            <a:extLst xmlns:a="http://schemas.openxmlformats.org/drawingml/2006/main">
              <a:ext uri="{FF2B5EF4-FFF2-40B4-BE49-F238E27FC236}">
                <a16:creationId xmlns:a16="http://schemas.microsoft.com/office/drawing/2014/main" id="{43CACCDB-C99D-4605-856E-E37BB61C6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0952" y="3008376"/>
            <a:ext cx="3063240" cy="731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30" b="0" i="0" u="none" cap="none">
                <a:solidFill>
                  <a:srgbClr val="5A6377"/>
                </a:solidFill>
                <a:latin typeface="Calibri"/>
                <a:ea typeface="Calibri"/>
                <a:cs typeface="Calibri"/>
              </a:rPr>
              <a:t>Operationally the organism across brain, body, behaviour, reports, and environment.</a:t>
            </a:r>
          </a:p>
        </p:txBody>
      </p:sp>
      <p:sp>
        <p:nvSpPr>
          <p:cNvPr id="150" name="Google Shape;150;p7">
            <a:extLst xmlns:a="http://schemas.openxmlformats.org/drawingml/2006/main">
              <a:ext uri="{FF2B5EF4-FFF2-40B4-BE49-F238E27FC236}">
                <a16:creationId xmlns:a16="http://schemas.microsoft.com/office/drawing/2014/main" id="{C900555A-CF8C-4582-8C80-52AF84F08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977640"/>
            <a:ext cx="7863840" cy="749808"/>
          </a:xfrm>
          <a:prstGeom xmlns:a="http://schemas.openxmlformats.org/drawingml/2006/main" prst="roundRect">
            <a:avLst>
              <a:gd name="adj" fmla="val 10976"/>
            </a:avLst>
          </a:prstGeom>
          <a:solidFill xmlns:a="http://schemas.openxmlformats.org/drawingml/2006/main">
            <a:srgbClr val="FAF1D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51" name="Google Shape;151;p7">
            <a:extLst xmlns:a="http://schemas.openxmlformats.org/drawingml/2006/main">
              <a:ext uri="{FF2B5EF4-FFF2-40B4-BE49-F238E27FC236}">
                <a16:creationId xmlns:a16="http://schemas.microsoft.com/office/drawing/2014/main" id="{2117AB49-652B-42CE-AF52-B10AE62D3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977640"/>
            <a:ext cx="7406640" cy="7498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cap="none">
                <a:solidFill>
                  <a:srgbClr val="9A6414"/>
                </a:solidFill>
                <a:latin typeface="Calibri"/>
                <a:ea typeface="Calibri"/>
                <a:cs typeface="Calibri"/>
              </a:rPr>
              <a:t>The decisive contrast is enduring plural agency versus empirically operative agency whose separateness is sublated, contested, or operationally bracketed.</a:t>
            </a:r>
          </a:p>
        </p:txBody>
      </p:sp>
      <p:sp>
        <p:nvSpPr>
          <p:cNvPr id="152" name="Google Shape;152;p7">
            <a:extLst xmlns:a="http://schemas.openxmlformats.org/drawingml/2006/main">
              <a:ext uri="{FF2B5EF4-FFF2-40B4-BE49-F238E27FC236}">
                <a16:creationId xmlns:a16="http://schemas.microsoft.com/office/drawing/2014/main" id="{C8AB52DC-457F-4AED-9264-440E84A6C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828032"/>
            <a:ext cx="8138160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1" u="none" cap="none">
                <a:solidFill>
                  <a:srgbClr val="5A6377"/>
                </a:solidFill>
                <a:latin typeface="Calibri"/>
                <a:ea typeface="Calibri"/>
                <a:cs typeface="Calibri"/>
              </a:rPr>
              <a:t>Study §§1.4, 2.1–2.4, 3.3–3.7, 4.2  ·  AnalyticMadhyasthDarshan.org  ·  9 / 12</a:t>
            </a:r>
          </a:p>
        </p:txBody>
      </p:sp>
    </p:spTree>
    <p:extLst>
      <p:ext uri="{BB962C8B-B14F-4D97-AF65-F5344CB8AC3E}">
        <p14:creationId xmlns:p14="http://schemas.microsoft.com/office/powerpoint/2010/main" val="97238234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1" name="Google Shape;121;p7">
            <a:extLst xmlns:a="http://schemas.openxmlformats.org/drawingml/2006/main">
              <a:ext uri="{FF2B5EF4-FFF2-40B4-BE49-F238E27FC236}">
                <a16:creationId xmlns:a16="http://schemas.microsoft.com/office/drawing/2014/main" id="{1FDF55EE-1DFC-4864-BBCF-6889CF1EF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4048"/>
            <a:ext cx="365760" cy="36576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5875" cmpd="sng">
            <a:solidFill>
              <a:srgbClr val="3B4A7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22" name="Google Shape;122;p7">
            <a:extLst xmlns:a="http://schemas.openxmlformats.org/drawingml/2006/main">
              <a:ext uri="{FF2B5EF4-FFF2-40B4-BE49-F238E27FC236}">
                <a16:creationId xmlns:a16="http://schemas.microsoft.com/office/drawing/2014/main" id="{5AD84244-4940-47B0-823B-B7C36ED1B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457200"/>
            <a:ext cx="219456" cy="219456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5875" cmpd="sng">
            <a:solidFill>
              <a:srgbClr val="3B4A7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23" name="Google Shape;123;p7">
            <a:extLst xmlns:a="http://schemas.openxmlformats.org/drawingml/2006/main">
              <a:ext uri="{FF2B5EF4-FFF2-40B4-BE49-F238E27FC236}">
                <a16:creationId xmlns:a16="http://schemas.microsoft.com/office/drawing/2014/main" id="{11218A88-AD24-47F4-AA7E-CEDB55B36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531" y="519379"/>
            <a:ext cx="95098" cy="950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821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24" name="Google Shape;124;p7">
            <a:extLst xmlns:a="http://schemas.openxmlformats.org/drawingml/2006/main">
              <a:ext uri="{FF2B5EF4-FFF2-40B4-BE49-F238E27FC236}">
                <a16:creationId xmlns:a16="http://schemas.microsoft.com/office/drawing/2014/main" id="{920138EF-D763-4448-A961-8DCEAD2BB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56032"/>
            <a:ext cx="7680960" cy="2377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 u="none" cap="none">
                <a:solidFill>
                  <a:srgbClr val="9A6414"/>
                </a:solidFill>
                <a:latin typeface="Calibri"/>
                <a:ea typeface="Calibri"/>
                <a:cs typeface="Calibri"/>
              </a:rPr>
              <a:t>MATCHED COMPARISON · VALIDATION</a:t>
            </a:r>
          </a:p>
        </p:txBody>
      </p:sp>
      <p:sp>
        <p:nvSpPr>
          <p:cNvPr id="125" name="Google Shape;125;p7">
            <a:extLst xmlns:a="http://schemas.openxmlformats.org/drawingml/2006/main">
              <a:ext uri="{FF2B5EF4-FFF2-40B4-BE49-F238E27FC236}">
                <a16:creationId xmlns:a16="http://schemas.microsoft.com/office/drawing/2014/main" id="{B29B9366-7866-413D-82A0-241730EBC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457200"/>
            <a:ext cx="7726680" cy="566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000" b="1" i="0" u="none" cap="none">
                <a:solidFill>
                  <a:srgbClr val="1E2447"/>
                </a:solidFill>
                <a:latin typeface="Cambria"/>
                <a:ea typeface="Cambria"/>
                <a:cs typeface="Cambria"/>
              </a:rPr>
              <a:t>Four Standards of Validation</a:t>
            </a:r>
          </a:p>
        </p:txBody>
      </p:sp>
      <p:sp>
        <p:nvSpPr>
          <p:cNvPr id="126" name="Google Shape;126;p7">
            <a:extLst xmlns:a="http://schemas.openxmlformats.org/drawingml/2006/main">
              <a:ext uri="{FF2B5EF4-FFF2-40B4-BE49-F238E27FC236}">
                <a16:creationId xmlns:a16="http://schemas.microsoft.com/office/drawing/2014/main" id="{7D7417D2-2684-43CB-8AFE-F91CDBDC0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280160"/>
            <a:ext cx="3794760" cy="1188720"/>
          </a:xfrm>
          <a:prstGeom xmlns:a="http://schemas.openxmlformats.org/drawingml/2006/main" prst="roundRect">
            <a:avLst>
              <a:gd name="adj" fmla="val 6923"/>
            </a:avLst>
          </a:prstGeom>
          <a:solidFill xmlns:a="http://schemas.openxmlformats.org/drawingml/2006/main">
            <a:srgbClr val="EEF1F8"/>
          </a:solidFill>
          <a:ln xmlns:a="http://schemas.openxmlformats.org/drawingml/2006/main">
            <a:noFill/>
          </a:ln>
          <a:effectLst xmlns:a="http://schemas.openxmlformats.org/drawingml/2006/main">
            <a:outerShdw blurRad="88900" dist="25400" dir="2700000" algn="bl" rotWithShape="0">
              <a:srgbClr val="000000">
                <a:alpha val="12941"/>
              </a:srgbClr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27" name="Google Shape;127;p7">
            <a:extLst xmlns:a="http://schemas.openxmlformats.org/drawingml/2006/main">
              <a:ext uri="{FF2B5EF4-FFF2-40B4-BE49-F238E27FC236}">
                <a16:creationId xmlns:a16="http://schemas.microsoft.com/office/drawing/2014/main" id="{EE33F6BF-95C0-4816-A54C-B6B00AF45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463040"/>
            <a:ext cx="310896" cy="310896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5875" cmpd="sng">
            <a:solidFill>
              <a:srgbClr val="3B4A7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28" name="Google Shape;128;p7">
            <a:extLst xmlns:a="http://schemas.openxmlformats.org/drawingml/2006/main">
              <a:ext uri="{FF2B5EF4-FFF2-40B4-BE49-F238E27FC236}">
                <a16:creationId xmlns:a16="http://schemas.microsoft.com/office/drawing/2014/main" id="{B6E3019C-45D3-4ED1-A9D2-55D72A508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139" y="1525219"/>
            <a:ext cx="186538" cy="186538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5875" cmpd="sng">
            <a:solidFill>
              <a:srgbClr val="3B4A7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29" name="Google Shape;129;p7">
            <a:extLst xmlns:a="http://schemas.openxmlformats.org/drawingml/2006/main">
              <a:ext uri="{FF2B5EF4-FFF2-40B4-BE49-F238E27FC236}">
                <a16:creationId xmlns:a16="http://schemas.microsoft.com/office/drawing/2014/main" id="{EE1719B3-E68F-4D01-A60C-336CB2754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992" y="1578072"/>
            <a:ext cx="80833" cy="8083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821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30" name="Google Shape;130;p7">
            <a:extLst xmlns:a="http://schemas.openxmlformats.org/drawingml/2006/main">
              <a:ext uri="{FF2B5EF4-FFF2-40B4-BE49-F238E27FC236}">
                <a16:creationId xmlns:a16="http://schemas.microsoft.com/office/drawing/2014/main" id="{A70DDF07-767E-4CA7-8197-976F5965A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872" y="1389888"/>
            <a:ext cx="301752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350" b="1" i="0" u="none" cap="none">
                <a:solidFill>
                  <a:srgbClr val="1E2447"/>
                </a:solidFill>
                <a:latin typeface="Cambria"/>
                <a:ea typeface="Cambria"/>
                <a:cs typeface="Cambria"/>
              </a:rPr>
              <a:t>Madhyasth Darshan</a:t>
            </a:r>
          </a:p>
        </p:txBody>
      </p:sp>
      <p:sp>
        <p:nvSpPr>
          <p:cNvPr id="131" name="Google Shape;131;p7">
            <a:extLst xmlns:a="http://schemas.openxmlformats.org/drawingml/2006/main">
              <a:ext uri="{FF2B5EF4-FFF2-40B4-BE49-F238E27FC236}">
                <a16:creationId xmlns:a16="http://schemas.microsoft.com/office/drawing/2014/main" id="{6BEFCC17-F959-4C0D-898B-ADDA648A1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872" y="1682496"/>
            <a:ext cx="3063240" cy="731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30" b="0" i="0" u="none" cap="none">
                <a:solidFill>
                  <a:srgbClr val="5A6377"/>
                </a:solidFill>
                <a:latin typeface="Calibri"/>
                <a:ea typeface="Calibri"/>
                <a:cs typeface="Calibri"/>
              </a:rPr>
              <a:t>Realisation cohering with conduct, work, evaluation, conveyance, and humane tradition.</a:t>
            </a:r>
          </a:p>
        </p:txBody>
      </p:sp>
      <p:sp>
        <p:nvSpPr>
          <p:cNvPr id="132" name="Google Shape;132;p7">
            <a:extLst xmlns:a="http://schemas.openxmlformats.org/drawingml/2006/main">
              <a:ext uri="{FF2B5EF4-FFF2-40B4-BE49-F238E27FC236}">
                <a16:creationId xmlns:a16="http://schemas.microsoft.com/office/drawing/2014/main" id="{2B1D4DE1-906E-43B6-A1AC-A7EA7B235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1280160"/>
            <a:ext cx="3794760" cy="1188720"/>
          </a:xfrm>
          <a:prstGeom xmlns:a="http://schemas.openxmlformats.org/drawingml/2006/main" prst="roundRect">
            <a:avLst>
              <a:gd name="adj" fmla="val 6923"/>
            </a:avLst>
          </a:prstGeom>
          <a:solidFill xmlns:a="http://schemas.openxmlformats.org/drawingml/2006/main">
            <a:srgbClr val="EEF1F8"/>
          </a:solidFill>
          <a:ln xmlns:a="http://schemas.openxmlformats.org/drawingml/2006/main">
            <a:noFill/>
          </a:ln>
          <a:effectLst xmlns:a="http://schemas.openxmlformats.org/drawingml/2006/main">
            <a:outerShdw blurRad="88900" dist="25400" dir="2700000" algn="bl" rotWithShape="0">
              <a:srgbClr val="000000">
                <a:alpha val="12941"/>
              </a:srgbClr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33" name="Google Shape;133;p7">
            <a:extLst xmlns:a="http://schemas.openxmlformats.org/drawingml/2006/main">
              <a:ext uri="{FF2B5EF4-FFF2-40B4-BE49-F238E27FC236}">
                <a16:creationId xmlns:a16="http://schemas.microsoft.com/office/drawing/2014/main" id="{1A555193-C105-42C6-B81B-78A780152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2040" y="1463040"/>
            <a:ext cx="310896" cy="310896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5875" cmpd="sng">
            <a:solidFill>
              <a:srgbClr val="3B4A7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34" name="Google Shape;134;p7">
            <a:extLst xmlns:a="http://schemas.openxmlformats.org/drawingml/2006/main">
              <a:ext uri="{FF2B5EF4-FFF2-40B4-BE49-F238E27FC236}">
                <a16:creationId xmlns:a16="http://schemas.microsoft.com/office/drawing/2014/main" id="{3A08FC77-38FD-4F53-9FDA-4E24295DF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4219" y="1525219"/>
            <a:ext cx="186538" cy="186538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5875" cmpd="sng">
            <a:solidFill>
              <a:srgbClr val="3B4A7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35" name="Google Shape;135;p7">
            <a:extLst xmlns:a="http://schemas.openxmlformats.org/drawingml/2006/main">
              <a:ext uri="{FF2B5EF4-FFF2-40B4-BE49-F238E27FC236}">
                <a16:creationId xmlns:a16="http://schemas.microsoft.com/office/drawing/2014/main" id="{D06E458B-173D-440A-9C47-D542B10D7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7072" y="1578072"/>
            <a:ext cx="80833" cy="8083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821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36" name="Google Shape;136;p7">
            <a:extLst xmlns:a="http://schemas.openxmlformats.org/drawingml/2006/main">
              <a:ext uri="{FF2B5EF4-FFF2-40B4-BE49-F238E27FC236}">
                <a16:creationId xmlns:a16="http://schemas.microsoft.com/office/drawing/2014/main" id="{2E165D08-90C3-4000-8857-A8714F7BC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0952" y="1389888"/>
            <a:ext cx="301752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350" b="1" i="0" u="none" cap="none">
                <a:solidFill>
                  <a:srgbClr val="1E2447"/>
                </a:solidFill>
                <a:latin typeface="Cambria"/>
                <a:ea typeface="Cambria"/>
                <a:cs typeface="Cambria"/>
              </a:rPr>
              <a:t>Advaita Vedanta</a:t>
            </a:r>
          </a:p>
        </p:txBody>
      </p:sp>
      <p:sp>
        <p:nvSpPr>
          <p:cNvPr id="137" name="Google Shape;137;p7">
            <a:extLst xmlns:a="http://schemas.openxmlformats.org/drawingml/2006/main">
              <a:ext uri="{FF2B5EF4-FFF2-40B4-BE49-F238E27FC236}">
                <a16:creationId xmlns:a16="http://schemas.microsoft.com/office/drawing/2014/main" id="{81243F9D-4F30-4A59-8606-FA47AD846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0952" y="1682496"/>
            <a:ext cx="3063240" cy="731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30" b="0" i="0" u="none" cap="none">
                <a:solidFill>
                  <a:srgbClr val="5A6377"/>
                </a:solidFill>
                <a:latin typeface="Calibri"/>
                <a:ea typeface="Calibri"/>
                <a:cs typeface="Calibri"/>
              </a:rPr>
              <a:t>Empirical pramanas in their domains; Upanishadic shabda removes ignorance of identity.</a:t>
            </a:r>
          </a:p>
        </p:txBody>
      </p:sp>
      <p:sp>
        <p:nvSpPr>
          <p:cNvPr id="138" name="Google Shape;138;p7">
            <a:extLst xmlns:a="http://schemas.openxmlformats.org/drawingml/2006/main">
              <a:ext uri="{FF2B5EF4-FFF2-40B4-BE49-F238E27FC236}">
                <a16:creationId xmlns:a16="http://schemas.microsoft.com/office/drawing/2014/main" id="{C24F03F3-13B7-4DA6-B82A-6FFEF115D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606040"/>
            <a:ext cx="3794760" cy="1188720"/>
          </a:xfrm>
          <a:prstGeom xmlns:a="http://schemas.openxmlformats.org/drawingml/2006/main" prst="roundRect">
            <a:avLst>
              <a:gd name="adj" fmla="val 6923"/>
            </a:avLst>
          </a:prstGeom>
          <a:solidFill xmlns:a="http://schemas.openxmlformats.org/drawingml/2006/main">
            <a:srgbClr val="EEF1F8"/>
          </a:solidFill>
          <a:ln xmlns:a="http://schemas.openxmlformats.org/drawingml/2006/main">
            <a:noFill/>
          </a:ln>
          <a:effectLst xmlns:a="http://schemas.openxmlformats.org/drawingml/2006/main">
            <a:outerShdw blurRad="88900" dist="25400" dir="2700000" algn="bl" rotWithShape="0">
              <a:srgbClr val="000000">
                <a:alpha val="12941"/>
              </a:srgbClr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39" name="Google Shape;139;p7">
            <a:extLst xmlns:a="http://schemas.openxmlformats.org/drawingml/2006/main">
              <a:ext uri="{FF2B5EF4-FFF2-40B4-BE49-F238E27FC236}">
                <a16:creationId xmlns:a16="http://schemas.microsoft.com/office/drawing/2014/main" id="{7E860388-B17F-4D86-B9E1-F64D831A8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788920"/>
            <a:ext cx="310896" cy="310896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5875" cmpd="sng">
            <a:solidFill>
              <a:srgbClr val="3B4A7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0" name="Google Shape;140;p7">
            <a:extLst xmlns:a="http://schemas.openxmlformats.org/drawingml/2006/main">
              <a:ext uri="{FF2B5EF4-FFF2-40B4-BE49-F238E27FC236}">
                <a16:creationId xmlns:a16="http://schemas.microsoft.com/office/drawing/2014/main" id="{2DCD6C6B-CF46-4530-A4E5-F7FEC5439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139" y="2851099"/>
            <a:ext cx="186538" cy="186538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5875" cmpd="sng">
            <a:solidFill>
              <a:srgbClr val="3B4A7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1" name="Google Shape;141;p7">
            <a:extLst xmlns:a="http://schemas.openxmlformats.org/drawingml/2006/main">
              <a:ext uri="{FF2B5EF4-FFF2-40B4-BE49-F238E27FC236}">
                <a16:creationId xmlns:a16="http://schemas.microsoft.com/office/drawing/2014/main" id="{0D2E6CD2-706E-4D67-92AD-87B6DF703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992" y="2903952"/>
            <a:ext cx="80833" cy="8083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821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2" name="Google Shape;142;p7">
            <a:extLst xmlns:a="http://schemas.openxmlformats.org/drawingml/2006/main">
              <a:ext uri="{FF2B5EF4-FFF2-40B4-BE49-F238E27FC236}">
                <a16:creationId xmlns:a16="http://schemas.microsoft.com/office/drawing/2014/main" id="{72284CF3-2391-448B-BA27-7D7834BE2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872" y="2715768"/>
            <a:ext cx="301752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350" b="1" i="0" u="none" cap="none">
                <a:solidFill>
                  <a:srgbClr val="1E2447"/>
                </a:solidFill>
                <a:latin typeface="Cambria"/>
                <a:ea typeface="Cambria"/>
                <a:cs typeface="Cambria"/>
              </a:rPr>
              <a:t>Western philosophy</a:t>
            </a:r>
          </a:p>
        </p:txBody>
      </p:sp>
      <p:sp>
        <p:nvSpPr>
          <p:cNvPr id="143" name="Google Shape;143;p7">
            <a:extLst xmlns:a="http://schemas.openxmlformats.org/drawingml/2006/main">
              <a:ext uri="{FF2B5EF4-FFF2-40B4-BE49-F238E27FC236}">
                <a16:creationId xmlns:a16="http://schemas.microsoft.com/office/drawing/2014/main" id="{88B4D163-A60F-4D71-A21A-FF9D66863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872" y="3008376"/>
            <a:ext cx="3063240" cy="731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30" b="0" i="0" u="none" cap="none">
                <a:solidFill>
                  <a:srgbClr val="5A6377"/>
                </a:solidFill>
                <a:latin typeface="Calibri"/>
                <a:ea typeface="Calibri"/>
                <a:cs typeface="Calibri"/>
              </a:rPr>
              <a:t>Justification, reliability, safety, competence, testimony, and social epistemic conditions.</a:t>
            </a:r>
          </a:p>
        </p:txBody>
      </p:sp>
      <p:sp>
        <p:nvSpPr>
          <p:cNvPr id="144" name="Google Shape;144;p7">
            <a:extLst xmlns:a="http://schemas.openxmlformats.org/drawingml/2006/main">
              <a:ext uri="{FF2B5EF4-FFF2-40B4-BE49-F238E27FC236}">
                <a16:creationId xmlns:a16="http://schemas.microsoft.com/office/drawing/2014/main" id="{35D606E5-7371-49D6-8AFE-E2CD65E2D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2606040"/>
            <a:ext cx="3794760" cy="1188720"/>
          </a:xfrm>
          <a:prstGeom xmlns:a="http://schemas.openxmlformats.org/drawingml/2006/main" prst="roundRect">
            <a:avLst>
              <a:gd name="adj" fmla="val 6923"/>
            </a:avLst>
          </a:prstGeom>
          <a:solidFill xmlns:a="http://schemas.openxmlformats.org/drawingml/2006/main">
            <a:srgbClr val="EEF1F8"/>
          </a:solidFill>
          <a:ln xmlns:a="http://schemas.openxmlformats.org/drawingml/2006/main">
            <a:noFill/>
          </a:ln>
          <a:effectLst xmlns:a="http://schemas.openxmlformats.org/drawingml/2006/main">
            <a:outerShdw blurRad="88900" dist="25400" dir="2700000" algn="bl" rotWithShape="0">
              <a:srgbClr val="000000">
                <a:alpha val="12941"/>
              </a:srgbClr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5" name="Google Shape;145;p7">
            <a:extLst xmlns:a="http://schemas.openxmlformats.org/drawingml/2006/main">
              <a:ext uri="{FF2B5EF4-FFF2-40B4-BE49-F238E27FC236}">
                <a16:creationId xmlns:a16="http://schemas.microsoft.com/office/drawing/2014/main" id="{60ED207F-363E-479B-A217-044586C34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2040" y="2788920"/>
            <a:ext cx="310896" cy="310896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5875" cmpd="sng">
            <a:solidFill>
              <a:srgbClr val="3B4A7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6" name="Google Shape;146;p7">
            <a:extLst xmlns:a="http://schemas.openxmlformats.org/drawingml/2006/main">
              <a:ext uri="{FF2B5EF4-FFF2-40B4-BE49-F238E27FC236}">
                <a16:creationId xmlns:a16="http://schemas.microsoft.com/office/drawing/2014/main" id="{F59040DB-FE8E-4768-B34F-7171056FB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4219" y="2851099"/>
            <a:ext cx="186538" cy="186538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5875" cmpd="sng">
            <a:solidFill>
              <a:srgbClr val="3B4A7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7" name="Google Shape;147;p7">
            <a:extLst xmlns:a="http://schemas.openxmlformats.org/drawingml/2006/main">
              <a:ext uri="{FF2B5EF4-FFF2-40B4-BE49-F238E27FC236}">
                <a16:creationId xmlns:a16="http://schemas.microsoft.com/office/drawing/2014/main" id="{2D39A687-7B45-4546-8894-6BDA52A70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7072" y="2903952"/>
            <a:ext cx="80833" cy="8083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821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8" name="Google Shape;148;p7">
            <a:extLst xmlns:a="http://schemas.openxmlformats.org/drawingml/2006/main">
              <a:ext uri="{FF2B5EF4-FFF2-40B4-BE49-F238E27FC236}">
                <a16:creationId xmlns:a16="http://schemas.microsoft.com/office/drawing/2014/main" id="{40CC8AF1-DE82-4E58-8C0C-0A05484D7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0952" y="2715768"/>
            <a:ext cx="301752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350" b="1" i="0" u="none" cap="none">
                <a:solidFill>
                  <a:srgbClr val="1E2447"/>
                </a:solidFill>
                <a:latin typeface="Cambria"/>
                <a:ea typeface="Cambria"/>
                <a:cs typeface="Cambria"/>
              </a:rPr>
              <a:t>Natural science</a:t>
            </a:r>
          </a:p>
        </p:txBody>
      </p:sp>
      <p:sp>
        <p:nvSpPr>
          <p:cNvPr id="149" name="Google Shape;149;p7">
            <a:extLst xmlns:a="http://schemas.openxmlformats.org/drawingml/2006/main">
              <a:ext uri="{FF2B5EF4-FFF2-40B4-BE49-F238E27FC236}">
                <a16:creationId xmlns:a16="http://schemas.microsoft.com/office/drawing/2014/main" id="{43CACCDB-C99D-4605-856E-E37BB61C6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0952" y="3008376"/>
            <a:ext cx="3063240" cy="731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30" b="0" i="0" u="none" cap="none">
                <a:solidFill>
                  <a:srgbClr val="5A6377"/>
                </a:solidFill>
                <a:latin typeface="Calibri"/>
                <a:ea typeface="Calibri"/>
                <a:cs typeface="Calibri"/>
              </a:rPr>
              <a:t>Reproducible observation, prediction, experiment, replication, and institutional correction.</a:t>
            </a:r>
          </a:p>
        </p:txBody>
      </p:sp>
      <p:sp>
        <p:nvSpPr>
          <p:cNvPr id="150" name="Google Shape;150;p7">
            <a:extLst xmlns:a="http://schemas.openxmlformats.org/drawingml/2006/main">
              <a:ext uri="{FF2B5EF4-FFF2-40B4-BE49-F238E27FC236}">
                <a16:creationId xmlns:a16="http://schemas.microsoft.com/office/drawing/2014/main" id="{C900555A-CF8C-4582-8C80-52AF84F08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977640"/>
            <a:ext cx="7863840" cy="749808"/>
          </a:xfrm>
          <a:prstGeom xmlns:a="http://schemas.openxmlformats.org/drawingml/2006/main" prst="roundRect">
            <a:avLst>
              <a:gd name="adj" fmla="val 10976"/>
            </a:avLst>
          </a:prstGeom>
          <a:solidFill xmlns:a="http://schemas.openxmlformats.org/drawingml/2006/main">
            <a:srgbClr val="FAF1D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51" name="Google Shape;151;p7">
            <a:extLst xmlns:a="http://schemas.openxmlformats.org/drawingml/2006/main">
              <a:ext uri="{FF2B5EF4-FFF2-40B4-BE49-F238E27FC236}">
                <a16:creationId xmlns:a16="http://schemas.microsoft.com/office/drawing/2014/main" id="{2117AB49-652B-42CE-AF52-B10AE62D3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977640"/>
            <a:ext cx="7406640" cy="7498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cap="none">
                <a:solidFill>
                  <a:srgbClr val="9A6414"/>
                </a:solidFill>
                <a:latin typeface="Calibri"/>
                <a:ea typeface="Calibri"/>
                <a:cs typeface="Calibri"/>
              </a:rPr>
              <a:t>No method should be credited with evidence it does not supply: ethical coherence, contemplative certainty, and predictive success are not interchangeable.</a:t>
            </a:r>
          </a:p>
        </p:txBody>
      </p:sp>
      <p:sp>
        <p:nvSpPr>
          <p:cNvPr id="152" name="Google Shape;152;p7">
            <a:extLst xmlns:a="http://schemas.openxmlformats.org/drawingml/2006/main">
              <a:ext uri="{FF2B5EF4-FFF2-40B4-BE49-F238E27FC236}">
                <a16:creationId xmlns:a16="http://schemas.microsoft.com/office/drawing/2014/main" id="{C8AB52DC-457F-4AED-9264-440E84A6C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828032"/>
            <a:ext cx="8138160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1" u="none" cap="none">
                <a:solidFill>
                  <a:srgbClr val="5A6377"/>
                </a:solidFill>
                <a:latin typeface="Calibri"/>
                <a:ea typeface="Calibri"/>
                <a:cs typeface="Calibri"/>
              </a:rPr>
              <a:t>Study §§1.7–1.8, 2.6, 3.1–3.2, 4.1–4.4, 5.3  ·  AnalyticMadhyasthDarshan.org  ·  10 / 12</a:t>
            </a:r>
          </a:p>
        </p:txBody>
      </p:sp>
    </p:spTree>
    <p:extLst>
      <p:ext uri="{BB962C8B-B14F-4D97-AF65-F5344CB8AC3E}">
        <p14:creationId xmlns:p14="http://schemas.microsoft.com/office/powerpoint/2010/main" val="97238234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Google Shape;35;p4">
            <a:extLst xmlns:a="http://schemas.openxmlformats.org/drawingml/2006/main">
              <a:ext uri="{FF2B5EF4-FFF2-40B4-BE49-F238E27FC236}">
                <a16:creationId xmlns:a16="http://schemas.microsoft.com/office/drawing/2014/main" id="{554B6713-B2DC-4514-B452-C9EBA3EA2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4048"/>
            <a:ext cx="365760" cy="36576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5875" cmpd="sng">
            <a:solidFill>
              <a:srgbClr val="3B4A7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6" name="Google Shape;36;p4">
            <a:extLst xmlns:a="http://schemas.openxmlformats.org/drawingml/2006/main">
              <a:ext uri="{FF2B5EF4-FFF2-40B4-BE49-F238E27FC236}">
                <a16:creationId xmlns:a16="http://schemas.microsoft.com/office/drawing/2014/main" id="{9E98C951-C4B9-46BD-B3FC-D1161DB4A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457200"/>
            <a:ext cx="219456" cy="219456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5875" cmpd="sng">
            <a:solidFill>
              <a:srgbClr val="3B4A7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7" name="Google Shape;37;p4">
            <a:extLst xmlns:a="http://schemas.openxmlformats.org/drawingml/2006/main">
              <a:ext uri="{FF2B5EF4-FFF2-40B4-BE49-F238E27FC236}">
                <a16:creationId xmlns:a16="http://schemas.microsoft.com/office/drawing/2014/main" id="{4AFD3403-A263-4222-9AFC-851DC6102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531" y="519379"/>
            <a:ext cx="95098" cy="950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821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8" name="Google Shape;38;p4">
            <a:extLst xmlns:a="http://schemas.openxmlformats.org/drawingml/2006/main">
              <a:ext uri="{FF2B5EF4-FFF2-40B4-BE49-F238E27FC236}">
                <a16:creationId xmlns:a16="http://schemas.microsoft.com/office/drawing/2014/main" id="{39C9F7D7-11F2-4589-AF3E-2A09E52C1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56032"/>
            <a:ext cx="7680960" cy="2377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 u="none" cap="none">
                <a:solidFill>
                  <a:srgbClr val="9A6414"/>
                </a:solidFill>
                <a:latin typeface="Calibri"/>
                <a:ea typeface="Calibri"/>
                <a:cs typeface="Calibri"/>
              </a:rPr>
              <a:t>COMPARATIVE DISCIPLINE</a:t>
            </a:r>
          </a:p>
        </p:txBody>
      </p:sp>
      <p:sp>
        <p:nvSpPr>
          <p:cNvPr id="39" name="Google Shape;39;p4">
            <a:extLst xmlns:a="http://schemas.openxmlformats.org/drawingml/2006/main">
              <a:ext uri="{FF2B5EF4-FFF2-40B4-BE49-F238E27FC236}">
                <a16:creationId xmlns:a16="http://schemas.microsoft.com/office/drawing/2014/main" id="{6286B2DB-0BEF-47B8-861A-3369C43B8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457200"/>
            <a:ext cx="7726680" cy="566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000" b="1" i="0" u="none" cap="none">
                <a:solidFill>
                  <a:srgbClr val="1E2447"/>
                </a:solidFill>
                <a:latin typeface="Cambria"/>
                <a:ea typeface="Cambria"/>
                <a:cs typeface="Cambria"/>
              </a:rPr>
              <a:t>Three Safeguards for Comparison</a:t>
            </a:r>
          </a:p>
        </p:txBody>
      </p:sp>
      <p:sp>
        <p:nvSpPr>
          <p:cNvPr id="40" name="Google Shape;40;p4">
            <a:extLst xmlns:a="http://schemas.openxmlformats.org/drawingml/2006/main">
              <a:ext uri="{FF2B5EF4-FFF2-40B4-BE49-F238E27FC236}">
                <a16:creationId xmlns:a16="http://schemas.microsoft.com/office/drawing/2014/main" id="{F6B20C6D-6ADA-460F-9B26-85A79253C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300000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4A7A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600" b="1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42" name="Google Shape;42;p4">
            <a:extLst xmlns:a="http://schemas.openxmlformats.org/drawingml/2006/main">
              <a:ext uri="{FF2B5EF4-FFF2-40B4-BE49-F238E27FC236}">
                <a16:creationId xmlns:a16="http://schemas.microsoft.com/office/drawing/2014/main" id="{B11FC845-D9E9-4D1C-B158-0B1D714F2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1263424"/>
            <a:ext cx="7406640" cy="75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450" b="1" i="0" u="none" cap="none">
                <a:solidFill>
                  <a:srgbClr val="1E2447"/>
                </a:solidFill>
                <a:latin typeface="Calibri"/>
                <a:ea typeface="Calibri"/>
                <a:cs typeface="Calibri"/>
              </a:rPr>
              <a:t>Do not equate shared words  —  Advaita pramana generates valid cognition; MD “evidence” often names realised understanding confirmed in life.</a:t>
            </a:r>
          </a:p>
        </p:txBody>
      </p:sp>
      <p:sp>
        <p:nvSpPr>
          <p:cNvPr id="43" name="Google Shape;43;p4">
            <a:extLst xmlns:a="http://schemas.openxmlformats.org/drawingml/2006/main">
              <a:ext uri="{FF2B5EF4-FFF2-40B4-BE49-F238E27FC236}">
                <a16:creationId xmlns:a16="http://schemas.microsoft.com/office/drawing/2014/main" id="{EE088122-A2CD-4442-B5EC-85400DE3D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350000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4A7A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600" b="1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45" name="Google Shape;45;p4">
            <a:extLst xmlns:a="http://schemas.openxmlformats.org/drawingml/2006/main">
              <a:ext uri="{FF2B5EF4-FFF2-40B4-BE49-F238E27FC236}">
                <a16:creationId xmlns:a16="http://schemas.microsoft.com/office/drawing/2014/main" id="{B9624D82-D5FA-407D-A429-15236941B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2313424"/>
            <a:ext cx="7406640" cy="75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450" b="1" i="0" u="none" cap="none">
                <a:solidFill>
                  <a:srgbClr val="1E2447"/>
                </a:solidFill>
                <a:latin typeface="Calibri"/>
                <a:ea typeface="Calibri"/>
                <a:cs typeface="Calibri"/>
              </a:rPr>
              <a:t>Do not equate ethical roles  —  humane conduct is content and evidence in MD; in Advaita discipline prepares and action may express knowledge; science does not derive value from description alone.</a:t>
            </a:r>
          </a:p>
        </p:txBody>
      </p:sp>
      <p:sp>
        <p:nvSpPr>
          <p:cNvPr id="46" name="Google Shape;46;p4">
            <a:extLst xmlns:a="http://schemas.openxmlformats.org/drawingml/2006/main">
              <a:ext uri="{FF2B5EF4-FFF2-40B4-BE49-F238E27FC236}">
                <a16:creationId xmlns:a16="http://schemas.microsoft.com/office/drawing/2014/main" id="{2720550B-4AA8-4846-9E73-F188BDA53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400000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4A7A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600" b="1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48" name="Google Shape;48;p4">
            <a:extLst xmlns:a="http://schemas.openxmlformats.org/drawingml/2006/main">
              <a:ext uri="{FF2B5EF4-FFF2-40B4-BE49-F238E27FC236}">
                <a16:creationId xmlns:a16="http://schemas.microsoft.com/office/drawing/2014/main" id="{D7B59417-B19C-4CF5-AABD-683F6FC95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3363424"/>
            <a:ext cx="7406640" cy="75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450" b="1" i="0" u="none" cap="none">
                <a:solidFill>
                  <a:srgbClr val="1E2447"/>
                </a:solidFill>
                <a:latin typeface="Calibri"/>
                <a:ea typeface="Calibri"/>
                <a:cs typeface="Calibri"/>
              </a:rPr>
              <a:t>Do not substitute evidence across domains  —  post-death persistence, non-duality, ethical transformation, and neural mechanism each require arguments suited to the claim.</a:t>
            </a:r>
          </a:p>
        </p:txBody>
      </p:sp>
      <p:sp>
        <p:nvSpPr>
          <p:cNvPr id="58" name="Google Shape;58;p4">
            <a:extLst xmlns:a="http://schemas.openxmlformats.org/drawingml/2006/main">
              <a:ext uri="{FF2B5EF4-FFF2-40B4-BE49-F238E27FC236}">
                <a16:creationId xmlns:a16="http://schemas.microsoft.com/office/drawing/2014/main" id="{B3DE5DB3-DF75-4ED5-9CBD-3DB3530B2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4450000"/>
            <a:ext cx="7406640" cy="45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1" u="none" cap="none">
                <a:solidFill>
                  <a:srgbClr val="9A6414"/>
                </a:solidFill>
                <a:latin typeface="Calibri"/>
                <a:ea typeface="Calibri"/>
                <a:cs typeface="Calibri"/>
              </a:rPr>
              <a:t>Open questions remain: operational markers of jeevan, non-circular conduct-evidence, witness-to-Brahman inference, and coordination of first- and third-person evidence.  ·  Study §§5–7  ·  11 / 12</a:t>
            </a:r>
          </a:p>
        </p:txBody>
      </p:sp>
    </p:spTree>
    <p:extLst>
      <p:ext uri="{BB962C8B-B14F-4D97-AF65-F5344CB8AC3E}">
        <p14:creationId xmlns:p14="http://schemas.microsoft.com/office/powerpoint/2010/main" val="175942399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E244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9" name="Google Shape;509;p21">
            <a:extLst xmlns:a="http://schemas.openxmlformats.org/drawingml/2006/main">
              <a:ext uri="{FF2B5EF4-FFF2-40B4-BE49-F238E27FC236}">
                <a16:creationId xmlns:a16="http://schemas.microsoft.com/office/drawing/2014/main" id="{4FB85A2A-099A-414A-9422-3B8828DC4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0" y="822960"/>
            <a:ext cx="3291840" cy="329184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5875" cmpd="sng">
            <a:solidFill>
              <a:srgbClr val="44507E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10" name="Google Shape;510;p21">
            <a:extLst xmlns:a="http://schemas.openxmlformats.org/drawingml/2006/main">
              <a:ext uri="{FF2B5EF4-FFF2-40B4-BE49-F238E27FC236}">
                <a16:creationId xmlns:a16="http://schemas.microsoft.com/office/drawing/2014/main" id="{6320C987-42BA-4D26-B8E9-5ECAC8AA5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0528" y="1481328"/>
            <a:ext cx="1975104" cy="1975104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5875" cmpd="sng">
            <a:solidFill>
              <a:srgbClr val="44507E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11" name="Google Shape;511;p21">
            <a:extLst xmlns:a="http://schemas.openxmlformats.org/drawingml/2006/main">
              <a:ext uri="{FF2B5EF4-FFF2-40B4-BE49-F238E27FC236}">
                <a16:creationId xmlns:a16="http://schemas.microsoft.com/office/drawing/2014/main" id="{00020F55-D28C-4073-97A4-F29AFE0B7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0141" y="2040941"/>
            <a:ext cx="855878" cy="85587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821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12" name="Google Shape;512;p21">
            <a:extLst xmlns:a="http://schemas.openxmlformats.org/drawingml/2006/main">
              <a:ext uri="{FF2B5EF4-FFF2-40B4-BE49-F238E27FC236}">
                <a16:creationId xmlns:a16="http://schemas.microsoft.com/office/drawing/2014/main" id="{42DC5DE7-F94B-42C6-9FCD-8076C9EE8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4960" y="3566160"/>
            <a:ext cx="1097280" cy="109728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5875" cmpd="sng">
            <a:solidFill>
              <a:srgbClr val="44507E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13" name="Google Shape;513;p21">
            <a:extLst xmlns:a="http://schemas.openxmlformats.org/drawingml/2006/main">
              <a:ext uri="{FF2B5EF4-FFF2-40B4-BE49-F238E27FC236}">
                <a16:creationId xmlns:a16="http://schemas.microsoft.com/office/drawing/2014/main" id="{3362136E-83B7-49E7-88EB-D7474C2A2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4416" y="3785616"/>
            <a:ext cx="658368" cy="658368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5875" cmpd="sng">
            <a:solidFill>
              <a:srgbClr val="44507E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14" name="Google Shape;514;p21">
            <a:extLst xmlns:a="http://schemas.openxmlformats.org/drawingml/2006/main">
              <a:ext uri="{FF2B5EF4-FFF2-40B4-BE49-F238E27FC236}">
                <a16:creationId xmlns:a16="http://schemas.microsoft.com/office/drawing/2014/main" id="{464F7684-5F04-41CB-8A74-7D300CC8B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954" y="3972154"/>
            <a:ext cx="285293" cy="28529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D4E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15" name="Google Shape;515;p21">
            <a:extLst xmlns:a="http://schemas.openxmlformats.org/drawingml/2006/main">
              <a:ext uri="{FF2B5EF4-FFF2-40B4-BE49-F238E27FC236}">
                <a16:creationId xmlns:a16="http://schemas.microsoft.com/office/drawing/2014/main" id="{C35762A0-8E7E-4035-8F94-9548A7D7D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4023360"/>
            <a:ext cx="731520" cy="73152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5875" cmpd="sng">
            <a:solidFill>
              <a:srgbClr val="44507E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16" name="Google Shape;516;p21">
            <a:extLst xmlns:a="http://schemas.openxmlformats.org/drawingml/2006/main">
              <a:ext uri="{FF2B5EF4-FFF2-40B4-BE49-F238E27FC236}">
                <a16:creationId xmlns:a16="http://schemas.microsoft.com/office/drawing/2014/main" id="{CBCAF54B-4CF2-4CDD-880C-2FE9F861F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4464" y="4169664"/>
            <a:ext cx="438912" cy="438912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5875" cmpd="sng">
            <a:solidFill>
              <a:srgbClr val="44507E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17" name="Google Shape;517;p21">
            <a:extLst xmlns:a="http://schemas.openxmlformats.org/drawingml/2006/main">
              <a:ext uri="{FF2B5EF4-FFF2-40B4-BE49-F238E27FC236}">
                <a16:creationId xmlns:a16="http://schemas.microsoft.com/office/drawing/2014/main" id="{9DF86AA9-4BDE-4C84-81E6-0676825F9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8822" y="4294022"/>
            <a:ext cx="190195" cy="190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D4E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18" name="Google Shape;518;p21">
            <a:extLst xmlns:a="http://schemas.openxmlformats.org/drawingml/2006/main">
              <a:ext uri="{FF2B5EF4-FFF2-40B4-BE49-F238E27FC236}">
                <a16:creationId xmlns:a16="http://schemas.microsoft.com/office/drawing/2014/main" id="{C6E19649-B92B-43DC-BDA2-FFE380782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234440"/>
            <a:ext cx="585216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cap="none">
                <a:solidFill>
                  <a:srgbClr val="C9821E"/>
                </a:solidFill>
                <a:latin typeface="Calibri"/>
                <a:ea typeface="Calibri"/>
                <a:cs typeface="Calibri"/>
              </a:rPr>
              <a:t>COMPARATIVE CONCLUSION</a:t>
            </a:r>
          </a:p>
        </p:txBody>
      </p:sp>
      <p:sp>
        <p:nvSpPr>
          <p:cNvPr id="519" name="Google Shape;519;p21">
            <a:extLst xmlns:a="http://schemas.openxmlformats.org/drawingml/2006/main">
              <a:ext uri="{FF2B5EF4-FFF2-40B4-BE49-F238E27FC236}">
                <a16:creationId xmlns:a16="http://schemas.microsoft.com/office/drawing/2014/main" id="{D0BA75A5-EF97-441A-8D22-E7230E746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572768"/>
            <a:ext cx="557784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4400" b="1" i="0" u="none" cap="none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The Real Dispute Is Now Clear</a:t>
            </a:r>
          </a:p>
        </p:txBody>
      </p:sp>
      <p:sp>
        <p:nvSpPr>
          <p:cNvPr id="520" name="Google Shape;520;p21">
            <a:extLst xmlns:a="http://schemas.openxmlformats.org/drawingml/2006/main">
              <a:ext uri="{FF2B5EF4-FFF2-40B4-BE49-F238E27FC236}">
                <a16:creationId xmlns:a16="http://schemas.microsoft.com/office/drawing/2014/main" id="{5A4AFEEF-A375-4785-A084-77D9213BA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050000"/>
            <a:ext cx="484632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 b="0" i="1" u="none" cap="none">
                <a:solidFill>
                  <a:srgbClr val="C9D4EF"/>
                </a:solidFill>
                <a:latin typeface="Calibri"/>
                <a:ea typeface="Calibri"/>
                <a:cs typeface="Calibri"/>
              </a:rPr>
              <a:t>The traditions differ over what the knower is, whether plurality remains ultimately real, and which forms of evidence can complete a claim to knowledge.</a:t>
            </a:r>
          </a:p>
        </p:txBody>
      </p:sp>
      <p:sp>
        <p:nvSpPr>
          <p:cNvPr id="600" name="Google Shape;600;p21">
            <a:extLst xmlns:a="http://schemas.openxmlformats.org/drawingml/2006/main">
              <a:ext uri="{FF2B5EF4-FFF2-40B4-BE49-F238E27FC236}">
                <a16:creationId xmlns:a16="http://schemas.microsoft.com/office/drawing/2014/main" id="{590CE55E-DD43-41C7-AA38-D8648415B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820000"/>
            <a:ext cx="1128720" cy="7500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3B4A7A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01" name="Google Shape;601;p21">
            <a:extLst xmlns:a="http://schemas.openxmlformats.org/drawingml/2006/main">
              <a:ext uri="{FF2B5EF4-FFF2-40B4-BE49-F238E27FC236}">
                <a16:creationId xmlns:a16="http://schemas.microsoft.com/office/drawing/2014/main" id="{6C56763D-B377-44F0-AAAE-98FAABE48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" y="3902296"/>
            <a:ext cx="964128" cy="32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 u="none" cap="none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MD</a:t>
            </a:r>
          </a:p>
        </p:txBody>
      </p:sp>
      <p:sp>
        <p:nvSpPr>
          <p:cNvPr id="602" name="Google Shape;602;p21">
            <a:extLst xmlns:a="http://schemas.openxmlformats.org/drawingml/2006/main">
              <a:ext uri="{FF2B5EF4-FFF2-40B4-BE49-F238E27FC236}">
                <a16:creationId xmlns:a16="http://schemas.microsoft.com/office/drawing/2014/main" id="{BDEE3FAF-ADA0-446F-8BC9-EAB8772E0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" y="4222296"/>
            <a:ext cx="964128" cy="2654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1" u="none" cap="none">
                <a:solidFill>
                  <a:srgbClr val="C9D4EF"/>
                </a:solidFill>
                <a:latin typeface="Calibri"/>
                <a:ea typeface="Calibri"/>
                <a:cs typeface="Calibri"/>
              </a:rPr>
              <a:t>coherent living</a:t>
            </a:r>
          </a:p>
        </p:txBody>
      </p:sp>
      <p:sp>
        <p:nvSpPr>
          <p:cNvPr id="603" name="Google Shape;603;p21">
            <a:extLst xmlns:a="http://schemas.openxmlformats.org/drawingml/2006/main">
              <a:ext uri="{FF2B5EF4-FFF2-40B4-BE49-F238E27FC236}">
                <a16:creationId xmlns:a16="http://schemas.microsoft.com/office/drawing/2014/main" id="{16E167EE-2B1F-45F5-915F-B9860B144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8800" y="3820000"/>
            <a:ext cx="1128720" cy="7500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3B4A7A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04" name="Google Shape;604;p21">
            <a:extLst xmlns:a="http://schemas.openxmlformats.org/drawingml/2006/main">
              <a:ext uri="{FF2B5EF4-FFF2-40B4-BE49-F238E27FC236}">
                <a16:creationId xmlns:a16="http://schemas.microsoft.com/office/drawing/2014/main" id="{333E855D-FE8F-4100-A0EB-55E495D61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1096" y="3902296"/>
            <a:ext cx="964128" cy="32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 u="none" cap="none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Advaita</a:t>
            </a:r>
          </a:p>
        </p:txBody>
      </p:sp>
      <p:sp>
        <p:nvSpPr>
          <p:cNvPr id="605" name="Google Shape;605;p21">
            <a:extLst xmlns:a="http://schemas.openxmlformats.org/drawingml/2006/main">
              <a:ext uri="{FF2B5EF4-FFF2-40B4-BE49-F238E27FC236}">
                <a16:creationId xmlns:a16="http://schemas.microsoft.com/office/drawing/2014/main" id="{1A7194A9-3F87-43D5-99B4-337E53E6E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1096" y="4222296"/>
            <a:ext cx="964128" cy="2654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1" u="none" cap="none">
                <a:solidFill>
                  <a:srgbClr val="C9D4EF"/>
                </a:solidFill>
                <a:latin typeface="Calibri"/>
                <a:ea typeface="Calibri"/>
                <a:cs typeface="Calibri"/>
              </a:rPr>
              <a:t>non-dual insight</a:t>
            </a:r>
          </a:p>
        </p:txBody>
      </p:sp>
      <p:sp>
        <p:nvSpPr>
          <p:cNvPr id="606" name="Google Shape;606;p21">
            <a:extLst xmlns:a="http://schemas.openxmlformats.org/drawingml/2006/main">
              <a:ext uri="{FF2B5EF4-FFF2-40B4-BE49-F238E27FC236}">
                <a16:creationId xmlns:a16="http://schemas.microsoft.com/office/drawing/2014/main" id="{C3521EAA-AB17-463A-AD9E-49776FAF7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0" y="3820000"/>
            <a:ext cx="1128720" cy="7500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3B4A7A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07" name="Google Shape;607;p21">
            <a:extLst xmlns:a="http://schemas.openxmlformats.org/drawingml/2006/main">
              <a:ext uri="{FF2B5EF4-FFF2-40B4-BE49-F238E27FC236}">
                <a16:creationId xmlns:a16="http://schemas.microsoft.com/office/drawing/2014/main" id="{3B6AC30A-51DD-4511-87D9-DC80BF711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9816" y="3902296"/>
            <a:ext cx="964128" cy="32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 u="none" cap="none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Philosophy</a:t>
            </a:r>
          </a:p>
        </p:txBody>
      </p:sp>
      <p:sp>
        <p:nvSpPr>
          <p:cNvPr id="608" name="Google Shape;608;p21">
            <a:extLst xmlns:a="http://schemas.openxmlformats.org/drawingml/2006/main">
              <a:ext uri="{FF2B5EF4-FFF2-40B4-BE49-F238E27FC236}">
                <a16:creationId xmlns:a16="http://schemas.microsoft.com/office/drawing/2014/main" id="{CE106080-6BC8-4C9D-9828-F961388FE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9816" y="4222296"/>
            <a:ext cx="964128" cy="2654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1" u="none" cap="none">
                <a:solidFill>
                  <a:srgbClr val="C9D4EF"/>
                </a:solidFill>
                <a:latin typeface="Calibri"/>
                <a:ea typeface="Calibri"/>
                <a:cs typeface="Calibri"/>
              </a:rPr>
              <a:t>warrant and experience</a:t>
            </a:r>
          </a:p>
        </p:txBody>
      </p:sp>
      <p:sp>
        <p:nvSpPr>
          <p:cNvPr id="609" name="Google Shape;609;p21">
            <a:extLst xmlns:a="http://schemas.openxmlformats.org/drawingml/2006/main">
              <a:ext uri="{FF2B5EF4-FFF2-40B4-BE49-F238E27FC236}">
                <a16:creationId xmlns:a16="http://schemas.microsoft.com/office/drawing/2014/main" id="{EF3A2139-2F60-4BA2-8F63-0609C91B0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6240" y="3820000"/>
            <a:ext cx="1128720" cy="7500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3B4A7A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10" name="Google Shape;610;p21">
            <a:extLst xmlns:a="http://schemas.openxmlformats.org/drawingml/2006/main">
              <a:ext uri="{FF2B5EF4-FFF2-40B4-BE49-F238E27FC236}">
                <a16:creationId xmlns:a16="http://schemas.microsoft.com/office/drawing/2014/main" id="{18D1C599-E620-41F7-9278-C9C54E537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8536" y="3902296"/>
            <a:ext cx="964128" cy="32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 u="none" cap="none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Science</a:t>
            </a:r>
          </a:p>
        </p:txBody>
      </p:sp>
      <p:sp>
        <p:nvSpPr>
          <p:cNvPr id="611" name="Google Shape;611;p21">
            <a:extLst xmlns:a="http://schemas.openxmlformats.org/drawingml/2006/main">
              <a:ext uri="{FF2B5EF4-FFF2-40B4-BE49-F238E27FC236}">
                <a16:creationId xmlns:a16="http://schemas.microsoft.com/office/drawing/2014/main" id="{5B3F9C4C-34A5-4CA8-8A8B-B7AD787EA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8536" y="4222296"/>
            <a:ext cx="964128" cy="2654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1" u="none" cap="none">
                <a:solidFill>
                  <a:srgbClr val="C9D4EF"/>
                </a:solidFill>
                <a:latin typeface="Calibri"/>
                <a:ea typeface="Calibri"/>
                <a:cs typeface="Calibri"/>
              </a:rPr>
              <a:t>public correction</a:t>
            </a:r>
          </a:p>
        </p:txBody>
      </p:sp>
      <p:sp>
        <p:nvSpPr>
          <p:cNvPr id="522" name="Google Shape;522;p21">
            <a:extLst xmlns:a="http://schemas.openxmlformats.org/drawingml/2006/main">
              <a:ext uri="{FF2B5EF4-FFF2-40B4-BE49-F238E27FC236}">
                <a16:creationId xmlns:a16="http://schemas.microsoft.com/office/drawing/2014/main" id="{BCDF39BB-3829-4443-8D24-A01BD8E33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650000"/>
            <a:ext cx="4754880" cy="45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 u="none" cap="none">
                <a:solidFill>
                  <a:srgbClr val="8E9BC4"/>
                </a:solidFill>
                <a:latin typeface="Calibri"/>
                <a:ea typeface="Calibri"/>
                <a:cs typeface="Calibri"/>
              </a:rPr>
              <a:t>Comparison is strongest when matched levels are preserved and no tradition’s success is allowed to answer a different tradition’s question by substitution.  ·  AnalyticMadhyasthDarshan.org  ·  12 / 12</a:t>
            </a:r>
          </a:p>
        </p:txBody>
      </p:sp>
    </p:spTree>
    <p:extLst>
      <p:ext uri="{BB962C8B-B14F-4D97-AF65-F5344CB8AC3E}">
        <p14:creationId xmlns:p14="http://schemas.microsoft.com/office/powerpoint/2010/main" val="1300301282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2026-07-17T07:19:42.0230000Z</dcterms:created>
  <dcterms:modified xsi:type="dcterms:W3CDTF">2026-07-17T07:19:42.0230000Z</dcterms:modified>
</coreProperties>
</file>