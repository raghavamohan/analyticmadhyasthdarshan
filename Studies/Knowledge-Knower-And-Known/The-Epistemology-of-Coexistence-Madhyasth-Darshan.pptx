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09704a17644889" /><Relationship Type="http://schemas.openxmlformats.org/officeDocument/2006/relationships/extended-properties" Target="/docProps/app.xml" Id="Rfb19c41d101240f3" /><Relationship Type="http://schemas.openxmlformats.org/officeDocument/2006/relationships/officeDocument" Target="/ppt/presentation.xml" Id="R9266ede779954b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f2ce6293304fdf"/>
  </p:sldMasterIdLst>
  <p:notesMasterIdLst>
    <p:notesMasterId xmlns:r="http://schemas.openxmlformats.org/officeDocument/2006/relationships" r:id="Re910150711a94b31"/>
  </p:notesMasterIdLst>
  <p:sldIdLst>
    <p:sldId xmlns:r="http://schemas.openxmlformats.org/officeDocument/2006/relationships" id="256" r:id="R88de15396a7b469e"/>
    <p:sldId xmlns:r="http://schemas.openxmlformats.org/officeDocument/2006/relationships" id="257" r:id="Ra0e73e8df8824e31"/>
    <p:sldId xmlns:r="http://schemas.openxmlformats.org/officeDocument/2006/relationships" id="258" r:id="R613cbb91167c49e1"/>
    <p:sldId xmlns:r="http://schemas.openxmlformats.org/officeDocument/2006/relationships" id="259" r:id="Rb5674eb9416948f6"/>
    <p:sldId xmlns:r="http://schemas.openxmlformats.org/officeDocument/2006/relationships" id="260" r:id="Rabce1cfa6e394b36"/>
    <p:sldId xmlns:r="http://schemas.openxmlformats.org/officeDocument/2006/relationships" id="261" r:id="R1de79eec10764f76"/>
    <p:sldId xmlns:r="http://schemas.openxmlformats.org/officeDocument/2006/relationships" id="262" r:id="Rfe5e3edae0714ff8"/>
    <p:sldId xmlns:r="http://schemas.openxmlformats.org/officeDocument/2006/relationships" id="263" r:id="R2eb474ccd11142a5"/>
    <p:sldId xmlns:r="http://schemas.openxmlformats.org/officeDocument/2006/relationships" id="264" r:id="R422faf82e22e4eab"/>
    <p:sldId xmlns:r="http://schemas.openxmlformats.org/officeDocument/2006/relationships" id="265" r:id="R9d783485b95640b6"/>
    <p:sldId xmlns:r="http://schemas.openxmlformats.org/officeDocument/2006/relationships" id="266" r:id="R94f99743a03540dc"/>
    <p:sldId xmlns:r="http://schemas.openxmlformats.org/officeDocument/2006/relationships" id="267" r:id="R71ba03dacb1741cd"/>
    <p:sldId xmlns:r="http://schemas.openxmlformats.org/officeDocument/2006/relationships" id="268" r:id="R6c1c16ba14de427b"/>
    <p:sldId xmlns:r="http://schemas.openxmlformats.org/officeDocument/2006/relationships" id="269" r:id="Rb1de57b79a4b4810"/>
    <p:sldId xmlns:r="http://schemas.openxmlformats.org/officeDocument/2006/relationships" id="270" r:id="Rde2fa3dfde5d41f0"/>
    <p:sldId xmlns:r="http://schemas.openxmlformats.org/officeDocument/2006/relationships" id="271" r:id="R8674896e760e4939"/>
    <p:sldId xmlns:r="http://schemas.openxmlformats.org/officeDocument/2006/relationships" id="272" r:id="Rd25dedef6f514602"/>
    <p:sldId xmlns:r="http://schemas.openxmlformats.org/officeDocument/2006/relationships" id="273" r:id="R79f41b38d4f74e82"/>
    <p:sldId xmlns:r="http://schemas.openxmlformats.org/officeDocument/2006/relationships" id="274" r:id="Rf1703293b4f84c74"/>
    <p:sldId xmlns:r="http://schemas.openxmlformats.org/officeDocument/2006/relationships" id="275" r:id="R9b8e51aeaa54480a"/>
    <p:sldId xmlns:r="http://schemas.openxmlformats.org/officeDocument/2006/relationships" id="276" r:id="R145f09ce8dec42c3"/>
    <p:sldId xmlns:r="http://schemas.openxmlformats.org/officeDocument/2006/relationships" id="277" r:id="R48f8f9790e9641d0"/>
    <p:sldId xmlns:r="http://schemas.openxmlformats.org/officeDocument/2006/relationships" id="278" r:id="R26be952943164a27"/>
    <p:sldId xmlns:r="http://schemas.openxmlformats.org/officeDocument/2006/relationships" id="279" r:id="R29abe43f37c54b44"/>
    <p:sldId xmlns:r="http://schemas.openxmlformats.org/officeDocument/2006/relationships" id="280" r:id="Reb0913a8526f42ba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6C92A692-798E-4634-90B1-36CD3966BFCB}">
  <a:tblStyle styleId="{6C92A692-798E-4634-90B1-36CD3966BFC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37bfd09ed54a59" /><Relationship Type="http://schemas.openxmlformats.org/officeDocument/2006/relationships/slideMaster" Target="/ppt/slideMasters/slideMaster1.xml" Id="R2af2ce6293304fdf" /><Relationship Type="http://schemas.openxmlformats.org/officeDocument/2006/relationships/notesMaster" Target="/ppt/notesMasters/notesMaster1.xml" Id="Re910150711a94b31" /><Relationship Type="http://schemas.openxmlformats.org/officeDocument/2006/relationships/presProps" Target="/ppt/presProps.xml" Id="R9d3dcb4881444f3d" /><Relationship Type="http://schemas.openxmlformats.org/officeDocument/2006/relationships/viewProps" Target="/ppt/viewProps.xml" Id="R05b659e165ae4b73" /><Relationship Type="http://schemas.openxmlformats.org/officeDocument/2006/relationships/tableStyles" Target="/ppt/tableStyles.xml" Id="Rea4669f253cd4d7e" /><Relationship Type="http://schemas.openxmlformats.org/officeDocument/2006/relationships/slide" Target="/ppt/slides/slide1.xml" Id="R88de15396a7b469e" /><Relationship Type="http://schemas.openxmlformats.org/officeDocument/2006/relationships/slide" Target="/ppt/slides/slide2.xml" Id="Ra0e73e8df8824e31" /><Relationship Type="http://schemas.openxmlformats.org/officeDocument/2006/relationships/slide" Target="/ppt/slides/slide3.xml" Id="R613cbb91167c49e1" /><Relationship Type="http://schemas.openxmlformats.org/officeDocument/2006/relationships/slide" Target="/ppt/slides/slide4.xml" Id="Rb5674eb9416948f6" /><Relationship Type="http://schemas.openxmlformats.org/officeDocument/2006/relationships/slide" Target="/ppt/slides/slide5.xml" Id="Rabce1cfa6e394b36" /><Relationship Type="http://schemas.openxmlformats.org/officeDocument/2006/relationships/slide" Target="/ppt/slides/slide6.xml" Id="R1de79eec10764f76" /><Relationship Type="http://schemas.openxmlformats.org/officeDocument/2006/relationships/slide" Target="/ppt/slides/slide7.xml" Id="Rfe5e3edae0714ff8" /><Relationship Type="http://schemas.openxmlformats.org/officeDocument/2006/relationships/slide" Target="/ppt/slides/slide8.xml" Id="R2eb474ccd11142a5" /><Relationship Type="http://schemas.openxmlformats.org/officeDocument/2006/relationships/slide" Target="/ppt/slides/slide9.xml" Id="R422faf82e22e4eab" /><Relationship Type="http://schemas.openxmlformats.org/officeDocument/2006/relationships/slide" Target="/ppt/slides/slide10.xml" Id="R9d783485b95640b6" /><Relationship Type="http://schemas.openxmlformats.org/officeDocument/2006/relationships/slide" Target="/ppt/slides/slide11.xml" Id="R94f99743a03540dc" /><Relationship Type="http://schemas.openxmlformats.org/officeDocument/2006/relationships/slide" Target="/ppt/slides/slide12.xml" Id="R71ba03dacb1741cd" /><Relationship Type="http://schemas.openxmlformats.org/officeDocument/2006/relationships/slide" Target="/ppt/slides/slide13.xml" Id="R6c1c16ba14de427b" /><Relationship Type="http://schemas.openxmlformats.org/officeDocument/2006/relationships/slide" Target="/ppt/slides/slide14.xml" Id="Rb1de57b79a4b4810" /><Relationship Type="http://schemas.openxmlformats.org/officeDocument/2006/relationships/slide" Target="/ppt/slides/slide15.xml" Id="Rde2fa3dfde5d41f0" /><Relationship Type="http://schemas.openxmlformats.org/officeDocument/2006/relationships/slide" Target="/ppt/slides/slide16.xml" Id="R8674896e760e4939" /><Relationship Type="http://schemas.openxmlformats.org/officeDocument/2006/relationships/slide" Target="/ppt/slides/slide17.xml" Id="Rd25dedef6f514602" /><Relationship Type="http://schemas.openxmlformats.org/officeDocument/2006/relationships/slide" Target="/ppt/slides/slide18.xml" Id="R79f41b38d4f74e82" /><Relationship Type="http://schemas.openxmlformats.org/officeDocument/2006/relationships/slide" Target="/ppt/slides/slide19.xml" Id="Rf1703293b4f84c74" /><Relationship Type="http://schemas.openxmlformats.org/officeDocument/2006/relationships/slide" Target="/ppt/slides/slide20.xml" Id="R9b8e51aeaa54480a" /><Relationship Type="http://schemas.openxmlformats.org/officeDocument/2006/relationships/slide" Target="/ppt/slides/slide21.xml" Id="R145f09ce8dec42c3" /><Relationship Type="http://schemas.openxmlformats.org/officeDocument/2006/relationships/slide" Target="/ppt/slides/slide22.xml" Id="R48f8f9790e9641d0" /><Relationship Type="http://schemas.openxmlformats.org/officeDocument/2006/relationships/slide" Target="/ppt/slides/slide23.xml" Id="R26be952943164a27" /><Relationship Type="http://schemas.openxmlformats.org/officeDocument/2006/relationships/slide" Target="/ppt/slides/slide24.xml" Id="R29abe43f37c54b44" /><Relationship Type="http://schemas.openxmlformats.org/officeDocument/2006/relationships/slide" Target="/ppt/slides/slide25.xml" Id="Reb0913a8526f42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f5aa581092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31a2dc2fa640d4" /><Relationship Type="http://schemas.openxmlformats.org/officeDocument/2006/relationships/notesMaster" Target="/ppt/notesMasters/notesMaster1.xml" Id="R2379a5a9dbf744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d1d3ad84cd45cd" /><Relationship Type="http://schemas.openxmlformats.org/officeDocument/2006/relationships/notesMaster" Target="/ppt/notesMasters/notesMaster1.xml" Id="R2de298e78b8d44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a41498f7cd46ba" /><Relationship Type="http://schemas.openxmlformats.org/officeDocument/2006/relationships/notesMaster" Target="/ppt/notesMasters/notesMaster1.xml" Id="R5a8f65a3c21543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36e070a50b49a9" /><Relationship Type="http://schemas.openxmlformats.org/officeDocument/2006/relationships/notesMaster" Target="/ppt/notesMasters/notesMaster1.xml" Id="R4dc7657974c541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062b93e2564743" /><Relationship Type="http://schemas.openxmlformats.org/officeDocument/2006/relationships/notesMaster" Target="/ppt/notesMasters/notesMaster1.xml" Id="Re7bed0ca893c47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4e2b50ac184c70" /><Relationship Type="http://schemas.openxmlformats.org/officeDocument/2006/relationships/notesMaster" Target="/ppt/notesMasters/notesMaster1.xml" Id="R186d9756fc2940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9ddd956ce8418b" /><Relationship Type="http://schemas.openxmlformats.org/officeDocument/2006/relationships/notesMaster" Target="/ppt/notesMasters/notesMaster1.xml" Id="Rcdae618381dd4a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a314f950f341a7" /><Relationship Type="http://schemas.openxmlformats.org/officeDocument/2006/relationships/notesMaster" Target="/ppt/notesMasters/notesMaster1.xml" Id="R9206746456ab49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64683327a543bf" /><Relationship Type="http://schemas.openxmlformats.org/officeDocument/2006/relationships/notesMaster" Target="/ppt/notesMasters/notesMaster1.xml" Id="Re2edc6037c4c40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c70a3ea95042f5" /><Relationship Type="http://schemas.openxmlformats.org/officeDocument/2006/relationships/notesMaster" Target="/ppt/notesMasters/notesMaster1.xml" Id="Rb6c8be9462a140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b9514e778b423f" /><Relationship Type="http://schemas.openxmlformats.org/officeDocument/2006/relationships/notesMaster" Target="/ppt/notesMasters/notesMaster1.xml" Id="Rb4ec05ed6bca4a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b15ced16be4f25" /><Relationship Type="http://schemas.openxmlformats.org/officeDocument/2006/relationships/notesMaster" Target="/ppt/notesMasters/notesMaster1.xml" Id="Rc6f388ed57514e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4dd35dc1fa141cb" /><Relationship Type="http://schemas.openxmlformats.org/officeDocument/2006/relationships/notesMaster" Target="/ppt/notesMasters/notesMaster1.xml" Id="Rc6bb3b996ba74f7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7182a040a64880" /><Relationship Type="http://schemas.openxmlformats.org/officeDocument/2006/relationships/notesMaster" Target="/ppt/notesMasters/notesMaster1.xml" Id="Rfe267c1ccdfe44a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868b6144474573" /><Relationship Type="http://schemas.openxmlformats.org/officeDocument/2006/relationships/notesMaster" Target="/ppt/notesMasters/notesMaster1.xml" Id="Rc405572901574e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d56aea988f44c8" /><Relationship Type="http://schemas.openxmlformats.org/officeDocument/2006/relationships/notesMaster" Target="/ppt/notesMasters/notesMaster1.xml" Id="Rdfc521d57252436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b80d757b954c2a" /><Relationship Type="http://schemas.openxmlformats.org/officeDocument/2006/relationships/notesMaster" Target="/ppt/notesMasters/notesMaster1.xml" Id="Rf1ad7adc28af44a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b68541a57154b6c" /><Relationship Type="http://schemas.openxmlformats.org/officeDocument/2006/relationships/notesMaster" Target="/ppt/notesMasters/notesMaster1.xml" Id="Rd622de0a53bf493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1825e5e8344349" /><Relationship Type="http://schemas.openxmlformats.org/officeDocument/2006/relationships/notesMaster" Target="/ppt/notesMasters/notesMaster1.xml" Id="R778ea36151484a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64242a72bd44cf5" /><Relationship Type="http://schemas.openxmlformats.org/officeDocument/2006/relationships/notesMaster" Target="/ppt/notesMasters/notesMaster1.xml" Id="Ra2229c6d242944f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1fdbe2f791d4aa2" /><Relationship Type="http://schemas.openxmlformats.org/officeDocument/2006/relationships/notesMaster" Target="/ppt/notesMasters/notesMaster1.xml" Id="Rb96081bb293b43c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eb656d9bc494e3c" /><Relationship Type="http://schemas.openxmlformats.org/officeDocument/2006/relationships/notesMaster" Target="/ppt/notesMasters/notesMaster1.xml" Id="R2bd4ee971b4c447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e788a4e83044fa7" /><Relationship Type="http://schemas.openxmlformats.org/officeDocument/2006/relationships/notesMaster" Target="/ppt/notesMasters/notesMaster1.xml" Id="R321c54d1e3f34b8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78be30c919042f9" /><Relationship Type="http://schemas.openxmlformats.org/officeDocument/2006/relationships/notesMaster" Target="/ppt/notesMasters/notesMaster1.xml" Id="R963ffbbcb857433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2126ebc725e460e" /><Relationship Type="http://schemas.openxmlformats.org/officeDocument/2006/relationships/notesMaster" Target="/ppt/notesMasters/notesMaster1.xml" Id="Rdd00b36f8b4c43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Open with the distinction between information and realised understanding. This deck presents the Madhyasth Darshan account on its own terms; comparison is reserved for the companion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sequence moves from definition, through the activity of the knower, to evidence in life. Keep these three movements in view as the deck develops.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These six questions prevent the discussion from reducing epistemology to a definition of belief. Each returns in the closing synthesis.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Distinguish pervasive gyan from the activity of knowing. Omnipresence is the condition of intelligibility; jeevan is the active knower.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Complete knowledge has three inseparable contents. The third content—humane conduct—means that epistemology already includes relationship and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terms remain distinct. Jeevan knows, coexistence is known, and knowledge is the realised relation that becomes evident in life.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known includes physical, intellectual, and coexistential domains. These are connected scopes, not mutually exclusive compartments.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These linked triads make the active structure of knowing explicit. They connect perspective to attention, purpose to means, and action to consequence.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slide replaces the former dense ten-activity diagram. Read from mun and vritti toward buddhi and atma as a direction of deepening reflection, not as a spatial ladder.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Projection does not mean mere expression of a private idea. It makes understanding answerable to action, relationship, work, and communication.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State explicitly that this four-term loop is a pedagogical synthesis, not a separate canonical taxonomy. The primary terms are the ten activities and their two directions.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Jeevan is the sentient bearer, while the body mediates signals and action. The precise causal interaction between jeevan and brain remains an open explanatory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faculties do not vanish in delusion. Their reach is restricted, producing the four-and-a-half-activity condition and contradiction between aspiration and conduct.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 evaluation visible as the fifth movement after knowing, believing, recognising, and fulfilling. Mutual satisfaction is assessed, not assumed.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 action cannot be evaluated from intention alone. Doer, cause, objective, result, and effect jointly define the epistemic structure of karma.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Result is evidence because it returns to the knower through evaluation. Repeated evaluation shapes sanskar without constitutionally fixing human conduct.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Correct the earlier overstatement: enjoyer-status is fruition or experienced result. Mutual satisfaction describes the awakened, mutually fulfilling case.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Madhyasth Darshan broadens evidence beyond private realisation, but successful conduct does not automatically prove every ontological claim. Coherence is required across domains.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a conceptual correction. The source describes three routes of cognition; realisation is the integrating criterion and culmination, not a parallel fourth route.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Guidance may orient attention, but deference cannot establish truth. Transmission succeeds only when the learner can understand, live, evaluate, and convey independently.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Different failures enter at different points: body-identification, incomplete understanding of form through dharma, and breakdown between realisation and projection.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Madhyasth Darshan completes the triad without dissolving plurality. Jeevan remains a distinct active knower within real coexistence.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evidential boundary directly. Post-death persistence is affirmed in primary texts, but it is not independently established by contemporary public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to the six opening questions. The answer is a coordinated field rather than six isolated definitions.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Close on the civilisational reach of the account. The claim is not inherited belief, but renewable understanding evidenced in persons, families, society, and nature.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13b8da67484f85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e4af9c7c824588" /><Relationship Type="http://schemas.openxmlformats.org/officeDocument/2006/relationships/slideLayout" Target="/ppt/slideLayouts/slideLayout1.xml" Id="Rfc982f751a78418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982f751a784182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7caebd3a14439" /><Relationship Type="http://schemas.openxmlformats.org/officeDocument/2006/relationships/notesSlide" Target="/ppt/notesSlides/notesSlide1.xml" Id="Ra62af49205a44e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4d375f7da4a0b" /><Relationship Type="http://schemas.openxmlformats.org/officeDocument/2006/relationships/notesSlide" Target="/ppt/notesSlides/notesSlide2.xml" Id="Rc9078eb21a4e46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281121c7145dd" /><Relationship Type="http://schemas.openxmlformats.org/officeDocument/2006/relationships/image" Target="/ppt/media/image.png" Id="R90b0a71d55af4267" /><Relationship Type="http://schemas.openxmlformats.org/officeDocument/2006/relationships/notesSlide" Target="/ppt/notesSlides/notesSlide3.xml" Id="R99a17963d1d34d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0dc17c2b34e55" /><Relationship Type="http://schemas.openxmlformats.org/officeDocument/2006/relationships/notesSlide" Target="/ppt/notesSlides/notesSlide4.xml" Id="Rbd820bc4e03c47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e103d4bb54c85" /><Relationship Type="http://schemas.openxmlformats.org/officeDocument/2006/relationships/image" Target="/ppt/media/image2.png" Id="R904e13f4528a4671" /><Relationship Type="http://schemas.openxmlformats.org/officeDocument/2006/relationships/image" Target="/ppt/media/image3.png" Id="Rd7c411b495c6473f" /><Relationship Type="http://schemas.openxmlformats.org/officeDocument/2006/relationships/image" Target="/ppt/media/image4.png" Id="Rec2e6fd657be42ce" /><Relationship Type="http://schemas.openxmlformats.org/officeDocument/2006/relationships/notesSlide" Target="/ppt/notesSlides/notesSlide5.xml" Id="Re725e1bed79248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c2e586f764dcd" /><Relationship Type="http://schemas.openxmlformats.org/officeDocument/2006/relationships/notesSlide" Target="/ppt/notesSlides/notesSlide6.xml" Id="R3539e49db37245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1fa40ddb84e28" /><Relationship Type="http://schemas.openxmlformats.org/officeDocument/2006/relationships/image" Target="/ppt/media/image2.png" Id="R680ea0bc1b1a410d" /><Relationship Type="http://schemas.openxmlformats.org/officeDocument/2006/relationships/image" Target="/ppt/media/image3.png" Id="Rcef0530b20e246b1" /><Relationship Type="http://schemas.openxmlformats.org/officeDocument/2006/relationships/image" Target="/ppt/media/image4.png" Id="Rabad7f0402bb41f1" /><Relationship Type="http://schemas.openxmlformats.org/officeDocument/2006/relationships/notesSlide" Target="/ppt/notesSlides/notesSlide7.xml" Id="R45478ae253e14a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866b49b4f4c9f" /><Relationship Type="http://schemas.openxmlformats.org/officeDocument/2006/relationships/notesSlide" Target="/ppt/notesSlides/notesSlide8.xml" Id="Rae79c82e85554b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88efb575f47b3" /><Relationship Type="http://schemas.openxmlformats.org/officeDocument/2006/relationships/notesSlide" Target="/ppt/notesSlides/notesSlide9.xml" Id="Rd5ed76cc459b49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51cc31e2d4055" /><Relationship Type="http://schemas.openxmlformats.org/officeDocument/2006/relationships/notesSlide" Target="/ppt/notesSlides/notesSlide10.xml" Id="Rb0e2739c9ed840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40dd1c3174082" /><Relationship Type="http://schemas.openxmlformats.org/officeDocument/2006/relationships/notesSlide" Target="/ppt/notesSlides/notesSlide11.xml" Id="R14ba57e2295341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2585450cc4a17" /><Relationship Type="http://schemas.openxmlformats.org/officeDocument/2006/relationships/notesSlide" Target="/ppt/notesSlides/notesSlide12.xml" Id="R7d4ded2b9bb14a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93a66bbe34ca3" /><Relationship Type="http://schemas.openxmlformats.org/officeDocument/2006/relationships/notesSlide" Target="/ppt/notesSlides/notesSlide13.xml" Id="R1a21bc9edb8746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04903b99842bb" /><Relationship Type="http://schemas.openxmlformats.org/officeDocument/2006/relationships/notesSlide" Target="/ppt/notesSlides/notesSlide14.xml" Id="Raa1d948328c343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fe3c2ae1d4804" /><Relationship Type="http://schemas.openxmlformats.org/officeDocument/2006/relationships/notesSlide" Target="/ppt/notesSlides/notesSlide15.xml" Id="Reeeccc72613e483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73ba635c34555" /><Relationship Type="http://schemas.openxmlformats.org/officeDocument/2006/relationships/notesSlide" Target="/ppt/notesSlides/notesSlide16.xml" Id="R83e3a95b73a84cc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ad3216e3d4216" /><Relationship Type="http://schemas.openxmlformats.org/officeDocument/2006/relationships/notesSlide" Target="/ppt/notesSlides/notesSlide17.xml" Id="R57a2c9965a494a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247313dc94748" /><Relationship Type="http://schemas.openxmlformats.org/officeDocument/2006/relationships/notesSlide" Target="/ppt/notesSlides/notesSlide18.xml" Id="R2a9720bb9b544c2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bd08b8bb44ab4" /><Relationship Type="http://schemas.openxmlformats.org/officeDocument/2006/relationships/notesSlide" Target="/ppt/notesSlides/notesSlide19.xml" Id="R9e4084d423c049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47a787d5345cd" /><Relationship Type="http://schemas.openxmlformats.org/officeDocument/2006/relationships/notesSlide" Target="/ppt/notesSlides/notesSlide20.xml" Id="R9086f61f41dd448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4152d1f464a14" /><Relationship Type="http://schemas.openxmlformats.org/officeDocument/2006/relationships/notesSlide" Target="/ppt/notesSlides/notesSlide21.xml" Id="R3f0cfd451af343c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cb23effa4436d" /><Relationship Type="http://schemas.openxmlformats.org/officeDocument/2006/relationships/notesSlide" Target="/ppt/notesSlides/notesSlide22.xml" Id="Raddc8148b076426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d56cafb1a44ab" /><Relationship Type="http://schemas.openxmlformats.org/officeDocument/2006/relationships/notesSlide" Target="/ppt/notesSlides/notesSlide23.xml" Id="R9a7414c35b6e484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99aab21dd43cd" /><Relationship Type="http://schemas.openxmlformats.org/officeDocument/2006/relationships/image" Target="/ppt/media/image.png" Id="R53758adcbaf34a94" /><Relationship Type="http://schemas.openxmlformats.org/officeDocument/2006/relationships/notesSlide" Target="/ppt/notesSlides/notesSlide24.xml" Id="R1ab2f139745240a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fa9241a674359" /><Relationship Type="http://schemas.openxmlformats.org/officeDocument/2006/relationships/notesSlide" Target="/ppt/notesSlides/notesSlide25.xml" Id="Rd64e09cc88844d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4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75FE6B61-565A-45A6-9540-7722013F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822960"/>
            <a:ext cx="3291840" cy="32918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21A78B37-5288-4B37-8F01-A4632A2A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481328"/>
            <a:ext cx="1975104" cy="197510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35274BF8-B136-4D9F-A722-CB80B18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141" y="2040941"/>
            <a:ext cx="855878" cy="85587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08D5B1CE-A9B3-4D60-8397-374BC198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566160"/>
            <a:ext cx="1097280" cy="10972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2F9A6F27-EBE0-4C3A-BD5B-51E23FBC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3785616"/>
            <a:ext cx="658368" cy="6583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6F589193-5AE3-467F-9960-71BEAF11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954" y="3972154"/>
            <a:ext cx="285293" cy="2852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47EB0975-A9FD-4414-A496-C262C830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023360"/>
            <a:ext cx="731520" cy="7315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EBFFAFDE-264C-438B-A02F-85F9E50F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4169664"/>
            <a:ext cx="438912" cy="43891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52047E37-4816-41A7-B1A8-5ED7B16C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8822" y="4294022"/>
            <a:ext cx="190195" cy="1901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6BC522C1-F2B8-42B0-BD23-EBBB4C5C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5852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MADHYASTH DARSHAN  ·  CO-EXISTENTIALISM</a:t>
            </a:r>
          </a:p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7A64A12-D1A5-441F-AA82-AF514D30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557784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Epistemology of Coexistence</a:t>
            </a:r>
          </a:p>
        </p:txBody>
      </p:sp>
      <p:sp>
        <p:nvSpPr>
          <p:cNvPr id="27" name="Google Shape;27;p3">
            <a:extLst xmlns:a="http://schemas.openxmlformats.org/drawingml/2006/main">
              <a:ext uri="{FF2B5EF4-FFF2-40B4-BE49-F238E27FC236}">
                <a16:creationId xmlns:a16="http://schemas.microsoft.com/office/drawing/2014/main" id="{E7C7DAAD-F163-4083-A316-3C74C158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484632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Knowledge, knower, and known — understanding completed in humane conduct</a:t>
            </a:r>
          </a:p>
        </p:txBody>
      </p:sp>
      <p:sp>
        <p:nvSpPr>
          <p:cNvPr id="28" name="Google Shape;28;p3">
            <a:extLst xmlns:a="http://schemas.openxmlformats.org/drawingml/2006/main">
              <a:ext uri="{FF2B5EF4-FFF2-40B4-BE49-F238E27FC236}">
                <a16:creationId xmlns:a16="http://schemas.microsoft.com/office/drawing/2014/main" id="{458FAD9F-55D3-4855-B3DD-E51566B8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8E9BC4"/>
                </a:solidFill>
                <a:latin typeface="Calibri"/>
                <a:ea typeface="Calibri"/>
                <a:cs typeface="Calibri"/>
              </a:rPr>
              <a:t>Based on Knowledge, Knower, and Known (AnalyticMadhyasthDarshan.org)</a:t>
            </a:r>
          </a:p>
        </p:txBody>
      </p:sp>
      <p:sp>
        <p:nvSpPr>
          <p:cNvPr id="29" name="Google Shape;29;p3">
            <a:extLst xmlns:a="http://schemas.openxmlformats.org/drawingml/2006/main">
              <a:ext uri="{FF2B5EF4-FFF2-40B4-BE49-F238E27FC236}">
                <a16:creationId xmlns:a16="http://schemas.microsoft.com/office/drawing/2014/main" id="{DB10076E-E334-428A-B2C0-66347245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34840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8E9BC4"/>
                </a:solidFill>
                <a:latin typeface="Calibri"/>
                <a:ea typeface="Calibri"/>
                <a:cs typeface="Calibri"/>
              </a:rPr>
              <a:t>Primary texts of Shri A. Nagraj — MVD · KD · SB · JV (tr. Rakesh Gupta)  ·  1 / 25</a:t>
            </a:r>
          </a:p>
        </p:txBody>
      </p:sp>
    </p:spTree>
    <p:extLst>
      <p:ext uri="{BB962C8B-B14F-4D97-AF65-F5344CB8AC3E}">
        <p14:creationId xmlns:p14="http://schemas.microsoft.com/office/powerpoint/2010/main" val="9888984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554B6713-B2DC-4514-B452-C9EBA3EA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9E98C951-C4B9-46BD-B3FC-D1161DB4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AFD3403-A263-4222-9AFC-851DC610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39C9F7D7-11F2-4589-AF3E-2A09E52C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ORIENTATION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6286B2DB-0BEF-47B8-861A-3369C43B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The Argument in Three Movements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F6B20C6D-6ADA-460F-9B26-85A79253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B11FC845-D9E9-4D1C-B158-0B1D714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2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knowledge is, and what it must include  —  realised understanding of coexistence, jeevan, and humane conduct; not information or conviction alone.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EE088122-A2CD-4442-B5EC-85400DE3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9624D82-D5FA-407D-A429-15236941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1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jeevan knows  —  ten coordinated activities, working inward as reflection and outward as projection through the human joint form.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2720550B-4AA8-4846-9E73-F188BDA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D7B59417-B19C-4CF5-AABD-683F6FC9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3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understanding becomes evidence  —  action, result, evaluation, behaviour, experiment, conveyance, and participation in orderliness.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B3DE5DB3-DF75-4ED5-9CBD-3DB3530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450000"/>
            <a:ext cx="740664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One claim carries all three: knowledge becomes complete only when knower, known, and lived evidence become mutually coherent.  ·  AnalyticMadhyasthDarshan.org  ·  2 / 25</a:t>
            </a:r>
          </a:p>
        </p:txBody>
      </p:sp>
    </p:spTree>
    <p:extLst>
      <p:ext uri="{BB962C8B-B14F-4D97-AF65-F5344CB8AC3E}">
        <p14:creationId xmlns:p14="http://schemas.microsoft.com/office/powerpoint/2010/main" val="17594239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903B402E-185B-4C4D-A4E6-72A03529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F3D08866-7E78-40FF-A350-E3B8685B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9647318-3FE3-4554-B311-76A3824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60EB398F-2D64-4689-80C8-FFAD943A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FRAMING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2C1BECA4-232C-44E0-ADD0-ED7D91B9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The Questions Epistemology Must Answer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4960A84B-3100-434B-B8D0-2A9D70A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2529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1" name="Google Shape;41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b0a71d55af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32039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C5183355-C64A-436B-9092-2356796F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18872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knowledge?  —  Is it information, belief, experience, realised understanding, or all of these in a definite relation?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A1DDA8B7-E5B2-41B4-A0A6-6CA140FF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9222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4" name="Google Shape;44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b0a71d55af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887322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75C9CE6-CD3C-43FD-83E0-886C1478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755648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Who is the knower?  —  What persists as the bearer of attention, thought, resolve, realisation, and evaluation?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EDD1C9F9-79A8-4EDE-B88A-91BA496F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915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7" name="Google Shape;47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b0a71d55af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2454250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96389C9D-9FE0-4778-A3DB-FE60F901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22576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known?  —  Is the object only an external thing, or the whole field of coexistence, self, relationship, and conduct?</a:t>
            </a:r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8E5D7A1C-B4D5-4C25-AEC3-0809D732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0" name="Google Shape;50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b0a71d55af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021178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B1591BAD-E6A7-457C-A811-88AF0B5B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89504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does knowing occur?  —  Through which activities, means, disciplines, and embodied conditions does understanding mature?</a:t>
            </a:r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FAC8FF81-4EF9-4BA4-B8E6-1B994F7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9300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3" name="Google Shape;53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b0a71d55af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588106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4">
            <a:extLst xmlns:a="http://schemas.openxmlformats.org/drawingml/2006/main">
              <a:ext uri="{FF2B5EF4-FFF2-40B4-BE49-F238E27FC236}">
                <a16:creationId xmlns:a16="http://schemas.microsoft.com/office/drawing/2014/main" id="{88A8438F-C330-4A48-9673-52C9074A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56432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is error possible?  —  Where do delusion, false learning, contradiction, and mis-evaluation enter the process?</a:t>
            </a:r>
          </a:p>
        </p:txBody>
      </p:sp>
      <p:sp>
        <p:nvSpPr>
          <p:cNvPr id="55" name="Google Shape;55;p4">
            <a:extLst xmlns:a="http://schemas.openxmlformats.org/drawingml/2006/main">
              <a:ext uri="{FF2B5EF4-FFF2-40B4-BE49-F238E27FC236}">
                <a16:creationId xmlns:a16="http://schemas.microsoft.com/office/drawing/2014/main" id="{8CF393A7-5751-428A-9C15-0EBA54A2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5993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Google Shape;56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b0a71d55af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415503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4">
            <a:extLst xmlns:a="http://schemas.openxmlformats.org/drawingml/2006/main">
              <a:ext uri="{FF2B5EF4-FFF2-40B4-BE49-F238E27FC236}">
                <a16:creationId xmlns:a16="http://schemas.microsoft.com/office/drawing/2014/main" id="{69FE7F80-11B5-4B7E-A5BC-C73663BD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2336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counts as evidence?  —  How must realisation face action, result, public conduct, experiment, and transmission?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79C1811C-EDE3-41ED-8DB3-4090B52E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645152"/>
            <a:ext cx="740664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Madhyasth Darshan answers all six by joining ontology, active selfhood, conduct, and consequence.  ·  AnalyticMadhyasthDarshan.org  ·  3 / 25</a:t>
            </a:r>
          </a:p>
        </p:txBody>
      </p:sp>
    </p:spTree>
    <p:extLst>
      <p:ext uri="{BB962C8B-B14F-4D97-AF65-F5344CB8AC3E}">
        <p14:creationId xmlns:p14="http://schemas.microsoft.com/office/powerpoint/2010/main" val="1531490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">
            <a:extLst xmlns:a="http://schemas.openxmlformats.org/drawingml/2006/main">
              <a:ext uri="{FF2B5EF4-FFF2-40B4-BE49-F238E27FC236}">
                <a16:creationId xmlns:a16="http://schemas.microsoft.com/office/drawing/2014/main" id="{620A3F0D-015F-48E9-A9C2-57629DC8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65;p5">
            <a:extLst xmlns:a="http://schemas.openxmlformats.org/drawingml/2006/main">
              <a:ext uri="{FF2B5EF4-FFF2-40B4-BE49-F238E27FC236}">
                <a16:creationId xmlns:a16="http://schemas.microsoft.com/office/drawing/2014/main" id="{271F7A08-310C-4AD5-BECC-525C35D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5">
            <a:extLst xmlns:a="http://schemas.openxmlformats.org/drawingml/2006/main">
              <a:ext uri="{FF2B5EF4-FFF2-40B4-BE49-F238E27FC236}">
                <a16:creationId xmlns:a16="http://schemas.microsoft.com/office/drawing/2014/main" id="{57C6BE5D-A6F5-46FE-8EFC-70C7CEF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5">
            <a:extLst xmlns:a="http://schemas.openxmlformats.org/drawingml/2006/main">
              <a:ext uri="{FF2B5EF4-FFF2-40B4-BE49-F238E27FC236}">
                <a16:creationId xmlns:a16="http://schemas.microsoft.com/office/drawing/2014/main" id="{49BA7092-6215-4D55-B630-440D9EB3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§1.1 · PERVASIVE KNOWLEDGE AND ACTIVE KNOWING</a:t>
            </a:r>
          </a:p>
        </p:txBody>
      </p:sp>
      <p:sp>
        <p:nvSpPr>
          <p:cNvPr id="68" name="Google Shape;68;p5">
            <a:extLst xmlns:a="http://schemas.openxmlformats.org/drawingml/2006/main">
              <a:ext uri="{FF2B5EF4-FFF2-40B4-BE49-F238E27FC236}">
                <a16:creationId xmlns:a16="http://schemas.microsoft.com/office/drawing/2014/main" id="{5528EFA1-C751-481C-95A7-342329DF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 Is Realised Understanding</a:t>
            </a:r>
          </a:p>
        </p:txBody>
      </p:sp>
      <p:sp>
        <p:nvSpPr>
          <p:cNvPr id="69" name="Google Shape;69;p5">
            <a:extLst xmlns:a="http://schemas.openxmlformats.org/drawingml/2006/main">
              <a:ext uri="{FF2B5EF4-FFF2-40B4-BE49-F238E27FC236}">
                <a16:creationId xmlns:a16="http://schemas.microsoft.com/office/drawing/2014/main" id="{7081440E-2C7A-4D94-8652-308B49F5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4160520" cy="3474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Pervasive gyan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Coexistence is orderly and available for understanding because every unit is saturated in Omnipresence. Calling Omnipresence Knowledge names this all-pervasive ground; it does not make the ground a perceiving subject.</a:t>
            </a:r>
          </a:p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Knowledge unfolding</a:t>
            </a:r>
          </a:p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Active knowing occurs in jeevan. Gyan-udghatan is the unfolding of what is understood through an awakened human being — in thought, evaluation, behaviour, work, and communication.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Completion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Human knowledge is realised understanding expressed as knowledge, wisdom, and science. It is complete when reality, self, relationship, and conduct are understood together.</a:t>
            </a:r>
          </a:p>
        </p:txBody>
      </p:sp>
      <p:sp>
        <p:nvSpPr>
          <p:cNvPr id="70" name="Google Shape;70;p5">
            <a:extLst xmlns:a="http://schemas.openxmlformats.org/drawingml/2006/main">
              <a:ext uri="{FF2B5EF4-FFF2-40B4-BE49-F238E27FC236}">
                <a16:creationId xmlns:a16="http://schemas.microsoft.com/office/drawing/2014/main" id="{D3B9C202-8127-4641-B67E-E8B81D90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280160"/>
            <a:ext cx="3566160" cy="324612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5">
            <a:extLst xmlns:a="http://schemas.openxmlformats.org/drawingml/2006/main">
              <a:ext uri="{FF2B5EF4-FFF2-40B4-BE49-F238E27FC236}">
                <a16:creationId xmlns:a16="http://schemas.microsoft.com/office/drawing/2014/main" id="{41A2BB60-5764-487C-835E-60A4528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417320"/>
            <a:ext cx="3566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COEXISTENCE — reality available for understanding</a:t>
            </a:r>
          </a:p>
        </p:txBody>
      </p:sp>
      <p:sp>
        <p:nvSpPr>
          <p:cNvPr id="72" name="Google Shape;72;p5">
            <a:extLst xmlns:a="http://schemas.openxmlformats.org/drawingml/2006/main">
              <a:ext uri="{FF2B5EF4-FFF2-40B4-BE49-F238E27FC236}">
                <a16:creationId xmlns:a16="http://schemas.microsoft.com/office/drawing/2014/main" id="{E8130BA5-50DA-47D7-B519-A60CBC44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965960"/>
            <a:ext cx="1051560" cy="10515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Google Shape;73;p5">
            <a:extLst xmlns:a="http://schemas.openxmlformats.org/drawingml/2006/main">
              <a:ext uri="{FF2B5EF4-FFF2-40B4-BE49-F238E27FC236}">
                <a16:creationId xmlns:a16="http://schemas.microsoft.com/office/drawing/2014/main" id="{105E6401-F458-4935-9F23-C1578F30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176272"/>
            <a:ext cx="630936" cy="63093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74;p5">
            <a:extLst xmlns:a="http://schemas.openxmlformats.org/drawingml/2006/main">
              <a:ext uri="{FF2B5EF4-FFF2-40B4-BE49-F238E27FC236}">
                <a16:creationId xmlns:a16="http://schemas.microsoft.com/office/drawing/2014/main" id="{0CBBC975-6450-4784-82AA-2F3F9EFA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757" y="2355037"/>
            <a:ext cx="273406" cy="27340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5" name="Google Shape;75;p5">
            <a:extLst xmlns:a="http://schemas.openxmlformats.org/drawingml/2006/main">
              <a:ext uri="{FF2B5EF4-FFF2-40B4-BE49-F238E27FC236}">
                <a16:creationId xmlns:a16="http://schemas.microsoft.com/office/drawing/2014/main" id="{BDCA68E4-4180-484D-BDA3-28BD349A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240280"/>
            <a:ext cx="777240" cy="7772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" name="Google Shape;76;p5">
            <a:extLst xmlns:a="http://schemas.openxmlformats.org/drawingml/2006/main">
              <a:ext uri="{FF2B5EF4-FFF2-40B4-BE49-F238E27FC236}">
                <a16:creationId xmlns:a16="http://schemas.microsoft.com/office/drawing/2014/main" id="{DCDF7540-3A46-4AC9-BA63-9A6A421E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728" y="2395728"/>
            <a:ext cx="466344" cy="46634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" name="Google Shape;77;p5">
            <a:extLst xmlns:a="http://schemas.openxmlformats.org/drawingml/2006/main">
              <a:ext uri="{FF2B5EF4-FFF2-40B4-BE49-F238E27FC236}">
                <a16:creationId xmlns:a16="http://schemas.microsoft.com/office/drawing/2014/main" id="{02636DAF-5D87-4351-87A5-E8372A65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9859" y="2527859"/>
            <a:ext cx="202082" cy="2020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Google Shape;78;p5">
            <a:extLst xmlns:a="http://schemas.openxmlformats.org/drawingml/2006/main">
              <a:ext uri="{FF2B5EF4-FFF2-40B4-BE49-F238E27FC236}">
                <a16:creationId xmlns:a16="http://schemas.microsoft.com/office/drawing/2014/main" id="{4CCBA736-6A70-436C-AE42-360E1697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783080"/>
            <a:ext cx="566928" cy="56692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5">
            <a:extLst xmlns:a="http://schemas.openxmlformats.org/drawingml/2006/main">
              <a:ext uri="{FF2B5EF4-FFF2-40B4-BE49-F238E27FC236}">
                <a16:creationId xmlns:a16="http://schemas.microsoft.com/office/drawing/2014/main" id="{8EA360F2-8585-4EA8-92B5-6B041738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626" y="1896466"/>
            <a:ext cx="340157" cy="34015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Google Shape;80;p5">
            <a:extLst xmlns:a="http://schemas.openxmlformats.org/drawingml/2006/main">
              <a:ext uri="{FF2B5EF4-FFF2-40B4-BE49-F238E27FC236}">
                <a16:creationId xmlns:a16="http://schemas.microsoft.com/office/drawing/2014/main" id="{B5993674-EA2C-48AF-BE49-A7CCCD2A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003" y="1992843"/>
            <a:ext cx="147401" cy="1474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1" name="Google Shape;81;p5">
            <a:extLst xmlns:a="http://schemas.openxmlformats.org/drawingml/2006/main">
              <a:ext uri="{FF2B5EF4-FFF2-40B4-BE49-F238E27FC236}">
                <a16:creationId xmlns:a16="http://schemas.microsoft.com/office/drawing/2014/main" id="{AB12E27E-7676-41EE-A930-60BE592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00400"/>
            <a:ext cx="658368" cy="6583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5">
            <a:extLst xmlns:a="http://schemas.openxmlformats.org/drawingml/2006/main">
              <a:ext uri="{FF2B5EF4-FFF2-40B4-BE49-F238E27FC236}">
                <a16:creationId xmlns:a16="http://schemas.microsoft.com/office/drawing/2014/main" id="{F69F7BC8-1B98-4878-946D-406CDF55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714" y="3332074"/>
            <a:ext cx="395021" cy="39502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5">
            <a:extLst xmlns:a="http://schemas.openxmlformats.org/drawingml/2006/main">
              <a:ext uri="{FF2B5EF4-FFF2-40B4-BE49-F238E27FC236}">
                <a16:creationId xmlns:a16="http://schemas.microsoft.com/office/drawing/2014/main" id="{3A4ADB5D-BD89-4437-BCA9-EC46107B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636" y="3443996"/>
            <a:ext cx="171176" cy="1711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5">
            <a:extLst xmlns:a="http://schemas.openxmlformats.org/drawingml/2006/main">
              <a:ext uri="{FF2B5EF4-FFF2-40B4-BE49-F238E27FC236}">
                <a16:creationId xmlns:a16="http://schemas.microsoft.com/office/drawing/2014/main" id="{B0D2FCF2-4191-4330-8918-CDD31DDE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46120"/>
            <a:ext cx="896112" cy="89611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5">
            <a:extLst xmlns:a="http://schemas.openxmlformats.org/drawingml/2006/main">
              <a:ext uri="{FF2B5EF4-FFF2-40B4-BE49-F238E27FC236}">
                <a16:creationId xmlns:a16="http://schemas.microsoft.com/office/drawing/2014/main" id="{A713010E-42C8-4812-BF2E-5601E420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422" y="3425342"/>
            <a:ext cx="537667" cy="53766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5A68A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86;p5">
            <a:extLst xmlns:a="http://schemas.openxmlformats.org/drawingml/2006/main">
              <a:ext uri="{FF2B5EF4-FFF2-40B4-BE49-F238E27FC236}">
                <a16:creationId xmlns:a16="http://schemas.microsoft.com/office/drawing/2014/main" id="{CBE0A6D6-37DB-40A2-B20A-EAB55EFA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1" y="3577681"/>
            <a:ext cx="232989" cy="2329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87;p5">
            <a:extLst xmlns:a="http://schemas.openxmlformats.org/drawingml/2006/main">
              <a:ext uri="{FF2B5EF4-FFF2-40B4-BE49-F238E27FC236}">
                <a16:creationId xmlns:a16="http://schemas.microsoft.com/office/drawing/2014/main" id="{A2E213D6-0082-4DA4-B58E-76B4CDE9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1480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knowledge is pervasive; knowing is an activity of jeevan; evidence appears through the human joint form</a:t>
            </a:r>
          </a:p>
        </p:txBody>
      </p:sp>
      <p:sp>
        <p:nvSpPr>
          <p:cNvPr id="88" name="Google Shape;88;p5">
            <a:extLst xmlns:a="http://schemas.openxmlformats.org/drawingml/2006/main">
              <a:ext uri="{FF2B5EF4-FFF2-40B4-BE49-F238E27FC236}">
                <a16:creationId xmlns:a16="http://schemas.microsoft.com/office/drawing/2014/main" id="{573C90F8-C4BF-4F02-942A-A54FF482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11, 35, 115–116, 289  ·  SB pp. 48, 116  ·  AnalyticMadhyasthDarshan.org  ·  4 / 25</a:t>
            </a:r>
          </a:p>
        </p:txBody>
      </p:sp>
    </p:spTree>
    <p:extLst>
      <p:ext uri="{BB962C8B-B14F-4D97-AF65-F5344CB8AC3E}">
        <p14:creationId xmlns:p14="http://schemas.microsoft.com/office/powerpoint/2010/main" val="7129897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EBEF7F00-6B49-4A97-A2C9-3872E7D6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C70F0F84-9DBC-4050-9671-0D5C5FC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C80D0AF3-2895-41D8-92FE-B160546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1B657EC0-01A7-4BB0-9C90-17C378E2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§1.2 · THREE INSEPARABLE CONTENTS</a:t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4ECCC323-9F8F-4642-988C-7822F9C0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What Knowledge Must Include</a:t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DF6B4B7B-D28E-4416-8924-A7383F92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Complete knowledge is threefold. Each content corrects a partial epistemology: reality without the knower is incomplete; self-knowledge without conduct is unproven; conduct without the whole lacks orientation.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DACC0896-F0C0-40F4-B10C-573B8F3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322BBC30-630B-42E3-9DD2-412D0D9A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7" name="Google Shape;10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4e13f4528a46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0120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4B81C68F-F7F1-4BFA-948A-90AE27C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Existence as coexistence</a:t>
            </a: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91E8706C-5C84-49C2-950C-C985E9B9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Omnipresence and all real units; their form, properties, essential nature, dharma, relationships, and participation in orderliness.</a:t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7F5058FF-1BB9-4921-BA6D-F70E2BC0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9B5AA159-1A21-4A1E-BAC5-D38FC94C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2" name="Google Shape;107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c411b495c6473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712464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D94D8FC0-69AE-44E1-9D58-6DE6FF8D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Jeevan</a:t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B8609BF1-AD34-4D40-9A8A-24A8BC3D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sentient unit that bears attention, reflection, resolve, enlightenment, realisation, selection, evaluation, and authenticity.</a:t>
            </a: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897E6910-9F9B-41AB-900E-EC71D572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E67C106F-BE83-49E5-B07F-FBF8361D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7" name="Google Shape;11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2e6fd657be42c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64808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7C0E46DA-89DB-4129-A5C8-58FA26CE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Humane conduct</a:t>
            </a:r>
          </a:p>
        </p:txBody>
      </p:sp>
      <p:sp>
        <p:nvSpPr>
          <p:cNvPr id="114" name="Google Shape;114;p6">
            <a:extLst xmlns:a="http://schemas.openxmlformats.org/drawingml/2006/main">
              <a:ext uri="{FF2B5EF4-FFF2-40B4-BE49-F238E27FC236}">
                <a16:creationId xmlns:a16="http://schemas.microsoft.com/office/drawing/2014/main" id="{120B2FB7-86A5-48D0-85A7-8E82418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right recognition and fulfilment of relationships, made evident as justice, work, behaviour, and participation in universal orderliness.</a:t>
            </a:r>
          </a:p>
        </p:txBody>
      </p:sp>
      <p:sp>
        <p:nvSpPr>
          <p:cNvPr id="115" name="Google Shape;115;p6">
            <a:extLst xmlns:a="http://schemas.openxmlformats.org/drawingml/2006/main">
              <a:ext uri="{FF2B5EF4-FFF2-40B4-BE49-F238E27FC236}">
                <a16:creationId xmlns:a16="http://schemas.microsoft.com/office/drawing/2014/main" id="{3FFA5695-FD1E-4119-B4FC-199120FA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Knowledge of coexistence, jeevan, and humane conduct form one epistemic field. — KD §3.17 · SB p. 116  ·  AnalyticMadhyasthDarshan.org  ·  5 / 25</a:t>
            </a:r>
          </a:p>
        </p:txBody>
      </p:sp>
    </p:spTree>
    <p:extLst>
      <p:ext uri="{BB962C8B-B14F-4D97-AF65-F5344CB8AC3E}">
        <p14:creationId xmlns:p14="http://schemas.microsoft.com/office/powerpoint/2010/main" val="14662190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FDF55EE-1DFC-4864-BBCF-6889CF1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5AD84244-4940-47B0-823B-B7C36ED1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11218A88-AD24-47F4-AA7E-CEDB55B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920138EF-D763-4448-A961-8DCEAD2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§1.2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B29B9366-7866-413D-82A0-241730EB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Knowledge, Knower, and Known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D7417D2-2684-43CB-8AFE-F91CDBD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EE33F6BF-95C0-4816-A54C-B6B00AF4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B6E3019C-45D3-4ED1-A9D2-55D72A5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EE1719B3-E68F-4D01-A60C-336CB27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A70DDF07-767E-4CA7-8197-976F5965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6BEFCC17-F959-4C0D-898B-ADDA648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Realised understanding of coexistence, jeevan, and humane conduct — accepted, evaluated, and capable of guiding action.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B1D4DE1-906E-43B6-A1AC-A7EA7B2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1A555193-C105-42C6-B81B-78A7801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3A08FC77-38FD-4F53-9FDA-4E24295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D06E458B-173D-440A-9C47-D542B10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2E165D08-90C3-4000-8857-A8714F7B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Knower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81243F9D-4F30-4A59-8606-FA47AD8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is the sentient bearer of knowing; the human being is the embodied participant through whom knowing is spoken, tested, and lived.</a:t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C24F03F3-13B7-4DA6-B82A-6FFEF1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E860388-B17F-4D86-B9E1-F64D831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2DCD6C6B-CF46-4530-A4E5-F7FEC5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0D2E6CD2-706E-4D67-92AD-87B6DF7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2284CF3-2391-448B-BA27-7D7834B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Known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88B4D163-A60F-4D71-A21A-FF9D668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Existence as coexistence: units, relationships, values, orderliness, and the conditions in which human aspiration can be fulfilled.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35D606E5-7371-49D6-8AFE-E2CD65E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0ED207F-363E-479B-A217-044586C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F59040DB-FE8E-4768-B34F-7171056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2D39A687-7B45-4546-8894-6BDA52A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0CC8AF1-DE82-4E58-8C0C-0A05484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Meaningful evidence</a:t>
            </a: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43CACCDB-C99D-4605-856E-E37BB61C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known becomes meaningful when understanding appears as resolution, prosperity, fearlessness, coexistence, and an awakened tradition.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C900555A-CF8C-4582-8C80-52AF84F0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7863840" cy="749808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2117AB49-652B-42CE-AF52-B10AE62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40"/>
            <a:ext cx="740664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The roles remain distinct: jeevan knows, coexistence is known, and knowledge is their realised relation made evident in life.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C8AB52DC-457F-4AED-9264-440E84A6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§3.17, pp. 145–150  ·  MVD pp. 84, 115  ·  JV p. 165  ·  AnalyticMadhyasthDarshan.org  ·  6 / 25</a:t>
            </a:r>
          </a:p>
        </p:txBody>
      </p:sp>
    </p:spTree>
    <p:extLst>
      <p:ext uri="{BB962C8B-B14F-4D97-AF65-F5344CB8AC3E}">
        <p14:creationId xmlns:p14="http://schemas.microsoft.com/office/powerpoint/2010/main" val="9723823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EBEF7F00-6B49-4A97-A2C9-3872E7D6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C70F0F84-9DBC-4050-9671-0D5C5FC1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C80D0AF3-2895-41D8-92FE-B160546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1B657EC0-01A7-4BB0-9C90-17C378E2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§1.10 · THE SCOPE OF THE KNOWN</a:t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4ECCC323-9F8F-4642-988C-7822F9C0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Three Domains of Knowledge</a:t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DF6B4B7B-D28E-4416-8924-A7383F92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known is not exhausted by measurable form and property. Madhyasth Darshan distinguishes three connected domains, each with its own objects, capacities, and forms of evidence.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DACC0896-F0C0-40F4-B10C-573B8F39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322BBC30-630B-42E3-9DD2-412D0D9A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7" name="Google Shape;10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0ea0bc1b1a410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0120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4B81C68F-F7F1-4BFA-948A-90AE27C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Physical knowledge</a:t>
            </a: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91E8706C-5C84-49C2-950C-C985E9B9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Form, property, material composition, production, and skill — knowledge expressed as effective engagement with material nature.</a:t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7F5058FF-1BB9-4921-BA6D-F70E2BC0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9B5AA159-1A21-4A1E-BAC5-D38FC94C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2" name="Google Shape;107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f0530b20e246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712464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D94D8FC0-69AE-44E1-9D58-6DE6FF8D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Intellectual knowledge</a:t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B8609BF1-AD34-4D40-9A8A-24A8BC3D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Meaning, relation, purpose, analysis, evaluation, and proficiency — thought disciplined by what is and what fulfils orderliness.</a:t>
            </a: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897E6910-9F9B-41AB-900E-EC71D572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11680"/>
            <a:ext cx="2615184" cy="2395728"/>
          </a:xfrm>
          <a:prstGeom xmlns:a="http://schemas.openxmlformats.org/drawingml/2006/main" prst="roundRect">
            <a:avLst>
              <a:gd name="adj" fmla="val 3817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E67C106F-BE83-49E5-B07F-FBF8361D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2128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37" name="Google Shape;11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ad7f0402bb41f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64808" y="2331720"/>
            <a:ext cx="219456" cy="2194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7C0E46DA-89DB-4129-A5C8-58FA26CE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761488"/>
            <a:ext cx="224028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Coexistential knowledge</a:t>
            </a:r>
          </a:p>
        </p:txBody>
      </p:sp>
      <p:sp>
        <p:nvSpPr>
          <p:cNvPr id="114" name="Google Shape;114;p6">
            <a:extLst xmlns:a="http://schemas.openxmlformats.org/drawingml/2006/main">
              <a:ext uri="{FF2B5EF4-FFF2-40B4-BE49-F238E27FC236}">
                <a16:creationId xmlns:a16="http://schemas.microsoft.com/office/drawing/2014/main" id="{120B2FB7-86A5-48D0-85A7-8E82418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90672"/>
            <a:ext cx="224028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 of coexistence, jeevan, and humane conduct — the horizon within which physical and intellectual knowledge find direction.</a:t>
            </a:r>
          </a:p>
        </p:txBody>
      </p:sp>
      <p:sp>
        <p:nvSpPr>
          <p:cNvPr id="115" name="Google Shape;115;p6">
            <a:extLst xmlns:a="http://schemas.openxmlformats.org/drawingml/2006/main">
              <a:ext uri="{FF2B5EF4-FFF2-40B4-BE49-F238E27FC236}">
                <a16:creationId xmlns:a16="http://schemas.microsoft.com/office/drawing/2014/main" id="{3FFA5695-FD1E-4119-B4FC-199120FA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Skill and scholarship become complete when they serve right relationship and orderliness. — KD pp. 3–4  ·  AnalyticMadhyasthDarshan.org  ·  7 / 25</a:t>
            </a:r>
          </a:p>
        </p:txBody>
      </p:sp>
    </p:spTree>
    <p:extLst>
      <p:ext uri="{BB962C8B-B14F-4D97-AF65-F5344CB8AC3E}">
        <p14:creationId xmlns:p14="http://schemas.microsoft.com/office/powerpoint/2010/main" val="14662190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FDF55EE-1DFC-4864-BBCF-6889CF1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5AD84244-4940-47B0-823B-B7C36ED1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11218A88-AD24-47F4-AA7E-CEDB55B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920138EF-D763-4448-A961-8DCEAD2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§1.3 · SEEING, ATTENTION, ACTION, AND SEEKING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B29B9366-7866-413D-82A0-241730EB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Knowing Appears in Relational Triads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D7417D2-2684-43CB-8AFE-F91CDBD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EE33F6BF-95C0-4816-A54C-B6B00AF4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B6E3019C-45D3-4ED1-A9D2-55D72A5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EE1719B3-E68F-4D01-A60C-336CB27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A70DDF07-767E-4CA7-8197-976F5965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Seeing — seen — view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6BEFCC17-F959-4C0D-898B-ADDA648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Seeing is never bare intake: what is seen and the view through which it is understood arise in a definite relation.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B1D4DE1-906E-43B6-A1AC-A7EA7B2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1A555193-C105-42C6-B81B-78A7801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3A08FC77-38FD-4F53-9FDA-4E24295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D06E458B-173D-440A-9C47-D542B10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2E165D08-90C3-4000-8857-A8714F7B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Attention — attender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81243F9D-4F30-4A59-8606-FA47AD8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Attention belongs to an active jeevan. The attender selects, compares, reflects, and becomes answerable for what is accepted.</a:t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C24F03F3-13B7-4DA6-B82A-6FFEF1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E860388-B17F-4D86-B9E1-F64D831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2DCD6C6B-CF46-4530-A4E5-F7FEC5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0D2E6CD2-706E-4D67-92AD-87B6DF7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2284CF3-2391-448B-BA27-7D7834B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Aim — seeker — means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88B4D163-A60F-4D71-A21A-FF9D668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Seeking joins aspiration to a seeker and to the means chosen. An aim cannot be assessed apart from capacity and method.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35D606E5-7371-49D6-8AFE-E2CD65E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0ED207F-363E-479B-A217-044586C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F59040DB-FE8E-4768-B34F-7171056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2D39A687-7B45-4546-8894-6BDA52A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0CC8AF1-DE82-4E58-8C0C-0A05484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Cause — doer — effect</a:t>
            </a: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43CACCDB-C99D-4605-856E-E37BB61C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Action joins need, agent, deed, result, and wider effect. Consequence therefore returns as material for evaluation.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C900555A-CF8C-4582-8C80-52AF84F0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7863840" cy="749808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2117AB49-652B-42CE-AF52-B10AE62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40"/>
            <a:ext cx="740664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The knower does not stand outside experience: perspective, attention, purpose, action, and result remain relational throughout.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C8AB52DC-457F-4AED-9264-440E84A6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p. 84  ·  KD Ch. 1, §§3.12, 3.17  ·  AnalyticMadhyasthDarshan.org  ·  8 / 25</a:t>
            </a:r>
          </a:p>
        </p:txBody>
      </p:sp>
    </p:spTree>
    <p:extLst>
      <p:ext uri="{BB962C8B-B14F-4D97-AF65-F5344CB8AC3E}">
        <p14:creationId xmlns:p14="http://schemas.microsoft.com/office/powerpoint/2010/main" val="9723823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729C667D-E689-4D70-90E8-4F2607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F501FB75-B6D4-4DFC-BA72-8E31AE6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ECBF3BFF-A4A6-4EF0-A660-3926610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FFBEE572-0076-43B9-BA0E-A175119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THE ACTIVE KNOWER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9214062A-13C9-4C7B-A7F8-E09038CB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Reflection Coordinates Five Activity Pairs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F9758BEB-9C2B-408D-AF26-158B6194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79552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The ten activities are five coordinated pairs in jeevan. In reflection, sensation, behaviour, thought, desire, and resolve are examined until enlightenment and realisation become effective.</a:t>
            </a:r>
          </a:p>
        </p:txBody>
      </p:sp>
      <p:sp>
        <p:nvSpPr>
          <p:cNvPr id="270" name="Google Shape;270;p12">
            <a:extLst xmlns:a="http://schemas.openxmlformats.org/drawingml/2006/main">
              <a:ext uri="{FF2B5EF4-FFF2-40B4-BE49-F238E27FC236}">
                <a16:creationId xmlns:a16="http://schemas.microsoft.com/office/drawing/2014/main" id="{6BB2F31E-F3C0-431E-BAC4-A9679E0D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6D3985BD-A3A5-46A4-A35F-4142738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Jeevan — five loci</a:t>
            </a:r>
          </a:p>
        </p:txBody>
      </p:sp>
      <p:sp>
        <p:nvSpPr>
          <p:cNvPr id="272" name="Google Shape;272;p12">
            <a:extLst xmlns:a="http://schemas.openxmlformats.org/drawingml/2006/main">
              <a:ext uri="{FF2B5EF4-FFF2-40B4-BE49-F238E27FC236}">
                <a16:creationId xmlns:a16="http://schemas.microsoft.com/office/drawing/2014/main" id="{C72A7A91-6C0A-4597-B37C-72D0DE5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324612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Atma — realisation and authenticity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Buddhi — enlightenment and resolve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Chitta — contemplation and visualisation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Vritti — deliberation and analysis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Mun — taste and selection</a:t>
            </a:r>
          </a:p>
        </p:txBody>
      </p:sp>
      <p:sp>
        <p:nvSpPr>
          <p:cNvPr id="273" name="Google Shape;273;p12">
            <a:extLst xmlns:a="http://schemas.openxmlformats.org/drawingml/2006/main">
              <a:ext uri="{FF2B5EF4-FFF2-40B4-BE49-F238E27FC236}">
                <a16:creationId xmlns:a16="http://schemas.microsoft.com/office/drawing/2014/main" id="{2D6C52AD-EC2A-4BE2-ACB4-645483C3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p12">
            <a:extLst xmlns:a="http://schemas.openxmlformats.org/drawingml/2006/main">
              <a:ext uri="{FF2B5EF4-FFF2-40B4-BE49-F238E27FC236}">
                <a16:creationId xmlns:a16="http://schemas.microsoft.com/office/drawing/2014/main" id="{3701D90E-EDED-47DC-98ED-73DD8E2E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Reflection — knowing moves inward</a:t>
            </a:r>
          </a:p>
        </p:txBody>
      </p:sp>
      <p:sp>
        <p:nvSpPr>
          <p:cNvPr id="275" name="Google Shape;275;p12">
            <a:extLst xmlns:a="http://schemas.openxmlformats.org/drawingml/2006/main">
              <a:ext uri="{FF2B5EF4-FFF2-40B4-BE49-F238E27FC236}">
                <a16:creationId xmlns:a16="http://schemas.microsoft.com/office/drawing/2014/main" id="{54C4D491-CD51-4522-B53F-C369A7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32461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Mun and vritti attend to experience. Chitta forms meaning, buddhi resolves, and atma realises. Higher activities orient and integrate those below without becoming separate minds.</a:t>
            </a:r>
          </a:p>
        </p:txBody>
      </p:sp>
      <p:sp>
        <p:nvSpPr>
          <p:cNvPr id="276" name="Google Shape;276;p12">
            <a:extLst xmlns:a="http://schemas.openxmlformats.org/drawingml/2006/main">
              <a:ext uri="{FF2B5EF4-FFF2-40B4-BE49-F238E27FC236}">
                <a16:creationId xmlns:a16="http://schemas.microsoft.com/office/drawing/2014/main" id="{4D8269B2-36B6-4F15-BCEC-EEC9EAB2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77" name="Google Shape;277;p12">
            <a:extLst xmlns:a="http://schemas.openxmlformats.org/drawingml/2006/main">
              <a:ext uri="{FF2B5EF4-FFF2-40B4-BE49-F238E27FC236}">
                <a16:creationId xmlns:a16="http://schemas.microsoft.com/office/drawing/2014/main" id="{266542B5-9ABA-41A8-9AB9-A6CA9D6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955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“Inward” is a teaching description of coordinated activity; the canonical taxonomy is the five loci and their ten activities.</a:t>
            </a:r>
          </a:p>
        </p:txBody>
      </p:sp>
      <p:sp>
        <p:nvSpPr>
          <p:cNvPr id="278" name="Google Shape;278;p12">
            <a:extLst xmlns:a="http://schemas.openxmlformats.org/drawingml/2006/main">
              <a:ext uri="{FF2B5EF4-FFF2-40B4-BE49-F238E27FC236}">
                <a16:creationId xmlns:a16="http://schemas.microsoft.com/office/drawing/2014/main" id="{B7C5A5B0-4341-4678-88F0-DC0A25C0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pp. 92–93  ·  KD §§3.12, 3.17  ·  MVD pp. 78, 83–84  ·  AnalyticMadhyasthDarshan.org  ·  9 / 25</a:t>
            </a:r>
          </a:p>
        </p:txBody>
      </p:sp>
    </p:spTree>
    <p:extLst>
      <p:ext uri="{BB962C8B-B14F-4D97-AF65-F5344CB8AC3E}">
        <p14:creationId xmlns:p14="http://schemas.microsoft.com/office/powerpoint/2010/main" val="12902166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729C667D-E689-4D70-90E8-4F2607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F501FB75-B6D4-4DFC-BA72-8E31AE6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ECBF3BFF-A4A6-4EF0-A660-3926610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FFBEE572-0076-43B9-BA0E-A175119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THE ACTIVE KNOWER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9214062A-13C9-4C7B-A7F8-E09038CB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Projection Carries Understanding Outward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F9758BEB-9C2B-408D-AF26-158B6194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79552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Projection is the evidencing direction of the same ten activities. Realisation and resolve become visualisation, analysis, selection, bodily action, work, behaviour, and communication.</a:t>
            </a:r>
          </a:p>
        </p:txBody>
      </p:sp>
      <p:sp>
        <p:nvSpPr>
          <p:cNvPr id="270" name="Google Shape;270;p12">
            <a:extLst xmlns:a="http://schemas.openxmlformats.org/drawingml/2006/main">
              <a:ext uri="{FF2B5EF4-FFF2-40B4-BE49-F238E27FC236}">
                <a16:creationId xmlns:a16="http://schemas.microsoft.com/office/drawing/2014/main" id="{6BB2F31E-F3C0-431E-BAC4-A9679E0D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6D3985BD-A3A5-46A4-A35F-4142738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Jeevan — projected strengths</a:t>
            </a:r>
          </a:p>
        </p:txBody>
      </p:sp>
      <p:sp>
        <p:nvSpPr>
          <p:cNvPr id="272" name="Google Shape;272;p12">
            <a:extLst xmlns:a="http://schemas.openxmlformats.org/drawingml/2006/main">
              <a:ext uri="{FF2B5EF4-FFF2-40B4-BE49-F238E27FC236}">
                <a16:creationId xmlns:a16="http://schemas.microsoft.com/office/drawing/2014/main" id="{C72A7A91-6C0A-4597-B37C-72D0DE5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324612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Atma — authenticity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Buddhi — resolve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Chitta — visualisation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Vritti — analysis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Mun — selection</a:t>
            </a:r>
          </a:p>
        </p:txBody>
      </p:sp>
      <p:sp>
        <p:nvSpPr>
          <p:cNvPr id="273" name="Google Shape;273;p12">
            <a:extLst xmlns:a="http://schemas.openxmlformats.org/drawingml/2006/main">
              <a:ext uri="{FF2B5EF4-FFF2-40B4-BE49-F238E27FC236}">
                <a16:creationId xmlns:a16="http://schemas.microsoft.com/office/drawing/2014/main" id="{2D6C52AD-EC2A-4BE2-ACB4-645483C3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p12">
            <a:extLst xmlns:a="http://schemas.openxmlformats.org/drawingml/2006/main">
              <a:ext uri="{FF2B5EF4-FFF2-40B4-BE49-F238E27FC236}">
                <a16:creationId xmlns:a16="http://schemas.microsoft.com/office/drawing/2014/main" id="{3701D90E-EDED-47DC-98ED-73DD8E2E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Human joint form — lived expression</a:t>
            </a:r>
          </a:p>
        </p:txBody>
      </p:sp>
      <p:sp>
        <p:nvSpPr>
          <p:cNvPr id="275" name="Google Shape;275;p12">
            <a:extLst xmlns:a="http://schemas.openxmlformats.org/drawingml/2006/main">
              <a:ext uri="{FF2B5EF4-FFF2-40B4-BE49-F238E27FC236}">
                <a16:creationId xmlns:a16="http://schemas.microsoft.com/office/drawing/2014/main" id="{54C4D491-CD51-4522-B53F-C369A7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32461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supplies meaning and direction. Brain, senses, speech, movement, and social participation place the projection in a shared world where result can be evaluated.</a:t>
            </a:r>
          </a:p>
        </p:txBody>
      </p:sp>
      <p:sp>
        <p:nvSpPr>
          <p:cNvPr id="276" name="Google Shape;276;p12">
            <a:extLst xmlns:a="http://schemas.openxmlformats.org/drawingml/2006/main">
              <a:ext uri="{FF2B5EF4-FFF2-40B4-BE49-F238E27FC236}">
                <a16:creationId xmlns:a16="http://schemas.microsoft.com/office/drawing/2014/main" id="{4D8269B2-36B6-4F15-BCEC-EEC9EAB2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77" name="Google Shape;277;p12">
            <a:extLst xmlns:a="http://schemas.openxmlformats.org/drawingml/2006/main">
              <a:ext uri="{FF2B5EF4-FFF2-40B4-BE49-F238E27FC236}">
                <a16:creationId xmlns:a16="http://schemas.microsoft.com/office/drawing/2014/main" id="{266542B5-9ABA-41A8-9AB9-A6CA9D6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955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Reflection and projection are recurrent directions of one active jeevan; neither is complete when isolated from the other.</a:t>
            </a:r>
          </a:p>
        </p:txBody>
      </p:sp>
      <p:sp>
        <p:nvSpPr>
          <p:cNvPr id="278" name="Google Shape;278;p12">
            <a:extLst xmlns:a="http://schemas.openxmlformats.org/drawingml/2006/main">
              <a:ext uri="{FF2B5EF4-FFF2-40B4-BE49-F238E27FC236}">
                <a16:creationId xmlns:a16="http://schemas.microsoft.com/office/drawing/2014/main" id="{B7C5A5B0-4341-4678-88F0-DC0A25C0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pp. 92–93  ·  KD §§3.12, 3.16–3.17  ·  AnalyticMadhyasthDarshan.org  ·  10 / 25</a:t>
            </a:r>
          </a:p>
        </p:txBody>
      </p:sp>
    </p:spTree>
    <p:extLst>
      <p:ext uri="{BB962C8B-B14F-4D97-AF65-F5344CB8AC3E}">
        <p14:creationId xmlns:p14="http://schemas.microsoft.com/office/powerpoint/2010/main" val="12902166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FF8942B7-5A36-4D4F-A231-9AB3FCCC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8285E63B-E64E-4239-B4E3-A08359DF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4AC4F9E4-68C3-4600-A6CF-94E72DAD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182CBFBE-3498-4A09-B071-65CE8603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PROJECTION–REFLECTION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EF96E4E0-0092-4867-8481-AEA5D693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Knowing and Doing Form a Recurrent Cycle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5165274F-73DA-464F-92F1-9F3BAD6F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This four-step diagram is a pedagogical synthesis of the textual account: attention and reflection deepen knowing; realisation and projection place it back into action and result.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43FB756B-BDDE-40CC-9BE9-E2DAD664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8">
            <a:extLst xmlns:a="http://schemas.openxmlformats.org/drawingml/2006/main">
              <a:ext uri="{FF2B5EF4-FFF2-40B4-BE49-F238E27FC236}">
                <a16:creationId xmlns:a16="http://schemas.microsoft.com/office/drawing/2014/main" id="{13FF157E-F769-49F1-9535-E25514D5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Inward movement</a:t>
            </a:r>
          </a:p>
        </p:txBody>
      </p: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060F334F-38F8-4D7C-9709-C6D49DD8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Experience and consequence return to jeevan through attention and reflection until meaning becomes clear and resolvable.</a:t>
            </a:r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8D917C22-DD61-4196-990A-5710A1C5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BE1A67A3-F1AC-4F67-B169-3DDFD0EE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Outward evidence</a:t>
            </a:r>
          </a:p>
        </p:txBody>
      </p:sp>
      <p:sp>
        <p:nvSpPr>
          <p:cNvPr id="169" name="Google Shape;169;p8">
            <a:extLst xmlns:a="http://schemas.openxmlformats.org/drawingml/2006/main">
              <a:ext uri="{FF2B5EF4-FFF2-40B4-BE49-F238E27FC236}">
                <a16:creationId xmlns:a16="http://schemas.microsoft.com/office/drawing/2014/main" id="{1F48D4EF-3E22-4CF4-87E4-D65A0570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 projects as selection, action, behaviour, work, communication, and evaluation in the human joint form.</a:t>
            </a:r>
          </a:p>
        </p:txBody>
      </p: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E9DA5A7C-D383-4CD0-BB74-63CE503B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Each coherent cycle can deepen the next; reflection without projection remains unevidenced, while projection without reflection repeats habit.</a:t>
            </a:r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705CDB43-BF77-442A-8766-7C31B36F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690354A7-2A53-4742-98B5-8929D66A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Attention</a:t>
            </a: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CC17E0DA-56A5-45E7-B130-09F14510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756D6313-79A6-49F7-AD20-102C54A6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4074D2FF-954B-4BBC-9112-F6B48922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Reflection</a:t>
            </a: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B71C146A-B8BD-47BF-8B8E-5D6EC610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C154FE7F-5437-4F53-B282-926B16EB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8">
            <a:extLst xmlns:a="http://schemas.openxmlformats.org/drawingml/2006/main">
              <a:ext uri="{FF2B5EF4-FFF2-40B4-BE49-F238E27FC236}">
                <a16:creationId xmlns:a16="http://schemas.microsoft.com/office/drawing/2014/main" id="{32F10DE8-8463-4060-91CB-BB9FA552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Realisation</a:t>
            </a:r>
          </a:p>
        </p:txBody>
      </p: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0AAB97D2-C99E-45C8-9091-0ACD929D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8F33E57E-BC6F-4671-9133-2D1CA369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8633E1AE-036D-4204-B083-05923652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Projection</a:t>
            </a:r>
          </a:p>
        </p:txBody>
      </p:sp>
      <p:sp>
        <p:nvSpPr>
          <p:cNvPr id="182" name="Google Shape;182;p8">
            <a:extLst xmlns:a="http://schemas.openxmlformats.org/drawingml/2006/main">
              <a:ext uri="{FF2B5EF4-FFF2-40B4-BE49-F238E27FC236}">
                <a16:creationId xmlns:a16="http://schemas.microsoft.com/office/drawing/2014/main" id="{C07705DF-69A9-4D9D-8760-3D00A2FE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Result and evaluation return the projected action to renewed attention.</a:t>
            </a:r>
          </a:p>
        </p:txBody>
      </p: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709FF5D8-60CA-4837-8A0B-1C0BDDE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§3.12, pp. 110–113  ·  MVD p. 290  ·  JV pp. 92–93  ·  AnalyticMadhyasthDarshan.org  ·  11 / 25</a:t>
            </a:r>
          </a:p>
        </p:txBody>
      </p:sp>
    </p:spTree>
    <p:extLst>
      <p:ext uri="{BB962C8B-B14F-4D97-AF65-F5344CB8AC3E}">
        <p14:creationId xmlns:p14="http://schemas.microsoft.com/office/powerpoint/2010/main" val="2828019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2">
            <a:extLst xmlns:a="http://schemas.openxmlformats.org/drawingml/2006/main">
              <a:ext uri="{FF2B5EF4-FFF2-40B4-BE49-F238E27FC236}">
                <a16:creationId xmlns:a16="http://schemas.microsoft.com/office/drawing/2014/main" id="{729C667D-E689-4D70-90E8-4F2607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5" name="Google Shape;265;p12">
            <a:extLst xmlns:a="http://schemas.openxmlformats.org/drawingml/2006/main">
              <a:ext uri="{FF2B5EF4-FFF2-40B4-BE49-F238E27FC236}">
                <a16:creationId xmlns:a16="http://schemas.microsoft.com/office/drawing/2014/main" id="{F501FB75-B6D4-4DFC-BA72-8E31AE6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6" name="Google Shape;266;p12">
            <a:extLst xmlns:a="http://schemas.openxmlformats.org/drawingml/2006/main">
              <a:ext uri="{FF2B5EF4-FFF2-40B4-BE49-F238E27FC236}">
                <a16:creationId xmlns:a16="http://schemas.microsoft.com/office/drawing/2014/main" id="{ECBF3BFF-A4A6-4EF0-A660-39266109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7" name="Google Shape;267;p12">
            <a:extLst xmlns:a="http://schemas.openxmlformats.org/drawingml/2006/main">
              <a:ext uri="{FF2B5EF4-FFF2-40B4-BE49-F238E27FC236}">
                <a16:creationId xmlns:a16="http://schemas.microsoft.com/office/drawing/2014/main" id="{FFBEE572-0076-43B9-BA0E-A1751195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§1.4 · THE HUMAN JOINT FORM</a:t>
            </a:r>
          </a:p>
        </p:txBody>
      </p:sp>
      <p:sp>
        <p:nvSpPr>
          <p:cNvPr id="268" name="Google Shape;268;p12">
            <a:extLst xmlns:a="http://schemas.openxmlformats.org/drawingml/2006/main">
              <a:ext uri="{FF2B5EF4-FFF2-40B4-BE49-F238E27FC236}">
                <a16:creationId xmlns:a16="http://schemas.microsoft.com/office/drawing/2014/main" id="{9214062A-13C9-4C7B-A7F8-E09038CB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Jeevan Knows; the Body Mediates</a:t>
            </a:r>
          </a:p>
        </p:txBody>
      </p:sp>
      <p:sp>
        <p:nvSpPr>
          <p:cNvPr id="269" name="Google Shape;269;p12">
            <a:extLst xmlns:a="http://schemas.openxmlformats.org/drawingml/2006/main">
              <a:ext uri="{FF2B5EF4-FFF2-40B4-BE49-F238E27FC236}">
                <a16:creationId xmlns:a16="http://schemas.microsoft.com/office/drawing/2014/main" id="{F9758BEB-9C2B-408D-AF26-158B6194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79552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Knowing belongs to jeevan, but human evidence requires the joint form. The body supplies sensory access, brain-mediated signalling, speech, movement, work, and participation with others.</a:t>
            </a:r>
          </a:p>
        </p:txBody>
      </p:sp>
      <p:sp>
        <p:nvSpPr>
          <p:cNvPr id="270" name="Google Shape;270;p12">
            <a:extLst xmlns:a="http://schemas.openxmlformats.org/drawingml/2006/main">
              <a:ext uri="{FF2B5EF4-FFF2-40B4-BE49-F238E27FC236}">
                <a16:creationId xmlns:a16="http://schemas.microsoft.com/office/drawing/2014/main" id="{6BB2F31E-F3C0-431E-BAC4-A9679E0D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p12">
            <a:extLst xmlns:a="http://schemas.openxmlformats.org/drawingml/2006/main">
              <a:ext uri="{FF2B5EF4-FFF2-40B4-BE49-F238E27FC236}">
                <a16:creationId xmlns:a16="http://schemas.microsoft.com/office/drawing/2014/main" id="{6D3985BD-A3A5-46A4-A35F-4142738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Jeevan — sentient bearer</a:t>
            </a:r>
          </a:p>
        </p:txBody>
      </p:sp>
      <p:sp>
        <p:nvSpPr>
          <p:cNvPr id="272" name="Google Shape;272;p12">
            <a:extLst xmlns:a="http://schemas.openxmlformats.org/drawingml/2006/main">
              <a:ext uri="{FF2B5EF4-FFF2-40B4-BE49-F238E27FC236}">
                <a16:creationId xmlns:a16="http://schemas.microsoft.com/office/drawing/2014/main" id="{C72A7A91-6C0A-4597-B37C-72D0DE54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324612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Realisation, enlightenment, contemplation, deliberation, selection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Evaluation of relationship and value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Continuity of the knower across bodily change</a:t>
            </a:r>
          </a:p>
        </p:txBody>
      </p:sp>
      <p:sp>
        <p:nvSpPr>
          <p:cNvPr id="273" name="Google Shape;273;p12">
            <a:extLst xmlns:a="http://schemas.openxmlformats.org/drawingml/2006/main">
              <a:ext uri="{FF2B5EF4-FFF2-40B4-BE49-F238E27FC236}">
                <a16:creationId xmlns:a16="http://schemas.microsoft.com/office/drawing/2014/main" id="{2D6C52AD-EC2A-4BE2-ACB4-645483C3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3657600" cy="169164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4" name="Google Shape;274;p12">
            <a:extLst xmlns:a="http://schemas.openxmlformats.org/drawingml/2006/main">
              <a:ext uri="{FF2B5EF4-FFF2-40B4-BE49-F238E27FC236}">
                <a16:creationId xmlns:a16="http://schemas.microsoft.com/office/drawing/2014/main" id="{3701D90E-EDED-47DC-98ED-73DD8E2E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432304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Human joint form — lived evidence</a:t>
            </a:r>
          </a:p>
        </p:txBody>
      </p:sp>
      <p:sp>
        <p:nvSpPr>
          <p:cNvPr id="275" name="Google Shape;275;p12">
            <a:extLst xmlns:a="http://schemas.openxmlformats.org/drawingml/2006/main">
              <a:ext uri="{FF2B5EF4-FFF2-40B4-BE49-F238E27FC236}">
                <a16:creationId xmlns:a16="http://schemas.microsoft.com/office/drawing/2014/main" id="{54C4D491-CD51-4522-B53F-C369A749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3246120" cy="1280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Brain and senses carry signals and bodily conditions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Speech and action place understanding in a shared world</a:t>
            </a:r>
          </a:p>
          <a:p xmlns:a="http://schemas.openxmlformats.org/drawingml/2006/main">
            <a:pPr marL="342900" indent="-34290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10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Work, behaviour, and teaching make claims answerable to result</a:t>
            </a:r>
          </a:p>
        </p:txBody>
      </p:sp>
      <p:sp>
        <p:nvSpPr>
          <p:cNvPr id="276" name="Google Shape;276;p12">
            <a:extLst xmlns:a="http://schemas.openxmlformats.org/drawingml/2006/main">
              <a:ext uri="{FF2B5EF4-FFF2-40B4-BE49-F238E27FC236}">
                <a16:creationId xmlns:a16="http://schemas.microsoft.com/office/drawing/2014/main" id="{4D8269B2-36B6-4F15-BCEC-EEC9EAB2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77" name="Google Shape;277;p12">
            <a:extLst xmlns:a="http://schemas.openxmlformats.org/drawingml/2006/main">
              <a:ext uri="{FF2B5EF4-FFF2-40B4-BE49-F238E27FC236}">
                <a16:creationId xmlns:a16="http://schemas.microsoft.com/office/drawing/2014/main" id="{266542B5-9ABA-41A8-9AB9-A6CA9D6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79552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The texts specify a functional relation between jeevan and the brain; a more precise account of their interaction remains an open task within the exposition.</a:t>
            </a:r>
          </a:p>
        </p:txBody>
      </p:sp>
      <p:sp>
        <p:nvSpPr>
          <p:cNvPr id="278" name="Google Shape;278;p12">
            <a:extLst xmlns:a="http://schemas.openxmlformats.org/drawingml/2006/main">
              <a:ext uri="{FF2B5EF4-FFF2-40B4-BE49-F238E27FC236}">
                <a16:creationId xmlns:a16="http://schemas.microsoft.com/office/drawing/2014/main" id="{B7C5A5B0-4341-4678-88F0-DC0A25C0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83–84, 200  ·  KD §3.16  ·  JV p. 59  ·  AnalyticMadhyasthDarshan.org  ·  12 / 25</a:t>
            </a:r>
          </a:p>
        </p:txBody>
      </p:sp>
    </p:spTree>
    <p:extLst>
      <p:ext uri="{BB962C8B-B14F-4D97-AF65-F5344CB8AC3E}">
        <p14:creationId xmlns:p14="http://schemas.microsoft.com/office/powerpoint/2010/main" val="12902166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16">
            <a:extLst xmlns:a="http://schemas.openxmlformats.org/drawingml/2006/main">
              <a:ext uri="{FF2B5EF4-FFF2-40B4-BE49-F238E27FC236}">
                <a16:creationId xmlns:a16="http://schemas.microsoft.com/office/drawing/2014/main" id="{EE5E8163-2E3D-4286-83A5-4E98AABD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">
            <a:extLst xmlns:a="http://schemas.openxmlformats.org/drawingml/2006/main">
              <a:ext uri="{FF2B5EF4-FFF2-40B4-BE49-F238E27FC236}">
                <a16:creationId xmlns:a16="http://schemas.microsoft.com/office/drawing/2014/main" id="{ADF8D51E-7451-457D-961B-75E09BFF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16">
            <a:extLst xmlns:a="http://schemas.openxmlformats.org/drawingml/2006/main">
              <a:ext uri="{FF2B5EF4-FFF2-40B4-BE49-F238E27FC236}">
                <a16:creationId xmlns:a16="http://schemas.microsoft.com/office/drawing/2014/main" id="{35D08C76-95A4-4973-ACB4-130398FF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16">
            <a:extLst xmlns:a="http://schemas.openxmlformats.org/drawingml/2006/main">
              <a:ext uri="{FF2B5EF4-FFF2-40B4-BE49-F238E27FC236}">
                <a16:creationId xmlns:a16="http://schemas.microsoft.com/office/drawing/2014/main" id="{6C78D489-C288-42BA-9E09-D4FC86D4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§§1.4, 1.9 · THE EPISTEMIC FORK</a:t>
            </a:r>
          </a:p>
        </p:txBody>
      </p:sp>
      <p:sp>
        <p:nvSpPr>
          <p:cNvPr id="377" name="Google Shape;377;p16">
            <a:extLst xmlns:a="http://schemas.openxmlformats.org/drawingml/2006/main">
              <a:ext uri="{FF2B5EF4-FFF2-40B4-BE49-F238E27FC236}">
                <a16:creationId xmlns:a16="http://schemas.microsoft.com/office/drawing/2014/main" id="{8AEE7DC9-DA87-4328-892E-24BC14E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Delusion or Awakening</a:t>
            </a:r>
          </a:p>
        </p:txBody>
      </p:sp>
      <p:sp>
        <p:nvSpPr>
          <p:cNvPr id="378" name="Google Shape;378;p16">
            <a:extLst xmlns:a="http://schemas.openxmlformats.org/drawingml/2006/main">
              <a:ext uri="{FF2B5EF4-FFF2-40B4-BE49-F238E27FC236}">
                <a16:creationId xmlns:a16="http://schemas.microsoft.com/office/drawing/2014/main" id="{45E855C4-95FC-424C-B4CC-5E815114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decisive question is not whether jeevan is active, but what its activity takes as the self and what reference points organise attention, desire, thought, resolve, and action.</a:t>
            </a:r>
          </a:p>
        </p:txBody>
      </p:sp>
      <p:sp>
        <p:nvSpPr>
          <p:cNvPr id="379" name="Google Shape;379;p16">
            <a:extLst xmlns:a="http://schemas.openxmlformats.org/drawingml/2006/main">
              <a:ext uri="{FF2B5EF4-FFF2-40B4-BE49-F238E27FC236}">
                <a16:creationId xmlns:a16="http://schemas.microsoft.com/office/drawing/2014/main" id="{7CC81903-027E-4E44-907F-8267AC59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16">
            <a:extLst xmlns:a="http://schemas.openxmlformats.org/drawingml/2006/main">
              <a:ext uri="{FF2B5EF4-FFF2-40B4-BE49-F238E27FC236}">
                <a16:creationId xmlns:a16="http://schemas.microsoft.com/office/drawing/2014/main" id="{FFCD59A2-B0B7-445A-8625-09C68EBA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Delusion</a:t>
            </a:r>
          </a:p>
        </p:txBody>
      </p:sp>
      <p:sp>
        <p:nvSpPr>
          <p:cNvPr id="381" name="Google Shape;381;p16">
            <a:extLst xmlns:a="http://schemas.openxmlformats.org/drawingml/2006/main">
              <a:ext uri="{FF2B5EF4-FFF2-40B4-BE49-F238E27FC236}">
                <a16:creationId xmlns:a16="http://schemas.microsoft.com/office/drawing/2014/main" id="{7B2E8C50-D74D-4078-A781-ED37F3E0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identifies with the body. Only four-and-a-half activities become effective: taste, selection, analysis, visualisation, and restricted deliberation governed by sensation, health, and profit.</a:t>
            </a:r>
          </a:p>
        </p:txBody>
      </p:sp>
      <p:sp>
        <p:nvSpPr>
          <p:cNvPr id="382" name="Google Shape;382;p16">
            <a:extLst xmlns:a="http://schemas.openxmlformats.org/drawingml/2006/main">
              <a:ext uri="{FF2B5EF4-FFF2-40B4-BE49-F238E27FC236}">
                <a16:creationId xmlns:a16="http://schemas.microsoft.com/office/drawing/2014/main" id="{54B67296-4447-4A69-BC97-F67606A4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16">
            <a:extLst xmlns:a="http://schemas.openxmlformats.org/drawingml/2006/main">
              <a:ext uri="{FF2B5EF4-FFF2-40B4-BE49-F238E27FC236}">
                <a16:creationId xmlns:a16="http://schemas.microsoft.com/office/drawing/2014/main" id="{3D6485FC-39FA-4EB0-8853-153CF541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Awakening</a:t>
            </a:r>
          </a:p>
        </p:txBody>
      </p:sp>
      <p:sp>
        <p:nvSpPr>
          <p:cNvPr id="384" name="Google Shape;384;p16">
            <a:extLst xmlns:a="http://schemas.openxmlformats.org/drawingml/2006/main">
              <a:ext uri="{FF2B5EF4-FFF2-40B4-BE49-F238E27FC236}">
                <a16:creationId xmlns:a16="http://schemas.microsoft.com/office/drawing/2014/main" id="{787961EA-42CD-4B38-A5DE-422537D2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knows itself and coexistence. The same faculties align around justice, dharma, truth, resolution, and fulfilment of relationship.</a:t>
            </a:r>
          </a:p>
        </p:txBody>
      </p:sp>
      <p:sp>
        <p:nvSpPr>
          <p:cNvPr id="385" name="Google Shape;385;p16">
            <a:extLst xmlns:a="http://schemas.openxmlformats.org/drawingml/2006/main">
              <a:ext uri="{FF2B5EF4-FFF2-40B4-BE49-F238E27FC236}">
                <a16:creationId xmlns:a16="http://schemas.microsoft.com/office/drawing/2014/main" id="{2A62FD21-0CDD-4DF1-A565-6CC1FFA1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The faculties do not disappear in awakening; their direction and coordination change. Error is incomplete functioning of the knower, not mere absence of data.</a:t>
            </a:r>
          </a:p>
        </p:txBody>
      </p:sp>
      <p:sp>
        <p:nvSpPr>
          <p:cNvPr id="386" name="Google Shape;386;p16">
            <a:extLst xmlns:a="http://schemas.openxmlformats.org/drawingml/2006/main">
              <a:ext uri="{FF2B5EF4-FFF2-40B4-BE49-F238E27FC236}">
                <a16:creationId xmlns:a16="http://schemas.microsoft.com/office/drawing/2014/main" id="{33F8C60F-28AA-433E-B157-DF631F16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16">
            <a:extLst xmlns:a="http://schemas.openxmlformats.org/drawingml/2006/main">
              <a:ext uri="{FF2B5EF4-FFF2-40B4-BE49-F238E27FC236}">
                <a16:creationId xmlns:a16="http://schemas.microsoft.com/office/drawing/2014/main" id="{1DBF5721-6FB0-47E7-AF84-E47E92AA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Body-identification</a:t>
            </a:r>
          </a:p>
        </p:txBody>
      </p:sp>
      <p:sp>
        <p:nvSpPr>
          <p:cNvPr id="388" name="Google Shape;388;p16">
            <a:extLst xmlns:a="http://schemas.openxmlformats.org/drawingml/2006/main">
              <a:ext uri="{FF2B5EF4-FFF2-40B4-BE49-F238E27FC236}">
                <a16:creationId xmlns:a16="http://schemas.microsoft.com/office/drawing/2014/main" id="{2AF68A6B-78EF-4514-9799-95BA9AA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89" name="Google Shape;389;p16">
            <a:extLst xmlns:a="http://schemas.openxmlformats.org/drawingml/2006/main">
              <a:ext uri="{FF2B5EF4-FFF2-40B4-BE49-F238E27FC236}">
                <a16:creationId xmlns:a16="http://schemas.microsoft.com/office/drawing/2014/main" id="{B42257E6-D18C-4D3A-B641-E0163891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16">
            <a:extLst xmlns:a="http://schemas.openxmlformats.org/drawingml/2006/main">
              <a:ext uri="{FF2B5EF4-FFF2-40B4-BE49-F238E27FC236}">
                <a16:creationId xmlns:a16="http://schemas.microsoft.com/office/drawing/2014/main" id="{9DD3FDFF-7A8B-4603-9FD8-FD730EC5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Narrow criteria</a:t>
            </a:r>
          </a:p>
        </p:txBody>
      </p:sp>
      <p:sp>
        <p:nvSpPr>
          <p:cNvPr id="391" name="Google Shape;391;p16">
            <a:extLst xmlns:a="http://schemas.openxmlformats.org/drawingml/2006/main">
              <a:ext uri="{FF2B5EF4-FFF2-40B4-BE49-F238E27FC236}">
                <a16:creationId xmlns:a16="http://schemas.microsoft.com/office/drawing/2014/main" id="{EB6A9F57-3D1A-409B-8571-B2C0C829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2" name="Google Shape;392;p16">
            <a:extLst xmlns:a="http://schemas.openxmlformats.org/drawingml/2006/main">
              <a:ext uri="{FF2B5EF4-FFF2-40B4-BE49-F238E27FC236}">
                <a16:creationId xmlns:a16="http://schemas.microsoft.com/office/drawing/2014/main" id="{F2960607-40BF-4891-BFFD-1D85C4A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6">
            <a:extLst xmlns:a="http://schemas.openxmlformats.org/drawingml/2006/main">
              <a:ext uri="{FF2B5EF4-FFF2-40B4-BE49-F238E27FC236}">
                <a16:creationId xmlns:a16="http://schemas.microsoft.com/office/drawing/2014/main" id="{3D89BF9B-D547-4009-915C-D5A1DA0C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Incomplete knowing</a:t>
            </a:r>
          </a:p>
        </p:txBody>
      </p:sp>
      <p:sp>
        <p:nvSpPr>
          <p:cNvPr id="394" name="Google Shape;394;p16">
            <a:extLst xmlns:a="http://schemas.openxmlformats.org/drawingml/2006/main">
              <a:ext uri="{FF2B5EF4-FFF2-40B4-BE49-F238E27FC236}">
                <a16:creationId xmlns:a16="http://schemas.microsoft.com/office/drawing/2014/main" id="{11CF1EC8-FEFB-49FB-939D-7C097CB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5" name="Google Shape;395;p16">
            <a:extLst xmlns:a="http://schemas.openxmlformats.org/drawingml/2006/main">
              <a:ext uri="{FF2B5EF4-FFF2-40B4-BE49-F238E27FC236}">
                <a16:creationId xmlns:a16="http://schemas.microsoft.com/office/drawing/2014/main" id="{BA221319-804B-4F09-A1A8-1E91A7B8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16">
            <a:extLst xmlns:a="http://schemas.openxmlformats.org/drawingml/2006/main">
              <a:ext uri="{FF2B5EF4-FFF2-40B4-BE49-F238E27FC236}">
                <a16:creationId xmlns:a16="http://schemas.microsoft.com/office/drawing/2014/main" id="{724FC277-275C-4F7E-A756-9F27B90E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Contradiction</a:t>
            </a:r>
          </a:p>
        </p:txBody>
      </p:sp>
      <p:sp>
        <p:nvSpPr>
          <p:cNvPr id="397" name="Google Shape;397;p16">
            <a:extLst xmlns:a="http://schemas.openxmlformats.org/drawingml/2006/main">
              <a:ext uri="{FF2B5EF4-FFF2-40B4-BE49-F238E27FC236}">
                <a16:creationId xmlns:a16="http://schemas.microsoft.com/office/drawing/2014/main" id="{E9B40105-D081-49D7-A6E4-DDF7A3CB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aspiration for happiness remains, while conduct organised by sensation repeatedly fails to secure it.</a:t>
            </a:r>
          </a:p>
        </p:txBody>
      </p:sp>
      <p:sp>
        <p:nvSpPr>
          <p:cNvPr id="398" name="Google Shape;398;p16">
            <a:extLst xmlns:a="http://schemas.openxmlformats.org/drawingml/2006/main">
              <a:ext uri="{FF2B5EF4-FFF2-40B4-BE49-F238E27FC236}">
                <a16:creationId xmlns:a16="http://schemas.microsoft.com/office/drawing/2014/main" id="{4759006B-AB01-486E-A99B-9E94FD62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pp. 73, 92–93  ·  KD §3.17  ·  MVD pp. 263–264  ·  AnalyticMadhyasthDarshan.org  ·  13 / 25</a:t>
            </a:r>
          </a:p>
        </p:txBody>
      </p:sp>
    </p:spTree>
    <p:extLst>
      <p:ext uri="{BB962C8B-B14F-4D97-AF65-F5344CB8AC3E}">
        <p14:creationId xmlns:p14="http://schemas.microsoft.com/office/powerpoint/2010/main" val="15636950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8">
            <a:extLst xmlns:a="http://schemas.openxmlformats.org/drawingml/2006/main">
              <a:ext uri="{FF2B5EF4-FFF2-40B4-BE49-F238E27FC236}">
                <a16:creationId xmlns:a16="http://schemas.microsoft.com/office/drawing/2014/main" id="{FF8942B7-5A36-4D4F-A231-9AB3FCCC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8285E63B-E64E-4239-B4E3-A08359DF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4AC4F9E4-68C3-4600-A6CF-94E72DAD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182CBFBE-3498-4A09-B071-65CE8603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§1.5 · FROM UNDERSTANDING TO JUSTICE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EF96E4E0-0092-4867-8481-AEA5D693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Knowing Must Continue Through Evaluation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5165274F-73DA-464F-92F1-9F3BAD6F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Knowing alone is not yet stable knowledge. What is understood must be accepted, used to recognise actual relationships, fulfilled with capacity, and evaluated by its result.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43FB756B-BDDE-40CC-9BE9-E2DAD664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8">
            <a:extLst xmlns:a="http://schemas.openxmlformats.org/drawingml/2006/main">
              <a:ext uri="{FF2B5EF4-FFF2-40B4-BE49-F238E27FC236}">
                <a16:creationId xmlns:a16="http://schemas.microsoft.com/office/drawing/2014/main" id="{13FF157E-F769-49F1-9535-E25514D5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Understanding</a:t>
            </a:r>
          </a:p>
        </p:txBody>
      </p: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060F334F-38F8-4D7C-9709-C6D49DD8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Knowing and believing belong together: accept what is known, and examine what is accepted until it is known.</a:t>
            </a:r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8D917C22-DD61-4196-990A-5710A1C5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BE1A67A3-F1AC-4F67-B169-3DDFD0EE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Justice</a:t>
            </a:r>
          </a:p>
        </p:txBody>
      </p:sp>
      <p:sp>
        <p:nvSpPr>
          <p:cNvPr id="169" name="Google Shape;169;p8">
            <a:extLst xmlns:a="http://schemas.openxmlformats.org/drawingml/2006/main">
              <a:ext uri="{FF2B5EF4-FFF2-40B4-BE49-F238E27FC236}">
                <a16:creationId xmlns:a16="http://schemas.microsoft.com/office/drawing/2014/main" id="{1F48D4EF-3E22-4CF4-87E4-D65A0570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Recognition, fulfilment, evaluation, and mutual satisfaction complete the epistemic sequence in relationship.</a:t>
            </a:r>
          </a:p>
        </p:txBody>
      </p: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E9DA5A7C-D383-4CD0-BB74-63CE503B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A correct idea becomes living knowledge only when it reorganises attention, choice, relationship, work, and evaluation.</a:t>
            </a:r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705CDB43-BF77-442A-8766-7C31B36F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690354A7-2A53-4742-98B5-8929D66A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Knowing</a:t>
            </a: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CC17E0DA-56A5-45E7-B130-09F14510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756D6313-79A6-49F7-AD20-102C54A6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4074D2FF-954B-4BBC-9112-F6B48922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Believing</a:t>
            </a: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B71C146A-B8BD-47BF-8B8E-5D6EC610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C154FE7F-5437-4F53-B282-926B16EB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8">
            <a:extLst xmlns:a="http://schemas.openxmlformats.org/drawingml/2006/main">
              <a:ext uri="{FF2B5EF4-FFF2-40B4-BE49-F238E27FC236}">
                <a16:creationId xmlns:a16="http://schemas.microsoft.com/office/drawing/2014/main" id="{32F10DE8-8463-4060-91CB-BB9FA552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Recognising</a:t>
            </a:r>
          </a:p>
        </p:txBody>
      </p: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0AAB97D2-C99E-45C8-9091-0ACD929D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8F33E57E-BC6F-4671-9133-2D1CA369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8633E1AE-036D-4204-B083-05923652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Fulfilling</a:t>
            </a:r>
          </a:p>
        </p:txBody>
      </p:sp>
      <p:sp>
        <p:nvSpPr>
          <p:cNvPr id="182" name="Google Shape;182;p8">
            <a:extLst xmlns:a="http://schemas.openxmlformats.org/drawingml/2006/main">
              <a:ext uri="{FF2B5EF4-FFF2-40B4-BE49-F238E27FC236}">
                <a16:creationId xmlns:a16="http://schemas.microsoft.com/office/drawing/2014/main" id="{C07705DF-69A9-4D9D-8760-3D00A2FE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Evaluating closes the loop: did the relationship and value become fulfilled, and what must be corrected?</a:t>
            </a:r>
          </a:p>
        </p:txBody>
      </p: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709FF5D8-60CA-4837-8A0B-1C0BDDE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12, 311  ·  JV pp. 55, 165  ·  SB p. 64  ·  AnalyticMadhyasthDarshan.org  ·  14 / 25</a:t>
            </a:r>
          </a:p>
        </p:txBody>
      </p:sp>
    </p:spTree>
    <p:extLst>
      <p:ext uri="{BB962C8B-B14F-4D97-AF65-F5344CB8AC3E}">
        <p14:creationId xmlns:p14="http://schemas.microsoft.com/office/powerpoint/2010/main" val="2828019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D8C44D5D-501D-4ADD-AD77-849A5C18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B5E549B8-81AB-45EC-8CFC-D2CA652C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A54D5007-CCD2-4F26-8CC6-F868BF1E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D70F719C-487C-4441-9235-7EFAED1A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§1.7 · KARMA AS AN EPISTEMIC STRUCTURE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027F4B39-FE08-4239-B5B9-24047AEF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Every Karma Has a Structure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741AE175-DEFC-4F60-B381-203027BA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Activity together with aspiration is karma. Every intentional action contains a doer, cause, objective, result, and effect. Knowledge therefore becomes answerable to consequence: an intention is not sufficient, and a result cannot be judged without its aim, means, and reach.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40E90AF3-7C0B-414F-BFA5-76651805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8B3C9E0B-FD3C-4351-A46E-7AAB089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Desire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aspiration</a:t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EEE5DD52-D5EC-4C58-89FC-5FE511C3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is sought?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would count as fulfilment?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8A14A1E1-DDCD-48BA-BD6A-18F75399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705AAF4A-03F9-490F-8C91-5BFBB60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Karma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doing</a:t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754F613E-50B8-461A-B297-60811F1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is chosen and done?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With what capacity and means?</a:t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F88BEB0C-84E7-4A49-B219-19891674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9DD5ADEA-27F1-42B0-80E5-528A0299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Result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fruit</a:t>
            </a:r>
          </a:p>
        </p:txBody>
      </p:sp>
      <p:sp>
        <p:nvSpPr>
          <p:cNvPr id="217" name="Google Shape;217;p10">
            <a:extLst xmlns:a="http://schemas.openxmlformats.org/drawingml/2006/main">
              <a:ext uri="{FF2B5EF4-FFF2-40B4-BE49-F238E27FC236}">
                <a16:creationId xmlns:a16="http://schemas.microsoft.com/office/drawing/2014/main" id="{E618571F-D08F-4E64-8E94-753DA07D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What actually follows?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Does it satisfy the accepted aim?</a:t>
            </a:r>
          </a:p>
        </p:txBody>
      </p:sp>
      <p:sp>
        <p:nvSpPr>
          <p:cNvPr id="218" name="Google Shape;218;p10">
            <a:extLst xmlns:a="http://schemas.openxmlformats.org/drawingml/2006/main">
              <a:ext uri="{FF2B5EF4-FFF2-40B4-BE49-F238E27FC236}">
                <a16:creationId xmlns:a16="http://schemas.microsoft.com/office/drawing/2014/main" id="{3CDCBBCF-22EF-41F8-AB07-7323F6E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48840"/>
            <a:ext cx="1965960" cy="224028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10">
            <a:extLst xmlns:a="http://schemas.openxmlformats.org/drawingml/2006/main">
              <a:ext uri="{FF2B5EF4-FFF2-40B4-BE49-F238E27FC236}">
                <a16:creationId xmlns:a16="http://schemas.microsoft.com/office/drawing/2014/main" id="{3C3D9C5A-5A60-435C-AFD8-FC7FEA4C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31720"/>
            <a:ext cx="1627632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Five limbs of karma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Doer — who acts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Cause — the need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Objective — the aim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Result — the fruit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Effect — its wider reach</a:t>
            </a:r>
          </a:p>
        </p:txBody>
      </p:sp>
      <p:sp>
        <p:nvSpPr>
          <p:cNvPr id="220" name="Google Shape;220;p10">
            <a:extLst xmlns:a="http://schemas.openxmlformats.org/drawingml/2006/main">
              <a:ext uri="{FF2B5EF4-FFF2-40B4-BE49-F238E27FC236}">
                <a16:creationId xmlns:a16="http://schemas.microsoft.com/office/drawing/2014/main" id="{02346A13-3B96-4D65-9B6D-3DD3C93C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Ch. 1, pp. 1–2  ·  AnalyticMadhyasthDarshan.org  ·  15 / 25</a:t>
            </a:r>
          </a:p>
        </p:txBody>
      </p:sp>
    </p:spTree>
    <p:extLst>
      <p:ext uri="{BB962C8B-B14F-4D97-AF65-F5344CB8AC3E}">
        <p14:creationId xmlns:p14="http://schemas.microsoft.com/office/powerpoint/2010/main" val="3603565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0F6F6308-49A9-4949-8133-7A4B8D63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A9E8F1DE-F1DF-4848-BA7D-7C49B9B5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4DE02D1D-3BF7-415D-933B-DCE959E2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2E1D7F4A-5B9C-4DD7-9B26-50E4820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§1.7 · RESULT · EVALUATION · CORRECTION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9DA2ADB1-085E-4F3D-8591-A4CAA3B4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Consequence Returns as Evidence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DA9BB04D-D913-4523-81E7-00E1AA08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Result is not the end of the process. It returns through evaluation: did the relationship, purpose, and value become fulfilled? The answer may confirm understanding or expose where conception, recognition, capacity, or action was incomplete.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E07044AB-A602-48CC-A073-1CD528E4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F655FD5C-DA9F-4C08-8056-B01001D7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Result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occurred</a:t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23DCB742-F79A-46D6-BA0A-BCC6B6B8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fruit and effect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of action in context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DD51200B-2239-4831-B120-9B09B1D0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5808B275-8C68-433C-A839-2A806967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Evaluation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it means</a:t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CA811637-F15A-4274-8069-7399ED09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compare result with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relationship and aim</a:t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6026B273-96E7-4273-B0F2-02AC014B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B5B0B964-BFCC-4FD1-8512-B7075907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Sanskar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is carried forward</a:t>
            </a:r>
          </a:p>
        </p:txBody>
      </p:sp>
      <p:sp>
        <p:nvSpPr>
          <p:cNvPr id="217" name="Google Shape;217;p10">
            <a:extLst xmlns:a="http://schemas.openxmlformats.org/drawingml/2006/main">
              <a:ext uri="{FF2B5EF4-FFF2-40B4-BE49-F238E27FC236}">
                <a16:creationId xmlns:a16="http://schemas.microsoft.com/office/drawing/2014/main" id="{3C8693FE-21BD-448C-B3DC-842DF557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corrected acceptance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shapes later projection</a:t>
            </a:r>
          </a:p>
        </p:txBody>
      </p:sp>
      <p:sp>
        <p:nvSpPr>
          <p:cNvPr id="218" name="Google Shape;218;p10">
            <a:extLst xmlns:a="http://schemas.openxmlformats.org/drawingml/2006/main">
              <a:ext uri="{FF2B5EF4-FFF2-40B4-BE49-F238E27FC236}">
                <a16:creationId xmlns:a16="http://schemas.microsoft.com/office/drawing/2014/main" id="{8EB12E16-06CA-4844-9D94-903DB081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48840"/>
            <a:ext cx="1965960" cy="224028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10">
            <a:extLst xmlns:a="http://schemas.openxmlformats.org/drawingml/2006/main">
              <a:ext uri="{FF2B5EF4-FFF2-40B4-BE49-F238E27FC236}">
                <a16:creationId xmlns:a16="http://schemas.microsoft.com/office/drawing/2014/main" id="{9284BC00-0E75-4B20-9DC9-46F0B4A2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31720"/>
            <a:ext cx="1627632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Three evaluation errors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Over-evaluation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Under-evaluation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Mis-evaluation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Each can preserve contradiction while appearing certain.</a:t>
            </a:r>
          </a:p>
        </p:txBody>
      </p:sp>
      <p:sp>
        <p:nvSpPr>
          <p:cNvPr id="220" name="Google Shape;220;p10">
            <a:extLst xmlns:a="http://schemas.openxmlformats.org/drawingml/2006/main">
              <a:ext uri="{FF2B5EF4-FFF2-40B4-BE49-F238E27FC236}">
                <a16:creationId xmlns:a16="http://schemas.microsoft.com/office/drawing/2014/main" id="{18DD3430-A1FC-4786-A89B-7568D98D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Consequence becomes material for corrected understanding. — MVD pp. 90, 263–264, 290 · KD Ch. 1  ·  AnalyticMadhyasthDarshan.org  ·  16 / 25</a:t>
            </a:r>
          </a:p>
        </p:txBody>
      </p:sp>
    </p:spTree>
    <p:extLst>
      <p:ext uri="{BB962C8B-B14F-4D97-AF65-F5344CB8AC3E}">
        <p14:creationId xmlns:p14="http://schemas.microsoft.com/office/powerpoint/2010/main" val="18367201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10">
            <a:extLst xmlns:a="http://schemas.openxmlformats.org/drawingml/2006/main">
              <a:ext uri="{FF2B5EF4-FFF2-40B4-BE49-F238E27FC236}">
                <a16:creationId xmlns:a16="http://schemas.microsoft.com/office/drawing/2014/main" id="{5F87AA55-C07A-46F9-9D59-4880FCEE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10">
            <a:extLst xmlns:a="http://schemas.openxmlformats.org/drawingml/2006/main">
              <a:ext uri="{FF2B5EF4-FFF2-40B4-BE49-F238E27FC236}">
                <a16:creationId xmlns:a16="http://schemas.microsoft.com/office/drawing/2014/main" id="{F877BD5F-D585-4828-AA16-1D937922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10">
            <a:extLst xmlns:a="http://schemas.openxmlformats.org/drawingml/2006/main">
              <a:ext uri="{FF2B5EF4-FFF2-40B4-BE49-F238E27FC236}">
                <a16:creationId xmlns:a16="http://schemas.microsoft.com/office/drawing/2014/main" id="{55E7094E-862B-41C9-B9AB-F55C5EF4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10">
            <a:extLst xmlns:a="http://schemas.openxmlformats.org/drawingml/2006/main">
              <a:ext uri="{FF2B5EF4-FFF2-40B4-BE49-F238E27FC236}">
                <a16:creationId xmlns:a16="http://schemas.microsoft.com/office/drawing/2014/main" id="{26F4580B-F59E-4C07-9881-23543A32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§1.6 · SEER · DOER · ENJOYER</a:t>
            </a:r>
          </a:p>
        </p:txBody>
      </p:sp>
      <p:sp>
        <p:nvSpPr>
          <p:cNvPr id="207" name="Google Shape;207;p10">
            <a:extLst xmlns:a="http://schemas.openxmlformats.org/drawingml/2006/main">
              <a:ext uri="{FF2B5EF4-FFF2-40B4-BE49-F238E27FC236}">
                <a16:creationId xmlns:a16="http://schemas.microsoft.com/office/drawing/2014/main" id="{2A1653D8-F3A0-453B-A338-12A7CFB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Seer, Doer, and Enjoyer</a:t>
            </a:r>
          </a:p>
        </p:txBody>
      </p:sp>
      <p:sp>
        <p:nvSpPr>
          <p:cNvPr id="208" name="Google Shape;208;p10">
            <a:extLst xmlns:a="http://schemas.openxmlformats.org/drawingml/2006/main">
              <a:ext uri="{FF2B5EF4-FFF2-40B4-BE49-F238E27FC236}">
                <a16:creationId xmlns:a16="http://schemas.microsoft.com/office/drawing/2014/main" id="{93A60710-C057-478B-AEDF-592ADE63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awakened human is seer, doer, and enjoyer in one joint form. Seer-status establishes understanding; doing places it in action; enjoyer-status names the experienced fruit or fruition of action.</a:t>
            </a:r>
          </a:p>
        </p:txBody>
      </p:sp>
      <p:sp>
        <p:nvSpPr>
          <p:cNvPr id="209" name="Google Shape;209;p10">
            <a:extLst xmlns:a="http://schemas.openxmlformats.org/drawingml/2006/main">
              <a:ext uri="{FF2B5EF4-FFF2-40B4-BE49-F238E27FC236}">
                <a16:creationId xmlns:a16="http://schemas.microsoft.com/office/drawing/2014/main" id="{FC5AD1DE-0993-48CE-A457-04C91E25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0">
            <a:extLst xmlns:a="http://schemas.openxmlformats.org/drawingml/2006/main">
              <a:ext uri="{FF2B5EF4-FFF2-40B4-BE49-F238E27FC236}">
                <a16:creationId xmlns:a16="http://schemas.microsoft.com/office/drawing/2014/main" id="{302F08FE-44C1-4A31-9367-D11986B7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Seer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understanding</a:t>
            </a:r>
          </a:p>
        </p:txBody>
      </p:sp>
      <p:sp>
        <p:nvSpPr>
          <p:cNvPr id="211" name="Google Shape;211;p10">
            <a:extLst xmlns:a="http://schemas.openxmlformats.org/drawingml/2006/main">
              <a:ext uri="{FF2B5EF4-FFF2-40B4-BE49-F238E27FC236}">
                <a16:creationId xmlns:a16="http://schemas.microsoft.com/office/drawing/2014/main" id="{4BDBB112-0D12-4D7D-80BC-440FA0BF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goal: realised seeing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coexistence and relationship known</a:t>
            </a:r>
          </a:p>
        </p:txBody>
      </p:sp>
      <p:sp>
        <p:nvSpPr>
          <p:cNvPr id="212" name="Google Shape;212;p10">
            <a:extLst xmlns:a="http://schemas.openxmlformats.org/drawingml/2006/main">
              <a:ext uri="{FF2B5EF4-FFF2-40B4-BE49-F238E27FC236}">
                <a16:creationId xmlns:a16="http://schemas.microsoft.com/office/drawing/2014/main" id="{F4B31548-3274-45BA-8C29-F735DC21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10">
            <a:extLst xmlns:a="http://schemas.openxmlformats.org/drawingml/2006/main">
              <a:ext uri="{FF2B5EF4-FFF2-40B4-BE49-F238E27FC236}">
                <a16:creationId xmlns:a16="http://schemas.microsoft.com/office/drawing/2014/main" id="{04B49451-D66A-495D-8D6F-AFD0476E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Doer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action</a:t>
            </a:r>
          </a:p>
        </p:txBody>
      </p:sp>
      <p:sp>
        <p:nvSpPr>
          <p:cNvPr id="214" name="Google Shape;214;p10">
            <a:extLst xmlns:a="http://schemas.openxmlformats.org/drawingml/2006/main">
              <a:ext uri="{FF2B5EF4-FFF2-40B4-BE49-F238E27FC236}">
                <a16:creationId xmlns:a16="http://schemas.microsoft.com/office/drawing/2014/main" id="{A64279CB-EFBE-42AC-AF57-E6BEB134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goal: authentic conduct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work and behaviour aligned</a:t>
            </a:r>
          </a:p>
        </p:txBody>
      </p:sp>
      <p:sp>
        <p:nvSpPr>
          <p:cNvPr id="215" name="Google Shape;215;p10">
            <a:extLst xmlns:a="http://schemas.openxmlformats.org/drawingml/2006/main">
              <a:ext uri="{FF2B5EF4-FFF2-40B4-BE49-F238E27FC236}">
                <a16:creationId xmlns:a16="http://schemas.microsoft.com/office/drawing/2014/main" id="{7C5C6C4F-CC30-416C-86AC-B2641C0C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 w="254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10">
            <a:extLst xmlns:a="http://schemas.openxmlformats.org/drawingml/2006/main">
              <a:ext uri="{FF2B5EF4-FFF2-40B4-BE49-F238E27FC236}">
                <a16:creationId xmlns:a16="http://schemas.microsoft.com/office/drawing/2014/main" id="{F972ED4B-3D61-4E47-8C1A-9FC7226A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240280"/>
            <a:ext cx="1417320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Enjoyer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experienced result</a:t>
            </a:r>
          </a:p>
        </p:txBody>
      </p:sp>
      <p:sp>
        <p:nvSpPr>
          <p:cNvPr id="217" name="Google Shape;217;p10">
            <a:extLst xmlns:a="http://schemas.openxmlformats.org/drawingml/2006/main">
              <a:ext uri="{FF2B5EF4-FFF2-40B4-BE49-F238E27FC236}">
                <a16:creationId xmlns:a16="http://schemas.microsoft.com/office/drawing/2014/main" id="{C2696FDC-6E47-4393-B77E-17FBBEDC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794760"/>
            <a:ext cx="18745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receives fruition; in awakened conduct this supports mutual satisfaction</a:t>
            </a:r>
          </a:p>
        </p:txBody>
      </p:sp>
      <p:sp>
        <p:nvSpPr>
          <p:cNvPr id="218" name="Google Shape;218;p10">
            <a:extLst xmlns:a="http://schemas.openxmlformats.org/drawingml/2006/main">
              <a:ext uri="{FF2B5EF4-FFF2-40B4-BE49-F238E27FC236}">
                <a16:creationId xmlns:a16="http://schemas.microsoft.com/office/drawing/2014/main" id="{CB45AF9C-6E0E-4BC3-9ABD-2927804B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48840"/>
            <a:ext cx="1965960" cy="224028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10">
            <a:extLst xmlns:a="http://schemas.openxmlformats.org/drawingml/2006/main">
              <a:ext uri="{FF2B5EF4-FFF2-40B4-BE49-F238E27FC236}">
                <a16:creationId xmlns:a16="http://schemas.microsoft.com/office/drawing/2014/main" id="{C0F43803-0A09-45AA-9AAA-5C3552F8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331720"/>
            <a:ext cx="1627632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One human joint form</a:t>
            </a:r>
          </a:p>
          <a:p xmlns:a="http://schemas.openxmlformats.org/drawingml/2006/main"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sz="10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seer does not withdraw from action.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doer is guided by understanding.</a:t>
            </a:r>
          </a:p>
          <a:p xmlns:a="http://schemas.openxmlformats.org/drawingml/2006/main"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sz="10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enjoyer receives the result and evaluates its fit with the accepted aim.</a:t>
            </a:r>
          </a:p>
        </p:txBody>
      </p:sp>
      <p:sp>
        <p:nvSpPr>
          <p:cNvPr id="230" name="Google Shape;230;p10">
            <a:extLst xmlns:a="http://schemas.openxmlformats.org/drawingml/2006/main">
              <a:ext uri="{FF2B5EF4-FFF2-40B4-BE49-F238E27FC236}">
                <a16:creationId xmlns:a16="http://schemas.microsoft.com/office/drawing/2014/main" id="{49CC71E0-2873-4327-84F0-385A2DF8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60000"/>
            <a:ext cx="8138160" cy="2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Mutual satisfaction is the awakened humane instance of fruition; it is not the definition of enjoyer-status in every action.</a:t>
            </a:r>
          </a:p>
        </p:txBody>
      </p:sp>
      <p:sp>
        <p:nvSpPr>
          <p:cNvPr id="220" name="Google Shape;220;p10">
            <a:extLst xmlns:a="http://schemas.openxmlformats.org/drawingml/2006/main">
              <a:ext uri="{FF2B5EF4-FFF2-40B4-BE49-F238E27FC236}">
                <a16:creationId xmlns:a16="http://schemas.microsoft.com/office/drawing/2014/main" id="{AE115049-FE9E-4C62-B676-580959BE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§3.18  ·  JV p. 138  ·  MVD pp. 12, 115  ·  AnalyticMadhyasthDarshan.org  ·  17 / 25</a:t>
            </a:r>
          </a:p>
        </p:txBody>
      </p:sp>
    </p:spTree>
    <p:extLst>
      <p:ext uri="{BB962C8B-B14F-4D97-AF65-F5344CB8AC3E}">
        <p14:creationId xmlns:p14="http://schemas.microsoft.com/office/powerpoint/2010/main" val="19977886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p19">
            <a:extLst xmlns:a="http://schemas.openxmlformats.org/drawingml/2006/main">
              <a:ext uri="{FF2B5EF4-FFF2-40B4-BE49-F238E27FC236}">
                <a16:creationId xmlns:a16="http://schemas.microsoft.com/office/drawing/2014/main" id="{6442EB82-1422-4108-B116-5784404D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6" name="Google Shape;456;p19">
            <a:extLst xmlns:a="http://schemas.openxmlformats.org/drawingml/2006/main">
              <a:ext uri="{FF2B5EF4-FFF2-40B4-BE49-F238E27FC236}">
                <a16:creationId xmlns:a16="http://schemas.microsoft.com/office/drawing/2014/main" id="{1F0C3D57-24D6-4278-93D2-E9A79C3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7" name="Google Shape;457;p19">
            <a:extLst xmlns:a="http://schemas.openxmlformats.org/drawingml/2006/main">
              <a:ext uri="{FF2B5EF4-FFF2-40B4-BE49-F238E27FC236}">
                <a16:creationId xmlns:a16="http://schemas.microsoft.com/office/drawing/2014/main" id="{57899CEF-CD7B-402E-AC4C-5575832C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8" name="Google Shape;458;p19">
            <a:extLst xmlns:a="http://schemas.openxmlformats.org/drawingml/2006/main">
              <a:ext uri="{FF2B5EF4-FFF2-40B4-BE49-F238E27FC236}">
                <a16:creationId xmlns:a16="http://schemas.microsoft.com/office/drawing/2014/main" id="{51335767-D53D-43F6-8B5A-91B90B7B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§1.7 · THE EVIDENCE REGIME</a:t>
            </a:r>
          </a:p>
        </p:txBody>
      </p:sp>
      <p:sp>
        <p:nvSpPr>
          <p:cNvPr id="459" name="Google Shape;459;p19">
            <a:extLst xmlns:a="http://schemas.openxmlformats.org/drawingml/2006/main">
              <a:ext uri="{FF2B5EF4-FFF2-40B4-BE49-F238E27FC236}">
                <a16:creationId xmlns:a16="http://schemas.microsoft.com/office/drawing/2014/main" id="{22BD32C7-ACF1-4879-B3CF-EBE1894B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Realisation Must Become Publicly Legible</a:t>
            </a:r>
          </a:p>
        </p:txBody>
      </p:sp>
      <p:sp>
        <p:nvSpPr>
          <p:cNvPr id="460" name="Google Shape;460;p19">
            <a:extLst xmlns:a="http://schemas.openxmlformats.org/drawingml/2006/main">
              <a:ext uri="{FF2B5EF4-FFF2-40B4-BE49-F238E27FC236}">
                <a16:creationId xmlns:a16="http://schemas.microsoft.com/office/drawing/2014/main" id="{A6AFFC79-45A0-4C47-99DD-D0052E75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Madhyasth Darshan begins with realisation, but it does not end in private certitude. A claim must travel through behaviour, experiment, evaluation, and conveyance until its coherence can be encountered by others.</a:t>
            </a:r>
          </a:p>
        </p:txBody>
      </p:sp>
      <p:sp>
        <p:nvSpPr>
          <p:cNvPr id="461" name="Google Shape;461;p19">
            <a:extLst xmlns:a="http://schemas.openxmlformats.org/drawingml/2006/main">
              <a:ext uri="{FF2B5EF4-FFF2-40B4-BE49-F238E27FC236}">
                <a16:creationId xmlns:a16="http://schemas.microsoft.com/office/drawing/2014/main" id="{2652AEEC-F12F-4C4F-AB0C-A68340BF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2" name="Google Shape;462;p19">
            <a:extLst xmlns:a="http://schemas.openxmlformats.org/drawingml/2006/main">
              <a:ext uri="{FF2B5EF4-FFF2-40B4-BE49-F238E27FC236}">
                <a16:creationId xmlns:a16="http://schemas.microsoft.com/office/drawing/2014/main" id="{C2119089-8239-455F-ACE5-D83BCA57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Realisation — first-person</a:t>
            </a:r>
          </a:p>
        </p:txBody>
      </p:sp>
      <p:sp>
        <p:nvSpPr>
          <p:cNvPr id="463" name="Google Shape;463;p19">
            <a:extLst xmlns:a="http://schemas.openxmlformats.org/drawingml/2006/main">
              <a:ext uri="{FF2B5EF4-FFF2-40B4-BE49-F238E27FC236}">
                <a16:creationId xmlns:a16="http://schemas.microsoft.com/office/drawing/2014/main" id="{E3878145-1C26-491C-8870-38029F22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knower directly understands coexistence, jeevan, and humane conduct; authenticity is the capacity to bear and evidence that understanding.</a:t>
            </a:r>
          </a:p>
        </p:txBody>
      </p:sp>
      <p:sp>
        <p:nvSpPr>
          <p:cNvPr id="464" name="Google Shape;464;p19">
            <a:extLst xmlns:a="http://schemas.openxmlformats.org/drawingml/2006/main">
              <a:ext uri="{FF2B5EF4-FFF2-40B4-BE49-F238E27FC236}">
                <a16:creationId xmlns:a16="http://schemas.microsoft.com/office/drawing/2014/main" id="{24A87DF5-703F-4D5A-A446-D9BDB32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5" name="Google Shape;465;p19">
            <a:extLst xmlns:a="http://schemas.openxmlformats.org/drawingml/2006/main">
              <a:ext uri="{FF2B5EF4-FFF2-40B4-BE49-F238E27FC236}">
                <a16:creationId xmlns:a16="http://schemas.microsoft.com/office/drawing/2014/main" id="{587D34E1-5825-4E1C-A3BC-28850A83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Behaviour — relational</a:t>
            </a:r>
          </a:p>
        </p:txBody>
      </p:sp>
      <p:sp>
        <p:nvSpPr>
          <p:cNvPr id="466" name="Google Shape;466;p19">
            <a:extLst xmlns:a="http://schemas.openxmlformats.org/drawingml/2006/main">
              <a:ext uri="{FF2B5EF4-FFF2-40B4-BE49-F238E27FC236}">
                <a16:creationId xmlns:a16="http://schemas.microsoft.com/office/drawing/2014/main" id="{1A09B0C6-2C25-443F-8E8B-359D54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Recognition and fulfilment of values make understanding visible in family and social relationships, where mutual satisfaction can be assessed.</a:t>
            </a:r>
          </a:p>
        </p:txBody>
      </p:sp>
      <p:sp>
        <p:nvSpPr>
          <p:cNvPr id="467" name="Google Shape;467;p19">
            <a:extLst xmlns:a="http://schemas.openxmlformats.org/drawingml/2006/main">
              <a:ext uri="{FF2B5EF4-FFF2-40B4-BE49-F238E27FC236}">
                <a16:creationId xmlns:a16="http://schemas.microsoft.com/office/drawing/2014/main" id="{A9D98D41-5749-4CA8-9AB6-3C4331B1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8" name="Google Shape;468;p19">
            <a:extLst xmlns:a="http://schemas.openxmlformats.org/drawingml/2006/main">
              <a:ext uri="{FF2B5EF4-FFF2-40B4-BE49-F238E27FC236}">
                <a16:creationId xmlns:a16="http://schemas.microsoft.com/office/drawing/2014/main" id="{3E75C652-C505-4E6A-BFF1-3F16ED86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Experiment — practical</a:t>
            </a:r>
          </a:p>
        </p:txBody>
      </p:sp>
      <p:sp>
        <p:nvSpPr>
          <p:cNvPr id="469" name="Google Shape;469;p19">
            <a:extLst xmlns:a="http://schemas.openxmlformats.org/drawingml/2006/main">
              <a:ext uri="{FF2B5EF4-FFF2-40B4-BE49-F238E27FC236}">
                <a16:creationId xmlns:a16="http://schemas.microsoft.com/office/drawing/2014/main" id="{37640E8C-9898-450C-9F07-A3CB1B5F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Work and productive participation expose understanding to material conditions, consequences, repeatability, and correction.</a:t>
            </a:r>
          </a:p>
        </p:txBody>
      </p:sp>
      <p:sp>
        <p:nvSpPr>
          <p:cNvPr id="470" name="Google Shape;470;p19">
            <a:extLst xmlns:a="http://schemas.openxmlformats.org/drawingml/2006/main">
              <a:ext uri="{FF2B5EF4-FFF2-40B4-BE49-F238E27FC236}">
                <a16:creationId xmlns:a16="http://schemas.microsoft.com/office/drawing/2014/main" id="{D1BF83F1-7747-433B-A60C-B6BE5091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1" name="Google Shape;471;p19">
            <a:extLst xmlns:a="http://schemas.openxmlformats.org/drawingml/2006/main">
              <a:ext uri="{FF2B5EF4-FFF2-40B4-BE49-F238E27FC236}">
                <a16:creationId xmlns:a16="http://schemas.microsoft.com/office/drawing/2014/main" id="{3C6187CA-DB80-4E68-B45B-CBADC96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Transmission — second-person</a:t>
            </a:r>
          </a:p>
        </p:txBody>
      </p:sp>
      <p:sp>
        <p:nvSpPr>
          <p:cNvPr id="472" name="Google Shape;472;p19">
            <a:extLst xmlns:a="http://schemas.openxmlformats.org/drawingml/2006/main">
              <a:ext uri="{FF2B5EF4-FFF2-40B4-BE49-F238E27FC236}">
                <a16:creationId xmlns:a16="http://schemas.microsoft.com/office/drawing/2014/main" id="{43B6A619-54E0-43CE-9B72-C41E5A13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learner must be able to understand, live, evaluate, and convey the proposal without depending on borrowed authority or verbal repetition.</a:t>
            </a:r>
          </a:p>
        </p:txBody>
      </p:sp>
      <p:sp>
        <p:nvSpPr>
          <p:cNvPr id="473" name="Google Shape;473;p19">
            <a:extLst xmlns:a="http://schemas.openxmlformats.org/drawingml/2006/main">
              <a:ext uri="{FF2B5EF4-FFF2-40B4-BE49-F238E27FC236}">
                <a16:creationId xmlns:a16="http://schemas.microsoft.com/office/drawing/2014/main" id="{14D9C93B-C570-40AD-A8BE-2A6E2FF4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p. 12  ·  SB p. 44  ·  JV p. 26  ·  AnalyticMadhyasthDarshan.org  ·  18 / 25</a:t>
            </a:r>
          </a:p>
        </p:txBody>
      </p:sp>
    </p:spTree>
    <p:extLst>
      <p:ext uri="{BB962C8B-B14F-4D97-AF65-F5344CB8AC3E}">
        <p14:creationId xmlns:p14="http://schemas.microsoft.com/office/powerpoint/2010/main" val="162786451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1FDF55EE-1DFC-4864-BBCF-6889CF1E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5AD84244-4940-47B0-823B-B7C36ED1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7">
            <a:extLst xmlns:a="http://schemas.openxmlformats.org/drawingml/2006/main">
              <a:ext uri="{FF2B5EF4-FFF2-40B4-BE49-F238E27FC236}">
                <a16:creationId xmlns:a16="http://schemas.microsoft.com/office/drawing/2014/main" id="{11218A88-AD24-47F4-AA7E-CEDB55B3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7">
            <a:extLst xmlns:a="http://schemas.openxmlformats.org/drawingml/2006/main">
              <a:ext uri="{FF2B5EF4-FFF2-40B4-BE49-F238E27FC236}">
                <a16:creationId xmlns:a16="http://schemas.microsoft.com/office/drawing/2014/main" id="{920138EF-D763-4448-A961-8DCEAD2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§1.8 · ROUTES OF KNOWING</a:t>
            </a:r>
          </a:p>
        </p:txBody>
      </p: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B29B9366-7866-413D-82A0-241730EB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Three Routes, One Integrating Criterion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7D7417D2-2684-43CB-8AFE-F91CDBDC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EE33F6BF-95C0-4816-A54C-B6B00AF4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B6E3019C-45D3-4ED1-A9D2-55D72A5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EE1719B3-E68F-4D01-A60C-336CB275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A70DDF07-767E-4CA7-8197-976F5965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Direct perception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6BEFCC17-F959-4C0D-898B-ADDA648A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Brings form, property, event, and relation into experiential proximity through disciplined attention and embodied access.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2B1D4DE1-906E-43B6-A1AC-A7EA7B2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8016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1A555193-C105-42C6-B81B-78A7801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6304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3A08FC77-38FD-4F53-9FDA-4E24295D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152521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D06E458B-173D-440A-9C47-D542B10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157807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2E165D08-90C3-4000-8857-A8714F7B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38988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Inference</a:t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81243F9D-4F30-4A59-8606-FA47AD84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168249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Extends understanding beyond what is presently near, while remaining answerable to possibility, coherence, and subsequent evaluation.</a:t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C24F03F3-13B7-4DA6-B82A-6FFEF1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7E860388-B17F-4D86-B9E1-F64D831A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2DCD6C6B-CF46-4530-A4E5-F7FEC54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0D2E6CD2-706E-4D67-92AD-87B6DF7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99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72284CF3-2391-448B-BA27-7D7834BE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Testimony-activity</a:t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88B4D163-A60F-4D71-A21A-FF9D6686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Receives what has been understood and conveyed by an awakened human, then places it under study, reflection, practice, and verification.</a:t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35D606E5-7371-49D6-8AFE-E2CD65E2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794760" cy="118872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60ED207F-363E-479B-A217-044586C3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88920"/>
            <a:ext cx="310896" cy="3108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F59040DB-FE8E-4768-B34F-7171056F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4219" y="2851099"/>
            <a:ext cx="186538" cy="1865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2D39A687-7B45-4546-8894-6BDA52A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7072" y="2903952"/>
            <a:ext cx="80833" cy="808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7">
            <a:extLst xmlns:a="http://schemas.openxmlformats.org/drawingml/2006/main">
              <a:ext uri="{FF2B5EF4-FFF2-40B4-BE49-F238E27FC236}">
                <a16:creationId xmlns:a16="http://schemas.microsoft.com/office/drawing/2014/main" id="{40CC8AF1-DE82-4E58-8C0C-0A05484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715768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Realisation — integrating criterion</a:t>
            </a:r>
          </a:p>
        </p:txBody>
      </p:sp>
      <p:sp>
        <p:nvSpPr>
          <p:cNvPr id="149" name="Google Shape;149;p7">
            <a:extLst xmlns:a="http://schemas.openxmlformats.org/drawingml/2006/main">
              <a:ext uri="{FF2B5EF4-FFF2-40B4-BE49-F238E27FC236}">
                <a16:creationId xmlns:a16="http://schemas.microsoft.com/office/drawing/2014/main" id="{43CACCDB-C99D-4605-856E-E37BB61C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3008376"/>
            <a:ext cx="3063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Realisation is not a fourth input alongside perception, inference, and testimony. It integrates what is understood and must become capable of coherent projection and evidence.</a:t>
            </a:r>
          </a:p>
        </p:txBody>
      </p:sp>
      <p:sp>
        <p:nvSpPr>
          <p:cNvPr id="150" name="Google Shape;150;p7">
            <a:extLst xmlns:a="http://schemas.openxmlformats.org/drawingml/2006/main">
              <a:ext uri="{FF2B5EF4-FFF2-40B4-BE49-F238E27FC236}">
                <a16:creationId xmlns:a16="http://schemas.microsoft.com/office/drawing/2014/main" id="{C900555A-CF8C-4582-8C80-52AF84F0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7863840" cy="749808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7">
            <a:extLst xmlns:a="http://schemas.openxmlformats.org/drawingml/2006/main">
              <a:ext uri="{FF2B5EF4-FFF2-40B4-BE49-F238E27FC236}">
                <a16:creationId xmlns:a16="http://schemas.microsoft.com/office/drawing/2014/main" id="{2117AB49-652B-42CE-AF52-B10AE62D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40"/>
            <a:ext cx="740664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Perception, inference, and testimony-activity are cognitive routes. Reflection and action mature them toward realisation, whose adequacy is tested in evidence.</a:t>
            </a:r>
          </a:p>
        </p:txBody>
      </p:sp>
      <p:sp>
        <p:nvSpPr>
          <p:cNvPr id="152" name="Google Shape;152;p7">
            <a:extLst xmlns:a="http://schemas.openxmlformats.org/drawingml/2006/main">
              <a:ext uri="{FF2B5EF4-FFF2-40B4-BE49-F238E27FC236}">
                <a16:creationId xmlns:a16="http://schemas.microsoft.com/office/drawing/2014/main" id="{C8AB52DC-457F-4AED-9264-440E84A6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KD pp. 20–21  ·  MVD pp. 35, 273–301, 317  ·  AnalyticMadhyasthDarshan.org  ·  19 / 25</a:t>
            </a:r>
          </a:p>
        </p:txBody>
      </p:sp>
    </p:spTree>
    <p:extLst>
      <p:ext uri="{BB962C8B-B14F-4D97-AF65-F5344CB8AC3E}">
        <p14:creationId xmlns:p14="http://schemas.microsoft.com/office/powerpoint/2010/main" val="97238234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16">
            <a:extLst xmlns:a="http://schemas.openxmlformats.org/drawingml/2006/main">
              <a:ext uri="{FF2B5EF4-FFF2-40B4-BE49-F238E27FC236}">
                <a16:creationId xmlns:a16="http://schemas.microsoft.com/office/drawing/2014/main" id="{1F4410D1-34DA-403C-BA40-15230764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">
            <a:extLst xmlns:a="http://schemas.openxmlformats.org/drawingml/2006/main">
              <a:ext uri="{FF2B5EF4-FFF2-40B4-BE49-F238E27FC236}">
                <a16:creationId xmlns:a16="http://schemas.microsoft.com/office/drawing/2014/main" id="{57798501-B417-480F-AC34-D64B7122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16">
            <a:extLst xmlns:a="http://schemas.openxmlformats.org/drawingml/2006/main">
              <a:ext uri="{FF2B5EF4-FFF2-40B4-BE49-F238E27FC236}">
                <a16:creationId xmlns:a16="http://schemas.microsoft.com/office/drawing/2014/main" id="{A0FC3A8A-6709-413A-BDD8-5A095462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16">
            <a:extLst xmlns:a="http://schemas.openxmlformats.org/drawingml/2006/main">
              <a:ext uri="{FF2B5EF4-FFF2-40B4-BE49-F238E27FC236}">
                <a16:creationId xmlns:a16="http://schemas.microsoft.com/office/drawing/2014/main" id="{5A521877-D588-43D4-BAE5-E430C7E4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§1.8 · STUDY AND TRANSMISSION</a:t>
            </a:r>
          </a:p>
        </p:txBody>
      </p:sp>
      <p:sp>
        <p:nvSpPr>
          <p:cNvPr id="377" name="Google Shape;377;p16">
            <a:extLst xmlns:a="http://schemas.openxmlformats.org/drawingml/2006/main">
              <a:ext uri="{FF2B5EF4-FFF2-40B4-BE49-F238E27FC236}">
                <a16:creationId xmlns:a16="http://schemas.microsoft.com/office/drawing/2014/main" id="{E43344FB-5441-428B-858A-376598E0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Study Must Mature Beyond Belief</a:t>
            </a:r>
          </a:p>
        </p:txBody>
      </p:sp>
      <p:sp>
        <p:nvSpPr>
          <p:cNvPr id="378" name="Google Shape;378;p16">
            <a:extLst xmlns:a="http://schemas.openxmlformats.org/drawingml/2006/main">
              <a:ext uri="{FF2B5EF4-FFF2-40B4-BE49-F238E27FC236}">
                <a16:creationId xmlns:a16="http://schemas.microsoft.com/office/drawing/2014/main" id="{4A1B57B2-5A19-4109-8BC2-FD0068E7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Study begins with the possibility of realisation and includes language, definition, comparison within experience, reflection, practice, work, behaviour, and evaluation. Guidance matters, but deference cannot establish truth.</a:t>
            </a:r>
          </a:p>
        </p:txBody>
      </p:sp>
      <p:sp>
        <p:nvSpPr>
          <p:cNvPr id="379" name="Google Shape;379;p16">
            <a:extLst xmlns:a="http://schemas.openxmlformats.org/drawingml/2006/main">
              <a:ext uri="{FF2B5EF4-FFF2-40B4-BE49-F238E27FC236}">
                <a16:creationId xmlns:a16="http://schemas.microsoft.com/office/drawing/2014/main" id="{0C65F213-D3FF-4033-8FF4-F464BB3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16">
            <a:extLst xmlns:a="http://schemas.openxmlformats.org/drawingml/2006/main">
              <a:ext uri="{FF2B5EF4-FFF2-40B4-BE49-F238E27FC236}">
                <a16:creationId xmlns:a16="http://schemas.microsoft.com/office/drawing/2014/main" id="{2BA11955-42B7-4E6A-9D50-483C0F1E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Study</a:t>
            </a:r>
          </a:p>
        </p:txBody>
      </p:sp>
      <p:sp>
        <p:nvSpPr>
          <p:cNvPr id="381" name="Google Shape;381;p16">
            <a:extLst xmlns:a="http://schemas.openxmlformats.org/drawingml/2006/main">
              <a:ext uri="{FF2B5EF4-FFF2-40B4-BE49-F238E27FC236}">
                <a16:creationId xmlns:a16="http://schemas.microsoft.com/office/drawing/2014/main" id="{D2FA9C2B-589C-41D2-8CFF-AB1AC548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 proposal is clarified in language, examined in reflection, tested in relationship and work, and revised where result exposes contradiction.</a:t>
            </a:r>
          </a:p>
        </p:txBody>
      </p:sp>
      <p:sp>
        <p:nvSpPr>
          <p:cNvPr id="382" name="Google Shape;382;p16">
            <a:extLst xmlns:a="http://schemas.openxmlformats.org/drawingml/2006/main">
              <a:ext uri="{FF2B5EF4-FFF2-40B4-BE49-F238E27FC236}">
                <a16:creationId xmlns:a16="http://schemas.microsoft.com/office/drawing/2014/main" id="{3E5963D1-687E-4B0D-A4BC-81515DCA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16">
            <a:extLst xmlns:a="http://schemas.openxmlformats.org/drawingml/2006/main">
              <a:ext uri="{FF2B5EF4-FFF2-40B4-BE49-F238E27FC236}">
                <a16:creationId xmlns:a16="http://schemas.microsoft.com/office/drawing/2014/main" id="{749BA66B-749E-4508-9224-A8B6B35C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Guidance and tradition</a:t>
            </a:r>
          </a:p>
        </p:txBody>
      </p:sp>
      <p:sp>
        <p:nvSpPr>
          <p:cNvPr id="384" name="Google Shape;384;p16">
            <a:extLst xmlns:a="http://schemas.openxmlformats.org/drawingml/2006/main">
              <a:ext uri="{FF2B5EF4-FFF2-40B4-BE49-F238E27FC236}">
                <a16:creationId xmlns:a16="http://schemas.microsoft.com/office/drawing/2014/main" id="{ABB1D9B7-20F3-4509-B978-5CB9C2F9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An awakened human helps the learner direct attention and distinguish understanding from repetition; the learner must become independently capable of evidence.</a:t>
            </a:r>
          </a:p>
        </p:txBody>
      </p:sp>
      <p:sp>
        <p:nvSpPr>
          <p:cNvPr id="385" name="Google Shape;385;p16">
            <a:extLst xmlns:a="http://schemas.openxmlformats.org/drawingml/2006/main">
              <a:ext uri="{FF2B5EF4-FFF2-40B4-BE49-F238E27FC236}">
                <a16:creationId xmlns:a16="http://schemas.microsoft.com/office/drawing/2014/main" id="{C211B686-08B8-4796-9457-DF5FDC56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Study is in, by, and for realisation in coexistence. Transmission succeeds when the understanding can be lived, evaluated, and conveyed again without loss or compulsion.</a:t>
            </a:r>
          </a:p>
        </p:txBody>
      </p:sp>
      <p:sp>
        <p:nvSpPr>
          <p:cNvPr id="386" name="Google Shape;386;p16">
            <a:extLst xmlns:a="http://schemas.openxmlformats.org/drawingml/2006/main">
              <a:ext uri="{FF2B5EF4-FFF2-40B4-BE49-F238E27FC236}">
                <a16:creationId xmlns:a16="http://schemas.microsoft.com/office/drawing/2014/main" id="{E05A1985-6023-4BD0-BB78-6DB46017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16">
            <a:extLst xmlns:a="http://schemas.openxmlformats.org/drawingml/2006/main">
              <a:ext uri="{FF2B5EF4-FFF2-40B4-BE49-F238E27FC236}">
                <a16:creationId xmlns:a16="http://schemas.microsoft.com/office/drawing/2014/main" id="{1C834254-7B57-4112-A7C3-D8D4285F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388" name="Google Shape;388;p16">
            <a:extLst xmlns:a="http://schemas.openxmlformats.org/drawingml/2006/main">
              <a:ext uri="{FF2B5EF4-FFF2-40B4-BE49-F238E27FC236}">
                <a16:creationId xmlns:a16="http://schemas.microsoft.com/office/drawing/2014/main" id="{FD9F1E8A-7EB2-40EE-9C81-2BC418DB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89" name="Google Shape;389;p16">
            <a:extLst xmlns:a="http://schemas.openxmlformats.org/drawingml/2006/main">
              <a:ext uri="{FF2B5EF4-FFF2-40B4-BE49-F238E27FC236}">
                <a16:creationId xmlns:a16="http://schemas.microsoft.com/office/drawing/2014/main" id="{56AC2E7C-8F0D-4288-83AD-96BC81D0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16">
            <a:extLst xmlns:a="http://schemas.openxmlformats.org/drawingml/2006/main">
              <a:ext uri="{FF2B5EF4-FFF2-40B4-BE49-F238E27FC236}">
                <a16:creationId xmlns:a16="http://schemas.microsoft.com/office/drawing/2014/main" id="{4D7E7337-4D80-469A-9F92-52CF4127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Reflection</a:t>
            </a:r>
          </a:p>
        </p:txBody>
      </p:sp>
      <p:sp>
        <p:nvSpPr>
          <p:cNvPr id="391" name="Google Shape;391;p16">
            <a:extLst xmlns:a="http://schemas.openxmlformats.org/drawingml/2006/main">
              <a:ext uri="{FF2B5EF4-FFF2-40B4-BE49-F238E27FC236}">
                <a16:creationId xmlns:a16="http://schemas.microsoft.com/office/drawing/2014/main" id="{4E67D567-6A22-476C-A7E6-1E625917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2" name="Google Shape;392;p16">
            <a:extLst xmlns:a="http://schemas.openxmlformats.org/drawingml/2006/main">
              <a:ext uri="{FF2B5EF4-FFF2-40B4-BE49-F238E27FC236}">
                <a16:creationId xmlns:a16="http://schemas.microsoft.com/office/drawing/2014/main" id="{0BCED3E7-79B9-4020-8C22-97155CED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6">
            <a:extLst xmlns:a="http://schemas.openxmlformats.org/drawingml/2006/main">
              <a:ext uri="{FF2B5EF4-FFF2-40B4-BE49-F238E27FC236}">
                <a16:creationId xmlns:a16="http://schemas.microsoft.com/office/drawing/2014/main" id="{F06F3ACC-BA7E-49E1-BDC3-03810BEB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</a:t>
            </a:r>
          </a:p>
        </p:txBody>
      </p:sp>
      <p:sp>
        <p:nvSpPr>
          <p:cNvPr id="394" name="Google Shape;394;p16">
            <a:extLst xmlns:a="http://schemas.openxmlformats.org/drawingml/2006/main">
              <a:ext uri="{FF2B5EF4-FFF2-40B4-BE49-F238E27FC236}">
                <a16:creationId xmlns:a16="http://schemas.microsoft.com/office/drawing/2014/main" id="{F3B37F53-63C1-4CA4-A133-2664FB83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5" name="Google Shape;395;p16">
            <a:extLst xmlns:a="http://schemas.openxmlformats.org/drawingml/2006/main">
              <a:ext uri="{FF2B5EF4-FFF2-40B4-BE49-F238E27FC236}">
                <a16:creationId xmlns:a16="http://schemas.microsoft.com/office/drawing/2014/main" id="{8828DA70-5489-4652-A619-21DAE49E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16">
            <a:extLst xmlns:a="http://schemas.openxmlformats.org/drawingml/2006/main">
              <a:ext uri="{FF2B5EF4-FFF2-40B4-BE49-F238E27FC236}">
                <a16:creationId xmlns:a16="http://schemas.microsoft.com/office/drawing/2014/main" id="{282BD5CD-04DF-4D29-A610-770B6F3C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Conveyance</a:t>
            </a:r>
          </a:p>
        </p:txBody>
      </p:sp>
      <p:sp>
        <p:nvSpPr>
          <p:cNvPr id="397" name="Google Shape;397;p16">
            <a:extLst xmlns:a="http://schemas.openxmlformats.org/drawingml/2006/main">
              <a:ext uri="{FF2B5EF4-FFF2-40B4-BE49-F238E27FC236}">
                <a16:creationId xmlns:a16="http://schemas.microsoft.com/office/drawing/2014/main" id="{CB0BFA60-DD9E-4D48-AACF-B0609CA3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proof of comprehension includes the ability to make the understanding accessible to another person.</a:t>
            </a:r>
          </a:p>
        </p:txBody>
      </p:sp>
      <p:sp>
        <p:nvSpPr>
          <p:cNvPr id="398" name="Google Shape;398;p16">
            <a:extLst xmlns:a="http://schemas.openxmlformats.org/drawingml/2006/main">
              <a:ext uri="{FF2B5EF4-FFF2-40B4-BE49-F238E27FC236}">
                <a16:creationId xmlns:a16="http://schemas.microsoft.com/office/drawing/2014/main" id="{0E91AA63-5AA4-4877-B75E-6BE3FEA8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MVD pp. 35, 90, 273–301, 317  ·  JV p. 26  ·  KD §3.17  ·  AnalyticMadhyasthDarshan.org  ·  20 / 25</a:t>
            </a:r>
          </a:p>
        </p:txBody>
      </p:sp>
    </p:spTree>
    <p:extLst>
      <p:ext uri="{BB962C8B-B14F-4D97-AF65-F5344CB8AC3E}">
        <p14:creationId xmlns:p14="http://schemas.microsoft.com/office/powerpoint/2010/main" val="170148834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16">
            <a:extLst xmlns:a="http://schemas.openxmlformats.org/drawingml/2006/main">
              <a:ext uri="{FF2B5EF4-FFF2-40B4-BE49-F238E27FC236}">
                <a16:creationId xmlns:a16="http://schemas.microsoft.com/office/drawing/2014/main" id="{EE5E8163-2E3D-4286-83A5-4E98AABD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16">
            <a:extLst xmlns:a="http://schemas.openxmlformats.org/drawingml/2006/main">
              <a:ext uri="{FF2B5EF4-FFF2-40B4-BE49-F238E27FC236}">
                <a16:creationId xmlns:a16="http://schemas.microsoft.com/office/drawing/2014/main" id="{ADF8D51E-7451-457D-961B-75E09BFF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16">
            <a:extLst xmlns:a="http://schemas.openxmlformats.org/drawingml/2006/main">
              <a:ext uri="{FF2B5EF4-FFF2-40B4-BE49-F238E27FC236}">
                <a16:creationId xmlns:a16="http://schemas.microsoft.com/office/drawing/2014/main" id="{35D08C76-95A4-4973-ACB4-130398FF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16">
            <a:extLst xmlns:a="http://schemas.openxmlformats.org/drawingml/2006/main">
              <a:ext uri="{FF2B5EF4-FFF2-40B4-BE49-F238E27FC236}">
                <a16:creationId xmlns:a16="http://schemas.microsoft.com/office/drawing/2014/main" id="{6C78D489-C288-42BA-9E09-D4FC86D4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§1.9 · ERROR AND CORRECTION</a:t>
            </a:r>
          </a:p>
        </p:txBody>
      </p:sp>
      <p:sp>
        <p:nvSpPr>
          <p:cNvPr id="377" name="Google Shape;377;p16">
            <a:extLst xmlns:a="http://schemas.openxmlformats.org/drawingml/2006/main">
              <a:ext uri="{FF2B5EF4-FFF2-40B4-BE49-F238E27FC236}">
                <a16:creationId xmlns:a16="http://schemas.microsoft.com/office/drawing/2014/main" id="{8AEE7DC9-DA87-4328-892E-24BC14E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Three Failures Block Knowing</a:t>
            </a:r>
          </a:p>
        </p:txBody>
      </p:sp>
      <p:sp>
        <p:nvSpPr>
          <p:cNvPr id="378" name="Google Shape;378;p16">
            <a:extLst xmlns:a="http://schemas.openxmlformats.org/drawingml/2006/main">
              <a:ext uri="{FF2B5EF4-FFF2-40B4-BE49-F238E27FC236}">
                <a16:creationId xmlns:a16="http://schemas.microsoft.com/office/drawing/2014/main" id="{45E855C4-95FC-424C-B4CC-5E815114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Error is diagnosed by where the knowing process loses contact with reality, self, relationship, or result. Information and confidence can remain high while the deeper sequence is broken.</a:t>
            </a:r>
          </a:p>
        </p:txBody>
      </p:sp>
      <p:sp>
        <p:nvSpPr>
          <p:cNvPr id="379" name="Google Shape;379;p16">
            <a:extLst xmlns:a="http://schemas.openxmlformats.org/drawingml/2006/main">
              <a:ext uri="{FF2B5EF4-FFF2-40B4-BE49-F238E27FC236}">
                <a16:creationId xmlns:a16="http://schemas.microsoft.com/office/drawing/2014/main" id="{7CC81903-027E-4E44-907F-8267AC59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p16">
            <a:extLst xmlns:a="http://schemas.openxmlformats.org/drawingml/2006/main">
              <a:ext uri="{FF2B5EF4-FFF2-40B4-BE49-F238E27FC236}">
                <a16:creationId xmlns:a16="http://schemas.microsoft.com/office/drawing/2014/main" id="{FFCD59A2-B0B7-445A-8625-09C68EBA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Delusion — bhram</a:t>
            </a:r>
          </a:p>
        </p:txBody>
      </p:sp>
      <p:sp>
        <p:nvSpPr>
          <p:cNvPr id="381" name="Google Shape;381;p16">
            <a:extLst xmlns:a="http://schemas.openxmlformats.org/drawingml/2006/main">
              <a:ext uri="{FF2B5EF4-FFF2-40B4-BE49-F238E27FC236}">
                <a16:creationId xmlns:a16="http://schemas.microsoft.com/office/drawing/2014/main" id="{7B2E8C50-D74D-4078-A781-ED37F3E0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is identified with the body; sensitivity becomes the governing reference, and believing separates from knowing.</a:t>
            </a:r>
          </a:p>
        </p:txBody>
      </p:sp>
      <p:sp>
        <p:nvSpPr>
          <p:cNvPr id="382" name="Google Shape;382;p16">
            <a:extLst xmlns:a="http://schemas.openxmlformats.org/drawingml/2006/main">
              <a:ext uri="{FF2B5EF4-FFF2-40B4-BE49-F238E27FC236}">
                <a16:creationId xmlns:a16="http://schemas.microsoft.com/office/drawing/2014/main" id="{54B67296-4447-4A69-BC97-F67606A4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74520"/>
            <a:ext cx="3794760" cy="1170432"/>
          </a:xfrm>
          <a:prstGeom xmlns:a="http://schemas.openxmlformats.org/drawingml/2006/main" prst="roundRect">
            <a:avLst>
              <a:gd name="adj" fmla="val 7031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16">
            <a:extLst xmlns:a="http://schemas.openxmlformats.org/drawingml/2006/main">
              <a:ext uri="{FF2B5EF4-FFF2-40B4-BE49-F238E27FC236}">
                <a16:creationId xmlns:a16="http://schemas.microsoft.com/office/drawing/2014/main" id="{3D6485FC-39FA-4EB0-8853-153CF541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93392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3B4A7A"/>
                </a:solidFill>
                <a:latin typeface="Cambria"/>
                <a:ea typeface="Cambria"/>
                <a:cs typeface="Cambria"/>
              </a:rPr>
              <a:t>Intellectual mystery — rahasyata</a:t>
            </a:r>
          </a:p>
        </p:txBody>
      </p:sp>
      <p:sp>
        <p:nvSpPr>
          <p:cNvPr id="384" name="Google Shape;384;p16">
            <a:extLst xmlns:a="http://schemas.openxmlformats.org/drawingml/2006/main">
              <a:ext uri="{FF2B5EF4-FFF2-40B4-BE49-F238E27FC236}">
                <a16:creationId xmlns:a16="http://schemas.microsoft.com/office/drawing/2014/main" id="{787961EA-42CD-4B38-A5DE-422537D2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Reflection does not reach realisation, or realisation does not project as evidence; the faculties remain misaligned.</a:t>
            </a:r>
          </a:p>
        </p:txBody>
      </p:sp>
      <p:sp>
        <p:nvSpPr>
          <p:cNvPr id="385" name="Google Shape;385;p16">
            <a:extLst xmlns:a="http://schemas.openxmlformats.org/drawingml/2006/main">
              <a:ext uri="{FF2B5EF4-FFF2-40B4-BE49-F238E27FC236}">
                <a16:creationId xmlns:a16="http://schemas.microsoft.com/office/drawing/2014/main" id="{2A62FD21-0CDD-4DF1-A565-6CC1FFA1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False learning is the middle failure: form, property, essential nature, or dharma is not understood as it is, producing doubt, over-evaluation, under-evaluation, and mis-evaluation.</a:t>
            </a:r>
          </a:p>
        </p:txBody>
      </p:sp>
      <p:sp>
        <p:nvSpPr>
          <p:cNvPr id="386" name="Google Shape;386;p16">
            <a:extLst xmlns:a="http://schemas.openxmlformats.org/drawingml/2006/main">
              <a:ext uri="{FF2B5EF4-FFF2-40B4-BE49-F238E27FC236}">
                <a16:creationId xmlns:a16="http://schemas.microsoft.com/office/drawing/2014/main" id="{33F8C60F-28AA-433E-B157-DF631F16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16">
            <a:extLst xmlns:a="http://schemas.openxmlformats.org/drawingml/2006/main">
              <a:ext uri="{FF2B5EF4-FFF2-40B4-BE49-F238E27FC236}">
                <a16:creationId xmlns:a16="http://schemas.microsoft.com/office/drawing/2014/main" id="{1DBF5721-6FB0-47E7-AF84-E47E92AA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Doubt</a:t>
            </a:r>
          </a:p>
        </p:txBody>
      </p:sp>
      <p:sp>
        <p:nvSpPr>
          <p:cNvPr id="388" name="Google Shape;388;p16">
            <a:extLst xmlns:a="http://schemas.openxmlformats.org/drawingml/2006/main">
              <a:ext uri="{FF2B5EF4-FFF2-40B4-BE49-F238E27FC236}">
                <a16:creationId xmlns:a16="http://schemas.microsoft.com/office/drawing/2014/main" id="{2AF68A6B-78EF-4514-9799-95BA9AA9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89" name="Google Shape;389;p16">
            <a:extLst xmlns:a="http://schemas.openxmlformats.org/drawingml/2006/main">
              <a:ext uri="{FF2B5EF4-FFF2-40B4-BE49-F238E27FC236}">
                <a16:creationId xmlns:a16="http://schemas.microsoft.com/office/drawing/2014/main" id="{B42257E6-D18C-4D3A-B641-E0163891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16">
            <a:extLst xmlns:a="http://schemas.openxmlformats.org/drawingml/2006/main">
              <a:ext uri="{FF2B5EF4-FFF2-40B4-BE49-F238E27FC236}">
                <a16:creationId xmlns:a16="http://schemas.microsoft.com/office/drawing/2014/main" id="{9DD3FDFF-7A8B-4603-9FD8-FD730EC5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Mis-evaluation</a:t>
            </a:r>
          </a:p>
        </p:txBody>
      </p:sp>
      <p:sp>
        <p:nvSpPr>
          <p:cNvPr id="391" name="Google Shape;391;p16">
            <a:extLst xmlns:a="http://schemas.openxmlformats.org/drawingml/2006/main">
              <a:ext uri="{FF2B5EF4-FFF2-40B4-BE49-F238E27FC236}">
                <a16:creationId xmlns:a16="http://schemas.microsoft.com/office/drawing/2014/main" id="{EB6A9F57-3D1A-409B-8571-B2C0C829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2" name="Google Shape;392;p16">
            <a:extLst xmlns:a="http://schemas.openxmlformats.org/drawingml/2006/main">
              <a:ext uri="{FF2B5EF4-FFF2-40B4-BE49-F238E27FC236}">
                <a16:creationId xmlns:a16="http://schemas.microsoft.com/office/drawing/2014/main" id="{F2960607-40BF-4891-BFFD-1D85C4A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6">
            <a:extLst xmlns:a="http://schemas.openxmlformats.org/drawingml/2006/main">
              <a:ext uri="{FF2B5EF4-FFF2-40B4-BE49-F238E27FC236}">
                <a16:creationId xmlns:a16="http://schemas.microsoft.com/office/drawing/2014/main" id="{3D89BF9B-D547-4009-915C-D5A1DA0C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Contradiction</a:t>
            </a:r>
          </a:p>
        </p:txBody>
      </p:sp>
      <p:sp>
        <p:nvSpPr>
          <p:cNvPr id="394" name="Google Shape;394;p16">
            <a:extLst xmlns:a="http://schemas.openxmlformats.org/drawingml/2006/main">
              <a:ext uri="{FF2B5EF4-FFF2-40B4-BE49-F238E27FC236}">
                <a16:creationId xmlns:a16="http://schemas.microsoft.com/office/drawing/2014/main" id="{11CF1EC8-FEFB-49FB-939D-7C097CB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77640"/>
            <a:ext cx="3200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95" name="Google Shape;395;p16">
            <a:extLst xmlns:a="http://schemas.openxmlformats.org/drawingml/2006/main">
              <a:ext uri="{FF2B5EF4-FFF2-40B4-BE49-F238E27FC236}">
                <a16:creationId xmlns:a16="http://schemas.microsoft.com/office/drawing/2014/main" id="{BA221319-804B-4F09-A1A8-1E91A7B8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1E244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16">
            <a:extLst xmlns:a="http://schemas.openxmlformats.org/drawingml/2006/main">
              <a:ext uri="{FF2B5EF4-FFF2-40B4-BE49-F238E27FC236}">
                <a16:creationId xmlns:a16="http://schemas.microsoft.com/office/drawing/2014/main" id="{724FC277-275C-4F7E-A756-9F27B90E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77640"/>
            <a:ext cx="1691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Correction</a:t>
            </a:r>
          </a:p>
        </p:txBody>
      </p:sp>
      <p:sp>
        <p:nvSpPr>
          <p:cNvPr id="397" name="Google Shape;397;p16">
            <a:extLst xmlns:a="http://schemas.openxmlformats.org/drawingml/2006/main">
              <a:ext uri="{FF2B5EF4-FFF2-40B4-BE49-F238E27FC236}">
                <a16:creationId xmlns:a16="http://schemas.microsoft.com/office/drawing/2014/main" id="{E9B40105-D081-49D7-A6E4-DDF7A3CB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53712"/>
            <a:ext cx="7955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Correction requires renewed attention, reflection, action, result, and evaluation — not a stronger assertion of the original belief.</a:t>
            </a:r>
          </a:p>
        </p:txBody>
      </p:sp>
      <p:sp>
        <p:nvSpPr>
          <p:cNvPr id="398" name="Google Shape;398;p16">
            <a:extLst xmlns:a="http://schemas.openxmlformats.org/drawingml/2006/main">
              <a:ext uri="{FF2B5EF4-FFF2-40B4-BE49-F238E27FC236}">
                <a16:creationId xmlns:a16="http://schemas.microsoft.com/office/drawing/2014/main" id="{4759006B-AB01-486E-A99B-9E94FD62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JV p. 93  ·  MVD pp. 184, 209, 263–264, 273–301, 317  ·  AnalyticMadhyasthDarshan.org  ·  21 / 25</a:t>
            </a:r>
          </a:p>
        </p:txBody>
      </p:sp>
    </p:spTree>
    <p:extLst>
      <p:ext uri="{BB962C8B-B14F-4D97-AF65-F5344CB8AC3E}">
        <p14:creationId xmlns:p14="http://schemas.microsoft.com/office/powerpoint/2010/main" val="15636950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p19">
            <a:extLst xmlns:a="http://schemas.openxmlformats.org/drawingml/2006/main">
              <a:ext uri="{FF2B5EF4-FFF2-40B4-BE49-F238E27FC236}">
                <a16:creationId xmlns:a16="http://schemas.microsoft.com/office/drawing/2014/main" id="{6442EB82-1422-4108-B116-5784404D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6" name="Google Shape;456;p19">
            <a:extLst xmlns:a="http://schemas.openxmlformats.org/drawingml/2006/main">
              <a:ext uri="{FF2B5EF4-FFF2-40B4-BE49-F238E27FC236}">
                <a16:creationId xmlns:a16="http://schemas.microsoft.com/office/drawing/2014/main" id="{1F0C3D57-24D6-4278-93D2-E9A79C3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7" name="Google Shape;457;p19">
            <a:extLst xmlns:a="http://schemas.openxmlformats.org/drawingml/2006/main">
              <a:ext uri="{FF2B5EF4-FFF2-40B4-BE49-F238E27FC236}">
                <a16:creationId xmlns:a16="http://schemas.microsoft.com/office/drawing/2014/main" id="{57899CEF-CD7B-402E-AC4C-5575832C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8" name="Google Shape;458;p19">
            <a:extLst xmlns:a="http://schemas.openxmlformats.org/drawingml/2006/main">
              <a:ext uri="{FF2B5EF4-FFF2-40B4-BE49-F238E27FC236}">
                <a16:creationId xmlns:a16="http://schemas.microsoft.com/office/drawing/2014/main" id="{51335767-D53D-43F6-8B5A-91B90B7B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§§1.2, 1.10 · COMPLETION OF THE TRIAD</a:t>
            </a:r>
          </a:p>
        </p:txBody>
      </p:sp>
      <p:sp>
        <p:nvSpPr>
          <p:cNvPr id="459" name="Google Shape;459;p19">
            <a:extLst xmlns:a="http://schemas.openxmlformats.org/drawingml/2006/main">
              <a:ext uri="{FF2B5EF4-FFF2-40B4-BE49-F238E27FC236}">
                <a16:creationId xmlns:a16="http://schemas.microsoft.com/office/drawing/2014/main" id="{22BD32C7-ACF1-4879-B3CF-EBE1894B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Coherence Without Merger</a:t>
            </a:r>
          </a:p>
        </p:txBody>
      </p:sp>
      <p:sp>
        <p:nvSpPr>
          <p:cNvPr id="460" name="Google Shape;460;p19">
            <a:extLst xmlns:a="http://schemas.openxmlformats.org/drawingml/2006/main">
              <a:ext uri="{FF2B5EF4-FFF2-40B4-BE49-F238E27FC236}">
                <a16:creationId xmlns:a16="http://schemas.microsoft.com/office/drawing/2014/main" id="{A6AFFC79-45A0-4C47-99DD-D0052E75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07008"/>
            <a:ext cx="795528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At realisation, the triad is completed without erasing its terms. Coexistence remains real, jeevan remains a distinct active knower, and knowledge is the realised relation that becomes wisdom, science, and humane conduct.</a:t>
            </a:r>
          </a:p>
        </p:txBody>
      </p:sp>
      <p:sp>
        <p:nvSpPr>
          <p:cNvPr id="461" name="Google Shape;461;p19">
            <a:extLst xmlns:a="http://schemas.openxmlformats.org/drawingml/2006/main">
              <a:ext uri="{FF2B5EF4-FFF2-40B4-BE49-F238E27FC236}">
                <a16:creationId xmlns:a16="http://schemas.microsoft.com/office/drawing/2014/main" id="{2652AEEC-F12F-4C4F-AB0C-A68340BF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2" name="Google Shape;462;p19">
            <a:extLst xmlns:a="http://schemas.openxmlformats.org/drawingml/2006/main">
              <a:ext uri="{FF2B5EF4-FFF2-40B4-BE49-F238E27FC236}">
                <a16:creationId xmlns:a16="http://schemas.microsoft.com/office/drawing/2014/main" id="{C2119089-8239-455F-ACE5-D83BCA57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Knowledge — realised relation</a:t>
            </a:r>
          </a:p>
        </p:txBody>
      </p:sp>
      <p:sp>
        <p:nvSpPr>
          <p:cNvPr id="463" name="Google Shape;463;p19">
            <a:extLst xmlns:a="http://schemas.openxmlformats.org/drawingml/2006/main">
              <a:ext uri="{FF2B5EF4-FFF2-40B4-BE49-F238E27FC236}">
                <a16:creationId xmlns:a16="http://schemas.microsoft.com/office/drawing/2014/main" id="{E3878145-1C26-491C-8870-38029F22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Understanding joins what exists, who understands it, and how that understanding must guide evaluation and participation.</a:t>
            </a:r>
          </a:p>
        </p:txBody>
      </p:sp>
      <p:sp>
        <p:nvSpPr>
          <p:cNvPr id="464" name="Google Shape;464;p19">
            <a:extLst xmlns:a="http://schemas.openxmlformats.org/drawingml/2006/main">
              <a:ext uri="{FF2B5EF4-FFF2-40B4-BE49-F238E27FC236}">
                <a16:creationId xmlns:a16="http://schemas.microsoft.com/office/drawing/2014/main" id="{24A87DF5-703F-4D5A-A446-D9BDB32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5" name="Google Shape;465;p19">
            <a:extLst xmlns:a="http://schemas.openxmlformats.org/drawingml/2006/main">
              <a:ext uri="{FF2B5EF4-FFF2-40B4-BE49-F238E27FC236}">
                <a16:creationId xmlns:a16="http://schemas.microsoft.com/office/drawing/2014/main" id="{587D34E1-5825-4E1C-A3BC-28850A83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194767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Knower — distinct jeevan</a:t>
            </a:r>
          </a:p>
        </p:txBody>
      </p:sp>
      <p:sp>
        <p:nvSpPr>
          <p:cNvPr id="466" name="Google Shape;466;p19">
            <a:extLst xmlns:a="http://schemas.openxmlformats.org/drawingml/2006/main">
              <a:ext uri="{FF2B5EF4-FFF2-40B4-BE49-F238E27FC236}">
                <a16:creationId xmlns:a16="http://schemas.microsoft.com/office/drawing/2014/main" id="{1A09B0C6-2C25-443F-8E8B-359D54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228600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Jeevan bears realisation and authenticity; the human joint form makes these capacities communicable and answerable to consequence.</a:t>
            </a:r>
          </a:p>
        </p:txBody>
      </p:sp>
      <p:sp>
        <p:nvSpPr>
          <p:cNvPr id="467" name="Google Shape;467;p19">
            <a:extLst xmlns:a="http://schemas.openxmlformats.org/drawingml/2006/main">
              <a:ext uri="{FF2B5EF4-FFF2-40B4-BE49-F238E27FC236}">
                <a16:creationId xmlns:a16="http://schemas.microsoft.com/office/drawing/2014/main" id="{A9D98D41-5749-4CA8-9AB6-3C4331B1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EEF1F8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8" name="Google Shape;468;p19">
            <a:extLst xmlns:a="http://schemas.openxmlformats.org/drawingml/2006/main">
              <a:ext uri="{FF2B5EF4-FFF2-40B4-BE49-F238E27FC236}">
                <a16:creationId xmlns:a16="http://schemas.microsoft.com/office/drawing/2014/main" id="{3E75C652-C505-4E6A-BFF1-3F16ED86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Known — real coexistence</a:t>
            </a:r>
          </a:p>
        </p:txBody>
      </p:sp>
      <p:sp>
        <p:nvSpPr>
          <p:cNvPr id="469" name="Google Shape;469;p19">
            <a:extLst xmlns:a="http://schemas.openxmlformats.org/drawingml/2006/main">
              <a:ext uri="{FF2B5EF4-FFF2-40B4-BE49-F238E27FC236}">
                <a16:creationId xmlns:a16="http://schemas.microsoft.com/office/drawing/2014/main" id="{37640E8C-9898-450C-9F07-A3CB1B5F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Omnipresence, units, orders, relationships, values, and humane conduct remain the real field of knowing; they are not dissolved by understanding.</a:t>
            </a:r>
          </a:p>
        </p:txBody>
      </p:sp>
      <p:sp>
        <p:nvSpPr>
          <p:cNvPr id="470" name="Google Shape;470;p19">
            <a:extLst xmlns:a="http://schemas.openxmlformats.org/drawingml/2006/main">
              <a:ext uri="{FF2B5EF4-FFF2-40B4-BE49-F238E27FC236}">
                <a16:creationId xmlns:a16="http://schemas.microsoft.com/office/drawing/2014/main" id="{D1BF83F1-7747-433B-A60C-B6BE5091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46120"/>
            <a:ext cx="3794760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AF1DF"/>
          </a:solidFill>
          <a:ln xmlns:a="http://schemas.openxmlformats.org/drawingml/2006/main">
            <a:noFill/>
          </a:ln>
          <a:effectLst xmlns:a="http://schemas.openxmlformats.org/drawingml/2006/main">
            <a:outerShdw blurRad="88900" dist="25400" dir="2700000" algn="bl" rotWithShape="0">
              <a:srgbClr val="000000">
                <a:alpha val="12941"/>
              </a:srgbClr>
            </a:outerShdw>
          </a:effectLst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1" name="Google Shape;471;p19">
            <a:extLst xmlns:a="http://schemas.openxmlformats.org/drawingml/2006/main">
              <a:ext uri="{FF2B5EF4-FFF2-40B4-BE49-F238E27FC236}">
                <a16:creationId xmlns:a16="http://schemas.microsoft.com/office/drawing/2014/main" id="{3C6187CA-DB80-4E68-B45B-CBADC96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36499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cap="none">
                <a:solidFill>
                  <a:srgbClr val="9A6414"/>
                </a:solidFill>
                <a:latin typeface="Cambria"/>
                <a:ea typeface="Cambria"/>
                <a:cs typeface="Cambria"/>
              </a:rPr>
              <a:t>Meaning — awakened living</a:t>
            </a:r>
          </a:p>
        </p:txBody>
      </p:sp>
      <p:sp>
        <p:nvSpPr>
          <p:cNvPr id="472" name="Google Shape;472;p19">
            <a:extLst xmlns:a="http://schemas.openxmlformats.org/drawingml/2006/main">
              <a:ext uri="{FF2B5EF4-FFF2-40B4-BE49-F238E27FC236}">
                <a16:creationId xmlns:a16="http://schemas.microsoft.com/office/drawing/2014/main" id="{43B6A619-54E0-43CE-9B72-C41E5A13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3703320"/>
            <a:ext cx="342900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30" b="0" i="0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The known becomes meaningful as resolution in the person, prosperity in the family, fearlessness in society, and coexistence in universal orderliness.</a:t>
            </a:r>
          </a:p>
        </p:txBody>
      </p:sp>
      <p:sp>
        <p:nvSpPr>
          <p:cNvPr id="473" name="Google Shape;473;p19">
            <a:extLst xmlns:a="http://schemas.openxmlformats.org/drawingml/2006/main">
              <a:ext uri="{FF2B5EF4-FFF2-40B4-BE49-F238E27FC236}">
                <a16:creationId xmlns:a16="http://schemas.microsoft.com/office/drawing/2014/main" id="{14D9C93B-C570-40AD-A8BE-2A6E2FF4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28032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u="none" cap="none">
                <a:solidFill>
                  <a:srgbClr val="5A6377"/>
                </a:solidFill>
                <a:latin typeface="Calibri"/>
                <a:ea typeface="Calibri"/>
                <a:cs typeface="Calibri"/>
              </a:rPr>
              <a:t>Coherence of roles does not mean identity of knower and known. — KD §3.17 · MVD pp. 14–15, 115–116 · SB p. 81  ·  AnalyticMadhyasthDarshan.org  ·  22 / 25</a:t>
            </a:r>
          </a:p>
        </p:txBody>
      </p:sp>
    </p:spTree>
    <p:extLst>
      <p:ext uri="{BB962C8B-B14F-4D97-AF65-F5344CB8AC3E}">
        <p14:creationId xmlns:p14="http://schemas.microsoft.com/office/powerpoint/2010/main" val="162786451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554B6713-B2DC-4514-B452-C9EBA3EA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9E98C951-C4B9-46BD-B3FC-D1161DB4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AFD3403-A263-4222-9AFC-851DC610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39C9F7D7-11F2-4589-AF3E-2A09E52C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EPISTEMIC DISCIPLINE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6286B2DB-0BEF-47B8-861A-3369C43B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Safeguards Against Self-Confirmation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F6B20C6D-6ADA-460F-9B26-85A79253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B11FC845-D9E9-4D1C-B158-0B1D714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2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Separate structure from contingency  —  realisation of coexistence does not imply knowledge of every changing fact; empirical claims remain open to correction.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EE088122-A2CD-4442-B5EC-85400DE3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9624D82-D5FA-407D-A429-15236941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1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Demand coherence across domains  —  sound conduct cannot silently prove every ontological claim, and private certitude cannot replace failed relationship or result.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2720550B-4AA8-4846-9E73-F188BDA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00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D7B59417-B19C-4CF5-AABD-683F6FC9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363424"/>
            <a:ext cx="7406640" cy="7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Keep metaphysical claims and transmission corrigible  —  teacher and tradition require room for disagreement; jeevan–body interaction and post-death persistence remain primary MD commitments until independently evidenced.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B3DE5DB3-DF75-4ED5-9CBD-3DB3530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450000"/>
            <a:ext cx="740664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The method is strongest when mixed results and evidential limits are named plainly, and no single success substitutes for the whole chain.  ·  AnalyticMadhyasthDarshan.org  ·  23 / 25</a:t>
            </a:r>
          </a:p>
        </p:txBody>
      </p:sp>
    </p:spTree>
    <p:extLst>
      <p:ext uri="{BB962C8B-B14F-4D97-AF65-F5344CB8AC3E}">
        <p14:creationId xmlns:p14="http://schemas.microsoft.com/office/powerpoint/2010/main" val="17594239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903B402E-185B-4C4D-A4E6-72A03529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F3D08866-7E78-40FF-A350-E3B8685B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57200"/>
            <a:ext cx="219456" cy="21945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3B4A7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4">
            <a:extLst xmlns:a="http://schemas.openxmlformats.org/drawingml/2006/main">
              <a:ext uri="{FF2B5EF4-FFF2-40B4-BE49-F238E27FC236}">
                <a16:creationId xmlns:a16="http://schemas.microsoft.com/office/drawing/2014/main" id="{49647318-3FE3-4554-B311-76A3824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" y="519379"/>
            <a:ext cx="95098" cy="95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60EB398F-2D64-4689-80C8-FFAD943A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"/>
            <a:ext cx="76809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WHAT MADHYASTH DARSHAN ESTABLISHES</a:t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2C1BECA4-232C-44E0-ADD0-ED7D91B9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"/>
            <a:ext cx="772668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rgbClr val="1E2447"/>
                </a:solidFill>
                <a:latin typeface="Cambria"/>
                <a:ea typeface="Cambria"/>
                <a:cs typeface="Cambria"/>
              </a:rPr>
              <a:t>The Questions, Answered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4960A84B-3100-434B-B8D0-2A9D70A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2529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1" name="Google Shape;41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58adcbaf34a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32039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C5183355-C64A-436B-9092-2356796F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18872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knowledge?  —  Realised understanding of coexistence, jeevan, and humane conduct, accepted and evidenced in life.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A1DDA8B7-E5B2-41B4-A0A6-6CA140FF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9222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4" name="Google Shape;44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58adcbaf34a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1887322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B75C9CE6-CD3C-43FD-83E0-886C1478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755648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Who is the knower?  —  Jeevan, active through the human joint form as seer, doer, enjoyer, evaluator, and communicator.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EDD1C9F9-79A8-4EDE-B88A-91BA496F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5915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77" name="Google Shape;47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58adcbaf34a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2454250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" name="Google Shape;48;p4">
            <a:extLst xmlns:a="http://schemas.openxmlformats.org/drawingml/2006/main">
              <a:ext uri="{FF2B5EF4-FFF2-40B4-BE49-F238E27FC236}">
                <a16:creationId xmlns:a16="http://schemas.microsoft.com/office/drawing/2014/main" id="{96389C9D-9FE0-4778-A3DB-FE60F901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322576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is known?  —  Coexistence: units, orders, relationships, values, self, and humane participation.</a:t>
            </a:r>
          </a:p>
        </p:txBody>
      </p:sp>
      <p:sp>
        <p:nvSpPr>
          <p:cNvPr id="49" name="Google Shape;49;p4">
            <a:extLst xmlns:a="http://schemas.openxmlformats.org/drawingml/2006/main">
              <a:ext uri="{FF2B5EF4-FFF2-40B4-BE49-F238E27FC236}">
                <a16:creationId xmlns:a16="http://schemas.microsoft.com/office/drawing/2014/main" id="{8E5D7A1C-B4D5-4C25-AEC3-0809D732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0" name="Google Shape;50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58adcbaf34a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021178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1" name="Google Shape;51;p4">
            <a:extLst xmlns:a="http://schemas.openxmlformats.org/drawingml/2006/main">
              <a:ext uri="{FF2B5EF4-FFF2-40B4-BE49-F238E27FC236}">
                <a16:creationId xmlns:a16="http://schemas.microsoft.com/office/drawing/2014/main" id="{B1591BAD-E6A7-457C-A811-88AF0B5B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89504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does knowing occur?  —  Through ten activities coordinated as reflection and projection across study and action.</a:t>
            </a:r>
          </a:p>
        </p:txBody>
      </p:sp>
      <p:sp>
        <p:nvSpPr>
          <p:cNvPr id="52" name="Google Shape;52;p4">
            <a:extLst xmlns:a="http://schemas.openxmlformats.org/drawingml/2006/main">
              <a:ext uri="{FF2B5EF4-FFF2-40B4-BE49-F238E27FC236}">
                <a16:creationId xmlns:a16="http://schemas.microsoft.com/office/drawing/2014/main" id="{FAC8FF81-4EF9-4BA4-B8E6-1B994F76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9300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3" name="Google Shape;53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58adcbaf34a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3588106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4">
            <a:extLst xmlns:a="http://schemas.openxmlformats.org/drawingml/2006/main">
              <a:ext uri="{FF2B5EF4-FFF2-40B4-BE49-F238E27FC236}">
                <a16:creationId xmlns:a16="http://schemas.microsoft.com/office/drawing/2014/main" id="{88A8438F-C330-4A48-9673-52C9074A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56432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How is error corrected?  —  Through renewed attention, action, result, evaluation, and correction.</a:t>
            </a:r>
          </a:p>
        </p:txBody>
      </p:sp>
      <p:sp>
        <p:nvSpPr>
          <p:cNvPr id="55" name="Google Shape;55;p4">
            <a:extLst xmlns:a="http://schemas.openxmlformats.org/drawingml/2006/main">
              <a:ext uri="{FF2B5EF4-FFF2-40B4-BE49-F238E27FC236}">
                <a16:creationId xmlns:a16="http://schemas.microsoft.com/office/drawing/2014/main" id="{8CF393A7-5751-428A-9C15-0EBA54A2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59936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Google Shape;56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758adcbaf34a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5178" y="4155034"/>
            <a:ext cx="175565" cy="1755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4">
            <a:extLst xmlns:a="http://schemas.openxmlformats.org/drawingml/2006/main">
              <a:ext uri="{FF2B5EF4-FFF2-40B4-BE49-F238E27FC236}">
                <a16:creationId xmlns:a16="http://schemas.microsoft.com/office/drawing/2014/main" id="{69FE7F80-11B5-4B7E-A5BC-C73663BD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2336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u="none" cap="none">
                <a:solidFill>
                  <a:srgbClr val="1E2447"/>
                </a:solidFill>
                <a:latin typeface="Calibri"/>
                <a:ea typeface="Calibri"/>
                <a:cs typeface="Calibri"/>
              </a:rPr>
              <a:t>What counts as evidence?  —  Coherence of realisation, behaviour, experiment, conveyance, mutual satisfaction, and tradition.</a:t>
            </a:r>
          </a:p>
        </p:txBody>
      </p:sp>
      <p:sp>
        <p:nvSpPr>
          <p:cNvPr id="58" name="Google Shape;58;p4">
            <a:extLst xmlns:a="http://schemas.openxmlformats.org/drawingml/2006/main">
              <a:ext uri="{FF2B5EF4-FFF2-40B4-BE49-F238E27FC236}">
                <a16:creationId xmlns:a16="http://schemas.microsoft.com/office/drawing/2014/main" id="{79C1811C-EDE3-41ED-8DB3-4090B52E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645152"/>
            <a:ext cx="740664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 u="none" cap="none">
                <a:solidFill>
                  <a:srgbClr val="9A6414"/>
                </a:solidFill>
                <a:latin typeface="Calibri"/>
                <a:ea typeface="Calibri"/>
                <a:cs typeface="Calibri"/>
              </a:rPr>
              <a:t>Knowledge is complete when knower, known, and evidence no longer contradict one another.  ·  AnalyticMadhyasthDarshan.org  ·  24 / 25</a:t>
            </a:r>
          </a:p>
        </p:txBody>
      </p:sp>
    </p:spTree>
    <p:extLst>
      <p:ext uri="{BB962C8B-B14F-4D97-AF65-F5344CB8AC3E}">
        <p14:creationId xmlns:p14="http://schemas.microsoft.com/office/powerpoint/2010/main" val="153149057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E24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21">
            <a:extLst xmlns:a="http://schemas.openxmlformats.org/drawingml/2006/main">
              <a:ext uri="{FF2B5EF4-FFF2-40B4-BE49-F238E27FC236}">
                <a16:creationId xmlns:a16="http://schemas.microsoft.com/office/drawing/2014/main" id="{4FB85A2A-099A-414A-9422-3B8828DC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822960"/>
            <a:ext cx="3291840" cy="32918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0" name="Google Shape;510;p21">
            <a:extLst xmlns:a="http://schemas.openxmlformats.org/drawingml/2006/main">
              <a:ext uri="{FF2B5EF4-FFF2-40B4-BE49-F238E27FC236}">
                <a16:creationId xmlns:a16="http://schemas.microsoft.com/office/drawing/2014/main" id="{6320C987-42BA-4D26-B8E9-5ECAC8AA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481328"/>
            <a:ext cx="1975104" cy="197510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1" name="Google Shape;511;p21">
            <a:extLst xmlns:a="http://schemas.openxmlformats.org/drawingml/2006/main">
              <a:ext uri="{FF2B5EF4-FFF2-40B4-BE49-F238E27FC236}">
                <a16:creationId xmlns:a16="http://schemas.microsoft.com/office/drawing/2014/main" id="{00020F55-D28C-4073-97A4-F29AFE0B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141" y="2040941"/>
            <a:ext cx="855878" cy="85587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21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2" name="Google Shape;512;p21">
            <a:extLst xmlns:a="http://schemas.openxmlformats.org/drawingml/2006/main">
              <a:ext uri="{FF2B5EF4-FFF2-40B4-BE49-F238E27FC236}">
                <a16:creationId xmlns:a16="http://schemas.microsoft.com/office/drawing/2014/main" id="{42DC5DE7-F94B-42C6-9FCD-8076C9EE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566160"/>
            <a:ext cx="1097280" cy="10972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3" name="Google Shape;513;p21">
            <a:extLst xmlns:a="http://schemas.openxmlformats.org/drawingml/2006/main">
              <a:ext uri="{FF2B5EF4-FFF2-40B4-BE49-F238E27FC236}">
                <a16:creationId xmlns:a16="http://schemas.microsoft.com/office/drawing/2014/main" id="{3362136E-83B7-49E7-88EB-D7474C2A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3785616"/>
            <a:ext cx="658368" cy="65836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4" name="Google Shape;514;p21">
            <a:extLst xmlns:a="http://schemas.openxmlformats.org/drawingml/2006/main">
              <a:ext uri="{FF2B5EF4-FFF2-40B4-BE49-F238E27FC236}">
                <a16:creationId xmlns:a16="http://schemas.microsoft.com/office/drawing/2014/main" id="{464F7684-5F04-41CB-8A74-7D300CC8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954" y="3972154"/>
            <a:ext cx="285293" cy="28529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5" name="Google Shape;515;p21">
            <a:extLst xmlns:a="http://schemas.openxmlformats.org/drawingml/2006/main">
              <a:ext uri="{FF2B5EF4-FFF2-40B4-BE49-F238E27FC236}">
                <a16:creationId xmlns:a16="http://schemas.microsoft.com/office/drawing/2014/main" id="{C35762A0-8E7E-4035-8F94-9548A7D7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023360"/>
            <a:ext cx="731520" cy="7315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6" name="Google Shape;516;p21">
            <a:extLst xmlns:a="http://schemas.openxmlformats.org/drawingml/2006/main">
              <a:ext uri="{FF2B5EF4-FFF2-40B4-BE49-F238E27FC236}">
                <a16:creationId xmlns:a16="http://schemas.microsoft.com/office/drawing/2014/main" id="{CBCAF54B-4CF2-4CDD-880C-2FE9F861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4169664"/>
            <a:ext cx="438912" cy="43891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875" cmpd="sng">
            <a:solidFill>
              <a:srgbClr val="44507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7" name="Google Shape;517;p21">
            <a:extLst xmlns:a="http://schemas.openxmlformats.org/drawingml/2006/main">
              <a:ext uri="{FF2B5EF4-FFF2-40B4-BE49-F238E27FC236}">
                <a16:creationId xmlns:a16="http://schemas.microsoft.com/office/drawing/2014/main" id="{9DF86AA9-4BDE-4C84-81E6-0676825F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8822" y="4294022"/>
            <a:ext cx="190195" cy="19019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4E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8" name="Google Shape;518;p21">
            <a:extLst xmlns:a="http://schemas.openxmlformats.org/drawingml/2006/main">
              <a:ext uri="{FF2B5EF4-FFF2-40B4-BE49-F238E27FC236}">
                <a16:creationId xmlns:a16="http://schemas.microsoft.com/office/drawing/2014/main" id="{C6E19649-B92B-43DC-BDA2-FFE38078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58521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cap="none">
                <a:solidFill>
                  <a:srgbClr val="C9821E"/>
                </a:solidFill>
                <a:latin typeface="Calibri"/>
                <a:ea typeface="Calibri"/>
                <a:cs typeface="Calibri"/>
              </a:rPr>
              <a:t>THE CULMINATION  ·  KNOWLEDGE EVIDENCED ACROSS LIFE</a:t>
            </a:r>
          </a:p>
        </p:txBody>
      </p:sp>
      <p:sp>
        <p:nvSpPr>
          <p:cNvPr id="519" name="Google Shape;519;p21">
            <a:extLst xmlns:a="http://schemas.openxmlformats.org/drawingml/2006/main">
              <a:ext uri="{FF2B5EF4-FFF2-40B4-BE49-F238E27FC236}">
                <a16:creationId xmlns:a16="http://schemas.microsoft.com/office/drawing/2014/main" id="{D0BA75A5-EF97-441A-8D22-E7230E74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72768"/>
            <a:ext cx="557784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An Awakened Human Tradition</a:t>
            </a:r>
          </a:p>
        </p:txBody>
      </p:sp>
      <p:sp>
        <p:nvSpPr>
          <p:cNvPr id="520" name="Google Shape;520;p21">
            <a:extLst xmlns:a="http://schemas.openxmlformats.org/drawingml/2006/main">
              <a:ext uri="{FF2B5EF4-FFF2-40B4-BE49-F238E27FC236}">
                <a16:creationId xmlns:a16="http://schemas.microsoft.com/office/drawing/2014/main" id="{5A4AFEEF-A375-4785-A084-77D9213B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50000"/>
            <a:ext cx="484632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Knowledge is complete when realisation coheres across thought, relationship, work, evaluation, and transmission.</a:t>
            </a:r>
          </a:p>
        </p:txBody>
      </p:sp>
      <p:sp>
        <p:nvSpPr>
          <p:cNvPr id="600" name="Google Shape;600;p21">
            <a:extLst xmlns:a="http://schemas.openxmlformats.org/drawingml/2006/main">
              <a:ext uri="{FF2B5EF4-FFF2-40B4-BE49-F238E27FC236}">
                <a16:creationId xmlns:a16="http://schemas.microsoft.com/office/drawing/2014/main" id="{590CE55E-DD43-41C7-AA38-D8648415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1" name="Google Shape;601;p21">
            <a:extLst xmlns:a="http://schemas.openxmlformats.org/drawingml/2006/main">
              <a:ext uri="{FF2B5EF4-FFF2-40B4-BE49-F238E27FC236}">
                <a16:creationId xmlns:a16="http://schemas.microsoft.com/office/drawing/2014/main" id="{6C56763D-B377-44F0-AAAE-98FAABE4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Resolution</a:t>
            </a:r>
          </a:p>
        </p:txBody>
      </p:sp>
      <p:sp>
        <p:nvSpPr>
          <p:cNvPr id="602" name="Google Shape;602;p21">
            <a:extLst xmlns:a="http://schemas.openxmlformats.org/drawingml/2006/main">
              <a:ext uri="{FF2B5EF4-FFF2-40B4-BE49-F238E27FC236}">
                <a16:creationId xmlns:a16="http://schemas.microsoft.com/office/drawing/2014/main" id="{BDEE3FAF-ADA0-446F-8BC9-EAB8772E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in every person</a:t>
            </a:r>
          </a:p>
        </p:txBody>
      </p:sp>
      <p:sp>
        <p:nvSpPr>
          <p:cNvPr id="603" name="Google Shape;603;p21">
            <a:extLst xmlns:a="http://schemas.openxmlformats.org/drawingml/2006/main">
              <a:ext uri="{FF2B5EF4-FFF2-40B4-BE49-F238E27FC236}">
                <a16:creationId xmlns:a16="http://schemas.microsoft.com/office/drawing/2014/main" id="{16E167EE-2B1F-45F5-915F-B9860B14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80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4" name="Google Shape;604;p21">
            <a:extLst xmlns:a="http://schemas.openxmlformats.org/drawingml/2006/main">
              <a:ext uri="{FF2B5EF4-FFF2-40B4-BE49-F238E27FC236}">
                <a16:creationId xmlns:a16="http://schemas.microsoft.com/office/drawing/2014/main" id="{333E855D-FE8F-4100-A0EB-55E495D6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09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Prosperity</a:t>
            </a:r>
          </a:p>
        </p:txBody>
      </p:sp>
      <p:sp>
        <p:nvSpPr>
          <p:cNvPr id="605" name="Google Shape;605;p21">
            <a:extLst xmlns:a="http://schemas.openxmlformats.org/drawingml/2006/main">
              <a:ext uri="{FF2B5EF4-FFF2-40B4-BE49-F238E27FC236}">
                <a16:creationId xmlns:a16="http://schemas.microsoft.com/office/drawing/2014/main" id="{1A7194A9-3F87-43D5-99B4-337E53E6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09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in every family</a:t>
            </a:r>
          </a:p>
        </p:txBody>
      </p:sp>
      <p:sp>
        <p:nvSpPr>
          <p:cNvPr id="606" name="Google Shape;606;p21">
            <a:extLst xmlns:a="http://schemas.openxmlformats.org/drawingml/2006/main">
              <a:ext uri="{FF2B5EF4-FFF2-40B4-BE49-F238E27FC236}">
                <a16:creationId xmlns:a16="http://schemas.microsoft.com/office/drawing/2014/main" id="{C3521EAA-AB17-463A-AD9E-49776FAF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7" name="Google Shape;607;p21">
            <a:extLst xmlns:a="http://schemas.openxmlformats.org/drawingml/2006/main">
              <a:ext uri="{FF2B5EF4-FFF2-40B4-BE49-F238E27FC236}">
                <a16:creationId xmlns:a16="http://schemas.microsoft.com/office/drawing/2014/main" id="{3B6AC30A-51DD-4511-87D9-DC80BF71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81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Fearlessness</a:t>
            </a:r>
          </a:p>
        </p:txBody>
      </p:sp>
      <p:sp>
        <p:nvSpPr>
          <p:cNvPr id="608" name="Google Shape;608;p21">
            <a:extLst xmlns:a="http://schemas.openxmlformats.org/drawingml/2006/main">
              <a:ext uri="{FF2B5EF4-FFF2-40B4-BE49-F238E27FC236}">
                <a16:creationId xmlns:a16="http://schemas.microsoft.com/office/drawing/2014/main" id="{CE106080-6BC8-4C9D-9828-F961388F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81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trust in society</a:t>
            </a:r>
          </a:p>
        </p:txBody>
      </p:sp>
      <p:sp>
        <p:nvSpPr>
          <p:cNvPr id="609" name="Google Shape;609;p21">
            <a:extLst xmlns:a="http://schemas.openxmlformats.org/drawingml/2006/main">
              <a:ext uri="{FF2B5EF4-FFF2-40B4-BE49-F238E27FC236}">
                <a16:creationId xmlns:a16="http://schemas.microsoft.com/office/drawing/2014/main" id="{EF3A2139-2F60-4BA2-8F63-0609C91B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240" y="3820000"/>
            <a:ext cx="1128720" cy="7500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B4A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0" name="Google Shape;610;p21">
            <a:extLst xmlns:a="http://schemas.openxmlformats.org/drawingml/2006/main">
              <a:ext uri="{FF2B5EF4-FFF2-40B4-BE49-F238E27FC236}">
                <a16:creationId xmlns:a16="http://schemas.microsoft.com/office/drawing/2014/main" id="{18D1C599-E620-41F7-9278-C9C54E53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6" y="3902296"/>
            <a:ext cx="964128" cy="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Coexistence</a:t>
            </a:r>
          </a:p>
        </p:txBody>
      </p:sp>
      <p:sp>
        <p:nvSpPr>
          <p:cNvPr id="611" name="Google Shape;611;p21">
            <a:extLst xmlns:a="http://schemas.openxmlformats.org/drawingml/2006/main">
              <a:ext uri="{FF2B5EF4-FFF2-40B4-BE49-F238E27FC236}">
                <a16:creationId xmlns:a16="http://schemas.microsoft.com/office/drawing/2014/main" id="{5B3F9C4C-34A5-4CA8-8A8B-B7AD787E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6" y="4222296"/>
            <a:ext cx="964128" cy="265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 cap="none">
                <a:solidFill>
                  <a:srgbClr val="C9D4EF"/>
                </a:solidFill>
                <a:latin typeface="Calibri"/>
                <a:ea typeface="Calibri"/>
                <a:cs typeface="Calibri"/>
              </a:rPr>
              <a:t>with all of nature</a:t>
            </a:r>
          </a:p>
        </p:txBody>
      </p:sp>
      <p:sp>
        <p:nvSpPr>
          <p:cNvPr id="522" name="Google Shape;522;p21">
            <a:extLst xmlns:a="http://schemas.openxmlformats.org/drawingml/2006/main">
              <a:ext uri="{FF2B5EF4-FFF2-40B4-BE49-F238E27FC236}">
                <a16:creationId xmlns:a16="http://schemas.microsoft.com/office/drawing/2014/main" id="{BCDF39BB-3829-4443-8D24-A01BD8E3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50000"/>
            <a:ext cx="4754880" cy="45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cap="none">
                <a:solidFill>
                  <a:srgbClr val="8E9BC4"/>
                </a:solidFill>
                <a:latin typeface="Calibri"/>
                <a:ea typeface="Calibri"/>
                <a:cs typeface="Calibri"/>
              </a:rPr>
              <a:t>An awakened tradition makes understanding renewable.  ·  AnalyticMadhyasthDarshan.org  ·  25 / 25</a:t>
            </a:r>
          </a:p>
        </p:txBody>
      </p:sp>
    </p:spTree>
    <p:extLst>
      <p:ext uri="{BB962C8B-B14F-4D97-AF65-F5344CB8AC3E}">
        <p14:creationId xmlns:p14="http://schemas.microsoft.com/office/powerpoint/2010/main" val="130030128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2026-07-17T07:19:39.9150000Z</dcterms:created>
  <dcterms:modified xsi:type="dcterms:W3CDTF">2026-07-17T07:19:39.9150000Z</dcterms:modified>
</coreProperties>
</file>