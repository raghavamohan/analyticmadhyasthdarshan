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879949889a904cb3" Type="http://schemas.openxmlformats.org/officeDocument/2006/relationships/extended-properties" Target="docProps/app.xml"/><Relationship Id="Rc69207969ae24d53" Type="http://schemas.openxmlformats.org/package/2006/relationships/metadata/core-properties" Target="docProps/core.xml"/><Relationship Id="Rfe4e880cbeeb46a2"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59ec246bcaa47c5"/>
  </p:sldMasterIdLst>
  <p:notesMasterIdLst>
    <p:notesMasterId xmlns:r="http://schemas.openxmlformats.org/officeDocument/2006/relationships" r:id="R6faf23f22a304355"/>
  </p:notesMasterIdLst>
  <p:sldIdLst>
    <p:sldId xmlns:r="http://schemas.openxmlformats.org/officeDocument/2006/relationships" id="256" r:id="Rd2decbf2f8de4b5b"/>
    <p:sldId xmlns:r="http://schemas.openxmlformats.org/officeDocument/2006/relationships" id="257" r:id="R6cb0a5b5be1048af"/>
    <p:sldId xmlns:r="http://schemas.openxmlformats.org/officeDocument/2006/relationships" id="258" r:id="Ref6fbc2452d0475e"/>
    <p:sldId xmlns:r="http://schemas.openxmlformats.org/officeDocument/2006/relationships" id="259" r:id="Rac4571156b604541"/>
    <p:sldId xmlns:r="http://schemas.openxmlformats.org/officeDocument/2006/relationships" id="260" r:id="R6036892bb280430e"/>
    <p:sldId xmlns:r="http://schemas.openxmlformats.org/officeDocument/2006/relationships" id="261" r:id="Rd35e176bdb444c40"/>
    <p:sldId xmlns:r="http://schemas.openxmlformats.org/officeDocument/2006/relationships" id="263" r:id="R47cf71ebb9c545cd"/>
    <p:sldId xmlns:r="http://schemas.openxmlformats.org/officeDocument/2006/relationships" id="264" r:id="R43343142a4af49aa"/>
    <p:sldId xmlns:r="http://schemas.openxmlformats.org/officeDocument/2006/relationships" id="265" r:id="Rb84ec2567e7e4e9a"/>
    <p:sldId xmlns:r="http://schemas.openxmlformats.org/officeDocument/2006/relationships" id="266" r:id="Rf9089cf1c0764f78"/>
    <p:sldId xmlns:r="http://schemas.openxmlformats.org/officeDocument/2006/relationships" id="267" r:id="Rb35d4214bd104ca5"/>
    <p:sldId xmlns:r="http://schemas.openxmlformats.org/officeDocument/2006/relationships" id="262" r:id="R79896db618144699"/>
    <p:sldId xmlns:r="http://schemas.openxmlformats.org/officeDocument/2006/relationships" id="268" r:id="R35cb6fe088244230"/>
    <p:sldId xmlns:r="http://schemas.openxmlformats.org/officeDocument/2006/relationships" id="269" r:id="R3e10ed02ca784109"/>
    <p:sldId xmlns:r="http://schemas.openxmlformats.org/officeDocument/2006/relationships" id="270" r:id="R90b22261add844c3"/>
    <p:sldId xmlns:r="http://schemas.openxmlformats.org/officeDocument/2006/relationships" id="271" r:id="Rf85d8f3d38bc4d14"/>
    <p:sldId xmlns:r="http://schemas.openxmlformats.org/officeDocument/2006/relationships" id="272" r:id="R5056c33e0dd54540"/>
    <p:sldId xmlns:r="http://schemas.openxmlformats.org/officeDocument/2006/relationships" id="273" r:id="R5ca6399d6f1f4f10"/>
    <p:sldId xmlns:r="http://schemas.openxmlformats.org/officeDocument/2006/relationships" id="274" r:id="Rc87ca7e9b6194e79"/>
    <p:sldId xmlns:r="http://schemas.openxmlformats.org/officeDocument/2006/relationships" id="275" r:id="R567a6d212b3f451d"/>
    <p:sldId xmlns:r="http://schemas.openxmlformats.org/officeDocument/2006/relationships" id="276" r:id="Re76458becedc4847"/>
    <p:sldId xmlns:r="http://schemas.openxmlformats.org/officeDocument/2006/relationships" id="277" r:id="R214f1e8175834b7c"/>
    <p:sldId xmlns:r="http://schemas.openxmlformats.org/officeDocument/2006/relationships" id="278" r:id="Rc4d87ee5fd3749ef"/>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6C92A692-798E-4634-90B1-36CD3966BFCB}">
  <a:tblStyle styleId="{6C92A692-798E-4634-90B1-36CD3966BFC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214f1e8175834b7c" Type="http://schemas.openxmlformats.org/officeDocument/2006/relationships/slide" Target="slides/slide22.xml"/><Relationship Id="R321676776fb04546" Type="http://schemas.openxmlformats.org/officeDocument/2006/relationships/tableStyles" Target="tableStyles.xml"/><Relationship Id="R35cb6fe088244230" Type="http://schemas.openxmlformats.org/officeDocument/2006/relationships/slide" Target="slides/slide13.xml"/><Relationship Id="R3e10ed02ca784109" Type="http://schemas.openxmlformats.org/officeDocument/2006/relationships/slide" Target="slides/slide14.xml"/><Relationship Id="R43343142a4af49aa" Type="http://schemas.openxmlformats.org/officeDocument/2006/relationships/slide" Target="slides/slide9.xml"/><Relationship Id="R47cf71ebb9c545cd" Type="http://schemas.openxmlformats.org/officeDocument/2006/relationships/slide" Target="slides/slide8.xml"/><Relationship Id="R5056c33e0dd54540" Type="http://schemas.openxmlformats.org/officeDocument/2006/relationships/slide" Target="slides/slide17.xml"/><Relationship Id="R559ec246bcaa47c5" Type="http://schemas.openxmlformats.org/officeDocument/2006/relationships/slideMaster" Target="slideMasters/slideMaster1.xml"/><Relationship Id="R567a6d212b3f451d" Type="http://schemas.openxmlformats.org/officeDocument/2006/relationships/slide" Target="slides/slide20.xml"/><Relationship Id="R5ca6399d6f1f4f10" Type="http://schemas.openxmlformats.org/officeDocument/2006/relationships/slide" Target="slides/slide18.xml"/><Relationship Id="R6036892bb280430e" Type="http://schemas.openxmlformats.org/officeDocument/2006/relationships/slide" Target="slides/slide5.xml"/><Relationship Id="R683f0c4dfb8542ac" Type="http://schemas.openxmlformats.org/officeDocument/2006/relationships/theme" Target="theme/theme1.xml"/><Relationship Id="R6cb0a5b5be1048af" Type="http://schemas.openxmlformats.org/officeDocument/2006/relationships/slide" Target="slides/slide2.xml"/><Relationship Id="R6faf23f22a304355" Type="http://schemas.openxmlformats.org/officeDocument/2006/relationships/notesMaster" Target="notesMasters/notesMaster1.xml"/><Relationship Id="R76213f175d204a79" Type="http://schemas.openxmlformats.org/officeDocument/2006/relationships/viewProps" Target="viewProps.xml"/><Relationship Id="R79896db618144699" Type="http://schemas.openxmlformats.org/officeDocument/2006/relationships/slide" Target="slides/slide7.xml"/><Relationship Id="R90b22261add844c3" Type="http://schemas.openxmlformats.org/officeDocument/2006/relationships/slide" Target="slides/slide15.xml"/><Relationship Id="Rac4571156b604541" Type="http://schemas.openxmlformats.org/officeDocument/2006/relationships/slide" Target="slides/slide4.xml"/><Relationship Id="Rb35d4214bd104ca5" Type="http://schemas.openxmlformats.org/officeDocument/2006/relationships/slide" Target="slides/slide12.xml"/><Relationship Id="Rb84ec2567e7e4e9a" Type="http://schemas.openxmlformats.org/officeDocument/2006/relationships/slide" Target="slides/slide10.xml"/><Relationship Id="Rb8c07c4223044cd4" Type="http://schemas.openxmlformats.org/officeDocument/2006/relationships/presProps" Target="presProps.xml"/><Relationship Id="Rc4d87ee5fd3749ef" Type="http://schemas.openxmlformats.org/officeDocument/2006/relationships/slide" Target="slides/slide23.xml"/><Relationship Id="Rc87ca7e9b6194e79" Type="http://schemas.openxmlformats.org/officeDocument/2006/relationships/slide" Target="slides/slide19.xml"/><Relationship Id="Rd2decbf2f8de4b5b" Type="http://schemas.openxmlformats.org/officeDocument/2006/relationships/slide" Target="slides/slide1.xml"/><Relationship Id="Rd35e176bdb444c40" Type="http://schemas.openxmlformats.org/officeDocument/2006/relationships/slide" Target="slides/slide6.xml"/><Relationship Id="Re76458becedc4847" Type="http://schemas.openxmlformats.org/officeDocument/2006/relationships/slide" Target="slides/slide21.xml"/><Relationship Id="Ref6fbc2452d0475e" Type="http://schemas.openxmlformats.org/officeDocument/2006/relationships/slide" Target="slides/slide3.xml"/><Relationship Id="Rf85d8f3d38bc4d14" Type="http://schemas.openxmlformats.org/officeDocument/2006/relationships/slide" Target="slides/slide16.xml"/><Relationship Id="Rf9089cf1c0764f7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1095f2a857084ef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5e668fb15b6f4e52" Type="http://schemas.openxmlformats.org/officeDocument/2006/relationships/slide" Target="../slides/slide1.xml"/><Relationship Id="Rc93bf8ef2d4c47c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9788300a57b4d41" Type="http://schemas.openxmlformats.org/officeDocument/2006/relationships/slide" Target="../slides/slide2.xml"/><Relationship Id="Rf4139dac4abf45e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6b3c9711637f4c52" Type="http://schemas.openxmlformats.org/officeDocument/2006/relationships/notesMaster" Target="../notesMasters/notesMaster1.xml"/><Relationship Id="Rfe85992e3b144aa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941b14b819d64581" Type="http://schemas.openxmlformats.org/officeDocument/2006/relationships/slide" Target="../slides/slide4.xml"/><Relationship Id="R9d18bb41faa64c2f"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1a465b50dae4a3e" Type="http://schemas.openxmlformats.org/officeDocument/2006/relationships/slide" Target="../slides/slide5.xml"/><Relationship Id="Rf6b3c86e749a4c78"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16860988733e4df5" Type="http://schemas.openxmlformats.org/officeDocument/2006/relationships/notesMaster" Target="../notesMasters/notesMaster1.xml"/><Relationship Id="R854ab7ce2f1f4fbc"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6ae0893f4ece44b3" Type="http://schemas.openxmlformats.org/officeDocument/2006/relationships/slide" Target="../slides/slide7.xml"/><Relationship Id="R78571e49ea5c46c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9ac3dfcea373495e" Type="http://schemas.openxmlformats.org/officeDocument/2006/relationships/slide" Target="../slides/slide8.xml"/><Relationship Id="Rf8a00e61de274189"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bc9bc92174c4193" Type="http://schemas.openxmlformats.org/officeDocument/2006/relationships/slide" Target="../slides/slide9.xml"/><Relationship Id="R87daeed58a1b4aae"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2e082d7ed9e24dba" Type="http://schemas.openxmlformats.org/officeDocument/2006/relationships/notesMaster" Target="../notesMasters/notesMaster1.xml"/><Relationship Id="R802703aeec8d4205"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5ce292af99e04931" Type="http://schemas.openxmlformats.org/officeDocument/2006/relationships/slide" Target="../slides/slide11.xml"/><Relationship Id="Rac385795436348ad"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666f59556da948ec" Type="http://schemas.openxmlformats.org/officeDocument/2006/relationships/notesMaster" Target="../notesMasters/notesMaster1.xml"/><Relationship Id="Rf056cc93ea3c4834"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a434b6d1e1f49bd" Type="http://schemas.openxmlformats.org/officeDocument/2006/relationships/notesMaster" Target="../notesMasters/notesMaster1.xml"/><Relationship Id="Ra897b299dd144249"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a7b37d5a4a9e4149" Type="http://schemas.openxmlformats.org/officeDocument/2006/relationships/notesMaster" Target="../notesMasters/notesMaster1.xml"/><Relationship Id="Re80bdaf8cb0c4e1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3acfa6ff2fbc4e8d" Type="http://schemas.openxmlformats.org/officeDocument/2006/relationships/notesMaster" Target="../notesMasters/notesMaster1.xml"/><Relationship Id="R69e63e2d79d942a4"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a03b1e429e4f4b7c" Type="http://schemas.openxmlformats.org/officeDocument/2006/relationships/notesMaster" Target="../notesMasters/notesMaster1.xml"/><Relationship Id="Re10a0d644ca04c6f"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72c33a1c1a804ce9" Type="http://schemas.openxmlformats.org/officeDocument/2006/relationships/notesMaster" Target="../notesMasters/notesMaster1.xml"/><Relationship Id="Rea961f280ed94fd6"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cce53e0751234233" Type="http://schemas.openxmlformats.org/officeDocument/2006/relationships/notesMaster" Target="../notesMasters/notesMaster1.xml"/><Relationship Id="Rfc6c7494c5cc4d5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8fe0f55bf51f4f11" Type="http://schemas.openxmlformats.org/officeDocument/2006/relationships/notesMaster" Target="../notesMasters/notesMaster1.xml"/><Relationship Id="Ra6a816636c7f41e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46b65384bb664fc0" Type="http://schemas.openxmlformats.org/officeDocument/2006/relationships/slide" Target="../slides/slide20.xml"/><Relationship Id="R6250a91b919d4bec"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52f0c0a3ca774f0e" Type="http://schemas.openxmlformats.org/officeDocument/2006/relationships/slide" Target="../slides/slide21.xml"/><Relationship Id="R9a8c19f6745143aa"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ac3e58b1d05048cb" Type="http://schemas.openxmlformats.org/officeDocument/2006/relationships/notesMaster" Target="../notesMasters/notesMaster1.xml"/><Relationship Id="Rfa25e351b2bb4af7"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4dd7bd3f214d4335" Type="http://schemas.openxmlformats.org/officeDocument/2006/relationships/slide" Target="../slides/slide23.xml"/><Relationship Id="R9c8298888f1347b4"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This presentation continues the sequence begun with the ontology of coexistence. The ontological setting is assumed: coexistence is the inseparable presence of Omnipresence and real units, and jeevan is a constitutionally complete sentient unit. Here the question changes from what exists to how it can be known, who knows it, and how understanding becomes evident in 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follows a learning progression rather than a list of terms. First we define the contents and roles in knowing. Then we enter the active structure of jeevan. Finally we follow understanding into conduct and back through result and evaluation. The final test is coherence across all three movements.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These questions are broad enough to orient an audience familiar with many philosophical vocabularies, while the answers that follow remain entirely within Madhyasth Darshan. Notice that the questions already exceed a narrow account of justified propositions: they include the nature of the knower, the scope of the known, and the lived test of knowledge.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word gyan is used at connected levels. At the ontological level it names saturated coexistence as intelligible reality. At the human level it names realised understanding and its unfolding. The distinction matters: Omnipresence is actionless and does not observe or decide; the active knower is jeevan.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Madhyasth Darshan does not treat ethics as an appendix to knowledge. Humane conduct is one of the three contents of complete knowledge. The claim is not merely that knowledge should later be used well, but that a person has not fully known coexistence and jeevan if relationship and conduct remain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source sometimes calls jeevan the knower and sometimes the human being the knower. These are two levels of one account. Jeevan bears the sentient activities; the human joint form provides the body, speech, work, relationship, and social participation through which knowledge becomes observable.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Believing here does not mean assent without grounds. It means taking what is understood as relevant to one's own activity. The chain can fail at every link: one can know without accepting, accept without recognising a present relationship, recognise without fulfilling, or act without evaluating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three domains are connected, not rival compartments. Physical knowledge concerns material interaction and skill. Intellectual knowledge concerns meaning, purpose, and evaluation. Coexistential knowledge provides the widest scope: it includes the reality of coexistence, the sentient self, and humane conduct.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Jeevan is not an actionless witness. Its five faculties each have an inward and outward activity. Reflection is the knowing direction; projection is the evidencing direction. Awakening means these activities become coordinated around realisation rather than operating as a fragmented stream of sensation, imagination, and preference.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one-way pipeline that ends when a conclusion is reached. Projection creates consequences; consequences become new material for reflection. The cycle is developmental when each round increases coherence across understanding, action, and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body is neither dismissed nor identified as the knower. It is the necessary medium through which jeevan receives sensory conditions and projects understanding into public action. The source texts use signal language for the brain–jeevan relation, but they do not yet give a detailed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deluded condition, four and a half of the ten activities are effective. The person may be highly informed and capable, yet the higher activities do not organise the whole. This explains how intelligence can coexist with contradiction between the desire for happiness and conduct that produces conflict.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Karma is not a topic added after epistemology. It is the structure by which an understanding enters the world and meets conditions beyond intention: bodily capacity, other people, materials, environment, and prior sanskar. The five limbs prevent a simplistic judgment based only on motive or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Evaluation is a distinct activity. A favourable outcome can be over-read, an important relation can be under-read, and an event can be interpreted under the wrong category. Repeated action and evaluation shape sanskar, so correction is not only a new opinion; it changes what jeevan carries into later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Physicochemical and animal activity already includes doing and undergoing result. The distinctive human possibility is seer-status: action can be guided by realised understanding. Enjoyment then means fruition without inner or relational contradiction, not stimulation or private feeling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evidence regime is broader than one method. Realisation is first-person, behaviour is relational, experiment is practical and material, and transmission is second-person and generational. The strength of the proposal lies in requiring these domains to cohere; the discipline is to prevent success in one domain from being treated as proof of all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method is not a generic appeal to mystical experience. The sources recognise direct perception, inference, and testimony-activity, but nest them within a discipline whose final criterion is coherent realisation and evidence. Testimony is a proposal for study, not a substitute for knowing.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 realised teacher is important because attention and reflection may require disciplined guidance. Yet the learner is not asked to preserve dependency. Successful transmission means that another person can understand, test, live, and convey the proposal. This is also where authority must remain corrigible.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failures are related but distinct. Delusion concerns self-identification. False learning concerns an object or relation not being understood in its form, properties, essential nature, and dharma. Intellectual mystery concerns a break between the activities of jeevan, so reflection and projection do not meet in coherent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This is a subtle but important claim. Completion does not mean that the knower absorbs the known or that differences disappear. It means that the knower's understanding, the reality known, and the evidence of that understanding no longer contradict one another.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internal safeguards, not a comparison with another epistemology. The study identifies three risks: confusing structural understanding with omniscience, letting one evidence domain substitute for all others, and allowing teacher–tradition validation to become circular. The response is more explicit correction within the method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culmination is civilisational because knowledge includes humane conduct. Resolution, prosperity, fearlessness, and coexistence are not slogans or external rewards; they are the human-scale evidence that knowing, relationship, action, and result have become coherent. Tradition is awakened only when this understanding remains learnable and verifiable.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Return to the six opening questions and answer them directly. The distinctive unity of this epistemology is now visible: ontology supplies the known; jeevan supplies the active knower; conduct and consequence supply the evidence; transmission supplies the intersubjective continuation.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aa050071880c4e43" Type="http://schemas.openxmlformats.org/officeDocument/2006/relationships/slideMaster" Target="../slideMasters/slideMaster1.xml"/></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950f07ff11db49c0" Type="http://schemas.openxmlformats.org/officeDocument/2006/relationships/theme" Target="theme/theme2.xml"/><Relationship Id="Rfc1503edd54d4fa5" Type="http://schemas.openxmlformats.org/officeDocument/2006/relationships/slideLayout" Target="../slideLayouts/slideLayout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c1503edd54d4fa5"/>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5b876a59cef24162" Type="http://schemas.openxmlformats.org/officeDocument/2006/relationships/notesSlide" Target="../notesSlides/notesSlide1.xml"/><Relationship Id="Rf799ce1154fc43e8"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8ff690350dbd4652" Type="http://schemas.openxmlformats.org/officeDocument/2006/relationships/slideLayout" Target="../slideLayouts/slideLayout1.xml"/><Relationship Id="Rca4894998272409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1a5f63d863b4b7e" Type="http://schemas.openxmlformats.org/officeDocument/2006/relationships/notesSlide" Target="../notesSlides/notesSlide3.xml"/><Relationship Id="R31e0924bd4a84535" Type="http://schemas.openxmlformats.org/officeDocument/2006/relationships/image" Target="../media/image.png"/><Relationship Id="R77ff9741b1b64ba0"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7141a0dc7b6b489e" Type="http://schemas.openxmlformats.org/officeDocument/2006/relationships/slideLayout" Target="../slideLayouts/slideLayout1.xml"/><Relationship Id="R924a97271f184c3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fad8827b1724ed1" Type="http://schemas.openxmlformats.org/officeDocument/2006/relationships/notesSlide" Target="../notesSlides/notesSlide5.xml"/><Relationship Id="R576c554eeabf4486" Type="http://schemas.openxmlformats.org/officeDocument/2006/relationships/image" Target="../media/image4.png"/><Relationship Id="R60730ca0893d4743" Type="http://schemas.openxmlformats.org/officeDocument/2006/relationships/slideLayout" Target="../slideLayouts/slideLayout1.xml"/><Relationship Id="Rb7e50981395c47cc" Type="http://schemas.openxmlformats.org/officeDocument/2006/relationships/image" Target="../media/image2.png"/><Relationship Id="Recd08e4160244ee1" Type="http://schemas.openxmlformats.org/officeDocument/2006/relationships/image" Target="../media/image3.png"/></Relationships>
</file>

<file path=ppt/slides/_rels/slide6.xml.rels><?xml version='1.0' encoding='UTF-8' standalone='yes'?>
<Relationships xmlns="http://schemas.openxmlformats.org/package/2006/relationships"><Relationship Id="R4c6be5b865e64273" Type="http://schemas.openxmlformats.org/officeDocument/2006/relationships/slideLayout" Target="../slideLayouts/slideLayout1.xml"/><Relationship Id="Rd1dc48cc77424d3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595341ff91b48dc" Type="http://schemas.openxmlformats.org/officeDocument/2006/relationships/notesSlide" Target="../notesSlides/notesSlide7.xml"/><Relationship Id="Ra1aa27342d4a40e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028f47e068174055" Type="http://schemas.openxmlformats.org/officeDocument/2006/relationships/image" Target="../media/image3.png"/><Relationship Id="R31f8ed0fc6054719" Type="http://schemas.openxmlformats.org/officeDocument/2006/relationships/slideLayout" Target="../slideLayouts/slideLayout1.xml"/><Relationship Id="R41317b3bcf174f34" Type="http://schemas.openxmlformats.org/officeDocument/2006/relationships/notesSlide" Target="../notesSlides/notesSlide8.xml"/><Relationship Id="R52eb0fc95015421a" Type="http://schemas.openxmlformats.org/officeDocument/2006/relationships/image" Target="../media/image4.png"/><Relationship Id="R5a36ddc782874f01" Type="http://schemas.openxmlformats.org/officeDocument/2006/relationships/image" Target="../media/image2.png"/></Relationships>
</file>

<file path=ppt/slides/_rels/slide9.xml.rels><?xml version='1.0' encoding='UTF-8' standalone='yes'?>
<Relationships xmlns="http://schemas.openxmlformats.org/package/2006/relationships"><Relationship Id="R43c4941fa6ca406f" Type="http://schemas.openxmlformats.org/officeDocument/2006/relationships/notesSlide" Target="../notesSlides/notesSlide9.xml"/><Relationship Id="Rd25e4a507dee408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52383be6bccf4ea8" Type="http://schemas.openxmlformats.org/officeDocument/2006/relationships/slideLayout" Target="../slideLayouts/slideLayout1.xml"/><Relationship Id="R84cf3c1d7a88486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8e0bec6df8e9449d" Type="http://schemas.openxmlformats.org/officeDocument/2006/relationships/slideLayout" Target="../slideLayouts/slideLayout1.xml"/><Relationship Id="Rd3930bfe444e474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b9863744c474933" Type="http://schemas.openxmlformats.org/officeDocument/2006/relationships/notesSlide" Target="../notesSlides/notesSlide12.xml"/><Relationship Id="R4b7510ff1e9f48fb"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2b95f52e89f14af2" Type="http://schemas.openxmlformats.org/officeDocument/2006/relationships/notesSlide" Target="../notesSlides/notesSlide13.xml"/><Relationship Id="Rc0d70b60e7c3456e"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26a8cdd56b3d4e79" Type="http://schemas.openxmlformats.org/officeDocument/2006/relationships/slideLayout" Target="../slideLayouts/slideLayout1.xml"/><Relationship Id="R437049aec1584b9a"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27313ac024d946eb" Type="http://schemas.openxmlformats.org/officeDocument/2006/relationships/slideLayout" Target="../slideLayouts/slideLayout1.xml"/><Relationship Id="R70c9ddf386f54bc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db7a6ca034f459d" Type="http://schemas.openxmlformats.org/officeDocument/2006/relationships/notesSlide" Target="../notesSlides/notesSlide16.xml"/><Relationship Id="R6b9250cff5da49ce"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08b48091122f44e5" Type="http://schemas.openxmlformats.org/officeDocument/2006/relationships/notesSlide" Target="../notesSlides/notesSlide17.xml"/><Relationship Id="R66a5adda59a7474a"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236c2d66bc54396" Type="http://schemas.openxmlformats.org/officeDocument/2006/relationships/slideLayout" Target="../slideLayouts/slideLayout1.xml"/><Relationship Id="Rcf3ab7e4977e416d"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6a1e9bb333fd4e80" Type="http://schemas.openxmlformats.org/officeDocument/2006/relationships/notesSlide" Target="../notesSlides/notesSlide19.xml"/><Relationship Id="Rad674b3a445940c0"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916154b7a06a4750" Type="http://schemas.openxmlformats.org/officeDocument/2006/relationships/notesSlide" Target="../notesSlides/notesSlide20.xml"/><Relationship Id="Rb472183f3e9a45e0"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8c8879650b324445" Type="http://schemas.openxmlformats.org/officeDocument/2006/relationships/slideLayout" Target="../slideLayouts/slideLayout1.xml"/><Relationship Id="Rbe0330dee9d34f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22b4704dd57a4e66" Type="http://schemas.openxmlformats.org/officeDocument/2006/relationships/notesSlide" Target="../notesSlides/notesSlide22.xml"/><Relationship Id="Rd21df7d57ce548a8"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2d1537f508f34172" Type="http://schemas.openxmlformats.org/officeDocument/2006/relationships/image" Target="../media/image.png"/><Relationship Id="R32720b6ce2724b43" Type="http://schemas.openxmlformats.org/officeDocument/2006/relationships/slideLayout" Target="../slideLayouts/slideLayout1.xml"/><Relationship Id="R8521219822cf479b" Type="http://schemas.openxmlformats.org/officeDocument/2006/relationships/notesSlide" Target="../notesSlides/notesSlide23.xml"/></Relationships>
</file>

<file path=ppt/slides/slide1.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75FE6B61-565A-45A6-9540-7722013F560A}"/>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 name="Google Shape;17;p3">
            <a:extLst xmlns:a="http://schemas.openxmlformats.org/drawingml/2006/main">
              <a:ext uri="{FF2B5EF4-FFF2-40B4-BE49-F238E27FC236}">
                <a16:creationId xmlns:a16="http://schemas.microsoft.com/office/drawing/2014/main" id="{21A78B37-5288-4B37-8F01-A4632A2A24F3}"/>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 name="Google Shape;18;p3">
            <a:extLst xmlns:a="http://schemas.openxmlformats.org/drawingml/2006/main">
              <a:ext uri="{FF2B5EF4-FFF2-40B4-BE49-F238E27FC236}">
                <a16:creationId xmlns:a16="http://schemas.microsoft.com/office/drawing/2014/main" id="{35274BF8-B136-4D9F-A722-CB80B18EB261}"/>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 name="Google Shape;19;p3">
            <a:extLst xmlns:a="http://schemas.openxmlformats.org/drawingml/2006/main">
              <a:ext uri="{FF2B5EF4-FFF2-40B4-BE49-F238E27FC236}">
                <a16:creationId xmlns:a16="http://schemas.microsoft.com/office/drawing/2014/main" id="{08D5B1CE-A9B3-4D60-8397-374BC198E328}"/>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 name="Google Shape;20;p3">
            <a:extLst xmlns:a="http://schemas.openxmlformats.org/drawingml/2006/main">
              <a:ext uri="{FF2B5EF4-FFF2-40B4-BE49-F238E27FC236}">
                <a16:creationId xmlns:a16="http://schemas.microsoft.com/office/drawing/2014/main" id="{2F9A6F27-EBE0-4C3A-BD5B-51E23FBCB488}"/>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 name="Google Shape;21;p3">
            <a:extLst xmlns:a="http://schemas.openxmlformats.org/drawingml/2006/main">
              <a:ext uri="{FF2B5EF4-FFF2-40B4-BE49-F238E27FC236}">
                <a16:creationId xmlns:a16="http://schemas.microsoft.com/office/drawing/2014/main" id="{6F589193-5AE3-467F-9960-71BEAF1122F0}"/>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 name="Google Shape;22;p3">
            <a:extLst xmlns:a="http://schemas.openxmlformats.org/drawingml/2006/main">
              <a:ext uri="{FF2B5EF4-FFF2-40B4-BE49-F238E27FC236}">
                <a16:creationId xmlns:a16="http://schemas.microsoft.com/office/drawing/2014/main" id="{47EB0975-A9FD-4414-A496-C262C8303A61}"/>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 name="Google Shape;23;p3">
            <a:extLst xmlns:a="http://schemas.openxmlformats.org/drawingml/2006/main">
              <a:ext uri="{FF2B5EF4-FFF2-40B4-BE49-F238E27FC236}">
                <a16:creationId xmlns:a16="http://schemas.microsoft.com/office/drawing/2014/main" id="{EBFFAFDE-264C-438B-A02F-85F9E50F7A9E}"/>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 name="Google Shape;24;p3">
            <a:extLst xmlns:a="http://schemas.openxmlformats.org/drawingml/2006/main">
              <a:ext uri="{FF2B5EF4-FFF2-40B4-BE49-F238E27FC236}">
                <a16:creationId xmlns:a16="http://schemas.microsoft.com/office/drawing/2014/main" id="{52047E37-4816-41A7-B1A8-5ED7B16CE4C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 name="Google Shape;25;p3">
            <a:extLst xmlns:a="http://schemas.openxmlformats.org/drawingml/2006/main">
              <a:ext uri="{FF2B5EF4-FFF2-40B4-BE49-F238E27FC236}">
                <a16:creationId xmlns:a16="http://schemas.microsoft.com/office/drawing/2014/main" id="{6BC522C1-F2B8-42B0-BD23-EBBB4C5CE598}"/>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MADHYASTH DARSHAN  ·  CO-EXISTENTIALISM</a:t>
            </a:r>
          </a:p>
        </p:txBody>
      </p:sp>
      <p:sp>
        <p:nvSpPr>
          <p:cNvPr id="26" name="Google Shape;26;p3">
            <a:extLst xmlns:a="http://schemas.openxmlformats.org/drawingml/2006/main">
              <a:ext uri="{FF2B5EF4-FFF2-40B4-BE49-F238E27FC236}">
                <a16:creationId xmlns:a16="http://schemas.microsoft.com/office/drawing/2014/main" id="{47A64A12-D1A5-441F-AA82-AF514D30EB90}"/>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The Epistemology of Coexistence</a:t>
            </a:r>
          </a:p>
        </p:txBody>
      </p:sp>
      <p:sp>
        <p:nvSpPr>
          <p:cNvPr id="27" name="Google Shape;27;p3">
            <a:extLst xmlns:a="http://schemas.openxmlformats.org/drawingml/2006/main">
              <a:ext uri="{FF2B5EF4-FFF2-40B4-BE49-F238E27FC236}">
                <a16:creationId xmlns:a16="http://schemas.microsoft.com/office/drawing/2014/main" id="{E7C7DAAD-F163-4083-A316-3C74C158297F}"/>
              </a:ext>
            </a:extLst>
          </p:cNvPr>
          <p:cNvSpPr>
            <a:spLocks xmlns:a="http://schemas.openxmlformats.org/drawingml/2006/main" noGrp="1"/>
          </p:cNvSpPr>
          <p:nvPr/>
        </p:nvSpPr>
        <p:spPr>
          <a:xfrm xmlns:a="http://schemas.openxmlformats.org/drawingml/2006/main">
            <a:off x="640080" y="2880360"/>
            <a:ext cx="48463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Knowledge, knower, and known — understanding completed in humane conduct</a:t>
            </a:r>
          </a:p>
        </p:txBody>
      </p:sp>
      <p:sp>
        <p:nvSpPr>
          <p:cNvPr id="28" name="Google Shape;28;p3">
            <a:extLst xmlns:a="http://schemas.openxmlformats.org/drawingml/2006/main">
              <a:ext uri="{FF2B5EF4-FFF2-40B4-BE49-F238E27FC236}">
                <a16:creationId xmlns:a16="http://schemas.microsoft.com/office/drawing/2014/main" id="{458FAD9F-55D3-4855-B3DD-E51566B8BF19}"/>
              </a:ext>
            </a:extLst>
          </p:cNvPr>
          <p:cNvSpPr>
            <a:spLocks xmlns:a="http://schemas.openxmlformats.org/drawingml/2006/main" noGrp="1"/>
          </p:cNvSpPr>
          <p:nvPr/>
        </p:nvSpPr>
        <p:spPr>
          <a:xfrm xmlns:a="http://schemas.openxmlformats.org/drawingml/2006/main">
            <a:off x="640080" y="416052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Based on Knowledge, Knower, and Known (AnalyticMadhyasthDarshan.org)</a:t>
            </a:r>
          </a:p>
        </p:txBody>
      </p:sp>
      <p:sp>
        <p:nvSpPr>
          <p:cNvPr id="29" name="Google Shape;29;p3">
            <a:extLst xmlns:a="http://schemas.openxmlformats.org/drawingml/2006/main">
              <a:ext uri="{FF2B5EF4-FFF2-40B4-BE49-F238E27FC236}">
                <a16:creationId xmlns:a16="http://schemas.microsoft.com/office/drawing/2014/main" id="{DB10076E-E334-428A-B2C0-66347245EC4C}"/>
              </a:ext>
            </a:extLst>
          </p:cNvPr>
          <p:cNvSpPr>
            <a:spLocks xmlns:a="http://schemas.openxmlformats.org/drawingml/2006/main" noGrp="1"/>
          </p:cNvSpPr>
          <p:nvPr/>
        </p:nvSpPr>
        <p:spPr>
          <a:xfrm xmlns:a="http://schemas.openxmlformats.org/drawingml/2006/main">
            <a:off x="640080" y="44348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Primary texts of Shri A. Nagraj — MVD · KD · SB · JV (tr. Rakesh Gupta)</a:t>
            </a:r>
          </a:p>
        </p:txBody>
      </p:sp>
    </p:spTree>
    <p:extLst>
      <p:ext uri="{BB962C8B-B14F-4D97-AF65-F5344CB8AC3E}">
        <p14:creationId xmlns:p14="http://schemas.microsoft.com/office/powerpoint/2010/main" val="988898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554B6713-B2DC-4514-B452-C9EBA3EA284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9E98C951-C4B9-46BD-B3FC-D1161DB4ADF4}"/>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AFD3403-A263-4222-9AFC-851DC6102BE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39C9F7D7-11F2-4589-AF3E-2A09E52C11D5}"/>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ORIENTATION</a:t>
            </a:r>
          </a:p>
        </p:txBody>
      </p:sp>
      <p:sp>
        <p:nvSpPr>
          <p:cNvPr id="39" name="Google Shape;39;p4">
            <a:extLst xmlns:a="http://schemas.openxmlformats.org/drawingml/2006/main">
              <a:ext uri="{FF2B5EF4-FFF2-40B4-BE49-F238E27FC236}">
                <a16:creationId xmlns:a16="http://schemas.microsoft.com/office/drawing/2014/main" id="{6286B2DB-0BEF-47B8-861A-3369C43B86B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Argument in Three Movements</a:t>
            </a:r>
          </a:p>
        </p:txBody>
      </p:sp>
      <p:sp>
        <p:nvSpPr>
          <p:cNvPr id="40" name="Google Shape;40;p4">
            <a:extLst xmlns:a="http://schemas.openxmlformats.org/drawingml/2006/main">
              <a:ext uri="{FF2B5EF4-FFF2-40B4-BE49-F238E27FC236}">
                <a16:creationId xmlns:a16="http://schemas.microsoft.com/office/drawing/2014/main" id="{F6B20C6D-6ADA-460F-9B26-85A79253C6F0}"/>
              </a:ext>
            </a:extLst>
          </p:cNvPr>
          <p:cNvSpPr>
            <a:spLocks xmlns:a="http://schemas.openxmlformats.org/drawingml/2006/main" noGrp="1"/>
          </p:cNvSpPr>
          <p:nvPr/>
        </p:nvSpPr>
        <p:spPr>
          <a:xfrm xmlns:a="http://schemas.openxmlformats.org/drawingml/2006/main">
            <a:off x="640080" y="13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1</a:t>
            </a:r>
          </a:p>
        </p:txBody>
      </p:sp>
      <p:sp>
        <p:nvSpPr>
          <p:cNvPr id="42" name="Google Shape;42;p4">
            <a:extLst xmlns:a="http://schemas.openxmlformats.org/drawingml/2006/main">
              <a:ext uri="{FF2B5EF4-FFF2-40B4-BE49-F238E27FC236}">
                <a16:creationId xmlns:a16="http://schemas.microsoft.com/office/drawing/2014/main" id="{B11FC845-D9E9-4D1C-B158-0B1D714F2687}"/>
              </a:ext>
            </a:extLst>
          </p:cNvPr>
          <p:cNvSpPr>
            <a:spLocks xmlns:a="http://schemas.openxmlformats.org/drawingml/2006/main" noGrp="1"/>
          </p:cNvSpPr>
          <p:nvPr/>
        </p:nvSpPr>
        <p:spPr>
          <a:xfrm xmlns:a="http://schemas.openxmlformats.org/drawingml/2006/main">
            <a:off x="1188720" y="12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knowledge is, and what it must include  —  realised understanding of coexistence, jeevan, and humane conduct; not information or conviction alone.</a:t>
            </a:r>
          </a:p>
        </p:txBody>
      </p:sp>
      <p:sp>
        <p:nvSpPr>
          <p:cNvPr id="43" name="Google Shape;43;p4">
            <a:extLst xmlns:a="http://schemas.openxmlformats.org/drawingml/2006/main">
              <a:ext uri="{FF2B5EF4-FFF2-40B4-BE49-F238E27FC236}">
                <a16:creationId xmlns:a16="http://schemas.microsoft.com/office/drawing/2014/main" id="{EE088122-A2CD-4442-B5EC-85400DE3D46E}"/>
              </a:ext>
            </a:extLst>
          </p:cNvPr>
          <p:cNvSpPr>
            <a:spLocks xmlns:a="http://schemas.openxmlformats.org/drawingml/2006/main" noGrp="1"/>
          </p:cNvSpPr>
          <p:nvPr/>
        </p:nvSpPr>
        <p:spPr>
          <a:xfrm xmlns:a="http://schemas.openxmlformats.org/drawingml/2006/main">
            <a:off x="640080" y="235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2</a:t>
            </a:r>
          </a:p>
        </p:txBody>
      </p:sp>
      <p:sp>
        <p:nvSpPr>
          <p:cNvPr id="45" name="Google Shape;45;p4">
            <a:extLst xmlns:a="http://schemas.openxmlformats.org/drawingml/2006/main">
              <a:ext uri="{FF2B5EF4-FFF2-40B4-BE49-F238E27FC236}">
                <a16:creationId xmlns:a16="http://schemas.microsoft.com/office/drawing/2014/main" id="{B9624D82-D5FA-407D-A429-15236941B802}"/>
              </a:ext>
            </a:extLst>
          </p:cNvPr>
          <p:cNvSpPr>
            <a:spLocks xmlns:a="http://schemas.openxmlformats.org/drawingml/2006/main" noGrp="1"/>
          </p:cNvSpPr>
          <p:nvPr/>
        </p:nvSpPr>
        <p:spPr>
          <a:xfrm xmlns:a="http://schemas.openxmlformats.org/drawingml/2006/main">
            <a:off x="1188720" y="231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jeevan knows  —  ten coordinated activities, working inward as reflection and outward as projection through the human joint form.</a:t>
            </a:r>
          </a:p>
        </p:txBody>
      </p:sp>
      <p:sp>
        <p:nvSpPr>
          <p:cNvPr id="46" name="Google Shape;46;p4">
            <a:extLst xmlns:a="http://schemas.openxmlformats.org/drawingml/2006/main">
              <a:ext uri="{FF2B5EF4-FFF2-40B4-BE49-F238E27FC236}">
                <a16:creationId xmlns:a16="http://schemas.microsoft.com/office/drawing/2014/main" id="{2720550B-4AA8-4846-9E73-F188BDA53628}"/>
              </a:ext>
            </a:extLst>
          </p:cNvPr>
          <p:cNvSpPr>
            <a:spLocks xmlns:a="http://schemas.openxmlformats.org/drawingml/2006/main" noGrp="1"/>
          </p:cNvSpPr>
          <p:nvPr/>
        </p:nvSpPr>
        <p:spPr>
          <a:xfrm xmlns:a="http://schemas.openxmlformats.org/drawingml/2006/main">
            <a:off x="640080" y="34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3</a:t>
            </a:r>
          </a:p>
        </p:txBody>
      </p:sp>
      <p:sp>
        <p:nvSpPr>
          <p:cNvPr id="48" name="Google Shape;48;p4">
            <a:extLst xmlns:a="http://schemas.openxmlformats.org/drawingml/2006/main">
              <a:ext uri="{FF2B5EF4-FFF2-40B4-BE49-F238E27FC236}">
                <a16:creationId xmlns:a16="http://schemas.microsoft.com/office/drawing/2014/main" id="{D7B59417-B19C-4CF5-AABD-683F6FC95CF2}"/>
              </a:ext>
            </a:extLst>
          </p:cNvPr>
          <p:cNvSpPr>
            <a:spLocks xmlns:a="http://schemas.openxmlformats.org/drawingml/2006/main" noGrp="1"/>
          </p:cNvSpPr>
          <p:nvPr/>
        </p:nvSpPr>
        <p:spPr>
          <a:xfrm xmlns:a="http://schemas.openxmlformats.org/drawingml/2006/main">
            <a:off x="1188720" y="33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understanding becomes evidence  —  action, result, evaluation, behaviour, experiment, conveyance, and participation in orderliness.</a:t>
            </a:r>
          </a:p>
        </p:txBody>
      </p:sp>
      <p:sp>
        <p:nvSpPr>
          <p:cNvPr id="58" name="Google Shape;58;p4">
            <a:extLst xmlns:a="http://schemas.openxmlformats.org/drawingml/2006/main">
              <a:ext uri="{FF2B5EF4-FFF2-40B4-BE49-F238E27FC236}">
                <a16:creationId xmlns:a16="http://schemas.microsoft.com/office/drawing/2014/main" id="{B3DE5DB3-DF75-4ED5-9CBD-3DB3530B2D22}"/>
              </a:ext>
            </a:extLst>
          </p:cNvPr>
          <p:cNvSpPr>
            <a:spLocks xmlns:a="http://schemas.openxmlformats.org/drawingml/2006/main" noGrp="1"/>
          </p:cNvSpPr>
          <p:nvPr/>
        </p:nvSpPr>
        <p:spPr>
          <a:xfrm xmlns:a="http://schemas.openxmlformats.org/drawingml/2006/main">
            <a:off x="1188720" y="4450000"/>
            <a:ext cx="740664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One claim carries all three: knowledge becomes complete only when the knower, the known, and lived evidence become mutually coherent.</a:t>
            </a:r>
          </a:p>
        </p:txBody>
      </p:sp>
    </p:spTree>
    <p:extLst>
      <p:ext uri="{BB962C8B-B14F-4D97-AF65-F5344CB8AC3E}">
        <p14:creationId xmlns:p14="http://schemas.microsoft.com/office/powerpoint/2010/main" val="1759423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3B402E-185B-4C4D-A4E6-72A03529B78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F3D08866-7E78-40FF-A350-E3B8685BC5B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9647318-3FE3-4554-B311-76A3824F44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60EB398F-2D64-4689-80C8-FFAD943A9DF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FRAMING</a:t>
            </a:r>
          </a:p>
        </p:txBody>
      </p:sp>
      <p:sp>
        <p:nvSpPr>
          <p:cNvPr id="39" name="Google Shape;39;p4">
            <a:extLst xmlns:a="http://schemas.openxmlformats.org/drawingml/2006/main">
              <a:ext uri="{FF2B5EF4-FFF2-40B4-BE49-F238E27FC236}">
                <a16:creationId xmlns:a16="http://schemas.microsoft.com/office/drawing/2014/main" id="{2C1BECA4-232C-44E0-ADD0-ED7D91B92711}"/>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Questions Epistemology Must Answer</a:t>
            </a:r>
          </a:p>
        </p:txBody>
      </p:sp>
      <p:sp>
        <p:nvSpPr>
          <p:cNvPr id="40" name="Google Shape;40;p4">
            <a:extLst xmlns:a="http://schemas.openxmlformats.org/drawingml/2006/main">
              <a:ext uri="{FF2B5EF4-FFF2-40B4-BE49-F238E27FC236}">
                <a16:creationId xmlns:a16="http://schemas.microsoft.com/office/drawing/2014/main" id="{4960A84B-3100-434B-B8D0-2A9D70A48B93}"/>
              </a:ext>
            </a:extLst>
          </p:cNvPr>
          <p:cNvSpPr>
            <a:spLocks xmlns:a="http://schemas.openxmlformats.org/drawingml/2006/main" noGrp="1"/>
          </p:cNvSpPr>
          <p:nvPr/>
        </p:nvSpPr>
        <p:spPr>
          <a:xfrm xmlns:a="http://schemas.openxmlformats.org/drawingml/2006/main">
            <a:off x="640080" y="122529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1" name="Google Shape;41;p4"/>
          <p:cNvPicPr>
            <a:picLocks xmlns:a="http://schemas.openxmlformats.org/drawingml/2006/main" noChangeAspect="1"/>
          </p:cNvPicPr>
          <p:nvPr/>
        </p:nvPicPr>
        <p:blipFill rotWithShape="1">
          <a:blip xmlns:r="http://schemas.openxmlformats.org/officeDocument/2006/relationships" xmlns:a="http://schemas.openxmlformats.org/drawingml/2006/main" r:embed="R31e0924bd4a84535">
            <a:alphaModFix/>
          </a:blip>
          <a:srcRect xmlns:a="http://schemas.openxmlformats.org/drawingml/2006/main" l="0" t="0" r="0" b="0"/>
          <a:stretch xmlns:a="http://schemas.openxmlformats.org/drawingml/2006/main"/>
        </p:blipFill>
        <p:spPr>
          <a:xfrm xmlns:a="http://schemas.openxmlformats.org/drawingml/2006/main">
            <a:off x="735178" y="1320394"/>
            <a:ext cx="175565" cy="175565"/>
          </a:xfrm>
          <a:prstGeom xmlns:a="http://schemas.openxmlformats.org/drawingml/2006/main" prst="rect">
            <a:avLst/>
          </a:prstGeom>
          <a:ln xmlns:a="http://schemas.openxmlformats.org/drawingml/2006/main">
            <a:noFill/>
          </a:ln>
        </p:spPr>
      </p:pic>
      <p:sp>
        <p:nvSpPr>
          <p:cNvPr id="42" name="Google Shape;42;p4">
            <a:extLst xmlns:a="http://schemas.openxmlformats.org/drawingml/2006/main">
              <a:ext uri="{FF2B5EF4-FFF2-40B4-BE49-F238E27FC236}">
                <a16:creationId xmlns:a16="http://schemas.microsoft.com/office/drawing/2014/main" id="{C5183355-C64A-436B-9092-2356796F7CCA}"/>
              </a:ext>
            </a:extLst>
          </p:cNvPr>
          <p:cNvSpPr>
            <a:spLocks xmlns:a="http://schemas.openxmlformats.org/drawingml/2006/main" noGrp="1"/>
          </p:cNvSpPr>
          <p:nvPr/>
        </p:nvSpPr>
        <p:spPr>
          <a:xfrm xmlns:a="http://schemas.openxmlformats.org/drawingml/2006/main">
            <a:off x="1188720" y="118872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knowledge?  —  Is it information, belief, experience, realised understanding, or all of these in a definite relation?</a:t>
            </a:r>
          </a:p>
        </p:txBody>
      </p:sp>
      <p:sp>
        <p:nvSpPr>
          <p:cNvPr id="43" name="Google Shape;43;p4">
            <a:extLst xmlns:a="http://schemas.openxmlformats.org/drawingml/2006/main">
              <a:ext uri="{FF2B5EF4-FFF2-40B4-BE49-F238E27FC236}">
                <a16:creationId xmlns:a16="http://schemas.microsoft.com/office/drawing/2014/main" id="{A1DDA8B7-E5B2-41B4-A0A6-6CA140FF2382}"/>
              </a:ext>
            </a:extLst>
          </p:cNvPr>
          <p:cNvSpPr>
            <a:spLocks xmlns:a="http://schemas.openxmlformats.org/drawingml/2006/main" noGrp="1"/>
          </p:cNvSpPr>
          <p:nvPr/>
        </p:nvSpPr>
        <p:spPr>
          <a:xfrm xmlns:a="http://schemas.openxmlformats.org/drawingml/2006/main">
            <a:off x="640080" y="1792224"/>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4" name="Google Shape;44;p4"/>
          <p:cNvPicPr>
            <a:picLocks xmlns:a="http://schemas.openxmlformats.org/drawingml/2006/main" noChangeAspect="1"/>
          </p:cNvPicPr>
          <p:nvPr/>
        </p:nvPicPr>
        <p:blipFill rotWithShape="1">
          <a:blip xmlns:r="http://schemas.openxmlformats.org/officeDocument/2006/relationships" xmlns:a="http://schemas.openxmlformats.org/drawingml/2006/main" r:embed="R31e0924bd4a84535">
            <a:alphaModFix/>
          </a:blip>
          <a:srcRect xmlns:a="http://schemas.openxmlformats.org/drawingml/2006/main" l="0" t="0" r="0" b="0"/>
          <a:stretch xmlns:a="http://schemas.openxmlformats.org/drawingml/2006/main"/>
        </p:blipFill>
        <p:spPr>
          <a:xfrm xmlns:a="http://schemas.openxmlformats.org/drawingml/2006/main">
            <a:off x="735178" y="1887322"/>
            <a:ext cx="175565" cy="175565"/>
          </a:xfrm>
          <a:prstGeom xmlns:a="http://schemas.openxmlformats.org/drawingml/2006/main" prst="rect">
            <a:avLst/>
          </a:prstGeom>
          <a:ln xmlns:a="http://schemas.openxmlformats.org/drawingml/2006/main">
            <a:noFill/>
          </a:ln>
        </p:spPr>
      </p:pic>
      <p:sp>
        <p:nvSpPr>
          <p:cNvPr id="45" name="Google Shape;45;p4">
            <a:extLst xmlns:a="http://schemas.openxmlformats.org/drawingml/2006/main">
              <a:ext uri="{FF2B5EF4-FFF2-40B4-BE49-F238E27FC236}">
                <a16:creationId xmlns:a16="http://schemas.microsoft.com/office/drawing/2014/main" id="{B75C9CE6-CD3C-43FD-83E0-886C1478F0BA}"/>
              </a:ext>
            </a:extLst>
          </p:cNvPr>
          <p:cNvSpPr>
            <a:spLocks xmlns:a="http://schemas.openxmlformats.org/drawingml/2006/main" noGrp="1"/>
          </p:cNvSpPr>
          <p:nvPr/>
        </p:nvSpPr>
        <p:spPr>
          <a:xfrm xmlns:a="http://schemas.openxmlformats.org/drawingml/2006/main">
            <a:off x="1188720" y="175564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Who is the knower?  —  What persists as the bearer of attention, thought, resolve, realisation, and evaluation?</a:t>
            </a:r>
          </a:p>
        </p:txBody>
      </p:sp>
      <p:sp>
        <p:nvSpPr>
          <p:cNvPr id="46" name="Google Shape;46;p4">
            <a:extLst xmlns:a="http://schemas.openxmlformats.org/drawingml/2006/main">
              <a:ext uri="{FF2B5EF4-FFF2-40B4-BE49-F238E27FC236}">
                <a16:creationId xmlns:a16="http://schemas.microsoft.com/office/drawing/2014/main" id="{EDD1C9F9-79A8-4EDE-B88A-91BA496FCFD1}"/>
              </a:ext>
            </a:extLst>
          </p:cNvPr>
          <p:cNvSpPr>
            <a:spLocks xmlns:a="http://schemas.openxmlformats.org/drawingml/2006/main" noGrp="1"/>
          </p:cNvSpPr>
          <p:nvPr/>
        </p:nvSpPr>
        <p:spPr>
          <a:xfrm xmlns:a="http://schemas.openxmlformats.org/drawingml/2006/main">
            <a:off x="640080" y="2359152"/>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7" name="Google Shape;47;p4"/>
          <p:cNvPicPr>
            <a:picLocks xmlns:a="http://schemas.openxmlformats.org/drawingml/2006/main" noChangeAspect="1"/>
          </p:cNvPicPr>
          <p:nvPr/>
        </p:nvPicPr>
        <p:blipFill rotWithShape="1">
          <a:blip xmlns:r="http://schemas.openxmlformats.org/officeDocument/2006/relationships" xmlns:a="http://schemas.openxmlformats.org/drawingml/2006/main" r:embed="R31e0924bd4a84535">
            <a:alphaModFix/>
          </a:blip>
          <a:srcRect xmlns:a="http://schemas.openxmlformats.org/drawingml/2006/main" l="0" t="0" r="0" b="0"/>
          <a:stretch xmlns:a="http://schemas.openxmlformats.org/drawingml/2006/main"/>
        </p:blipFill>
        <p:spPr>
          <a:xfrm xmlns:a="http://schemas.openxmlformats.org/drawingml/2006/main">
            <a:off x="735178" y="2454250"/>
            <a:ext cx="175565" cy="175565"/>
          </a:xfrm>
          <a:prstGeom xmlns:a="http://schemas.openxmlformats.org/drawingml/2006/main" prst="rect">
            <a:avLst/>
          </a:prstGeom>
          <a:ln xmlns:a="http://schemas.openxmlformats.org/drawingml/2006/main">
            <a:noFill/>
          </a:ln>
        </p:spPr>
      </p:pic>
      <p:sp>
        <p:nvSpPr>
          <p:cNvPr id="48" name="Google Shape;48;p4">
            <a:extLst xmlns:a="http://schemas.openxmlformats.org/drawingml/2006/main">
              <a:ext uri="{FF2B5EF4-FFF2-40B4-BE49-F238E27FC236}">
                <a16:creationId xmlns:a16="http://schemas.microsoft.com/office/drawing/2014/main" id="{96389C9D-9FE0-4778-A3DB-FE60F90117C6}"/>
              </a:ext>
            </a:extLst>
          </p:cNvPr>
          <p:cNvSpPr>
            <a:spLocks xmlns:a="http://schemas.openxmlformats.org/drawingml/2006/main" noGrp="1"/>
          </p:cNvSpPr>
          <p:nvPr/>
        </p:nvSpPr>
        <p:spPr>
          <a:xfrm xmlns:a="http://schemas.openxmlformats.org/drawingml/2006/main">
            <a:off x="1188720" y="2322576"/>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known?  —  Is the object only an external thing, or the whole field of coexistence, self, relationship, and conduct?</a:t>
            </a:r>
          </a:p>
        </p:txBody>
      </p:sp>
      <p:sp>
        <p:nvSpPr>
          <p:cNvPr id="49" name="Google Shape;49;p4">
            <a:extLst xmlns:a="http://schemas.openxmlformats.org/drawingml/2006/main">
              <a:ext uri="{FF2B5EF4-FFF2-40B4-BE49-F238E27FC236}">
                <a16:creationId xmlns:a16="http://schemas.microsoft.com/office/drawing/2014/main" id="{8E5D7A1C-B4D5-4C25-AEC3-0809D732B6EE}"/>
              </a:ext>
            </a:extLst>
          </p:cNvPr>
          <p:cNvSpPr>
            <a:spLocks xmlns:a="http://schemas.openxmlformats.org/drawingml/2006/main" noGrp="1"/>
          </p:cNvSpPr>
          <p:nvPr/>
        </p:nvSpPr>
        <p:spPr>
          <a:xfrm xmlns:a="http://schemas.openxmlformats.org/drawingml/2006/main">
            <a:off x="640080" y="292608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0" name="Google Shape;50;p4"/>
          <p:cNvPicPr>
            <a:picLocks xmlns:a="http://schemas.openxmlformats.org/drawingml/2006/main" noChangeAspect="1"/>
          </p:cNvPicPr>
          <p:nvPr/>
        </p:nvPicPr>
        <p:blipFill rotWithShape="1">
          <a:blip xmlns:r="http://schemas.openxmlformats.org/officeDocument/2006/relationships" xmlns:a="http://schemas.openxmlformats.org/drawingml/2006/main" r:embed="R31e0924bd4a84535">
            <a:alphaModFix/>
          </a:blip>
          <a:srcRect xmlns:a="http://schemas.openxmlformats.org/drawingml/2006/main" l="0" t="0" r="0" b="0"/>
          <a:stretch xmlns:a="http://schemas.openxmlformats.org/drawingml/2006/main"/>
        </p:blipFill>
        <p:spPr>
          <a:xfrm xmlns:a="http://schemas.openxmlformats.org/drawingml/2006/main">
            <a:off x="735178" y="3021178"/>
            <a:ext cx="175565" cy="175565"/>
          </a:xfrm>
          <a:prstGeom xmlns:a="http://schemas.openxmlformats.org/drawingml/2006/main" prst="rect">
            <a:avLst/>
          </a:prstGeom>
          <a:ln xmlns:a="http://schemas.openxmlformats.org/drawingml/2006/main">
            <a:noFill/>
          </a:ln>
        </p:spPr>
      </p:pic>
      <p:sp>
        <p:nvSpPr>
          <p:cNvPr id="51" name="Google Shape;51;p4">
            <a:extLst xmlns:a="http://schemas.openxmlformats.org/drawingml/2006/main">
              <a:ext uri="{FF2B5EF4-FFF2-40B4-BE49-F238E27FC236}">
                <a16:creationId xmlns:a16="http://schemas.microsoft.com/office/drawing/2014/main" id="{B1591BAD-E6A7-457C-A811-88AF0B5BA2D9}"/>
              </a:ext>
            </a:extLst>
          </p:cNvPr>
          <p:cNvSpPr>
            <a:spLocks xmlns:a="http://schemas.openxmlformats.org/drawingml/2006/main" noGrp="1"/>
          </p:cNvSpPr>
          <p:nvPr/>
        </p:nvSpPr>
        <p:spPr>
          <a:xfrm xmlns:a="http://schemas.openxmlformats.org/drawingml/2006/main">
            <a:off x="1188720" y="28895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does knowing occur?  —  Through which activities, means, disciplines, and embodied conditions does understanding mature?</a:t>
            </a:r>
          </a:p>
        </p:txBody>
      </p:sp>
      <p:sp>
        <p:nvSpPr>
          <p:cNvPr id="52" name="Google Shape;52;p4">
            <a:extLst xmlns:a="http://schemas.openxmlformats.org/drawingml/2006/main">
              <a:ext uri="{FF2B5EF4-FFF2-40B4-BE49-F238E27FC236}">
                <a16:creationId xmlns:a16="http://schemas.microsoft.com/office/drawing/2014/main" id="{FAC8FF81-4EF9-4BA4-B8E6-1B994F766A13}"/>
              </a:ext>
            </a:extLst>
          </p:cNvPr>
          <p:cNvSpPr>
            <a:spLocks xmlns:a="http://schemas.openxmlformats.org/drawingml/2006/main" noGrp="1"/>
          </p:cNvSpPr>
          <p:nvPr/>
        </p:nvSpPr>
        <p:spPr>
          <a:xfrm xmlns:a="http://schemas.openxmlformats.org/drawingml/2006/main">
            <a:off x="640080" y="3493008"/>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3" name="Google Shape;53;p4"/>
          <p:cNvPicPr>
            <a:picLocks xmlns:a="http://schemas.openxmlformats.org/drawingml/2006/main" noChangeAspect="1"/>
          </p:cNvPicPr>
          <p:nvPr/>
        </p:nvPicPr>
        <p:blipFill rotWithShape="1">
          <a:blip xmlns:r="http://schemas.openxmlformats.org/officeDocument/2006/relationships" xmlns:a="http://schemas.openxmlformats.org/drawingml/2006/main" r:embed="R31e0924bd4a84535">
            <a:alphaModFix/>
          </a:blip>
          <a:srcRect xmlns:a="http://schemas.openxmlformats.org/drawingml/2006/main" l="0" t="0" r="0" b="0"/>
          <a:stretch xmlns:a="http://schemas.openxmlformats.org/drawingml/2006/main"/>
        </p:blipFill>
        <p:spPr>
          <a:xfrm xmlns:a="http://schemas.openxmlformats.org/drawingml/2006/main">
            <a:off x="735178" y="3588106"/>
            <a:ext cx="175565" cy="175565"/>
          </a:xfrm>
          <a:prstGeom xmlns:a="http://schemas.openxmlformats.org/drawingml/2006/main" prst="rect">
            <a:avLst/>
          </a:prstGeom>
          <a:ln xmlns:a="http://schemas.openxmlformats.org/drawingml/2006/main">
            <a:noFill/>
          </a:ln>
        </p:spPr>
      </p:pic>
      <p:sp>
        <p:nvSpPr>
          <p:cNvPr id="54" name="Google Shape;54;p4">
            <a:extLst xmlns:a="http://schemas.openxmlformats.org/drawingml/2006/main">
              <a:ext uri="{FF2B5EF4-FFF2-40B4-BE49-F238E27FC236}">
                <a16:creationId xmlns:a16="http://schemas.microsoft.com/office/drawing/2014/main" id="{88A8438F-C330-4A48-9673-52C9074A68EC}"/>
              </a:ext>
            </a:extLst>
          </p:cNvPr>
          <p:cNvSpPr>
            <a:spLocks xmlns:a="http://schemas.openxmlformats.org/drawingml/2006/main" noGrp="1"/>
          </p:cNvSpPr>
          <p:nvPr/>
        </p:nvSpPr>
        <p:spPr>
          <a:xfrm xmlns:a="http://schemas.openxmlformats.org/drawingml/2006/main">
            <a:off x="1188720" y="3456432"/>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is error possible?  —  Where do delusion, false learning, contradiction, and mis-evaluation enter the process?</a:t>
            </a:r>
          </a:p>
        </p:txBody>
      </p:sp>
      <p:sp>
        <p:nvSpPr>
          <p:cNvPr id="55" name="Google Shape;55;p4">
            <a:extLst xmlns:a="http://schemas.openxmlformats.org/drawingml/2006/main">
              <a:ext uri="{FF2B5EF4-FFF2-40B4-BE49-F238E27FC236}">
                <a16:creationId xmlns:a16="http://schemas.microsoft.com/office/drawing/2014/main" id="{8CF393A7-5751-428A-9C15-0EBA54A20BF2}"/>
              </a:ext>
            </a:extLst>
          </p:cNvPr>
          <p:cNvSpPr>
            <a:spLocks xmlns:a="http://schemas.openxmlformats.org/drawingml/2006/main" noGrp="1"/>
          </p:cNvSpPr>
          <p:nvPr/>
        </p:nvSpPr>
        <p:spPr>
          <a:xfrm xmlns:a="http://schemas.openxmlformats.org/drawingml/2006/main">
            <a:off x="640080" y="405993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6" name="Google Shape;56;p4"/>
          <p:cNvPicPr>
            <a:picLocks xmlns:a="http://schemas.openxmlformats.org/drawingml/2006/main" noChangeAspect="1"/>
          </p:cNvPicPr>
          <p:nvPr/>
        </p:nvPicPr>
        <p:blipFill rotWithShape="1">
          <a:blip xmlns:r="http://schemas.openxmlformats.org/officeDocument/2006/relationships" xmlns:a="http://schemas.openxmlformats.org/drawingml/2006/main" r:embed="R31e0924bd4a84535">
            <a:alphaModFix/>
          </a:blip>
          <a:srcRect xmlns:a="http://schemas.openxmlformats.org/drawingml/2006/main" l="0" t="0" r="0" b="0"/>
          <a:stretch xmlns:a="http://schemas.openxmlformats.org/drawingml/2006/main"/>
        </p:blipFill>
        <p:spPr>
          <a:xfrm xmlns:a="http://schemas.openxmlformats.org/drawingml/2006/main">
            <a:off x="735178" y="4155034"/>
            <a:ext cx="175565" cy="175565"/>
          </a:xfrm>
          <a:prstGeom xmlns:a="http://schemas.openxmlformats.org/drawingml/2006/main" prst="rect">
            <a:avLst/>
          </a:prstGeom>
          <a:ln xmlns:a="http://schemas.openxmlformats.org/drawingml/2006/main">
            <a:noFill/>
          </a:ln>
        </p:spPr>
      </p:pic>
      <p:sp>
        <p:nvSpPr>
          <p:cNvPr id="57" name="Google Shape;57;p4">
            <a:extLst xmlns:a="http://schemas.openxmlformats.org/drawingml/2006/main">
              <a:ext uri="{FF2B5EF4-FFF2-40B4-BE49-F238E27FC236}">
                <a16:creationId xmlns:a16="http://schemas.microsoft.com/office/drawing/2014/main" id="{69FE7F80-11B5-4B7E-A5BC-C73663BD6F41}"/>
              </a:ext>
            </a:extLst>
          </p:cNvPr>
          <p:cNvSpPr>
            <a:spLocks xmlns:a="http://schemas.openxmlformats.org/drawingml/2006/main" noGrp="1"/>
          </p:cNvSpPr>
          <p:nvPr/>
        </p:nvSpPr>
        <p:spPr>
          <a:xfrm xmlns:a="http://schemas.openxmlformats.org/drawingml/2006/main">
            <a:off x="1188720" y="402336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counts as evidence?  —  How must realisation face action, result, public conduct, experiment, and transmission?</a:t>
            </a:r>
          </a:p>
        </p:txBody>
      </p:sp>
      <p:sp>
        <p:nvSpPr>
          <p:cNvPr id="58" name="Google Shape;58;p4">
            <a:extLst xmlns:a="http://schemas.openxmlformats.org/drawingml/2006/main">
              <a:ext uri="{FF2B5EF4-FFF2-40B4-BE49-F238E27FC236}">
                <a16:creationId xmlns:a16="http://schemas.microsoft.com/office/drawing/2014/main" id="{79C1811C-EDE3-41ED-8DB3-4090B52ECFBC}"/>
              </a:ext>
            </a:extLst>
          </p:cNvPr>
          <p:cNvSpPr>
            <a:spLocks xmlns:a="http://schemas.openxmlformats.org/drawingml/2006/main" noGrp="1"/>
          </p:cNvSpPr>
          <p:nvPr/>
        </p:nvSpPr>
        <p:spPr>
          <a:xfrm xmlns:a="http://schemas.openxmlformats.org/drawingml/2006/main">
            <a:off x="1188720" y="4645152"/>
            <a:ext cx="7406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Madhyasth Darshan answers all six by joining ontology, active selfhood, conduct, and consequence.</a:t>
            </a:r>
          </a:p>
        </p:txBody>
      </p:sp>
    </p:spTree>
    <p:extLst>
      <p:ext uri="{BB962C8B-B14F-4D97-AF65-F5344CB8AC3E}">
        <p14:creationId xmlns:p14="http://schemas.microsoft.com/office/powerpoint/2010/main" val="15314905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Google Shape;64;p5">
            <a:extLst xmlns:a="http://schemas.openxmlformats.org/drawingml/2006/main">
              <a:ext uri="{FF2B5EF4-FFF2-40B4-BE49-F238E27FC236}">
                <a16:creationId xmlns:a16="http://schemas.microsoft.com/office/drawing/2014/main" id="{620A3F0D-015F-48E9-A9C2-57629DC870E5}"/>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5" name="Google Shape;65;p5">
            <a:extLst xmlns:a="http://schemas.openxmlformats.org/drawingml/2006/main">
              <a:ext uri="{FF2B5EF4-FFF2-40B4-BE49-F238E27FC236}">
                <a16:creationId xmlns:a16="http://schemas.microsoft.com/office/drawing/2014/main" id="{271F7A08-310C-4AD5-BECC-525C35D239E7}"/>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6" name="Google Shape;66;p5">
            <a:extLst xmlns:a="http://schemas.openxmlformats.org/drawingml/2006/main">
              <a:ext uri="{FF2B5EF4-FFF2-40B4-BE49-F238E27FC236}">
                <a16:creationId xmlns:a16="http://schemas.microsoft.com/office/drawing/2014/main" id="{57C6BE5D-A6F5-46FE-8EFC-70C7CEF0BE95}"/>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7" name="Google Shape;67;p5">
            <a:extLst xmlns:a="http://schemas.openxmlformats.org/drawingml/2006/main">
              <a:ext uri="{FF2B5EF4-FFF2-40B4-BE49-F238E27FC236}">
                <a16:creationId xmlns:a16="http://schemas.microsoft.com/office/drawing/2014/main" id="{49BA7092-6215-4D55-B630-440D9EB3375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 · PERVASIVE KNOWLEDGE AND ACTIVE KNOWING</a:t>
            </a:r>
          </a:p>
        </p:txBody>
      </p:sp>
      <p:sp>
        <p:nvSpPr>
          <p:cNvPr id="68" name="Google Shape;68;p5">
            <a:extLst xmlns:a="http://schemas.openxmlformats.org/drawingml/2006/main">
              <a:ext uri="{FF2B5EF4-FFF2-40B4-BE49-F238E27FC236}">
                <a16:creationId xmlns:a16="http://schemas.microsoft.com/office/drawing/2014/main" id="{5528EFA1-C751-481C-95A7-342329DFDBDC}"/>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Knowledge Is Realised Understanding</a:t>
            </a:r>
          </a:p>
        </p:txBody>
      </p:sp>
      <p:sp>
        <p:nvSpPr>
          <p:cNvPr id="69" name="Google Shape;69;p5">
            <a:extLst xmlns:a="http://schemas.openxmlformats.org/drawingml/2006/main">
              <a:ext uri="{FF2B5EF4-FFF2-40B4-BE49-F238E27FC236}">
                <a16:creationId xmlns:a16="http://schemas.microsoft.com/office/drawing/2014/main" id="{7081440E-2C7A-4D94-8652-308B49F58F4C}"/>
              </a:ext>
            </a:extLst>
          </p:cNvPr>
          <p:cNvSpPr>
            <a:spLocks xmlns:a="http://schemas.openxmlformats.org/drawingml/2006/main" noGrp="1"/>
          </p:cNvSpPr>
          <p:nvPr/>
        </p:nvSpPr>
        <p:spPr>
          <a:xfrm xmlns:a="http://schemas.openxmlformats.org/drawingml/2006/main">
            <a:off x="640080" y="1280160"/>
            <a:ext cx="41605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500" b="1" i="0" u="none" cap="none">
                <a:solidFill>
                  <a:srgbClr val="1E2447"/>
                </a:solidFill>
                <a:latin typeface="Calibri"/>
                <a:ea typeface="Calibri"/>
                <a:cs typeface="Calibri"/>
              </a:rPr>
              <a:t>Pervasive gyan</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Coexistence is orderly and available for understanding because every unit is saturated in Omnipresence. Calling Omnipresence Knowledge names this all-pervasive ground; it does not make the ground a perceiving subject.</a:t>
            </a:r>
          </a:p>
          <a:p xmlns:a="http://schemas.openxmlformats.org/drawingml/2006/main">
            <a:pPr marL="0" indent="0" algn="l">
              <a:spcBef>
                <a:spcPts val="1000"/>
              </a:spcBef>
              <a:spcAft>
                <a:spcPts val="0"/>
              </a:spcAft>
              <a:buNone/>
            </a:pPr>
            <a:r>
              <a:rPr sz="1500" b="1" i="0" u="none" cap="none">
                <a:solidFill>
                  <a:srgbClr val="1E2447"/>
                </a:solidFill>
                <a:latin typeface="Calibri"/>
                <a:ea typeface="Calibri"/>
                <a:cs typeface="Calibri"/>
              </a:rPr>
              <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Knowledge unfolding</a:t>
            </a:r>
          </a:p>
          <a:p xmlns:a="http://schemas.openxmlformats.org/drawingml/2006/main">
            <a:pPr marL="0" indent="0" algn="l">
              <a:spcBef>
                <a:spcPts val="1000"/>
              </a:spcBef>
              <a:spcAft>
                <a:spcPts val="0"/>
              </a:spcAft>
              <a:buNone/>
            </a:pPr>
            <a:r>
              <a:rPr sz="1500" b="1" i="0" u="none" cap="none">
                <a:solidFill>
                  <a:srgbClr val="1E2447"/>
                </a:solidFill>
                <a:latin typeface="Calibri"/>
                <a:ea typeface="Calibri"/>
                <a:cs typeface="Calibri"/>
              </a:rPr>
              <a:t>Active knowing occurs in jeevan. Gyan-udghatan is the unfolding of what is understood through an awakened human being — in thought, evaluation, behaviour, work, and communication.</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Completion</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Human knowledge is realised understanding expressed as knowledge, wisdom, and science. It is complete when reality, self, relationship, and conduct are understood together.</a:t>
            </a:r>
          </a:p>
        </p:txBody>
      </p:sp>
      <p:sp>
        <p:nvSpPr>
          <p:cNvPr id="70" name="Google Shape;70;p5">
            <a:extLst xmlns:a="http://schemas.openxmlformats.org/drawingml/2006/main">
              <a:ext uri="{FF2B5EF4-FFF2-40B4-BE49-F238E27FC236}">
                <a16:creationId xmlns:a16="http://schemas.microsoft.com/office/drawing/2014/main" id="{D3B9C202-8127-4641-B67E-E8B81D9011A4}"/>
              </a:ext>
            </a:extLst>
          </p:cNvPr>
          <p:cNvSpPr>
            <a:spLocks xmlns:a="http://schemas.openxmlformats.org/drawingml/2006/main" noGrp="1"/>
          </p:cNvSpPr>
          <p:nvPr/>
        </p:nvSpPr>
        <p:spPr>
          <a:xfrm xmlns:a="http://schemas.openxmlformats.org/drawingml/2006/main">
            <a:off x="5074920" y="1280160"/>
            <a:ext cx="3566160" cy="3246120"/>
          </a:xfrm>
          <a:prstGeom xmlns:a="http://schemas.openxmlformats.org/drawingml/2006/main" prst="roundRect">
            <a:avLst>
              <a:gd name="adj" fmla="val 3380"/>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1" name="Google Shape;71;p5">
            <a:extLst xmlns:a="http://schemas.openxmlformats.org/drawingml/2006/main">
              <a:ext uri="{FF2B5EF4-FFF2-40B4-BE49-F238E27FC236}">
                <a16:creationId xmlns:a16="http://schemas.microsoft.com/office/drawing/2014/main" id="{41A2BB60-5764-487C-835E-60A45280CC12}"/>
              </a:ext>
            </a:extLst>
          </p:cNvPr>
          <p:cNvSpPr>
            <a:spLocks xmlns:a="http://schemas.openxmlformats.org/drawingml/2006/main" noGrp="1"/>
          </p:cNvSpPr>
          <p:nvPr/>
        </p:nvSpPr>
        <p:spPr>
          <a:xfrm xmlns:a="http://schemas.openxmlformats.org/drawingml/2006/main">
            <a:off x="5074920" y="1417320"/>
            <a:ext cx="3566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00" b="1" i="0" u="none" cap="none">
                <a:solidFill>
                  <a:srgbClr val="C9D4EF"/>
                </a:solidFill>
                <a:latin typeface="Calibri"/>
                <a:ea typeface="Calibri"/>
                <a:cs typeface="Calibri"/>
              </a:rPr>
              <a:t>COEXISTENCE — reality available for understanding</a:t>
            </a:r>
          </a:p>
        </p:txBody>
      </p:sp>
      <p:sp>
        <p:nvSpPr>
          <p:cNvPr id="72" name="Google Shape;72;p5">
            <a:extLst xmlns:a="http://schemas.openxmlformats.org/drawingml/2006/main">
              <a:ext uri="{FF2B5EF4-FFF2-40B4-BE49-F238E27FC236}">
                <a16:creationId xmlns:a16="http://schemas.microsoft.com/office/drawing/2014/main" id="{E8130BA5-50DA-47D7-B519-A60CBC449773}"/>
              </a:ext>
            </a:extLst>
          </p:cNvPr>
          <p:cNvSpPr>
            <a:spLocks xmlns:a="http://schemas.openxmlformats.org/drawingml/2006/main" noGrp="1"/>
          </p:cNvSpPr>
          <p:nvPr/>
        </p:nvSpPr>
        <p:spPr>
          <a:xfrm xmlns:a="http://schemas.openxmlformats.org/drawingml/2006/main">
            <a:off x="5440680" y="1965960"/>
            <a:ext cx="1051560" cy="1051560"/>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3" name="Google Shape;73;p5">
            <a:extLst xmlns:a="http://schemas.openxmlformats.org/drawingml/2006/main">
              <a:ext uri="{FF2B5EF4-FFF2-40B4-BE49-F238E27FC236}">
                <a16:creationId xmlns:a16="http://schemas.microsoft.com/office/drawing/2014/main" id="{105E6401-F458-4935-9F23-C1578F306209}"/>
              </a:ext>
            </a:extLst>
          </p:cNvPr>
          <p:cNvSpPr>
            <a:spLocks xmlns:a="http://schemas.openxmlformats.org/drawingml/2006/main" noGrp="1"/>
          </p:cNvSpPr>
          <p:nvPr/>
        </p:nvSpPr>
        <p:spPr>
          <a:xfrm xmlns:a="http://schemas.openxmlformats.org/drawingml/2006/main">
            <a:off x="5650992" y="2176272"/>
            <a:ext cx="630936" cy="630936"/>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4" name="Google Shape;74;p5">
            <a:extLst xmlns:a="http://schemas.openxmlformats.org/drawingml/2006/main">
              <a:ext uri="{FF2B5EF4-FFF2-40B4-BE49-F238E27FC236}">
                <a16:creationId xmlns:a16="http://schemas.microsoft.com/office/drawing/2014/main" id="{0CBBC975-6450-4784-82AA-2F3F9EFA5ECB}"/>
              </a:ext>
            </a:extLst>
          </p:cNvPr>
          <p:cNvSpPr>
            <a:spLocks xmlns:a="http://schemas.openxmlformats.org/drawingml/2006/main" noGrp="1"/>
          </p:cNvSpPr>
          <p:nvPr/>
        </p:nvSpPr>
        <p:spPr>
          <a:xfrm xmlns:a="http://schemas.openxmlformats.org/drawingml/2006/main">
            <a:off x="5829757" y="2355037"/>
            <a:ext cx="273406" cy="27340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5" name="Google Shape;75;p5">
            <a:extLst xmlns:a="http://schemas.openxmlformats.org/drawingml/2006/main">
              <a:ext uri="{FF2B5EF4-FFF2-40B4-BE49-F238E27FC236}">
                <a16:creationId xmlns:a16="http://schemas.microsoft.com/office/drawing/2014/main" id="{BDCA68E4-4180-484D-BDA3-28BD349AECBA}"/>
              </a:ext>
            </a:extLst>
          </p:cNvPr>
          <p:cNvSpPr>
            <a:spLocks xmlns:a="http://schemas.openxmlformats.org/drawingml/2006/main" noGrp="1"/>
          </p:cNvSpPr>
          <p:nvPr/>
        </p:nvSpPr>
        <p:spPr>
          <a:xfrm xmlns:a="http://schemas.openxmlformats.org/drawingml/2006/main">
            <a:off x="6812280" y="2240280"/>
            <a:ext cx="777240" cy="777240"/>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6" name="Google Shape;76;p5">
            <a:extLst xmlns:a="http://schemas.openxmlformats.org/drawingml/2006/main">
              <a:ext uri="{FF2B5EF4-FFF2-40B4-BE49-F238E27FC236}">
                <a16:creationId xmlns:a16="http://schemas.microsoft.com/office/drawing/2014/main" id="{DCDF7540-3A46-4AC9-BA63-9A6A421E2272}"/>
              </a:ext>
            </a:extLst>
          </p:cNvPr>
          <p:cNvSpPr>
            <a:spLocks xmlns:a="http://schemas.openxmlformats.org/drawingml/2006/main" noGrp="1"/>
          </p:cNvSpPr>
          <p:nvPr/>
        </p:nvSpPr>
        <p:spPr>
          <a:xfrm xmlns:a="http://schemas.openxmlformats.org/drawingml/2006/main">
            <a:off x="6967728" y="2395728"/>
            <a:ext cx="466344" cy="466344"/>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7" name="Google Shape;77;p5">
            <a:extLst xmlns:a="http://schemas.openxmlformats.org/drawingml/2006/main">
              <a:ext uri="{FF2B5EF4-FFF2-40B4-BE49-F238E27FC236}">
                <a16:creationId xmlns:a16="http://schemas.microsoft.com/office/drawing/2014/main" id="{02636DAF-5D87-4351-87A5-E8372A65E24B}"/>
              </a:ext>
            </a:extLst>
          </p:cNvPr>
          <p:cNvSpPr>
            <a:spLocks xmlns:a="http://schemas.openxmlformats.org/drawingml/2006/main" noGrp="1"/>
          </p:cNvSpPr>
          <p:nvPr/>
        </p:nvSpPr>
        <p:spPr>
          <a:xfrm xmlns:a="http://schemas.openxmlformats.org/drawingml/2006/main">
            <a:off x="7099859" y="2527859"/>
            <a:ext cx="202082" cy="202082"/>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8" name="Google Shape;78;p5">
            <a:extLst xmlns:a="http://schemas.openxmlformats.org/drawingml/2006/main">
              <a:ext uri="{FF2B5EF4-FFF2-40B4-BE49-F238E27FC236}">
                <a16:creationId xmlns:a16="http://schemas.microsoft.com/office/drawing/2014/main" id="{4CCBA736-6A70-436C-AE42-360E169766E0}"/>
              </a:ext>
            </a:extLst>
          </p:cNvPr>
          <p:cNvSpPr>
            <a:spLocks xmlns:a="http://schemas.openxmlformats.org/drawingml/2006/main" noGrp="1"/>
          </p:cNvSpPr>
          <p:nvPr/>
        </p:nvSpPr>
        <p:spPr>
          <a:xfrm xmlns:a="http://schemas.openxmlformats.org/drawingml/2006/main">
            <a:off x="7635240" y="1783080"/>
            <a:ext cx="566928" cy="566928"/>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9" name="Google Shape;79;p5">
            <a:extLst xmlns:a="http://schemas.openxmlformats.org/drawingml/2006/main">
              <a:ext uri="{FF2B5EF4-FFF2-40B4-BE49-F238E27FC236}">
                <a16:creationId xmlns:a16="http://schemas.microsoft.com/office/drawing/2014/main" id="{8EA360F2-8585-4EA8-92B5-6B041738AB93}"/>
              </a:ext>
            </a:extLst>
          </p:cNvPr>
          <p:cNvSpPr>
            <a:spLocks xmlns:a="http://schemas.openxmlformats.org/drawingml/2006/main" noGrp="1"/>
          </p:cNvSpPr>
          <p:nvPr/>
        </p:nvSpPr>
        <p:spPr>
          <a:xfrm xmlns:a="http://schemas.openxmlformats.org/drawingml/2006/main">
            <a:off x="7748626" y="1896466"/>
            <a:ext cx="340157" cy="340157"/>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0" name="Google Shape;80;p5">
            <a:extLst xmlns:a="http://schemas.openxmlformats.org/drawingml/2006/main">
              <a:ext uri="{FF2B5EF4-FFF2-40B4-BE49-F238E27FC236}">
                <a16:creationId xmlns:a16="http://schemas.microsoft.com/office/drawing/2014/main" id="{B5993674-EA2C-48AF-BE49-A7CCCD2A55CB}"/>
              </a:ext>
            </a:extLst>
          </p:cNvPr>
          <p:cNvSpPr>
            <a:spLocks xmlns:a="http://schemas.openxmlformats.org/drawingml/2006/main" noGrp="1"/>
          </p:cNvSpPr>
          <p:nvPr/>
        </p:nvSpPr>
        <p:spPr>
          <a:xfrm xmlns:a="http://schemas.openxmlformats.org/drawingml/2006/main">
            <a:off x="7845003" y="1992843"/>
            <a:ext cx="147401" cy="147401"/>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1" name="Google Shape;81;p5">
            <a:extLst xmlns:a="http://schemas.openxmlformats.org/drawingml/2006/main">
              <a:ext uri="{FF2B5EF4-FFF2-40B4-BE49-F238E27FC236}">
                <a16:creationId xmlns:a16="http://schemas.microsoft.com/office/drawing/2014/main" id="{AB12E27E-7676-41EE-A930-60BE592AC2AF}"/>
              </a:ext>
            </a:extLst>
          </p:cNvPr>
          <p:cNvSpPr>
            <a:spLocks xmlns:a="http://schemas.openxmlformats.org/drawingml/2006/main" noGrp="1"/>
          </p:cNvSpPr>
          <p:nvPr/>
        </p:nvSpPr>
        <p:spPr>
          <a:xfrm xmlns:a="http://schemas.openxmlformats.org/drawingml/2006/main">
            <a:off x="6035040" y="3200400"/>
            <a:ext cx="658368" cy="658368"/>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2" name="Google Shape;82;p5">
            <a:extLst xmlns:a="http://schemas.openxmlformats.org/drawingml/2006/main">
              <a:ext uri="{FF2B5EF4-FFF2-40B4-BE49-F238E27FC236}">
                <a16:creationId xmlns:a16="http://schemas.microsoft.com/office/drawing/2014/main" id="{F69F7BC8-1B98-4878-946D-406CDF55F9CE}"/>
              </a:ext>
            </a:extLst>
          </p:cNvPr>
          <p:cNvSpPr>
            <a:spLocks xmlns:a="http://schemas.openxmlformats.org/drawingml/2006/main" noGrp="1"/>
          </p:cNvSpPr>
          <p:nvPr/>
        </p:nvSpPr>
        <p:spPr>
          <a:xfrm xmlns:a="http://schemas.openxmlformats.org/drawingml/2006/main">
            <a:off x="6166714" y="3332074"/>
            <a:ext cx="395021" cy="395021"/>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3" name="Google Shape;83;p5">
            <a:extLst xmlns:a="http://schemas.openxmlformats.org/drawingml/2006/main">
              <a:ext uri="{FF2B5EF4-FFF2-40B4-BE49-F238E27FC236}">
                <a16:creationId xmlns:a16="http://schemas.microsoft.com/office/drawing/2014/main" id="{3A4ADB5D-BD89-4437-BCA9-EC46107B8CE5}"/>
              </a:ext>
            </a:extLst>
          </p:cNvPr>
          <p:cNvSpPr>
            <a:spLocks xmlns:a="http://schemas.openxmlformats.org/drawingml/2006/main" noGrp="1"/>
          </p:cNvSpPr>
          <p:nvPr/>
        </p:nvSpPr>
        <p:spPr>
          <a:xfrm xmlns:a="http://schemas.openxmlformats.org/drawingml/2006/main">
            <a:off x="6278636" y="3443996"/>
            <a:ext cx="171176" cy="171176"/>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4" name="Google Shape;84;p5">
            <a:extLst xmlns:a="http://schemas.openxmlformats.org/drawingml/2006/main">
              <a:ext uri="{FF2B5EF4-FFF2-40B4-BE49-F238E27FC236}">
                <a16:creationId xmlns:a16="http://schemas.microsoft.com/office/drawing/2014/main" id="{B0D2FCF2-4191-4330-8918-CDD31DDE17CB}"/>
              </a:ext>
            </a:extLst>
          </p:cNvPr>
          <p:cNvSpPr>
            <a:spLocks xmlns:a="http://schemas.openxmlformats.org/drawingml/2006/main" noGrp="1"/>
          </p:cNvSpPr>
          <p:nvPr/>
        </p:nvSpPr>
        <p:spPr>
          <a:xfrm xmlns:a="http://schemas.openxmlformats.org/drawingml/2006/main">
            <a:off x="7315200" y="3246120"/>
            <a:ext cx="896112" cy="896112"/>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5" name="Google Shape;85;p5">
            <a:extLst xmlns:a="http://schemas.openxmlformats.org/drawingml/2006/main">
              <a:ext uri="{FF2B5EF4-FFF2-40B4-BE49-F238E27FC236}">
                <a16:creationId xmlns:a16="http://schemas.microsoft.com/office/drawing/2014/main" id="{A713010E-42C8-4812-BF2E-5601E420BEC8}"/>
              </a:ext>
            </a:extLst>
          </p:cNvPr>
          <p:cNvSpPr>
            <a:spLocks xmlns:a="http://schemas.openxmlformats.org/drawingml/2006/main" noGrp="1"/>
          </p:cNvSpPr>
          <p:nvPr/>
        </p:nvSpPr>
        <p:spPr>
          <a:xfrm xmlns:a="http://schemas.openxmlformats.org/drawingml/2006/main">
            <a:off x="7494422" y="3425342"/>
            <a:ext cx="537667" cy="537667"/>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6" name="Google Shape;86;p5">
            <a:extLst xmlns:a="http://schemas.openxmlformats.org/drawingml/2006/main">
              <a:ext uri="{FF2B5EF4-FFF2-40B4-BE49-F238E27FC236}">
                <a16:creationId xmlns:a16="http://schemas.microsoft.com/office/drawing/2014/main" id="{CBE0A6D6-37DB-40A2-B20A-EAB55EFA13D1}"/>
              </a:ext>
            </a:extLst>
          </p:cNvPr>
          <p:cNvSpPr>
            <a:spLocks xmlns:a="http://schemas.openxmlformats.org/drawingml/2006/main" noGrp="1"/>
          </p:cNvSpPr>
          <p:nvPr/>
        </p:nvSpPr>
        <p:spPr>
          <a:xfrm xmlns:a="http://schemas.openxmlformats.org/drawingml/2006/main">
            <a:off x="7646761" y="3577681"/>
            <a:ext cx="232989" cy="232989"/>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7" name="Google Shape;87;p5">
            <a:extLst xmlns:a="http://schemas.openxmlformats.org/drawingml/2006/main">
              <a:ext uri="{FF2B5EF4-FFF2-40B4-BE49-F238E27FC236}">
                <a16:creationId xmlns:a16="http://schemas.microsoft.com/office/drawing/2014/main" id="{A2E213D6-0082-4DA4-B58E-76B4CDE9F1E7}"/>
              </a:ext>
            </a:extLst>
          </p:cNvPr>
          <p:cNvSpPr>
            <a:spLocks xmlns:a="http://schemas.openxmlformats.org/drawingml/2006/main" noGrp="1"/>
          </p:cNvSpPr>
          <p:nvPr/>
        </p:nvSpPr>
        <p:spPr>
          <a:xfrm xmlns:a="http://schemas.openxmlformats.org/drawingml/2006/main">
            <a:off x="5257800" y="4114800"/>
            <a:ext cx="3200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000" b="0" i="1" u="none" cap="none">
                <a:solidFill>
                  <a:srgbClr val="C9D4EF"/>
                </a:solidFill>
                <a:latin typeface="Calibri"/>
                <a:ea typeface="Calibri"/>
                <a:cs typeface="Calibri"/>
              </a:rPr>
              <a:t>knowledge is pervasive; knowing is an activity of jeevan; evidence appears through the human joint form</a:t>
            </a:r>
          </a:p>
        </p:txBody>
      </p:sp>
      <p:sp>
        <p:nvSpPr>
          <p:cNvPr id="88" name="Google Shape;88;p5">
            <a:extLst xmlns:a="http://schemas.openxmlformats.org/drawingml/2006/main">
              <a:ext uri="{FF2B5EF4-FFF2-40B4-BE49-F238E27FC236}">
                <a16:creationId xmlns:a16="http://schemas.microsoft.com/office/drawing/2014/main" id="{573C90F8-C4BF-4F02-942A-A54FF482729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11, 35, 115–116, 289  ·  SB pp. 48, 116</a:t>
            </a:r>
          </a:p>
        </p:txBody>
      </p:sp>
    </p:spTree>
    <p:extLst>
      <p:ext uri="{BB962C8B-B14F-4D97-AF65-F5344CB8AC3E}">
        <p14:creationId xmlns:p14="http://schemas.microsoft.com/office/powerpoint/2010/main" val="7129897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EBEF7F00-6B49-4A97-A2C9-3872E7D6570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C70F0F84-9DBC-4050-9671-0D5C5FC1E52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C80D0AF3-2895-41D8-92FE-B1605469D17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1B657EC0-01A7-4BB0-9C90-17C378E295E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§1.2 · THREE INSEPARABLE CONTENTS</a:t>
            </a:r>
          </a:p>
        </p:txBody>
      </p:sp>
      <p:sp>
        <p:nvSpPr>
          <p:cNvPr id="98" name="Google Shape;98;p6">
            <a:extLst xmlns:a="http://schemas.openxmlformats.org/drawingml/2006/main">
              <a:ext uri="{FF2B5EF4-FFF2-40B4-BE49-F238E27FC236}">
                <a16:creationId xmlns:a16="http://schemas.microsoft.com/office/drawing/2014/main" id="{4ECCC323-9F8F-4642-988C-7822F9C0A39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What Knowledge Must Include</a:t>
            </a:r>
          </a:p>
        </p:txBody>
      </p:sp>
      <p:sp>
        <p:nvSpPr>
          <p:cNvPr id="99" name="Google Shape;99;p6">
            <a:extLst xmlns:a="http://schemas.openxmlformats.org/drawingml/2006/main">
              <a:ext uri="{FF2B5EF4-FFF2-40B4-BE49-F238E27FC236}">
                <a16:creationId xmlns:a16="http://schemas.microsoft.com/office/drawing/2014/main" id="{DF6B4B7B-D28E-4416-8924-A7383F929BB2}"/>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Complete knowledge is threefold. Each content corrects a partial epistemology: reality without the knower is incomplete; self-knowledge without conduct is unproven; conduct without the whole lacks orientation.</a:t>
            </a:r>
          </a:p>
        </p:txBody>
      </p:sp>
      <p:sp>
        <p:nvSpPr>
          <p:cNvPr id="100" name="Google Shape;100;p6">
            <a:extLst xmlns:a="http://schemas.openxmlformats.org/drawingml/2006/main">
              <a:ext uri="{FF2B5EF4-FFF2-40B4-BE49-F238E27FC236}">
                <a16:creationId xmlns:a16="http://schemas.microsoft.com/office/drawing/2014/main" id="{DACC0896-F0C0-40F4-B10C-573B8F396051}"/>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322BBC30-630B-42E3-9DD2-412D0D9AEC97}"/>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b7e50981395c47cc">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4B81C68F-F7F1-4BFA-948A-90AE27C808EF}"/>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Existence as coexistence</a:t>
            </a:r>
          </a:p>
        </p:txBody>
      </p:sp>
      <p:sp>
        <p:nvSpPr>
          <p:cNvPr id="104" name="Google Shape;104;p6">
            <a:extLst xmlns:a="http://schemas.openxmlformats.org/drawingml/2006/main">
              <a:ext uri="{FF2B5EF4-FFF2-40B4-BE49-F238E27FC236}">
                <a16:creationId xmlns:a16="http://schemas.microsoft.com/office/drawing/2014/main" id="{91E8706C-5C84-49C2-950C-C985E9B97FEE}"/>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Omnipresence and all real units; their form, properties, essential nature, dharma, relationships, and participation in orderliness.</a:t>
            </a:r>
          </a:p>
        </p:txBody>
      </p:sp>
      <p:sp>
        <p:nvSpPr>
          <p:cNvPr id="105" name="Google Shape;105;p6">
            <a:extLst xmlns:a="http://schemas.openxmlformats.org/drawingml/2006/main">
              <a:ext uri="{FF2B5EF4-FFF2-40B4-BE49-F238E27FC236}">
                <a16:creationId xmlns:a16="http://schemas.microsoft.com/office/drawing/2014/main" id="{7F5058FF-1BB9-4921-BA6D-F70E2BC028FE}"/>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9B5AA159-1A21-4A1E-BAC5-D38FC94CAF8E}"/>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ecd08e4160244ee1">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D94D8FC0-69AE-44E1-9D58-6DE6FF8D0264}"/>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Jeevan</a:t>
            </a:r>
          </a:p>
        </p:txBody>
      </p:sp>
      <p:sp>
        <p:nvSpPr>
          <p:cNvPr id="109" name="Google Shape;109;p6">
            <a:extLst xmlns:a="http://schemas.openxmlformats.org/drawingml/2006/main">
              <a:ext uri="{FF2B5EF4-FFF2-40B4-BE49-F238E27FC236}">
                <a16:creationId xmlns:a16="http://schemas.microsoft.com/office/drawing/2014/main" id="{B8609BF1-AD34-4D40-9A8A-24A8BC3D1E84}"/>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The sentient unit that bears attention, reflection, resolve, enlightenment, realisation, selection, evaluation, and authenticity.</a:t>
            </a:r>
          </a:p>
        </p:txBody>
      </p:sp>
      <p:sp>
        <p:nvSpPr>
          <p:cNvPr id="110" name="Google Shape;110;p6">
            <a:extLst xmlns:a="http://schemas.openxmlformats.org/drawingml/2006/main">
              <a:ext uri="{FF2B5EF4-FFF2-40B4-BE49-F238E27FC236}">
                <a16:creationId xmlns:a16="http://schemas.microsoft.com/office/drawing/2014/main" id="{897E6910-9F9B-41AB-900E-EC71D5726F41}"/>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E67C106F-BE83-49E5-B07F-FBF8361D1E0D}"/>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576c554eeabf4486">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7C0E46DA-89DB-4129-A5C8-58FA26CE9D20}"/>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Humane conduct</a:t>
            </a:r>
          </a:p>
        </p:txBody>
      </p:sp>
      <p:sp>
        <p:nvSpPr>
          <p:cNvPr id="114" name="Google Shape;114;p6">
            <a:extLst xmlns:a="http://schemas.openxmlformats.org/drawingml/2006/main">
              <a:ext uri="{FF2B5EF4-FFF2-40B4-BE49-F238E27FC236}">
                <a16:creationId xmlns:a16="http://schemas.microsoft.com/office/drawing/2014/main" id="{120B2FB7-86A5-48D0-85A7-8E824189657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The right recognition and fulfilment of relationships, made evident as justice, work, behaviour, and participation in universal orderliness.</a:t>
            </a:r>
          </a:p>
        </p:txBody>
      </p:sp>
      <p:sp>
        <p:nvSpPr>
          <p:cNvPr id="115" name="Google Shape;115;p6">
            <a:extLst xmlns:a="http://schemas.openxmlformats.org/drawingml/2006/main">
              <a:ext uri="{FF2B5EF4-FFF2-40B4-BE49-F238E27FC236}">
                <a16:creationId xmlns:a16="http://schemas.microsoft.com/office/drawing/2014/main" id="{3FFA5695-FD1E-4119-B4FC-199120FA7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Knowledge of coexistence, knowledge of jeevan, and knowledge of humane conduct are one complete epistemic field. — KD §3.17 · SB p. 116</a:t>
            </a:r>
          </a:p>
        </p:txBody>
      </p:sp>
    </p:spTree>
    <p:extLst>
      <p:ext uri="{BB962C8B-B14F-4D97-AF65-F5344CB8AC3E}">
        <p14:creationId xmlns:p14="http://schemas.microsoft.com/office/powerpoint/2010/main" val="14662190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§1.2</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Knowledge, Knower, and Known</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Knowledge</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Realised understanding of coexistence, jeevan, and humane conduct — accepted, evaluated, and capable of guiding action.</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Knower</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Jeevan is the sentient bearer of knowing; the human being is the embodied participant through whom knowing is spoken, tested, and lived.</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Known</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Existence as coexistence: units, relationships, values, orderliness, and the conditions in which human aspiration can be fulfilled.</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Meaningful evidence</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The known becomes meaningful when understanding appears as resolution, prosperity, fearlessness, coexistence, and an awakened tradition.</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roles remain distinct: jeevan knows, coexistence is known, and knowledge is their realised relation made evident in life.</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§3.17, pp. 145–150  ·  MVD pp. 84, 115  ·  JV p. 165</a:t>
            </a:r>
          </a:p>
        </p:txBody>
      </p:sp>
    </p:spTree>
    <p:extLst>
      <p:ext uri="{BB962C8B-B14F-4D97-AF65-F5344CB8AC3E}">
        <p14:creationId xmlns:p14="http://schemas.microsoft.com/office/powerpoint/2010/main" val="9723823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 name="Google Shape;158;p8">
            <a:extLst xmlns:a="http://schemas.openxmlformats.org/drawingml/2006/main">
              <a:ext uri="{FF2B5EF4-FFF2-40B4-BE49-F238E27FC236}">
                <a16:creationId xmlns:a16="http://schemas.microsoft.com/office/drawing/2014/main" id="{FF8942B7-5A36-4D4F-A231-9AB3FCCC3AB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9" name="Google Shape;159;p8">
            <a:extLst xmlns:a="http://schemas.openxmlformats.org/drawingml/2006/main">
              <a:ext uri="{FF2B5EF4-FFF2-40B4-BE49-F238E27FC236}">
                <a16:creationId xmlns:a16="http://schemas.microsoft.com/office/drawing/2014/main" id="{8285E63B-E64E-4239-B4E3-A08359DF9BB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0" name="Google Shape;160;p8">
            <a:extLst xmlns:a="http://schemas.openxmlformats.org/drawingml/2006/main">
              <a:ext uri="{FF2B5EF4-FFF2-40B4-BE49-F238E27FC236}">
                <a16:creationId xmlns:a16="http://schemas.microsoft.com/office/drawing/2014/main" id="{4AC4F9E4-68C3-4600-A6CF-94E72DAD422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1" name="Google Shape;161;p8">
            <a:extLst xmlns:a="http://schemas.openxmlformats.org/drawingml/2006/main">
              <a:ext uri="{FF2B5EF4-FFF2-40B4-BE49-F238E27FC236}">
                <a16:creationId xmlns:a16="http://schemas.microsoft.com/office/drawing/2014/main" id="{182CBFBE-3498-4A09-B071-65CE86036523}"/>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§1.5 · FROM UNDERSTANDING TO JUSTICE</a:t>
            </a:r>
          </a:p>
        </p:txBody>
      </p:sp>
      <p:sp>
        <p:nvSpPr>
          <p:cNvPr id="162" name="Google Shape;162;p8">
            <a:extLst xmlns:a="http://schemas.openxmlformats.org/drawingml/2006/main">
              <a:ext uri="{FF2B5EF4-FFF2-40B4-BE49-F238E27FC236}">
                <a16:creationId xmlns:a16="http://schemas.microsoft.com/office/drawing/2014/main" id="{EF96E4E0-0092-4867-8481-AEA5D69308AC}"/>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Knowing Must Become Fulfilment</a:t>
            </a:r>
          </a:p>
        </p:txBody>
      </p:sp>
      <p:sp>
        <p:nvSpPr>
          <p:cNvPr id="163" name="Google Shape;163;p8">
            <a:extLst xmlns:a="http://schemas.openxmlformats.org/drawingml/2006/main">
              <a:ext uri="{FF2B5EF4-FFF2-40B4-BE49-F238E27FC236}">
                <a16:creationId xmlns:a16="http://schemas.microsoft.com/office/drawing/2014/main" id="{5165274F-73DA-464F-92F1-9F3BAD6FC151}"/>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Knowing alone is not yet stable knowledge. What is understood must be accepted, used to recognise actual relationships, fulfilled with capacity, and evaluated by its result.</a:t>
            </a:r>
          </a:p>
        </p:txBody>
      </p:sp>
      <p:sp>
        <p:nvSpPr>
          <p:cNvPr id="164" name="Google Shape;164;p8">
            <a:extLst xmlns:a="http://schemas.openxmlformats.org/drawingml/2006/main">
              <a:ext uri="{FF2B5EF4-FFF2-40B4-BE49-F238E27FC236}">
                <a16:creationId xmlns:a16="http://schemas.microsoft.com/office/drawing/2014/main" id="{43FB756B-BDDE-40CC-9BE9-E2DAD664080D}"/>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5" name="Google Shape;165;p8">
            <a:extLst xmlns:a="http://schemas.openxmlformats.org/drawingml/2006/main">
              <a:ext uri="{FF2B5EF4-FFF2-40B4-BE49-F238E27FC236}">
                <a16:creationId xmlns:a16="http://schemas.microsoft.com/office/drawing/2014/main" id="{13FF157E-F769-49F1-9535-E25514D524D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Understanding</a:t>
            </a:r>
          </a:p>
        </p:txBody>
      </p:sp>
      <p:sp>
        <p:nvSpPr>
          <p:cNvPr id="166" name="Google Shape;166;p8">
            <a:extLst xmlns:a="http://schemas.openxmlformats.org/drawingml/2006/main">
              <a:ext uri="{FF2B5EF4-FFF2-40B4-BE49-F238E27FC236}">
                <a16:creationId xmlns:a16="http://schemas.microsoft.com/office/drawing/2014/main" id="{060F334F-38F8-4D7C-9709-C6D49DD87C67}"/>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Knowing and believing belong together: accept what is known, and examine what is accepted until it is known.</a:t>
            </a:r>
          </a:p>
        </p:txBody>
      </p:sp>
      <p:sp>
        <p:nvSpPr>
          <p:cNvPr id="167" name="Google Shape;167;p8">
            <a:extLst xmlns:a="http://schemas.openxmlformats.org/drawingml/2006/main">
              <a:ext uri="{FF2B5EF4-FFF2-40B4-BE49-F238E27FC236}">
                <a16:creationId xmlns:a16="http://schemas.microsoft.com/office/drawing/2014/main" id="{8D917C22-DD61-4196-990A-5710A1C51A02}"/>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8" name="Google Shape;168;p8">
            <a:extLst xmlns:a="http://schemas.openxmlformats.org/drawingml/2006/main">
              <a:ext uri="{FF2B5EF4-FFF2-40B4-BE49-F238E27FC236}">
                <a16:creationId xmlns:a16="http://schemas.microsoft.com/office/drawing/2014/main" id="{BE1A67A3-F1AC-4F67-B169-3DDFD0EEABEA}"/>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Justice</a:t>
            </a:r>
          </a:p>
        </p:txBody>
      </p:sp>
      <p:sp>
        <p:nvSpPr>
          <p:cNvPr id="169" name="Google Shape;169;p8">
            <a:extLst xmlns:a="http://schemas.openxmlformats.org/drawingml/2006/main">
              <a:ext uri="{FF2B5EF4-FFF2-40B4-BE49-F238E27FC236}">
                <a16:creationId xmlns:a16="http://schemas.microsoft.com/office/drawing/2014/main" id="{1F48D4EF-3E22-4CF4-87E4-D65A0570C116}"/>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Recognition, fulfilment, evaluation, and mutual satisfaction complete the epistemic sequence in relationship.</a:t>
            </a:r>
          </a:p>
        </p:txBody>
      </p:sp>
      <p:sp>
        <p:nvSpPr>
          <p:cNvPr id="170" name="Google Shape;170;p8">
            <a:extLst xmlns:a="http://schemas.openxmlformats.org/drawingml/2006/main">
              <a:ext uri="{FF2B5EF4-FFF2-40B4-BE49-F238E27FC236}">
                <a16:creationId xmlns:a16="http://schemas.microsoft.com/office/drawing/2014/main" id="{E9DA5A7C-D383-4CD0-BB74-63CE503BAFCA}"/>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A correct idea becomes living knowledge only when it reorganises attention, choice, relationship, work, and evaluation.</a:t>
            </a:r>
          </a:p>
        </p:txBody>
      </p:sp>
      <p:sp>
        <p:nvSpPr>
          <p:cNvPr id="171" name="Google Shape;171;p8">
            <a:extLst xmlns:a="http://schemas.openxmlformats.org/drawingml/2006/main">
              <a:ext uri="{FF2B5EF4-FFF2-40B4-BE49-F238E27FC236}">
                <a16:creationId xmlns:a16="http://schemas.microsoft.com/office/drawing/2014/main" id="{705CDB43-BF77-442A-8766-7C31B36F3257}"/>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2" name="Google Shape;172;p8">
            <a:extLst xmlns:a="http://schemas.openxmlformats.org/drawingml/2006/main">
              <a:ext uri="{FF2B5EF4-FFF2-40B4-BE49-F238E27FC236}">
                <a16:creationId xmlns:a16="http://schemas.microsoft.com/office/drawing/2014/main" id="{690354A7-2A53-4742-98B5-8929D66AB988}"/>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Knowing</a:t>
            </a:r>
          </a:p>
        </p:txBody>
      </p:sp>
      <p:sp>
        <p:nvSpPr>
          <p:cNvPr id="173" name="Google Shape;173;p8">
            <a:extLst xmlns:a="http://schemas.openxmlformats.org/drawingml/2006/main">
              <a:ext uri="{FF2B5EF4-FFF2-40B4-BE49-F238E27FC236}">
                <a16:creationId xmlns:a16="http://schemas.microsoft.com/office/drawing/2014/main" id="{CC17E0DA-56A5-45E7-B130-09F14510DB58}"/>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4" name="Google Shape;174;p8">
            <a:extLst xmlns:a="http://schemas.openxmlformats.org/drawingml/2006/main">
              <a:ext uri="{FF2B5EF4-FFF2-40B4-BE49-F238E27FC236}">
                <a16:creationId xmlns:a16="http://schemas.microsoft.com/office/drawing/2014/main" id="{756D6313-79A6-49F7-AD20-102C54A6D0BA}"/>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5" name="Google Shape;175;p8">
            <a:extLst xmlns:a="http://schemas.openxmlformats.org/drawingml/2006/main">
              <a:ext uri="{FF2B5EF4-FFF2-40B4-BE49-F238E27FC236}">
                <a16:creationId xmlns:a16="http://schemas.microsoft.com/office/drawing/2014/main" id="{4074D2FF-954B-4BBC-9112-F6B489224730}"/>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Believing</a:t>
            </a:r>
          </a:p>
        </p:txBody>
      </p:sp>
      <p:sp>
        <p:nvSpPr>
          <p:cNvPr id="176" name="Google Shape;176;p8">
            <a:extLst xmlns:a="http://schemas.openxmlformats.org/drawingml/2006/main">
              <a:ext uri="{FF2B5EF4-FFF2-40B4-BE49-F238E27FC236}">
                <a16:creationId xmlns:a16="http://schemas.microsoft.com/office/drawing/2014/main" id="{B71C146A-B8BD-47BF-8B8E-5D6EC6107A6B}"/>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7" name="Google Shape;177;p8">
            <a:extLst xmlns:a="http://schemas.openxmlformats.org/drawingml/2006/main">
              <a:ext uri="{FF2B5EF4-FFF2-40B4-BE49-F238E27FC236}">
                <a16:creationId xmlns:a16="http://schemas.microsoft.com/office/drawing/2014/main" id="{C154FE7F-5437-4F53-B282-926B16EBE57A}"/>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8" name="Google Shape;178;p8">
            <a:extLst xmlns:a="http://schemas.openxmlformats.org/drawingml/2006/main">
              <a:ext uri="{FF2B5EF4-FFF2-40B4-BE49-F238E27FC236}">
                <a16:creationId xmlns:a16="http://schemas.microsoft.com/office/drawing/2014/main" id="{32F10DE8-8463-4060-91CB-BB9FA552E849}"/>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Recognising</a:t>
            </a:r>
          </a:p>
        </p:txBody>
      </p:sp>
      <p:sp>
        <p:nvSpPr>
          <p:cNvPr id="179" name="Google Shape;179;p8">
            <a:extLst xmlns:a="http://schemas.openxmlformats.org/drawingml/2006/main">
              <a:ext uri="{FF2B5EF4-FFF2-40B4-BE49-F238E27FC236}">
                <a16:creationId xmlns:a16="http://schemas.microsoft.com/office/drawing/2014/main" id="{0AAB97D2-C99E-45C8-9091-0ACD929D54DD}"/>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80" name="Google Shape;180;p8">
            <a:extLst xmlns:a="http://schemas.openxmlformats.org/drawingml/2006/main">
              <a:ext uri="{FF2B5EF4-FFF2-40B4-BE49-F238E27FC236}">
                <a16:creationId xmlns:a16="http://schemas.microsoft.com/office/drawing/2014/main" id="{8F33E57E-BC6F-4671-9133-2D1CA369BAAD}"/>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1" name="Google Shape;181;p8">
            <a:extLst xmlns:a="http://schemas.openxmlformats.org/drawingml/2006/main">
              <a:ext uri="{FF2B5EF4-FFF2-40B4-BE49-F238E27FC236}">
                <a16:creationId xmlns:a16="http://schemas.microsoft.com/office/drawing/2014/main" id="{8633E1AE-036D-4204-B083-05923652AFF2}"/>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Fulfilling</a:t>
            </a:r>
          </a:p>
        </p:txBody>
      </p:sp>
      <p:sp>
        <p:nvSpPr>
          <p:cNvPr id="182" name="Google Shape;182;p8">
            <a:extLst xmlns:a="http://schemas.openxmlformats.org/drawingml/2006/main">
              <a:ext uri="{FF2B5EF4-FFF2-40B4-BE49-F238E27FC236}">
                <a16:creationId xmlns:a16="http://schemas.microsoft.com/office/drawing/2014/main" id="{C07705DF-69A9-4D9D-8760-3D00A2FE16F2}"/>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Evaluation closes the loop: it asks whether the relationship and value were actually fulfilled, and what must be corrected.</a:t>
            </a:r>
          </a:p>
        </p:txBody>
      </p:sp>
      <p:sp>
        <p:nvSpPr>
          <p:cNvPr id="183" name="Google Shape;183;p8">
            <a:extLst xmlns:a="http://schemas.openxmlformats.org/drawingml/2006/main">
              <a:ext uri="{FF2B5EF4-FFF2-40B4-BE49-F238E27FC236}">
                <a16:creationId xmlns:a16="http://schemas.microsoft.com/office/drawing/2014/main" id="{709FF5D8-60CA-4837-8A0B-1C0BDDE18C69}"/>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12, 311  ·  JV pp. 55, 165  ·  SB p. 64</a:t>
            </a:r>
          </a:p>
        </p:txBody>
      </p:sp>
    </p:spTree>
    <p:extLst>
      <p:ext uri="{BB962C8B-B14F-4D97-AF65-F5344CB8AC3E}">
        <p14:creationId xmlns:p14="http://schemas.microsoft.com/office/powerpoint/2010/main" val="2828019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EBEF7F00-6B49-4A97-A2C9-3872E7D6570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C70F0F84-9DBC-4050-9671-0D5C5FC1E52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C80D0AF3-2895-41D8-92FE-B1605469D17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1B657EC0-01A7-4BB0-9C90-17C378E295E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§1.10 · THE SCOPE OF THE KNOWN</a:t>
            </a:r>
          </a:p>
        </p:txBody>
      </p:sp>
      <p:sp>
        <p:nvSpPr>
          <p:cNvPr id="98" name="Google Shape;98;p6">
            <a:extLst xmlns:a="http://schemas.openxmlformats.org/drawingml/2006/main">
              <a:ext uri="{FF2B5EF4-FFF2-40B4-BE49-F238E27FC236}">
                <a16:creationId xmlns:a16="http://schemas.microsoft.com/office/drawing/2014/main" id="{4ECCC323-9F8F-4642-988C-7822F9C0A39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Three Domains of Knowledge</a:t>
            </a:r>
          </a:p>
        </p:txBody>
      </p:sp>
      <p:sp>
        <p:nvSpPr>
          <p:cNvPr id="99" name="Google Shape;99;p6">
            <a:extLst xmlns:a="http://schemas.openxmlformats.org/drawingml/2006/main">
              <a:ext uri="{FF2B5EF4-FFF2-40B4-BE49-F238E27FC236}">
                <a16:creationId xmlns:a16="http://schemas.microsoft.com/office/drawing/2014/main" id="{DF6B4B7B-D28E-4416-8924-A7383F929BB2}"/>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The known is not exhausted by measurable form and property. Madhyasth Darshan distinguishes three connected domains, each with its own objects, capacities, and forms of evidence.</a:t>
            </a:r>
          </a:p>
        </p:txBody>
      </p:sp>
      <p:sp>
        <p:nvSpPr>
          <p:cNvPr id="100" name="Google Shape;100;p6">
            <a:extLst xmlns:a="http://schemas.openxmlformats.org/drawingml/2006/main">
              <a:ext uri="{FF2B5EF4-FFF2-40B4-BE49-F238E27FC236}">
                <a16:creationId xmlns:a16="http://schemas.microsoft.com/office/drawing/2014/main" id="{DACC0896-F0C0-40F4-B10C-573B8F396051}"/>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322BBC30-630B-42E3-9DD2-412D0D9AEC97}"/>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5a36ddc782874f01">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4B81C68F-F7F1-4BFA-948A-90AE27C808EF}"/>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Physical knowledge</a:t>
            </a:r>
          </a:p>
        </p:txBody>
      </p:sp>
      <p:sp>
        <p:nvSpPr>
          <p:cNvPr id="104" name="Google Shape;104;p6">
            <a:extLst xmlns:a="http://schemas.openxmlformats.org/drawingml/2006/main">
              <a:ext uri="{FF2B5EF4-FFF2-40B4-BE49-F238E27FC236}">
                <a16:creationId xmlns:a16="http://schemas.microsoft.com/office/drawing/2014/main" id="{91E8706C-5C84-49C2-950C-C985E9B97FEE}"/>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Form, property, material composition, production, and skill — knowledge expressed as effective engagement with material nature.</a:t>
            </a:r>
          </a:p>
        </p:txBody>
      </p:sp>
      <p:sp>
        <p:nvSpPr>
          <p:cNvPr id="105" name="Google Shape;105;p6">
            <a:extLst xmlns:a="http://schemas.openxmlformats.org/drawingml/2006/main">
              <a:ext uri="{FF2B5EF4-FFF2-40B4-BE49-F238E27FC236}">
                <a16:creationId xmlns:a16="http://schemas.microsoft.com/office/drawing/2014/main" id="{7F5058FF-1BB9-4921-BA6D-F70E2BC028FE}"/>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9B5AA159-1A21-4A1E-BAC5-D38FC94CAF8E}"/>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028f47e068174055">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D94D8FC0-69AE-44E1-9D58-6DE6FF8D0264}"/>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Intellectual knowledge</a:t>
            </a:r>
          </a:p>
        </p:txBody>
      </p:sp>
      <p:sp>
        <p:nvSpPr>
          <p:cNvPr id="109" name="Google Shape;109;p6">
            <a:extLst xmlns:a="http://schemas.openxmlformats.org/drawingml/2006/main">
              <a:ext uri="{FF2B5EF4-FFF2-40B4-BE49-F238E27FC236}">
                <a16:creationId xmlns:a16="http://schemas.microsoft.com/office/drawing/2014/main" id="{B8609BF1-AD34-4D40-9A8A-24A8BC3D1E84}"/>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Meaning, relation, purpose, analysis, evaluation, and proficiency — thought disciplined by what is and what fulfils orderliness.</a:t>
            </a:r>
          </a:p>
        </p:txBody>
      </p:sp>
      <p:sp>
        <p:nvSpPr>
          <p:cNvPr id="110" name="Google Shape;110;p6">
            <a:extLst xmlns:a="http://schemas.openxmlformats.org/drawingml/2006/main">
              <a:ext uri="{FF2B5EF4-FFF2-40B4-BE49-F238E27FC236}">
                <a16:creationId xmlns:a16="http://schemas.microsoft.com/office/drawing/2014/main" id="{897E6910-9F9B-41AB-900E-EC71D5726F41}"/>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E67C106F-BE83-49E5-B07F-FBF8361D1E0D}"/>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52eb0fc95015421a">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7C0E46DA-89DB-4129-A5C8-58FA26CE9D20}"/>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Coexistential knowledge</a:t>
            </a:r>
          </a:p>
        </p:txBody>
      </p:sp>
      <p:sp>
        <p:nvSpPr>
          <p:cNvPr id="114" name="Google Shape;114;p6">
            <a:extLst xmlns:a="http://schemas.openxmlformats.org/drawingml/2006/main">
              <a:ext uri="{FF2B5EF4-FFF2-40B4-BE49-F238E27FC236}">
                <a16:creationId xmlns:a16="http://schemas.microsoft.com/office/drawing/2014/main" id="{120B2FB7-86A5-48D0-85A7-8E824189657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Realisation of coexistence, jeevan, and humane conduct — the horizon within which physical and intellectual knowledge find direction.</a:t>
            </a:r>
          </a:p>
        </p:txBody>
      </p:sp>
      <p:sp>
        <p:nvSpPr>
          <p:cNvPr id="115" name="Google Shape;115;p6">
            <a:extLst xmlns:a="http://schemas.openxmlformats.org/drawingml/2006/main">
              <a:ext uri="{FF2B5EF4-FFF2-40B4-BE49-F238E27FC236}">
                <a16:creationId xmlns:a16="http://schemas.microsoft.com/office/drawing/2014/main" id="{3FFA5695-FD1E-4119-B4FC-199120FA7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Skill, proficiency, and scholarliness become complete when they serve resolution, right relationship, and participation in orderliness. — KD pp. 3–4</a:t>
            </a:r>
          </a:p>
        </p:txBody>
      </p:sp>
    </p:spTree>
    <p:extLst>
      <p:ext uri="{BB962C8B-B14F-4D97-AF65-F5344CB8AC3E}">
        <p14:creationId xmlns:p14="http://schemas.microsoft.com/office/powerpoint/2010/main" val="14662190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9" name="Google Shape;419;p18">
            <a:extLst xmlns:a="http://schemas.openxmlformats.org/drawingml/2006/main">
              <a:ext uri="{FF2B5EF4-FFF2-40B4-BE49-F238E27FC236}">
                <a16:creationId xmlns:a16="http://schemas.microsoft.com/office/drawing/2014/main" id="{AE4D3B74-0203-4048-B71B-AB75250E7832}"/>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0" name="Google Shape;420;p18">
            <a:extLst xmlns:a="http://schemas.openxmlformats.org/drawingml/2006/main">
              <a:ext uri="{FF2B5EF4-FFF2-40B4-BE49-F238E27FC236}">
                <a16:creationId xmlns:a16="http://schemas.microsoft.com/office/drawing/2014/main" id="{2D6E1C2C-DC64-48CC-A56F-3065D94515BA}"/>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1" name="Google Shape;421;p18">
            <a:extLst xmlns:a="http://schemas.openxmlformats.org/drawingml/2006/main">
              <a:ext uri="{FF2B5EF4-FFF2-40B4-BE49-F238E27FC236}">
                <a16:creationId xmlns:a16="http://schemas.microsoft.com/office/drawing/2014/main" id="{AFFCF22A-1203-47BA-9A70-162F39036B61}"/>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2" name="Google Shape;422;p18">
            <a:extLst xmlns:a="http://schemas.openxmlformats.org/drawingml/2006/main">
              <a:ext uri="{FF2B5EF4-FFF2-40B4-BE49-F238E27FC236}">
                <a16:creationId xmlns:a16="http://schemas.microsoft.com/office/drawing/2014/main" id="{75EC2B35-D6FD-4045-B2C2-C40B6D8F79B5}"/>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§1.4 · THE ACTIVE KNOWER</a:t>
            </a:r>
          </a:p>
        </p:txBody>
      </p:sp>
      <p:sp>
        <p:nvSpPr>
          <p:cNvPr id="423" name="Google Shape;423;p18">
            <a:extLst xmlns:a="http://schemas.openxmlformats.org/drawingml/2006/main">
              <a:ext uri="{FF2B5EF4-FFF2-40B4-BE49-F238E27FC236}">
                <a16:creationId xmlns:a16="http://schemas.microsoft.com/office/drawing/2014/main" id="{CC92DA6C-BBB0-474F-BA76-ACED8FE14916}"/>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Jeevan Knows Through Ten Activities</a:t>
            </a:r>
          </a:p>
        </p:txBody>
      </p:sp>
      <p:sp>
        <p:nvSpPr>
          <p:cNvPr id="424" name="Google Shape;424;p18">
            <a:extLst xmlns:a="http://schemas.openxmlformats.org/drawingml/2006/main">
              <a:ext uri="{FF2B5EF4-FFF2-40B4-BE49-F238E27FC236}">
                <a16:creationId xmlns:a16="http://schemas.microsoft.com/office/drawing/2014/main" id="{12B673DE-1A52-493E-B4FD-7831E4552B96}"/>
              </a:ext>
            </a:extLst>
          </p:cNvPr>
          <p:cNvSpPr>
            <a:spLocks xmlns:a="http://schemas.openxmlformats.org/drawingml/2006/main" noGrp="1"/>
          </p:cNvSpPr>
          <p:nvPr/>
        </p:nvSpPr>
        <p:spPr>
          <a:xfrm xmlns:a="http://schemas.openxmlformats.org/drawingml/2006/main">
            <a:off x="548640" y="1280160"/>
            <a:ext cx="3749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350" b="1" i="0" u="none" cap="none">
                <a:solidFill>
                  <a:srgbClr val="1E2447"/>
                </a:solidFill>
                <a:latin typeface="Cambria"/>
                <a:ea typeface="Cambria"/>
                <a:cs typeface="Cambria"/>
              </a:rPr>
              <a:t>Reflection — knowing moves inward</a:t>
            </a:r>
          </a:p>
        </p:txBody>
      </p:sp>
      <p:sp>
        <p:nvSpPr>
          <p:cNvPr id="450" name="Google Shape;450;p18">
            <a:extLst xmlns:a="http://schemas.openxmlformats.org/drawingml/2006/main">
              <a:ext uri="{FF2B5EF4-FFF2-40B4-BE49-F238E27FC236}">
                <a16:creationId xmlns:a16="http://schemas.microsoft.com/office/drawing/2014/main" id="{F992376D-5A7B-429E-B9F7-A0D7B27ABC00}"/>
              </a:ext>
            </a:extLst>
          </p:cNvPr>
          <p:cNvSpPr>
            <a:spLocks xmlns:a="http://schemas.openxmlformats.org/drawingml/2006/main" noGrp="1"/>
          </p:cNvSpPr>
          <p:nvPr/>
        </p:nvSpPr>
        <p:spPr>
          <a:xfrm xmlns:a="http://schemas.openxmlformats.org/drawingml/2006/main">
            <a:off x="274320" y="1600000"/>
            <a:ext cx="4297680" cy="420000"/>
          </a:xfrm>
          <a:prstGeom xmlns:a="http://schemas.openxmlformats.org/drawingml/2006/main" prst="roundRect">
            <a:avLst>
              <a:gd name="adj" fmla="val 14286"/>
            </a:avLst>
          </a:prstGeom>
          <a:solidFill xmlns:a="http://schemas.openxmlformats.org/drawingml/2006/main">
            <a:srgbClr val="9A6414"/>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1" name="Google Shape;451;p18">
            <a:extLst xmlns:a="http://schemas.openxmlformats.org/drawingml/2006/main">
              <a:ext uri="{FF2B5EF4-FFF2-40B4-BE49-F238E27FC236}">
                <a16:creationId xmlns:a16="http://schemas.microsoft.com/office/drawing/2014/main" id="{24BA952D-E0C5-412B-BF38-4A9BE7FE70CA}"/>
              </a:ext>
            </a:extLst>
          </p:cNvPr>
          <p:cNvSpPr>
            <a:spLocks xmlns:a="http://schemas.openxmlformats.org/drawingml/2006/main" noGrp="1"/>
          </p:cNvSpPr>
          <p:nvPr/>
        </p:nvSpPr>
        <p:spPr>
          <a:xfrm xmlns:a="http://schemas.openxmlformats.org/drawingml/2006/main">
            <a:off x="274320" y="1600000"/>
            <a:ext cx="429768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FFFFFF"/>
                </a:solidFill>
                <a:latin typeface="Calibri"/>
                <a:ea typeface="Calibri"/>
                <a:cs typeface="Calibri"/>
              </a:rPr>
              <a:t>realisation &amp; authenticity  ·  atma</a:t>
            </a:r>
          </a:p>
        </p:txBody>
      </p:sp>
      <p:sp>
        <p:nvSpPr>
          <p:cNvPr id="452" name="Google Shape;452;p18">
            <a:extLst xmlns:a="http://schemas.openxmlformats.org/drawingml/2006/main">
              <a:ext uri="{FF2B5EF4-FFF2-40B4-BE49-F238E27FC236}">
                <a16:creationId xmlns:a16="http://schemas.microsoft.com/office/drawing/2014/main" id="{2C6B7086-215C-46F8-975C-662555D41A32}"/>
              </a:ext>
            </a:extLst>
          </p:cNvPr>
          <p:cNvSpPr>
            <a:spLocks xmlns:a="http://schemas.openxmlformats.org/drawingml/2006/main" noGrp="1"/>
          </p:cNvSpPr>
          <p:nvPr/>
        </p:nvSpPr>
        <p:spPr>
          <a:xfrm xmlns:a="http://schemas.openxmlformats.org/drawingml/2006/main">
            <a:off x="594360" y="2050000"/>
            <a:ext cx="3657600" cy="420000"/>
          </a:xfrm>
          <a:prstGeom xmlns:a="http://schemas.openxmlformats.org/drawingml/2006/main" prst="roundRect">
            <a:avLst>
              <a:gd name="adj" fmla="val 14286"/>
            </a:avLst>
          </a:prstGeom>
          <a:solidFill xmlns:a="http://schemas.openxmlformats.org/drawingml/2006/main">
            <a:schemeClr val="accent3">
              <a:lumMod val="40000"/>
              <a:lumOff val="60000"/>
            </a:schemeClr>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3" name="Google Shape;453;p18">
            <a:extLst xmlns:a="http://schemas.openxmlformats.org/drawingml/2006/main">
              <a:ext uri="{FF2B5EF4-FFF2-40B4-BE49-F238E27FC236}">
                <a16:creationId xmlns:a16="http://schemas.microsoft.com/office/drawing/2014/main" id="{2A424727-39E0-49FC-B4EC-1FE022B3BB70}"/>
              </a:ext>
            </a:extLst>
          </p:cNvPr>
          <p:cNvSpPr>
            <a:spLocks xmlns:a="http://schemas.openxmlformats.org/drawingml/2006/main" noGrp="1"/>
          </p:cNvSpPr>
          <p:nvPr/>
        </p:nvSpPr>
        <p:spPr>
          <a:xfrm xmlns:a="http://schemas.openxmlformats.org/drawingml/2006/main">
            <a:off x="594360" y="2050000"/>
            <a:ext cx="365760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enlightenment &amp; resolve  ·  buddhi</a:t>
            </a:r>
          </a:p>
        </p:txBody>
      </p:sp>
      <p:sp>
        <p:nvSpPr>
          <p:cNvPr id="425" name="Google Shape;425;p18">
            <a:extLst xmlns:a="http://schemas.openxmlformats.org/drawingml/2006/main">
              <a:ext uri="{FF2B5EF4-FFF2-40B4-BE49-F238E27FC236}">
                <a16:creationId xmlns:a16="http://schemas.microsoft.com/office/drawing/2014/main" id="{28C8A08F-7432-4D78-AE9D-39B1E3DB562E}"/>
              </a:ext>
            </a:extLst>
          </p:cNvPr>
          <p:cNvSpPr>
            <a:spLocks xmlns:a="http://schemas.openxmlformats.org/drawingml/2006/main" noGrp="1"/>
          </p:cNvSpPr>
          <p:nvPr/>
        </p:nvSpPr>
        <p:spPr>
          <a:xfrm xmlns:a="http://schemas.openxmlformats.org/drawingml/2006/main">
            <a:off x="914400" y="2500000"/>
            <a:ext cx="3017520" cy="420000"/>
          </a:xfrm>
          <a:prstGeom xmlns:a="http://schemas.openxmlformats.org/drawingml/2006/main" prst="roundRect">
            <a:avLst>
              <a:gd name="adj" fmla="val 14286"/>
            </a:avLst>
          </a:prstGeom>
          <a:solidFill xmlns:a="http://schemas.openxmlformats.org/drawingml/2006/main">
            <a:schemeClr val="accent3">
              <a:lumMod val="40000"/>
              <a:lumOff val="60000"/>
            </a:schemeClr>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6" name="Google Shape;426;p18">
            <a:extLst xmlns:a="http://schemas.openxmlformats.org/drawingml/2006/main">
              <a:ext uri="{FF2B5EF4-FFF2-40B4-BE49-F238E27FC236}">
                <a16:creationId xmlns:a16="http://schemas.microsoft.com/office/drawing/2014/main" id="{7A6F7400-C8B6-4AA7-902D-E90986569E67}"/>
              </a:ext>
            </a:extLst>
          </p:cNvPr>
          <p:cNvSpPr>
            <a:spLocks xmlns:a="http://schemas.openxmlformats.org/drawingml/2006/main" noGrp="1"/>
          </p:cNvSpPr>
          <p:nvPr/>
        </p:nvSpPr>
        <p:spPr>
          <a:xfrm xmlns:a="http://schemas.openxmlformats.org/drawingml/2006/main">
            <a:off x="914400" y="2500000"/>
            <a:ext cx="301752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9A6414"/>
                </a:solidFill>
                <a:latin typeface="Calibri"/>
                <a:ea typeface="Calibri"/>
                <a:cs typeface="Calibri"/>
              </a:rPr>
              <a:t>contemplation &amp; visualisation  ·  chitta</a:t>
            </a:r>
          </a:p>
        </p:txBody>
      </p:sp>
      <p:sp>
        <p:nvSpPr>
          <p:cNvPr id="427" name="Google Shape;427;p18">
            <a:extLst xmlns:a="http://schemas.openxmlformats.org/drawingml/2006/main">
              <a:ext uri="{FF2B5EF4-FFF2-40B4-BE49-F238E27FC236}">
                <a16:creationId xmlns:a16="http://schemas.microsoft.com/office/drawing/2014/main" id="{AF1512E2-9E6B-4256-AF1F-8ACE8FF13507}"/>
              </a:ext>
            </a:extLst>
          </p:cNvPr>
          <p:cNvSpPr>
            <a:spLocks xmlns:a="http://schemas.openxmlformats.org/drawingml/2006/main" noGrp="1"/>
          </p:cNvSpPr>
          <p:nvPr/>
        </p:nvSpPr>
        <p:spPr>
          <a:xfrm xmlns:a="http://schemas.openxmlformats.org/drawingml/2006/main">
            <a:off x="1074420" y="2950000"/>
            <a:ext cx="2697480" cy="420000"/>
          </a:xfrm>
          <a:prstGeom xmlns:a="http://schemas.openxmlformats.org/drawingml/2006/main" prst="roundRect">
            <a:avLst>
              <a:gd name="adj" fmla="val 14286"/>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8" name="Google Shape;428;p18">
            <a:extLst xmlns:a="http://schemas.openxmlformats.org/drawingml/2006/main">
              <a:ext uri="{FF2B5EF4-FFF2-40B4-BE49-F238E27FC236}">
                <a16:creationId xmlns:a16="http://schemas.microsoft.com/office/drawing/2014/main" id="{1D694FF3-EA38-4817-A162-BBA53CBAFC94}"/>
              </a:ext>
            </a:extLst>
          </p:cNvPr>
          <p:cNvSpPr>
            <a:spLocks xmlns:a="http://schemas.openxmlformats.org/drawingml/2006/main" noGrp="1"/>
          </p:cNvSpPr>
          <p:nvPr/>
        </p:nvSpPr>
        <p:spPr>
          <a:xfrm xmlns:a="http://schemas.openxmlformats.org/drawingml/2006/main">
            <a:off x="1074420" y="2950000"/>
            <a:ext cx="269748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deliberation &amp; analysis  ·  vritti</a:t>
            </a:r>
          </a:p>
        </p:txBody>
      </p:sp>
      <p:sp>
        <p:nvSpPr>
          <p:cNvPr id="429" name="Google Shape;429;p18">
            <a:extLst xmlns:a="http://schemas.openxmlformats.org/drawingml/2006/main">
              <a:ext uri="{FF2B5EF4-FFF2-40B4-BE49-F238E27FC236}">
                <a16:creationId xmlns:a16="http://schemas.microsoft.com/office/drawing/2014/main" id="{7E7804FE-C016-42CC-80B8-85657CFF9321}"/>
              </a:ext>
            </a:extLst>
          </p:cNvPr>
          <p:cNvSpPr>
            <a:spLocks xmlns:a="http://schemas.openxmlformats.org/drawingml/2006/main" noGrp="1"/>
          </p:cNvSpPr>
          <p:nvPr/>
        </p:nvSpPr>
        <p:spPr>
          <a:xfrm xmlns:a="http://schemas.openxmlformats.org/drawingml/2006/main">
            <a:off x="1234440" y="3400000"/>
            <a:ext cx="2377440" cy="420000"/>
          </a:xfrm>
          <a:prstGeom xmlns:a="http://schemas.openxmlformats.org/drawingml/2006/main" prst="roundRect">
            <a:avLst>
              <a:gd name="adj" fmla="val 14286"/>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0" name="Google Shape;430;p18">
            <a:extLst xmlns:a="http://schemas.openxmlformats.org/drawingml/2006/main">
              <a:ext uri="{FF2B5EF4-FFF2-40B4-BE49-F238E27FC236}">
                <a16:creationId xmlns:a16="http://schemas.microsoft.com/office/drawing/2014/main" id="{22198352-BA6E-4C36-9933-EAAC870BC434}"/>
              </a:ext>
            </a:extLst>
          </p:cNvPr>
          <p:cNvSpPr>
            <a:spLocks xmlns:a="http://schemas.openxmlformats.org/drawingml/2006/main" noGrp="1"/>
          </p:cNvSpPr>
          <p:nvPr/>
        </p:nvSpPr>
        <p:spPr>
          <a:xfrm xmlns:a="http://schemas.openxmlformats.org/drawingml/2006/main">
            <a:off x="1234440" y="3400000"/>
            <a:ext cx="237744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taste &amp; selection  ·  mun</a:t>
            </a:r>
          </a:p>
        </p:txBody>
      </p:sp>
      <p:sp>
        <p:nvSpPr>
          <p:cNvPr id="431" name="Google Shape;431;p18">
            <a:extLst xmlns:a="http://schemas.openxmlformats.org/drawingml/2006/main">
              <a:ext uri="{FF2B5EF4-FFF2-40B4-BE49-F238E27FC236}">
                <a16:creationId xmlns:a16="http://schemas.microsoft.com/office/drawing/2014/main" id="{C8B71143-B3B7-466A-82F5-5FC1A87963AC}"/>
              </a:ext>
            </a:extLst>
          </p:cNvPr>
          <p:cNvSpPr>
            <a:spLocks xmlns:a="http://schemas.openxmlformats.org/drawingml/2006/main" noGrp="1"/>
          </p:cNvSpPr>
          <p:nvPr/>
        </p:nvSpPr>
        <p:spPr>
          <a:xfrm xmlns:a="http://schemas.openxmlformats.org/drawingml/2006/main">
            <a:off x="1554480" y="3850000"/>
            <a:ext cx="1737360" cy="420000"/>
          </a:xfrm>
          <a:prstGeom xmlns:a="http://schemas.openxmlformats.org/drawingml/2006/main" prst="roundRect">
            <a:avLst>
              <a:gd name="adj" fmla="val 14286"/>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2" name="Google Shape;432;p18">
            <a:extLst xmlns:a="http://schemas.openxmlformats.org/drawingml/2006/main">
              <a:ext uri="{FF2B5EF4-FFF2-40B4-BE49-F238E27FC236}">
                <a16:creationId xmlns:a16="http://schemas.microsoft.com/office/drawing/2014/main" id="{43AC3055-5B64-40DA-8C2E-926EBC1B1A22}"/>
              </a:ext>
            </a:extLst>
          </p:cNvPr>
          <p:cNvSpPr>
            <a:spLocks xmlns:a="http://schemas.openxmlformats.org/drawingml/2006/main" noGrp="1"/>
          </p:cNvSpPr>
          <p:nvPr/>
        </p:nvSpPr>
        <p:spPr>
          <a:xfrm xmlns:a="http://schemas.openxmlformats.org/drawingml/2006/main">
            <a:off x="1554480" y="3850000"/>
            <a:ext cx="173736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each higher activity can orient and integrate the activities below it</a:t>
            </a:r>
          </a:p>
        </p:txBody>
      </p:sp>
      <p:sp>
        <p:nvSpPr>
          <p:cNvPr id="433" name="Google Shape;433;p18">
            <a:extLst xmlns:a="http://schemas.openxmlformats.org/drawingml/2006/main">
              <a:ext uri="{FF2B5EF4-FFF2-40B4-BE49-F238E27FC236}">
                <a16:creationId xmlns:a16="http://schemas.microsoft.com/office/drawing/2014/main" id="{DEF6DDBF-9B5F-40D7-9891-3CF79DBC0D4D}"/>
              </a:ext>
            </a:extLst>
          </p:cNvPr>
          <p:cNvSpPr>
            <a:spLocks xmlns:a="http://schemas.openxmlformats.org/drawingml/2006/main" noGrp="1"/>
          </p:cNvSpPr>
          <p:nvPr/>
        </p:nvSpPr>
        <p:spPr>
          <a:xfrm xmlns:a="http://schemas.openxmlformats.org/drawingml/2006/main">
            <a:off x="274320" y="4300000"/>
            <a:ext cx="4297680" cy="4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Reflection is the movement in which sensation, behaviour, thought, desire, and resolve are examined until enlightenment and realisation become possible.</a:t>
            </a:r>
          </a:p>
        </p:txBody>
      </p:sp>
      <p:sp>
        <p:nvSpPr>
          <p:cNvPr id="434" name="Google Shape;434;p18">
            <a:extLst xmlns:a="http://schemas.openxmlformats.org/drawingml/2006/main">
              <a:ext uri="{FF2B5EF4-FFF2-40B4-BE49-F238E27FC236}">
                <a16:creationId xmlns:a16="http://schemas.microsoft.com/office/drawing/2014/main" id="{21D64CE9-ABCD-40CC-A38C-5041273702CC}"/>
              </a:ext>
            </a:extLst>
          </p:cNvPr>
          <p:cNvSpPr>
            <a:spLocks xmlns:a="http://schemas.openxmlformats.org/drawingml/2006/main" noGrp="1"/>
          </p:cNvSpPr>
          <p:nvPr/>
        </p:nvSpPr>
        <p:spPr>
          <a:xfrm xmlns:a="http://schemas.openxmlformats.org/drawingml/2006/main">
            <a:off x="4892040" y="1280160"/>
            <a:ext cx="3429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350" b="1" i="0" u="none" cap="none">
                <a:solidFill>
                  <a:srgbClr val="1E2447"/>
                </a:solidFill>
                <a:latin typeface="Cambria"/>
                <a:ea typeface="Cambria"/>
                <a:cs typeface="Cambria"/>
              </a:rPr>
              <a:t>Projection — understanding moves outward</a:t>
            </a:r>
          </a:p>
        </p:txBody>
      </p:sp>
      <p:sp>
        <p:nvSpPr>
          <p:cNvPr id="435" name="Google Shape;435;p18">
            <a:extLst xmlns:a="http://schemas.openxmlformats.org/drawingml/2006/main">
              <a:ext uri="{FF2B5EF4-FFF2-40B4-BE49-F238E27FC236}">
                <a16:creationId xmlns:a16="http://schemas.microsoft.com/office/drawing/2014/main" id="{CE54C787-4B00-4FB6-BC22-46BD343271A9}"/>
              </a:ext>
            </a:extLst>
          </p:cNvPr>
          <p:cNvSpPr>
            <a:spLocks xmlns:a="http://schemas.openxmlformats.org/drawingml/2006/main" noGrp="1"/>
          </p:cNvSpPr>
          <p:nvPr/>
        </p:nvSpPr>
        <p:spPr>
          <a:xfrm xmlns:a="http://schemas.openxmlformats.org/drawingml/2006/main">
            <a:off x="4892040" y="1645920"/>
            <a:ext cx="3429000" cy="457200"/>
          </a:xfrm>
          <a:prstGeom xmlns:a="http://schemas.openxmlformats.org/drawingml/2006/main" prst="roundRect">
            <a:avLst>
              <a:gd name="adj" fmla="val 16000"/>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6" name="Google Shape;436;p18">
            <a:extLst xmlns:a="http://schemas.openxmlformats.org/drawingml/2006/main">
              <a:ext uri="{FF2B5EF4-FFF2-40B4-BE49-F238E27FC236}">
                <a16:creationId xmlns:a16="http://schemas.microsoft.com/office/drawing/2014/main" id="{92405DCB-42FF-4401-A34D-A1F6B65C7A57}"/>
              </a:ext>
            </a:extLst>
          </p:cNvPr>
          <p:cNvSpPr>
            <a:spLocks xmlns:a="http://schemas.openxmlformats.org/drawingml/2006/main" noGrp="1"/>
          </p:cNvSpPr>
          <p:nvPr/>
        </p:nvSpPr>
        <p:spPr>
          <a:xfrm xmlns:a="http://schemas.openxmlformats.org/drawingml/2006/main">
            <a:off x="5029200" y="1645920"/>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9A6414"/>
                </a:solidFill>
                <a:latin typeface="Calibri"/>
                <a:ea typeface="Calibri"/>
                <a:cs typeface="Calibri"/>
              </a:rPr>
              <a:t>Atma   authenticity · realisation</a:t>
            </a:r>
          </a:p>
        </p:txBody>
      </p:sp>
      <p:sp>
        <p:nvSpPr>
          <p:cNvPr id="437" name="Google Shape;437;p18">
            <a:extLst xmlns:a="http://schemas.openxmlformats.org/drawingml/2006/main">
              <a:ext uri="{FF2B5EF4-FFF2-40B4-BE49-F238E27FC236}">
                <a16:creationId xmlns:a16="http://schemas.microsoft.com/office/drawing/2014/main" id="{B99252FE-06F4-48CA-AAC3-65A4D28025E1}"/>
              </a:ext>
            </a:extLst>
          </p:cNvPr>
          <p:cNvSpPr>
            <a:spLocks xmlns:a="http://schemas.openxmlformats.org/drawingml/2006/main" noGrp="1"/>
          </p:cNvSpPr>
          <p:nvPr/>
        </p:nvSpPr>
        <p:spPr>
          <a:xfrm xmlns:a="http://schemas.openxmlformats.org/drawingml/2006/main">
            <a:off x="4892040" y="2212848"/>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8" name="Google Shape;438;p18">
            <a:extLst xmlns:a="http://schemas.openxmlformats.org/drawingml/2006/main">
              <a:ext uri="{FF2B5EF4-FFF2-40B4-BE49-F238E27FC236}">
                <a16:creationId xmlns:a16="http://schemas.microsoft.com/office/drawing/2014/main" id="{EA5A885F-CB0D-4421-A942-DA8421551EAF}"/>
              </a:ext>
            </a:extLst>
          </p:cNvPr>
          <p:cNvSpPr>
            <a:spLocks xmlns:a="http://schemas.openxmlformats.org/drawingml/2006/main" noGrp="1"/>
          </p:cNvSpPr>
          <p:nvPr/>
        </p:nvSpPr>
        <p:spPr>
          <a:xfrm xmlns:a="http://schemas.openxmlformats.org/drawingml/2006/main">
            <a:off x="5029200" y="2212848"/>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Buddhi   resolve · enlightenment</a:t>
            </a:r>
          </a:p>
        </p:txBody>
      </p:sp>
      <p:sp>
        <p:nvSpPr>
          <p:cNvPr id="439" name="Google Shape;439;p18">
            <a:extLst xmlns:a="http://schemas.openxmlformats.org/drawingml/2006/main">
              <a:ext uri="{FF2B5EF4-FFF2-40B4-BE49-F238E27FC236}">
                <a16:creationId xmlns:a16="http://schemas.microsoft.com/office/drawing/2014/main" id="{3D4DB274-6288-4133-B172-AB8DBEC61275}"/>
              </a:ext>
            </a:extLst>
          </p:cNvPr>
          <p:cNvSpPr>
            <a:spLocks xmlns:a="http://schemas.openxmlformats.org/drawingml/2006/main" noGrp="1"/>
          </p:cNvSpPr>
          <p:nvPr/>
        </p:nvSpPr>
        <p:spPr>
          <a:xfrm xmlns:a="http://schemas.openxmlformats.org/drawingml/2006/main">
            <a:off x="4892040" y="2779776"/>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40" name="Google Shape;440;p18">
            <a:extLst xmlns:a="http://schemas.openxmlformats.org/drawingml/2006/main">
              <a:ext uri="{FF2B5EF4-FFF2-40B4-BE49-F238E27FC236}">
                <a16:creationId xmlns:a16="http://schemas.microsoft.com/office/drawing/2014/main" id="{D8F8DCAA-DBAD-4EB4-A7BA-0C0C22DA057D}"/>
              </a:ext>
            </a:extLst>
          </p:cNvPr>
          <p:cNvSpPr>
            <a:spLocks xmlns:a="http://schemas.openxmlformats.org/drawingml/2006/main" noGrp="1"/>
          </p:cNvSpPr>
          <p:nvPr/>
        </p:nvSpPr>
        <p:spPr>
          <a:xfrm xmlns:a="http://schemas.openxmlformats.org/drawingml/2006/main">
            <a:off x="5029200" y="2779776"/>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Chitta   visualisation · contemplation</a:t>
            </a:r>
          </a:p>
        </p:txBody>
      </p:sp>
      <p:sp>
        <p:nvSpPr>
          <p:cNvPr id="441" name="Google Shape;441;p18">
            <a:extLst xmlns:a="http://schemas.openxmlformats.org/drawingml/2006/main">
              <a:ext uri="{FF2B5EF4-FFF2-40B4-BE49-F238E27FC236}">
                <a16:creationId xmlns:a16="http://schemas.microsoft.com/office/drawing/2014/main" id="{AC985E19-C3CB-4F5B-B753-9EC13FFD722A}"/>
              </a:ext>
            </a:extLst>
          </p:cNvPr>
          <p:cNvSpPr>
            <a:spLocks xmlns:a="http://schemas.openxmlformats.org/drawingml/2006/main" noGrp="1"/>
          </p:cNvSpPr>
          <p:nvPr/>
        </p:nvSpPr>
        <p:spPr>
          <a:xfrm xmlns:a="http://schemas.openxmlformats.org/drawingml/2006/main">
            <a:off x="4892040" y="3346704"/>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42" name="Google Shape;442;p18">
            <a:extLst xmlns:a="http://schemas.openxmlformats.org/drawingml/2006/main">
              <a:ext uri="{FF2B5EF4-FFF2-40B4-BE49-F238E27FC236}">
                <a16:creationId xmlns:a16="http://schemas.microsoft.com/office/drawing/2014/main" id="{3C4AA7CA-F7C5-40B6-B6C4-D193F244AB79}"/>
              </a:ext>
            </a:extLst>
          </p:cNvPr>
          <p:cNvSpPr>
            <a:spLocks xmlns:a="http://schemas.openxmlformats.org/drawingml/2006/main" noGrp="1"/>
          </p:cNvSpPr>
          <p:nvPr/>
        </p:nvSpPr>
        <p:spPr>
          <a:xfrm xmlns:a="http://schemas.openxmlformats.org/drawingml/2006/main">
            <a:off x="5029200" y="3346704"/>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Vritti   analysis · deliberation</a:t>
            </a:r>
          </a:p>
        </p:txBody>
      </p:sp>
      <p:sp>
        <p:nvSpPr>
          <p:cNvPr id="443" name="Google Shape;443;p18">
            <a:extLst xmlns:a="http://schemas.openxmlformats.org/drawingml/2006/main">
              <a:ext uri="{FF2B5EF4-FFF2-40B4-BE49-F238E27FC236}">
                <a16:creationId xmlns:a16="http://schemas.microsoft.com/office/drawing/2014/main" id="{92853137-29A6-4600-9198-A855FBE5FDF5}"/>
              </a:ext>
            </a:extLst>
          </p:cNvPr>
          <p:cNvSpPr>
            <a:spLocks xmlns:a="http://schemas.openxmlformats.org/drawingml/2006/main" noGrp="1"/>
          </p:cNvSpPr>
          <p:nvPr/>
        </p:nvSpPr>
        <p:spPr>
          <a:xfrm xmlns:a="http://schemas.openxmlformats.org/drawingml/2006/main">
            <a:off x="4892040" y="3913632"/>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44" name="Google Shape;444;p18">
            <a:extLst xmlns:a="http://schemas.openxmlformats.org/drawingml/2006/main">
              <a:ext uri="{FF2B5EF4-FFF2-40B4-BE49-F238E27FC236}">
                <a16:creationId xmlns:a16="http://schemas.microsoft.com/office/drawing/2014/main" id="{3E56F90D-9140-4274-95BC-02A4555E9411}"/>
              </a:ext>
            </a:extLst>
          </p:cNvPr>
          <p:cNvSpPr>
            <a:spLocks xmlns:a="http://schemas.openxmlformats.org/drawingml/2006/main" noGrp="1"/>
          </p:cNvSpPr>
          <p:nvPr/>
        </p:nvSpPr>
        <p:spPr>
          <a:xfrm xmlns:a="http://schemas.openxmlformats.org/drawingml/2006/main">
            <a:off x="5029200" y="3913632"/>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Mun   selection · taste</a:t>
            </a:r>
          </a:p>
        </p:txBody>
      </p:sp>
      <p:sp>
        <p:nvSpPr>
          <p:cNvPr id="454" name="Google Shape;454;p18">
            <a:extLst xmlns:a="http://schemas.openxmlformats.org/drawingml/2006/main">
              <a:ext uri="{FF2B5EF4-FFF2-40B4-BE49-F238E27FC236}">
                <a16:creationId xmlns:a16="http://schemas.microsoft.com/office/drawing/2014/main" id="{95F10B52-79DD-4A79-A721-1423264351F9}"/>
              </a:ext>
            </a:extLst>
          </p:cNvPr>
          <p:cNvSpPr>
            <a:spLocks xmlns:a="http://schemas.openxmlformats.org/drawingml/2006/main" noGrp="1"/>
          </p:cNvSpPr>
          <p:nvPr/>
        </p:nvSpPr>
        <p:spPr>
          <a:xfrm xmlns:a="http://schemas.openxmlformats.org/drawingml/2006/main">
            <a:off x="5029200" y="2092984"/>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projects as authenticity</a:t>
            </a:r>
          </a:p>
        </p:txBody>
      </p:sp>
      <p:sp>
        <p:nvSpPr>
          <p:cNvPr id="455" name="Google Shape;455;p18">
            <a:extLst xmlns:a="http://schemas.openxmlformats.org/drawingml/2006/main">
              <a:ext uri="{FF2B5EF4-FFF2-40B4-BE49-F238E27FC236}">
                <a16:creationId xmlns:a16="http://schemas.microsoft.com/office/drawing/2014/main" id="{0888715D-C69F-4E39-B9D3-A38B133DB84E}"/>
              </a:ext>
            </a:extLst>
          </p:cNvPr>
          <p:cNvSpPr>
            <a:spLocks xmlns:a="http://schemas.openxmlformats.org/drawingml/2006/main" noGrp="1"/>
          </p:cNvSpPr>
          <p:nvPr/>
        </p:nvSpPr>
        <p:spPr>
          <a:xfrm xmlns:a="http://schemas.openxmlformats.org/drawingml/2006/main">
            <a:off x="5029200" y="2659912"/>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projects as resolve</a:t>
            </a:r>
          </a:p>
        </p:txBody>
      </p:sp>
      <p:sp>
        <p:nvSpPr>
          <p:cNvPr id="456" name="Google Shape;456;p18">
            <a:extLst xmlns:a="http://schemas.openxmlformats.org/drawingml/2006/main">
              <a:ext uri="{FF2B5EF4-FFF2-40B4-BE49-F238E27FC236}">
                <a16:creationId xmlns:a16="http://schemas.microsoft.com/office/drawing/2014/main" id="{1FE1B062-EA0F-4BAD-A7FC-0251008443EF}"/>
              </a:ext>
            </a:extLst>
          </p:cNvPr>
          <p:cNvSpPr>
            <a:spLocks xmlns:a="http://schemas.openxmlformats.org/drawingml/2006/main" noGrp="1"/>
          </p:cNvSpPr>
          <p:nvPr/>
        </p:nvSpPr>
        <p:spPr>
          <a:xfrm xmlns:a="http://schemas.openxmlformats.org/drawingml/2006/main">
            <a:off x="5029200" y="3226840"/>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projects as visualisation</a:t>
            </a:r>
          </a:p>
        </p:txBody>
      </p:sp>
      <p:sp>
        <p:nvSpPr>
          <p:cNvPr id="457" name="Google Shape;457;p18">
            <a:extLst xmlns:a="http://schemas.openxmlformats.org/drawingml/2006/main">
              <a:ext uri="{FF2B5EF4-FFF2-40B4-BE49-F238E27FC236}">
                <a16:creationId xmlns:a16="http://schemas.microsoft.com/office/drawing/2014/main" id="{2378A59C-4D54-4E72-AD01-F48D69A42934}"/>
              </a:ext>
            </a:extLst>
          </p:cNvPr>
          <p:cNvSpPr>
            <a:spLocks xmlns:a="http://schemas.openxmlformats.org/drawingml/2006/main" noGrp="1"/>
          </p:cNvSpPr>
          <p:nvPr/>
        </p:nvSpPr>
        <p:spPr>
          <a:xfrm xmlns:a="http://schemas.openxmlformats.org/drawingml/2006/main">
            <a:off x="5029200" y="3793768"/>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projects as analysis and selection</a:t>
            </a:r>
          </a:p>
        </p:txBody>
      </p:sp>
      <p:cxnSp>
        <p:nvCxnSpPr>
          <p:cNvPr id="529" name="Google Shape;445;p18"/>
          <p:cNvCxnSpPr/>
          <p:nvPr/>
        </p:nvCxnSpPr>
        <p:spPr>
          <a:xfrm xmlns:a="http://schemas.openxmlformats.org/drawingml/2006/main">
            <a:off x="4718304" y="1737360"/>
            <a:ext cx="0" cy="2514600"/>
          </a:xfrm>
          <a:prstGeom xmlns:a="http://schemas.openxmlformats.org/drawingml/2006/main" prst="straightConnector1">
            <a:avLst/>
          </a:prstGeom>
          <a:ln xmlns:a="http://schemas.openxmlformats.org/drawingml/2006/main" w="22225" cap="flat">
            <a:solidFill>
              <a:srgbClr val="3B4A7A"/>
            </a:solidFill>
            <a:prstDash val="solid"/>
            <a:round/>
            <a:headEnd type="triangle" w="med" len="med"/>
            <a:tailEnd type="none" w="sm" len="sm"/>
          </a:ln>
        </p:spPr>
      </p:cxnSp>
      <p:sp>
        <p:nvSpPr>
          <p:cNvPr id="446" name="Google Shape;446;p18">
            <a:extLst xmlns:a="http://schemas.openxmlformats.org/drawingml/2006/main">
              <a:ext uri="{FF2B5EF4-FFF2-40B4-BE49-F238E27FC236}">
                <a16:creationId xmlns:a16="http://schemas.microsoft.com/office/drawing/2014/main" id="{7F562463-4632-4489-9FCB-FB0F743991C5}"/>
              </a:ext>
            </a:extLst>
          </p:cNvPr>
          <p:cNvSpPr>
            <a:spLocks xmlns:a="http://schemas.openxmlformats.org/drawingml/2006/main" noGrp="1"/>
          </p:cNvSpPr>
          <p:nvPr/>
        </p:nvSpPr>
        <p:spPr>
          <a:xfrm xmlns:a="http://schemas.openxmlformats.org/drawingml/2006/main" rot="-5400000">
            <a:off x="3218688" y="2852928"/>
            <a:ext cx="26517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50" b="0" i="1" u="none" cap="none">
                <a:solidFill>
                  <a:srgbClr val="3B4A7A"/>
                </a:solidFill>
                <a:latin typeface="Calibri"/>
                <a:ea typeface="Calibri"/>
                <a:cs typeface="Calibri"/>
              </a:rPr>
              <a:t>reflection (inward) · knowing deepens</a:t>
            </a:r>
          </a:p>
        </p:txBody>
      </p:sp>
      <p:cxnSp>
        <p:nvCxnSpPr>
          <p:cNvPr id="531" name="Google Shape;447;p18"/>
          <p:cNvCxnSpPr/>
          <p:nvPr/>
        </p:nvCxnSpPr>
        <p:spPr>
          <a:xfrm xmlns:a="http://schemas.openxmlformats.org/drawingml/2006/main">
            <a:off x="8503920" y="1737360"/>
            <a:ext cx="0" cy="2514600"/>
          </a:xfrm>
          <a:prstGeom xmlns:a="http://schemas.openxmlformats.org/drawingml/2006/main" prst="straightConnector1">
            <a:avLst/>
          </a:prstGeom>
          <a:ln xmlns:a="http://schemas.openxmlformats.org/drawingml/2006/main" w="22225" cap="flat">
            <a:solidFill>
              <a:srgbClr val="9A6414"/>
            </a:solidFill>
            <a:prstDash val="solid"/>
            <a:round/>
            <a:headEnd type="none" w="sm" len="sm"/>
            <a:tailEnd type="triangle" w="med" len="med"/>
          </a:ln>
        </p:spPr>
      </p:cxnSp>
      <p:sp>
        <p:nvSpPr>
          <p:cNvPr id="448" name="Google Shape;448;p18">
            <a:extLst xmlns:a="http://schemas.openxmlformats.org/drawingml/2006/main">
              <a:ext uri="{FF2B5EF4-FFF2-40B4-BE49-F238E27FC236}">
                <a16:creationId xmlns:a16="http://schemas.microsoft.com/office/drawing/2014/main" id="{3262D953-D36A-4BB2-B2DE-64FF67F86F43}"/>
              </a:ext>
            </a:extLst>
          </p:cNvPr>
          <p:cNvSpPr>
            <a:spLocks xmlns:a="http://schemas.openxmlformats.org/drawingml/2006/main" noGrp="1"/>
          </p:cNvSpPr>
          <p:nvPr/>
        </p:nvSpPr>
        <p:spPr>
          <a:xfrm xmlns:a="http://schemas.openxmlformats.org/drawingml/2006/main" rot="5400000">
            <a:off x="7315200" y="2852928"/>
            <a:ext cx="26517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50" b="0" i="1" u="none" cap="none">
                <a:solidFill>
                  <a:srgbClr val="9A6414"/>
                </a:solidFill>
                <a:latin typeface="Calibri"/>
                <a:ea typeface="Calibri"/>
                <a:cs typeface="Calibri"/>
              </a:rPr>
              <a:t>projection (outward) · meaning becomes conduct</a:t>
            </a:r>
          </a:p>
        </p:txBody>
      </p:sp>
      <p:sp>
        <p:nvSpPr>
          <p:cNvPr id="449" name="Google Shape;449;p18">
            <a:extLst xmlns:a="http://schemas.openxmlformats.org/drawingml/2006/main">
              <a:ext uri="{FF2B5EF4-FFF2-40B4-BE49-F238E27FC236}">
                <a16:creationId xmlns:a16="http://schemas.microsoft.com/office/drawing/2014/main" id="{5D88FA8E-9AEE-4AA1-8087-0FE874CB5EE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The ten activities are five paired strengths, not a stack of separate minds. — JV pp. 92–93 · KD §3.12 · MVD pp. 78, 83–84</a:t>
            </a:r>
          </a:p>
        </p:txBody>
      </p:sp>
    </p:spTree>
    <p:extLst>
      <p:ext uri="{BB962C8B-B14F-4D97-AF65-F5344CB8AC3E}">
        <p14:creationId xmlns:p14="http://schemas.microsoft.com/office/powerpoint/2010/main" val="16041990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8" name="Google Shape;308;p14">
            <a:extLst xmlns:a="http://schemas.openxmlformats.org/drawingml/2006/main">
              <a:ext uri="{FF2B5EF4-FFF2-40B4-BE49-F238E27FC236}">
                <a16:creationId xmlns:a16="http://schemas.microsoft.com/office/drawing/2014/main" id="{12F92CEE-C99D-4E0C-A5BD-882782EFFABE}"/>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09" name="Google Shape;309;p14">
            <a:extLst xmlns:a="http://schemas.openxmlformats.org/drawingml/2006/main">
              <a:ext uri="{FF2B5EF4-FFF2-40B4-BE49-F238E27FC236}">
                <a16:creationId xmlns:a16="http://schemas.microsoft.com/office/drawing/2014/main" id="{201363AC-8517-4E0F-A776-CE88DEDA181A}"/>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0" name="Google Shape;310;p14">
            <a:extLst xmlns:a="http://schemas.openxmlformats.org/drawingml/2006/main">
              <a:ext uri="{FF2B5EF4-FFF2-40B4-BE49-F238E27FC236}">
                <a16:creationId xmlns:a16="http://schemas.microsoft.com/office/drawing/2014/main" id="{21806031-BB2B-42CA-9102-1684835E1D4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1" name="Google Shape;311;p14">
            <a:extLst xmlns:a="http://schemas.openxmlformats.org/drawingml/2006/main">
              <a:ext uri="{FF2B5EF4-FFF2-40B4-BE49-F238E27FC236}">
                <a16:creationId xmlns:a16="http://schemas.microsoft.com/office/drawing/2014/main" id="{39A0B5DC-B2BD-4E07-86F7-BC96ACA39940}"/>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§1.4 · PROJECTION–REFLECTION</a:t>
            </a:r>
          </a:p>
        </p:txBody>
      </p:sp>
      <p:sp>
        <p:nvSpPr>
          <p:cNvPr id="312" name="Google Shape;312;p14">
            <a:extLst xmlns:a="http://schemas.openxmlformats.org/drawingml/2006/main">
              <a:ext uri="{FF2B5EF4-FFF2-40B4-BE49-F238E27FC236}">
                <a16:creationId xmlns:a16="http://schemas.microsoft.com/office/drawing/2014/main" id="{642CA533-F643-4D0B-A6EE-D2A3770430F5}"/>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Knowing and Doing Form a Recurrent Cycle</a:t>
            </a:r>
          </a:p>
        </p:txBody>
      </p:sp>
      <p:sp>
        <p:nvSpPr>
          <p:cNvPr id="313" name="Google Shape;313;p14">
            <a:extLst xmlns:a="http://schemas.openxmlformats.org/drawingml/2006/main">
              <a:ext uri="{FF2B5EF4-FFF2-40B4-BE49-F238E27FC236}">
                <a16:creationId xmlns:a16="http://schemas.microsoft.com/office/drawing/2014/main" id="{F396B3F1-E96D-4B93-88FF-891D27F689A8}"/>
              </a:ext>
            </a:extLst>
          </p:cNvPr>
          <p:cNvSpPr>
            <a:spLocks xmlns:a="http://schemas.openxmlformats.org/drawingml/2006/main" noGrp="1"/>
          </p:cNvSpPr>
          <p:nvPr/>
        </p:nvSpPr>
        <p:spPr>
          <a:xfrm xmlns:a="http://schemas.openxmlformats.org/drawingml/2006/main">
            <a:off x="640080" y="1371600"/>
            <a:ext cx="1874520" cy="1371600"/>
          </a:xfrm>
          <a:prstGeom xmlns:a="http://schemas.openxmlformats.org/drawingml/2006/main" prst="roundRect">
            <a:avLst>
              <a:gd name="adj" fmla="val 666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4" name="Google Shape;314;p14">
            <a:extLst xmlns:a="http://schemas.openxmlformats.org/drawingml/2006/main">
              <a:ext uri="{FF2B5EF4-FFF2-40B4-BE49-F238E27FC236}">
                <a16:creationId xmlns:a16="http://schemas.microsoft.com/office/drawing/2014/main" id="{4D91C93C-5BDE-4543-8D61-F15F04397EF3}"/>
              </a:ext>
            </a:extLst>
          </p:cNvPr>
          <p:cNvSpPr>
            <a:spLocks xmlns:a="http://schemas.openxmlformats.org/drawingml/2006/main" noGrp="1"/>
          </p:cNvSpPr>
          <p:nvPr/>
        </p:nvSpPr>
        <p:spPr>
          <a:xfrm xmlns:a="http://schemas.openxmlformats.org/drawingml/2006/main">
            <a:off x="822960"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5" name="Google Shape;315;p14">
            <a:extLst xmlns:a="http://schemas.openxmlformats.org/drawingml/2006/main">
              <a:ext uri="{FF2B5EF4-FFF2-40B4-BE49-F238E27FC236}">
                <a16:creationId xmlns:a16="http://schemas.microsoft.com/office/drawing/2014/main" id="{E744B491-4D25-498D-84D1-19C2E634C698}"/>
              </a:ext>
            </a:extLst>
          </p:cNvPr>
          <p:cNvSpPr>
            <a:spLocks xmlns:a="http://schemas.openxmlformats.org/drawingml/2006/main" noGrp="1"/>
          </p:cNvSpPr>
          <p:nvPr/>
        </p:nvSpPr>
        <p:spPr>
          <a:xfrm xmlns:a="http://schemas.openxmlformats.org/drawingml/2006/main">
            <a:off x="888797"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6" name="Google Shape;316;p14">
            <a:extLst xmlns:a="http://schemas.openxmlformats.org/drawingml/2006/main">
              <a:ext uri="{FF2B5EF4-FFF2-40B4-BE49-F238E27FC236}">
                <a16:creationId xmlns:a16="http://schemas.microsoft.com/office/drawing/2014/main" id="{ECAA69A8-AD2A-4298-84AB-C04B2EC54EE6}"/>
              </a:ext>
            </a:extLst>
          </p:cNvPr>
          <p:cNvSpPr>
            <a:spLocks xmlns:a="http://schemas.openxmlformats.org/drawingml/2006/main" noGrp="1"/>
          </p:cNvSpPr>
          <p:nvPr/>
        </p:nvSpPr>
        <p:spPr>
          <a:xfrm xmlns:a="http://schemas.openxmlformats.org/drawingml/2006/main">
            <a:off x="944758" y="1657990"/>
            <a:ext cx="85588" cy="85588"/>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7" name="Google Shape;317;p14">
            <a:extLst xmlns:a="http://schemas.openxmlformats.org/drawingml/2006/main">
              <a:ext uri="{FF2B5EF4-FFF2-40B4-BE49-F238E27FC236}">
                <a16:creationId xmlns:a16="http://schemas.microsoft.com/office/drawing/2014/main" id="{EB8CE5D0-67C2-4DFA-A61F-600C47C9C106}"/>
              </a:ext>
            </a:extLst>
          </p:cNvPr>
          <p:cNvSpPr>
            <a:spLocks xmlns:a="http://schemas.openxmlformats.org/drawingml/2006/main" noGrp="1"/>
          </p:cNvSpPr>
          <p:nvPr/>
        </p:nvSpPr>
        <p:spPr>
          <a:xfrm xmlns:a="http://schemas.openxmlformats.org/drawingml/2006/main">
            <a:off x="804672"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Attention</a:t>
            </a:r>
          </a:p>
        </p:txBody>
      </p:sp>
      <p:sp>
        <p:nvSpPr>
          <p:cNvPr id="318" name="Google Shape;318;p14">
            <a:extLst xmlns:a="http://schemas.openxmlformats.org/drawingml/2006/main">
              <a:ext uri="{FF2B5EF4-FFF2-40B4-BE49-F238E27FC236}">
                <a16:creationId xmlns:a16="http://schemas.microsoft.com/office/drawing/2014/main" id="{218A6E54-AFD0-45D8-A591-BAEC390BDBDD}"/>
              </a:ext>
            </a:extLst>
          </p:cNvPr>
          <p:cNvSpPr>
            <a:spLocks xmlns:a="http://schemas.openxmlformats.org/drawingml/2006/main" noGrp="1"/>
          </p:cNvSpPr>
          <p:nvPr/>
        </p:nvSpPr>
        <p:spPr>
          <a:xfrm xmlns:a="http://schemas.openxmlformats.org/drawingml/2006/main">
            <a:off x="804672"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what is present?</a:t>
            </a:r>
          </a:p>
        </p:txBody>
      </p:sp>
      <p:sp>
        <p:nvSpPr>
          <p:cNvPr id="319" name="Google Shape;319;p14">
            <a:extLst xmlns:a="http://schemas.openxmlformats.org/drawingml/2006/main">
              <a:ext uri="{FF2B5EF4-FFF2-40B4-BE49-F238E27FC236}">
                <a16:creationId xmlns:a16="http://schemas.microsoft.com/office/drawing/2014/main" id="{A53DBBF2-FA82-49E5-8928-3D868787EBEE}"/>
              </a:ext>
            </a:extLst>
          </p:cNvPr>
          <p:cNvSpPr>
            <a:spLocks xmlns:a="http://schemas.openxmlformats.org/drawingml/2006/main" noGrp="1"/>
          </p:cNvSpPr>
          <p:nvPr/>
        </p:nvSpPr>
        <p:spPr>
          <a:xfrm xmlns:a="http://schemas.openxmlformats.org/drawingml/2006/main">
            <a:off x="2633472" y="1371600"/>
            <a:ext cx="1874520" cy="1371600"/>
          </a:xfrm>
          <a:prstGeom xmlns:a="http://schemas.openxmlformats.org/drawingml/2006/main" prst="roundRect">
            <a:avLst>
              <a:gd name="adj" fmla="val 666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0" name="Google Shape;320;p14">
            <a:extLst xmlns:a="http://schemas.openxmlformats.org/drawingml/2006/main">
              <a:ext uri="{FF2B5EF4-FFF2-40B4-BE49-F238E27FC236}">
                <a16:creationId xmlns:a16="http://schemas.microsoft.com/office/drawing/2014/main" id="{1182B8FF-8A41-40C7-A04A-5ED3906A4552}"/>
              </a:ext>
            </a:extLst>
          </p:cNvPr>
          <p:cNvSpPr>
            <a:spLocks xmlns:a="http://schemas.openxmlformats.org/drawingml/2006/main" noGrp="1"/>
          </p:cNvSpPr>
          <p:nvPr/>
        </p:nvSpPr>
        <p:spPr>
          <a:xfrm xmlns:a="http://schemas.openxmlformats.org/drawingml/2006/main">
            <a:off x="2816352"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1" name="Google Shape;321;p14">
            <a:extLst xmlns:a="http://schemas.openxmlformats.org/drawingml/2006/main">
              <a:ext uri="{FF2B5EF4-FFF2-40B4-BE49-F238E27FC236}">
                <a16:creationId xmlns:a16="http://schemas.microsoft.com/office/drawing/2014/main" id="{4BC12CBF-6AEB-4F91-A928-51666F4EED8C}"/>
              </a:ext>
            </a:extLst>
          </p:cNvPr>
          <p:cNvSpPr>
            <a:spLocks xmlns:a="http://schemas.openxmlformats.org/drawingml/2006/main" noGrp="1"/>
          </p:cNvSpPr>
          <p:nvPr/>
        </p:nvSpPr>
        <p:spPr>
          <a:xfrm xmlns:a="http://schemas.openxmlformats.org/drawingml/2006/main">
            <a:off x="2882189"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2" name="Google Shape;322;p14">
            <a:extLst xmlns:a="http://schemas.openxmlformats.org/drawingml/2006/main">
              <a:ext uri="{FF2B5EF4-FFF2-40B4-BE49-F238E27FC236}">
                <a16:creationId xmlns:a16="http://schemas.microsoft.com/office/drawing/2014/main" id="{DC9AC235-5088-4A71-8D00-F8BB5995EBB1}"/>
              </a:ext>
            </a:extLst>
          </p:cNvPr>
          <p:cNvSpPr>
            <a:spLocks xmlns:a="http://schemas.openxmlformats.org/drawingml/2006/main" noGrp="1"/>
          </p:cNvSpPr>
          <p:nvPr/>
        </p:nvSpPr>
        <p:spPr>
          <a:xfrm xmlns:a="http://schemas.openxmlformats.org/drawingml/2006/main">
            <a:off x="2938150" y="1657990"/>
            <a:ext cx="85588" cy="85588"/>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3" name="Google Shape;323;p14">
            <a:extLst xmlns:a="http://schemas.openxmlformats.org/drawingml/2006/main">
              <a:ext uri="{FF2B5EF4-FFF2-40B4-BE49-F238E27FC236}">
                <a16:creationId xmlns:a16="http://schemas.microsoft.com/office/drawing/2014/main" id="{DAA6AE00-DDB8-4ABC-9585-D07DEE02D970}"/>
              </a:ext>
            </a:extLst>
          </p:cNvPr>
          <p:cNvSpPr>
            <a:spLocks xmlns:a="http://schemas.openxmlformats.org/drawingml/2006/main" noGrp="1"/>
          </p:cNvSpPr>
          <p:nvPr/>
        </p:nvSpPr>
        <p:spPr>
          <a:xfrm xmlns:a="http://schemas.openxmlformats.org/drawingml/2006/main">
            <a:off x="2798064"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Reflection</a:t>
            </a:r>
          </a:p>
        </p:txBody>
      </p:sp>
      <p:sp>
        <p:nvSpPr>
          <p:cNvPr id="324" name="Google Shape;324;p14">
            <a:extLst xmlns:a="http://schemas.openxmlformats.org/drawingml/2006/main">
              <a:ext uri="{FF2B5EF4-FFF2-40B4-BE49-F238E27FC236}">
                <a16:creationId xmlns:a16="http://schemas.microsoft.com/office/drawing/2014/main" id="{59D205A8-8467-4E76-B837-A135B69A8516}"/>
              </a:ext>
            </a:extLst>
          </p:cNvPr>
          <p:cNvSpPr>
            <a:spLocks xmlns:a="http://schemas.openxmlformats.org/drawingml/2006/main" noGrp="1"/>
          </p:cNvSpPr>
          <p:nvPr/>
        </p:nvSpPr>
        <p:spPr>
          <a:xfrm xmlns:a="http://schemas.openxmlformats.org/drawingml/2006/main">
            <a:off x="2798064"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what does it mean?</a:t>
            </a:r>
          </a:p>
        </p:txBody>
      </p:sp>
      <p:sp>
        <p:nvSpPr>
          <p:cNvPr id="325" name="Google Shape;325;p14">
            <a:extLst xmlns:a="http://schemas.openxmlformats.org/drawingml/2006/main">
              <a:ext uri="{FF2B5EF4-FFF2-40B4-BE49-F238E27FC236}">
                <a16:creationId xmlns:a16="http://schemas.microsoft.com/office/drawing/2014/main" id="{553A035C-D203-4EE5-A8C8-98F4A26CB77D}"/>
              </a:ext>
            </a:extLst>
          </p:cNvPr>
          <p:cNvSpPr>
            <a:spLocks xmlns:a="http://schemas.openxmlformats.org/drawingml/2006/main" noGrp="1"/>
          </p:cNvSpPr>
          <p:nvPr/>
        </p:nvSpPr>
        <p:spPr>
          <a:xfrm xmlns:a="http://schemas.openxmlformats.org/drawingml/2006/main">
            <a:off x="4626864" y="1371600"/>
            <a:ext cx="1874520" cy="1371600"/>
          </a:xfrm>
          <a:prstGeom xmlns:a="http://schemas.openxmlformats.org/drawingml/2006/main" prst="roundRect">
            <a:avLst>
              <a:gd name="adj" fmla="val 666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6" name="Google Shape;326;p14">
            <a:extLst xmlns:a="http://schemas.openxmlformats.org/drawingml/2006/main">
              <a:ext uri="{FF2B5EF4-FFF2-40B4-BE49-F238E27FC236}">
                <a16:creationId xmlns:a16="http://schemas.microsoft.com/office/drawing/2014/main" id="{65EE9DC9-8719-4504-B9D7-737E0A88ED31}"/>
              </a:ext>
            </a:extLst>
          </p:cNvPr>
          <p:cNvSpPr>
            <a:spLocks xmlns:a="http://schemas.openxmlformats.org/drawingml/2006/main" noGrp="1"/>
          </p:cNvSpPr>
          <p:nvPr/>
        </p:nvSpPr>
        <p:spPr>
          <a:xfrm xmlns:a="http://schemas.openxmlformats.org/drawingml/2006/main">
            <a:off x="4809744"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7" name="Google Shape;327;p14">
            <a:extLst xmlns:a="http://schemas.openxmlformats.org/drawingml/2006/main">
              <a:ext uri="{FF2B5EF4-FFF2-40B4-BE49-F238E27FC236}">
                <a16:creationId xmlns:a16="http://schemas.microsoft.com/office/drawing/2014/main" id="{FB124765-1CC2-4CF0-A848-A9A435FAC958}"/>
              </a:ext>
            </a:extLst>
          </p:cNvPr>
          <p:cNvSpPr>
            <a:spLocks xmlns:a="http://schemas.openxmlformats.org/drawingml/2006/main" noGrp="1"/>
          </p:cNvSpPr>
          <p:nvPr/>
        </p:nvSpPr>
        <p:spPr>
          <a:xfrm xmlns:a="http://schemas.openxmlformats.org/drawingml/2006/main">
            <a:off x="4875581"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8" name="Google Shape;328;p14">
            <a:extLst xmlns:a="http://schemas.openxmlformats.org/drawingml/2006/main">
              <a:ext uri="{FF2B5EF4-FFF2-40B4-BE49-F238E27FC236}">
                <a16:creationId xmlns:a16="http://schemas.microsoft.com/office/drawing/2014/main" id="{15F4035A-D80E-4798-8031-DBF489119016}"/>
              </a:ext>
            </a:extLst>
          </p:cNvPr>
          <p:cNvSpPr>
            <a:spLocks xmlns:a="http://schemas.openxmlformats.org/drawingml/2006/main" noGrp="1"/>
          </p:cNvSpPr>
          <p:nvPr/>
        </p:nvSpPr>
        <p:spPr>
          <a:xfrm xmlns:a="http://schemas.openxmlformats.org/drawingml/2006/main">
            <a:off x="4931542" y="1657990"/>
            <a:ext cx="85588" cy="85588"/>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9" name="Google Shape;329;p14">
            <a:extLst xmlns:a="http://schemas.openxmlformats.org/drawingml/2006/main">
              <a:ext uri="{FF2B5EF4-FFF2-40B4-BE49-F238E27FC236}">
                <a16:creationId xmlns:a16="http://schemas.microsoft.com/office/drawing/2014/main" id="{65AC8E04-0C30-455A-BCDD-D1F3871D8BF7}"/>
              </a:ext>
            </a:extLst>
          </p:cNvPr>
          <p:cNvSpPr>
            <a:spLocks xmlns:a="http://schemas.openxmlformats.org/drawingml/2006/main" noGrp="1"/>
          </p:cNvSpPr>
          <p:nvPr/>
        </p:nvSpPr>
        <p:spPr>
          <a:xfrm xmlns:a="http://schemas.openxmlformats.org/drawingml/2006/main">
            <a:off x="4791456"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Realisation</a:t>
            </a:r>
          </a:p>
        </p:txBody>
      </p:sp>
      <p:sp>
        <p:nvSpPr>
          <p:cNvPr id="330" name="Google Shape;330;p14">
            <a:extLst xmlns:a="http://schemas.openxmlformats.org/drawingml/2006/main">
              <a:ext uri="{FF2B5EF4-FFF2-40B4-BE49-F238E27FC236}">
                <a16:creationId xmlns:a16="http://schemas.microsoft.com/office/drawing/2014/main" id="{89C53DE0-F067-4A46-8D93-69A2A08D8C2B}"/>
              </a:ext>
            </a:extLst>
          </p:cNvPr>
          <p:cNvSpPr>
            <a:spLocks xmlns:a="http://schemas.openxmlformats.org/drawingml/2006/main" noGrp="1"/>
          </p:cNvSpPr>
          <p:nvPr/>
        </p:nvSpPr>
        <p:spPr>
          <a:xfrm xmlns:a="http://schemas.openxmlformats.org/drawingml/2006/main">
            <a:off x="4791456"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what is understood?</a:t>
            </a:r>
          </a:p>
        </p:txBody>
      </p:sp>
      <p:sp>
        <p:nvSpPr>
          <p:cNvPr id="331" name="Google Shape;331;p14">
            <a:extLst xmlns:a="http://schemas.openxmlformats.org/drawingml/2006/main">
              <a:ext uri="{FF2B5EF4-FFF2-40B4-BE49-F238E27FC236}">
                <a16:creationId xmlns:a16="http://schemas.microsoft.com/office/drawing/2014/main" id="{05221E25-A4BB-43DE-A264-5A931791F47D}"/>
              </a:ext>
            </a:extLst>
          </p:cNvPr>
          <p:cNvSpPr>
            <a:spLocks xmlns:a="http://schemas.openxmlformats.org/drawingml/2006/main" noGrp="1"/>
          </p:cNvSpPr>
          <p:nvPr/>
        </p:nvSpPr>
        <p:spPr>
          <a:xfrm xmlns:a="http://schemas.openxmlformats.org/drawingml/2006/main">
            <a:off x="6620256" y="1371600"/>
            <a:ext cx="1874520" cy="1371600"/>
          </a:xfrm>
          <a:prstGeom xmlns:a="http://schemas.openxmlformats.org/drawingml/2006/main" prst="roundRect">
            <a:avLst>
              <a:gd name="adj" fmla="val 6667"/>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2" name="Google Shape;332;p14">
            <a:extLst xmlns:a="http://schemas.openxmlformats.org/drawingml/2006/main">
              <a:ext uri="{FF2B5EF4-FFF2-40B4-BE49-F238E27FC236}">
                <a16:creationId xmlns:a16="http://schemas.microsoft.com/office/drawing/2014/main" id="{F09E228D-62B6-42C5-B2FC-216761F25E2E}"/>
              </a:ext>
            </a:extLst>
          </p:cNvPr>
          <p:cNvSpPr>
            <a:spLocks xmlns:a="http://schemas.openxmlformats.org/drawingml/2006/main" noGrp="1"/>
          </p:cNvSpPr>
          <p:nvPr/>
        </p:nvSpPr>
        <p:spPr>
          <a:xfrm xmlns:a="http://schemas.openxmlformats.org/drawingml/2006/main">
            <a:off x="6803136"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3" name="Google Shape;333;p14">
            <a:extLst xmlns:a="http://schemas.openxmlformats.org/drawingml/2006/main">
              <a:ext uri="{FF2B5EF4-FFF2-40B4-BE49-F238E27FC236}">
                <a16:creationId xmlns:a16="http://schemas.microsoft.com/office/drawing/2014/main" id="{9648F734-9F83-482A-B6DF-4AE18730B868}"/>
              </a:ext>
            </a:extLst>
          </p:cNvPr>
          <p:cNvSpPr>
            <a:spLocks xmlns:a="http://schemas.openxmlformats.org/drawingml/2006/main" noGrp="1"/>
          </p:cNvSpPr>
          <p:nvPr/>
        </p:nvSpPr>
        <p:spPr>
          <a:xfrm xmlns:a="http://schemas.openxmlformats.org/drawingml/2006/main">
            <a:off x="6868973"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4" name="Google Shape;334;p14">
            <a:extLst xmlns:a="http://schemas.openxmlformats.org/drawingml/2006/main">
              <a:ext uri="{FF2B5EF4-FFF2-40B4-BE49-F238E27FC236}">
                <a16:creationId xmlns:a16="http://schemas.microsoft.com/office/drawing/2014/main" id="{2E146141-A3FE-421D-89E2-6345E33868D6}"/>
              </a:ext>
            </a:extLst>
          </p:cNvPr>
          <p:cNvSpPr>
            <a:spLocks xmlns:a="http://schemas.openxmlformats.org/drawingml/2006/main" noGrp="1"/>
          </p:cNvSpPr>
          <p:nvPr/>
        </p:nvSpPr>
        <p:spPr>
          <a:xfrm xmlns:a="http://schemas.openxmlformats.org/drawingml/2006/main">
            <a:off x="6924934" y="1657990"/>
            <a:ext cx="85588" cy="8558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5" name="Google Shape;335;p14">
            <a:extLst xmlns:a="http://schemas.openxmlformats.org/drawingml/2006/main">
              <a:ext uri="{FF2B5EF4-FFF2-40B4-BE49-F238E27FC236}">
                <a16:creationId xmlns:a16="http://schemas.microsoft.com/office/drawing/2014/main" id="{0EA1A186-941E-455C-8771-0F6AD23FA39E}"/>
              </a:ext>
            </a:extLst>
          </p:cNvPr>
          <p:cNvSpPr>
            <a:spLocks xmlns:a="http://schemas.openxmlformats.org/drawingml/2006/main" noGrp="1"/>
          </p:cNvSpPr>
          <p:nvPr/>
        </p:nvSpPr>
        <p:spPr>
          <a:xfrm xmlns:a="http://schemas.openxmlformats.org/drawingml/2006/main">
            <a:off x="6784848"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Projection</a:t>
            </a:r>
          </a:p>
        </p:txBody>
      </p:sp>
      <p:sp>
        <p:nvSpPr>
          <p:cNvPr id="336" name="Google Shape;336;p14">
            <a:extLst xmlns:a="http://schemas.openxmlformats.org/drawingml/2006/main">
              <a:ext uri="{FF2B5EF4-FFF2-40B4-BE49-F238E27FC236}">
                <a16:creationId xmlns:a16="http://schemas.microsoft.com/office/drawing/2014/main" id="{BDD5CFDB-79C4-4F54-9BCC-C292CDFB3979}"/>
              </a:ext>
            </a:extLst>
          </p:cNvPr>
          <p:cNvSpPr>
            <a:spLocks xmlns:a="http://schemas.openxmlformats.org/drawingml/2006/main" noGrp="1"/>
          </p:cNvSpPr>
          <p:nvPr/>
        </p:nvSpPr>
        <p:spPr>
          <a:xfrm xmlns:a="http://schemas.openxmlformats.org/drawingml/2006/main">
            <a:off x="6784848"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how is it evidenced?</a:t>
            </a:r>
          </a:p>
        </p:txBody>
      </p:sp>
      <p:sp>
        <p:nvSpPr>
          <p:cNvPr id="337" name="Google Shape;337;p14">
            <a:extLst xmlns:a="http://schemas.openxmlformats.org/drawingml/2006/main">
              <a:ext uri="{FF2B5EF4-FFF2-40B4-BE49-F238E27FC236}">
                <a16:creationId xmlns:a16="http://schemas.microsoft.com/office/drawing/2014/main" id="{9624555B-4CD7-4F94-8B2B-0BEFCFDBF1C9}"/>
              </a:ext>
            </a:extLst>
          </p:cNvPr>
          <p:cNvSpPr>
            <a:spLocks xmlns:a="http://schemas.openxmlformats.org/drawingml/2006/main" noGrp="1"/>
          </p:cNvSpPr>
          <p:nvPr/>
        </p:nvSpPr>
        <p:spPr>
          <a:xfrm xmlns:a="http://schemas.openxmlformats.org/drawingml/2006/main">
            <a:off x="640080" y="3017520"/>
            <a:ext cx="7955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Experience and result return to jeevan through reflection. Understanding moves outward through projection as selection, action, behaviour, work, communication, and evaluation. Each coherent cycle can deepen the next one.</a:t>
            </a:r>
          </a:p>
        </p:txBody>
      </p:sp>
      <p:sp>
        <p:nvSpPr>
          <p:cNvPr id="338" name="Google Shape;338;p14">
            <a:extLst xmlns:a="http://schemas.openxmlformats.org/drawingml/2006/main">
              <a:ext uri="{FF2B5EF4-FFF2-40B4-BE49-F238E27FC236}">
                <a16:creationId xmlns:a16="http://schemas.microsoft.com/office/drawing/2014/main" id="{B7BA82BD-8082-4DF5-8E2E-34CA4C287642}"/>
              </a:ext>
            </a:extLst>
          </p:cNvPr>
          <p:cNvSpPr>
            <a:spLocks xmlns:a="http://schemas.openxmlformats.org/drawingml/2006/main" noGrp="1"/>
          </p:cNvSpPr>
          <p:nvPr/>
        </p:nvSpPr>
        <p:spPr>
          <a:xfrm xmlns:a="http://schemas.openxmlformats.org/drawingml/2006/main">
            <a:off x="640080" y="3840480"/>
            <a:ext cx="7863840" cy="777240"/>
          </a:xfrm>
          <a:prstGeom xmlns:a="http://schemas.openxmlformats.org/drawingml/2006/main" prst="roundRect">
            <a:avLst>
              <a:gd name="adj" fmla="val 10588"/>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9" name="Google Shape;339;p14">
            <a:extLst xmlns:a="http://schemas.openxmlformats.org/drawingml/2006/main">
              <a:ext uri="{FF2B5EF4-FFF2-40B4-BE49-F238E27FC236}">
                <a16:creationId xmlns:a16="http://schemas.microsoft.com/office/drawing/2014/main" id="{C5CAA0CF-F9F6-408F-88A7-6D70569EFA51}"/>
              </a:ext>
            </a:extLst>
          </p:cNvPr>
          <p:cNvSpPr>
            <a:spLocks xmlns:a="http://schemas.openxmlformats.org/drawingml/2006/main" noGrp="1"/>
          </p:cNvSpPr>
          <p:nvPr/>
        </p:nvSpPr>
        <p:spPr>
          <a:xfrm xmlns:a="http://schemas.openxmlformats.org/drawingml/2006/main">
            <a:off x="914400" y="3840480"/>
            <a:ext cx="731520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0" i="1" u="none" cap="none">
                <a:solidFill>
                  <a:srgbClr val="FFFFFF"/>
                </a:solidFill>
                <a:latin typeface="Calibri"/>
                <a:ea typeface="Calibri"/>
                <a:cs typeface="Calibri"/>
              </a:rPr>
              <a:t>Knowing and doing are recurrent aspects of one active jeevan.</a:t>
            </a:r>
          </a:p>
          <a:p xmlns:a="http://schemas.openxmlformats.org/drawingml/2006/main">
            <a:pPr marL="0" indent="0" algn="l">
              <a:spcBef>
                <a:spcPts val="0"/>
              </a:spcBef>
              <a:spcAft>
                <a:spcPts val="0"/>
              </a:spcAft>
              <a:buNone/>
            </a:pPr>
            <a:r>
              <a:rPr sz="1050" b="0" i="0" u="none" cap="none">
                <a:solidFill>
                  <a:srgbClr val="C9D4EF"/>
                </a:solidFill>
                <a:latin typeface="Calibri"/>
                <a:ea typeface="Calibri"/>
                <a:cs typeface="Calibri"/>
              </a:rPr>
              <a:t>Reflection without projection remains unevidenced; projection without reflection repeats inherited acceptance and habit.</a:t>
            </a:r>
          </a:p>
        </p:txBody>
      </p:sp>
      <p:sp>
        <p:nvSpPr>
          <p:cNvPr id="340" name="Google Shape;340;p14">
            <a:extLst xmlns:a="http://schemas.openxmlformats.org/drawingml/2006/main">
              <a:ext uri="{FF2B5EF4-FFF2-40B4-BE49-F238E27FC236}">
                <a16:creationId xmlns:a16="http://schemas.microsoft.com/office/drawing/2014/main" id="{52A0FCE6-E196-4AB2-BF11-3DFEE39C47C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§3.12, pp. 110–113  ·  MVD p. 290  ·  JV pp. 92–93</a:t>
            </a:r>
          </a:p>
        </p:txBody>
      </p:sp>
    </p:spTree>
    <p:extLst>
      <p:ext uri="{BB962C8B-B14F-4D97-AF65-F5344CB8AC3E}">
        <p14:creationId xmlns:p14="http://schemas.microsoft.com/office/powerpoint/2010/main" val="4926293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729C667D-E689-4D70-90E8-4F2607078D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F501FB75-B6D4-4DFC-BA72-8E31AE6E93E3}"/>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ECBF3BFF-A4A6-4EF0-A660-392661091BB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FFBEE572-0076-43B9-BA0E-A17511957AAB}"/>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§1.4 · THE HUMAN JOINT FORM</a:t>
            </a:r>
          </a:p>
        </p:txBody>
      </p:sp>
      <p:sp>
        <p:nvSpPr>
          <p:cNvPr id="268" name="Google Shape;268;p12">
            <a:extLst xmlns:a="http://schemas.openxmlformats.org/drawingml/2006/main">
              <a:ext uri="{FF2B5EF4-FFF2-40B4-BE49-F238E27FC236}">
                <a16:creationId xmlns:a16="http://schemas.microsoft.com/office/drawing/2014/main" id="{9214062A-13C9-4C7B-A7F8-E09038CB238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Jeevan Knows; the Body Mediates</a:t>
            </a:r>
          </a:p>
        </p:txBody>
      </p:sp>
      <p:sp>
        <p:nvSpPr>
          <p:cNvPr id="269" name="Google Shape;269;p12">
            <a:extLst xmlns:a="http://schemas.openxmlformats.org/drawingml/2006/main">
              <a:ext uri="{FF2B5EF4-FFF2-40B4-BE49-F238E27FC236}">
                <a16:creationId xmlns:a16="http://schemas.microsoft.com/office/drawing/2014/main" id="{F9758BEB-9C2B-408D-AF26-158B6194BA44}"/>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Knowing belongs to jeevan, but human evidence requires the joint form. The body supplies sensory access, brain-mediated signalling, speech, movement, work, and participation with others.</a:t>
            </a:r>
          </a:p>
        </p:txBody>
      </p:sp>
      <p:sp>
        <p:nvSpPr>
          <p:cNvPr id="270" name="Google Shape;270;p12">
            <a:extLst xmlns:a="http://schemas.openxmlformats.org/drawingml/2006/main">
              <a:ext uri="{FF2B5EF4-FFF2-40B4-BE49-F238E27FC236}">
                <a16:creationId xmlns:a16="http://schemas.microsoft.com/office/drawing/2014/main" id="{6BB2F31E-F3C0-431E-BAC4-A9679E0D86A3}"/>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6D3985BD-A3A5-46A4-A35F-4142738C7174}"/>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Jeevan — sentient bearer</a:t>
            </a:r>
          </a:p>
        </p:txBody>
      </p:sp>
      <p:sp>
        <p:nvSpPr>
          <p:cNvPr id="272" name="Google Shape;272;p12">
            <a:extLst xmlns:a="http://schemas.openxmlformats.org/drawingml/2006/main">
              <a:ext uri="{FF2B5EF4-FFF2-40B4-BE49-F238E27FC236}">
                <a16:creationId xmlns:a16="http://schemas.microsoft.com/office/drawing/2014/main" id="{C72A7A91-6C0A-4597-B37C-72D0DE54B8B2}"/>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Realisation, enlightenment, contemplation, deliberation, selection</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Evaluation of relationship and value</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Continuity of the knower across bodily change</a:t>
            </a:r>
          </a:p>
        </p:txBody>
      </p:sp>
      <p:sp>
        <p:nvSpPr>
          <p:cNvPr id="273" name="Google Shape;273;p12">
            <a:extLst xmlns:a="http://schemas.openxmlformats.org/drawingml/2006/main">
              <a:ext uri="{FF2B5EF4-FFF2-40B4-BE49-F238E27FC236}">
                <a16:creationId xmlns:a16="http://schemas.microsoft.com/office/drawing/2014/main" id="{2D6C52AD-EC2A-4BE2-ACB4-645483C34D8F}"/>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3701D90E-EDED-47DC-98ED-73DD8E2EBBD4}"/>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Human joint form — lived evidence</a:t>
            </a:r>
          </a:p>
        </p:txBody>
      </p:sp>
      <p:sp>
        <p:nvSpPr>
          <p:cNvPr id="275" name="Google Shape;275;p12">
            <a:extLst xmlns:a="http://schemas.openxmlformats.org/drawingml/2006/main">
              <a:ext uri="{FF2B5EF4-FFF2-40B4-BE49-F238E27FC236}">
                <a16:creationId xmlns:a16="http://schemas.microsoft.com/office/drawing/2014/main" id="{54C4D491-CD51-4522-B53F-C369A7492AD5}"/>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Brain and senses carry signals and bodily conditions</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Speech and action place understanding in a shared world</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Work, behaviour, and teaching make claims answerable to result</a:t>
            </a:r>
          </a:p>
        </p:txBody>
      </p:sp>
      <p:sp>
        <p:nvSpPr>
          <p:cNvPr id="276" name="Google Shape;276;p12">
            <a:extLst xmlns:a="http://schemas.openxmlformats.org/drawingml/2006/main">
              <a:ext uri="{FF2B5EF4-FFF2-40B4-BE49-F238E27FC236}">
                <a16:creationId xmlns:a16="http://schemas.microsoft.com/office/drawing/2014/main" id="{4D8269B2-36B6-4F15-BCEC-EEC9EAB2E996}"/>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266542B5-9ABA-41A8-9AB9-A6CA9D623966}"/>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The texts specify a functional relation between jeevan and the brain; a more precise account of their interaction remains an open task within the exposition.</a:t>
            </a:r>
          </a:p>
        </p:txBody>
      </p:sp>
      <p:sp>
        <p:nvSpPr>
          <p:cNvPr id="278" name="Google Shape;278;p12">
            <a:extLst xmlns:a="http://schemas.openxmlformats.org/drawingml/2006/main">
              <a:ext uri="{FF2B5EF4-FFF2-40B4-BE49-F238E27FC236}">
                <a16:creationId xmlns:a16="http://schemas.microsoft.com/office/drawing/2014/main" id="{B7C5A5B0-4341-4678-88F0-DC0A25C0F65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83–84, 200  ·  KD §3.16  ·  JV p. 59</a:t>
            </a:r>
          </a:p>
        </p:txBody>
      </p:sp>
    </p:spTree>
    <p:extLst>
      <p:ext uri="{BB962C8B-B14F-4D97-AF65-F5344CB8AC3E}">
        <p14:creationId xmlns:p14="http://schemas.microsoft.com/office/powerpoint/2010/main" val="12902166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EE5E8163-2E3D-4286-83A5-4E98AABDC9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ADF8D51E-7451-457D-961B-75E09BFF1D92}"/>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35D08C76-95A4-4973-ACB4-130398FFBFC2}"/>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6C78D489-C288-42BA-9E09-D4FC86D4C49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§§1.4, 1.9 · THE EPISTEMIC FORK</a:t>
            </a:r>
          </a:p>
        </p:txBody>
      </p:sp>
      <p:sp>
        <p:nvSpPr>
          <p:cNvPr id="377" name="Google Shape;377;p16">
            <a:extLst xmlns:a="http://schemas.openxmlformats.org/drawingml/2006/main">
              <a:ext uri="{FF2B5EF4-FFF2-40B4-BE49-F238E27FC236}">
                <a16:creationId xmlns:a16="http://schemas.microsoft.com/office/drawing/2014/main" id="{8AEE7DC9-DA87-4328-892E-24BC14E8A848}"/>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Delusion or Awakening</a:t>
            </a:r>
          </a:p>
        </p:txBody>
      </p:sp>
      <p:sp>
        <p:nvSpPr>
          <p:cNvPr id="378" name="Google Shape;378;p16">
            <a:extLst xmlns:a="http://schemas.openxmlformats.org/drawingml/2006/main">
              <a:ext uri="{FF2B5EF4-FFF2-40B4-BE49-F238E27FC236}">
                <a16:creationId xmlns:a16="http://schemas.microsoft.com/office/drawing/2014/main" id="{45E855C4-95FC-424C-B4CC-5E8151148C4D}"/>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The decisive question is not whether jeevan is active, but what its activity takes as the self and what reference points organise attention, desire, thought, resolve, and action.</a:t>
            </a:r>
          </a:p>
        </p:txBody>
      </p:sp>
      <p:sp>
        <p:nvSpPr>
          <p:cNvPr id="379" name="Google Shape;379;p16">
            <a:extLst xmlns:a="http://schemas.openxmlformats.org/drawingml/2006/main">
              <a:ext uri="{FF2B5EF4-FFF2-40B4-BE49-F238E27FC236}">
                <a16:creationId xmlns:a16="http://schemas.microsoft.com/office/drawing/2014/main" id="{7CC81903-027E-4E44-907F-8267AC597E67}"/>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FFCD59A2-B0B7-445A-8625-09C68EBABD9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9A6414"/>
                </a:solidFill>
                <a:latin typeface="Cambria"/>
                <a:ea typeface="Cambria"/>
                <a:cs typeface="Cambria"/>
              </a:rPr>
              <a:t>Delusion</a:t>
            </a:r>
          </a:p>
        </p:txBody>
      </p:sp>
      <p:sp>
        <p:nvSpPr>
          <p:cNvPr id="381" name="Google Shape;381;p16">
            <a:extLst xmlns:a="http://schemas.openxmlformats.org/drawingml/2006/main">
              <a:ext uri="{FF2B5EF4-FFF2-40B4-BE49-F238E27FC236}">
                <a16:creationId xmlns:a16="http://schemas.microsoft.com/office/drawing/2014/main" id="{7B2E8C50-D74D-4078-A781-ED37F3E0CC7C}"/>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Jeevan identifies with the body. Selection, taste, analysis, and visualisation are governed mainly by sensation, health, profit, accumulation, and inherited belief.</a:t>
            </a:r>
          </a:p>
        </p:txBody>
      </p:sp>
      <p:sp>
        <p:nvSpPr>
          <p:cNvPr id="382" name="Google Shape;382;p16">
            <a:extLst xmlns:a="http://schemas.openxmlformats.org/drawingml/2006/main">
              <a:ext uri="{FF2B5EF4-FFF2-40B4-BE49-F238E27FC236}">
                <a16:creationId xmlns:a16="http://schemas.microsoft.com/office/drawing/2014/main" id="{54B67296-4447-4A69-BC97-F67606A4F7C0}"/>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3D6485FC-39FA-4EB0-8853-153CF5417249}"/>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Awakening</a:t>
            </a:r>
          </a:p>
        </p:txBody>
      </p:sp>
      <p:sp>
        <p:nvSpPr>
          <p:cNvPr id="384" name="Google Shape;384;p16">
            <a:extLst xmlns:a="http://schemas.openxmlformats.org/drawingml/2006/main">
              <a:ext uri="{FF2B5EF4-FFF2-40B4-BE49-F238E27FC236}">
                <a16:creationId xmlns:a16="http://schemas.microsoft.com/office/drawing/2014/main" id="{787961EA-42CD-4B38-A5DE-422537D2458B}"/>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Jeevan knows itself and coexistence. The same faculties align around justice, dharma, truth, resolution, and fulfilment of relationship.</a:t>
            </a:r>
          </a:p>
        </p:txBody>
      </p:sp>
      <p:sp>
        <p:nvSpPr>
          <p:cNvPr id="385" name="Google Shape;385;p16">
            <a:extLst xmlns:a="http://schemas.openxmlformats.org/drawingml/2006/main">
              <a:ext uri="{FF2B5EF4-FFF2-40B4-BE49-F238E27FC236}">
                <a16:creationId xmlns:a16="http://schemas.microsoft.com/office/drawing/2014/main" id="{2A62FD21-0CDD-4DF1-A565-6CC1FFA1B76D}"/>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The faculties do not disappear in awakening; their direction and coordination change. Error is incomplete functioning of the knower, not mere absence of data.</a:t>
            </a:r>
          </a:p>
        </p:txBody>
      </p:sp>
      <p:sp>
        <p:nvSpPr>
          <p:cNvPr id="386" name="Google Shape;386;p16">
            <a:extLst xmlns:a="http://schemas.openxmlformats.org/drawingml/2006/main">
              <a:ext uri="{FF2B5EF4-FFF2-40B4-BE49-F238E27FC236}">
                <a16:creationId xmlns:a16="http://schemas.microsoft.com/office/drawing/2014/main" id="{33F8C60F-28AA-433E-B157-DF631F162C5C}"/>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1DBF5721-6FB0-47E7-AF84-E47E92AA81BF}"/>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Body-identification</a:t>
            </a:r>
          </a:p>
        </p:txBody>
      </p:sp>
      <p:sp>
        <p:nvSpPr>
          <p:cNvPr id="388" name="Google Shape;388;p16">
            <a:extLst xmlns:a="http://schemas.openxmlformats.org/drawingml/2006/main">
              <a:ext uri="{FF2B5EF4-FFF2-40B4-BE49-F238E27FC236}">
                <a16:creationId xmlns:a16="http://schemas.microsoft.com/office/drawing/2014/main" id="{2AF68A6B-78EF-4514-9799-95BA9AA90E1F}"/>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B42257E6-D18C-4D3A-B641-E01638913146}"/>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9DD3FDFF-7A8B-4603-9FD8-FD730EC51CC3}"/>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Narrow criteria</a:t>
            </a:r>
          </a:p>
        </p:txBody>
      </p:sp>
      <p:sp>
        <p:nvSpPr>
          <p:cNvPr id="391" name="Google Shape;391;p16">
            <a:extLst xmlns:a="http://schemas.openxmlformats.org/drawingml/2006/main">
              <a:ext uri="{FF2B5EF4-FFF2-40B4-BE49-F238E27FC236}">
                <a16:creationId xmlns:a16="http://schemas.microsoft.com/office/drawing/2014/main" id="{EB6A9F57-3D1A-409B-8571-B2C0C829114E}"/>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F2960607-40BF-4891-BFFD-1D85C4AD8A95}"/>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3D89BF9B-D547-4009-915C-D5A1DA0C6473}"/>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Incomplete knowing</a:t>
            </a:r>
          </a:p>
        </p:txBody>
      </p:sp>
      <p:sp>
        <p:nvSpPr>
          <p:cNvPr id="394" name="Google Shape;394;p16">
            <a:extLst xmlns:a="http://schemas.openxmlformats.org/drawingml/2006/main">
              <a:ext uri="{FF2B5EF4-FFF2-40B4-BE49-F238E27FC236}">
                <a16:creationId xmlns:a16="http://schemas.microsoft.com/office/drawing/2014/main" id="{11CF1EC8-FEFB-49FB-939D-7C097CB68AFC}"/>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BA221319-804B-4F09-A1A8-1E91A7B8264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724FC277-275C-4F7E-A756-9F27B90E7CE3}"/>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Contradiction</a:t>
            </a:r>
          </a:p>
        </p:txBody>
      </p:sp>
      <p:sp>
        <p:nvSpPr>
          <p:cNvPr id="397" name="Google Shape;397;p16">
            <a:extLst xmlns:a="http://schemas.openxmlformats.org/drawingml/2006/main">
              <a:ext uri="{FF2B5EF4-FFF2-40B4-BE49-F238E27FC236}">
                <a16:creationId xmlns:a16="http://schemas.microsoft.com/office/drawing/2014/main" id="{E9B40105-D081-49D7-A6E4-DDF7A3CB00D0}"/>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The aspiration for happiness remains, while conduct organised by sensation repeatedly fails to secure it.</a:t>
            </a:r>
          </a:p>
        </p:txBody>
      </p:sp>
      <p:sp>
        <p:nvSpPr>
          <p:cNvPr id="398" name="Google Shape;398;p16">
            <a:extLst xmlns:a="http://schemas.openxmlformats.org/drawingml/2006/main">
              <a:ext uri="{FF2B5EF4-FFF2-40B4-BE49-F238E27FC236}">
                <a16:creationId xmlns:a16="http://schemas.microsoft.com/office/drawing/2014/main" id="{4759006B-AB01-486E-A99B-9E94FD62342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JV pp. 73, 92–93  ·  KD §3.17  ·  MVD pp. 263–264</a:t>
            </a:r>
          </a:p>
        </p:txBody>
      </p:sp>
    </p:spTree>
    <p:extLst>
      <p:ext uri="{BB962C8B-B14F-4D97-AF65-F5344CB8AC3E}">
        <p14:creationId xmlns:p14="http://schemas.microsoft.com/office/powerpoint/2010/main" val="15636950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D8C44D5D-501D-4ADD-AD77-849A5C18CABE}"/>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B5E549B8-81AB-45EC-8CFC-D2CA652C0A89}"/>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A54D5007-CCD2-4F26-8CC6-F868BF1E9701}"/>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D70F719C-487C-4441-9235-7EFAED1AD66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§1.7 · KARMA AS AN EPISTEMIC STRUCTURE</a:t>
            </a:r>
          </a:p>
        </p:txBody>
      </p:sp>
      <p:sp>
        <p:nvSpPr>
          <p:cNvPr id="207" name="Google Shape;207;p10">
            <a:extLst xmlns:a="http://schemas.openxmlformats.org/drawingml/2006/main">
              <a:ext uri="{FF2B5EF4-FFF2-40B4-BE49-F238E27FC236}">
                <a16:creationId xmlns:a16="http://schemas.microsoft.com/office/drawing/2014/main" id="{027F4B39-FE08-4239-B5B9-24047AEFD07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Every Karma Has a Structure</a:t>
            </a:r>
          </a:p>
        </p:txBody>
      </p:sp>
      <p:sp>
        <p:nvSpPr>
          <p:cNvPr id="208" name="Google Shape;208;p10">
            <a:extLst xmlns:a="http://schemas.openxmlformats.org/drawingml/2006/main">
              <a:ext uri="{FF2B5EF4-FFF2-40B4-BE49-F238E27FC236}">
                <a16:creationId xmlns:a16="http://schemas.microsoft.com/office/drawing/2014/main" id="{741AE175-DEFC-4F60-B381-203027BA95F6}"/>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Activity together with aspiration is karma. Every intentional action contains a doer, cause, objective, result, and effect. Knowledge therefore becomes answerable to consequence: an intention is not sufficient, and a result cannot be judged without its aim, means, and reach.</a:t>
            </a:r>
          </a:p>
        </p:txBody>
      </p:sp>
      <p:sp>
        <p:nvSpPr>
          <p:cNvPr id="209" name="Google Shape;209;p10">
            <a:extLst xmlns:a="http://schemas.openxmlformats.org/drawingml/2006/main">
              <a:ext uri="{FF2B5EF4-FFF2-40B4-BE49-F238E27FC236}">
                <a16:creationId xmlns:a16="http://schemas.microsoft.com/office/drawing/2014/main" id="{40E90AF3-7C0B-414F-BFA5-76651805018F}"/>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8B3C9E0B-FD3C-4351-A46E-7AAB0897E2B3}"/>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Desire</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aspiration</a:t>
            </a:r>
          </a:p>
        </p:txBody>
      </p:sp>
      <p:sp>
        <p:nvSpPr>
          <p:cNvPr id="211" name="Google Shape;211;p10">
            <a:extLst xmlns:a="http://schemas.openxmlformats.org/drawingml/2006/main">
              <a:ext uri="{FF2B5EF4-FFF2-40B4-BE49-F238E27FC236}">
                <a16:creationId xmlns:a16="http://schemas.microsoft.com/office/drawing/2014/main" id="{EEE5DD52-D5EC-4C58-89FC-5FE511C3AA7C}"/>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What is sought?</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What would count as fulfilment?</a:t>
            </a:r>
          </a:p>
        </p:txBody>
      </p:sp>
      <p:sp>
        <p:nvSpPr>
          <p:cNvPr id="212" name="Google Shape;212;p10">
            <a:extLst xmlns:a="http://schemas.openxmlformats.org/drawingml/2006/main">
              <a:ext uri="{FF2B5EF4-FFF2-40B4-BE49-F238E27FC236}">
                <a16:creationId xmlns:a16="http://schemas.microsoft.com/office/drawing/2014/main" id="{8A14A1E1-DDCD-48BA-BD6A-18F75399817D}"/>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705AAF4A-03F9-490F-8C91-5BFBB60DB882}"/>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Karma</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doing</a:t>
            </a:r>
          </a:p>
        </p:txBody>
      </p:sp>
      <p:sp>
        <p:nvSpPr>
          <p:cNvPr id="214" name="Google Shape;214;p10">
            <a:extLst xmlns:a="http://schemas.openxmlformats.org/drawingml/2006/main">
              <a:ext uri="{FF2B5EF4-FFF2-40B4-BE49-F238E27FC236}">
                <a16:creationId xmlns:a16="http://schemas.microsoft.com/office/drawing/2014/main" id="{754F613E-50B8-461A-B297-60811F1325B5}"/>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What is chosen and done?</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With what capacity and means?</a:t>
            </a:r>
          </a:p>
        </p:txBody>
      </p:sp>
      <p:sp>
        <p:nvSpPr>
          <p:cNvPr id="215" name="Google Shape;215;p10">
            <a:extLst xmlns:a="http://schemas.openxmlformats.org/drawingml/2006/main">
              <a:ext uri="{FF2B5EF4-FFF2-40B4-BE49-F238E27FC236}">
                <a16:creationId xmlns:a16="http://schemas.microsoft.com/office/drawing/2014/main" id="{F88BEB0C-84E7-4A49-B219-19891674BFAF}"/>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9DD5ADEA-27F1-42B0-80E5-528A0299E44D}"/>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Result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fruit</a:t>
            </a:r>
          </a:p>
        </p:txBody>
      </p:sp>
      <p:sp>
        <p:nvSpPr>
          <p:cNvPr id="217" name="Google Shape;217;p10">
            <a:extLst xmlns:a="http://schemas.openxmlformats.org/drawingml/2006/main">
              <a:ext uri="{FF2B5EF4-FFF2-40B4-BE49-F238E27FC236}">
                <a16:creationId xmlns:a16="http://schemas.microsoft.com/office/drawing/2014/main" id="{E618571F-D08F-4E64-8E94-753DA07D5518}"/>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What actually follows?</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Does it satisfy the accepted aim?</a:t>
            </a:r>
          </a:p>
        </p:txBody>
      </p:sp>
      <p:sp>
        <p:nvSpPr>
          <p:cNvPr id="218" name="Google Shape;218;p10">
            <a:extLst xmlns:a="http://schemas.openxmlformats.org/drawingml/2006/main">
              <a:ext uri="{FF2B5EF4-FFF2-40B4-BE49-F238E27FC236}">
                <a16:creationId xmlns:a16="http://schemas.microsoft.com/office/drawing/2014/main" id="{3CDCBBCF-22EF-41F8-AB07-7323F6EEF8F8}"/>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3C3D9C5A-5A60-435C-AFD8-FC7FEA4C38F8}"/>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Five limbs of karma</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Doer — who acts</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Cause — the need</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Objective — the aim</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Result — the fruit</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Effect — its wider reach</a:t>
            </a:r>
          </a:p>
        </p:txBody>
      </p:sp>
      <p:sp>
        <p:nvSpPr>
          <p:cNvPr id="220" name="Google Shape;220;p10">
            <a:extLst xmlns:a="http://schemas.openxmlformats.org/drawingml/2006/main">
              <a:ext uri="{FF2B5EF4-FFF2-40B4-BE49-F238E27FC236}">
                <a16:creationId xmlns:a16="http://schemas.microsoft.com/office/drawing/2014/main" id="{02346A13-3B96-4D65-9B6D-3DD3C93CCFC2}"/>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Desire, karma, and result must be examined together; understanding becomes operative only through action. — KD Ch. 1, pp. 1–2</a:t>
            </a:r>
          </a:p>
        </p:txBody>
      </p:sp>
    </p:spTree>
    <p:extLst>
      <p:ext uri="{BB962C8B-B14F-4D97-AF65-F5344CB8AC3E}">
        <p14:creationId xmlns:p14="http://schemas.microsoft.com/office/powerpoint/2010/main" val="3603565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0F6F6308-49A9-4949-8133-7A4B8D63F9A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A9E8F1DE-F1DF-4848-BA7D-7C49B9B5892E}"/>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4DE02D1D-3BF7-415D-933B-DCE959E217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2E1D7F4A-5B9C-4DD7-9B26-50E482087E2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§1.7 · RESULT · EVALUATION · CORRECTION</a:t>
            </a:r>
          </a:p>
        </p:txBody>
      </p:sp>
      <p:sp>
        <p:nvSpPr>
          <p:cNvPr id="207" name="Google Shape;207;p10">
            <a:extLst xmlns:a="http://schemas.openxmlformats.org/drawingml/2006/main">
              <a:ext uri="{FF2B5EF4-FFF2-40B4-BE49-F238E27FC236}">
                <a16:creationId xmlns:a16="http://schemas.microsoft.com/office/drawing/2014/main" id="{9DA2ADB1-085E-4F3D-8591-A4CAA3B4736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Consequence Returns as Evidence</a:t>
            </a:r>
          </a:p>
        </p:txBody>
      </p:sp>
      <p:sp>
        <p:nvSpPr>
          <p:cNvPr id="208" name="Google Shape;208;p10">
            <a:extLst xmlns:a="http://schemas.openxmlformats.org/drawingml/2006/main">
              <a:ext uri="{FF2B5EF4-FFF2-40B4-BE49-F238E27FC236}">
                <a16:creationId xmlns:a16="http://schemas.microsoft.com/office/drawing/2014/main" id="{DA9BB04D-D913-4523-81E7-00E1AA087833}"/>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Result is not the end of the process. It returns through evaluation: did the relationship, purpose, and value become fulfilled? The answer may confirm understanding or expose where conception, recognition, capacity, or action was incomplete.</a:t>
            </a:r>
          </a:p>
        </p:txBody>
      </p:sp>
      <p:sp>
        <p:nvSpPr>
          <p:cNvPr id="209" name="Google Shape;209;p10">
            <a:extLst xmlns:a="http://schemas.openxmlformats.org/drawingml/2006/main">
              <a:ext uri="{FF2B5EF4-FFF2-40B4-BE49-F238E27FC236}">
                <a16:creationId xmlns:a16="http://schemas.microsoft.com/office/drawing/2014/main" id="{E07044AB-A602-48CC-A073-1CD528E4A814}"/>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F655FD5C-DA9F-4C08-8056-B01001D7779A}"/>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Result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what occurred</a:t>
            </a:r>
          </a:p>
        </p:txBody>
      </p:sp>
      <p:sp>
        <p:nvSpPr>
          <p:cNvPr id="211" name="Google Shape;211;p10">
            <a:extLst xmlns:a="http://schemas.openxmlformats.org/drawingml/2006/main">
              <a:ext uri="{FF2B5EF4-FFF2-40B4-BE49-F238E27FC236}">
                <a16:creationId xmlns:a16="http://schemas.microsoft.com/office/drawing/2014/main" id="{23DCB742-F79A-46D6-BA0A-BCC6B6B8EEC7}"/>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the fruit and effect</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of action in context</a:t>
            </a:r>
          </a:p>
        </p:txBody>
      </p:sp>
      <p:sp>
        <p:nvSpPr>
          <p:cNvPr id="212" name="Google Shape;212;p10">
            <a:extLst xmlns:a="http://schemas.openxmlformats.org/drawingml/2006/main">
              <a:ext uri="{FF2B5EF4-FFF2-40B4-BE49-F238E27FC236}">
                <a16:creationId xmlns:a16="http://schemas.microsoft.com/office/drawing/2014/main" id="{DD51200B-2239-4831-B120-9B09B1D05FF7}"/>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5808B275-8C68-433C-A839-2A8069671091}"/>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Evaluation</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what it means</a:t>
            </a:r>
          </a:p>
        </p:txBody>
      </p:sp>
      <p:sp>
        <p:nvSpPr>
          <p:cNvPr id="214" name="Google Shape;214;p10">
            <a:extLst xmlns:a="http://schemas.openxmlformats.org/drawingml/2006/main">
              <a:ext uri="{FF2B5EF4-FFF2-40B4-BE49-F238E27FC236}">
                <a16:creationId xmlns:a16="http://schemas.microsoft.com/office/drawing/2014/main" id="{CA811637-F15A-4274-8069-7399ED0947C5}"/>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compare result with</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relationship and aim</a:t>
            </a:r>
          </a:p>
        </p:txBody>
      </p:sp>
      <p:sp>
        <p:nvSpPr>
          <p:cNvPr id="215" name="Google Shape;215;p10">
            <a:extLst xmlns:a="http://schemas.openxmlformats.org/drawingml/2006/main">
              <a:ext uri="{FF2B5EF4-FFF2-40B4-BE49-F238E27FC236}">
                <a16:creationId xmlns:a16="http://schemas.microsoft.com/office/drawing/2014/main" id="{6026B273-96E7-4273-B0F2-02AC014BAF62}"/>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B5B0B964-BFCC-4FD1-8512-B70759072447}"/>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Sanskar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what is carried forward</a:t>
            </a:r>
          </a:p>
        </p:txBody>
      </p:sp>
      <p:sp>
        <p:nvSpPr>
          <p:cNvPr id="217" name="Google Shape;217;p10">
            <a:extLst xmlns:a="http://schemas.openxmlformats.org/drawingml/2006/main">
              <a:ext uri="{FF2B5EF4-FFF2-40B4-BE49-F238E27FC236}">
                <a16:creationId xmlns:a16="http://schemas.microsoft.com/office/drawing/2014/main" id="{3C8693FE-21BD-448C-B3DC-842DF5574CEE}"/>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corrected acceptance</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shapes later projection</a:t>
            </a:r>
          </a:p>
        </p:txBody>
      </p:sp>
      <p:sp>
        <p:nvSpPr>
          <p:cNvPr id="218" name="Google Shape;218;p10">
            <a:extLst xmlns:a="http://schemas.openxmlformats.org/drawingml/2006/main">
              <a:ext uri="{FF2B5EF4-FFF2-40B4-BE49-F238E27FC236}">
                <a16:creationId xmlns:a16="http://schemas.microsoft.com/office/drawing/2014/main" id="{8EB12E16-06CA-4844-9D94-903DB081FCC5}"/>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9284BC00-0E75-4B20-9DC9-46F0B4A2CE8E}"/>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Three evaluation errors</a:t>
            </a:r>
          </a:p>
          <a:p xmlns:a="http://schemas.openxmlformats.org/drawingml/2006/main">
            <a:pPr marL="0" indent="0" algn="l">
              <a:spcBef>
                <a:spcPts val="600"/>
              </a:spcBef>
              <a:spcAft>
                <a:spcPts val="0"/>
              </a:spcAft>
              <a:buNone/>
            </a:pPr>
            <a:r>
              <a:rPr sz="1000" b="0" i="0" u="none" cap="none">
                <a:solidFill>
                  <a:srgbClr val="5A6377"/>
                </a:solidFill>
                <a:latin typeface="Calibri"/>
                <a:ea typeface="Calibri"/>
                <a:cs typeface="Calibri"/>
              </a:rPr>
              <a:t>Over-evaluation</a:t>
            </a:r>
          </a:p>
          <a:p xmlns:a="http://schemas.openxmlformats.org/drawingml/2006/main">
            <a:pPr marL="0" indent="0" algn="l">
              <a:spcBef>
                <a:spcPts val="600"/>
              </a:spcBef>
              <a:spcAft>
                <a:spcPts val="0"/>
              </a:spcAft>
              <a:buNone/>
            </a:pPr>
            <a:r>
              <a:rPr sz="1000" b="0" i="0" u="none" cap="none">
                <a:solidFill>
                  <a:srgbClr val="5A6377"/>
                </a:solidFill>
                <a:latin typeface="Calibri"/>
                <a:ea typeface="Calibri"/>
                <a:cs typeface="Calibri"/>
              </a:rPr>
              <a:t>Under-evaluation</a:t>
            </a:r>
          </a:p>
          <a:p xmlns:a="http://schemas.openxmlformats.org/drawingml/2006/main">
            <a:pPr marL="0" indent="0" algn="l">
              <a:spcBef>
                <a:spcPts val="600"/>
              </a:spcBef>
              <a:spcAft>
                <a:spcPts val="0"/>
              </a:spcAft>
              <a:buNone/>
            </a:pPr>
            <a:r>
              <a:rPr sz="1000" b="0" i="0" u="none" cap="none">
                <a:solidFill>
                  <a:srgbClr val="5A6377"/>
                </a:solidFill>
                <a:latin typeface="Calibri"/>
                <a:ea typeface="Calibri"/>
                <a:cs typeface="Calibri"/>
              </a:rPr>
              <a:t>Mis-evaluation</a:t>
            </a:r>
          </a:p>
          <a:p xmlns:a="http://schemas.openxmlformats.org/drawingml/2006/main">
            <a:pPr marL="0" indent="0" algn="l">
              <a:spcBef>
                <a:spcPts val="600"/>
              </a:spcBef>
              <a:spcAft>
                <a:spcPts val="0"/>
              </a:spcAft>
              <a:buNone/>
            </a:pPr>
            <a:r>
              <a:rPr sz="1000" b="0" i="0" u="none" cap="none">
                <a:solidFill>
                  <a:srgbClr val="5A6377"/>
                </a:solidFill>
                <a:latin typeface="Calibri"/>
                <a:ea typeface="Calibri"/>
                <a:cs typeface="Calibri"/>
              </a:rPr>
              <a:t/>
            </a:r>
          </a:p>
          <a:p xmlns:a="http://schemas.openxmlformats.org/drawingml/2006/main">
            <a:pPr marL="0" indent="0" algn="l">
              <a:spcBef>
                <a:spcPts val="600"/>
              </a:spcBef>
              <a:spcAft>
                <a:spcPts val="0"/>
              </a:spcAft>
              <a:buNone/>
            </a:pPr>
            <a:r>
              <a:rPr sz="1000" b="0" i="0" u="none" cap="none">
                <a:solidFill>
                  <a:srgbClr val="5A6377"/>
                </a:solidFill>
                <a:latin typeface="Calibri"/>
                <a:ea typeface="Calibri"/>
                <a:cs typeface="Calibri"/>
              </a:rPr>
              <a:t>Each can preserve contradiction while appearing certain.</a:t>
            </a:r>
          </a:p>
        </p:txBody>
      </p:sp>
      <p:sp>
        <p:nvSpPr>
          <p:cNvPr id="220" name="Google Shape;220;p10">
            <a:extLst xmlns:a="http://schemas.openxmlformats.org/drawingml/2006/main">
              <a:ext uri="{FF2B5EF4-FFF2-40B4-BE49-F238E27FC236}">
                <a16:creationId xmlns:a16="http://schemas.microsoft.com/office/drawing/2014/main" id="{18DD3430-A1FC-4786-A89B-7568D98DA23D}"/>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Understanding becomes answerable to consequence; consequence becomes material for corrected understanding. — MVD pp. 90, 263–264, 290 · KD Ch. 1</a:t>
            </a:r>
          </a:p>
        </p:txBody>
      </p:sp>
    </p:spTree>
    <p:extLst>
      <p:ext uri="{BB962C8B-B14F-4D97-AF65-F5344CB8AC3E}">
        <p14:creationId xmlns:p14="http://schemas.microsoft.com/office/powerpoint/2010/main" val="18367201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5F87AA55-C07A-46F9-9D59-4880FCEE8E02}"/>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F877BD5F-D585-4828-AA16-1D9379223B70}"/>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55E7094E-862B-41C9-B9AB-F55C5EF401A0}"/>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26F4580B-F59E-4C07-9881-23543A32AE0A}"/>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§1.6 · SEER · DOER · ENJOYER</a:t>
            </a:r>
          </a:p>
        </p:txBody>
      </p:sp>
      <p:sp>
        <p:nvSpPr>
          <p:cNvPr id="207" name="Google Shape;207;p10">
            <a:extLst xmlns:a="http://schemas.openxmlformats.org/drawingml/2006/main">
              <a:ext uri="{FF2B5EF4-FFF2-40B4-BE49-F238E27FC236}">
                <a16:creationId xmlns:a16="http://schemas.microsoft.com/office/drawing/2014/main" id="{2A1653D8-F3A0-453B-A338-12A7CFBCEF1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Seer, Doer, and Enjoyer</a:t>
            </a:r>
          </a:p>
        </p:txBody>
      </p:sp>
      <p:sp>
        <p:nvSpPr>
          <p:cNvPr id="208" name="Google Shape;208;p10">
            <a:extLst xmlns:a="http://schemas.openxmlformats.org/drawingml/2006/main">
              <a:ext uri="{FF2B5EF4-FFF2-40B4-BE49-F238E27FC236}">
                <a16:creationId xmlns:a16="http://schemas.microsoft.com/office/drawing/2014/main" id="{93A60710-C057-478B-AEDF-592ADE633744}"/>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The awakened human is not only a knower. Seer-status establishes understanding; doing places it in work and behaviour; enjoyment is the mutual satisfaction and inner harmony that follow when relationships are fulfilled.</a:t>
            </a:r>
          </a:p>
        </p:txBody>
      </p:sp>
      <p:sp>
        <p:nvSpPr>
          <p:cNvPr id="209" name="Google Shape;209;p10">
            <a:extLst xmlns:a="http://schemas.openxmlformats.org/drawingml/2006/main">
              <a:ext uri="{FF2B5EF4-FFF2-40B4-BE49-F238E27FC236}">
                <a16:creationId xmlns:a16="http://schemas.microsoft.com/office/drawing/2014/main" id="{FC5AD1DE-0993-48CE-A457-04C91E2504F4}"/>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302F08FE-44C1-4A31-9367-D11986B7B2CC}"/>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Seer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understanding</a:t>
            </a:r>
          </a:p>
        </p:txBody>
      </p:sp>
      <p:sp>
        <p:nvSpPr>
          <p:cNvPr id="211" name="Google Shape;211;p10">
            <a:extLst xmlns:a="http://schemas.openxmlformats.org/drawingml/2006/main">
              <a:ext uri="{FF2B5EF4-FFF2-40B4-BE49-F238E27FC236}">
                <a16:creationId xmlns:a16="http://schemas.microsoft.com/office/drawing/2014/main" id="{4BDBB112-0D12-4D7D-80BC-440FA0BF72CF}"/>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realised seeing</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coexistence and relationship known</a:t>
            </a:r>
          </a:p>
        </p:txBody>
      </p:sp>
      <p:sp>
        <p:nvSpPr>
          <p:cNvPr id="212" name="Google Shape;212;p10">
            <a:extLst xmlns:a="http://schemas.openxmlformats.org/drawingml/2006/main">
              <a:ext uri="{FF2B5EF4-FFF2-40B4-BE49-F238E27FC236}">
                <a16:creationId xmlns:a16="http://schemas.microsoft.com/office/drawing/2014/main" id="{F4B31548-3274-45BA-8C29-F735DC21BF81}"/>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04B49451-D66A-495D-8D6F-AFD0476ED7A9}"/>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Doer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action</a:t>
            </a:r>
          </a:p>
        </p:txBody>
      </p:sp>
      <p:sp>
        <p:nvSpPr>
          <p:cNvPr id="214" name="Google Shape;214;p10">
            <a:extLst xmlns:a="http://schemas.openxmlformats.org/drawingml/2006/main">
              <a:ext uri="{FF2B5EF4-FFF2-40B4-BE49-F238E27FC236}">
                <a16:creationId xmlns:a16="http://schemas.microsoft.com/office/drawing/2014/main" id="{A64279CB-EFBE-42AC-AF57-E6BEB134070F}"/>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authentic conduct</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work and behaviour aligned</a:t>
            </a:r>
          </a:p>
        </p:txBody>
      </p:sp>
      <p:sp>
        <p:nvSpPr>
          <p:cNvPr id="215" name="Google Shape;215;p10">
            <a:extLst xmlns:a="http://schemas.openxmlformats.org/drawingml/2006/main">
              <a:ext uri="{FF2B5EF4-FFF2-40B4-BE49-F238E27FC236}">
                <a16:creationId xmlns:a16="http://schemas.microsoft.com/office/drawing/2014/main" id="{7C5C6C4F-CC30-416C-86AC-B2641C0C1299}"/>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F972ED4B-3D61-4E47-8C1A-9FC7226A7FD8}"/>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Enjoyer</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fruition</a:t>
            </a:r>
          </a:p>
        </p:txBody>
      </p:sp>
      <p:sp>
        <p:nvSpPr>
          <p:cNvPr id="217" name="Google Shape;217;p10">
            <a:extLst xmlns:a="http://schemas.openxmlformats.org/drawingml/2006/main">
              <a:ext uri="{FF2B5EF4-FFF2-40B4-BE49-F238E27FC236}">
                <a16:creationId xmlns:a16="http://schemas.microsoft.com/office/drawing/2014/main" id="{C2696FDC-6E47-4393-B77E-17FBBEDCE552}"/>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mutual satisfaction</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happiness without contradiction</a:t>
            </a:r>
          </a:p>
        </p:txBody>
      </p:sp>
      <p:sp>
        <p:nvSpPr>
          <p:cNvPr id="218" name="Google Shape;218;p10">
            <a:extLst xmlns:a="http://schemas.openxmlformats.org/drawingml/2006/main">
              <a:ext uri="{FF2B5EF4-FFF2-40B4-BE49-F238E27FC236}">
                <a16:creationId xmlns:a16="http://schemas.microsoft.com/office/drawing/2014/main" id="{CB45AF9C-6E0E-4BC3-9ABD-2927804BA11B}"/>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C0F43803-0A09-45AA-9AAA-5C3552F850AF}"/>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One human joint form</a:t>
            </a:r>
          </a:p>
          <a:p xmlns:a="http://schemas.openxmlformats.org/drawingml/2006/main">
            <a:pPr marL="0" indent="0" algn="l">
              <a:spcBef>
                <a:spcPts val="600"/>
              </a:spcBef>
              <a:spcAft>
                <a:spcPts val="0"/>
              </a:spcAft>
              <a:buNone/>
            </a:pPr>
            <a:r>
              <a:rPr sz="1000" b="0" i="1" u="none" cap="none">
                <a:solidFill>
                  <a:srgbClr val="5A6377"/>
                </a:solidFill>
                <a:latin typeface="Calibri"/>
                <a:ea typeface="Calibri"/>
                <a:cs typeface="Calibri"/>
              </a:rPr>
              <a:t>The seer does not withdraw from action.</a:t>
            </a:r>
          </a:p>
          <a:p xmlns:a="http://schemas.openxmlformats.org/drawingml/2006/main">
            <a:pPr marL="0" indent="0" algn="l">
              <a:spcBef>
                <a:spcPts val="500"/>
              </a:spcBef>
              <a:spcAft>
                <a:spcPts val="0"/>
              </a:spcAft>
              <a:buNone/>
            </a:pPr>
            <a:r>
              <a:rPr sz="1000" b="0" i="0" u="none" cap="none">
                <a:solidFill>
                  <a:srgbClr val="5A6377"/>
                </a:solidFill>
                <a:latin typeface="Calibri"/>
                <a:ea typeface="Calibri"/>
                <a:cs typeface="Calibri"/>
              </a:rPr>
              <a:t>The doer is guided by understanding.</a:t>
            </a:r>
          </a:p>
          <a:p xmlns:a="http://schemas.openxmlformats.org/drawingml/2006/main">
            <a:pPr marL="0" indent="0" algn="l">
              <a:spcBef>
                <a:spcPts val="500"/>
              </a:spcBef>
              <a:spcAft>
                <a:spcPts val="0"/>
              </a:spcAft>
              <a:buNone/>
            </a:pPr>
            <a:r>
              <a:rPr sz="1000" b="0" i="0" u="none" cap="none">
                <a:solidFill>
                  <a:srgbClr val="5A6377"/>
                </a:solidFill>
                <a:latin typeface="Calibri"/>
                <a:ea typeface="Calibri"/>
                <a:cs typeface="Calibri"/>
              </a:rPr>
              <a:t>The enjoyer receives the result without violating the accepted aim.</a:t>
            </a:r>
          </a:p>
        </p:txBody>
      </p:sp>
      <p:sp>
        <p:nvSpPr>
          <p:cNvPr id="230" name="Google Shape;230;p10">
            <a:extLst xmlns:a="http://schemas.openxmlformats.org/drawingml/2006/main">
              <a:ext uri="{FF2B5EF4-FFF2-40B4-BE49-F238E27FC236}">
                <a16:creationId xmlns:a16="http://schemas.microsoft.com/office/drawing/2014/main" id="{49CC71E0-2873-4327-84F0-385A2DF85CEA}"/>
              </a:ext>
            </a:extLst>
          </p:cNvPr>
          <p:cNvSpPr>
            <a:spLocks xmlns:a="http://schemas.openxmlformats.org/drawingml/2006/main" noGrp="1"/>
          </p:cNvSpPr>
          <p:nvPr/>
        </p:nvSpPr>
        <p:spPr>
          <a:xfrm xmlns:a="http://schemas.openxmlformats.org/drawingml/2006/main">
            <a:off x="502920" y="4560000"/>
            <a:ext cx="8138160" cy="2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9A6414"/>
                </a:solidFill>
                <a:latin typeface="Calibri"/>
                <a:ea typeface="Calibri"/>
                <a:cs typeface="Calibri"/>
              </a:rPr>
              <a:t>The four jeevan values — happiness, peace, contentment, bliss — name harmonies among the faculties, not rewards added from outside.</a:t>
            </a:r>
          </a:p>
        </p:txBody>
      </p:sp>
      <p:sp>
        <p:nvSpPr>
          <p:cNvPr id="220" name="Google Shape;220;p10">
            <a:extLst xmlns:a="http://schemas.openxmlformats.org/drawingml/2006/main">
              <a:ext uri="{FF2B5EF4-FFF2-40B4-BE49-F238E27FC236}">
                <a16:creationId xmlns:a16="http://schemas.microsoft.com/office/drawing/2014/main" id="{AE115049-FE9E-4C62-B676-580959BE0961}"/>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§3.18  ·  JV p. 138  ·  MVD pp. 12, 115</a:t>
            </a:r>
          </a:p>
        </p:txBody>
      </p:sp>
    </p:spTree>
    <p:extLst>
      <p:ext uri="{BB962C8B-B14F-4D97-AF65-F5344CB8AC3E}">
        <p14:creationId xmlns:p14="http://schemas.microsoft.com/office/powerpoint/2010/main" val="19977886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5" name="Google Shape;455;p19">
            <a:extLst xmlns:a="http://schemas.openxmlformats.org/drawingml/2006/main">
              <a:ext uri="{FF2B5EF4-FFF2-40B4-BE49-F238E27FC236}">
                <a16:creationId xmlns:a16="http://schemas.microsoft.com/office/drawing/2014/main" id="{6442EB82-1422-4108-B116-5784404DFC1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6" name="Google Shape;456;p19">
            <a:extLst xmlns:a="http://schemas.openxmlformats.org/drawingml/2006/main">
              <a:ext uri="{FF2B5EF4-FFF2-40B4-BE49-F238E27FC236}">
                <a16:creationId xmlns:a16="http://schemas.microsoft.com/office/drawing/2014/main" id="{1F0C3D57-24D6-4278-93D2-E9A79C39BC4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7" name="Google Shape;457;p19">
            <a:extLst xmlns:a="http://schemas.openxmlformats.org/drawingml/2006/main">
              <a:ext uri="{FF2B5EF4-FFF2-40B4-BE49-F238E27FC236}">
                <a16:creationId xmlns:a16="http://schemas.microsoft.com/office/drawing/2014/main" id="{57899CEF-CD7B-402E-AC4C-5575832C085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8" name="Google Shape;458;p19">
            <a:extLst xmlns:a="http://schemas.openxmlformats.org/drawingml/2006/main">
              <a:ext uri="{FF2B5EF4-FFF2-40B4-BE49-F238E27FC236}">
                <a16:creationId xmlns:a16="http://schemas.microsoft.com/office/drawing/2014/main" id="{51335767-D53D-43F6-8B5A-91B90B7B9FBD}"/>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§1.7 · THE EVIDENCE REGIME</a:t>
            </a:r>
          </a:p>
        </p:txBody>
      </p:sp>
      <p:sp>
        <p:nvSpPr>
          <p:cNvPr id="459" name="Google Shape;459;p19">
            <a:extLst xmlns:a="http://schemas.openxmlformats.org/drawingml/2006/main">
              <a:ext uri="{FF2B5EF4-FFF2-40B4-BE49-F238E27FC236}">
                <a16:creationId xmlns:a16="http://schemas.microsoft.com/office/drawing/2014/main" id="{22BD32C7-ACF1-4879-B3CF-EBE1894B6E8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Realisation Must Become Publicly Legible</a:t>
            </a:r>
          </a:p>
        </p:txBody>
      </p:sp>
      <p:sp>
        <p:nvSpPr>
          <p:cNvPr id="460" name="Google Shape;460;p19">
            <a:extLst xmlns:a="http://schemas.openxmlformats.org/drawingml/2006/main">
              <a:ext uri="{FF2B5EF4-FFF2-40B4-BE49-F238E27FC236}">
                <a16:creationId xmlns:a16="http://schemas.microsoft.com/office/drawing/2014/main" id="{A6AFFC79-45A0-4C47-99DD-D0052E75031A}"/>
              </a:ext>
            </a:extLst>
          </p:cNvPr>
          <p:cNvSpPr>
            <a:spLocks xmlns:a="http://schemas.openxmlformats.org/drawingml/2006/main" noGrp="1"/>
          </p:cNvSpPr>
          <p:nvPr/>
        </p:nvSpPr>
        <p:spPr>
          <a:xfrm xmlns:a="http://schemas.openxmlformats.org/drawingml/2006/main">
            <a:off x="640080" y="1207008"/>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Madhyasth Darshan begins with realisation, but it does not end in private certitude. A claim must travel through behaviour, experiment, evaluation, and conveyance until its coherence can be encountered by others.</a:t>
            </a:r>
          </a:p>
        </p:txBody>
      </p:sp>
      <p:sp>
        <p:nvSpPr>
          <p:cNvPr id="461" name="Google Shape;461;p19">
            <a:extLst xmlns:a="http://schemas.openxmlformats.org/drawingml/2006/main">
              <a:ext uri="{FF2B5EF4-FFF2-40B4-BE49-F238E27FC236}">
                <a16:creationId xmlns:a16="http://schemas.microsoft.com/office/drawing/2014/main" id="{2652AEEC-F12F-4C4F-AB0C-A68340BFA079}"/>
              </a:ext>
            </a:extLst>
          </p:cNvPr>
          <p:cNvSpPr>
            <a:spLocks xmlns:a="http://schemas.openxmlformats.org/drawingml/2006/main" noGrp="1"/>
          </p:cNvSpPr>
          <p:nvPr/>
        </p:nvSpPr>
        <p:spPr>
          <a:xfrm xmlns:a="http://schemas.openxmlformats.org/drawingml/2006/main">
            <a:off x="64008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2" name="Google Shape;462;p19">
            <a:extLst xmlns:a="http://schemas.openxmlformats.org/drawingml/2006/main">
              <a:ext uri="{FF2B5EF4-FFF2-40B4-BE49-F238E27FC236}">
                <a16:creationId xmlns:a16="http://schemas.microsoft.com/office/drawing/2014/main" id="{C2119089-8239-455F-ACE5-D83BCA57FA3A}"/>
              </a:ext>
            </a:extLst>
          </p:cNvPr>
          <p:cNvSpPr>
            <a:spLocks xmlns:a="http://schemas.openxmlformats.org/drawingml/2006/main" noGrp="1"/>
          </p:cNvSpPr>
          <p:nvPr/>
        </p:nvSpPr>
        <p:spPr>
          <a:xfrm xmlns:a="http://schemas.openxmlformats.org/drawingml/2006/main">
            <a:off x="84124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Realisation — first-person</a:t>
            </a:r>
          </a:p>
        </p:txBody>
      </p:sp>
      <p:sp>
        <p:nvSpPr>
          <p:cNvPr id="463" name="Google Shape;463;p19">
            <a:extLst xmlns:a="http://schemas.openxmlformats.org/drawingml/2006/main">
              <a:ext uri="{FF2B5EF4-FFF2-40B4-BE49-F238E27FC236}">
                <a16:creationId xmlns:a16="http://schemas.microsoft.com/office/drawing/2014/main" id="{E3878145-1C26-491C-8870-38029F2261D6}"/>
              </a:ext>
            </a:extLst>
          </p:cNvPr>
          <p:cNvSpPr>
            <a:spLocks xmlns:a="http://schemas.openxmlformats.org/drawingml/2006/main" noGrp="1"/>
          </p:cNvSpPr>
          <p:nvPr/>
        </p:nvSpPr>
        <p:spPr>
          <a:xfrm xmlns:a="http://schemas.openxmlformats.org/drawingml/2006/main">
            <a:off x="84124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The knower directly understands coexistence, jeevan, and humane conduct; authenticity is the capacity to bear and evidence that understanding.</a:t>
            </a:r>
          </a:p>
        </p:txBody>
      </p:sp>
      <p:sp>
        <p:nvSpPr>
          <p:cNvPr id="464" name="Google Shape;464;p19">
            <a:extLst xmlns:a="http://schemas.openxmlformats.org/drawingml/2006/main">
              <a:ext uri="{FF2B5EF4-FFF2-40B4-BE49-F238E27FC236}">
                <a16:creationId xmlns:a16="http://schemas.microsoft.com/office/drawing/2014/main" id="{24A87DF5-703F-4D5A-A446-D9BDB327476A}"/>
              </a:ext>
            </a:extLst>
          </p:cNvPr>
          <p:cNvSpPr>
            <a:spLocks xmlns:a="http://schemas.openxmlformats.org/drawingml/2006/main" noGrp="1"/>
          </p:cNvSpPr>
          <p:nvPr/>
        </p:nvSpPr>
        <p:spPr>
          <a:xfrm xmlns:a="http://schemas.openxmlformats.org/drawingml/2006/main">
            <a:off x="470916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5" name="Google Shape;465;p19">
            <a:extLst xmlns:a="http://schemas.openxmlformats.org/drawingml/2006/main">
              <a:ext uri="{FF2B5EF4-FFF2-40B4-BE49-F238E27FC236}">
                <a16:creationId xmlns:a16="http://schemas.microsoft.com/office/drawing/2014/main" id="{587D34E1-5825-4E1C-A3BC-28850A83F548}"/>
              </a:ext>
            </a:extLst>
          </p:cNvPr>
          <p:cNvSpPr>
            <a:spLocks xmlns:a="http://schemas.openxmlformats.org/drawingml/2006/main" noGrp="1"/>
          </p:cNvSpPr>
          <p:nvPr/>
        </p:nvSpPr>
        <p:spPr>
          <a:xfrm xmlns:a="http://schemas.openxmlformats.org/drawingml/2006/main">
            <a:off x="491032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Behaviour — relational</a:t>
            </a:r>
          </a:p>
        </p:txBody>
      </p:sp>
      <p:sp>
        <p:nvSpPr>
          <p:cNvPr id="466" name="Google Shape;466;p19">
            <a:extLst xmlns:a="http://schemas.openxmlformats.org/drawingml/2006/main">
              <a:ext uri="{FF2B5EF4-FFF2-40B4-BE49-F238E27FC236}">
                <a16:creationId xmlns:a16="http://schemas.microsoft.com/office/drawing/2014/main" id="{1A09B0C6-2C25-443F-8E8B-359D54B9D3D5}"/>
              </a:ext>
            </a:extLst>
          </p:cNvPr>
          <p:cNvSpPr>
            <a:spLocks xmlns:a="http://schemas.openxmlformats.org/drawingml/2006/main" noGrp="1"/>
          </p:cNvSpPr>
          <p:nvPr/>
        </p:nvSpPr>
        <p:spPr>
          <a:xfrm xmlns:a="http://schemas.openxmlformats.org/drawingml/2006/main">
            <a:off x="491032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Recognition and fulfilment of values make understanding visible in family and social relationships, where mutual satisfaction can be assessed.</a:t>
            </a:r>
          </a:p>
        </p:txBody>
      </p:sp>
      <p:sp>
        <p:nvSpPr>
          <p:cNvPr id="467" name="Google Shape;467;p19">
            <a:extLst xmlns:a="http://schemas.openxmlformats.org/drawingml/2006/main">
              <a:ext uri="{FF2B5EF4-FFF2-40B4-BE49-F238E27FC236}">
                <a16:creationId xmlns:a16="http://schemas.microsoft.com/office/drawing/2014/main" id="{A9D98D41-5749-4CA8-9AB6-3C4331B1F4B2}"/>
              </a:ext>
            </a:extLst>
          </p:cNvPr>
          <p:cNvSpPr>
            <a:spLocks xmlns:a="http://schemas.openxmlformats.org/drawingml/2006/main" noGrp="1"/>
          </p:cNvSpPr>
          <p:nvPr/>
        </p:nvSpPr>
        <p:spPr>
          <a:xfrm xmlns:a="http://schemas.openxmlformats.org/drawingml/2006/main">
            <a:off x="640080" y="324612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8" name="Google Shape;468;p19">
            <a:extLst xmlns:a="http://schemas.openxmlformats.org/drawingml/2006/main">
              <a:ext uri="{FF2B5EF4-FFF2-40B4-BE49-F238E27FC236}">
                <a16:creationId xmlns:a16="http://schemas.microsoft.com/office/drawing/2014/main" id="{3E75C652-C505-4E6A-BFF1-3F16ED86EB2E}"/>
              </a:ext>
            </a:extLst>
          </p:cNvPr>
          <p:cNvSpPr>
            <a:spLocks xmlns:a="http://schemas.openxmlformats.org/drawingml/2006/main" noGrp="1"/>
          </p:cNvSpPr>
          <p:nvPr/>
        </p:nvSpPr>
        <p:spPr>
          <a:xfrm xmlns:a="http://schemas.openxmlformats.org/drawingml/2006/main">
            <a:off x="84124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Experiment — practical</a:t>
            </a:r>
          </a:p>
        </p:txBody>
      </p:sp>
      <p:sp>
        <p:nvSpPr>
          <p:cNvPr id="469" name="Google Shape;469;p19">
            <a:extLst xmlns:a="http://schemas.openxmlformats.org/drawingml/2006/main">
              <a:ext uri="{FF2B5EF4-FFF2-40B4-BE49-F238E27FC236}">
                <a16:creationId xmlns:a16="http://schemas.microsoft.com/office/drawing/2014/main" id="{37640E8C-9898-450C-9F07-A3CB1B5FBB51}"/>
              </a:ext>
            </a:extLst>
          </p:cNvPr>
          <p:cNvSpPr>
            <a:spLocks xmlns:a="http://schemas.openxmlformats.org/drawingml/2006/main" noGrp="1"/>
          </p:cNvSpPr>
          <p:nvPr/>
        </p:nvSpPr>
        <p:spPr>
          <a:xfrm xmlns:a="http://schemas.openxmlformats.org/drawingml/2006/main">
            <a:off x="84124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Work and productive participation expose understanding to material conditions, consequences, repeatability, and correction.</a:t>
            </a:r>
          </a:p>
        </p:txBody>
      </p:sp>
      <p:sp>
        <p:nvSpPr>
          <p:cNvPr id="470" name="Google Shape;470;p19">
            <a:extLst xmlns:a="http://schemas.openxmlformats.org/drawingml/2006/main">
              <a:ext uri="{FF2B5EF4-FFF2-40B4-BE49-F238E27FC236}">
                <a16:creationId xmlns:a16="http://schemas.microsoft.com/office/drawing/2014/main" id="{D1BF83F1-7747-433B-A60C-B6BE509139A7}"/>
              </a:ext>
            </a:extLst>
          </p:cNvPr>
          <p:cNvSpPr>
            <a:spLocks xmlns:a="http://schemas.openxmlformats.org/drawingml/2006/main" noGrp="1"/>
          </p:cNvSpPr>
          <p:nvPr/>
        </p:nvSpPr>
        <p:spPr>
          <a:xfrm xmlns:a="http://schemas.openxmlformats.org/drawingml/2006/main">
            <a:off x="4709160" y="3246120"/>
            <a:ext cx="3794760" cy="1280160"/>
          </a:xfrm>
          <a:prstGeom xmlns:a="http://schemas.openxmlformats.org/drawingml/2006/main" prst="roundRect">
            <a:avLst>
              <a:gd name="adj" fmla="val 6429"/>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71" name="Google Shape;471;p19">
            <a:extLst xmlns:a="http://schemas.openxmlformats.org/drawingml/2006/main">
              <a:ext uri="{FF2B5EF4-FFF2-40B4-BE49-F238E27FC236}">
                <a16:creationId xmlns:a16="http://schemas.microsoft.com/office/drawing/2014/main" id="{3C6187CA-DB80-4E68-B45B-CBADC961F742}"/>
              </a:ext>
            </a:extLst>
          </p:cNvPr>
          <p:cNvSpPr>
            <a:spLocks xmlns:a="http://schemas.openxmlformats.org/drawingml/2006/main" noGrp="1"/>
          </p:cNvSpPr>
          <p:nvPr/>
        </p:nvSpPr>
        <p:spPr>
          <a:xfrm xmlns:a="http://schemas.openxmlformats.org/drawingml/2006/main">
            <a:off x="491032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9A6414"/>
                </a:solidFill>
                <a:latin typeface="Cambria"/>
                <a:ea typeface="Cambria"/>
                <a:cs typeface="Cambria"/>
              </a:rPr>
              <a:t>Transmission — second-person</a:t>
            </a:r>
          </a:p>
        </p:txBody>
      </p:sp>
      <p:sp>
        <p:nvSpPr>
          <p:cNvPr id="472" name="Google Shape;472;p19">
            <a:extLst xmlns:a="http://schemas.openxmlformats.org/drawingml/2006/main">
              <a:ext uri="{FF2B5EF4-FFF2-40B4-BE49-F238E27FC236}">
                <a16:creationId xmlns:a16="http://schemas.microsoft.com/office/drawing/2014/main" id="{43B6A619-54E0-43CE-9B72-C41E5A13C880}"/>
              </a:ext>
            </a:extLst>
          </p:cNvPr>
          <p:cNvSpPr>
            <a:spLocks xmlns:a="http://schemas.openxmlformats.org/drawingml/2006/main" noGrp="1"/>
          </p:cNvSpPr>
          <p:nvPr/>
        </p:nvSpPr>
        <p:spPr>
          <a:xfrm xmlns:a="http://schemas.openxmlformats.org/drawingml/2006/main">
            <a:off x="491032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The learner must be able to understand, live, evaluate, and convey the proposal without depending on borrowed authority or verbal repetition.</a:t>
            </a:r>
          </a:p>
        </p:txBody>
      </p:sp>
      <p:sp>
        <p:nvSpPr>
          <p:cNvPr id="473" name="Google Shape;473;p19">
            <a:extLst xmlns:a="http://schemas.openxmlformats.org/drawingml/2006/main">
              <a:ext uri="{FF2B5EF4-FFF2-40B4-BE49-F238E27FC236}">
                <a16:creationId xmlns:a16="http://schemas.microsoft.com/office/drawing/2014/main" id="{14D9C93B-C570-40AD-A8BE-2A6E2FF4D82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Realisation → behaviour → experiment → awakened tradition. Coherence across domains is the evidence; success in one cannot silently replace failure in another. — MVD p. 12 · SB p. 44 · JV p. 26</a:t>
            </a:r>
          </a:p>
        </p:txBody>
      </p:sp>
    </p:spTree>
    <p:extLst>
      <p:ext uri="{BB962C8B-B14F-4D97-AF65-F5344CB8AC3E}">
        <p14:creationId xmlns:p14="http://schemas.microsoft.com/office/powerpoint/2010/main" val="16278645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1FDF55EE-1DFC-4864-BBCF-6889CF1EF2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5AD84244-4940-47B0-823B-B7C36ED1B0F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11218A88-AD24-47F4-AA7E-CEDB55B3606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920138EF-D763-4448-A961-8DCEAD2BB11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§1.8 · ROUTES OF KNOWING</a:t>
            </a:r>
          </a:p>
        </p:txBody>
      </p:sp>
      <p:sp>
        <p:nvSpPr>
          <p:cNvPr id="125" name="Google Shape;125;p7">
            <a:extLst xmlns:a="http://schemas.openxmlformats.org/drawingml/2006/main">
              <a:ext uri="{FF2B5EF4-FFF2-40B4-BE49-F238E27FC236}">
                <a16:creationId xmlns:a16="http://schemas.microsoft.com/office/drawing/2014/main" id="{B29B9366-7866-413D-82A0-241730EBC63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Four Routes of Knowing</a:t>
            </a:r>
          </a:p>
        </p:txBody>
      </p:sp>
      <p:sp>
        <p:nvSpPr>
          <p:cNvPr id="126" name="Google Shape;126;p7">
            <a:extLst xmlns:a="http://schemas.openxmlformats.org/drawingml/2006/main">
              <a:ext uri="{FF2B5EF4-FFF2-40B4-BE49-F238E27FC236}">
                <a16:creationId xmlns:a16="http://schemas.microsoft.com/office/drawing/2014/main" id="{7D7417D2-2684-43CB-8AFE-F91CDBDC0F85}"/>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EE33F6BF-95C0-4816-A54C-B6B00AF45E1B}"/>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B6E3019C-45D3-4ED1-A9D2-55D72A50880D}"/>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EE1719B3-E68F-4D01-A60C-336CB2754F8D}"/>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A70DDF07-767E-4CA7-8197-976F5965AFE8}"/>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Direct perception</a:t>
            </a:r>
          </a:p>
        </p:txBody>
      </p:sp>
      <p:sp>
        <p:nvSpPr>
          <p:cNvPr id="131" name="Google Shape;131;p7">
            <a:extLst xmlns:a="http://schemas.openxmlformats.org/drawingml/2006/main">
              <a:ext uri="{FF2B5EF4-FFF2-40B4-BE49-F238E27FC236}">
                <a16:creationId xmlns:a16="http://schemas.microsoft.com/office/drawing/2014/main" id="{6BEFCC17-F959-4C0D-898B-ADDA648A1126}"/>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Brings form, property, event, and relation into experiential proximity through disciplined attention and embodied access.</a:t>
            </a:r>
          </a:p>
        </p:txBody>
      </p:sp>
      <p:sp>
        <p:nvSpPr>
          <p:cNvPr id="132" name="Google Shape;132;p7">
            <a:extLst xmlns:a="http://schemas.openxmlformats.org/drawingml/2006/main">
              <a:ext uri="{FF2B5EF4-FFF2-40B4-BE49-F238E27FC236}">
                <a16:creationId xmlns:a16="http://schemas.microsoft.com/office/drawing/2014/main" id="{2B1D4DE1-906E-43B6-A1AC-A7EA7B235BDE}"/>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1A555193-C105-42C6-B81B-78A780152943}"/>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3A08FC77-38FD-4F53-9FDA-4E24295DFCF2}"/>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D06E458B-173D-440A-9C47-D542B10D793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2E165D08-90C3-4000-8857-A8714F7BC41F}"/>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Inference</a:t>
            </a:r>
          </a:p>
        </p:txBody>
      </p:sp>
      <p:sp>
        <p:nvSpPr>
          <p:cNvPr id="137" name="Google Shape;137;p7">
            <a:extLst xmlns:a="http://schemas.openxmlformats.org/drawingml/2006/main">
              <a:ext uri="{FF2B5EF4-FFF2-40B4-BE49-F238E27FC236}">
                <a16:creationId xmlns:a16="http://schemas.microsoft.com/office/drawing/2014/main" id="{81243F9D-4F30-4A59-8606-FA47AD846C3A}"/>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Extends understanding beyond what is presently near, while remaining answerable to possibility, coherence, and subsequent evaluation.</a:t>
            </a:r>
          </a:p>
        </p:txBody>
      </p:sp>
      <p:sp>
        <p:nvSpPr>
          <p:cNvPr id="138" name="Google Shape;138;p7">
            <a:extLst xmlns:a="http://schemas.openxmlformats.org/drawingml/2006/main">
              <a:ext uri="{FF2B5EF4-FFF2-40B4-BE49-F238E27FC236}">
                <a16:creationId xmlns:a16="http://schemas.microsoft.com/office/drawing/2014/main" id="{C24F03F3-13B7-4DA6-B82A-6FFEF115DCC6}"/>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7E860388-B17F-4D86-B9E1-F64D831A85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2DCD6C6B-CF46-4530-A4E5-F7FEC5439D14}"/>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0D2E6CD2-706E-4D67-92AD-87B6DF703565}"/>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72284CF3-2391-448B-BA27-7D7834BE2558}"/>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Testimony-activity</a:t>
            </a:r>
          </a:p>
        </p:txBody>
      </p:sp>
      <p:sp>
        <p:nvSpPr>
          <p:cNvPr id="143" name="Google Shape;143;p7">
            <a:extLst xmlns:a="http://schemas.openxmlformats.org/drawingml/2006/main">
              <a:ext uri="{FF2B5EF4-FFF2-40B4-BE49-F238E27FC236}">
                <a16:creationId xmlns:a16="http://schemas.microsoft.com/office/drawing/2014/main" id="{88B4D163-A60F-4D71-A21A-FF9D668635D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Receives what has been understood and conveyed by an awakened human, then places it under study, reflection, practice, and verification.</a:t>
            </a:r>
          </a:p>
        </p:txBody>
      </p:sp>
      <p:sp>
        <p:nvSpPr>
          <p:cNvPr id="144" name="Google Shape;144;p7">
            <a:extLst xmlns:a="http://schemas.openxmlformats.org/drawingml/2006/main">
              <a:ext uri="{FF2B5EF4-FFF2-40B4-BE49-F238E27FC236}">
                <a16:creationId xmlns:a16="http://schemas.microsoft.com/office/drawing/2014/main" id="{35D606E5-7371-49D6-8AFE-E2CD65E2D258}"/>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60ED207F-363E-479B-A217-044586C34A06}"/>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F59040DB-FE8E-4768-B34F-7171056FB64B}"/>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2D39A687-7B45-4546-8894-6BDA52A70DF4}"/>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40CC8AF1-DE82-4E58-8C0C-0A05484D7F0A}"/>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Realisation</a:t>
            </a:r>
          </a:p>
        </p:txBody>
      </p:sp>
      <p:sp>
        <p:nvSpPr>
          <p:cNvPr id="149" name="Google Shape;149;p7">
            <a:extLst xmlns:a="http://schemas.openxmlformats.org/drawingml/2006/main">
              <a:ext uri="{FF2B5EF4-FFF2-40B4-BE49-F238E27FC236}">
                <a16:creationId xmlns:a16="http://schemas.microsoft.com/office/drawing/2014/main" id="{43CACCDB-C99D-4605-856E-E37BB61C6E30}"/>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The integrating criterion in which coexistence, jeevan, and conduct are directly understood and become capable of coherent projection.</a:t>
            </a:r>
          </a:p>
        </p:txBody>
      </p:sp>
      <p:sp>
        <p:nvSpPr>
          <p:cNvPr id="150" name="Google Shape;150;p7">
            <a:extLst xmlns:a="http://schemas.openxmlformats.org/drawingml/2006/main">
              <a:ext uri="{FF2B5EF4-FFF2-40B4-BE49-F238E27FC236}">
                <a16:creationId xmlns:a16="http://schemas.microsoft.com/office/drawing/2014/main" id="{C900555A-CF8C-4582-8C80-52AF84F08F63}"/>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2117AB49-652B-42CE-AF52-B10AE62D38EC}"/>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No route stands alone: perception, inference, testimony, reflection, and action mature toward realisation and must return as evidence.</a:t>
            </a:r>
          </a:p>
        </p:txBody>
      </p:sp>
      <p:sp>
        <p:nvSpPr>
          <p:cNvPr id="152" name="Google Shape;152;p7">
            <a:extLst xmlns:a="http://schemas.openxmlformats.org/drawingml/2006/main">
              <a:ext uri="{FF2B5EF4-FFF2-40B4-BE49-F238E27FC236}">
                <a16:creationId xmlns:a16="http://schemas.microsoft.com/office/drawing/2014/main" id="{C8AB52DC-457F-4AED-9264-440E84A6C23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pp. 20–21  ·  MVD pp. 35, 273–301, 317</a:t>
            </a:r>
          </a:p>
        </p:txBody>
      </p:sp>
    </p:spTree>
    <p:extLst>
      <p:ext uri="{BB962C8B-B14F-4D97-AF65-F5344CB8AC3E}">
        <p14:creationId xmlns:p14="http://schemas.microsoft.com/office/powerpoint/2010/main" val="9723823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1F4410D1-34DA-403C-BA40-152307643EA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57798501-B417-480F-AC34-D64B712241D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A0FC3A8A-6709-413A-BDD8-5A09546291A0}"/>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5A521877-D588-43D4-BAE5-E430C7E42C6E}"/>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§1.8 · STUDY AND TRANSMISSION</a:t>
            </a:r>
          </a:p>
        </p:txBody>
      </p:sp>
      <p:sp>
        <p:nvSpPr>
          <p:cNvPr id="377" name="Google Shape;377;p16">
            <a:extLst xmlns:a="http://schemas.openxmlformats.org/drawingml/2006/main">
              <a:ext uri="{FF2B5EF4-FFF2-40B4-BE49-F238E27FC236}">
                <a16:creationId xmlns:a16="http://schemas.microsoft.com/office/drawing/2014/main" id="{E43344FB-5441-428B-858A-376598E07362}"/>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Study Must Mature Beyond Belief</a:t>
            </a:r>
          </a:p>
        </p:txBody>
      </p:sp>
      <p:sp>
        <p:nvSpPr>
          <p:cNvPr id="378" name="Google Shape;378;p16">
            <a:extLst xmlns:a="http://schemas.openxmlformats.org/drawingml/2006/main">
              <a:ext uri="{FF2B5EF4-FFF2-40B4-BE49-F238E27FC236}">
                <a16:creationId xmlns:a16="http://schemas.microsoft.com/office/drawing/2014/main" id="{4A1B57B2-5A19-4109-8BC2-FD0068E74C10}"/>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Study begins with the possibility of realisation and includes language, definition, comparison within experience, reflection, practice, work, behaviour, and evaluation. Guidance matters, but deference cannot establish truth.</a:t>
            </a:r>
          </a:p>
        </p:txBody>
      </p:sp>
      <p:sp>
        <p:nvSpPr>
          <p:cNvPr id="379" name="Google Shape;379;p16">
            <a:extLst xmlns:a="http://schemas.openxmlformats.org/drawingml/2006/main">
              <a:ext uri="{FF2B5EF4-FFF2-40B4-BE49-F238E27FC236}">
                <a16:creationId xmlns:a16="http://schemas.microsoft.com/office/drawing/2014/main" id="{0C65F213-D3FF-4033-8FF4-F464BB3FEFC5}"/>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2BA11955-42B7-4E6A-9D50-483C0F1E2B03}"/>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Study</a:t>
            </a:r>
          </a:p>
        </p:txBody>
      </p:sp>
      <p:sp>
        <p:nvSpPr>
          <p:cNvPr id="381" name="Google Shape;381;p16">
            <a:extLst xmlns:a="http://schemas.openxmlformats.org/drawingml/2006/main">
              <a:ext uri="{FF2B5EF4-FFF2-40B4-BE49-F238E27FC236}">
                <a16:creationId xmlns:a16="http://schemas.microsoft.com/office/drawing/2014/main" id="{D2FA9C2B-589C-41D2-8CFF-AB1AC5486FFF}"/>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A proposal is clarified in language, examined in reflection, tested in relationship and work, and revised where result exposes contradiction.</a:t>
            </a:r>
          </a:p>
        </p:txBody>
      </p:sp>
      <p:sp>
        <p:nvSpPr>
          <p:cNvPr id="382" name="Google Shape;382;p16">
            <a:extLst xmlns:a="http://schemas.openxmlformats.org/drawingml/2006/main">
              <a:ext uri="{FF2B5EF4-FFF2-40B4-BE49-F238E27FC236}">
                <a16:creationId xmlns:a16="http://schemas.microsoft.com/office/drawing/2014/main" id="{3E5963D1-687E-4B0D-A4BC-81515DCA8F90}"/>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749BA66B-749E-4508-9224-A8B6B35C4EE7}"/>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Guidance and tradition</a:t>
            </a:r>
          </a:p>
        </p:txBody>
      </p:sp>
      <p:sp>
        <p:nvSpPr>
          <p:cNvPr id="384" name="Google Shape;384;p16">
            <a:extLst xmlns:a="http://schemas.openxmlformats.org/drawingml/2006/main">
              <a:ext uri="{FF2B5EF4-FFF2-40B4-BE49-F238E27FC236}">
                <a16:creationId xmlns:a16="http://schemas.microsoft.com/office/drawing/2014/main" id="{ABB1D9B7-20F3-4509-B978-5CB9C2F9ACB1}"/>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An awakened human helps the learner direct attention and distinguish understanding from repetition; the learner must become independently capable of evidence.</a:t>
            </a:r>
          </a:p>
        </p:txBody>
      </p:sp>
      <p:sp>
        <p:nvSpPr>
          <p:cNvPr id="385" name="Google Shape;385;p16">
            <a:extLst xmlns:a="http://schemas.openxmlformats.org/drawingml/2006/main">
              <a:ext uri="{FF2B5EF4-FFF2-40B4-BE49-F238E27FC236}">
                <a16:creationId xmlns:a16="http://schemas.microsoft.com/office/drawing/2014/main" id="{C211B686-08B8-4796-9457-DF5FDC567BB4}"/>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Study is in, by, and for realisation in coexistence. Transmission succeeds when the understanding can be lived, evaluated, and conveyed again without loss or compulsion.</a:t>
            </a:r>
          </a:p>
        </p:txBody>
      </p:sp>
      <p:sp>
        <p:nvSpPr>
          <p:cNvPr id="386" name="Google Shape;386;p16">
            <a:extLst xmlns:a="http://schemas.openxmlformats.org/drawingml/2006/main">
              <a:ext uri="{FF2B5EF4-FFF2-40B4-BE49-F238E27FC236}">
                <a16:creationId xmlns:a16="http://schemas.microsoft.com/office/drawing/2014/main" id="{E05A1985-6023-4BD0-BB78-6DB460175203}"/>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1C834254-7B57-4112-A7C3-D8D4285FAA51}"/>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Language</a:t>
            </a:r>
          </a:p>
        </p:txBody>
      </p:sp>
      <p:sp>
        <p:nvSpPr>
          <p:cNvPr id="388" name="Google Shape;388;p16">
            <a:extLst xmlns:a="http://schemas.openxmlformats.org/drawingml/2006/main">
              <a:ext uri="{FF2B5EF4-FFF2-40B4-BE49-F238E27FC236}">
                <a16:creationId xmlns:a16="http://schemas.microsoft.com/office/drawing/2014/main" id="{FD9F1E8A-7EB2-40EE-9C81-2BC418DBA25F}"/>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56AC2E7C-8F0D-4288-83AD-96BC81D0DCB5}"/>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4D7E7337-4D80-469A-9F92-52CF41272E7F}"/>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Reflection</a:t>
            </a:r>
          </a:p>
        </p:txBody>
      </p:sp>
      <p:sp>
        <p:nvSpPr>
          <p:cNvPr id="391" name="Google Shape;391;p16">
            <a:extLst xmlns:a="http://schemas.openxmlformats.org/drawingml/2006/main">
              <a:ext uri="{FF2B5EF4-FFF2-40B4-BE49-F238E27FC236}">
                <a16:creationId xmlns:a16="http://schemas.microsoft.com/office/drawing/2014/main" id="{4E67D567-6A22-476C-A7E6-1E625917B66C}"/>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0BCED3E7-79B9-4020-8C22-97155CEDC377}"/>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F06F3ACC-BA7E-49E1-BDC3-03810BEB58BC}"/>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Practice</a:t>
            </a:r>
          </a:p>
        </p:txBody>
      </p:sp>
      <p:sp>
        <p:nvSpPr>
          <p:cNvPr id="394" name="Google Shape;394;p16">
            <a:extLst xmlns:a="http://schemas.openxmlformats.org/drawingml/2006/main">
              <a:ext uri="{FF2B5EF4-FFF2-40B4-BE49-F238E27FC236}">
                <a16:creationId xmlns:a16="http://schemas.microsoft.com/office/drawing/2014/main" id="{F3B37F53-63C1-4CA4-A133-2664FB83F5ED}"/>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8828DA70-5489-4652-A619-21DAE49E47C1}"/>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282BD5CD-04DF-4D29-A610-770B6F3CB25F}"/>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Conveyance</a:t>
            </a:r>
          </a:p>
        </p:txBody>
      </p:sp>
      <p:sp>
        <p:nvSpPr>
          <p:cNvPr id="397" name="Google Shape;397;p16">
            <a:extLst xmlns:a="http://schemas.openxmlformats.org/drawingml/2006/main">
              <a:ext uri="{FF2B5EF4-FFF2-40B4-BE49-F238E27FC236}">
                <a16:creationId xmlns:a16="http://schemas.microsoft.com/office/drawing/2014/main" id="{CB0BFA60-DD9E-4D48-AACF-B0609CA36304}"/>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The proof of comprehension includes the ability to make the understanding accessible to another person.</a:t>
            </a:r>
          </a:p>
        </p:txBody>
      </p:sp>
      <p:sp>
        <p:nvSpPr>
          <p:cNvPr id="398" name="Google Shape;398;p16">
            <a:extLst xmlns:a="http://schemas.openxmlformats.org/drawingml/2006/main">
              <a:ext uri="{FF2B5EF4-FFF2-40B4-BE49-F238E27FC236}">
                <a16:creationId xmlns:a16="http://schemas.microsoft.com/office/drawing/2014/main" id="{0E91AA63-5AA4-4877-B75E-6BE3FEA80184}"/>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35, 90, 273–301, 317  ·  JV p. 26  ·  KD §3.17</a:t>
            </a:r>
          </a:p>
        </p:txBody>
      </p:sp>
    </p:spTree>
    <p:extLst>
      <p:ext uri="{BB962C8B-B14F-4D97-AF65-F5344CB8AC3E}">
        <p14:creationId xmlns:p14="http://schemas.microsoft.com/office/powerpoint/2010/main" val="17014883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EE5E8163-2E3D-4286-83A5-4E98AABDC9FD}"/>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ADF8D51E-7451-457D-961B-75E09BFF1D92}"/>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35D08C76-95A4-4973-ACB4-130398FFBFC2}"/>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6C78D489-C288-42BA-9E09-D4FC86D4C49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§1.9 · ERROR AND CORRECTION</a:t>
            </a:r>
          </a:p>
        </p:txBody>
      </p:sp>
      <p:sp>
        <p:nvSpPr>
          <p:cNvPr id="377" name="Google Shape;377;p16">
            <a:extLst xmlns:a="http://schemas.openxmlformats.org/drawingml/2006/main">
              <a:ext uri="{FF2B5EF4-FFF2-40B4-BE49-F238E27FC236}">
                <a16:creationId xmlns:a16="http://schemas.microsoft.com/office/drawing/2014/main" id="{8AEE7DC9-DA87-4328-892E-24BC14E8A848}"/>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Three Failures Block Knowing</a:t>
            </a:r>
          </a:p>
        </p:txBody>
      </p:sp>
      <p:sp>
        <p:nvSpPr>
          <p:cNvPr id="378" name="Google Shape;378;p16">
            <a:extLst xmlns:a="http://schemas.openxmlformats.org/drawingml/2006/main">
              <a:ext uri="{FF2B5EF4-FFF2-40B4-BE49-F238E27FC236}">
                <a16:creationId xmlns:a16="http://schemas.microsoft.com/office/drawing/2014/main" id="{45E855C4-95FC-424C-B4CC-5E8151148C4D}"/>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Error is diagnosed by where the knowing process loses contact with reality, self, relationship, or result. Information and confidence can remain high while the deeper sequence is broken.</a:t>
            </a:r>
          </a:p>
        </p:txBody>
      </p:sp>
      <p:sp>
        <p:nvSpPr>
          <p:cNvPr id="379" name="Google Shape;379;p16">
            <a:extLst xmlns:a="http://schemas.openxmlformats.org/drawingml/2006/main">
              <a:ext uri="{FF2B5EF4-FFF2-40B4-BE49-F238E27FC236}">
                <a16:creationId xmlns:a16="http://schemas.microsoft.com/office/drawing/2014/main" id="{7CC81903-027E-4E44-907F-8267AC597E67}"/>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FFCD59A2-B0B7-445A-8625-09C68EBABD94}"/>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9A6414"/>
                </a:solidFill>
                <a:latin typeface="Cambria"/>
                <a:ea typeface="Cambria"/>
                <a:cs typeface="Cambria"/>
              </a:rPr>
              <a:t>Delusion — bhram</a:t>
            </a:r>
          </a:p>
        </p:txBody>
      </p:sp>
      <p:sp>
        <p:nvSpPr>
          <p:cNvPr id="381" name="Google Shape;381;p16">
            <a:extLst xmlns:a="http://schemas.openxmlformats.org/drawingml/2006/main">
              <a:ext uri="{FF2B5EF4-FFF2-40B4-BE49-F238E27FC236}">
                <a16:creationId xmlns:a16="http://schemas.microsoft.com/office/drawing/2014/main" id="{7B2E8C50-D74D-4078-A781-ED37F3E0CC7C}"/>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Jeevan is identified with the body; sensitivity becomes the governing reference, and believing separates from knowing.</a:t>
            </a:r>
          </a:p>
        </p:txBody>
      </p:sp>
      <p:sp>
        <p:nvSpPr>
          <p:cNvPr id="382" name="Google Shape;382;p16">
            <a:extLst xmlns:a="http://schemas.openxmlformats.org/drawingml/2006/main">
              <a:ext uri="{FF2B5EF4-FFF2-40B4-BE49-F238E27FC236}">
                <a16:creationId xmlns:a16="http://schemas.microsoft.com/office/drawing/2014/main" id="{54B67296-4447-4A69-BC97-F67606A4F7C0}"/>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3D6485FC-39FA-4EB0-8853-153CF5417249}"/>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Intellectual mystery — rahasyata</a:t>
            </a:r>
          </a:p>
        </p:txBody>
      </p:sp>
      <p:sp>
        <p:nvSpPr>
          <p:cNvPr id="384" name="Google Shape;384;p16">
            <a:extLst xmlns:a="http://schemas.openxmlformats.org/drawingml/2006/main">
              <a:ext uri="{FF2B5EF4-FFF2-40B4-BE49-F238E27FC236}">
                <a16:creationId xmlns:a16="http://schemas.microsoft.com/office/drawing/2014/main" id="{787961EA-42CD-4B38-A5DE-422537D2458B}"/>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Reflection does not reach realisation, or realisation does not project as evidence; the faculties remain misaligned.</a:t>
            </a:r>
          </a:p>
        </p:txBody>
      </p:sp>
      <p:sp>
        <p:nvSpPr>
          <p:cNvPr id="385" name="Google Shape;385;p16">
            <a:extLst xmlns:a="http://schemas.openxmlformats.org/drawingml/2006/main">
              <a:ext uri="{FF2B5EF4-FFF2-40B4-BE49-F238E27FC236}">
                <a16:creationId xmlns:a16="http://schemas.microsoft.com/office/drawing/2014/main" id="{2A62FD21-0CDD-4DF1-A565-6CC1FFA1B76D}"/>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False learning is the middle failure: form, property, essential nature, or dharma is not understood as it is, producing doubt, over-evaluation, under-evaluation, and mis-evaluation.</a:t>
            </a:r>
          </a:p>
        </p:txBody>
      </p:sp>
      <p:sp>
        <p:nvSpPr>
          <p:cNvPr id="386" name="Google Shape;386;p16">
            <a:extLst xmlns:a="http://schemas.openxmlformats.org/drawingml/2006/main">
              <a:ext uri="{FF2B5EF4-FFF2-40B4-BE49-F238E27FC236}">
                <a16:creationId xmlns:a16="http://schemas.microsoft.com/office/drawing/2014/main" id="{33F8C60F-28AA-433E-B157-DF631F162C5C}"/>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1DBF5721-6FB0-47E7-AF84-E47E92AA81BF}"/>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Doubt</a:t>
            </a:r>
          </a:p>
        </p:txBody>
      </p:sp>
      <p:sp>
        <p:nvSpPr>
          <p:cNvPr id="388" name="Google Shape;388;p16">
            <a:extLst xmlns:a="http://schemas.openxmlformats.org/drawingml/2006/main">
              <a:ext uri="{FF2B5EF4-FFF2-40B4-BE49-F238E27FC236}">
                <a16:creationId xmlns:a16="http://schemas.microsoft.com/office/drawing/2014/main" id="{2AF68A6B-78EF-4514-9799-95BA9AA90E1F}"/>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B42257E6-D18C-4D3A-B641-E01638913146}"/>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9DD3FDFF-7A8B-4603-9FD8-FD730EC51CC3}"/>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Mis-evaluation</a:t>
            </a:r>
          </a:p>
        </p:txBody>
      </p:sp>
      <p:sp>
        <p:nvSpPr>
          <p:cNvPr id="391" name="Google Shape;391;p16">
            <a:extLst xmlns:a="http://schemas.openxmlformats.org/drawingml/2006/main">
              <a:ext uri="{FF2B5EF4-FFF2-40B4-BE49-F238E27FC236}">
                <a16:creationId xmlns:a16="http://schemas.microsoft.com/office/drawing/2014/main" id="{EB6A9F57-3D1A-409B-8571-B2C0C829114E}"/>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F2960607-40BF-4891-BFFD-1D85C4AD8A95}"/>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3D89BF9B-D547-4009-915C-D5A1DA0C6473}"/>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Contradiction</a:t>
            </a:r>
          </a:p>
        </p:txBody>
      </p:sp>
      <p:sp>
        <p:nvSpPr>
          <p:cNvPr id="394" name="Google Shape;394;p16">
            <a:extLst xmlns:a="http://schemas.openxmlformats.org/drawingml/2006/main">
              <a:ext uri="{FF2B5EF4-FFF2-40B4-BE49-F238E27FC236}">
                <a16:creationId xmlns:a16="http://schemas.microsoft.com/office/drawing/2014/main" id="{11CF1EC8-FEFB-49FB-939D-7C097CB68AFC}"/>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BA221319-804B-4F09-A1A8-1E91A7B8264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724FC277-275C-4F7E-A756-9F27B90E7CE3}"/>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Correction</a:t>
            </a:r>
          </a:p>
        </p:txBody>
      </p:sp>
      <p:sp>
        <p:nvSpPr>
          <p:cNvPr id="397" name="Google Shape;397;p16">
            <a:extLst xmlns:a="http://schemas.openxmlformats.org/drawingml/2006/main">
              <a:ext uri="{FF2B5EF4-FFF2-40B4-BE49-F238E27FC236}">
                <a16:creationId xmlns:a16="http://schemas.microsoft.com/office/drawing/2014/main" id="{E9B40105-D081-49D7-A6E4-DDF7A3CB00D0}"/>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Correction requires renewed attention, reflection, action, result, and evaluation — not a stronger assertion of the original belief.</a:t>
            </a:r>
          </a:p>
        </p:txBody>
      </p:sp>
      <p:sp>
        <p:nvSpPr>
          <p:cNvPr id="398" name="Google Shape;398;p16">
            <a:extLst xmlns:a="http://schemas.openxmlformats.org/drawingml/2006/main">
              <a:ext uri="{FF2B5EF4-FFF2-40B4-BE49-F238E27FC236}">
                <a16:creationId xmlns:a16="http://schemas.microsoft.com/office/drawing/2014/main" id="{4759006B-AB01-486E-A99B-9E94FD623428}"/>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JV p. 93  ·  MVD pp. 184, 209, 263–264, 273–301, 317</a:t>
            </a:r>
          </a:p>
        </p:txBody>
      </p:sp>
    </p:spTree>
    <p:extLst>
      <p:ext uri="{BB962C8B-B14F-4D97-AF65-F5344CB8AC3E}">
        <p14:creationId xmlns:p14="http://schemas.microsoft.com/office/powerpoint/2010/main" val="15636950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5" name="Google Shape;455;p19">
            <a:extLst xmlns:a="http://schemas.openxmlformats.org/drawingml/2006/main">
              <a:ext uri="{FF2B5EF4-FFF2-40B4-BE49-F238E27FC236}">
                <a16:creationId xmlns:a16="http://schemas.microsoft.com/office/drawing/2014/main" id="{6442EB82-1422-4108-B116-5784404DFC10}"/>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6" name="Google Shape;456;p19">
            <a:extLst xmlns:a="http://schemas.openxmlformats.org/drawingml/2006/main">
              <a:ext uri="{FF2B5EF4-FFF2-40B4-BE49-F238E27FC236}">
                <a16:creationId xmlns:a16="http://schemas.microsoft.com/office/drawing/2014/main" id="{1F0C3D57-24D6-4278-93D2-E9A79C39BC4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7" name="Google Shape;457;p19">
            <a:extLst xmlns:a="http://schemas.openxmlformats.org/drawingml/2006/main">
              <a:ext uri="{FF2B5EF4-FFF2-40B4-BE49-F238E27FC236}">
                <a16:creationId xmlns:a16="http://schemas.microsoft.com/office/drawing/2014/main" id="{57899CEF-CD7B-402E-AC4C-5575832C085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8" name="Google Shape;458;p19">
            <a:extLst xmlns:a="http://schemas.openxmlformats.org/drawingml/2006/main">
              <a:ext uri="{FF2B5EF4-FFF2-40B4-BE49-F238E27FC236}">
                <a16:creationId xmlns:a16="http://schemas.microsoft.com/office/drawing/2014/main" id="{51335767-D53D-43F6-8B5A-91B90B7B9FBD}"/>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§§1.2, 1.10 · COMPLETION OF THE TRIAD</a:t>
            </a:r>
          </a:p>
        </p:txBody>
      </p:sp>
      <p:sp>
        <p:nvSpPr>
          <p:cNvPr id="459" name="Google Shape;459;p19">
            <a:extLst xmlns:a="http://schemas.openxmlformats.org/drawingml/2006/main">
              <a:ext uri="{FF2B5EF4-FFF2-40B4-BE49-F238E27FC236}">
                <a16:creationId xmlns:a16="http://schemas.microsoft.com/office/drawing/2014/main" id="{22BD32C7-ACF1-4879-B3CF-EBE1894B6E8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Coherence Without Merger</a:t>
            </a:r>
          </a:p>
        </p:txBody>
      </p:sp>
      <p:sp>
        <p:nvSpPr>
          <p:cNvPr id="460" name="Google Shape;460;p19">
            <a:extLst xmlns:a="http://schemas.openxmlformats.org/drawingml/2006/main">
              <a:ext uri="{FF2B5EF4-FFF2-40B4-BE49-F238E27FC236}">
                <a16:creationId xmlns:a16="http://schemas.microsoft.com/office/drawing/2014/main" id="{A6AFFC79-45A0-4C47-99DD-D0052E75031A}"/>
              </a:ext>
            </a:extLst>
          </p:cNvPr>
          <p:cNvSpPr>
            <a:spLocks xmlns:a="http://schemas.openxmlformats.org/drawingml/2006/main" noGrp="1"/>
          </p:cNvSpPr>
          <p:nvPr/>
        </p:nvSpPr>
        <p:spPr>
          <a:xfrm xmlns:a="http://schemas.openxmlformats.org/drawingml/2006/main">
            <a:off x="640080" y="1207008"/>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At realisation, the triad is completed without erasing its terms. Coexistence remains real, jeevan remains a distinct active knower, and knowledge is the realised relation that becomes wisdom, science, and humane conduct.</a:t>
            </a:r>
          </a:p>
        </p:txBody>
      </p:sp>
      <p:sp>
        <p:nvSpPr>
          <p:cNvPr id="461" name="Google Shape;461;p19">
            <a:extLst xmlns:a="http://schemas.openxmlformats.org/drawingml/2006/main">
              <a:ext uri="{FF2B5EF4-FFF2-40B4-BE49-F238E27FC236}">
                <a16:creationId xmlns:a16="http://schemas.microsoft.com/office/drawing/2014/main" id="{2652AEEC-F12F-4C4F-AB0C-A68340BFA079}"/>
              </a:ext>
            </a:extLst>
          </p:cNvPr>
          <p:cNvSpPr>
            <a:spLocks xmlns:a="http://schemas.openxmlformats.org/drawingml/2006/main" noGrp="1"/>
          </p:cNvSpPr>
          <p:nvPr/>
        </p:nvSpPr>
        <p:spPr>
          <a:xfrm xmlns:a="http://schemas.openxmlformats.org/drawingml/2006/main">
            <a:off x="64008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2" name="Google Shape;462;p19">
            <a:extLst xmlns:a="http://schemas.openxmlformats.org/drawingml/2006/main">
              <a:ext uri="{FF2B5EF4-FFF2-40B4-BE49-F238E27FC236}">
                <a16:creationId xmlns:a16="http://schemas.microsoft.com/office/drawing/2014/main" id="{C2119089-8239-455F-ACE5-D83BCA57FA3A}"/>
              </a:ext>
            </a:extLst>
          </p:cNvPr>
          <p:cNvSpPr>
            <a:spLocks xmlns:a="http://schemas.openxmlformats.org/drawingml/2006/main" noGrp="1"/>
          </p:cNvSpPr>
          <p:nvPr/>
        </p:nvSpPr>
        <p:spPr>
          <a:xfrm xmlns:a="http://schemas.openxmlformats.org/drawingml/2006/main">
            <a:off x="84124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Knowledge — realised relation</a:t>
            </a:r>
          </a:p>
        </p:txBody>
      </p:sp>
      <p:sp>
        <p:nvSpPr>
          <p:cNvPr id="463" name="Google Shape;463;p19">
            <a:extLst xmlns:a="http://schemas.openxmlformats.org/drawingml/2006/main">
              <a:ext uri="{FF2B5EF4-FFF2-40B4-BE49-F238E27FC236}">
                <a16:creationId xmlns:a16="http://schemas.microsoft.com/office/drawing/2014/main" id="{E3878145-1C26-491C-8870-38029F2261D6}"/>
              </a:ext>
            </a:extLst>
          </p:cNvPr>
          <p:cNvSpPr>
            <a:spLocks xmlns:a="http://schemas.openxmlformats.org/drawingml/2006/main" noGrp="1"/>
          </p:cNvSpPr>
          <p:nvPr/>
        </p:nvSpPr>
        <p:spPr>
          <a:xfrm xmlns:a="http://schemas.openxmlformats.org/drawingml/2006/main">
            <a:off x="84124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Understanding joins what exists, who understands it, and how that understanding must guide evaluation and participation.</a:t>
            </a:r>
          </a:p>
        </p:txBody>
      </p:sp>
      <p:sp>
        <p:nvSpPr>
          <p:cNvPr id="464" name="Google Shape;464;p19">
            <a:extLst xmlns:a="http://schemas.openxmlformats.org/drawingml/2006/main">
              <a:ext uri="{FF2B5EF4-FFF2-40B4-BE49-F238E27FC236}">
                <a16:creationId xmlns:a16="http://schemas.microsoft.com/office/drawing/2014/main" id="{24A87DF5-703F-4D5A-A446-D9BDB327476A}"/>
              </a:ext>
            </a:extLst>
          </p:cNvPr>
          <p:cNvSpPr>
            <a:spLocks xmlns:a="http://schemas.openxmlformats.org/drawingml/2006/main" noGrp="1"/>
          </p:cNvSpPr>
          <p:nvPr/>
        </p:nvSpPr>
        <p:spPr>
          <a:xfrm xmlns:a="http://schemas.openxmlformats.org/drawingml/2006/main">
            <a:off x="470916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5" name="Google Shape;465;p19">
            <a:extLst xmlns:a="http://schemas.openxmlformats.org/drawingml/2006/main">
              <a:ext uri="{FF2B5EF4-FFF2-40B4-BE49-F238E27FC236}">
                <a16:creationId xmlns:a16="http://schemas.microsoft.com/office/drawing/2014/main" id="{587D34E1-5825-4E1C-A3BC-28850A83F548}"/>
              </a:ext>
            </a:extLst>
          </p:cNvPr>
          <p:cNvSpPr>
            <a:spLocks xmlns:a="http://schemas.openxmlformats.org/drawingml/2006/main" noGrp="1"/>
          </p:cNvSpPr>
          <p:nvPr/>
        </p:nvSpPr>
        <p:spPr>
          <a:xfrm xmlns:a="http://schemas.openxmlformats.org/drawingml/2006/main">
            <a:off x="491032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Knower — distinct jeevan</a:t>
            </a:r>
          </a:p>
        </p:txBody>
      </p:sp>
      <p:sp>
        <p:nvSpPr>
          <p:cNvPr id="466" name="Google Shape;466;p19">
            <a:extLst xmlns:a="http://schemas.openxmlformats.org/drawingml/2006/main">
              <a:ext uri="{FF2B5EF4-FFF2-40B4-BE49-F238E27FC236}">
                <a16:creationId xmlns:a16="http://schemas.microsoft.com/office/drawing/2014/main" id="{1A09B0C6-2C25-443F-8E8B-359D54B9D3D5}"/>
              </a:ext>
            </a:extLst>
          </p:cNvPr>
          <p:cNvSpPr>
            <a:spLocks xmlns:a="http://schemas.openxmlformats.org/drawingml/2006/main" noGrp="1"/>
          </p:cNvSpPr>
          <p:nvPr/>
        </p:nvSpPr>
        <p:spPr>
          <a:xfrm xmlns:a="http://schemas.openxmlformats.org/drawingml/2006/main">
            <a:off x="491032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Jeevan bears realisation and authenticity; the human joint form makes these capacities communicable and answerable to consequence.</a:t>
            </a:r>
          </a:p>
        </p:txBody>
      </p:sp>
      <p:sp>
        <p:nvSpPr>
          <p:cNvPr id="467" name="Google Shape;467;p19">
            <a:extLst xmlns:a="http://schemas.openxmlformats.org/drawingml/2006/main">
              <a:ext uri="{FF2B5EF4-FFF2-40B4-BE49-F238E27FC236}">
                <a16:creationId xmlns:a16="http://schemas.microsoft.com/office/drawing/2014/main" id="{A9D98D41-5749-4CA8-9AB6-3C4331B1F4B2}"/>
              </a:ext>
            </a:extLst>
          </p:cNvPr>
          <p:cNvSpPr>
            <a:spLocks xmlns:a="http://schemas.openxmlformats.org/drawingml/2006/main" noGrp="1"/>
          </p:cNvSpPr>
          <p:nvPr/>
        </p:nvSpPr>
        <p:spPr>
          <a:xfrm xmlns:a="http://schemas.openxmlformats.org/drawingml/2006/main">
            <a:off x="640080" y="324612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8" name="Google Shape;468;p19">
            <a:extLst xmlns:a="http://schemas.openxmlformats.org/drawingml/2006/main">
              <a:ext uri="{FF2B5EF4-FFF2-40B4-BE49-F238E27FC236}">
                <a16:creationId xmlns:a16="http://schemas.microsoft.com/office/drawing/2014/main" id="{3E75C652-C505-4E6A-BFF1-3F16ED86EB2E}"/>
              </a:ext>
            </a:extLst>
          </p:cNvPr>
          <p:cNvSpPr>
            <a:spLocks xmlns:a="http://schemas.openxmlformats.org/drawingml/2006/main" noGrp="1"/>
          </p:cNvSpPr>
          <p:nvPr/>
        </p:nvSpPr>
        <p:spPr>
          <a:xfrm xmlns:a="http://schemas.openxmlformats.org/drawingml/2006/main">
            <a:off x="84124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Known — real coexistence</a:t>
            </a:r>
          </a:p>
        </p:txBody>
      </p:sp>
      <p:sp>
        <p:nvSpPr>
          <p:cNvPr id="469" name="Google Shape;469;p19">
            <a:extLst xmlns:a="http://schemas.openxmlformats.org/drawingml/2006/main">
              <a:ext uri="{FF2B5EF4-FFF2-40B4-BE49-F238E27FC236}">
                <a16:creationId xmlns:a16="http://schemas.microsoft.com/office/drawing/2014/main" id="{37640E8C-9898-450C-9F07-A3CB1B5FBB51}"/>
              </a:ext>
            </a:extLst>
          </p:cNvPr>
          <p:cNvSpPr>
            <a:spLocks xmlns:a="http://schemas.openxmlformats.org/drawingml/2006/main" noGrp="1"/>
          </p:cNvSpPr>
          <p:nvPr/>
        </p:nvSpPr>
        <p:spPr>
          <a:xfrm xmlns:a="http://schemas.openxmlformats.org/drawingml/2006/main">
            <a:off x="84124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Omnipresence, units, orders, relationships, values, and humane conduct remain the real field of knowing; they are not dissolved by understanding.</a:t>
            </a:r>
          </a:p>
        </p:txBody>
      </p:sp>
      <p:sp>
        <p:nvSpPr>
          <p:cNvPr id="470" name="Google Shape;470;p19">
            <a:extLst xmlns:a="http://schemas.openxmlformats.org/drawingml/2006/main">
              <a:ext uri="{FF2B5EF4-FFF2-40B4-BE49-F238E27FC236}">
                <a16:creationId xmlns:a16="http://schemas.microsoft.com/office/drawing/2014/main" id="{D1BF83F1-7747-433B-A60C-B6BE509139A7}"/>
              </a:ext>
            </a:extLst>
          </p:cNvPr>
          <p:cNvSpPr>
            <a:spLocks xmlns:a="http://schemas.openxmlformats.org/drawingml/2006/main" noGrp="1"/>
          </p:cNvSpPr>
          <p:nvPr/>
        </p:nvSpPr>
        <p:spPr>
          <a:xfrm xmlns:a="http://schemas.openxmlformats.org/drawingml/2006/main">
            <a:off x="4709160" y="3246120"/>
            <a:ext cx="3794760" cy="1280160"/>
          </a:xfrm>
          <a:prstGeom xmlns:a="http://schemas.openxmlformats.org/drawingml/2006/main" prst="roundRect">
            <a:avLst>
              <a:gd name="adj" fmla="val 6429"/>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71" name="Google Shape;471;p19">
            <a:extLst xmlns:a="http://schemas.openxmlformats.org/drawingml/2006/main">
              <a:ext uri="{FF2B5EF4-FFF2-40B4-BE49-F238E27FC236}">
                <a16:creationId xmlns:a16="http://schemas.microsoft.com/office/drawing/2014/main" id="{3C6187CA-DB80-4E68-B45B-CBADC961F742}"/>
              </a:ext>
            </a:extLst>
          </p:cNvPr>
          <p:cNvSpPr>
            <a:spLocks xmlns:a="http://schemas.openxmlformats.org/drawingml/2006/main" noGrp="1"/>
          </p:cNvSpPr>
          <p:nvPr/>
        </p:nvSpPr>
        <p:spPr>
          <a:xfrm xmlns:a="http://schemas.openxmlformats.org/drawingml/2006/main">
            <a:off x="491032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9A6414"/>
                </a:solidFill>
                <a:latin typeface="Cambria"/>
                <a:ea typeface="Cambria"/>
                <a:cs typeface="Cambria"/>
              </a:rPr>
              <a:t>Meaning — awakened living</a:t>
            </a:r>
          </a:p>
        </p:txBody>
      </p:sp>
      <p:sp>
        <p:nvSpPr>
          <p:cNvPr id="472" name="Google Shape;472;p19">
            <a:extLst xmlns:a="http://schemas.openxmlformats.org/drawingml/2006/main">
              <a:ext uri="{FF2B5EF4-FFF2-40B4-BE49-F238E27FC236}">
                <a16:creationId xmlns:a16="http://schemas.microsoft.com/office/drawing/2014/main" id="{43B6A619-54E0-43CE-9B72-C41E5A13C880}"/>
              </a:ext>
            </a:extLst>
          </p:cNvPr>
          <p:cNvSpPr>
            <a:spLocks xmlns:a="http://schemas.openxmlformats.org/drawingml/2006/main" noGrp="1"/>
          </p:cNvSpPr>
          <p:nvPr/>
        </p:nvSpPr>
        <p:spPr>
          <a:xfrm xmlns:a="http://schemas.openxmlformats.org/drawingml/2006/main">
            <a:off x="491032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The known becomes meaningful as resolution in the person, prosperity in the family, fearlessness in society, and coexistence in universal orderliness.</a:t>
            </a:r>
          </a:p>
        </p:txBody>
      </p:sp>
      <p:sp>
        <p:nvSpPr>
          <p:cNvPr id="473" name="Google Shape;473;p19">
            <a:extLst xmlns:a="http://schemas.openxmlformats.org/drawingml/2006/main">
              <a:ext uri="{FF2B5EF4-FFF2-40B4-BE49-F238E27FC236}">
                <a16:creationId xmlns:a16="http://schemas.microsoft.com/office/drawing/2014/main" id="{14D9C93B-C570-40AD-A8BE-2A6E2FF4D82B}"/>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Uniformity means coherence of roles in one coexistential bond — not identity of knower and known. — KD §3.17 · MVD pp. 14–15, 115–116 · SB p. 81</a:t>
            </a:r>
          </a:p>
        </p:txBody>
      </p:sp>
    </p:spTree>
    <p:extLst>
      <p:ext uri="{BB962C8B-B14F-4D97-AF65-F5344CB8AC3E}">
        <p14:creationId xmlns:p14="http://schemas.microsoft.com/office/powerpoint/2010/main" val="16278645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554B6713-B2DC-4514-B452-C9EBA3EA284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9E98C951-C4B9-46BD-B3FC-D1161DB4ADF4}"/>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AFD3403-A263-4222-9AFC-851DC6102BEF}"/>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39C9F7D7-11F2-4589-AF3E-2A09E52C11D5}"/>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EPISTEMIC DISCIPLINE</a:t>
            </a:r>
          </a:p>
        </p:txBody>
      </p:sp>
      <p:sp>
        <p:nvSpPr>
          <p:cNvPr id="39" name="Google Shape;39;p4">
            <a:extLst xmlns:a="http://schemas.openxmlformats.org/drawingml/2006/main">
              <a:ext uri="{FF2B5EF4-FFF2-40B4-BE49-F238E27FC236}">
                <a16:creationId xmlns:a16="http://schemas.microsoft.com/office/drawing/2014/main" id="{6286B2DB-0BEF-47B8-861A-3369C43B86B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Safeguards Against Self-Confirmation</a:t>
            </a:r>
          </a:p>
        </p:txBody>
      </p:sp>
      <p:sp>
        <p:nvSpPr>
          <p:cNvPr id="40" name="Google Shape;40;p4">
            <a:extLst xmlns:a="http://schemas.openxmlformats.org/drawingml/2006/main">
              <a:ext uri="{FF2B5EF4-FFF2-40B4-BE49-F238E27FC236}">
                <a16:creationId xmlns:a16="http://schemas.microsoft.com/office/drawing/2014/main" id="{F6B20C6D-6ADA-460F-9B26-85A79253C6F0}"/>
              </a:ext>
            </a:extLst>
          </p:cNvPr>
          <p:cNvSpPr>
            <a:spLocks xmlns:a="http://schemas.openxmlformats.org/drawingml/2006/main" noGrp="1"/>
          </p:cNvSpPr>
          <p:nvPr/>
        </p:nvSpPr>
        <p:spPr>
          <a:xfrm xmlns:a="http://schemas.openxmlformats.org/drawingml/2006/main">
            <a:off x="640080" y="13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1</a:t>
            </a:r>
          </a:p>
        </p:txBody>
      </p:sp>
      <p:sp>
        <p:nvSpPr>
          <p:cNvPr id="42" name="Google Shape;42;p4">
            <a:extLst xmlns:a="http://schemas.openxmlformats.org/drawingml/2006/main">
              <a:ext uri="{FF2B5EF4-FFF2-40B4-BE49-F238E27FC236}">
                <a16:creationId xmlns:a16="http://schemas.microsoft.com/office/drawing/2014/main" id="{B11FC845-D9E9-4D1C-B158-0B1D714F2687}"/>
              </a:ext>
            </a:extLst>
          </p:cNvPr>
          <p:cNvSpPr>
            <a:spLocks xmlns:a="http://schemas.openxmlformats.org/drawingml/2006/main" noGrp="1"/>
          </p:cNvSpPr>
          <p:nvPr/>
        </p:nvSpPr>
        <p:spPr>
          <a:xfrm xmlns:a="http://schemas.openxmlformats.org/drawingml/2006/main">
            <a:off x="1188720" y="12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Separate structure from contingency  —  realisation of coexistence does not imply knowledge of every changing fact; empirical claims remain open to correction.</a:t>
            </a:r>
          </a:p>
        </p:txBody>
      </p:sp>
      <p:sp>
        <p:nvSpPr>
          <p:cNvPr id="43" name="Google Shape;43;p4">
            <a:extLst xmlns:a="http://schemas.openxmlformats.org/drawingml/2006/main">
              <a:ext uri="{FF2B5EF4-FFF2-40B4-BE49-F238E27FC236}">
                <a16:creationId xmlns:a16="http://schemas.microsoft.com/office/drawing/2014/main" id="{EE088122-A2CD-4442-B5EC-85400DE3D46E}"/>
              </a:ext>
            </a:extLst>
          </p:cNvPr>
          <p:cNvSpPr>
            <a:spLocks xmlns:a="http://schemas.openxmlformats.org/drawingml/2006/main" noGrp="1"/>
          </p:cNvSpPr>
          <p:nvPr/>
        </p:nvSpPr>
        <p:spPr>
          <a:xfrm xmlns:a="http://schemas.openxmlformats.org/drawingml/2006/main">
            <a:off x="640080" y="235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2</a:t>
            </a:r>
          </a:p>
        </p:txBody>
      </p:sp>
      <p:sp>
        <p:nvSpPr>
          <p:cNvPr id="45" name="Google Shape;45;p4">
            <a:extLst xmlns:a="http://schemas.openxmlformats.org/drawingml/2006/main">
              <a:ext uri="{FF2B5EF4-FFF2-40B4-BE49-F238E27FC236}">
                <a16:creationId xmlns:a16="http://schemas.microsoft.com/office/drawing/2014/main" id="{B9624D82-D5FA-407D-A429-15236941B802}"/>
              </a:ext>
            </a:extLst>
          </p:cNvPr>
          <p:cNvSpPr>
            <a:spLocks xmlns:a="http://schemas.openxmlformats.org/drawingml/2006/main" noGrp="1"/>
          </p:cNvSpPr>
          <p:nvPr/>
        </p:nvSpPr>
        <p:spPr>
          <a:xfrm xmlns:a="http://schemas.openxmlformats.org/drawingml/2006/main">
            <a:off x="1188720" y="231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Demand coherence across domains  —  sound conduct cannot silently prove every ontological claim, and private certitude cannot replace failed relationship or result.</a:t>
            </a:r>
          </a:p>
        </p:txBody>
      </p:sp>
      <p:sp>
        <p:nvSpPr>
          <p:cNvPr id="46" name="Google Shape;46;p4">
            <a:extLst xmlns:a="http://schemas.openxmlformats.org/drawingml/2006/main">
              <a:ext uri="{FF2B5EF4-FFF2-40B4-BE49-F238E27FC236}">
                <a16:creationId xmlns:a16="http://schemas.microsoft.com/office/drawing/2014/main" id="{2720550B-4AA8-4846-9E73-F188BDA53628}"/>
              </a:ext>
            </a:extLst>
          </p:cNvPr>
          <p:cNvSpPr>
            <a:spLocks xmlns:a="http://schemas.openxmlformats.org/drawingml/2006/main" noGrp="1"/>
          </p:cNvSpPr>
          <p:nvPr/>
        </p:nvSpPr>
        <p:spPr>
          <a:xfrm xmlns:a="http://schemas.openxmlformats.org/drawingml/2006/main">
            <a:off x="640080" y="34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3</a:t>
            </a:r>
          </a:p>
        </p:txBody>
      </p:sp>
      <p:sp>
        <p:nvSpPr>
          <p:cNvPr id="48" name="Google Shape;48;p4">
            <a:extLst xmlns:a="http://schemas.openxmlformats.org/drawingml/2006/main">
              <a:ext uri="{FF2B5EF4-FFF2-40B4-BE49-F238E27FC236}">
                <a16:creationId xmlns:a16="http://schemas.microsoft.com/office/drawing/2014/main" id="{D7B59417-B19C-4CF5-AABD-683F6FC95CF2}"/>
              </a:ext>
            </a:extLst>
          </p:cNvPr>
          <p:cNvSpPr>
            <a:spLocks xmlns:a="http://schemas.openxmlformats.org/drawingml/2006/main" noGrp="1"/>
          </p:cNvSpPr>
          <p:nvPr/>
        </p:nvSpPr>
        <p:spPr>
          <a:xfrm xmlns:a="http://schemas.openxmlformats.org/drawingml/2006/main">
            <a:off x="1188720" y="33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Keep transmission corrigible  —  teacher, learner, and tradition need explicit room for disagreement, failed conveyance, authority error, and renewed verification.</a:t>
            </a:r>
          </a:p>
        </p:txBody>
      </p:sp>
      <p:sp>
        <p:nvSpPr>
          <p:cNvPr id="58" name="Google Shape;58;p4">
            <a:extLst xmlns:a="http://schemas.openxmlformats.org/drawingml/2006/main">
              <a:ext uri="{FF2B5EF4-FFF2-40B4-BE49-F238E27FC236}">
                <a16:creationId xmlns:a16="http://schemas.microsoft.com/office/drawing/2014/main" id="{B3DE5DB3-DF75-4ED5-9CBD-3DB3530B2D22}"/>
              </a:ext>
            </a:extLst>
          </p:cNvPr>
          <p:cNvSpPr>
            <a:spLocks xmlns:a="http://schemas.openxmlformats.org/drawingml/2006/main" noGrp="1"/>
          </p:cNvSpPr>
          <p:nvPr/>
        </p:nvSpPr>
        <p:spPr>
          <a:xfrm xmlns:a="http://schemas.openxmlformats.org/drawingml/2006/main">
            <a:off x="1188720" y="4450000"/>
            <a:ext cx="740664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The method becomes stronger when mixed results are named plainly and no single success is allowed to substitute for the whole evidence chain.</a:t>
            </a:r>
          </a:p>
        </p:txBody>
      </p:sp>
    </p:spTree>
    <p:extLst>
      <p:ext uri="{BB962C8B-B14F-4D97-AF65-F5344CB8AC3E}">
        <p14:creationId xmlns:p14="http://schemas.microsoft.com/office/powerpoint/2010/main" val="1759423990"/>
      </p:ext>
    </p:extLst>
  </p:cSld>
</p:sld>
</file>

<file path=ppt/slides/slide22.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509" name="Google Shape;509;p21">
            <a:extLst xmlns:a="http://schemas.openxmlformats.org/drawingml/2006/main">
              <a:ext uri="{FF2B5EF4-FFF2-40B4-BE49-F238E27FC236}">
                <a16:creationId xmlns:a16="http://schemas.microsoft.com/office/drawing/2014/main" id="{4FB85A2A-099A-414A-9422-3B8828DC4E86}"/>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0" name="Google Shape;510;p21">
            <a:extLst xmlns:a="http://schemas.openxmlformats.org/drawingml/2006/main">
              <a:ext uri="{FF2B5EF4-FFF2-40B4-BE49-F238E27FC236}">
                <a16:creationId xmlns:a16="http://schemas.microsoft.com/office/drawing/2014/main" id="{6320C987-42BA-4D26-B8E9-5ECAC8AA5504}"/>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1" name="Google Shape;511;p21">
            <a:extLst xmlns:a="http://schemas.openxmlformats.org/drawingml/2006/main">
              <a:ext uri="{FF2B5EF4-FFF2-40B4-BE49-F238E27FC236}">
                <a16:creationId xmlns:a16="http://schemas.microsoft.com/office/drawing/2014/main" id="{00020F55-D28C-4073-97A4-F29AFE0B799F}"/>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2" name="Google Shape;512;p21">
            <a:extLst xmlns:a="http://schemas.openxmlformats.org/drawingml/2006/main">
              <a:ext uri="{FF2B5EF4-FFF2-40B4-BE49-F238E27FC236}">
                <a16:creationId xmlns:a16="http://schemas.microsoft.com/office/drawing/2014/main" id="{42DC5DE7-F94B-42C6-9FCD-8076C9EE8229}"/>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3" name="Google Shape;513;p21">
            <a:extLst xmlns:a="http://schemas.openxmlformats.org/drawingml/2006/main">
              <a:ext uri="{FF2B5EF4-FFF2-40B4-BE49-F238E27FC236}">
                <a16:creationId xmlns:a16="http://schemas.microsoft.com/office/drawing/2014/main" id="{3362136E-83B7-49E7-88EB-D7474C2A2CB2}"/>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4" name="Google Shape;514;p21">
            <a:extLst xmlns:a="http://schemas.openxmlformats.org/drawingml/2006/main">
              <a:ext uri="{FF2B5EF4-FFF2-40B4-BE49-F238E27FC236}">
                <a16:creationId xmlns:a16="http://schemas.microsoft.com/office/drawing/2014/main" id="{464F7684-5F04-41CB-8A74-7D300CC8B87E}"/>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5" name="Google Shape;515;p21">
            <a:extLst xmlns:a="http://schemas.openxmlformats.org/drawingml/2006/main">
              <a:ext uri="{FF2B5EF4-FFF2-40B4-BE49-F238E27FC236}">
                <a16:creationId xmlns:a16="http://schemas.microsoft.com/office/drawing/2014/main" id="{C35762A0-8E7E-4035-8F94-9548A7D7DF80}"/>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6" name="Google Shape;516;p21">
            <a:extLst xmlns:a="http://schemas.openxmlformats.org/drawingml/2006/main">
              <a:ext uri="{FF2B5EF4-FFF2-40B4-BE49-F238E27FC236}">
                <a16:creationId xmlns:a16="http://schemas.microsoft.com/office/drawing/2014/main" id="{CBCAF54B-4CF2-4CDD-880C-2FE9F861F4C7}"/>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7" name="Google Shape;517;p21">
            <a:extLst xmlns:a="http://schemas.openxmlformats.org/drawingml/2006/main">
              <a:ext uri="{FF2B5EF4-FFF2-40B4-BE49-F238E27FC236}">
                <a16:creationId xmlns:a16="http://schemas.microsoft.com/office/drawing/2014/main" id="{9DF86AA9-4BDE-4C84-81E6-0676825F904B}"/>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8" name="Google Shape;518;p21">
            <a:extLst xmlns:a="http://schemas.openxmlformats.org/drawingml/2006/main">
              <a:ext uri="{FF2B5EF4-FFF2-40B4-BE49-F238E27FC236}">
                <a16:creationId xmlns:a16="http://schemas.microsoft.com/office/drawing/2014/main" id="{C6E19649-B92B-43DC-BDA2-FFE380782AAB}"/>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THE CULMINATION  ·  KNOWLEDGE EVIDENCED ACROSS LIFE</a:t>
            </a:r>
          </a:p>
        </p:txBody>
      </p:sp>
      <p:sp>
        <p:nvSpPr>
          <p:cNvPr id="519" name="Google Shape;519;p21">
            <a:extLst xmlns:a="http://schemas.openxmlformats.org/drawingml/2006/main">
              <a:ext uri="{FF2B5EF4-FFF2-40B4-BE49-F238E27FC236}">
                <a16:creationId xmlns:a16="http://schemas.microsoft.com/office/drawing/2014/main" id="{D0BA75A5-EF97-441A-8D22-E7230E7466C6}"/>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An Awakened Human Tradition</a:t>
            </a:r>
          </a:p>
        </p:txBody>
      </p:sp>
      <p:sp>
        <p:nvSpPr>
          <p:cNvPr id="520" name="Google Shape;520;p21">
            <a:extLst xmlns:a="http://schemas.openxmlformats.org/drawingml/2006/main">
              <a:ext uri="{FF2B5EF4-FFF2-40B4-BE49-F238E27FC236}">
                <a16:creationId xmlns:a16="http://schemas.microsoft.com/office/drawing/2014/main" id="{5A4AFEEF-A375-4785-A084-77D9213BAE88}"/>
              </a:ext>
            </a:extLst>
          </p:cNvPr>
          <p:cNvSpPr>
            <a:spLocks xmlns:a="http://schemas.openxmlformats.org/drawingml/2006/main" noGrp="1"/>
          </p:cNvSpPr>
          <p:nvPr/>
        </p:nvSpPr>
        <p:spPr>
          <a:xfrm xmlns:a="http://schemas.openxmlformats.org/drawingml/2006/main">
            <a:off x="640080" y="3050000"/>
            <a:ext cx="48463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Knowledge reaches completion when realisation is stable across thought, relationship, work, evaluation, conveyance, and participation — and can be renewed in the next generation.</a:t>
            </a:r>
          </a:p>
        </p:txBody>
      </p:sp>
      <p:sp>
        <p:nvSpPr>
          <p:cNvPr id="600" name="Google Shape;600;p21">
            <a:extLst xmlns:a="http://schemas.openxmlformats.org/drawingml/2006/main">
              <a:ext uri="{FF2B5EF4-FFF2-40B4-BE49-F238E27FC236}">
                <a16:creationId xmlns:a16="http://schemas.microsoft.com/office/drawing/2014/main" id="{590CE55E-DD43-41C7-AA38-D8648415BCB0}"/>
              </a:ext>
            </a:extLst>
          </p:cNvPr>
          <p:cNvSpPr>
            <a:spLocks xmlns:a="http://schemas.openxmlformats.org/drawingml/2006/main" noGrp="1"/>
          </p:cNvSpPr>
          <p:nvPr/>
        </p:nvSpPr>
        <p:spPr>
          <a:xfrm xmlns:a="http://schemas.openxmlformats.org/drawingml/2006/main">
            <a:off x="64008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1" name="Google Shape;601;p21">
            <a:extLst xmlns:a="http://schemas.openxmlformats.org/drawingml/2006/main">
              <a:ext uri="{FF2B5EF4-FFF2-40B4-BE49-F238E27FC236}">
                <a16:creationId xmlns:a16="http://schemas.microsoft.com/office/drawing/2014/main" id="{6C56763D-B377-44F0-AAAE-98FAABE48327}"/>
              </a:ext>
            </a:extLst>
          </p:cNvPr>
          <p:cNvSpPr>
            <a:spLocks xmlns:a="http://schemas.openxmlformats.org/drawingml/2006/main" noGrp="1"/>
          </p:cNvSpPr>
          <p:nvPr/>
        </p:nvSpPr>
        <p:spPr>
          <a:xfrm xmlns:a="http://schemas.openxmlformats.org/drawingml/2006/main">
            <a:off x="72237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Resolution</a:t>
            </a:r>
          </a:p>
        </p:txBody>
      </p:sp>
      <p:sp>
        <p:nvSpPr>
          <p:cNvPr id="602" name="Google Shape;602;p21">
            <a:extLst xmlns:a="http://schemas.openxmlformats.org/drawingml/2006/main">
              <a:ext uri="{FF2B5EF4-FFF2-40B4-BE49-F238E27FC236}">
                <a16:creationId xmlns:a16="http://schemas.microsoft.com/office/drawing/2014/main" id="{BDEE3FAF-ADA0-446F-8BC9-EAB8772E0A94}"/>
              </a:ext>
            </a:extLst>
          </p:cNvPr>
          <p:cNvSpPr>
            <a:spLocks xmlns:a="http://schemas.openxmlformats.org/drawingml/2006/main" noGrp="1"/>
          </p:cNvSpPr>
          <p:nvPr/>
        </p:nvSpPr>
        <p:spPr>
          <a:xfrm xmlns:a="http://schemas.openxmlformats.org/drawingml/2006/main">
            <a:off x="72237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in every person</a:t>
            </a:r>
          </a:p>
        </p:txBody>
      </p:sp>
      <p:sp>
        <p:nvSpPr>
          <p:cNvPr id="603" name="Google Shape;603;p21">
            <a:extLst xmlns:a="http://schemas.openxmlformats.org/drawingml/2006/main">
              <a:ext uri="{FF2B5EF4-FFF2-40B4-BE49-F238E27FC236}">
                <a16:creationId xmlns:a16="http://schemas.microsoft.com/office/drawing/2014/main" id="{16E167EE-2B1F-45F5-915F-B9860B144388}"/>
              </a:ext>
            </a:extLst>
          </p:cNvPr>
          <p:cNvSpPr>
            <a:spLocks xmlns:a="http://schemas.openxmlformats.org/drawingml/2006/main" noGrp="1"/>
          </p:cNvSpPr>
          <p:nvPr/>
        </p:nvSpPr>
        <p:spPr>
          <a:xfrm xmlns:a="http://schemas.openxmlformats.org/drawingml/2006/main">
            <a:off x="184880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4" name="Google Shape;604;p21">
            <a:extLst xmlns:a="http://schemas.openxmlformats.org/drawingml/2006/main">
              <a:ext uri="{FF2B5EF4-FFF2-40B4-BE49-F238E27FC236}">
                <a16:creationId xmlns:a16="http://schemas.microsoft.com/office/drawing/2014/main" id="{333E855D-FE8F-4100-A0EB-55E495D61EA5}"/>
              </a:ext>
            </a:extLst>
          </p:cNvPr>
          <p:cNvSpPr>
            <a:spLocks xmlns:a="http://schemas.openxmlformats.org/drawingml/2006/main" noGrp="1"/>
          </p:cNvSpPr>
          <p:nvPr/>
        </p:nvSpPr>
        <p:spPr>
          <a:xfrm xmlns:a="http://schemas.openxmlformats.org/drawingml/2006/main">
            <a:off x="193109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Prosperity</a:t>
            </a:r>
          </a:p>
        </p:txBody>
      </p:sp>
      <p:sp>
        <p:nvSpPr>
          <p:cNvPr id="605" name="Google Shape;605;p21">
            <a:extLst xmlns:a="http://schemas.openxmlformats.org/drawingml/2006/main">
              <a:ext uri="{FF2B5EF4-FFF2-40B4-BE49-F238E27FC236}">
                <a16:creationId xmlns:a16="http://schemas.microsoft.com/office/drawing/2014/main" id="{1A7194A9-3F87-43D5-99B4-337E53E6EF00}"/>
              </a:ext>
            </a:extLst>
          </p:cNvPr>
          <p:cNvSpPr>
            <a:spLocks xmlns:a="http://schemas.openxmlformats.org/drawingml/2006/main" noGrp="1"/>
          </p:cNvSpPr>
          <p:nvPr/>
        </p:nvSpPr>
        <p:spPr>
          <a:xfrm xmlns:a="http://schemas.openxmlformats.org/drawingml/2006/main">
            <a:off x="193109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in every family</a:t>
            </a:r>
          </a:p>
        </p:txBody>
      </p:sp>
      <p:sp>
        <p:nvSpPr>
          <p:cNvPr id="606" name="Google Shape;606;p21">
            <a:extLst xmlns:a="http://schemas.openxmlformats.org/drawingml/2006/main">
              <a:ext uri="{FF2B5EF4-FFF2-40B4-BE49-F238E27FC236}">
                <a16:creationId xmlns:a16="http://schemas.microsoft.com/office/drawing/2014/main" id="{C3521EAA-AB17-463A-AD9E-49776FAF7844}"/>
              </a:ext>
            </a:extLst>
          </p:cNvPr>
          <p:cNvSpPr>
            <a:spLocks xmlns:a="http://schemas.openxmlformats.org/drawingml/2006/main" noGrp="1"/>
          </p:cNvSpPr>
          <p:nvPr/>
        </p:nvSpPr>
        <p:spPr>
          <a:xfrm xmlns:a="http://schemas.openxmlformats.org/drawingml/2006/main">
            <a:off x="305752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7" name="Google Shape;607;p21">
            <a:extLst xmlns:a="http://schemas.openxmlformats.org/drawingml/2006/main">
              <a:ext uri="{FF2B5EF4-FFF2-40B4-BE49-F238E27FC236}">
                <a16:creationId xmlns:a16="http://schemas.microsoft.com/office/drawing/2014/main" id="{3B6AC30A-51DD-4511-87D9-DC80BF7110D3}"/>
              </a:ext>
            </a:extLst>
          </p:cNvPr>
          <p:cNvSpPr>
            <a:spLocks xmlns:a="http://schemas.openxmlformats.org/drawingml/2006/main" noGrp="1"/>
          </p:cNvSpPr>
          <p:nvPr/>
        </p:nvSpPr>
        <p:spPr>
          <a:xfrm xmlns:a="http://schemas.openxmlformats.org/drawingml/2006/main">
            <a:off x="313981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Fearlessness</a:t>
            </a:r>
          </a:p>
        </p:txBody>
      </p:sp>
      <p:sp>
        <p:nvSpPr>
          <p:cNvPr id="608" name="Google Shape;608;p21">
            <a:extLst xmlns:a="http://schemas.openxmlformats.org/drawingml/2006/main">
              <a:ext uri="{FF2B5EF4-FFF2-40B4-BE49-F238E27FC236}">
                <a16:creationId xmlns:a16="http://schemas.microsoft.com/office/drawing/2014/main" id="{CE106080-6BC8-4C9D-9828-F961388FE158}"/>
              </a:ext>
            </a:extLst>
          </p:cNvPr>
          <p:cNvSpPr>
            <a:spLocks xmlns:a="http://schemas.openxmlformats.org/drawingml/2006/main" noGrp="1"/>
          </p:cNvSpPr>
          <p:nvPr/>
        </p:nvSpPr>
        <p:spPr>
          <a:xfrm xmlns:a="http://schemas.openxmlformats.org/drawingml/2006/main">
            <a:off x="313981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trust in society</a:t>
            </a:r>
          </a:p>
        </p:txBody>
      </p:sp>
      <p:sp>
        <p:nvSpPr>
          <p:cNvPr id="609" name="Google Shape;609;p21">
            <a:extLst xmlns:a="http://schemas.openxmlformats.org/drawingml/2006/main">
              <a:ext uri="{FF2B5EF4-FFF2-40B4-BE49-F238E27FC236}">
                <a16:creationId xmlns:a16="http://schemas.microsoft.com/office/drawing/2014/main" id="{EF3A2139-2F60-4BA2-8F63-0609C91B0504}"/>
              </a:ext>
            </a:extLst>
          </p:cNvPr>
          <p:cNvSpPr>
            <a:spLocks xmlns:a="http://schemas.openxmlformats.org/drawingml/2006/main" noGrp="1"/>
          </p:cNvSpPr>
          <p:nvPr/>
        </p:nvSpPr>
        <p:spPr>
          <a:xfrm xmlns:a="http://schemas.openxmlformats.org/drawingml/2006/main">
            <a:off x="426624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10" name="Google Shape;610;p21">
            <a:extLst xmlns:a="http://schemas.openxmlformats.org/drawingml/2006/main">
              <a:ext uri="{FF2B5EF4-FFF2-40B4-BE49-F238E27FC236}">
                <a16:creationId xmlns:a16="http://schemas.microsoft.com/office/drawing/2014/main" id="{18D1C599-E620-41F7-9278-C9C54E5373BB}"/>
              </a:ext>
            </a:extLst>
          </p:cNvPr>
          <p:cNvSpPr>
            <a:spLocks xmlns:a="http://schemas.openxmlformats.org/drawingml/2006/main" noGrp="1"/>
          </p:cNvSpPr>
          <p:nvPr/>
        </p:nvSpPr>
        <p:spPr>
          <a:xfrm xmlns:a="http://schemas.openxmlformats.org/drawingml/2006/main">
            <a:off x="434853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Coexistence</a:t>
            </a:r>
          </a:p>
        </p:txBody>
      </p:sp>
      <p:sp>
        <p:nvSpPr>
          <p:cNvPr id="611" name="Google Shape;611;p21">
            <a:extLst xmlns:a="http://schemas.openxmlformats.org/drawingml/2006/main">
              <a:ext uri="{FF2B5EF4-FFF2-40B4-BE49-F238E27FC236}">
                <a16:creationId xmlns:a16="http://schemas.microsoft.com/office/drawing/2014/main" id="{5B3F9C4C-34A5-4CA8-8A8B-B7AD787EACFD}"/>
              </a:ext>
            </a:extLst>
          </p:cNvPr>
          <p:cNvSpPr>
            <a:spLocks xmlns:a="http://schemas.openxmlformats.org/drawingml/2006/main" noGrp="1"/>
          </p:cNvSpPr>
          <p:nvPr/>
        </p:nvSpPr>
        <p:spPr>
          <a:xfrm xmlns:a="http://schemas.openxmlformats.org/drawingml/2006/main">
            <a:off x="434853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with all of nature</a:t>
            </a:r>
          </a:p>
        </p:txBody>
      </p:sp>
      <p:sp>
        <p:nvSpPr>
          <p:cNvPr id="522" name="Google Shape;522;p21">
            <a:extLst xmlns:a="http://schemas.openxmlformats.org/drawingml/2006/main">
              <a:ext uri="{FF2B5EF4-FFF2-40B4-BE49-F238E27FC236}">
                <a16:creationId xmlns:a16="http://schemas.microsoft.com/office/drawing/2014/main" id="{BCDF39BB-3829-4443-8D24-A01BD8E335CC}"/>
              </a:ext>
            </a:extLst>
          </p:cNvPr>
          <p:cNvSpPr>
            <a:spLocks xmlns:a="http://schemas.openxmlformats.org/drawingml/2006/main" noGrp="1"/>
          </p:cNvSpPr>
          <p:nvPr/>
        </p:nvSpPr>
        <p:spPr>
          <a:xfrm xmlns:a="http://schemas.openxmlformats.org/drawingml/2006/main">
            <a:off x="640080" y="4650000"/>
            <a:ext cx="475488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An awakened tradition carries understanding through education, justice, production, exchange, health, and relationship — not as inherited belief, but as knowledge each person can realise and evidence.</a:t>
            </a:r>
          </a:p>
        </p:txBody>
      </p:sp>
    </p:spTree>
    <p:extLst>
      <p:ext uri="{BB962C8B-B14F-4D97-AF65-F5344CB8AC3E}">
        <p14:creationId xmlns:p14="http://schemas.microsoft.com/office/powerpoint/2010/main" val="13003012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3B402E-185B-4C4D-A4E6-72A03529B78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F3D08866-7E78-40FF-A350-E3B8685BC5B5}"/>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49647318-3FE3-4554-B311-76A3824F44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60EB398F-2D64-4689-80C8-FFAD943A9DF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WHAT MADHYASTH DARSHAN ESTABLISHES</a:t>
            </a:r>
          </a:p>
        </p:txBody>
      </p:sp>
      <p:sp>
        <p:nvSpPr>
          <p:cNvPr id="39" name="Google Shape;39;p4">
            <a:extLst xmlns:a="http://schemas.openxmlformats.org/drawingml/2006/main">
              <a:ext uri="{FF2B5EF4-FFF2-40B4-BE49-F238E27FC236}">
                <a16:creationId xmlns:a16="http://schemas.microsoft.com/office/drawing/2014/main" id="{2C1BECA4-232C-44E0-ADD0-ED7D91B92711}"/>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Questions, Answered</a:t>
            </a:r>
          </a:p>
        </p:txBody>
      </p:sp>
      <p:sp>
        <p:nvSpPr>
          <p:cNvPr id="40" name="Google Shape;40;p4">
            <a:extLst xmlns:a="http://schemas.openxmlformats.org/drawingml/2006/main">
              <a:ext uri="{FF2B5EF4-FFF2-40B4-BE49-F238E27FC236}">
                <a16:creationId xmlns:a16="http://schemas.microsoft.com/office/drawing/2014/main" id="{4960A84B-3100-434B-B8D0-2A9D70A48B93}"/>
              </a:ext>
            </a:extLst>
          </p:cNvPr>
          <p:cNvSpPr>
            <a:spLocks xmlns:a="http://schemas.openxmlformats.org/drawingml/2006/main" noGrp="1"/>
          </p:cNvSpPr>
          <p:nvPr/>
        </p:nvSpPr>
        <p:spPr>
          <a:xfrm xmlns:a="http://schemas.openxmlformats.org/drawingml/2006/main">
            <a:off x="640080" y="122529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1" name="Google Shape;41;p4"/>
          <p:cNvPicPr>
            <a:picLocks xmlns:a="http://schemas.openxmlformats.org/drawingml/2006/main" noChangeAspect="1"/>
          </p:cNvPicPr>
          <p:nvPr/>
        </p:nvPicPr>
        <p:blipFill rotWithShape="1">
          <a:blip xmlns:r="http://schemas.openxmlformats.org/officeDocument/2006/relationships" xmlns:a="http://schemas.openxmlformats.org/drawingml/2006/main" r:embed="R2d1537f508f34172">
            <a:alphaModFix/>
          </a:blip>
          <a:srcRect xmlns:a="http://schemas.openxmlformats.org/drawingml/2006/main" l="0" t="0" r="0" b="0"/>
          <a:stretch xmlns:a="http://schemas.openxmlformats.org/drawingml/2006/main"/>
        </p:blipFill>
        <p:spPr>
          <a:xfrm xmlns:a="http://schemas.openxmlformats.org/drawingml/2006/main">
            <a:off x="735178" y="1320394"/>
            <a:ext cx="175565" cy="175565"/>
          </a:xfrm>
          <a:prstGeom xmlns:a="http://schemas.openxmlformats.org/drawingml/2006/main" prst="rect">
            <a:avLst/>
          </a:prstGeom>
          <a:ln xmlns:a="http://schemas.openxmlformats.org/drawingml/2006/main">
            <a:noFill/>
          </a:ln>
        </p:spPr>
      </p:pic>
      <p:sp>
        <p:nvSpPr>
          <p:cNvPr id="42" name="Google Shape;42;p4">
            <a:extLst xmlns:a="http://schemas.openxmlformats.org/drawingml/2006/main">
              <a:ext uri="{FF2B5EF4-FFF2-40B4-BE49-F238E27FC236}">
                <a16:creationId xmlns:a16="http://schemas.microsoft.com/office/drawing/2014/main" id="{C5183355-C64A-436B-9092-2356796F7CCA}"/>
              </a:ext>
            </a:extLst>
          </p:cNvPr>
          <p:cNvSpPr>
            <a:spLocks xmlns:a="http://schemas.openxmlformats.org/drawingml/2006/main" noGrp="1"/>
          </p:cNvSpPr>
          <p:nvPr/>
        </p:nvSpPr>
        <p:spPr>
          <a:xfrm xmlns:a="http://schemas.openxmlformats.org/drawingml/2006/main">
            <a:off x="1188720" y="118872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knowledge?  —  Realised understanding of coexistence, jeevan, and humane conduct, accepted and evidenced in life.</a:t>
            </a:r>
          </a:p>
        </p:txBody>
      </p:sp>
      <p:sp>
        <p:nvSpPr>
          <p:cNvPr id="43" name="Google Shape;43;p4">
            <a:extLst xmlns:a="http://schemas.openxmlformats.org/drawingml/2006/main">
              <a:ext uri="{FF2B5EF4-FFF2-40B4-BE49-F238E27FC236}">
                <a16:creationId xmlns:a16="http://schemas.microsoft.com/office/drawing/2014/main" id="{A1DDA8B7-E5B2-41B4-A0A6-6CA140FF2382}"/>
              </a:ext>
            </a:extLst>
          </p:cNvPr>
          <p:cNvSpPr>
            <a:spLocks xmlns:a="http://schemas.openxmlformats.org/drawingml/2006/main" noGrp="1"/>
          </p:cNvSpPr>
          <p:nvPr/>
        </p:nvSpPr>
        <p:spPr>
          <a:xfrm xmlns:a="http://schemas.openxmlformats.org/drawingml/2006/main">
            <a:off x="640080" y="1792224"/>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4" name="Google Shape;44;p4"/>
          <p:cNvPicPr>
            <a:picLocks xmlns:a="http://schemas.openxmlformats.org/drawingml/2006/main" noChangeAspect="1"/>
          </p:cNvPicPr>
          <p:nvPr/>
        </p:nvPicPr>
        <p:blipFill rotWithShape="1">
          <a:blip xmlns:r="http://schemas.openxmlformats.org/officeDocument/2006/relationships" xmlns:a="http://schemas.openxmlformats.org/drawingml/2006/main" r:embed="R2d1537f508f34172">
            <a:alphaModFix/>
          </a:blip>
          <a:srcRect xmlns:a="http://schemas.openxmlformats.org/drawingml/2006/main" l="0" t="0" r="0" b="0"/>
          <a:stretch xmlns:a="http://schemas.openxmlformats.org/drawingml/2006/main"/>
        </p:blipFill>
        <p:spPr>
          <a:xfrm xmlns:a="http://schemas.openxmlformats.org/drawingml/2006/main">
            <a:off x="735178" y="1887322"/>
            <a:ext cx="175565" cy="175565"/>
          </a:xfrm>
          <a:prstGeom xmlns:a="http://schemas.openxmlformats.org/drawingml/2006/main" prst="rect">
            <a:avLst/>
          </a:prstGeom>
          <a:ln xmlns:a="http://schemas.openxmlformats.org/drawingml/2006/main">
            <a:noFill/>
          </a:ln>
        </p:spPr>
      </p:pic>
      <p:sp>
        <p:nvSpPr>
          <p:cNvPr id="45" name="Google Shape;45;p4">
            <a:extLst xmlns:a="http://schemas.openxmlformats.org/drawingml/2006/main">
              <a:ext uri="{FF2B5EF4-FFF2-40B4-BE49-F238E27FC236}">
                <a16:creationId xmlns:a16="http://schemas.microsoft.com/office/drawing/2014/main" id="{B75C9CE6-CD3C-43FD-83E0-886C1478F0BA}"/>
              </a:ext>
            </a:extLst>
          </p:cNvPr>
          <p:cNvSpPr>
            <a:spLocks xmlns:a="http://schemas.openxmlformats.org/drawingml/2006/main" noGrp="1"/>
          </p:cNvSpPr>
          <p:nvPr/>
        </p:nvSpPr>
        <p:spPr>
          <a:xfrm xmlns:a="http://schemas.openxmlformats.org/drawingml/2006/main">
            <a:off x="1188720" y="175564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Who is the knower?  —  Jeevan, acting through the human joint form as seer, doer, enjoyer, evaluator, and communicator.</a:t>
            </a:r>
          </a:p>
        </p:txBody>
      </p:sp>
      <p:sp>
        <p:nvSpPr>
          <p:cNvPr id="46" name="Google Shape;46;p4">
            <a:extLst xmlns:a="http://schemas.openxmlformats.org/drawingml/2006/main">
              <a:ext uri="{FF2B5EF4-FFF2-40B4-BE49-F238E27FC236}">
                <a16:creationId xmlns:a16="http://schemas.microsoft.com/office/drawing/2014/main" id="{EDD1C9F9-79A8-4EDE-B88A-91BA496FCFD1}"/>
              </a:ext>
            </a:extLst>
          </p:cNvPr>
          <p:cNvSpPr>
            <a:spLocks xmlns:a="http://schemas.openxmlformats.org/drawingml/2006/main" noGrp="1"/>
          </p:cNvSpPr>
          <p:nvPr/>
        </p:nvSpPr>
        <p:spPr>
          <a:xfrm xmlns:a="http://schemas.openxmlformats.org/drawingml/2006/main">
            <a:off x="640080" y="2359152"/>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7" name="Google Shape;47;p4"/>
          <p:cNvPicPr>
            <a:picLocks xmlns:a="http://schemas.openxmlformats.org/drawingml/2006/main" noChangeAspect="1"/>
          </p:cNvPicPr>
          <p:nvPr/>
        </p:nvPicPr>
        <p:blipFill rotWithShape="1">
          <a:blip xmlns:r="http://schemas.openxmlformats.org/officeDocument/2006/relationships" xmlns:a="http://schemas.openxmlformats.org/drawingml/2006/main" r:embed="R2d1537f508f34172">
            <a:alphaModFix/>
          </a:blip>
          <a:srcRect xmlns:a="http://schemas.openxmlformats.org/drawingml/2006/main" l="0" t="0" r="0" b="0"/>
          <a:stretch xmlns:a="http://schemas.openxmlformats.org/drawingml/2006/main"/>
        </p:blipFill>
        <p:spPr>
          <a:xfrm xmlns:a="http://schemas.openxmlformats.org/drawingml/2006/main">
            <a:off x="735178" y="2454250"/>
            <a:ext cx="175565" cy="175565"/>
          </a:xfrm>
          <a:prstGeom xmlns:a="http://schemas.openxmlformats.org/drawingml/2006/main" prst="rect">
            <a:avLst/>
          </a:prstGeom>
          <a:ln xmlns:a="http://schemas.openxmlformats.org/drawingml/2006/main">
            <a:noFill/>
          </a:ln>
        </p:spPr>
      </p:pic>
      <p:sp>
        <p:nvSpPr>
          <p:cNvPr id="48" name="Google Shape;48;p4">
            <a:extLst xmlns:a="http://schemas.openxmlformats.org/drawingml/2006/main">
              <a:ext uri="{FF2B5EF4-FFF2-40B4-BE49-F238E27FC236}">
                <a16:creationId xmlns:a16="http://schemas.microsoft.com/office/drawing/2014/main" id="{96389C9D-9FE0-4778-A3DB-FE60F90117C6}"/>
              </a:ext>
            </a:extLst>
          </p:cNvPr>
          <p:cNvSpPr>
            <a:spLocks xmlns:a="http://schemas.openxmlformats.org/drawingml/2006/main" noGrp="1"/>
          </p:cNvSpPr>
          <p:nvPr/>
        </p:nvSpPr>
        <p:spPr>
          <a:xfrm xmlns:a="http://schemas.openxmlformats.org/drawingml/2006/main">
            <a:off x="1188720" y="2322576"/>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known?  —  Coexistence in its full scope: units, orders, relationships, values, self, and humane participation.</a:t>
            </a:r>
          </a:p>
        </p:txBody>
      </p:sp>
      <p:sp>
        <p:nvSpPr>
          <p:cNvPr id="49" name="Google Shape;49;p4">
            <a:extLst xmlns:a="http://schemas.openxmlformats.org/drawingml/2006/main">
              <a:ext uri="{FF2B5EF4-FFF2-40B4-BE49-F238E27FC236}">
                <a16:creationId xmlns:a16="http://schemas.microsoft.com/office/drawing/2014/main" id="{8E5D7A1C-B4D5-4C25-AEC3-0809D732B6EE}"/>
              </a:ext>
            </a:extLst>
          </p:cNvPr>
          <p:cNvSpPr>
            <a:spLocks xmlns:a="http://schemas.openxmlformats.org/drawingml/2006/main" noGrp="1"/>
          </p:cNvSpPr>
          <p:nvPr/>
        </p:nvSpPr>
        <p:spPr>
          <a:xfrm xmlns:a="http://schemas.openxmlformats.org/drawingml/2006/main">
            <a:off x="640080" y="292608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0" name="Google Shape;50;p4"/>
          <p:cNvPicPr>
            <a:picLocks xmlns:a="http://schemas.openxmlformats.org/drawingml/2006/main" noChangeAspect="1"/>
          </p:cNvPicPr>
          <p:nvPr/>
        </p:nvPicPr>
        <p:blipFill rotWithShape="1">
          <a:blip xmlns:r="http://schemas.openxmlformats.org/officeDocument/2006/relationships" xmlns:a="http://schemas.openxmlformats.org/drawingml/2006/main" r:embed="R2d1537f508f34172">
            <a:alphaModFix/>
          </a:blip>
          <a:srcRect xmlns:a="http://schemas.openxmlformats.org/drawingml/2006/main" l="0" t="0" r="0" b="0"/>
          <a:stretch xmlns:a="http://schemas.openxmlformats.org/drawingml/2006/main"/>
        </p:blipFill>
        <p:spPr>
          <a:xfrm xmlns:a="http://schemas.openxmlformats.org/drawingml/2006/main">
            <a:off x="735178" y="3021178"/>
            <a:ext cx="175565" cy="175565"/>
          </a:xfrm>
          <a:prstGeom xmlns:a="http://schemas.openxmlformats.org/drawingml/2006/main" prst="rect">
            <a:avLst/>
          </a:prstGeom>
          <a:ln xmlns:a="http://schemas.openxmlformats.org/drawingml/2006/main">
            <a:noFill/>
          </a:ln>
        </p:spPr>
      </p:pic>
      <p:sp>
        <p:nvSpPr>
          <p:cNvPr id="51" name="Google Shape;51;p4">
            <a:extLst xmlns:a="http://schemas.openxmlformats.org/drawingml/2006/main">
              <a:ext uri="{FF2B5EF4-FFF2-40B4-BE49-F238E27FC236}">
                <a16:creationId xmlns:a16="http://schemas.microsoft.com/office/drawing/2014/main" id="{B1591BAD-E6A7-457C-A811-88AF0B5BA2D9}"/>
              </a:ext>
            </a:extLst>
          </p:cNvPr>
          <p:cNvSpPr>
            <a:spLocks xmlns:a="http://schemas.openxmlformats.org/drawingml/2006/main" noGrp="1"/>
          </p:cNvSpPr>
          <p:nvPr/>
        </p:nvSpPr>
        <p:spPr>
          <a:xfrm xmlns:a="http://schemas.openxmlformats.org/drawingml/2006/main">
            <a:off x="1188720" y="28895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does knowing occur?  —  Through jeevan's ten activities, disciplined as reflection and projection across study and action.</a:t>
            </a:r>
          </a:p>
        </p:txBody>
      </p:sp>
      <p:sp>
        <p:nvSpPr>
          <p:cNvPr id="52" name="Google Shape;52;p4">
            <a:extLst xmlns:a="http://schemas.openxmlformats.org/drawingml/2006/main">
              <a:ext uri="{FF2B5EF4-FFF2-40B4-BE49-F238E27FC236}">
                <a16:creationId xmlns:a16="http://schemas.microsoft.com/office/drawing/2014/main" id="{FAC8FF81-4EF9-4BA4-B8E6-1B994F766A13}"/>
              </a:ext>
            </a:extLst>
          </p:cNvPr>
          <p:cNvSpPr>
            <a:spLocks xmlns:a="http://schemas.openxmlformats.org/drawingml/2006/main" noGrp="1"/>
          </p:cNvSpPr>
          <p:nvPr/>
        </p:nvSpPr>
        <p:spPr>
          <a:xfrm xmlns:a="http://schemas.openxmlformats.org/drawingml/2006/main">
            <a:off x="640080" y="3493008"/>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3" name="Google Shape;53;p4"/>
          <p:cNvPicPr>
            <a:picLocks xmlns:a="http://schemas.openxmlformats.org/drawingml/2006/main" noChangeAspect="1"/>
          </p:cNvPicPr>
          <p:nvPr/>
        </p:nvPicPr>
        <p:blipFill rotWithShape="1">
          <a:blip xmlns:r="http://schemas.openxmlformats.org/officeDocument/2006/relationships" xmlns:a="http://schemas.openxmlformats.org/drawingml/2006/main" r:embed="R2d1537f508f34172">
            <a:alphaModFix/>
          </a:blip>
          <a:srcRect xmlns:a="http://schemas.openxmlformats.org/drawingml/2006/main" l="0" t="0" r="0" b="0"/>
          <a:stretch xmlns:a="http://schemas.openxmlformats.org/drawingml/2006/main"/>
        </p:blipFill>
        <p:spPr>
          <a:xfrm xmlns:a="http://schemas.openxmlformats.org/drawingml/2006/main">
            <a:off x="735178" y="3588106"/>
            <a:ext cx="175565" cy="175565"/>
          </a:xfrm>
          <a:prstGeom xmlns:a="http://schemas.openxmlformats.org/drawingml/2006/main" prst="rect">
            <a:avLst/>
          </a:prstGeom>
          <a:ln xmlns:a="http://schemas.openxmlformats.org/drawingml/2006/main">
            <a:noFill/>
          </a:ln>
        </p:spPr>
      </p:pic>
      <p:sp>
        <p:nvSpPr>
          <p:cNvPr id="54" name="Google Shape;54;p4">
            <a:extLst xmlns:a="http://schemas.openxmlformats.org/drawingml/2006/main">
              <a:ext uri="{FF2B5EF4-FFF2-40B4-BE49-F238E27FC236}">
                <a16:creationId xmlns:a16="http://schemas.microsoft.com/office/drawing/2014/main" id="{88A8438F-C330-4A48-9673-52C9074A68EC}"/>
              </a:ext>
            </a:extLst>
          </p:cNvPr>
          <p:cNvSpPr>
            <a:spLocks xmlns:a="http://schemas.openxmlformats.org/drawingml/2006/main" noGrp="1"/>
          </p:cNvSpPr>
          <p:nvPr/>
        </p:nvSpPr>
        <p:spPr>
          <a:xfrm xmlns:a="http://schemas.openxmlformats.org/drawingml/2006/main">
            <a:off x="1188720" y="3456432"/>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is error corrected?  —  By renewed attention, action, result, evaluation, and correction across the whole sequence.</a:t>
            </a:r>
          </a:p>
        </p:txBody>
      </p:sp>
      <p:sp>
        <p:nvSpPr>
          <p:cNvPr id="55" name="Google Shape;55;p4">
            <a:extLst xmlns:a="http://schemas.openxmlformats.org/drawingml/2006/main">
              <a:ext uri="{FF2B5EF4-FFF2-40B4-BE49-F238E27FC236}">
                <a16:creationId xmlns:a16="http://schemas.microsoft.com/office/drawing/2014/main" id="{8CF393A7-5751-428A-9C15-0EBA54A20BF2}"/>
              </a:ext>
            </a:extLst>
          </p:cNvPr>
          <p:cNvSpPr>
            <a:spLocks xmlns:a="http://schemas.openxmlformats.org/drawingml/2006/main" noGrp="1"/>
          </p:cNvSpPr>
          <p:nvPr/>
        </p:nvSpPr>
        <p:spPr>
          <a:xfrm xmlns:a="http://schemas.openxmlformats.org/drawingml/2006/main">
            <a:off x="640080" y="405993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6" name="Google Shape;56;p4"/>
          <p:cNvPicPr>
            <a:picLocks xmlns:a="http://schemas.openxmlformats.org/drawingml/2006/main" noChangeAspect="1"/>
          </p:cNvPicPr>
          <p:nvPr/>
        </p:nvPicPr>
        <p:blipFill rotWithShape="1">
          <a:blip xmlns:r="http://schemas.openxmlformats.org/officeDocument/2006/relationships" xmlns:a="http://schemas.openxmlformats.org/drawingml/2006/main" r:embed="R2d1537f508f34172">
            <a:alphaModFix/>
          </a:blip>
          <a:srcRect xmlns:a="http://schemas.openxmlformats.org/drawingml/2006/main" l="0" t="0" r="0" b="0"/>
          <a:stretch xmlns:a="http://schemas.openxmlformats.org/drawingml/2006/main"/>
        </p:blipFill>
        <p:spPr>
          <a:xfrm xmlns:a="http://schemas.openxmlformats.org/drawingml/2006/main">
            <a:off x="735178" y="4155034"/>
            <a:ext cx="175565" cy="175565"/>
          </a:xfrm>
          <a:prstGeom xmlns:a="http://schemas.openxmlformats.org/drawingml/2006/main" prst="rect">
            <a:avLst/>
          </a:prstGeom>
          <a:ln xmlns:a="http://schemas.openxmlformats.org/drawingml/2006/main">
            <a:noFill/>
          </a:ln>
        </p:spPr>
      </p:pic>
      <p:sp>
        <p:nvSpPr>
          <p:cNvPr id="57" name="Google Shape;57;p4">
            <a:extLst xmlns:a="http://schemas.openxmlformats.org/drawingml/2006/main">
              <a:ext uri="{FF2B5EF4-FFF2-40B4-BE49-F238E27FC236}">
                <a16:creationId xmlns:a16="http://schemas.microsoft.com/office/drawing/2014/main" id="{69FE7F80-11B5-4B7E-A5BC-C73663BD6F41}"/>
              </a:ext>
            </a:extLst>
          </p:cNvPr>
          <p:cNvSpPr>
            <a:spLocks xmlns:a="http://schemas.openxmlformats.org/drawingml/2006/main" noGrp="1"/>
          </p:cNvSpPr>
          <p:nvPr/>
        </p:nvSpPr>
        <p:spPr>
          <a:xfrm xmlns:a="http://schemas.openxmlformats.org/drawingml/2006/main">
            <a:off x="1188720" y="402336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counts as evidence?  —  Coherence of realisation, behaviour, experiment, conveyance, mutual satisfaction, and humane tradition.</a:t>
            </a:r>
          </a:p>
        </p:txBody>
      </p:sp>
      <p:sp>
        <p:nvSpPr>
          <p:cNvPr id="58" name="Google Shape;58;p4">
            <a:extLst xmlns:a="http://schemas.openxmlformats.org/drawingml/2006/main">
              <a:ext uri="{FF2B5EF4-FFF2-40B4-BE49-F238E27FC236}">
                <a16:creationId xmlns:a16="http://schemas.microsoft.com/office/drawing/2014/main" id="{79C1811C-EDE3-41ED-8DB3-4090B52ECFBC}"/>
              </a:ext>
            </a:extLst>
          </p:cNvPr>
          <p:cNvSpPr>
            <a:spLocks xmlns:a="http://schemas.openxmlformats.org/drawingml/2006/main" noGrp="1"/>
          </p:cNvSpPr>
          <p:nvPr/>
        </p:nvSpPr>
        <p:spPr>
          <a:xfrm xmlns:a="http://schemas.openxmlformats.org/drawingml/2006/main">
            <a:off x="1188720" y="4645152"/>
            <a:ext cx="7406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Knowledge is complete when knower, known, and evidence no longer contradict one another — and the understanding remains communicable.</a:t>
            </a:r>
          </a:p>
        </p:txBody>
      </p:sp>
    </p:spTree>
    <p:extLst>
      <p:ext uri="{BB962C8B-B14F-4D97-AF65-F5344CB8AC3E}">
        <p14:creationId xmlns:p14="http://schemas.microsoft.com/office/powerpoint/2010/main" val="1531490578"/>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2026-07-14T00:51:38.8850000Z</dcterms:created>
  <dcterms:modified xsi:type="dcterms:W3CDTF">2026-07-14T00:51:38.8850000Z</dcterms:modified>
</coreProperties>
</file>