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session connects the activity of units with the architecture of jeevan and the purpose of human living. We begin with coexistence and the four aspects of an active unit. We then examine constitutional completeness, the human body association, and the five integrated faculties. Understanding makes correct evaluation and just fulfilment possible. Its highest fulfilment is paramanand, the continuity of realisation in coexistence. Humane conduct gives that understanding a public expression, and education with shared arrangements sustains an awakened tradition. The full study develops the argument and its formal account in the appendices.</a:t>
            </a:r>
          </a:p>
          <a:p>
            <a:r>
              <a:t/>
            </a:r>
          </a:p>
          <a:p>
            <a:r>
              <a:t>[Sources]</a:t>
            </a:r>
          </a:p>
          <a:p>
            <a:r>
              <a:t>- Study §§1–11 and Conclusion</a:t>
            </a:r>
          </a:p>
          <a:p>
            <a:r>
              <a:t>- MVD pp.78,94,174,315,327; JV printed pp.60–61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argument connects six questions. Saturation grounds the activity of units. Mutual participation sustains material wholes. Constitutional completeness establishes jeevan. Compatible bodies provide the medium for animal and human manifestation. Human imagination and freedom open the possibility of comprehensive understanding and chosen conduct. Evaluation examines how that conduct fulfils its relationships and purpose. Education, humane constitution and continuing practical arrangements then make awakened participation available to further persons and generations.</a:t>
            </a:r>
          </a:p>
          <a:p>
            <a:r>
              <a:t/>
            </a:r>
          </a:p>
          <a:p>
            <a:r>
              <a:t>[Sources]</a:t>
            </a:r>
          </a:p>
          <a:p>
            <a:r>
              <a:t>- Study §§1–11</a:t>
            </a:r>
          </a:p>
          <a:p>
            <a:r>
              <a:t>- SB pp.19–20,60–62,234–240; MVD pp.19,78,315,321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Coexistence is the presence of pervasive satta and bounded, active units. Saturation means that each unit is energised in that ground and participates through its own strength and power. A unit persists as the bearer of activity. Effort, motion and result describe its inseparable activity, while form, property, essential nature and dharma describe what the unit is and how it participates. This relation prepares the account of atoms, structural wholes, jeevan and humane conduct.</a:t>
            </a:r>
          </a:p>
          <a:p>
            <a:r>
              <a:t/>
            </a:r>
          </a:p>
          <a:p>
            <a:r>
              <a:t>[Sources]</a:t>
            </a:r>
          </a:p>
          <a:p>
            <a:r>
              <a:t>- Study §§1–3</a:t>
            </a:r>
          </a:p>
          <a:p>
            <a:r>
              <a:t>- MVD pp.34–48; SB pp.58–62,256–257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Existence is coexistence. Satta is unbounded, uniform and actionless. Countless bounded units remain present in it, each inseparably in state and motion. Saturation expresses how every unit is soaked, submerged and surrounded in this pervasive ground. The unit is therefore energised and forceful through its own activity. Satta remains complete throughout the development and awakening of units. As Knowledge, that same ground is available to realisation through jeevan.</a:t>
            </a:r>
          </a:p>
          <a:p>
            <a:r>
              <a:t/>
            </a:r>
          </a:p>
          <a:p>
            <a:r>
              <a:t>[Sources]</a:t>
            </a:r>
          </a:p>
          <a:p>
            <a:r>
              <a:t>- Study §§1–1.1 and7.1</a:t>
            </a:r>
          </a:p>
          <a:p>
            <a:r>
              <a:t>- MVD pp.26,34–46,97–100; SB pp.48–57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atom, molecule, cell or body persists through its activity. The active bearer is guni, and its relative power in mutuality is guna. Effort is strength in state, motion is power in operation, and result is the form realised through that activity. These aspects occur together. The unit remains available for further participation, and each realised result contributes to the conditions it faces. This connects persistent units with changing activities and consequences.</a:t>
            </a:r>
          </a:p>
          <a:p>
            <a:r>
              <a:t/>
            </a:r>
          </a:p>
          <a:p>
            <a:r>
              <a:t>[Sources]</a:t>
            </a:r>
          </a:p>
          <a:p>
            <a:r>
              <a:t>- Study §§1.2–1.4,2</a:t>
            </a:r>
          </a:p>
          <a:p>
            <a:r>
              <a:t>- SB pp.58–62,256–257; KD §3.8 p.84, §3.11 pp.102–109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 identifies the unit and its configuration. Property concerns the relative power effective in a particular mutuality, including generative, degenerative and mediative effects. Essential nature concerns characteristic conduct and its functional significance. Dharma is innateness and the criterion of fulfilment. These aspects belong to the active unit together. The effort–motion–result account connects dharma and essential nature in state, essential nature and property in motion, and form with result. A genuine whole and its constituents each require their appropriate description.</a:t>
            </a:r>
          </a:p>
          <a:p>
            <a:r>
              <a:t/>
            </a:r>
          </a:p>
          <a:p>
            <a:r>
              <a:t>[Sources]</a:t>
            </a:r>
          </a:p>
          <a:p>
            <a:r>
              <a:t>- Study §§1.3,3.1–3.4,5.4</a:t>
            </a:r>
          </a:p>
          <a:p>
            <a:r>
              <a:t>- MVD pp.47,50–51; SB pp.60–62,256–257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Units participate in actual mutuality. Natural recognition and fulfilment have the definite form appropriate to the unit and its order. Complementarity becomes evident through offering, acceptance and fulfilled participation. Mediative activity regulates generative and degenerative tendencies and sustains balance. Lawfulness, regulation and balance therefore have a natural manifestation. Humans can understand these relationships, evaluate their own contribution and establish conscious participation within them.</a:t>
            </a:r>
          </a:p>
          <a:p>
            <a:r>
              <a:t/>
            </a:r>
          </a:p>
          <a:p>
            <a:r>
              <a:t>[Sources]</a:t>
            </a:r>
          </a:p>
          <a:p>
            <a:r>
              <a:t>- Study §§1.5,2.3,9.2</a:t>
            </a:r>
          </a:p>
          <a:p>
            <a:r>
              <a:t>- JV printed pp.69–70; SB pp.143–144,249–251; MVD pp.48,154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 composition and atomic development have related but distinct outcomes. Through composition, constituent units form wholes with bounded conduct, including molecules, cells and bodies. Atomic development reaches constitutional completeness in jeevan. The first process supplies bodily configurations, and the second establishes the enduring sentient unit. Their association makes animal and human manifestation possible. The four orders locate the characteristic activity and fulfilment present in each case.</a:t>
            </a:r>
          </a:p>
          <a:p>
            <a:r>
              <a:t/>
            </a:r>
          </a:p>
          <a:p>
            <a:r>
              <a:t>[Sources]</a:t>
            </a:r>
          </a:p>
          <a:p>
            <a:r>
              <a:t>- Study §§3.5–6</a:t>
            </a:r>
          </a:p>
          <a:p>
            <a:r>
              <a:t>- MVD pp.8,13,42,91; SB pp.60–62,75–76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 units bear existence and express lawfulness through constitution and results. Pranic units add growth, with regulation through seed-conformant activity. Animal manifestation joins a pranic body and jeevan, expressing species-conformant recognition and the hope to live. Human manifestation joins a developed bodily medium and jeevan, with the aspiration for happiness. Its conduct develops through understanding and sanskar. Humans already belong to knowledge order while that understanding is developing. Awakening establishes conscious participation in lawfulness, regulation and balance through justice, dharma and truth.</a:t>
            </a:r>
          </a:p>
          <a:p>
            <a:r>
              <a:t/>
            </a:r>
          </a:p>
          <a:p>
            <a:r>
              <a:t>[Sources]</a:t>
            </a:r>
          </a:p>
          <a:p>
            <a:r>
              <a:t>- Study §§3.4–3.5,9.2–9.4</a:t>
            </a:r>
          </a:p>
          <a:p>
            <a:r>
              <a:t>- MVD pp.26–27,47,50,115; SB pp.179,231–236; JV printed p.47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mixture and a compound have different forms of organisation. In the mixture, the components retain their separate public conduct. In the compound, their participation sustains a bounded whole with its own characteristic conduct. The whole and its constituents remain available for description through form, property, essential nature and dharma. Disintegration changes the organisation through which they held together. Their continuing activity makes the result available for further composition and participation.</a:t>
            </a:r>
          </a:p>
          <a:p>
            <a:r>
              <a:t/>
            </a:r>
          </a:p>
          <a:p>
            <a:r>
              <a:t>[Sources]</a:t>
            </a:r>
          </a:p>
          <a:p>
            <a:r>
              <a:t>- Study §§4.2,5.4,9.3</a:t>
            </a:r>
          </a:p>
          <a:p>
            <a:r>
              <a:t>- MVD p.42; SB p.260; KD §§3.1–3.2 pp.56–60, §3.11 pp.103–104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Composition forms material wholes and provides the conditions for pranic bodies. Within this development, nourishment and bodily growth can continue through the activity of an existing body, while reproduction and new structural formation establish further wholes. Atomic development reaches the constitutional completeness of jeevan. A compatible animal or human body provides its medium of embodied participation. Constitutional completeness, bodily formation and human awakening therefore have their own meanings within the connected account of development.</a:t>
            </a:r>
          </a:p>
          <a:p>
            <a:r>
              <a:t/>
            </a:r>
          </a:p>
          <a:p>
            <a:r>
              <a:t>[Sources]</a:t>
            </a:r>
          </a:p>
          <a:p>
            <a:r>
              <a:t>- Study §§4.3–4.5,6</a:t>
            </a:r>
          </a:p>
          <a:p>
            <a:r>
              <a:t>- SB pp.60–62,75–76; MVD pp.8,13,91; KD §§3.2–3.3 pp.58–62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Constitutional completeness establishes the enduring sentient unit. The complete atomic constitution becomes free of the molecular and weight bondages associated with structural participation. Its strength and power are inexhaustible, and hope-bondage expresses its sentient orientation. Through an animal body, jeevan participates with the hope to live. Through the human body, its aspiration includes happiness and the opportunity for comprehensive understanding. The constitutional achievement persists through the subsequent development of its understanding and conduct.</a:t>
            </a:r>
          </a:p>
          <a:p>
            <a:r>
              <a:t/>
            </a:r>
          </a:p>
          <a:p>
            <a:r>
              <a:t>[Sources]</a:t>
            </a:r>
          </a:p>
          <a:p>
            <a:r>
              <a:t>- Study §§6–6.1</a:t>
            </a:r>
          </a:p>
          <a:p>
            <a:r>
              <a:t>- MVD pp.77,91; SB pp.55,61,92; KD §3.3 pp.60–62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and human manifestation each join a pranic body with a constitutionally complete jeevan. The same five-faculty constitution belongs to jeevan in either association. Animal participation has species-conformant recognition, tasting and selection with the hope to live. The developed human bodily medium makes imagination, freedom of action and comprehensive understanding available. Study can develop cognisance until it governs sensitivity. The body and jeevan continue their association while human understanding and conduct are refined.</a:t>
            </a:r>
          </a:p>
          <a:p>
            <a:r>
              <a:t/>
            </a:r>
          </a:p>
          <a:p>
            <a:r>
              <a:t>[Sources]</a:t>
            </a:r>
          </a:p>
          <a:p>
            <a:r>
              <a:t>- Study §§6.2–6.4,7.2,9.4</a:t>
            </a:r>
          </a:p>
          <a:p>
            <a:r>
              <a:t>- SB pp.55,63–64; MVD p.78; JV printed pp.47–49,67–68,72–74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structural whole, a body–jeevan association and a maintained human arrangement have different forms of togetherness. In a molecule or body, constituents sustain the whole through their definite participation. In an animal or human being, body and jeevan associate while each retains its constitution. A family, school or shared garden continues through recognised responsibilities, appropriate means and fulfilled work. Correcting a mistaken recognition restores attention to the actual relationship and what it requires.</a:t>
            </a:r>
          </a:p>
          <a:p>
            <a:r>
              <a:t/>
            </a:r>
          </a:p>
          <a:p>
            <a:r>
              <a:t>[Sources]</a:t>
            </a:r>
          </a:p>
          <a:p>
            <a:r>
              <a:t>- Study §§3.6,9.3,11.1</a:t>
            </a:r>
          </a:p>
          <a:p>
            <a:r>
              <a:t>- MVD p.42; JV printed pp.97–98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body association carries the complete architecture of jeevan. Five faculties express ten generic activities, with a detailed vocabulary of understanding and conduct. Human imagination and freedom can organise activity through sensory preference or through a comprehensive understanding of relationship and purpose. Study, direct recognition, enlightenment and realisation develop the content of that understanding. Partial humane participation provides something real to examine and deepen as conduct becomes more dependable.</a:t>
            </a:r>
          </a:p>
          <a:p>
            <a:r>
              <a:t/>
            </a:r>
          </a:p>
          <a:p>
            <a:r>
              <a:t>[Sources]</a:t>
            </a:r>
          </a:p>
          <a:p>
            <a:r>
              <a:t>- Study §§7–8</a:t>
            </a:r>
          </a:p>
          <a:p>
            <a:r>
              <a:t>- MVD pp.66–67,78,126; JV printed pp.72–74; MSM printed p.49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Jeevan has a centre and four orbits. Atma occupies the centre, buddhi the first orbit, chitta the second, vritti the third and mun the fourth. Satta pervades the whole and every constituent. Each faculty has one generic pair: realisation and evidence, enlightenment and resolve, contemplation and imaging, comparison and analysis, tasting and selection. The detailed vocabulary comprises one, two, eight, eighteen and thirty-two pairs at these respective faculties, giving sixty-one pairs and a hundred and twenty-two named activities. Their specific definitions include actual participation. The full inventory belongs to one integrated jeevan, whose realised understanding becomes effective throughout conduct.</a:t>
            </a:r>
          </a:p>
          <a:p>
            <a:r>
              <a:t/>
            </a:r>
          </a:p>
          <a:p>
            <a:r>
              <a:t>[Sources]</a:t>
            </a:r>
          </a:p>
          <a:p>
            <a:r>
              <a:t>- Study §7.3 and the concentric architecture companion</a:t>
            </a:r>
          </a:p>
          <a:p>
            <a:r>
              <a:t>- MVD pp.78,323,328–348; AVD pp.91–94; KD §3.6 pp.71–72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delusion, the body is taken as the self and the pleasant, bodily benefit and gain prevail in evaluation. Four and a half generic activities are effective in this orientation: tasting, selection, analysis, imaging and the sensory half of comparison. All ten activities and all five faculties remain present. A parent can still recognise a need and fulfil care or generosity. Learning examines that real participation and extends its dependable understanding. Tasting can be preference-based, value-based or goal-based. Evaluation can overvalue, undervalue or mistake what is present. Freedom from these distortions develops through correct recognition and humane participation.</a:t>
            </a:r>
          </a:p>
          <a:p>
            <a:r>
              <a:t/>
            </a:r>
          </a:p>
          <a:p>
            <a:r>
              <a:t>[Sources]</a:t>
            </a:r>
          </a:p>
          <a:p>
            <a:r>
              <a:t>- Study §§7.5–7.6</a:t>
            </a:r>
          </a:p>
          <a:p>
            <a:r>
              <a:t>- JV printed pp.72–74; MSM printed p.49; PS printed pp.40–41; MVD pp.152–153,306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Study begins with meaning accepted for consideration in mun. Vritti deliberates, chitta directly recognises, buddhi becomes enlightened, and atma realises truth as coexistence. Realised understanding then informs resolve, imaging, analysis and selection in bodily conduct. These directions describe functional relations in the continuously active whole. Practice uses the body and material things alongside hope, thought, desire and resolve as means toward realised participation. A learner examines the meaning, contributes in a relationship, and evaluates the result as understanding develops.</a:t>
            </a:r>
          </a:p>
          <a:p>
            <a:r>
              <a:t/>
            </a:r>
          </a:p>
          <a:p>
            <a:r>
              <a:t>[Sources]</a:t>
            </a:r>
          </a:p>
          <a:p>
            <a:r>
              <a:t>- Study §§7.2–7.5,8.4</a:t>
            </a:r>
          </a:p>
          <a:p>
            <a:r>
              <a:t>- MVD pp.97–100,126,155–156,208,322–323; JV printed p.61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knowledge comprises coexistence, jeevan and humane conduct. Enlightenment in buddhi encompasses all three. Realisation in atma concerns truth as coexistence, and humane conduct evidences its meaning in living. Knowing, believing, recognising and fulfilling are assessed distinctly. A learner may explain a principle yet require help in recognising its application. Someone who recognises a responsibility may need additional means to fulfil it. The teacher offers meaningful content and an example, while the learner develops independent understanding through inquiry and participation.</a:t>
            </a:r>
          </a:p>
          <a:p>
            <a:r>
              <a:t/>
            </a:r>
          </a:p>
          <a:p>
            <a:r>
              <a:t>[Sources]</a:t>
            </a:r>
          </a:p>
          <a:p>
            <a:r>
              <a:t>- Study §§7.1,7.5,7.7</a:t>
            </a:r>
          </a:p>
          <a:p>
            <a:r>
              <a:t>- MVD pp.13,260,300; JV printed pp.69–70,165; KD §3.17 pp.145–148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Humane conduct joins values, character and ethics. The thirty-value canon has four jeevan values, six human values, nine established relationship values, nine expressed values and two object values. Happiness, peace, contentment and bliss principally concern realised fulfilment. Fortitude, courage, generosity, kindness, grace and compassion give humane direction to thought. Established values and their expressions belong principally to behaviour, while usefulness and aesthetic value concern work. These four dimensions involve the whole person. Generosity appears both as a human value and as care’s expression. Trust is common to relationships, and love is the complete relationship value. Character and ethics make these values effective through rightful participation and the right-use of body, mind and wealth. Genuine care can precede comprehensive awakening and become a basis for further understanding.</a:t>
            </a:r>
          </a:p>
          <a:p>
            <a:r>
              <a:t/>
            </a:r>
          </a:p>
          <a:p>
            <a:r>
              <a:t>[Sources]</a:t>
            </a:r>
          </a:p>
          <a:p>
            <a:r>
              <a:t>- Study §§7.8–7.9,10.3; Axiology §§1.1–1.8</a:t>
            </a:r>
          </a:p>
          <a:p>
            <a:r>
              <a:t>- PS printed pp.149,151,154; MAD reader pp.30,34; MVD pp.60–61,305–306; MSM printed p.49; KD pp.63,67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shared garden connects care, guidance and useful work. A caregiver can meet a learner’s need while fuller understanding is developing. A learner can copy a watering task before understanding how soil and weather change the need. Teaching should examine what was understood and what remains to be learned. A sound plan may also lack water, tools or bodily assistance, which calls for practical provision. An abundant harvest can coexist with soil damage or excluded participants. Evaluation therefore examines the actual responsibility, contribution and consequences, including delayed effects and each affected standpoint. The participants can correct the method, provide assistance and develop independent capability. A particular fulfilled act supplies evidence of that contribution. Wider continuity requires further evidence through changing responsibilities and successors.</a:t>
            </a:r>
          </a:p>
          <a:p>
            <a:r>
              <a:t/>
            </a:r>
          </a:p>
          <a:p>
            <a:r>
              <a:t>[Sources]</a:t>
            </a:r>
          </a:p>
          <a:p>
            <a:r>
              <a:t>- Study §§8.2–8.5,11.1–11.6</a:t>
            </a:r>
          </a:p>
          <a:p>
            <a:r>
              <a:t>- KD pp.1–3,63,65; MSM printed p.49; MVD pp.311,336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process now reaches human fulfilment and its social continuation. The sixfold account connects lawfulness, regulation and balance with justice, dharma and truth. The four jeevan values describe internal harmonies, and their fulfilment in living is cumulative through resolution, prosperity, fearlessness and coexistence. Param anand is the highest realised fulfilment and its continuity. Five social functions, humane constitution and wider coordination sustain the opportunities through which further people can understand and participate.</a:t>
            </a:r>
          </a:p>
          <a:p>
            <a:r>
              <a:t/>
            </a:r>
          </a:p>
          <a:p>
            <a:r>
              <a:t>[Sources]</a:t>
            </a:r>
          </a:p>
          <a:p>
            <a:r>
              <a:t>- Study §§9–11</a:t>
            </a:r>
          </a:p>
          <a:p>
            <a:r>
              <a:t>- MVD pp.174,315,327; KD printed p.112; JV printed pp.109–110,140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Coexistence is the standing ground of continuously active units. In each occurrence, actual mutuality and conformance condition participation. Recognition and fulfilment evidence complementarity, and mediative activity sustains balance. Human imagination and freedom make chosen purposes, inquiry and the correction of mistakes possible. Knowing and believing can guide recognition and fulfilment, while consequences become available for later evaluation. Awakening is the necessary fulfilment of this human possibility: understanding gives freedom a comprehensive humane direction. Education and maintained arrangements carry that fulfilment into an awakened tradition. The study’s open problems examine the relation between this developmental direction and particular historical paths.</a:t>
            </a:r>
          </a:p>
          <a:p>
            <a:r>
              <a:t/>
            </a:r>
          </a:p>
          <a:p>
            <a:r>
              <a:t>[Sources]</a:t>
            </a:r>
          </a:p>
          <a:p>
            <a:r>
              <a:t>- Study §§9.1–9.4,12</a:t>
            </a:r>
          </a:p>
          <a:p>
            <a:r>
              <a:t>- SB pp.19–20,231–240,248–249,283–284; MVD pp.104,230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Lawfulness, regulation and balance are evident throughout natural participation. Human beings understand them and take responsibility for their own work and arrangements. Justice concerns recognised and fulfilled relationships, correctly evaluated to mutual satisfaction. Human dharma is happiness fulfilled through resolution and participation in orderliness. Truth is coexistence realised as the complete reality. The pairings help examine whether conduct fulfils the relationship, regulation sustains its purpose, and the complete arrangement remains balanced. The whole faculty organisation participates in these questions, with justice, dharma and truth governing deliberation together.</a:t>
            </a:r>
          </a:p>
          <a:p>
            <a:r>
              <a:t/>
            </a:r>
          </a:p>
          <a:p>
            <a:r>
              <a:t>[Sources]</a:t>
            </a:r>
          </a:p>
          <a:p>
            <a:r>
              <a:t>- Study §§7.4,8.3,11.2</a:t>
            </a:r>
          </a:p>
          <a:p>
            <a:r>
              <a:t>- MVD pp.32,137,174,311,336; SB pp.231–236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jeevan values name concordance between adjacent faculties in their truthful and humane content. Happiness joins mun and vritti in resolution and conduct free of wrongdoing. Peace joins vritti and chitta in thought free of injustice. Contentment joins chitta and buddhi in desire free of attachment. Bliss joins buddhi and atma in understanding free of ignorance. Their fulfilment in living is cumulative: resolution brings happiness; resolution with prosperity brings peace; their fulfilment with fearlessness brings contentment; all these with coexistence bring bliss. These broader goals require actual means and participation at the relevant scope. Param anand is the highest human goal, the realisation of coexistence in continuity, expressed through resolved thought, just behaviour and purposeful work.</a:t>
            </a:r>
          </a:p>
          <a:p>
            <a:r>
              <a:t/>
            </a:r>
          </a:p>
          <a:p>
            <a:r>
              <a:t>[Sources]</a:t>
            </a:r>
          </a:p>
          <a:p>
            <a:r>
              <a:t>- Study §10.1</a:t>
            </a:r>
          </a:p>
          <a:p>
            <a:r>
              <a:t>- MVD pp.101,327–328; MAD reader pp.47,51; KD printed p.112; AVD p.262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completeness is restfulness in realised activity. Coexistence is realised in atma, complete knowledge is enlightened in buddhi, and the ten activities operate in practised harmony. Conduct completeness gives that fulfilment continuing expression through values, character and ethics across changing situations. Purposeful activity continues as the person contributes and helps others understand. Three scopes of continuity are connected: realisation in jeevan, sustained humane conduct through the person’s life, and awakened tradition across persons and generations. Each scope requires its own evidence of the understanding and participation involved.</a:t>
            </a:r>
          </a:p>
          <a:p>
            <a:r>
              <a:t/>
            </a:r>
          </a:p>
          <a:p>
            <a:r>
              <a:t>[Sources]</a:t>
            </a:r>
          </a:p>
          <a:p>
            <a:r>
              <a:t>- Study §§10.2–10.3 and Appendix C</a:t>
            </a:r>
          </a:p>
          <a:p>
            <a:r>
              <a:t>- MVD pp.68,94,102–104,315,327; AVD pp.114,262; SB p.58; KD p.65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sixfold questions make evaluation concrete. Participants identify the activity, its rightful purpose and its requirements. They examine whether operation remains regulated through capability, feedback and correction. They assess the effects upon persons and natural conditions. Justice requires recognised relationship, actual value fulfilment, correct evaluation and mutual satisfaction. Dharma concerns resolution and participation in overall orderliness, while truth concerns the complete understanding of coexistence and its expression. A disputed assessment calls for further evidence and dialogue. In the garden, the learner’s understanding, the caregiver’s contribution, the food recipients’ needs and the soil’s condition each matter to the whole undertaking.</a:t>
            </a:r>
          </a:p>
          <a:p>
            <a:r>
              <a:t/>
            </a:r>
          </a:p>
          <a:p>
            <a:r>
              <a:t>[Sources]</a:t>
            </a:r>
          </a:p>
          <a:p>
            <a:r>
              <a:t>- Study §§8.3,11.1–11.2</a:t>
            </a:r>
          </a:p>
          <a:p>
            <a:r>
              <a:t>- MVD pp.287–288,311,336; JV printed pp.97–98,137–139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goals connect resolution in the individual, prosperity in the family, fearlessness in society and coexistence in universal participation. Five functions sustain their practical fulfilment. Education–sanskar makes understanding and humane capability available. Justice–security maintains responsibilities and corrects injustice. Health–restraint supports bodily capability and disciplined use. Production–work provides useful things with nature. Exchange–storage maintains availability across persons and times. In the garden these functions meet through teaching, suitable tasks, cultivation, food distribution, seed storage and joint evaluation. Each depends on the others. Children, elders and people needing assistance belong within the provision and the opportunity to participate.</a:t>
            </a:r>
          </a:p>
          <a:p>
            <a:r>
              <a:t/>
            </a:r>
          </a:p>
          <a:p>
            <a:r>
              <a:t>[Sources]</a:t>
            </a:r>
          </a:p>
          <a:p>
            <a:r>
              <a:t>- Study §§11.3–11.4</a:t>
            </a:r>
          </a:p>
          <a:p>
            <a:r>
              <a:t>- JV printed pp.60–61,109–110,140; MSM printed pp.64–65; KD printed p.112; MVD pp.56–57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Family-based self-governance extends responsibility toward the world family. Within the first tier, the family council deliberates and the family carries the decisions into living. Wider coordination proceeds through family clusters, village-family councils, village or neighbourhood clusters, kshetra, mandal, mandal clusters, mukhya rajya, pradhan rajya and the world-family council. The proposal emphasises dialogue, representation and consensus. These arrangements need understood purposes, capable contributions, suitable means and continuing evaluation. Humane constitution, samvidhan, articulates values, character, ethics and responsibilities across family, society, vocation and nature. Its social meaning is distinct from jeevan’s atomic constitution, gathan. The study retains questions about how particular arrangements and consensus procedures function under difficult conditions.</a:t>
            </a:r>
          </a:p>
          <a:p>
            <a:r>
              <a:t/>
            </a:r>
          </a:p>
          <a:p>
            <a:r>
              <a:t>[Sources]</a:t>
            </a:r>
          </a:p>
          <a:p>
            <a:r>
              <a:t>- Study §§11.5–11.6,12</a:t>
            </a:r>
          </a:p>
          <a:p>
            <a:r>
              <a:t>- MVD pp.18–19,161,253; JVD PDF pp.175,179–225; JV printed p.126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argument culminates in continuous awakened living. Realisation of coexistence fulfils jeevan as paramanand, and that understanding becomes evident through humane thought, behaviour and work. Education, humane constitution and maintained systems preserve opportunities for further people to understand and participate. In the garden, learners come to explain the purpose, take responsibility, provide for others, sustain the soil and evaluate their decisions. The next participants can then continue and refine the undertaking. This joins continuity within jeevan, continuity of humane conduct and continuity of awakened tradition across generations. Undivided society and universal orderliness name the comprehensive social fulfilment of that participation.</a:t>
            </a:r>
          </a:p>
          <a:p>
            <a:r>
              <a:t/>
            </a:r>
          </a:p>
          <a:p>
            <a:r>
              <a:t>[Sources]</a:t>
            </a:r>
          </a:p>
          <a:p>
            <a:r>
              <a:t>- Study §§10–11 and Conclusion</a:t>
            </a:r>
          </a:p>
          <a:p>
            <a:r>
              <a:t>- MVD pp.94,315,321,327,338–339; SB pp.19–20,234–240; AVD pp.114,262; KD printed p.112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anchor="ctr" lIns="0" tIns="0" rIns="0" bIns="0">
            <a:spAutoFit/>
          </a:bodyPr>
          <a:lstStyle/>
          <a:p>
            <a:pPr algn="l"/>
            <a:r>
              <a:rPr sz="1200" b="1" i="0">
                <a:solidFill>
                  <a:srgbClr val="C9821E"/>
                </a:solidFill>
                <a:latin typeface="Calibri"/>
              </a:rPr>
              <a:t>MADHYASTH DARSHAN  ·  CO-EXISTENTIALISM</a:t>
            </a:r>
          </a:p>
        </p:txBody>
      </p:sp>
      <p:sp>
        <p:nvSpPr>
          <p:cNvPr id="12" name="TextBox 11"/>
          <p:cNvSpPr txBox="1"/>
          <p:nvPr/>
        </p:nvSpPr>
        <p:spPr>
          <a:xfrm>
            <a:off x="640080" y="1572768"/>
            <a:ext cx="5577840" cy="1371600"/>
          </a:xfrm>
          <a:prstGeom prst="rect">
            <a:avLst/>
          </a:prstGeom>
          <a:noFill/>
        </p:spPr>
        <p:txBody>
          <a:bodyPr wrap="square" anchor="ctr" lIns="0" tIns="0" rIns="0" bIns="0">
            <a:spAutoFit/>
          </a:bodyPr>
          <a:lstStyle/>
          <a:p>
            <a:pPr algn="l"/>
            <a:r>
              <a:rPr sz="4400" b="1" i="0">
                <a:solidFill>
                  <a:srgbClr val="FFFFFF"/>
                </a:solidFill>
                <a:latin typeface="Cambria"/>
              </a:rPr>
              <a:t>From Unit Activity to Human Orderliness</a:t>
            </a:r>
          </a:p>
        </p:txBody>
      </p:sp>
      <p:sp>
        <p:nvSpPr>
          <p:cNvPr id="13" name="TextBox 12"/>
          <p:cNvSpPr txBox="1"/>
          <p:nvPr/>
        </p:nvSpPr>
        <p:spPr>
          <a:xfrm>
            <a:off x="640080" y="3035808"/>
            <a:ext cx="4846320" cy="822960"/>
          </a:xfrm>
          <a:prstGeom prst="rect">
            <a:avLst/>
          </a:prstGeom>
          <a:noFill/>
        </p:spPr>
        <p:txBody>
          <a:bodyPr wrap="square" anchor="ctr" lIns="0" tIns="0" rIns="0" bIns="0">
            <a:spAutoFit/>
          </a:bodyPr>
          <a:lstStyle/>
          <a:p>
            <a:pPr algn="l"/>
            <a:r>
              <a:rPr sz="1500" b="0" i="1">
                <a:solidFill>
                  <a:srgbClr val="C9D4EF"/>
                </a:solidFill>
                <a:latin typeface="Calibri"/>
              </a:rPr>
              <a:t>Coexistence, the architecture of jeevan, and the continuity of awakened human living</a:t>
            </a:r>
          </a:p>
        </p:txBody>
      </p:sp>
      <p:sp>
        <p:nvSpPr>
          <p:cNvPr id="14" name="TextBox 13"/>
          <p:cNvSpPr txBox="1"/>
          <p:nvPr/>
        </p:nvSpPr>
        <p:spPr>
          <a:xfrm>
            <a:off x="640080" y="4160520"/>
            <a:ext cx="5303520" cy="274320"/>
          </a:xfrm>
          <a:prstGeom prst="rect">
            <a:avLst/>
          </a:prstGeom>
          <a:noFill/>
        </p:spPr>
        <p:txBody>
          <a:bodyPr wrap="square" anchor="ctr" lIns="0" tIns="0" rIns="0" bIns="0">
            <a:spAutoFit/>
          </a:bodyPr>
          <a:lstStyle/>
          <a:p>
            <a:pPr algn="l"/>
            <a:r>
              <a:rPr sz="1150" b="0" i="0">
                <a:solidFill>
                  <a:srgbClr val="8E9BC4"/>
                </a:solidFill>
                <a:latin typeface="Calibri"/>
              </a:rPr>
              <a:t>Based on the study at AnalyticMadhyasthDarshan.org</a:t>
            </a:r>
          </a:p>
        </p:txBody>
      </p:sp>
      <p:sp>
        <p:nvSpPr>
          <p:cNvPr id="15" name="TextBox 14"/>
          <p:cNvSpPr txBox="1"/>
          <p:nvPr/>
        </p:nvSpPr>
        <p:spPr>
          <a:xfrm>
            <a:off x="640080" y="4434840"/>
            <a:ext cx="5303520" cy="274320"/>
          </a:xfrm>
          <a:prstGeom prst="rect">
            <a:avLst/>
          </a:prstGeom>
          <a:noFill/>
        </p:spPr>
        <p:txBody>
          <a:bodyPr wrap="square" anchor="ctr" lIns="0" tIns="0" rIns="0" bIns="0">
            <a:spAutoFit/>
          </a:bodyPr>
          <a:lstStyle/>
          <a:p>
            <a:pPr algn="l"/>
            <a:r>
              <a:rPr sz="1150" b="0" i="0">
                <a:solidFill>
                  <a:srgbClr val="8E9BC4"/>
                </a:solidFill>
                <a:latin typeface="Calibri"/>
              </a:rPr>
              <a:t>Primary texts of Shri A. Nagraj — MVD · SB · JV · KD  ·  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FRAMING</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The Connected Account</a:t>
            </a:r>
          </a:p>
        </p:txBody>
      </p:sp>
      <p:sp>
        <p:nvSpPr>
          <p:cNvPr id="7" name="Oval 6"/>
          <p:cNvSpPr/>
          <p:nvPr/>
        </p:nvSpPr>
        <p:spPr>
          <a:xfrm>
            <a:off x="640080" y="125730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57300"/>
            <a:ext cx="365760" cy="365760"/>
          </a:xfrm>
          <a:prstGeom prst="rect">
            <a:avLst/>
          </a:prstGeom>
          <a:noFill/>
        </p:spPr>
        <p:txBody>
          <a:bodyPr wrap="square" anchor="ctr" lIns="0" tIns="0" rIns="0" bIns="0">
            <a:spAutoFit/>
          </a:bodyPr>
          <a:lstStyle/>
          <a:p>
            <a:pPr algn="ctr"/>
            <a:r>
              <a:rPr sz="1300" b="1" i="0">
                <a:solidFill>
                  <a:srgbClr val="FFFFFF"/>
                </a:solidFill>
                <a:latin typeface="Calibri"/>
              </a:rPr>
              <a:t>1</a:t>
            </a:r>
          </a:p>
        </p:txBody>
      </p:sp>
      <p:sp>
        <p:nvSpPr>
          <p:cNvPr id="9" name="TextBox 8"/>
          <p:cNvSpPr txBox="1"/>
          <p:nvPr/>
        </p:nvSpPr>
        <p:spPr>
          <a:xfrm>
            <a:off x="1188720" y="1188720"/>
            <a:ext cx="7406640" cy="502920"/>
          </a:xfrm>
          <a:prstGeom prst="rect">
            <a:avLst/>
          </a:prstGeom>
          <a:noFill/>
        </p:spPr>
        <p:txBody>
          <a:bodyPr wrap="square" anchor="ctr" lIns="0" tIns="0" rIns="0" bIns="0">
            <a:spAutoFit/>
          </a:bodyPr>
          <a:lstStyle/>
          <a:p>
            <a:pPr algn="l"/>
            <a:r>
              <a:rPr sz="1300" b="1" i="0">
                <a:solidFill>
                  <a:srgbClr val="1E2447"/>
                </a:solidFill>
                <a:latin typeface="Calibri"/>
              </a:rPr>
              <a:t>Why is every unit active without being pushed?</a:t>
            </a:r>
            <a:r>
              <a:rPr sz="1300" b="0" i="0">
                <a:solidFill>
                  <a:srgbClr val="5A6377"/>
                </a:solidFill>
                <a:latin typeface="Calibri"/>
              </a:rPr>
              <a:t>  —  saturation in Omnipresence (satta)</a:t>
            </a:r>
          </a:p>
        </p:txBody>
      </p:sp>
      <p:sp>
        <p:nvSpPr>
          <p:cNvPr id="10" name="Oval 9"/>
          <p:cNvSpPr/>
          <p:nvPr/>
        </p:nvSpPr>
        <p:spPr>
          <a:xfrm>
            <a:off x="640080" y="1824228"/>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24228"/>
            <a:ext cx="365760" cy="365760"/>
          </a:xfrm>
          <a:prstGeom prst="rect">
            <a:avLst/>
          </a:prstGeom>
          <a:noFill/>
        </p:spPr>
        <p:txBody>
          <a:bodyPr wrap="square" anchor="ctr" lIns="0" tIns="0" rIns="0" bIns="0">
            <a:spAutoFit/>
          </a:bodyPr>
          <a:lstStyle/>
          <a:p>
            <a:pPr algn="ctr"/>
            <a:r>
              <a:rPr sz="1300" b="1" i="0">
                <a:solidFill>
                  <a:srgbClr val="FFFFFF"/>
                </a:solidFill>
                <a:latin typeface="Calibri"/>
              </a:rPr>
              <a:t>2</a:t>
            </a:r>
          </a:p>
        </p:txBody>
      </p:sp>
      <p:sp>
        <p:nvSpPr>
          <p:cNvPr id="12" name="TextBox 11"/>
          <p:cNvSpPr txBox="1"/>
          <p:nvPr/>
        </p:nvSpPr>
        <p:spPr>
          <a:xfrm>
            <a:off x="1188720" y="1755648"/>
            <a:ext cx="7406640" cy="502920"/>
          </a:xfrm>
          <a:prstGeom prst="rect">
            <a:avLst/>
          </a:prstGeom>
          <a:noFill/>
        </p:spPr>
        <p:txBody>
          <a:bodyPr wrap="square" anchor="ctr" lIns="0" tIns="0" rIns="0" bIns="0">
            <a:spAutoFit/>
          </a:bodyPr>
          <a:lstStyle/>
          <a:p>
            <a:pPr algn="l"/>
            <a:r>
              <a:rPr sz="1300" b="1" i="0">
                <a:solidFill>
                  <a:srgbClr val="1E2447"/>
                </a:solidFill>
                <a:latin typeface="Calibri"/>
              </a:rPr>
              <a:t>What holds a molecule, a cell, a body together?</a:t>
            </a:r>
            <a:r>
              <a:rPr sz="1300" b="0" i="0">
                <a:solidFill>
                  <a:srgbClr val="5A6377"/>
                </a:solidFill>
                <a:latin typeface="Calibri"/>
              </a:rPr>
              <a:t>  —  closure: many activities running as one</a:t>
            </a:r>
          </a:p>
        </p:txBody>
      </p:sp>
      <p:sp>
        <p:nvSpPr>
          <p:cNvPr id="13" name="Oval 12"/>
          <p:cNvSpPr/>
          <p:nvPr/>
        </p:nvSpPr>
        <p:spPr>
          <a:xfrm>
            <a:off x="640080" y="2391156"/>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91156"/>
            <a:ext cx="365760" cy="365760"/>
          </a:xfrm>
          <a:prstGeom prst="rect">
            <a:avLst/>
          </a:prstGeom>
          <a:noFill/>
        </p:spPr>
        <p:txBody>
          <a:bodyPr wrap="square" anchor="ctr" lIns="0" tIns="0" rIns="0" bIns="0">
            <a:spAutoFit/>
          </a:bodyPr>
          <a:lstStyle/>
          <a:p>
            <a:pPr algn="ctr"/>
            <a:r>
              <a:rPr sz="1300" b="1" i="0">
                <a:solidFill>
                  <a:srgbClr val="FFFFFF"/>
                </a:solidFill>
                <a:latin typeface="Calibri"/>
              </a:rPr>
              <a:t>3</a:t>
            </a:r>
          </a:p>
        </p:txBody>
      </p:sp>
      <p:sp>
        <p:nvSpPr>
          <p:cNvPr id="15" name="TextBox 14"/>
          <p:cNvSpPr txBox="1"/>
          <p:nvPr/>
        </p:nvSpPr>
        <p:spPr>
          <a:xfrm>
            <a:off x="1188720" y="2322576"/>
            <a:ext cx="7406640" cy="502920"/>
          </a:xfrm>
          <a:prstGeom prst="rect">
            <a:avLst/>
          </a:prstGeom>
          <a:noFill/>
        </p:spPr>
        <p:txBody>
          <a:bodyPr wrap="square" anchor="ctr" lIns="0" tIns="0" rIns="0" bIns="0">
            <a:spAutoFit/>
          </a:bodyPr>
          <a:lstStyle/>
          <a:p>
            <a:pPr algn="l"/>
            <a:r>
              <a:rPr sz="1300" b="1" i="0">
                <a:solidFill>
                  <a:srgbClr val="1E2447"/>
                </a:solidFill>
                <a:latin typeface="Calibri"/>
              </a:rPr>
              <a:t>What changes for ever in one developing atom?</a:t>
            </a:r>
            <a:r>
              <a:rPr sz="1300" b="0" i="0">
                <a:solidFill>
                  <a:srgbClr val="5A6377"/>
                </a:solidFill>
                <a:latin typeface="Calibri"/>
              </a:rPr>
              <a:t>  —  constitutional completeness: jeevan</a:t>
            </a:r>
          </a:p>
        </p:txBody>
      </p:sp>
      <p:sp>
        <p:nvSpPr>
          <p:cNvPr id="16" name="Oval 15"/>
          <p:cNvSpPr/>
          <p:nvPr/>
        </p:nvSpPr>
        <p:spPr>
          <a:xfrm>
            <a:off x="640080" y="2958084"/>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958084"/>
            <a:ext cx="365760" cy="365760"/>
          </a:xfrm>
          <a:prstGeom prst="rect">
            <a:avLst/>
          </a:prstGeom>
          <a:noFill/>
        </p:spPr>
        <p:txBody>
          <a:bodyPr wrap="square" anchor="ctr" lIns="0" tIns="0" rIns="0" bIns="0">
            <a:spAutoFit/>
          </a:bodyPr>
          <a:lstStyle/>
          <a:p>
            <a:pPr algn="ctr"/>
            <a:r>
              <a:rPr sz="1300" b="1" i="0">
                <a:solidFill>
                  <a:srgbClr val="FFFFFF"/>
                </a:solidFill>
                <a:latin typeface="Calibri"/>
              </a:rPr>
              <a:t>4</a:t>
            </a:r>
          </a:p>
        </p:txBody>
      </p:sp>
      <p:sp>
        <p:nvSpPr>
          <p:cNvPr id="18" name="TextBox 17"/>
          <p:cNvSpPr txBox="1"/>
          <p:nvPr/>
        </p:nvSpPr>
        <p:spPr>
          <a:xfrm>
            <a:off x="1188720" y="2889504"/>
            <a:ext cx="7406640" cy="502920"/>
          </a:xfrm>
          <a:prstGeom prst="rect">
            <a:avLst/>
          </a:prstGeom>
          <a:noFill/>
        </p:spPr>
        <p:txBody>
          <a:bodyPr wrap="square" anchor="ctr" lIns="0" tIns="0" rIns="0" bIns="0">
            <a:spAutoFit/>
          </a:bodyPr>
          <a:lstStyle/>
          <a:p>
            <a:pPr algn="l"/>
            <a:r>
              <a:rPr sz="1300" b="1" i="0">
                <a:solidFill>
                  <a:srgbClr val="1E2447"/>
                </a:solidFill>
                <a:latin typeface="Calibri"/>
              </a:rPr>
              <a:t>How do body and jeevan act as one being?</a:t>
            </a:r>
            <a:r>
              <a:rPr sz="1300" b="0" i="0">
                <a:solidFill>
                  <a:srgbClr val="5A6377"/>
                </a:solidFill>
                <a:latin typeface="Calibri"/>
              </a:rPr>
              <a:t>  The pranic body and jeevan participate together</a:t>
            </a:r>
          </a:p>
        </p:txBody>
      </p:sp>
      <p:sp>
        <p:nvSpPr>
          <p:cNvPr id="19" name="Oval 18"/>
          <p:cNvSpPr/>
          <p:nvPr/>
        </p:nvSpPr>
        <p:spPr>
          <a:xfrm>
            <a:off x="640080" y="3525012"/>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525012"/>
            <a:ext cx="365760" cy="365760"/>
          </a:xfrm>
          <a:prstGeom prst="rect">
            <a:avLst/>
          </a:prstGeom>
          <a:noFill/>
        </p:spPr>
        <p:txBody>
          <a:bodyPr wrap="square" anchor="ctr" lIns="0" tIns="0" rIns="0" bIns="0">
            <a:spAutoFit/>
          </a:bodyPr>
          <a:lstStyle/>
          <a:p>
            <a:pPr algn="ctr"/>
            <a:r>
              <a:rPr sz="1300" b="1" i="0">
                <a:solidFill>
                  <a:srgbClr val="FFFFFF"/>
                </a:solidFill>
                <a:latin typeface="Calibri"/>
              </a:rPr>
              <a:t>5</a:t>
            </a:r>
          </a:p>
        </p:txBody>
      </p:sp>
      <p:sp>
        <p:nvSpPr>
          <p:cNvPr id="21" name="TextBox 20"/>
          <p:cNvSpPr txBox="1"/>
          <p:nvPr/>
        </p:nvSpPr>
        <p:spPr>
          <a:xfrm>
            <a:off x="1188720" y="3456432"/>
            <a:ext cx="7406640" cy="502920"/>
          </a:xfrm>
          <a:prstGeom prst="rect">
            <a:avLst/>
          </a:prstGeom>
          <a:noFill/>
        </p:spPr>
        <p:txBody>
          <a:bodyPr wrap="square" anchor="ctr" lIns="0" tIns="0" rIns="0" bIns="0">
            <a:spAutoFit/>
          </a:bodyPr>
          <a:lstStyle/>
          <a:p>
            <a:pPr algn="l"/>
            <a:r>
              <a:rPr sz="1300" b="1" i="0">
                <a:solidFill>
                  <a:srgbClr val="1E2447"/>
                </a:solidFill>
                <a:latin typeface="Calibri"/>
              </a:rPr>
              <a:t>What gives human freedom its fulfilled direction?</a:t>
            </a:r>
            <a:r>
              <a:rPr sz="1300" b="0" i="0">
                <a:solidFill>
                  <a:srgbClr val="5A6377"/>
                </a:solidFill>
                <a:latin typeface="Calibri"/>
              </a:rPr>
              <a:t>  Understanding, evaluation and humane participation</a:t>
            </a:r>
          </a:p>
        </p:txBody>
      </p:sp>
      <p:sp>
        <p:nvSpPr>
          <p:cNvPr id="22" name="Oval 21"/>
          <p:cNvSpPr/>
          <p:nvPr/>
        </p:nvSpPr>
        <p:spPr>
          <a:xfrm>
            <a:off x="640080" y="409194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91940"/>
            <a:ext cx="365760" cy="365760"/>
          </a:xfrm>
          <a:prstGeom prst="rect">
            <a:avLst/>
          </a:prstGeom>
          <a:noFill/>
        </p:spPr>
        <p:txBody>
          <a:bodyPr wrap="square" anchor="ctr" lIns="0" tIns="0" rIns="0" bIns="0">
            <a:spAutoFit/>
          </a:bodyPr>
          <a:lstStyle/>
          <a:p>
            <a:pPr algn="ctr"/>
            <a:r>
              <a:rPr sz="1300" b="1" i="0">
                <a:solidFill>
                  <a:srgbClr val="FFFFFF"/>
                </a:solidFill>
                <a:latin typeface="Calibri"/>
              </a:rPr>
              <a:t>6</a:t>
            </a:r>
          </a:p>
        </p:txBody>
      </p:sp>
      <p:sp>
        <p:nvSpPr>
          <p:cNvPr id="24" name="TextBox 23"/>
          <p:cNvSpPr txBox="1"/>
          <p:nvPr/>
        </p:nvSpPr>
        <p:spPr>
          <a:xfrm>
            <a:off x="1188720" y="4023360"/>
            <a:ext cx="7406640" cy="502920"/>
          </a:xfrm>
          <a:prstGeom prst="rect">
            <a:avLst/>
          </a:prstGeom>
          <a:noFill/>
        </p:spPr>
        <p:txBody>
          <a:bodyPr wrap="square" anchor="ctr" lIns="0" tIns="0" rIns="0" bIns="0">
            <a:spAutoFit/>
          </a:bodyPr>
          <a:lstStyle/>
          <a:p>
            <a:pPr algn="l"/>
            <a:r>
              <a:rPr sz="1300" b="1" i="0">
                <a:solidFill>
                  <a:srgbClr val="1E2447"/>
                </a:solidFill>
                <a:latin typeface="Calibri"/>
              </a:rPr>
              <a:t>How does awakened living continue?</a:t>
            </a:r>
            <a:r>
              <a:rPr sz="1300" b="0" i="0">
                <a:solidFill>
                  <a:srgbClr val="5A6377"/>
                </a:solidFill>
                <a:latin typeface="Calibri"/>
              </a:rPr>
              <a:t>  Education, just relationships and maintained arrangements</a:t>
            </a:r>
          </a:p>
        </p:txBody>
      </p:sp>
      <p:sp>
        <p:nvSpPr>
          <p:cNvPr id="25" name="TextBox 24"/>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The study’s main line, without its formal notation  ·  AnalyticMadhyasthDarshan.org  ·  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anchor="ctr" lIns="0" tIns="0" rIns="0" bIns="0">
            <a:spAutoFit/>
          </a:bodyPr>
          <a:lstStyle/>
          <a:p>
            <a:pPr algn="l"/>
            <a:r>
              <a:rPr sz="1200" b="1" i="0">
                <a:solidFill>
                  <a:srgbClr val="C9821E"/>
                </a:solidFill>
                <a:latin typeface="Calibri"/>
              </a:rPr>
              <a:t>MOVEMENT ONE  ·  STUDY §§1–3</a:t>
            </a:r>
          </a:p>
        </p:txBody>
      </p:sp>
      <p:sp>
        <p:nvSpPr>
          <p:cNvPr id="12" name="TextBox 11"/>
          <p:cNvSpPr txBox="1"/>
          <p:nvPr/>
        </p:nvSpPr>
        <p:spPr>
          <a:xfrm>
            <a:off x="640080" y="1572768"/>
            <a:ext cx="5577840" cy="1371600"/>
          </a:xfrm>
          <a:prstGeom prst="rect">
            <a:avLst/>
          </a:prstGeom>
          <a:noFill/>
        </p:spPr>
        <p:txBody>
          <a:bodyPr wrap="square" anchor="ctr" lIns="0" tIns="0" rIns="0" bIns="0">
            <a:spAutoFit/>
          </a:bodyPr>
          <a:lstStyle/>
          <a:p>
            <a:pPr algn="l"/>
            <a:r>
              <a:rPr sz="4400" b="1" i="0">
                <a:solidFill>
                  <a:srgbClr val="FFFFFF"/>
                </a:solidFill>
                <a:latin typeface="Cambria"/>
              </a:rPr>
              <a:t>The Ground: Saturated Units</a:t>
            </a:r>
          </a:p>
        </p:txBody>
      </p:sp>
      <p:sp>
        <p:nvSpPr>
          <p:cNvPr id="13" name="TextBox 12"/>
          <p:cNvSpPr txBox="1"/>
          <p:nvPr/>
        </p:nvSpPr>
        <p:spPr>
          <a:xfrm>
            <a:off x="640080" y="2926080"/>
            <a:ext cx="4846320" cy="960120"/>
          </a:xfrm>
          <a:prstGeom prst="rect">
            <a:avLst/>
          </a:prstGeom>
          <a:noFill/>
        </p:spPr>
        <p:txBody>
          <a:bodyPr wrap="square" anchor="ctr" lIns="0" tIns="0" rIns="0" bIns="0">
            <a:spAutoFit/>
          </a:bodyPr>
          <a:lstStyle/>
          <a:p>
            <a:pPr algn="l"/>
            <a:r>
              <a:rPr sz="1500" b="0" i="1">
                <a:solidFill>
                  <a:srgbClr val="C9D4EF"/>
                </a:solidFill>
                <a:latin typeface="Calibri"/>
              </a:rPr>
              <a:t>Units saturated in Omnipresence are continuously active in mutuality. Form, property, essential nature and dharma describe each unit.</a:t>
            </a:r>
          </a:p>
        </p:txBody>
      </p:sp>
      <p:sp>
        <p:nvSpPr>
          <p:cNvPr id="14" name="TextBox 13"/>
          <p:cNvSpPr txBox="1"/>
          <p:nvPr/>
        </p:nvSpPr>
        <p:spPr>
          <a:xfrm>
            <a:off x="640080" y="416052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Answers  ·  Why is everything active?  ·  What is a unit?</a:t>
            </a:r>
          </a:p>
        </p:txBody>
      </p:sp>
      <p:sp>
        <p:nvSpPr>
          <p:cNvPr id="15" name="TextBox 14"/>
          <p:cNvSpPr txBox="1"/>
          <p:nvPr/>
        </p:nvSpPr>
        <p:spPr>
          <a:xfrm>
            <a:off x="640080" y="443484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AnalyticMadhyasthDarshan.org  ·  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ONE  ·  COEXISTENCE</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Satta and Active Units</a:t>
            </a:r>
          </a:p>
        </p:txBody>
      </p:sp>
      <p:sp>
        <p:nvSpPr>
          <p:cNvPr id="7" name="TextBox 6"/>
          <p:cNvSpPr txBox="1"/>
          <p:nvPr/>
        </p:nvSpPr>
        <p:spPr>
          <a:xfrm>
            <a:off x="640080" y="1207008"/>
            <a:ext cx="7955279" cy="502920"/>
          </a:xfrm>
          <a:prstGeom prst="rect">
            <a:avLst/>
          </a:prstGeom>
          <a:noFill/>
        </p:spPr>
        <p:txBody>
          <a:bodyPr wrap="square" anchor="ctr" lIns="0" tIns="0" rIns="0" bIns="0">
            <a:spAutoFit/>
          </a:bodyPr>
          <a:lstStyle/>
          <a:p>
            <a:pPr algn="l"/>
            <a:r>
              <a:rPr sz="1250" b="0" i="0">
                <a:solidFill>
                  <a:srgbClr val="5A6377"/>
                </a:solidFill>
                <a:latin typeface="Calibri"/>
              </a:rPr>
              <a:t>Existence is coexistence (saha-astitva): Omnipresence and countlessly many active units — never apart, never merging.</a:t>
            </a:r>
          </a:p>
        </p:txBody>
      </p:sp>
      <p:sp>
        <p:nvSpPr>
          <p:cNvPr id="8" name="Rectangle 7"/>
          <p:cNvSpPr/>
          <p:nvPr/>
        </p:nvSpPr>
        <p:spPr>
          <a:xfrm>
            <a:off x="640080" y="182880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947672"/>
            <a:ext cx="3392424" cy="292608"/>
          </a:xfrm>
          <a:prstGeom prst="rect">
            <a:avLst/>
          </a:prstGeom>
          <a:noFill/>
        </p:spPr>
        <p:txBody>
          <a:bodyPr wrap="square" anchor="ctr" lIns="0" tIns="0" rIns="0" bIns="0">
            <a:spAutoFit/>
          </a:bodyPr>
          <a:lstStyle/>
          <a:p>
            <a:pPr algn="l"/>
            <a:r>
              <a:rPr sz="1250" b="1" i="0">
                <a:solidFill>
                  <a:srgbClr val="1E2447"/>
                </a:solidFill>
                <a:latin typeface="Cambria"/>
              </a:rPr>
              <a:t>Omnipresence (satta) — state-complete</a:t>
            </a:r>
          </a:p>
        </p:txBody>
      </p:sp>
      <p:sp>
        <p:nvSpPr>
          <p:cNvPr id="10" name="TextBox 9"/>
          <p:cNvSpPr txBox="1"/>
          <p:nvPr/>
        </p:nvSpPr>
        <p:spPr>
          <a:xfrm>
            <a:off x="841247" y="2285999"/>
            <a:ext cx="3392424" cy="704087"/>
          </a:xfrm>
          <a:prstGeom prst="rect">
            <a:avLst/>
          </a:prstGeom>
          <a:noFill/>
        </p:spPr>
        <p:txBody>
          <a:bodyPr wrap="square" anchor="t" lIns="0" tIns="0" rIns="0" bIns="0">
            <a:spAutoFit/>
          </a:bodyPr>
          <a:lstStyle/>
          <a:p>
            <a:pPr algn="l"/>
            <a:r>
              <a:rPr sz="1050" b="0" i="0">
                <a:solidFill>
                  <a:srgbClr val="5A6377"/>
                </a:solidFill>
                <a:latin typeface="Calibri"/>
              </a:rPr>
              <a:t>Unbounded, everywhere uniform, actionless: free of motion, pressure, and change. Also named Knowledge and Space.</a:t>
            </a:r>
          </a:p>
        </p:txBody>
      </p:sp>
      <p:sp>
        <p:nvSpPr>
          <p:cNvPr id="11" name="Rectangle 10"/>
          <p:cNvSpPr/>
          <p:nvPr/>
        </p:nvSpPr>
        <p:spPr>
          <a:xfrm>
            <a:off x="4709160" y="182880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0328" y="1947672"/>
            <a:ext cx="3392424" cy="292608"/>
          </a:xfrm>
          <a:prstGeom prst="rect">
            <a:avLst/>
          </a:prstGeom>
          <a:noFill/>
        </p:spPr>
        <p:txBody>
          <a:bodyPr wrap="square" anchor="ctr" lIns="0" tIns="0" rIns="0" bIns="0">
            <a:spAutoFit/>
          </a:bodyPr>
          <a:lstStyle/>
          <a:p>
            <a:pPr algn="l"/>
            <a:r>
              <a:rPr sz="1250" b="1" i="0">
                <a:solidFill>
                  <a:srgbClr val="1E2447"/>
                </a:solidFill>
                <a:latin typeface="Cambria"/>
              </a:rPr>
              <a:t>Nature — state-dynamic</a:t>
            </a:r>
          </a:p>
        </p:txBody>
      </p:sp>
      <p:sp>
        <p:nvSpPr>
          <p:cNvPr id="13" name="TextBox 12"/>
          <p:cNvSpPr txBox="1"/>
          <p:nvPr/>
        </p:nvSpPr>
        <p:spPr>
          <a:xfrm>
            <a:off x="4910328" y="2285999"/>
            <a:ext cx="3392424" cy="704087"/>
          </a:xfrm>
          <a:prstGeom prst="rect">
            <a:avLst/>
          </a:prstGeom>
          <a:noFill/>
        </p:spPr>
        <p:txBody>
          <a:bodyPr wrap="square" anchor="t" lIns="0" tIns="0" rIns="0" bIns="0">
            <a:spAutoFit/>
          </a:bodyPr>
          <a:lstStyle/>
          <a:p>
            <a:pPr algn="l"/>
            <a:r>
              <a:rPr sz="1050" b="0" i="0">
                <a:solidFill>
                  <a:srgbClr val="5A6377"/>
                </a:solidFill>
                <a:latin typeface="Calibri"/>
              </a:rPr>
              <a:t>Countlessly many bounded units (ikai), each inseparably present in state and motion within the state-complete.</a:t>
            </a:r>
          </a:p>
        </p:txBody>
      </p:sp>
      <p:sp>
        <p:nvSpPr>
          <p:cNvPr id="14" name="Rectangle 13"/>
          <p:cNvSpPr/>
          <p:nvPr/>
        </p:nvSpPr>
        <p:spPr>
          <a:xfrm>
            <a:off x="640080" y="324612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3364991"/>
            <a:ext cx="3392424" cy="292608"/>
          </a:xfrm>
          <a:prstGeom prst="rect">
            <a:avLst/>
          </a:prstGeom>
          <a:noFill/>
        </p:spPr>
        <p:txBody>
          <a:bodyPr wrap="square" anchor="ctr" lIns="0" tIns="0" rIns="0" bIns="0">
            <a:spAutoFit/>
          </a:bodyPr>
          <a:lstStyle/>
          <a:p>
            <a:pPr algn="l"/>
            <a:r>
              <a:rPr sz="1250" b="1" i="0">
                <a:solidFill>
                  <a:srgbClr val="1E2447"/>
                </a:solidFill>
                <a:latin typeface="Cambria"/>
              </a:rPr>
              <a:t>Saturation (samprikt)</a:t>
            </a:r>
          </a:p>
        </p:txBody>
      </p:sp>
      <p:sp>
        <p:nvSpPr>
          <p:cNvPr id="16" name="TextBox 15"/>
          <p:cNvSpPr txBox="1"/>
          <p:nvPr/>
        </p:nvSpPr>
        <p:spPr>
          <a:xfrm>
            <a:off x="841247" y="3703320"/>
            <a:ext cx="3392424" cy="704087"/>
          </a:xfrm>
          <a:prstGeom prst="rect">
            <a:avLst/>
          </a:prstGeom>
          <a:noFill/>
        </p:spPr>
        <p:txBody>
          <a:bodyPr wrap="square" anchor="t" lIns="0" tIns="0" rIns="0" bIns="0">
            <a:spAutoFit/>
          </a:bodyPr>
          <a:lstStyle/>
          <a:p>
            <a:pPr algn="l"/>
            <a:r>
              <a:rPr sz="1050" b="0" i="0">
                <a:solidFill>
                  <a:srgbClr val="5A6377"/>
                </a:solidFill>
                <a:latin typeface="Calibri"/>
              </a:rPr>
              <a:t>Every unit is soaked, submerged, and surrounded in satta — therefore energised, forceful, and perpetually active.</a:t>
            </a:r>
          </a:p>
        </p:txBody>
      </p:sp>
      <p:sp>
        <p:nvSpPr>
          <p:cNvPr id="17" name="Rectangle 16"/>
          <p:cNvSpPr/>
          <p:nvPr/>
        </p:nvSpPr>
        <p:spPr>
          <a:xfrm>
            <a:off x="4709160" y="324612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0328" y="3364991"/>
            <a:ext cx="3392424" cy="292608"/>
          </a:xfrm>
          <a:prstGeom prst="rect">
            <a:avLst/>
          </a:prstGeom>
          <a:noFill/>
        </p:spPr>
        <p:txBody>
          <a:bodyPr wrap="square" anchor="ctr" lIns="0" tIns="0" rIns="0" bIns="0">
            <a:spAutoFit/>
          </a:bodyPr>
          <a:lstStyle/>
          <a:p>
            <a:pPr algn="l"/>
            <a:r>
              <a:rPr sz="1250" b="1" i="0">
                <a:solidFill>
                  <a:srgbClr val="1E2447"/>
                </a:solidFill>
                <a:latin typeface="Cambria"/>
              </a:rPr>
              <a:t>The unit’s strength</a:t>
            </a:r>
          </a:p>
        </p:txBody>
      </p:sp>
      <p:sp>
        <p:nvSpPr>
          <p:cNvPr id="19" name="TextBox 18"/>
          <p:cNvSpPr txBox="1"/>
          <p:nvPr/>
        </p:nvSpPr>
        <p:spPr>
          <a:xfrm>
            <a:off x="4910328" y="3703320"/>
            <a:ext cx="3392424" cy="704087"/>
          </a:xfrm>
          <a:prstGeom prst="rect">
            <a:avLst/>
          </a:prstGeom>
          <a:noFill/>
        </p:spPr>
        <p:txBody>
          <a:bodyPr wrap="square" anchor="t" lIns="0" tIns="0" rIns="0" bIns="0">
            <a:spAutoFit/>
          </a:bodyPr>
          <a:lstStyle/>
          <a:p>
            <a:pPr algn="l"/>
            <a:r>
              <a:rPr sz="1050" b="0" i="0">
                <a:solidFill>
                  <a:srgbClr val="5A6377"/>
                </a:solidFill>
                <a:latin typeface="Calibri"/>
              </a:rPr>
              <a:t>Saturation grounds the unit’s energy-fullness. Its own strength and power are effective in mutuality.</a:t>
            </a:r>
          </a:p>
        </p:txBody>
      </p:sp>
      <p:sp>
        <p:nvSpPr>
          <p:cNvPr id="20" name="TextBox 19"/>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 26, 34–46  ·  SB pp. 48–57  ·  JV p. 149  ·  AnalyticMadhyasthDarshan.org  ·  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ONE  ·  EFFORT–MOTION–RESULT</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The Unit and Its Activity</a:t>
            </a:r>
          </a:p>
        </p:txBody>
      </p:sp>
      <p:sp>
        <p:nvSpPr>
          <p:cNvPr id="7" name="TextBox 6"/>
          <p:cNvSpPr txBox="1"/>
          <p:nvPr/>
        </p:nvSpPr>
        <p:spPr>
          <a:xfrm>
            <a:off x="640080" y="1207008"/>
            <a:ext cx="7955279" cy="502920"/>
          </a:xfrm>
          <a:prstGeom prst="rect">
            <a:avLst/>
          </a:prstGeom>
          <a:noFill/>
        </p:spPr>
        <p:txBody>
          <a:bodyPr wrap="square" anchor="ctr" lIns="0" tIns="0" rIns="0" bIns="0">
            <a:spAutoFit/>
          </a:bodyPr>
          <a:lstStyle/>
          <a:p>
            <a:pPr algn="l"/>
            <a:r>
              <a:rPr sz="1250" b="0" i="0">
                <a:solidFill>
                  <a:srgbClr val="5A6377"/>
                </a:solidFill>
                <a:latin typeface="Calibri"/>
              </a:rPr>
              <a:t>A unit persists as an active bearer. Its effort, motion and result are inseparable in every participation.</a:t>
            </a:r>
          </a:p>
        </p:txBody>
      </p:sp>
      <p:sp>
        <p:nvSpPr>
          <p:cNvPr id="8" name="Rectangle 7"/>
          <p:cNvSpPr/>
          <p:nvPr/>
        </p:nvSpPr>
        <p:spPr>
          <a:xfrm>
            <a:off x="640080" y="1920240"/>
            <a:ext cx="2331720" cy="54864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20240"/>
            <a:ext cx="2331720" cy="548640"/>
          </a:xfrm>
          <a:prstGeom prst="rect">
            <a:avLst/>
          </a:prstGeom>
          <a:noFill/>
        </p:spPr>
        <p:txBody>
          <a:bodyPr wrap="square" anchor="ctr" lIns="0" tIns="0" rIns="0" bIns="0">
            <a:spAutoFit/>
          </a:bodyPr>
          <a:lstStyle/>
          <a:p>
            <a:pPr algn="ctr"/>
            <a:r>
              <a:rPr sz="1150" b="1" i="0">
                <a:solidFill>
                  <a:srgbClr val="FFFFFF"/>
                </a:solidFill>
                <a:latin typeface="Calibri"/>
              </a:rPr>
              <a:t>Effort (shram) — strength in state</a:t>
            </a:r>
          </a:p>
        </p:txBody>
      </p:sp>
      <p:sp>
        <p:nvSpPr>
          <p:cNvPr id="10" name="TextBox 9"/>
          <p:cNvSpPr txBox="1"/>
          <p:nvPr/>
        </p:nvSpPr>
        <p:spPr>
          <a:xfrm>
            <a:off x="2971800" y="1920240"/>
            <a:ext cx="320040" cy="54864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1" name="Rectangle 10"/>
          <p:cNvSpPr/>
          <p:nvPr/>
        </p:nvSpPr>
        <p:spPr>
          <a:xfrm>
            <a:off x="3291840" y="1920240"/>
            <a:ext cx="2331720" cy="54864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920240"/>
            <a:ext cx="2331720" cy="548640"/>
          </a:xfrm>
          <a:prstGeom prst="rect">
            <a:avLst/>
          </a:prstGeom>
          <a:noFill/>
        </p:spPr>
        <p:txBody>
          <a:bodyPr wrap="square" anchor="ctr" lIns="0" tIns="0" rIns="0" bIns="0">
            <a:spAutoFit/>
          </a:bodyPr>
          <a:lstStyle/>
          <a:p>
            <a:pPr algn="ctr"/>
            <a:r>
              <a:rPr sz="1150" b="1" i="0">
                <a:solidFill>
                  <a:srgbClr val="FFFFFF"/>
                </a:solidFill>
                <a:latin typeface="Calibri"/>
              </a:rPr>
              <a:t>Motion (gati) — power operating</a:t>
            </a:r>
          </a:p>
        </p:txBody>
      </p:sp>
      <p:sp>
        <p:nvSpPr>
          <p:cNvPr id="13" name="TextBox 12"/>
          <p:cNvSpPr txBox="1"/>
          <p:nvPr/>
        </p:nvSpPr>
        <p:spPr>
          <a:xfrm>
            <a:off x="5623560" y="1920240"/>
            <a:ext cx="320040" cy="54864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4" name="Rectangle 13"/>
          <p:cNvSpPr/>
          <p:nvPr/>
        </p:nvSpPr>
        <p:spPr>
          <a:xfrm>
            <a:off x="5943600" y="1920240"/>
            <a:ext cx="2331720" cy="54864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920240"/>
            <a:ext cx="2331720" cy="548640"/>
          </a:xfrm>
          <a:prstGeom prst="rect">
            <a:avLst/>
          </a:prstGeom>
          <a:noFill/>
        </p:spPr>
        <p:txBody>
          <a:bodyPr wrap="square" anchor="ctr" lIns="0" tIns="0" rIns="0" bIns="0">
            <a:spAutoFit/>
          </a:bodyPr>
          <a:lstStyle/>
          <a:p>
            <a:pPr algn="ctr"/>
            <a:r>
              <a:rPr sz="1150" b="1" i="0">
                <a:solidFill>
                  <a:srgbClr val="FFFFFF"/>
                </a:solidFill>
                <a:latin typeface="Calibri"/>
              </a:rPr>
              <a:t>Result (parinam) — realised form</a:t>
            </a:r>
          </a:p>
        </p:txBody>
      </p:sp>
      <p:sp>
        <p:nvSpPr>
          <p:cNvPr id="16" name="TextBox 15"/>
          <p:cNvSpPr txBox="1"/>
          <p:nvPr/>
        </p:nvSpPr>
        <p:spPr>
          <a:xfrm>
            <a:off x="640080" y="2651760"/>
            <a:ext cx="7955279" cy="274320"/>
          </a:xfrm>
          <a:prstGeom prst="rect">
            <a:avLst/>
          </a:prstGeom>
          <a:noFill/>
        </p:spPr>
        <p:txBody>
          <a:bodyPr wrap="square" anchor="ctr" lIns="0" tIns="0" rIns="0" bIns="0">
            <a:spAutoFit/>
          </a:bodyPr>
          <a:lstStyle/>
          <a:p>
            <a:pPr algn="l"/>
            <a:r>
              <a:rPr sz="1150" b="0" i="1">
                <a:solidFill>
                  <a:srgbClr val="5A6377"/>
                </a:solidFill>
                <a:latin typeface="Calibri"/>
              </a:rPr>
              <a:t>Effort, motion and result are co-present aspects of complete activity.</a:t>
            </a:r>
          </a:p>
        </p:txBody>
      </p:sp>
      <p:sp>
        <p:nvSpPr>
          <p:cNvPr id="17" name="Rectangle 16"/>
          <p:cNvSpPr/>
          <p:nvPr/>
        </p:nvSpPr>
        <p:spPr>
          <a:xfrm>
            <a:off x="640080" y="3108960"/>
            <a:ext cx="7863840" cy="64008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08960"/>
            <a:ext cx="7406640" cy="640080"/>
          </a:xfrm>
          <a:prstGeom prst="rect">
            <a:avLst/>
          </a:prstGeom>
          <a:noFill/>
        </p:spPr>
        <p:txBody>
          <a:bodyPr wrap="square" anchor="ctr" lIns="0" tIns="0" rIns="0" bIns="0">
            <a:spAutoFit/>
          </a:bodyPr>
          <a:lstStyle/>
          <a:p>
            <a:pPr algn="l"/>
            <a:r>
              <a:rPr sz="1080" b="0" i="1">
                <a:solidFill>
                  <a:srgbClr val="5A6377"/>
                </a:solidFill>
                <a:latin typeface="Calibri"/>
              </a:rPr>
              <a:t>“Every physical-chemical activity is an inseparable presence of effort, motion and result.”  — SB, p. 58</a:t>
            </a:r>
          </a:p>
        </p:txBody>
      </p:sp>
      <p:sp>
        <p:nvSpPr>
          <p:cNvPr id="19" name="TextBox 18"/>
          <p:cNvSpPr txBox="1"/>
          <p:nvPr/>
        </p:nvSpPr>
        <p:spPr>
          <a:xfrm>
            <a:off x="640080" y="3931920"/>
            <a:ext cx="7955279" cy="502920"/>
          </a:xfrm>
          <a:prstGeom prst="rect">
            <a:avLst/>
          </a:prstGeom>
          <a:noFill/>
        </p:spPr>
        <p:txBody>
          <a:bodyPr wrap="square" anchor="ctr" lIns="0" tIns="0" rIns="0" bIns="0">
            <a:spAutoFit/>
          </a:bodyPr>
          <a:lstStyle/>
          <a:p>
            <a:pPr algn="l"/>
            <a:r>
              <a:rPr sz="1150" b="0" i="1">
                <a:solidFill>
                  <a:srgbClr val="5A6377"/>
                </a:solidFill>
                <a:latin typeface="Calibri"/>
              </a:rPr>
              <a:t>Guni names the active bearer; guna names its relative power in mutuality. A result becomes part of the conditions for further activity.</a:t>
            </a:r>
          </a:p>
        </p:txBody>
      </p:sp>
      <p:sp>
        <p:nvSpPr>
          <p:cNvPr id="20" name="TextBox 19"/>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SB pp. 58–62  ·  KD §§3.8, 3.11  ·  AnalyticMadhyasthDarshan.org  ·  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ONE  ·  ROOP · GUNA · SVABHAV · DHARMA</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Four Aspects of an Active Unit</a:t>
            </a:r>
          </a:p>
        </p:txBody>
      </p:sp>
      <p:sp>
        <p:nvSpPr>
          <p:cNvPr id="7" name="Rectangle 6"/>
          <p:cNvSpPr/>
          <p:nvPr/>
        </p:nvSpPr>
        <p:spPr>
          <a:xfrm>
            <a:off x="640080" y="1234440"/>
            <a:ext cx="3794760" cy="1207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53312"/>
            <a:ext cx="3392424" cy="292608"/>
          </a:xfrm>
          <a:prstGeom prst="rect">
            <a:avLst/>
          </a:prstGeom>
          <a:noFill/>
        </p:spPr>
        <p:txBody>
          <a:bodyPr wrap="square" anchor="ctr" lIns="0" tIns="0" rIns="0" bIns="0">
            <a:spAutoFit/>
          </a:bodyPr>
          <a:lstStyle/>
          <a:p>
            <a:pPr algn="l"/>
            <a:r>
              <a:rPr sz="1250" b="1" i="0">
                <a:solidFill>
                  <a:srgbClr val="1E2447"/>
                </a:solidFill>
                <a:latin typeface="Cambria"/>
              </a:rPr>
              <a:t>Form (roop)</a:t>
            </a:r>
          </a:p>
        </p:txBody>
      </p:sp>
      <p:sp>
        <p:nvSpPr>
          <p:cNvPr id="9" name="TextBox 8"/>
          <p:cNvSpPr txBox="1"/>
          <p:nvPr/>
        </p:nvSpPr>
        <p:spPr>
          <a:xfrm>
            <a:off x="841247" y="1691640"/>
            <a:ext cx="3392424" cy="630936"/>
          </a:xfrm>
          <a:prstGeom prst="rect">
            <a:avLst/>
          </a:prstGeom>
          <a:noFill/>
        </p:spPr>
        <p:txBody>
          <a:bodyPr wrap="square" anchor="t" lIns="0" tIns="0" rIns="0" bIns="0">
            <a:spAutoFit/>
          </a:bodyPr>
          <a:lstStyle/>
          <a:p>
            <a:pPr algn="l"/>
            <a:r>
              <a:rPr sz="1050" b="0" i="0">
                <a:solidFill>
                  <a:srgbClr val="5A6377"/>
                </a:solidFill>
                <a:latin typeface="Calibri"/>
              </a:rPr>
              <a:t>The unit’s determinate configuration, including shape, volume and density, encountered in mutuality.</a:t>
            </a:r>
          </a:p>
        </p:txBody>
      </p:sp>
      <p:sp>
        <p:nvSpPr>
          <p:cNvPr id="10" name="Rectangle 9"/>
          <p:cNvSpPr/>
          <p:nvPr/>
        </p:nvSpPr>
        <p:spPr>
          <a:xfrm>
            <a:off x="4709160" y="1234440"/>
            <a:ext cx="3794760" cy="1207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53312"/>
            <a:ext cx="3392424" cy="292608"/>
          </a:xfrm>
          <a:prstGeom prst="rect">
            <a:avLst/>
          </a:prstGeom>
          <a:noFill/>
        </p:spPr>
        <p:txBody>
          <a:bodyPr wrap="square" anchor="ctr" lIns="0" tIns="0" rIns="0" bIns="0">
            <a:spAutoFit/>
          </a:bodyPr>
          <a:lstStyle/>
          <a:p>
            <a:pPr algn="l"/>
            <a:r>
              <a:rPr sz="1250" b="1" i="0">
                <a:solidFill>
                  <a:srgbClr val="1E2447"/>
                </a:solidFill>
                <a:latin typeface="Cambria"/>
              </a:rPr>
              <a:t>Property (guna)</a:t>
            </a:r>
          </a:p>
        </p:txBody>
      </p:sp>
      <p:sp>
        <p:nvSpPr>
          <p:cNvPr id="12" name="TextBox 11"/>
          <p:cNvSpPr txBox="1"/>
          <p:nvPr/>
        </p:nvSpPr>
        <p:spPr>
          <a:xfrm>
            <a:off x="4910328" y="1691640"/>
            <a:ext cx="3392424" cy="630936"/>
          </a:xfrm>
          <a:prstGeom prst="rect">
            <a:avLst/>
          </a:prstGeom>
          <a:noFill/>
        </p:spPr>
        <p:txBody>
          <a:bodyPr wrap="square" anchor="t" lIns="0" tIns="0" rIns="0" bIns="0">
            <a:spAutoFit/>
          </a:bodyPr>
          <a:lstStyle/>
          <a:p>
            <a:pPr algn="l"/>
            <a:r>
              <a:rPr sz="1050" b="0" i="0">
                <a:solidFill>
                  <a:srgbClr val="5A6377"/>
                </a:solidFill>
                <a:latin typeface="Calibri"/>
              </a:rPr>
              <a:t>Relative power evident in mutuality — generative (sam), degenerative (visam), and mediative (madhyastha) tendencies.</a:t>
            </a:r>
          </a:p>
        </p:txBody>
      </p:sp>
      <p:sp>
        <p:nvSpPr>
          <p:cNvPr id="13" name="Rectangle 12"/>
          <p:cNvSpPr/>
          <p:nvPr/>
        </p:nvSpPr>
        <p:spPr>
          <a:xfrm>
            <a:off x="640080" y="2578608"/>
            <a:ext cx="3794760" cy="1207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2697479"/>
            <a:ext cx="3392424" cy="292608"/>
          </a:xfrm>
          <a:prstGeom prst="rect">
            <a:avLst/>
          </a:prstGeom>
          <a:noFill/>
        </p:spPr>
        <p:txBody>
          <a:bodyPr wrap="square" anchor="ctr" lIns="0" tIns="0" rIns="0" bIns="0">
            <a:spAutoFit/>
          </a:bodyPr>
          <a:lstStyle/>
          <a:p>
            <a:pPr algn="l"/>
            <a:r>
              <a:rPr sz="1250" b="1" i="0">
                <a:solidFill>
                  <a:srgbClr val="1E2447"/>
                </a:solidFill>
                <a:latin typeface="Cambria"/>
              </a:rPr>
              <a:t>Essential nature (svabhav)</a:t>
            </a:r>
          </a:p>
        </p:txBody>
      </p:sp>
      <p:sp>
        <p:nvSpPr>
          <p:cNvPr id="15" name="TextBox 14"/>
          <p:cNvSpPr txBox="1"/>
          <p:nvPr/>
        </p:nvSpPr>
        <p:spPr>
          <a:xfrm>
            <a:off x="841247" y="3035807"/>
            <a:ext cx="3392424" cy="630936"/>
          </a:xfrm>
          <a:prstGeom prst="rect">
            <a:avLst/>
          </a:prstGeom>
          <a:noFill/>
        </p:spPr>
        <p:txBody>
          <a:bodyPr wrap="square" anchor="t" lIns="0" tIns="0" rIns="0" bIns="0">
            <a:spAutoFit/>
          </a:bodyPr>
          <a:lstStyle/>
          <a:p>
            <a:pPr algn="l"/>
            <a:r>
              <a:rPr sz="1050" b="0" i="0">
                <a:solidFill>
                  <a:srgbClr val="5A6377"/>
                </a:solidFill>
                <a:latin typeface="Calibri"/>
              </a:rPr>
              <a:t>Its characteristic conduct and functional significance in participation: integrating, vitalising or humane, for example.</a:t>
            </a:r>
          </a:p>
        </p:txBody>
      </p:sp>
      <p:sp>
        <p:nvSpPr>
          <p:cNvPr id="16" name="Rectangle 15"/>
          <p:cNvSpPr/>
          <p:nvPr/>
        </p:nvSpPr>
        <p:spPr>
          <a:xfrm>
            <a:off x="4709160" y="2578608"/>
            <a:ext cx="3794760" cy="1207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0328" y="2697479"/>
            <a:ext cx="3392424" cy="292608"/>
          </a:xfrm>
          <a:prstGeom prst="rect">
            <a:avLst/>
          </a:prstGeom>
          <a:noFill/>
        </p:spPr>
        <p:txBody>
          <a:bodyPr wrap="square" anchor="ctr" lIns="0" tIns="0" rIns="0" bIns="0">
            <a:spAutoFit/>
          </a:bodyPr>
          <a:lstStyle/>
          <a:p>
            <a:pPr algn="l"/>
            <a:r>
              <a:rPr sz="1250" b="1" i="0">
                <a:solidFill>
                  <a:srgbClr val="1E2447"/>
                </a:solidFill>
                <a:latin typeface="Cambria"/>
              </a:rPr>
              <a:t>Dharma</a:t>
            </a:r>
          </a:p>
        </p:txBody>
      </p:sp>
      <p:sp>
        <p:nvSpPr>
          <p:cNvPr id="18" name="TextBox 17"/>
          <p:cNvSpPr txBox="1"/>
          <p:nvPr/>
        </p:nvSpPr>
        <p:spPr>
          <a:xfrm>
            <a:off x="4910328" y="3035807"/>
            <a:ext cx="3392424" cy="630936"/>
          </a:xfrm>
          <a:prstGeom prst="rect">
            <a:avLst/>
          </a:prstGeom>
          <a:noFill/>
        </p:spPr>
        <p:txBody>
          <a:bodyPr wrap="square" anchor="t" lIns="0" tIns="0" rIns="0" bIns="0">
            <a:spAutoFit/>
          </a:bodyPr>
          <a:lstStyle/>
          <a:p>
            <a:pPr algn="l"/>
            <a:r>
              <a:rPr sz="1050" b="0" i="0">
                <a:solidFill>
                  <a:srgbClr val="5A6377"/>
                </a:solidFill>
                <a:latin typeface="Calibri"/>
              </a:rPr>
              <a:t>Innateness: what the unit bears inseparably and what its fulfilment means.</a:t>
            </a:r>
          </a:p>
        </p:txBody>
      </p:sp>
      <p:sp>
        <p:nvSpPr>
          <p:cNvPr id="19" name="Rectangle 18"/>
          <p:cNvSpPr/>
          <p:nvPr/>
        </p:nvSpPr>
        <p:spPr>
          <a:xfrm>
            <a:off x="640080" y="3931920"/>
            <a:ext cx="7863840" cy="68580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931920"/>
            <a:ext cx="7406640" cy="685800"/>
          </a:xfrm>
          <a:prstGeom prst="rect">
            <a:avLst/>
          </a:prstGeom>
          <a:noFill/>
        </p:spPr>
        <p:txBody>
          <a:bodyPr wrap="square" anchor="ctr" lIns="0" tIns="0" rIns="0" bIns="0">
            <a:spAutoFit/>
          </a:bodyPr>
          <a:lstStyle/>
          <a:p>
            <a:pPr algn="l"/>
            <a:r>
              <a:rPr sz="1080" b="0" i="0">
                <a:solidFill>
                  <a:srgbClr val="5A6377"/>
                </a:solidFill>
                <a:latin typeface="Calibri"/>
              </a:rPr>
              <a:t>The active unit bears these four aspects. Effort, motion and result describe its activity through their connected expression.</a:t>
            </a:r>
          </a:p>
        </p:txBody>
      </p:sp>
      <p:sp>
        <p:nvSpPr>
          <p:cNvPr id="21" name="TextBox 20"/>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 47  ·  SB pp. 60–62  ·  KD §§3.9–3.10  ·  AnalyticMadhyasthDarshan.org  ·  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ONE  ·  MUTUALITY AND BALANCE</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Activity in Mutuality</a:t>
            </a:r>
          </a:p>
        </p:txBody>
      </p:sp>
      <p:sp>
        <p:nvSpPr>
          <p:cNvPr id="7" name="Oval 6"/>
          <p:cNvSpPr/>
          <p:nvPr/>
        </p:nvSpPr>
        <p:spPr>
          <a:xfrm>
            <a:off x="640080" y="1348739"/>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280160"/>
            <a:ext cx="7406640" cy="502920"/>
          </a:xfrm>
          <a:prstGeom prst="rect">
            <a:avLst/>
          </a:prstGeom>
          <a:noFill/>
        </p:spPr>
        <p:txBody>
          <a:bodyPr wrap="square" anchor="ctr" lIns="0" tIns="0" rIns="0" bIns="0">
            <a:spAutoFit/>
          </a:bodyPr>
          <a:lstStyle/>
          <a:p>
            <a:pPr algn="l"/>
            <a:r>
              <a:rPr sz="1300" b="1" i="0">
                <a:solidFill>
                  <a:srgbClr val="1E2447"/>
                </a:solidFill>
                <a:latin typeface="Calibri"/>
              </a:rPr>
              <a:t>Recognising and fulfilling are inherent in every entity of nature</a:t>
            </a:r>
            <a:r>
              <a:rPr sz="1300" b="0" i="0">
                <a:solidFill>
                  <a:srgbClr val="5A6377"/>
                </a:solidFill>
                <a:latin typeface="Calibri"/>
              </a:rPr>
              <a:t>  —  even an atomic particle</a:t>
            </a:r>
          </a:p>
        </p:txBody>
      </p:sp>
      <p:sp>
        <p:nvSpPr>
          <p:cNvPr id="9" name="Oval 8"/>
          <p:cNvSpPr/>
          <p:nvPr/>
        </p:nvSpPr>
        <p:spPr>
          <a:xfrm>
            <a:off x="640080" y="1970532"/>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901952"/>
            <a:ext cx="7406640" cy="502920"/>
          </a:xfrm>
          <a:prstGeom prst="rect">
            <a:avLst/>
          </a:prstGeom>
          <a:noFill/>
        </p:spPr>
        <p:txBody>
          <a:bodyPr wrap="square" anchor="ctr" lIns="0" tIns="0" rIns="0" bIns="0">
            <a:spAutoFit/>
          </a:bodyPr>
          <a:lstStyle/>
          <a:p>
            <a:pPr algn="l"/>
            <a:r>
              <a:rPr sz="1300" b="1" i="0">
                <a:solidFill>
                  <a:srgbClr val="1E2447"/>
                </a:solidFill>
                <a:latin typeface="Calibri"/>
              </a:rPr>
              <a:t>Complementary participation sustains mutual fulfilment</a:t>
            </a:r>
            <a:r>
              <a:rPr sz="1300" b="0" i="0">
                <a:solidFill>
                  <a:srgbClr val="5A6377"/>
                </a:solidFill>
                <a:latin typeface="Calibri"/>
              </a:rPr>
              <a:t> through offering and acceptance.</a:t>
            </a:r>
          </a:p>
        </p:txBody>
      </p:sp>
      <p:sp>
        <p:nvSpPr>
          <p:cNvPr id="11" name="Oval 10"/>
          <p:cNvSpPr/>
          <p:nvPr/>
        </p:nvSpPr>
        <p:spPr>
          <a:xfrm>
            <a:off x="640080" y="2592324"/>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523744"/>
            <a:ext cx="7406640" cy="502920"/>
          </a:xfrm>
          <a:prstGeom prst="rect">
            <a:avLst/>
          </a:prstGeom>
          <a:noFill/>
        </p:spPr>
        <p:txBody>
          <a:bodyPr wrap="square" anchor="ctr" lIns="0" tIns="0" rIns="0" bIns="0">
            <a:spAutoFit/>
          </a:bodyPr>
          <a:lstStyle/>
          <a:p>
            <a:pPr algn="l"/>
            <a:r>
              <a:rPr sz="1300" b="1" i="0">
                <a:solidFill>
                  <a:srgbClr val="1E2447"/>
                </a:solidFill>
                <a:latin typeface="Calibri"/>
              </a:rPr>
              <a:t>Mediative activity regulates the generative and the degenerative</a:t>
            </a:r>
            <a:r>
              <a:rPr sz="1300" b="0" i="0">
                <a:solidFill>
                  <a:srgbClr val="5A6377"/>
                </a:solidFill>
                <a:latin typeface="Calibri"/>
              </a:rPr>
              <a:t>  —  and maintains balance</a:t>
            </a:r>
          </a:p>
        </p:txBody>
      </p:sp>
      <p:sp>
        <p:nvSpPr>
          <p:cNvPr id="13" name="Oval 12"/>
          <p:cNvSpPr/>
          <p:nvPr/>
        </p:nvSpPr>
        <p:spPr>
          <a:xfrm>
            <a:off x="640080" y="3214116"/>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145536"/>
            <a:ext cx="7406640" cy="502920"/>
          </a:xfrm>
          <a:prstGeom prst="rect">
            <a:avLst/>
          </a:prstGeom>
          <a:noFill/>
        </p:spPr>
        <p:txBody>
          <a:bodyPr wrap="square" anchor="ctr" lIns="0" tIns="0" rIns="0" bIns="0">
            <a:spAutoFit/>
          </a:bodyPr>
          <a:lstStyle/>
          <a:p>
            <a:pPr algn="l"/>
            <a:r>
              <a:rPr sz="1300" b="1" i="0">
                <a:solidFill>
                  <a:srgbClr val="1E2447"/>
                </a:solidFill>
                <a:latin typeface="Calibri"/>
              </a:rPr>
              <a:t>Each realised result conditions further participation</a:t>
            </a:r>
            <a:r>
              <a:rPr sz="1300" b="0" i="0">
                <a:solidFill>
                  <a:srgbClr val="5A6377"/>
                </a:solidFill>
                <a:latin typeface="Calibri"/>
              </a:rPr>
              <a:t> in the situation the units now face.</a:t>
            </a:r>
          </a:p>
        </p:txBody>
      </p:sp>
      <p:sp>
        <p:nvSpPr>
          <p:cNvPr id="15" name="Oval 14"/>
          <p:cNvSpPr/>
          <p:nvPr/>
        </p:nvSpPr>
        <p:spPr>
          <a:xfrm>
            <a:off x="640080" y="3835908"/>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767328"/>
            <a:ext cx="7406640" cy="502920"/>
          </a:xfrm>
          <a:prstGeom prst="rect">
            <a:avLst/>
          </a:prstGeom>
          <a:noFill/>
        </p:spPr>
        <p:txBody>
          <a:bodyPr wrap="square" anchor="ctr" lIns="0" tIns="0" rIns="0" bIns="0">
            <a:spAutoFit/>
          </a:bodyPr>
          <a:lstStyle/>
          <a:p>
            <a:pPr algn="l"/>
            <a:r>
              <a:rPr sz="1300" b="1" i="0">
                <a:solidFill>
                  <a:srgbClr val="1E2447"/>
                </a:solidFill>
                <a:latin typeface="Calibri"/>
              </a:rPr>
              <a:t>Law, regulation and balance have natural expression</a:t>
            </a:r>
            <a:r>
              <a:rPr sz="1300" b="0" i="0">
                <a:solidFill>
                  <a:srgbClr val="5A6377"/>
                </a:solidFill>
                <a:latin typeface="Calibri"/>
              </a:rPr>
              <a:t> as niyam, niyantran and santulan.</a:t>
            </a:r>
          </a:p>
        </p:txBody>
      </p:sp>
      <p:sp>
        <p:nvSpPr>
          <p:cNvPr id="17" name="Rectangle 16"/>
          <p:cNvSpPr/>
          <p:nvPr/>
        </p:nvSpPr>
        <p:spPr>
          <a:xfrm>
            <a:off x="640080" y="4434840"/>
            <a:ext cx="7863840" cy="3200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434840"/>
            <a:ext cx="7406640" cy="320040"/>
          </a:xfrm>
          <a:prstGeom prst="rect">
            <a:avLst/>
          </a:prstGeom>
          <a:noFill/>
        </p:spPr>
        <p:txBody>
          <a:bodyPr wrap="square" anchor="ctr" lIns="0" tIns="0" rIns="0" bIns="0">
            <a:spAutoFit/>
          </a:bodyPr>
          <a:lstStyle/>
          <a:p>
            <a:pPr algn="l"/>
            <a:r>
              <a:rPr sz="1050" b="0" i="0">
                <a:solidFill>
                  <a:srgbClr val="5A6377"/>
                </a:solidFill>
                <a:latin typeface="Calibri"/>
              </a:rPr>
              <a:t>Satta stays actionless throughout: saturated units themselves recognise, fulfil, regulate, and balance in mutuality.</a:t>
            </a:r>
          </a:p>
        </p:txBody>
      </p:sp>
      <p:sp>
        <p:nvSpPr>
          <p:cNvPr id="19" name="TextBox 18"/>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JV pp. 69–70  ·  SB pp. 143–144, 249–251  ·  MVD pp. 25–26, 48  ·  AnalyticMadhyasthDarshan.org  ·  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anchor="ctr" lIns="0" tIns="0" rIns="0" bIns="0">
            <a:spAutoFit/>
          </a:bodyPr>
          <a:lstStyle/>
          <a:p>
            <a:pPr algn="l"/>
            <a:r>
              <a:rPr sz="1200" b="1" i="0">
                <a:solidFill>
                  <a:srgbClr val="C9821E"/>
                </a:solidFill>
                <a:latin typeface="Calibri"/>
              </a:rPr>
              <a:t>MOVEMENT TWO  ·  STUDY §§3.5–6</a:t>
            </a:r>
          </a:p>
        </p:txBody>
      </p:sp>
      <p:sp>
        <p:nvSpPr>
          <p:cNvPr id="12" name="TextBox 11"/>
          <p:cNvSpPr txBox="1"/>
          <p:nvPr/>
        </p:nvSpPr>
        <p:spPr>
          <a:xfrm>
            <a:off x="640080" y="1572768"/>
            <a:ext cx="5577840" cy="1371600"/>
          </a:xfrm>
          <a:prstGeom prst="rect">
            <a:avLst/>
          </a:prstGeom>
          <a:noFill/>
        </p:spPr>
        <p:txBody>
          <a:bodyPr wrap="square" anchor="ctr" lIns="0" tIns="0" rIns="0" bIns="0">
            <a:spAutoFit/>
          </a:bodyPr>
          <a:lstStyle/>
          <a:p>
            <a:pPr algn="l"/>
            <a:r>
              <a:rPr sz="4400" b="1" i="0">
                <a:solidFill>
                  <a:srgbClr val="FFFFFF"/>
                </a:solidFill>
                <a:latin typeface="Cambria"/>
              </a:rPr>
              <a:t>Four Orders, Two Lines</a:t>
            </a:r>
          </a:p>
        </p:txBody>
      </p:sp>
      <p:sp>
        <p:nvSpPr>
          <p:cNvPr id="13" name="TextBox 12"/>
          <p:cNvSpPr txBox="1"/>
          <p:nvPr/>
        </p:nvSpPr>
        <p:spPr>
          <a:xfrm>
            <a:off x="640080" y="2926080"/>
            <a:ext cx="4846320" cy="960120"/>
          </a:xfrm>
          <a:prstGeom prst="rect">
            <a:avLst/>
          </a:prstGeom>
          <a:noFill/>
        </p:spPr>
        <p:txBody>
          <a:bodyPr wrap="square" anchor="ctr" lIns="0" tIns="0" rIns="0" bIns="0">
            <a:spAutoFit/>
          </a:bodyPr>
          <a:lstStyle/>
          <a:p>
            <a:pPr algn="l"/>
            <a:r>
              <a:rPr sz="1500" b="0" i="1">
                <a:solidFill>
                  <a:srgbClr val="C9D4EF"/>
                </a:solidFill>
                <a:latin typeface="Calibri"/>
              </a:rPr>
              <a:t>Material composition forms molecules, cells and bodies. Atomic development reaches constitutional completeness as jeevan.</a:t>
            </a:r>
          </a:p>
        </p:txBody>
      </p:sp>
      <p:sp>
        <p:nvSpPr>
          <p:cNvPr id="14" name="TextBox 13"/>
          <p:cNvSpPr txBox="1"/>
          <p:nvPr/>
        </p:nvSpPr>
        <p:spPr>
          <a:xfrm>
            <a:off x="640080" y="416052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Answers  ·  What holds together?  ·  Where does jeevan come from?</a:t>
            </a:r>
          </a:p>
        </p:txBody>
      </p:sp>
      <p:sp>
        <p:nvSpPr>
          <p:cNvPr id="15" name="TextBox 14"/>
          <p:cNvSpPr txBox="1"/>
          <p:nvPr/>
        </p:nvSpPr>
        <p:spPr>
          <a:xfrm>
            <a:off x="640080" y="443484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AnalyticMadhyasthDarshan.org  ·  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TWO  ·  THE FOUR ORDERS</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Four Orders at a Glance</a:t>
            </a:r>
          </a:p>
        </p:txBody>
      </p:sp>
      <p:sp>
        <p:nvSpPr>
          <p:cNvPr id="7" name="TextBox 6"/>
          <p:cNvSpPr txBox="1"/>
          <p:nvPr/>
        </p:nvSpPr>
        <p:spPr>
          <a:xfrm>
            <a:off x="640080" y="1188720"/>
            <a:ext cx="7955279" cy="457200"/>
          </a:xfrm>
          <a:prstGeom prst="rect">
            <a:avLst/>
          </a:prstGeom>
          <a:noFill/>
        </p:spPr>
        <p:txBody>
          <a:bodyPr wrap="square" anchor="ctr" lIns="0" tIns="0" rIns="0" bIns="0">
            <a:spAutoFit/>
          </a:bodyPr>
          <a:lstStyle/>
          <a:p>
            <a:pPr algn="l"/>
            <a:r>
              <a:rPr sz="1200" b="0" i="0">
                <a:solidFill>
                  <a:srgbClr val="5A6377"/>
                </a:solidFill>
                <a:latin typeface="Calibri"/>
              </a:rPr>
              <a:t>The four dharma-profiles are cumulative — each later order keeps the earlier contents — and all of nature stays lawful, regulated, and balanced.</a:t>
            </a:r>
          </a:p>
        </p:txBody>
      </p:sp>
      <p:sp>
        <p:nvSpPr>
          <p:cNvPr id="8" name="Rectangle 7"/>
          <p:cNvSpPr/>
          <p:nvPr/>
        </p:nvSpPr>
        <p:spPr>
          <a:xfrm>
            <a:off x="640080" y="1755648"/>
            <a:ext cx="1572768" cy="65836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10512"/>
            <a:ext cx="1371600" cy="274320"/>
          </a:xfrm>
          <a:prstGeom prst="rect">
            <a:avLst/>
          </a:prstGeom>
          <a:noFill/>
        </p:spPr>
        <p:txBody>
          <a:bodyPr wrap="square" anchor="ctr" lIns="0" tIns="0" rIns="0" bIns="0">
            <a:spAutoFit/>
          </a:bodyPr>
          <a:lstStyle/>
          <a:p>
            <a:pPr algn="l"/>
            <a:r>
              <a:rPr sz="1300" b="1" i="0">
                <a:solidFill>
                  <a:srgbClr val="FFFFFF"/>
                </a:solidFill>
                <a:latin typeface="Cambria"/>
              </a:rPr>
              <a:t>Material</a:t>
            </a:r>
          </a:p>
        </p:txBody>
      </p:sp>
      <p:sp>
        <p:nvSpPr>
          <p:cNvPr id="10" name="TextBox 9"/>
          <p:cNvSpPr txBox="1"/>
          <p:nvPr/>
        </p:nvSpPr>
        <p:spPr>
          <a:xfrm>
            <a:off x="749808" y="2093976"/>
            <a:ext cx="1371600" cy="274320"/>
          </a:xfrm>
          <a:prstGeom prst="rect">
            <a:avLst/>
          </a:prstGeom>
          <a:noFill/>
        </p:spPr>
        <p:txBody>
          <a:bodyPr wrap="square" anchor="ctr" lIns="0" tIns="0" rIns="0" bIns="0">
            <a:spAutoFit/>
          </a:bodyPr>
          <a:lstStyle/>
          <a:p>
            <a:pPr algn="l"/>
            <a:r>
              <a:rPr sz="800" b="0" i="0">
                <a:solidFill>
                  <a:srgbClr val="C9D4EF"/>
                </a:solidFill>
                <a:latin typeface="Calibri"/>
              </a:rPr>
              <a:t>soil, stone, atom, molecule, compound</a:t>
            </a:r>
          </a:p>
        </p:txBody>
      </p:sp>
      <p:sp>
        <p:nvSpPr>
          <p:cNvPr id="11" name="Rectangle 10"/>
          <p:cNvSpPr/>
          <p:nvPr/>
        </p:nvSpPr>
        <p:spPr>
          <a:xfrm>
            <a:off x="2212848" y="1755648"/>
            <a:ext cx="6291072" cy="65836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95728" y="1755648"/>
            <a:ext cx="5943600" cy="658368"/>
          </a:xfrm>
          <a:prstGeom prst="rect">
            <a:avLst/>
          </a:prstGeom>
          <a:noFill/>
        </p:spPr>
        <p:txBody>
          <a:bodyPr wrap="square" anchor="ctr" lIns="0" tIns="0" rIns="0" bIns="0">
            <a:spAutoFit/>
          </a:bodyPr>
          <a:lstStyle/>
          <a:p>
            <a:pPr algn="l"/>
            <a:r>
              <a:rPr sz="1080" b="0" i="0">
                <a:solidFill>
                  <a:srgbClr val="5A6377"/>
                </a:solidFill>
                <a:latin typeface="Calibri"/>
              </a:rPr>
              <a:t>Dharma: existence  ·  constitution- and result-conformance  ·  distinctly evidences law (niyam)</a:t>
            </a:r>
          </a:p>
        </p:txBody>
      </p:sp>
      <p:sp>
        <p:nvSpPr>
          <p:cNvPr id="13" name="Rectangle 12"/>
          <p:cNvSpPr/>
          <p:nvPr/>
        </p:nvSpPr>
        <p:spPr>
          <a:xfrm>
            <a:off x="640080" y="2487168"/>
            <a:ext cx="1572768" cy="65836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42032"/>
            <a:ext cx="1371600" cy="274320"/>
          </a:xfrm>
          <a:prstGeom prst="rect">
            <a:avLst/>
          </a:prstGeom>
          <a:noFill/>
        </p:spPr>
        <p:txBody>
          <a:bodyPr wrap="square" anchor="ctr" lIns="0" tIns="0" rIns="0" bIns="0">
            <a:spAutoFit/>
          </a:bodyPr>
          <a:lstStyle/>
          <a:p>
            <a:pPr algn="l"/>
            <a:r>
              <a:rPr sz="1300" b="1" i="0">
                <a:solidFill>
                  <a:srgbClr val="FFFFFF"/>
                </a:solidFill>
                <a:latin typeface="Cambria"/>
              </a:rPr>
              <a:t>Pranic</a:t>
            </a:r>
          </a:p>
        </p:txBody>
      </p:sp>
      <p:sp>
        <p:nvSpPr>
          <p:cNvPr id="15" name="TextBox 14"/>
          <p:cNvSpPr txBox="1"/>
          <p:nvPr/>
        </p:nvSpPr>
        <p:spPr>
          <a:xfrm>
            <a:off x="749808" y="2825496"/>
            <a:ext cx="1371600" cy="274320"/>
          </a:xfrm>
          <a:prstGeom prst="rect">
            <a:avLst/>
          </a:prstGeom>
          <a:noFill/>
        </p:spPr>
        <p:txBody>
          <a:bodyPr wrap="square" anchor="ctr" lIns="0" tIns="0" rIns="0" bIns="0">
            <a:spAutoFit/>
          </a:bodyPr>
          <a:lstStyle/>
          <a:p>
            <a:pPr algn="l"/>
            <a:r>
              <a:rPr sz="800" b="0" i="0">
                <a:solidFill>
                  <a:srgbClr val="C9D4EF"/>
                </a:solidFill>
                <a:latin typeface="Calibri"/>
              </a:rPr>
              <a:t>cell, plant, every living body</a:t>
            </a:r>
          </a:p>
        </p:txBody>
      </p:sp>
      <p:sp>
        <p:nvSpPr>
          <p:cNvPr id="16" name="Rectangle 15"/>
          <p:cNvSpPr/>
          <p:nvPr/>
        </p:nvSpPr>
        <p:spPr>
          <a:xfrm>
            <a:off x="2212848" y="2487168"/>
            <a:ext cx="6291072" cy="65836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95728" y="2487168"/>
            <a:ext cx="5943600" cy="658368"/>
          </a:xfrm>
          <a:prstGeom prst="rect">
            <a:avLst/>
          </a:prstGeom>
          <a:noFill/>
        </p:spPr>
        <p:txBody>
          <a:bodyPr wrap="square" anchor="ctr" lIns="0" tIns="0" rIns="0" bIns="0">
            <a:spAutoFit/>
          </a:bodyPr>
          <a:lstStyle/>
          <a:p>
            <a:pPr algn="l"/>
            <a:r>
              <a:rPr sz="1080" b="0" i="0">
                <a:solidFill>
                  <a:srgbClr val="5A6377"/>
                </a:solidFill>
                <a:latin typeface="Calibri"/>
              </a:rPr>
              <a:t>Dharma: + growth  ·  seed-conformance  ·  distinctly evidences regulation (niyantran)</a:t>
            </a:r>
          </a:p>
        </p:txBody>
      </p:sp>
      <p:sp>
        <p:nvSpPr>
          <p:cNvPr id="18" name="Rectangle 17"/>
          <p:cNvSpPr/>
          <p:nvPr/>
        </p:nvSpPr>
        <p:spPr>
          <a:xfrm>
            <a:off x="640080" y="3218687"/>
            <a:ext cx="1572768" cy="65836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273551"/>
            <a:ext cx="1371600" cy="274320"/>
          </a:xfrm>
          <a:prstGeom prst="rect">
            <a:avLst/>
          </a:prstGeom>
          <a:noFill/>
        </p:spPr>
        <p:txBody>
          <a:bodyPr wrap="square" anchor="ctr" lIns="0" tIns="0" rIns="0" bIns="0">
            <a:spAutoFit/>
          </a:bodyPr>
          <a:lstStyle/>
          <a:p>
            <a:pPr algn="l"/>
            <a:r>
              <a:rPr sz="1300" b="1" i="0">
                <a:solidFill>
                  <a:srgbClr val="FFFFFF"/>
                </a:solidFill>
                <a:latin typeface="Cambria"/>
              </a:rPr>
              <a:t>Animal</a:t>
            </a:r>
          </a:p>
        </p:txBody>
      </p:sp>
      <p:sp>
        <p:nvSpPr>
          <p:cNvPr id="20" name="TextBox 19"/>
          <p:cNvSpPr txBox="1"/>
          <p:nvPr/>
        </p:nvSpPr>
        <p:spPr>
          <a:xfrm>
            <a:off x="749808" y="3557015"/>
            <a:ext cx="1371600" cy="274320"/>
          </a:xfrm>
          <a:prstGeom prst="rect">
            <a:avLst/>
          </a:prstGeom>
          <a:noFill/>
        </p:spPr>
        <p:txBody>
          <a:bodyPr wrap="square" anchor="ctr" lIns="0" tIns="0" rIns="0" bIns="0">
            <a:spAutoFit/>
          </a:bodyPr>
          <a:lstStyle/>
          <a:p>
            <a:pPr algn="l"/>
            <a:r>
              <a:rPr sz="800" b="0" i="0">
                <a:solidFill>
                  <a:srgbClr val="C9D4EF"/>
                </a:solidFill>
                <a:latin typeface="Calibri"/>
              </a:rPr>
              <a:t>animal body joined with jeevan</a:t>
            </a:r>
          </a:p>
        </p:txBody>
      </p:sp>
      <p:sp>
        <p:nvSpPr>
          <p:cNvPr id="21" name="Rectangle 20"/>
          <p:cNvSpPr/>
          <p:nvPr/>
        </p:nvSpPr>
        <p:spPr>
          <a:xfrm>
            <a:off x="2212848" y="3218687"/>
            <a:ext cx="6291072" cy="65836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95728" y="3218687"/>
            <a:ext cx="5943600" cy="658368"/>
          </a:xfrm>
          <a:prstGeom prst="rect">
            <a:avLst/>
          </a:prstGeom>
          <a:noFill/>
        </p:spPr>
        <p:txBody>
          <a:bodyPr wrap="square" anchor="ctr" lIns="0" tIns="0" rIns="0" bIns="0">
            <a:spAutoFit/>
          </a:bodyPr>
          <a:lstStyle/>
          <a:p>
            <a:pPr algn="l"/>
            <a:r>
              <a:rPr sz="1080" b="0" i="0">
                <a:solidFill>
                  <a:srgbClr val="5A6377"/>
                </a:solidFill>
                <a:latin typeface="Calibri"/>
              </a:rPr>
              <a:t>Dharma: + hope to live  ·  species-conformance  ·  distinctly evidences balance (santulan)</a:t>
            </a:r>
          </a:p>
        </p:txBody>
      </p:sp>
      <p:sp>
        <p:nvSpPr>
          <p:cNvPr id="23" name="Rectangle 22"/>
          <p:cNvSpPr/>
          <p:nvPr/>
        </p:nvSpPr>
        <p:spPr>
          <a:xfrm>
            <a:off x="640080" y="3950207"/>
            <a:ext cx="1572768" cy="658368"/>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005071"/>
            <a:ext cx="1371600" cy="274320"/>
          </a:xfrm>
          <a:prstGeom prst="rect">
            <a:avLst/>
          </a:prstGeom>
          <a:noFill/>
        </p:spPr>
        <p:txBody>
          <a:bodyPr wrap="square" anchor="ctr" lIns="0" tIns="0" rIns="0" bIns="0">
            <a:spAutoFit/>
          </a:bodyPr>
          <a:lstStyle/>
          <a:p>
            <a:pPr algn="l"/>
            <a:r>
              <a:rPr sz="1300" b="1" i="0">
                <a:solidFill>
                  <a:srgbClr val="FFFFFF"/>
                </a:solidFill>
                <a:latin typeface="Cambria"/>
              </a:rPr>
              <a:t>Knowledge</a:t>
            </a:r>
          </a:p>
        </p:txBody>
      </p:sp>
      <p:sp>
        <p:nvSpPr>
          <p:cNvPr id="25" name="TextBox 24"/>
          <p:cNvSpPr txBox="1"/>
          <p:nvPr/>
        </p:nvSpPr>
        <p:spPr>
          <a:xfrm>
            <a:off x="749808" y="4288536"/>
            <a:ext cx="1371600" cy="274320"/>
          </a:xfrm>
          <a:prstGeom prst="rect">
            <a:avLst/>
          </a:prstGeom>
          <a:noFill/>
        </p:spPr>
        <p:txBody>
          <a:bodyPr wrap="square" anchor="ctr" lIns="0" tIns="0" rIns="0" bIns="0">
            <a:spAutoFit/>
          </a:bodyPr>
          <a:lstStyle/>
          <a:p>
            <a:pPr algn="l"/>
            <a:r>
              <a:rPr sz="800" b="0" i="0">
                <a:solidFill>
                  <a:srgbClr val="C9D4EF"/>
                </a:solidFill>
                <a:latin typeface="Calibri"/>
              </a:rPr>
              <a:t>human body joined with jeevan</a:t>
            </a:r>
          </a:p>
        </p:txBody>
      </p:sp>
      <p:sp>
        <p:nvSpPr>
          <p:cNvPr id="26" name="Rectangle 25"/>
          <p:cNvSpPr/>
          <p:nvPr/>
        </p:nvSpPr>
        <p:spPr>
          <a:xfrm>
            <a:off x="2212848" y="3950207"/>
            <a:ext cx="6291072" cy="65836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95728" y="3950207"/>
            <a:ext cx="5943600" cy="658368"/>
          </a:xfrm>
          <a:prstGeom prst="rect">
            <a:avLst/>
          </a:prstGeom>
          <a:noFill/>
        </p:spPr>
        <p:txBody>
          <a:bodyPr wrap="square" anchor="ctr" lIns="0" tIns="0" rIns="0" bIns="0">
            <a:spAutoFit/>
          </a:bodyPr>
          <a:lstStyle/>
          <a:p>
            <a:pPr algn="l"/>
            <a:r>
              <a:rPr sz="1080" b="0" i="0">
                <a:solidFill>
                  <a:srgbClr val="5A6377"/>
                </a:solidFill>
                <a:latin typeface="Calibri"/>
              </a:rPr>
              <a:t>Dharma: + happiness  ·  sanskar-conformance  ·  must consciously establish law, regulation, balance</a:t>
            </a:r>
          </a:p>
        </p:txBody>
      </p:sp>
      <p:sp>
        <p:nvSpPr>
          <p:cNvPr id="28" name="TextBox 27"/>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 50, 115  ·  SB pp. 179, 231–236  ·  JV p. 47  ·  AnalyticMadhyasthDarshan.org  ·  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TWO  ·  STRUCTURE AS ACTIVITY</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When Activities Run as One</a:t>
            </a:r>
          </a:p>
        </p:txBody>
      </p:sp>
      <p:sp>
        <p:nvSpPr>
          <p:cNvPr id="7" name="Rectangle 6"/>
          <p:cNvSpPr/>
          <p:nvPr/>
        </p:nvSpPr>
        <p:spPr>
          <a:xfrm>
            <a:off x="640080" y="1234440"/>
            <a:ext cx="3794760" cy="12344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53312"/>
            <a:ext cx="3392424" cy="292608"/>
          </a:xfrm>
          <a:prstGeom prst="rect">
            <a:avLst/>
          </a:prstGeom>
          <a:noFill/>
        </p:spPr>
        <p:txBody>
          <a:bodyPr wrap="square" anchor="ctr" lIns="0" tIns="0" rIns="0" bIns="0">
            <a:spAutoFit/>
          </a:bodyPr>
          <a:lstStyle/>
          <a:p>
            <a:pPr algn="l"/>
            <a:r>
              <a:rPr sz="1300" b="1" i="0">
                <a:solidFill>
                  <a:srgbClr val="1E2447"/>
                </a:solidFill>
                <a:latin typeface="Cambria"/>
              </a:rPr>
              <a:t>Mixture</a:t>
            </a:r>
          </a:p>
        </p:txBody>
      </p:sp>
      <p:sp>
        <p:nvSpPr>
          <p:cNvPr id="9" name="TextBox 8"/>
          <p:cNvSpPr txBox="1"/>
          <p:nvPr/>
        </p:nvSpPr>
        <p:spPr>
          <a:xfrm>
            <a:off x="841247" y="1691640"/>
            <a:ext cx="3392424" cy="658368"/>
          </a:xfrm>
          <a:prstGeom prst="rect">
            <a:avLst/>
          </a:prstGeom>
          <a:noFill/>
        </p:spPr>
        <p:txBody>
          <a:bodyPr wrap="square" anchor="t" lIns="0" tIns="0" rIns="0" bIns="0">
            <a:spAutoFit/>
          </a:bodyPr>
          <a:lstStyle/>
          <a:p>
            <a:pPr algn="l"/>
            <a:r>
              <a:rPr sz="1050" b="0" i="0">
                <a:solidFill>
                  <a:srgbClr val="5A6377"/>
                </a:solidFill>
                <a:latin typeface="Calibri"/>
              </a:rPr>
              <a:t>Each component retains its own public conduct, as in sand and sugar stirred together.</a:t>
            </a:r>
          </a:p>
        </p:txBody>
      </p:sp>
      <p:sp>
        <p:nvSpPr>
          <p:cNvPr id="10" name="Rectangle 9"/>
          <p:cNvSpPr/>
          <p:nvPr/>
        </p:nvSpPr>
        <p:spPr>
          <a:xfrm>
            <a:off x="4709160" y="1234440"/>
            <a:ext cx="3794760" cy="12344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53312"/>
            <a:ext cx="3392424" cy="292608"/>
          </a:xfrm>
          <a:prstGeom prst="rect">
            <a:avLst/>
          </a:prstGeom>
          <a:noFill/>
        </p:spPr>
        <p:txBody>
          <a:bodyPr wrap="square" anchor="ctr" lIns="0" tIns="0" rIns="0" bIns="0">
            <a:spAutoFit/>
          </a:bodyPr>
          <a:lstStyle/>
          <a:p>
            <a:pPr algn="l"/>
            <a:r>
              <a:rPr sz="1300" b="1" i="0">
                <a:solidFill>
                  <a:srgbClr val="9A6414"/>
                </a:solidFill>
                <a:latin typeface="Cambria"/>
              </a:rPr>
              <a:t>Compound — a closure</a:t>
            </a:r>
          </a:p>
        </p:txBody>
      </p:sp>
      <p:sp>
        <p:nvSpPr>
          <p:cNvPr id="12" name="TextBox 11"/>
          <p:cNvSpPr txBox="1"/>
          <p:nvPr/>
        </p:nvSpPr>
        <p:spPr>
          <a:xfrm>
            <a:off x="4910328" y="1691640"/>
            <a:ext cx="3392424" cy="658368"/>
          </a:xfrm>
          <a:prstGeom prst="rect">
            <a:avLst/>
          </a:prstGeom>
          <a:noFill/>
        </p:spPr>
        <p:txBody>
          <a:bodyPr wrap="square" anchor="t" lIns="0" tIns="0" rIns="0" bIns="0">
            <a:spAutoFit/>
          </a:bodyPr>
          <a:lstStyle/>
          <a:p>
            <a:pPr algn="l"/>
            <a:r>
              <a:rPr sz="1050" b="0" i="0">
                <a:solidFill>
                  <a:srgbClr val="5A6377"/>
                </a:solidFill>
                <a:latin typeface="Calibri"/>
              </a:rPr>
              <a:t>Constituents participate in a bounded whole with its own conduct and four aspects. Their activities continue within it.</a:t>
            </a:r>
          </a:p>
        </p:txBody>
      </p:sp>
      <p:sp>
        <p:nvSpPr>
          <p:cNvPr id="13" name="Oval 12"/>
          <p:cNvSpPr/>
          <p:nvPr/>
        </p:nvSpPr>
        <p:spPr>
          <a:xfrm>
            <a:off x="640080" y="276606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697480"/>
            <a:ext cx="7406640" cy="502920"/>
          </a:xfrm>
          <a:prstGeom prst="rect">
            <a:avLst/>
          </a:prstGeom>
          <a:noFill/>
        </p:spPr>
        <p:txBody>
          <a:bodyPr wrap="square" anchor="ctr" lIns="0" tIns="0" rIns="0" bIns="0">
            <a:spAutoFit/>
          </a:bodyPr>
          <a:lstStyle/>
          <a:p>
            <a:pPr algn="l"/>
            <a:r>
              <a:rPr sz="1300" b="1" i="0">
                <a:solidFill>
                  <a:srgbClr val="1E2447"/>
                </a:solidFill>
                <a:latin typeface="Calibri"/>
              </a:rPr>
              <a:t>A closure is a new unit:</a:t>
            </a:r>
            <a:r>
              <a:rPr sz="1300" b="0" i="0">
                <a:solidFill>
                  <a:srgbClr val="5A6377"/>
                </a:solidFill>
                <a:latin typeface="Calibri"/>
              </a:rPr>
              <a:t> a molecule, compound, cell or body with bounded conduct.</a:t>
            </a:r>
          </a:p>
        </p:txBody>
      </p:sp>
      <p:sp>
        <p:nvSpPr>
          <p:cNvPr id="15" name="Oval 14"/>
          <p:cNvSpPr/>
          <p:nvPr/>
        </p:nvSpPr>
        <p:spPr>
          <a:xfrm>
            <a:off x="640080" y="3387852"/>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319272"/>
            <a:ext cx="7406640" cy="502920"/>
          </a:xfrm>
          <a:prstGeom prst="rect">
            <a:avLst/>
          </a:prstGeom>
          <a:noFill/>
        </p:spPr>
        <p:txBody>
          <a:bodyPr wrap="square" anchor="ctr" lIns="0" tIns="0" rIns="0" bIns="0">
            <a:spAutoFit/>
          </a:bodyPr>
          <a:lstStyle/>
          <a:p>
            <a:pPr algn="l"/>
            <a:r>
              <a:rPr sz="1300" b="1" i="0">
                <a:solidFill>
                  <a:srgbClr val="1E2447"/>
                </a:solidFill>
                <a:latin typeface="Calibri"/>
              </a:rPr>
              <a:t>Constituents persist.</a:t>
            </a:r>
            <a:r>
              <a:rPr sz="1300" b="0" i="0">
                <a:solidFill>
                  <a:srgbClr val="5A6377"/>
                </a:solidFill>
                <a:latin typeface="Calibri"/>
              </a:rPr>
              <a:t> Their participation sustains the whole.</a:t>
            </a:r>
          </a:p>
        </p:txBody>
      </p:sp>
      <p:sp>
        <p:nvSpPr>
          <p:cNvPr id="17" name="Oval 16"/>
          <p:cNvSpPr/>
          <p:nvPr/>
        </p:nvSpPr>
        <p:spPr>
          <a:xfrm>
            <a:off x="640080" y="4009644"/>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941064"/>
            <a:ext cx="7406640" cy="502920"/>
          </a:xfrm>
          <a:prstGeom prst="rect">
            <a:avLst/>
          </a:prstGeom>
          <a:noFill/>
        </p:spPr>
        <p:txBody>
          <a:bodyPr wrap="square" anchor="ctr" lIns="0" tIns="0" rIns="0" bIns="0">
            <a:spAutoFit/>
          </a:bodyPr>
          <a:lstStyle/>
          <a:p>
            <a:pPr algn="l"/>
            <a:r>
              <a:rPr sz="1300" b="1" i="0">
                <a:solidFill>
                  <a:srgbClr val="1E2447"/>
                </a:solidFill>
                <a:latin typeface="Calibri"/>
              </a:rPr>
              <a:t>Disintegration changes the whole’s organisation.</a:t>
            </a:r>
            <a:r>
              <a:rPr sz="1300" b="0" i="0">
                <a:solidFill>
                  <a:srgbClr val="5A6377"/>
                </a:solidFill>
                <a:latin typeface="Calibri"/>
              </a:rPr>
              <a:t> Constituent units continue their activity.</a:t>
            </a:r>
          </a:p>
        </p:txBody>
      </p:sp>
      <p:sp>
        <p:nvSpPr>
          <p:cNvPr id="19" name="TextBox 18"/>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 42  ·  SB p. 260  ·  KD §§3.1–3.2, 3.11  ·  AnalyticMadhyasthDarshan.org  ·  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TWO  ·  NIYATI-KRAM</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Composition and Atomic Development</a:t>
            </a:r>
          </a:p>
        </p:txBody>
      </p:sp>
      <p:sp>
        <p:nvSpPr>
          <p:cNvPr id="7" name="Rectangle 6"/>
          <p:cNvSpPr/>
          <p:nvPr/>
        </p:nvSpPr>
        <p:spPr>
          <a:xfrm>
            <a:off x="640080" y="1280160"/>
            <a:ext cx="3794760" cy="2103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3392424" cy="292608"/>
          </a:xfrm>
          <a:prstGeom prst="rect">
            <a:avLst/>
          </a:prstGeom>
          <a:noFill/>
        </p:spPr>
        <p:txBody>
          <a:bodyPr wrap="square" anchor="ctr" lIns="0" tIns="0" rIns="0" bIns="0">
            <a:spAutoFit/>
          </a:bodyPr>
          <a:lstStyle/>
          <a:p>
            <a:pPr algn="l"/>
            <a:r>
              <a:rPr sz="1300" b="1" i="0">
                <a:solidFill>
                  <a:srgbClr val="1E2447"/>
                </a:solidFill>
                <a:latin typeface="Cambria"/>
              </a:rPr>
              <a:t>The compositional line — closures</a:t>
            </a:r>
          </a:p>
        </p:txBody>
      </p:sp>
      <p:sp>
        <p:nvSpPr>
          <p:cNvPr id="9" name="TextBox 8"/>
          <p:cNvSpPr txBox="1"/>
          <p:nvPr/>
        </p:nvSpPr>
        <p:spPr>
          <a:xfrm>
            <a:off x="841247" y="1737360"/>
            <a:ext cx="3392424" cy="1527047"/>
          </a:xfrm>
          <a:prstGeom prst="rect">
            <a:avLst/>
          </a:prstGeom>
          <a:noFill/>
        </p:spPr>
        <p:txBody>
          <a:bodyPr wrap="square" anchor="t" lIns="0" tIns="0" rIns="0" bIns="0">
            <a:spAutoFit/>
          </a:bodyPr>
          <a:lstStyle/>
          <a:p>
            <a:pPr algn="l"/>
            <a:r>
              <a:rPr sz="1080" b="0" i="0">
                <a:solidFill>
                  <a:srgbClr val="5A6377"/>
                </a:solidFill>
                <a:latin typeface="Calibri"/>
              </a:rPr>
              <a:t>Atoms participate in molecules, compounds and minerals. Pranic activity sustains cells and the development of bodies.
A structural whole has its own conduct, with constituents continuing within it.</a:t>
            </a:r>
          </a:p>
        </p:txBody>
      </p:sp>
      <p:sp>
        <p:nvSpPr>
          <p:cNvPr id="10" name="Rectangle 9"/>
          <p:cNvSpPr/>
          <p:nvPr/>
        </p:nvSpPr>
        <p:spPr>
          <a:xfrm>
            <a:off x="4709160" y="1280160"/>
            <a:ext cx="3794760" cy="210312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99031"/>
            <a:ext cx="3392424" cy="292608"/>
          </a:xfrm>
          <a:prstGeom prst="rect">
            <a:avLst/>
          </a:prstGeom>
          <a:noFill/>
        </p:spPr>
        <p:txBody>
          <a:bodyPr wrap="square" anchor="ctr" lIns="0" tIns="0" rIns="0" bIns="0">
            <a:spAutoFit/>
          </a:bodyPr>
          <a:lstStyle/>
          <a:p>
            <a:pPr algn="l"/>
            <a:r>
              <a:rPr sz="1300" b="1" i="0">
                <a:solidFill>
                  <a:srgbClr val="9A6414"/>
                </a:solidFill>
                <a:latin typeface="Cambria"/>
              </a:rPr>
              <a:t>The atomic line — development</a:t>
            </a:r>
          </a:p>
        </p:txBody>
      </p:sp>
      <p:sp>
        <p:nvSpPr>
          <p:cNvPr id="12" name="TextBox 11"/>
          <p:cNvSpPr txBox="1"/>
          <p:nvPr/>
        </p:nvSpPr>
        <p:spPr>
          <a:xfrm>
            <a:off x="4910328" y="1737360"/>
            <a:ext cx="3392424" cy="1527047"/>
          </a:xfrm>
          <a:prstGeom prst="rect">
            <a:avLst/>
          </a:prstGeom>
          <a:noFill/>
        </p:spPr>
        <p:txBody>
          <a:bodyPr wrap="square" anchor="t" lIns="0" tIns="0" rIns="0" bIns="0">
            <a:spAutoFit/>
          </a:bodyPr>
          <a:lstStyle/>
          <a:p>
            <a:pPr algn="l"/>
            <a:r>
              <a:rPr sz="1080" b="0" i="0">
                <a:solidFill>
                  <a:srgbClr val="5A6377"/>
                </a:solidFill>
                <a:latin typeface="Calibri"/>
              </a:rPr>
              <a:t>Atomic development reaches constitutional completeness, gathanpurnata.
The constitutionally complete atom is jeevan, an enduring sentient unit with inexhaustible strength and power.</a:t>
            </a:r>
          </a:p>
        </p:txBody>
      </p:sp>
      <p:sp>
        <p:nvSpPr>
          <p:cNvPr id="13" name="Rectangle 12"/>
          <p:cNvSpPr/>
          <p:nvPr/>
        </p:nvSpPr>
        <p:spPr>
          <a:xfrm>
            <a:off x="640080" y="3611880"/>
            <a:ext cx="7863840" cy="59436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11880"/>
            <a:ext cx="7406640" cy="594360"/>
          </a:xfrm>
          <a:prstGeom prst="rect">
            <a:avLst/>
          </a:prstGeom>
          <a:noFill/>
        </p:spPr>
        <p:txBody>
          <a:bodyPr wrap="square" anchor="ctr" lIns="0" tIns="0" rIns="0" bIns="0">
            <a:spAutoFit/>
          </a:bodyPr>
          <a:lstStyle/>
          <a:p>
            <a:pPr algn="l"/>
            <a:r>
              <a:rPr sz="1080" b="0" i="0">
                <a:solidFill>
                  <a:srgbClr val="5A6377"/>
                </a:solidFill>
                <a:latin typeface="Calibri"/>
              </a:rPr>
              <a:t>Compatible bodies and jeevan associate in animal and human manifestation. Each has the activity and fulfilment appropriate to its order.</a:t>
            </a:r>
          </a:p>
        </p:txBody>
      </p:sp>
      <p:sp>
        <p:nvSpPr>
          <p:cNvPr id="15" name="TextBox 14"/>
          <p:cNvSpPr txBox="1"/>
          <p:nvPr/>
        </p:nvSpPr>
        <p:spPr>
          <a:xfrm>
            <a:off x="640080" y="4343400"/>
            <a:ext cx="7955279" cy="274320"/>
          </a:xfrm>
          <a:prstGeom prst="rect">
            <a:avLst/>
          </a:prstGeom>
          <a:noFill/>
        </p:spPr>
        <p:txBody>
          <a:bodyPr wrap="square" anchor="ctr" lIns="0" tIns="0" rIns="0" bIns="0">
            <a:spAutoFit/>
          </a:bodyPr>
          <a:lstStyle/>
          <a:p>
            <a:pPr algn="l"/>
            <a:r>
              <a:rPr sz="1050" b="0" i="1">
                <a:solidFill>
                  <a:srgbClr val="5A6377"/>
                </a:solidFill>
                <a:latin typeface="Calibri"/>
              </a:rPr>
              <a:t>Niyati-kram: material, pranic, animal, and knowledge orders become manifest in that definite sequence under conducive conditions.</a:t>
            </a:r>
          </a:p>
        </p:txBody>
      </p:sp>
      <p:sp>
        <p:nvSpPr>
          <p:cNvPr id="16" name="TextBox 15"/>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KD §§3.2–3.3  ·  SB pp. 75–76  ·  MVD pp. 8, 13  ·  AnalyticMadhyasthDarshan.org  ·  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TWO  ·  GATHANPURNATA</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The Atom That Becomes Jeevan</a:t>
            </a:r>
          </a:p>
        </p:txBody>
      </p:sp>
      <p:sp>
        <p:nvSpPr>
          <p:cNvPr id="7" name="Oval 6"/>
          <p:cNvSpPr/>
          <p:nvPr/>
        </p:nvSpPr>
        <p:spPr>
          <a:xfrm>
            <a:off x="640080" y="130302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234440"/>
            <a:ext cx="7406640" cy="502920"/>
          </a:xfrm>
          <a:prstGeom prst="rect">
            <a:avLst/>
          </a:prstGeom>
          <a:noFill/>
        </p:spPr>
        <p:txBody>
          <a:bodyPr wrap="square" anchor="ctr" lIns="0" tIns="0" rIns="0" bIns="0">
            <a:spAutoFit/>
          </a:bodyPr>
          <a:lstStyle/>
          <a:p>
            <a:pPr algn="l"/>
            <a:r>
              <a:rPr sz="1300" b="1" i="0">
                <a:solidFill>
                  <a:srgbClr val="1E2447"/>
                </a:solidFill>
                <a:latin typeface="Calibri"/>
              </a:rPr>
              <a:t>Complete particle balance in nucleus and orbits</a:t>
            </a:r>
            <a:r>
              <a:rPr sz="1300" b="0" i="0">
                <a:solidFill>
                  <a:srgbClr val="5A6377"/>
                </a:solidFill>
                <a:latin typeface="Calibri"/>
              </a:rPr>
              <a:t>  —  particle hunger ends, for ever</a:t>
            </a:r>
          </a:p>
        </p:txBody>
      </p:sp>
      <p:sp>
        <p:nvSpPr>
          <p:cNvPr id="9" name="Oval 8"/>
          <p:cNvSpPr/>
          <p:nvPr/>
        </p:nvSpPr>
        <p:spPr>
          <a:xfrm>
            <a:off x="640080" y="1888236"/>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819656"/>
            <a:ext cx="7406640" cy="502920"/>
          </a:xfrm>
          <a:prstGeom prst="rect">
            <a:avLst/>
          </a:prstGeom>
          <a:noFill/>
        </p:spPr>
        <p:txBody>
          <a:bodyPr wrap="square" anchor="ctr" lIns="0" tIns="0" rIns="0" bIns="0">
            <a:spAutoFit/>
          </a:bodyPr>
          <a:lstStyle/>
          <a:p>
            <a:pPr algn="l"/>
            <a:r>
              <a:rPr sz="1300" b="1" i="0">
                <a:solidFill>
                  <a:srgbClr val="1E2447"/>
                </a:solidFill>
                <a:latin typeface="Calibri"/>
              </a:rPr>
              <a:t>Free of molecular-bondage and weight-bondage</a:t>
            </a:r>
            <a:r>
              <a:rPr sz="1300" b="0" i="0">
                <a:solidFill>
                  <a:srgbClr val="5A6377"/>
                </a:solidFill>
                <a:latin typeface="Calibri"/>
              </a:rPr>
              <a:t>  —  no group holds it, no weight binds it</a:t>
            </a:r>
          </a:p>
        </p:txBody>
      </p:sp>
      <p:sp>
        <p:nvSpPr>
          <p:cNvPr id="11" name="Oval 10"/>
          <p:cNvSpPr/>
          <p:nvPr/>
        </p:nvSpPr>
        <p:spPr>
          <a:xfrm>
            <a:off x="640080" y="2473452"/>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404872"/>
            <a:ext cx="7406640" cy="502920"/>
          </a:xfrm>
          <a:prstGeom prst="rect">
            <a:avLst/>
          </a:prstGeom>
          <a:noFill/>
        </p:spPr>
        <p:txBody>
          <a:bodyPr wrap="square" anchor="ctr" lIns="0" tIns="0" rIns="0" bIns="0">
            <a:spAutoFit/>
          </a:bodyPr>
          <a:lstStyle/>
          <a:p>
            <a:pPr algn="l"/>
            <a:r>
              <a:rPr sz="1300" b="1" i="0">
                <a:solidFill>
                  <a:srgbClr val="1E2447"/>
                </a:solidFill>
                <a:latin typeface="Calibri"/>
              </a:rPr>
              <a:t>Strength and power become inexhaustible</a:t>
            </a:r>
            <a:r>
              <a:rPr sz="1300" b="0" i="0">
                <a:solidFill>
                  <a:srgbClr val="5A6377"/>
                </a:solidFill>
                <a:latin typeface="Calibri"/>
              </a:rPr>
              <a:t>  —  “the immortality of result”</a:t>
            </a:r>
          </a:p>
        </p:txBody>
      </p:sp>
      <p:sp>
        <p:nvSpPr>
          <p:cNvPr id="13" name="Oval 12"/>
          <p:cNvSpPr/>
          <p:nvPr/>
        </p:nvSpPr>
        <p:spPr>
          <a:xfrm>
            <a:off x="640080" y="3058668"/>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990088"/>
            <a:ext cx="7406640" cy="502920"/>
          </a:xfrm>
          <a:prstGeom prst="rect">
            <a:avLst/>
          </a:prstGeom>
          <a:noFill/>
        </p:spPr>
        <p:txBody>
          <a:bodyPr wrap="square" anchor="ctr" lIns="0" tIns="0" rIns="0" bIns="0">
            <a:spAutoFit/>
          </a:bodyPr>
          <a:lstStyle/>
          <a:p>
            <a:pPr algn="l"/>
            <a:r>
              <a:rPr sz="1300" b="1" i="0">
                <a:solidFill>
                  <a:srgbClr val="1E2447"/>
                </a:solidFill>
                <a:latin typeface="Calibri"/>
              </a:rPr>
              <a:t>One new bondage appears: hope-bondage (asha-bandhan)</a:t>
            </a:r>
            <a:r>
              <a:rPr sz="1300" b="0" i="0">
                <a:solidFill>
                  <a:srgbClr val="5A6377"/>
                </a:solidFill>
                <a:latin typeface="Calibri"/>
              </a:rPr>
              <a:t>  —  jeevan is never indifferent</a:t>
            </a:r>
          </a:p>
        </p:txBody>
      </p:sp>
      <p:sp>
        <p:nvSpPr>
          <p:cNvPr id="15" name="Rectangle 14"/>
          <p:cNvSpPr/>
          <p:nvPr/>
        </p:nvSpPr>
        <p:spPr>
          <a:xfrm>
            <a:off x="640080" y="3703320"/>
            <a:ext cx="7863840" cy="73152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03320"/>
            <a:ext cx="7406640" cy="731520"/>
          </a:xfrm>
          <a:prstGeom prst="rect">
            <a:avLst/>
          </a:prstGeom>
          <a:noFill/>
        </p:spPr>
        <p:txBody>
          <a:bodyPr wrap="square" anchor="ctr" lIns="0" tIns="0" rIns="0" bIns="0">
            <a:spAutoFit/>
          </a:bodyPr>
          <a:lstStyle/>
          <a:p>
            <a:pPr algn="l"/>
            <a:r>
              <a:rPr sz="1080" b="0" i="1">
                <a:solidFill>
                  <a:srgbClr val="5A6377"/>
                </a:solidFill>
                <a:latin typeface="Calibri"/>
              </a:rPr>
              <a:t>“The evidence of constitutional completeness is the jeevan atom’s liberation from molecular-bondage and weight-bondage, and its having the hope-bondage.”  — MVD, p. 91</a:t>
            </a:r>
          </a:p>
        </p:txBody>
      </p:sp>
      <p:sp>
        <p:nvSpPr>
          <p:cNvPr id="17" name="TextBox 16"/>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 91  ·  SB pp. 55, 61, 92  ·  KD §3.3  ·  AnalyticMadhyasthDarshan.org  ·  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TWO  ·  ANIMAL AND KNOWLEDGE ORDERS</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Body and Jeevan: Joint Forms</a:t>
            </a:r>
          </a:p>
        </p:txBody>
      </p:sp>
      <p:sp>
        <p:nvSpPr>
          <p:cNvPr id="7" name="Rectangle 6"/>
          <p:cNvSpPr/>
          <p:nvPr/>
        </p:nvSpPr>
        <p:spPr>
          <a:xfrm>
            <a:off x="640080" y="1280160"/>
            <a:ext cx="3794760" cy="19659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3392424" cy="292608"/>
          </a:xfrm>
          <a:prstGeom prst="rect">
            <a:avLst/>
          </a:prstGeom>
          <a:noFill/>
        </p:spPr>
        <p:txBody>
          <a:bodyPr wrap="square" anchor="ctr" lIns="0" tIns="0" rIns="0" bIns="0">
            <a:spAutoFit/>
          </a:bodyPr>
          <a:lstStyle/>
          <a:p>
            <a:pPr algn="l"/>
            <a:r>
              <a:rPr sz="1300" b="1" i="0">
                <a:solidFill>
                  <a:srgbClr val="1E2447"/>
                </a:solidFill>
                <a:latin typeface="Cambria"/>
              </a:rPr>
              <a:t>Animal joint form</a:t>
            </a:r>
          </a:p>
        </p:txBody>
      </p:sp>
      <p:sp>
        <p:nvSpPr>
          <p:cNvPr id="9" name="TextBox 8"/>
          <p:cNvSpPr txBox="1"/>
          <p:nvPr/>
        </p:nvSpPr>
        <p:spPr>
          <a:xfrm>
            <a:off x="841247" y="1737360"/>
            <a:ext cx="3392424" cy="1389887"/>
          </a:xfrm>
          <a:prstGeom prst="rect">
            <a:avLst/>
          </a:prstGeom>
          <a:noFill/>
        </p:spPr>
        <p:txBody>
          <a:bodyPr wrap="square" anchor="t" lIns="0" tIns="0" rIns="0" bIns="0">
            <a:spAutoFit/>
          </a:bodyPr>
          <a:lstStyle/>
          <a:p>
            <a:pPr algn="l"/>
            <a:r>
              <a:rPr sz="1080" b="0" i="0">
                <a:solidFill>
                  <a:srgbClr val="5A6377"/>
                </a:solidFill>
                <a:latin typeface="Calibri"/>
              </a:rPr>
              <a:t>The enduring jeevan expresses species-conformant recognition, tasting and selection through the animal body, with the hope to live.</a:t>
            </a:r>
          </a:p>
        </p:txBody>
      </p:sp>
      <p:sp>
        <p:nvSpPr>
          <p:cNvPr id="10" name="Rectangle 9"/>
          <p:cNvSpPr/>
          <p:nvPr/>
        </p:nvSpPr>
        <p:spPr>
          <a:xfrm>
            <a:off x="4709160" y="1280160"/>
            <a:ext cx="3794760" cy="196596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99031"/>
            <a:ext cx="3392424" cy="292608"/>
          </a:xfrm>
          <a:prstGeom prst="rect">
            <a:avLst/>
          </a:prstGeom>
          <a:noFill/>
        </p:spPr>
        <p:txBody>
          <a:bodyPr wrap="square" anchor="ctr" lIns="0" tIns="0" rIns="0" bIns="0">
            <a:spAutoFit/>
          </a:bodyPr>
          <a:lstStyle/>
          <a:p>
            <a:pPr algn="l"/>
            <a:r>
              <a:rPr sz="1300" b="1" i="0">
                <a:solidFill>
                  <a:srgbClr val="9A6414"/>
                </a:solidFill>
                <a:latin typeface="Cambria"/>
              </a:rPr>
              <a:t>Human joint form</a:t>
            </a:r>
          </a:p>
        </p:txBody>
      </p:sp>
      <p:sp>
        <p:nvSpPr>
          <p:cNvPr id="12" name="TextBox 11"/>
          <p:cNvSpPr txBox="1"/>
          <p:nvPr/>
        </p:nvSpPr>
        <p:spPr>
          <a:xfrm>
            <a:off x="4910328" y="1737360"/>
            <a:ext cx="3392424" cy="1389887"/>
          </a:xfrm>
          <a:prstGeom prst="rect">
            <a:avLst/>
          </a:prstGeom>
          <a:noFill/>
        </p:spPr>
        <p:txBody>
          <a:bodyPr wrap="square" anchor="t" lIns="0" tIns="0" rIns="0" bIns="0">
            <a:spAutoFit/>
          </a:bodyPr>
          <a:lstStyle/>
          <a:p>
            <a:pPr algn="l"/>
            <a:r>
              <a:rPr sz="1080" b="0" i="0">
                <a:solidFill>
                  <a:srgbClr val="5A6377"/>
                </a:solidFill>
                <a:latin typeface="Calibri"/>
              </a:rPr>
              <a:t>Imagination and freedom allow inquiry, chosen conduct and correction. Cognisance can govern sensitivity through understanding.</a:t>
            </a:r>
          </a:p>
        </p:txBody>
      </p:sp>
      <p:sp>
        <p:nvSpPr>
          <p:cNvPr id="13" name="Rectangle 12"/>
          <p:cNvSpPr/>
          <p:nvPr/>
        </p:nvSpPr>
        <p:spPr>
          <a:xfrm>
            <a:off x="640080" y="3474720"/>
            <a:ext cx="7863840" cy="73152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74720"/>
            <a:ext cx="7406640" cy="731520"/>
          </a:xfrm>
          <a:prstGeom prst="rect">
            <a:avLst/>
          </a:prstGeom>
          <a:noFill/>
        </p:spPr>
        <p:txBody>
          <a:bodyPr wrap="square" anchor="ctr" lIns="0" tIns="0" rIns="0" bIns="0">
            <a:spAutoFit/>
          </a:bodyPr>
          <a:lstStyle/>
          <a:p>
            <a:pPr algn="l"/>
            <a:r>
              <a:rPr sz="1080" b="0" i="0">
                <a:solidFill>
                  <a:srgbClr val="5A6377"/>
                </a:solidFill>
                <a:latin typeface="Calibri"/>
              </a:rPr>
              <a:t>The body remains pranic and jeevan retains its complete faculty organisation. Their association provides the medium for embodied participation.</a:t>
            </a:r>
          </a:p>
        </p:txBody>
      </p:sp>
      <p:sp>
        <p:nvSpPr>
          <p:cNvPr id="15" name="TextBox 14"/>
          <p:cNvSpPr txBox="1"/>
          <p:nvPr/>
        </p:nvSpPr>
        <p:spPr>
          <a:xfrm>
            <a:off x="640080" y="4389120"/>
            <a:ext cx="7955279" cy="274320"/>
          </a:xfrm>
          <a:prstGeom prst="rect">
            <a:avLst/>
          </a:prstGeom>
          <a:noFill/>
        </p:spPr>
        <p:txBody>
          <a:bodyPr wrap="square" anchor="ctr" lIns="0" tIns="0" rIns="0" bIns="0">
            <a:spAutoFit/>
          </a:bodyPr>
          <a:lstStyle/>
          <a:p>
            <a:pPr algn="l"/>
            <a:r>
              <a:rPr sz="1050" b="0" i="1">
                <a:solidFill>
                  <a:srgbClr val="5A6377"/>
                </a:solidFill>
                <a:latin typeface="Calibri"/>
              </a:rPr>
              <a:t>The body presents through the five senses; jeevan cognises, selects, resolves, and expresses back through the body.</a:t>
            </a:r>
          </a:p>
        </p:txBody>
      </p:sp>
      <p:sp>
        <p:nvSpPr>
          <p:cNvPr id="16" name="TextBox 15"/>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SB pp. 55, 63–64  ·  JV pp. 47–49, 59  ·  KD §3.10  ·  AnalyticMadhyasthDarshan.org  ·  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TWO  ·  A DECISIVE DISTINCTION</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Three Ways Things Hold Together</a:t>
            </a:r>
          </a:p>
        </p:txBody>
      </p:sp>
      <p:sp>
        <p:nvSpPr>
          <p:cNvPr id="7" name="Rectangle 6"/>
          <p:cNvSpPr/>
          <p:nvPr/>
        </p:nvSpPr>
        <p:spPr>
          <a:xfrm>
            <a:off x="640080" y="1280160"/>
            <a:ext cx="2624328" cy="2057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Structural closure</a:t>
            </a:r>
          </a:p>
        </p:txBody>
      </p:sp>
      <p:sp>
        <p:nvSpPr>
          <p:cNvPr id="9" name="TextBox 8"/>
          <p:cNvSpPr txBox="1"/>
          <p:nvPr/>
        </p:nvSpPr>
        <p:spPr>
          <a:xfrm>
            <a:off x="841247" y="1737360"/>
            <a:ext cx="2221992" cy="1481328"/>
          </a:xfrm>
          <a:prstGeom prst="rect">
            <a:avLst/>
          </a:prstGeom>
          <a:noFill/>
        </p:spPr>
        <p:txBody>
          <a:bodyPr wrap="square" anchor="t" lIns="0" tIns="0" rIns="0" bIns="0">
            <a:spAutoFit/>
          </a:bodyPr>
          <a:lstStyle/>
          <a:p>
            <a:pPr algn="l"/>
            <a:r>
              <a:rPr sz="1050" b="0" i="0">
                <a:solidFill>
                  <a:srgbClr val="5A6377"/>
                </a:solidFill>
                <a:latin typeface="Calibri"/>
              </a:rPr>
              <a:t>Molecule, compound, cell or body: constituents sustain a bounded whole through their definite participation.</a:t>
            </a:r>
          </a:p>
        </p:txBody>
      </p:sp>
      <p:sp>
        <p:nvSpPr>
          <p:cNvPr id="10" name="Rectangle 9"/>
          <p:cNvSpPr/>
          <p:nvPr/>
        </p:nvSpPr>
        <p:spPr>
          <a:xfrm>
            <a:off x="3401568" y="1280160"/>
            <a:ext cx="2624328" cy="2057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Joint association</a:t>
            </a:r>
          </a:p>
        </p:txBody>
      </p:sp>
      <p:sp>
        <p:nvSpPr>
          <p:cNvPr id="12" name="TextBox 11"/>
          <p:cNvSpPr txBox="1"/>
          <p:nvPr/>
        </p:nvSpPr>
        <p:spPr>
          <a:xfrm>
            <a:off x="3602736" y="1737360"/>
            <a:ext cx="2221992" cy="1481328"/>
          </a:xfrm>
          <a:prstGeom prst="rect">
            <a:avLst/>
          </a:prstGeom>
          <a:noFill/>
        </p:spPr>
        <p:txBody>
          <a:bodyPr wrap="square" anchor="t" lIns="0" tIns="0" rIns="0" bIns="0">
            <a:spAutoFit/>
          </a:bodyPr>
          <a:lstStyle/>
          <a:p>
            <a:pPr algn="l"/>
            <a:r>
              <a:rPr sz="1050" b="0" i="0">
                <a:solidFill>
                  <a:srgbClr val="5A6377"/>
                </a:solidFill>
                <a:latin typeface="Calibri"/>
              </a:rPr>
              <a:t>Animal or human being: body and jeevan operate as one public activity while remaining two units.</a:t>
            </a:r>
          </a:p>
        </p:txBody>
      </p:sp>
      <p:sp>
        <p:nvSpPr>
          <p:cNvPr id="13" name="Rectangle 12"/>
          <p:cNvSpPr/>
          <p:nvPr/>
        </p:nvSpPr>
        <p:spPr>
          <a:xfrm>
            <a:off x="6163056" y="1280160"/>
            <a:ext cx="2624328" cy="205740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399031"/>
            <a:ext cx="2221992" cy="292608"/>
          </a:xfrm>
          <a:prstGeom prst="rect">
            <a:avLst/>
          </a:prstGeom>
          <a:noFill/>
        </p:spPr>
        <p:txBody>
          <a:bodyPr wrap="square" anchor="ctr" lIns="0" tIns="0" rIns="0" bIns="0">
            <a:spAutoFit/>
          </a:bodyPr>
          <a:lstStyle/>
          <a:p>
            <a:pPr algn="l"/>
            <a:r>
              <a:rPr sz="1250" b="1" i="0">
                <a:solidFill>
                  <a:srgbClr val="9A6414"/>
                </a:solidFill>
                <a:latin typeface="Cambria"/>
              </a:rPr>
              <a:t>Maintained relational order</a:t>
            </a:r>
          </a:p>
        </p:txBody>
      </p:sp>
      <p:sp>
        <p:nvSpPr>
          <p:cNvPr id="15" name="TextBox 14"/>
          <p:cNvSpPr txBox="1"/>
          <p:nvPr/>
        </p:nvSpPr>
        <p:spPr>
          <a:xfrm>
            <a:off x="6364224" y="1737360"/>
            <a:ext cx="2221992" cy="1481328"/>
          </a:xfrm>
          <a:prstGeom prst="rect">
            <a:avLst/>
          </a:prstGeom>
          <a:noFill/>
        </p:spPr>
        <p:txBody>
          <a:bodyPr wrap="square" anchor="t" lIns="0" tIns="0" rIns="0" bIns="0">
            <a:spAutoFit/>
          </a:bodyPr>
          <a:lstStyle/>
          <a:p>
            <a:pPr algn="l"/>
            <a:r>
              <a:rPr sz="1050" b="0" i="0">
                <a:solidFill>
                  <a:srgbClr val="5A6377"/>
                </a:solidFill>
                <a:latin typeface="Calibri"/>
              </a:rPr>
              <a:t>Relationship, family, work, organisation: held only through human recognition, value-fulfilment, regulation, and evaluation.</a:t>
            </a:r>
          </a:p>
        </p:txBody>
      </p:sp>
      <p:sp>
        <p:nvSpPr>
          <p:cNvPr id="16" name="Rectangle 15"/>
          <p:cNvSpPr/>
          <p:nvPr/>
        </p:nvSpPr>
        <p:spPr>
          <a:xfrm>
            <a:off x="640080" y="3566160"/>
            <a:ext cx="7863840" cy="73152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566160"/>
            <a:ext cx="7406640" cy="731520"/>
          </a:xfrm>
          <a:prstGeom prst="rect">
            <a:avLst/>
          </a:prstGeom>
          <a:noFill/>
        </p:spPr>
        <p:txBody>
          <a:bodyPr wrap="square" anchor="ctr" lIns="0" tIns="0" rIns="0" bIns="0">
            <a:spAutoFit/>
          </a:bodyPr>
          <a:lstStyle/>
          <a:p>
            <a:pPr algn="l"/>
            <a:r>
              <a:rPr sz="1080" b="0" i="0">
                <a:solidFill>
                  <a:srgbClr val="5A6377"/>
                </a:solidFill>
                <a:latin typeface="Calibri"/>
              </a:rPr>
              <a:t>Actual relationships remain present through misunderstanding. Understanding and fulfilled responsibilities sustain their humane expression.</a:t>
            </a:r>
          </a:p>
        </p:txBody>
      </p:sp>
      <p:sp>
        <p:nvSpPr>
          <p:cNvPr id="18" name="TextBox 17"/>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Study §§3.6, 9.3  ·  MVD p. 42  ·  JV pp. 97–98  ·  AnalyticMadhyasthDarshan.org  ·  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anchor="ctr" lIns="0" tIns="0" rIns="0" bIns="0">
            <a:spAutoFit/>
          </a:bodyPr>
          <a:lstStyle/>
          <a:p>
            <a:pPr algn="l"/>
            <a:r>
              <a:rPr sz="1200" b="1" i="0">
                <a:solidFill>
                  <a:srgbClr val="C9821E"/>
                </a:solidFill>
                <a:latin typeface="Calibri"/>
              </a:rPr>
              <a:t>MOVEMENT THREE  ·  STUDY §§7–8</a:t>
            </a:r>
          </a:p>
        </p:txBody>
      </p:sp>
      <p:sp>
        <p:nvSpPr>
          <p:cNvPr id="12" name="TextBox 11"/>
          <p:cNvSpPr txBox="1"/>
          <p:nvPr/>
        </p:nvSpPr>
        <p:spPr>
          <a:xfrm>
            <a:off x="640080" y="1572768"/>
            <a:ext cx="5577840" cy="1371600"/>
          </a:xfrm>
          <a:prstGeom prst="rect">
            <a:avLst/>
          </a:prstGeom>
          <a:noFill/>
        </p:spPr>
        <p:txBody>
          <a:bodyPr wrap="square" anchor="ctr" lIns="0" tIns="0" rIns="0" bIns="0">
            <a:spAutoFit/>
          </a:bodyPr>
          <a:lstStyle/>
          <a:p>
            <a:pPr algn="l"/>
            <a:r>
              <a:rPr sz="4400" b="1" i="0">
                <a:solidFill>
                  <a:srgbClr val="FFFFFF"/>
                </a:solidFill>
                <a:latin typeface="Cambria"/>
              </a:rPr>
              <a:t>The Human Threshold</a:t>
            </a:r>
          </a:p>
        </p:txBody>
      </p:sp>
      <p:sp>
        <p:nvSpPr>
          <p:cNvPr id="13" name="TextBox 12"/>
          <p:cNvSpPr txBox="1"/>
          <p:nvPr/>
        </p:nvSpPr>
        <p:spPr>
          <a:xfrm>
            <a:off x="640080" y="2926080"/>
            <a:ext cx="4846320" cy="960120"/>
          </a:xfrm>
          <a:prstGeom prst="rect">
            <a:avLst/>
          </a:prstGeom>
          <a:noFill/>
        </p:spPr>
        <p:txBody>
          <a:bodyPr wrap="square" anchor="ctr" lIns="0" tIns="0" rIns="0" bIns="0">
            <a:spAutoFit/>
          </a:bodyPr>
          <a:lstStyle/>
          <a:p>
            <a:pPr algn="l"/>
            <a:r>
              <a:rPr sz="1500" b="0" i="1">
                <a:solidFill>
                  <a:srgbClr val="C9D4EF"/>
                </a:solidFill>
                <a:latin typeface="Calibri"/>
              </a:rPr>
              <a:t>Jeevan’s ten activities remain present. Awakening makes their comprehensive understanding and humane expression effective.</a:t>
            </a:r>
          </a:p>
        </p:txBody>
      </p:sp>
      <p:sp>
        <p:nvSpPr>
          <p:cNvPr id="14" name="TextBox 13"/>
          <p:cNvSpPr txBox="1"/>
          <p:nvPr/>
        </p:nvSpPr>
        <p:spPr>
          <a:xfrm>
            <a:off x="640080" y="416052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Answers  ·  What understands?  ·  Why do we err?  ·  What changes with study?</a:t>
            </a:r>
          </a:p>
        </p:txBody>
      </p:sp>
      <p:sp>
        <p:nvSpPr>
          <p:cNvPr id="15" name="TextBox 14"/>
          <p:cNvSpPr txBox="1"/>
          <p:nvPr/>
        </p:nvSpPr>
        <p:spPr>
          <a:xfrm>
            <a:off x="640080" y="443484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AnalyticMadhyasthDarshan.org  ·  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THREE  ·  JEEVAN WITHIN</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Jeevan’s Concentric Architecture</a:t>
            </a:r>
          </a:p>
        </p:txBody>
      </p:sp>
      <p:sp>
        <p:nvSpPr>
          <p:cNvPr id="7" name="TextBox 6"/>
          <p:cNvSpPr txBox="1"/>
          <p:nvPr/>
        </p:nvSpPr>
        <p:spPr>
          <a:xfrm>
            <a:off x="640080" y="1170432"/>
            <a:ext cx="7955279" cy="438912"/>
          </a:xfrm>
          <a:prstGeom prst="rect">
            <a:avLst/>
          </a:prstGeom>
          <a:noFill/>
        </p:spPr>
        <p:txBody>
          <a:bodyPr wrap="square" anchor="ctr" lIns="0" tIns="0" rIns="0" bIns="0">
            <a:spAutoFit/>
          </a:bodyPr>
          <a:lstStyle/>
          <a:p>
            <a:pPr algn="l"/>
            <a:r>
              <a:rPr sz="1200" b="0" i="0">
                <a:solidFill>
                  <a:srgbClr val="5A6377"/>
                </a:solidFill>
                <a:latin typeface="Calibri"/>
              </a:rPr>
              <a:t>Atma is central. Buddhi, chitta, vritti and mun occupy four successive orbits. Each faculty has one generic activity pair.</a:t>
            </a:r>
          </a:p>
        </p:txBody>
      </p:sp>
      <p:sp>
        <p:nvSpPr>
          <p:cNvPr id="8" name="TextBox 7"/>
          <p:cNvSpPr txBox="1"/>
          <p:nvPr/>
        </p:nvSpPr>
        <p:spPr>
          <a:xfrm>
            <a:off x="2395728" y="1463039"/>
            <a:ext cx="2926080" cy="237744"/>
          </a:xfrm>
          <a:prstGeom prst="rect">
            <a:avLst/>
          </a:prstGeom>
          <a:noFill/>
        </p:spPr>
        <p:txBody>
          <a:bodyPr wrap="square" anchor="ctr" lIns="0" tIns="0" rIns="0" bIns="0">
            <a:spAutoFit/>
          </a:bodyPr>
          <a:lstStyle/>
          <a:p>
            <a:pPr algn="l"/>
            <a:r>
              <a:rPr sz="950" b="1" i="0">
                <a:solidFill>
                  <a:srgbClr val="9A6414"/>
                </a:solidFill>
                <a:latin typeface="Calibri"/>
              </a:rPr>
              <a:t>IN STATE — STRENGTH</a:t>
            </a:r>
          </a:p>
        </p:txBody>
      </p:sp>
      <p:sp>
        <p:nvSpPr>
          <p:cNvPr id="9" name="TextBox 8"/>
          <p:cNvSpPr txBox="1"/>
          <p:nvPr/>
        </p:nvSpPr>
        <p:spPr>
          <a:xfrm>
            <a:off x="5596128" y="1463039"/>
            <a:ext cx="2926080" cy="237744"/>
          </a:xfrm>
          <a:prstGeom prst="rect">
            <a:avLst/>
          </a:prstGeom>
          <a:noFill/>
        </p:spPr>
        <p:txBody>
          <a:bodyPr wrap="square" anchor="ctr" lIns="0" tIns="0" rIns="0" bIns="0">
            <a:spAutoFit/>
          </a:bodyPr>
          <a:lstStyle/>
          <a:p>
            <a:pPr algn="l"/>
            <a:r>
              <a:rPr sz="950" b="1" i="0">
                <a:solidFill>
                  <a:srgbClr val="9A6414"/>
                </a:solidFill>
                <a:latin typeface="Calibri"/>
              </a:rPr>
              <a:t>IN MOTION — POWER</a:t>
            </a:r>
          </a:p>
        </p:txBody>
      </p:sp>
      <p:sp>
        <p:nvSpPr>
          <p:cNvPr id="10" name="Rectangle 9"/>
          <p:cNvSpPr/>
          <p:nvPr/>
        </p:nvSpPr>
        <p:spPr>
          <a:xfrm>
            <a:off x="640080" y="1719072"/>
            <a:ext cx="1572768"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719072"/>
            <a:ext cx="1371600" cy="457200"/>
          </a:xfrm>
          <a:prstGeom prst="rect">
            <a:avLst/>
          </a:prstGeom>
          <a:noFill/>
        </p:spPr>
        <p:txBody>
          <a:bodyPr wrap="square" anchor="ctr" lIns="0" tIns="0" rIns="0" bIns="0">
            <a:spAutoFit/>
          </a:bodyPr>
          <a:lstStyle/>
          <a:p>
            <a:pPr algn="l"/>
            <a:r>
              <a:rPr sz="1300" b="1" i="0">
                <a:solidFill>
                  <a:srgbClr val="FFFFFF"/>
                </a:solidFill>
                <a:latin typeface="Cambria"/>
              </a:rPr>
              <a:t>Atma</a:t>
            </a:r>
          </a:p>
        </p:txBody>
      </p:sp>
      <p:sp>
        <p:nvSpPr>
          <p:cNvPr id="12" name="Rectangle 11"/>
          <p:cNvSpPr/>
          <p:nvPr/>
        </p:nvSpPr>
        <p:spPr>
          <a:xfrm>
            <a:off x="2212848" y="1719072"/>
            <a:ext cx="31089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95728" y="1719072"/>
            <a:ext cx="2834640" cy="457200"/>
          </a:xfrm>
          <a:prstGeom prst="rect">
            <a:avLst/>
          </a:prstGeom>
          <a:noFill/>
        </p:spPr>
        <p:txBody>
          <a:bodyPr wrap="square" anchor="ctr" lIns="0" tIns="0" rIns="0" bIns="0">
            <a:spAutoFit/>
          </a:bodyPr>
          <a:lstStyle/>
          <a:p>
            <a:pPr algn="l"/>
            <a:r>
              <a:rPr sz="1150" b="0" i="0">
                <a:solidFill>
                  <a:srgbClr val="5A6377"/>
                </a:solidFill>
                <a:latin typeface="Calibri"/>
              </a:rPr>
              <a:t>Realisation (anubhav)</a:t>
            </a:r>
          </a:p>
        </p:txBody>
      </p:sp>
      <p:sp>
        <p:nvSpPr>
          <p:cNvPr id="14" name="Rectangle 13"/>
          <p:cNvSpPr/>
          <p:nvPr/>
        </p:nvSpPr>
        <p:spPr>
          <a:xfrm>
            <a:off x="5321808" y="1719072"/>
            <a:ext cx="3182112"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1719072"/>
            <a:ext cx="2889504" cy="457200"/>
          </a:xfrm>
          <a:prstGeom prst="rect">
            <a:avLst/>
          </a:prstGeom>
          <a:noFill/>
        </p:spPr>
        <p:txBody>
          <a:bodyPr wrap="square" anchor="ctr" lIns="0" tIns="0" rIns="0" bIns="0">
            <a:spAutoFit/>
          </a:bodyPr>
          <a:lstStyle/>
          <a:p>
            <a:pPr algn="l"/>
            <a:r>
              <a:rPr sz="1150" b="0" i="0">
                <a:solidFill>
                  <a:srgbClr val="5A6377"/>
                </a:solidFill>
                <a:latin typeface="Calibri"/>
              </a:rPr>
              <a:t>Evidence (pramanikta)</a:t>
            </a:r>
          </a:p>
        </p:txBody>
      </p:sp>
      <p:sp>
        <p:nvSpPr>
          <p:cNvPr id="16" name="Rectangle 15"/>
          <p:cNvSpPr/>
          <p:nvPr/>
        </p:nvSpPr>
        <p:spPr>
          <a:xfrm>
            <a:off x="640080" y="2240279"/>
            <a:ext cx="1572768"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2240279"/>
            <a:ext cx="1371600" cy="457200"/>
          </a:xfrm>
          <a:prstGeom prst="rect">
            <a:avLst/>
          </a:prstGeom>
          <a:noFill/>
        </p:spPr>
        <p:txBody>
          <a:bodyPr wrap="square" anchor="ctr" lIns="0" tIns="0" rIns="0" bIns="0">
            <a:spAutoFit/>
          </a:bodyPr>
          <a:lstStyle/>
          <a:p>
            <a:pPr algn="l"/>
            <a:r>
              <a:rPr sz="1300" b="1" i="0">
                <a:solidFill>
                  <a:srgbClr val="FFFFFF"/>
                </a:solidFill>
                <a:latin typeface="Cambria"/>
              </a:rPr>
              <a:t>Buddhi</a:t>
            </a:r>
          </a:p>
        </p:txBody>
      </p:sp>
      <p:sp>
        <p:nvSpPr>
          <p:cNvPr id="18" name="Rectangle 17"/>
          <p:cNvSpPr/>
          <p:nvPr/>
        </p:nvSpPr>
        <p:spPr>
          <a:xfrm>
            <a:off x="2212848" y="2240279"/>
            <a:ext cx="31089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95728" y="2240279"/>
            <a:ext cx="2834640" cy="457200"/>
          </a:xfrm>
          <a:prstGeom prst="rect">
            <a:avLst/>
          </a:prstGeom>
          <a:noFill/>
        </p:spPr>
        <p:txBody>
          <a:bodyPr wrap="square" anchor="ctr" lIns="0" tIns="0" rIns="0" bIns="0">
            <a:spAutoFit/>
          </a:bodyPr>
          <a:lstStyle/>
          <a:p>
            <a:pPr algn="l"/>
            <a:r>
              <a:rPr sz="1150" b="0" i="0">
                <a:solidFill>
                  <a:srgbClr val="5A6377"/>
                </a:solidFill>
                <a:latin typeface="Calibri"/>
              </a:rPr>
              <a:t>Enlightenment (bodh)</a:t>
            </a:r>
          </a:p>
        </p:txBody>
      </p:sp>
      <p:sp>
        <p:nvSpPr>
          <p:cNvPr id="20" name="Rectangle 19"/>
          <p:cNvSpPr/>
          <p:nvPr/>
        </p:nvSpPr>
        <p:spPr>
          <a:xfrm>
            <a:off x="5321808" y="2240279"/>
            <a:ext cx="3182112"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2240279"/>
            <a:ext cx="2889504" cy="457200"/>
          </a:xfrm>
          <a:prstGeom prst="rect">
            <a:avLst/>
          </a:prstGeom>
          <a:noFill/>
        </p:spPr>
        <p:txBody>
          <a:bodyPr wrap="square" anchor="ctr" lIns="0" tIns="0" rIns="0" bIns="0">
            <a:spAutoFit/>
          </a:bodyPr>
          <a:lstStyle/>
          <a:p>
            <a:pPr algn="l"/>
            <a:r>
              <a:rPr sz="1150" b="0" i="0">
                <a:solidFill>
                  <a:srgbClr val="5A6377"/>
                </a:solidFill>
                <a:latin typeface="Calibri"/>
              </a:rPr>
              <a:t>Resolve (sankalp)</a:t>
            </a:r>
          </a:p>
        </p:txBody>
      </p:sp>
      <p:sp>
        <p:nvSpPr>
          <p:cNvPr id="22" name="Rectangle 21"/>
          <p:cNvSpPr/>
          <p:nvPr/>
        </p:nvSpPr>
        <p:spPr>
          <a:xfrm>
            <a:off x="640080" y="2761487"/>
            <a:ext cx="1572768"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2761487"/>
            <a:ext cx="1371600" cy="457200"/>
          </a:xfrm>
          <a:prstGeom prst="rect">
            <a:avLst/>
          </a:prstGeom>
          <a:noFill/>
        </p:spPr>
        <p:txBody>
          <a:bodyPr wrap="square" anchor="ctr" lIns="0" tIns="0" rIns="0" bIns="0">
            <a:spAutoFit/>
          </a:bodyPr>
          <a:lstStyle/>
          <a:p>
            <a:pPr algn="l"/>
            <a:r>
              <a:rPr sz="1300" b="1" i="0">
                <a:solidFill>
                  <a:srgbClr val="FFFFFF"/>
                </a:solidFill>
                <a:latin typeface="Cambria"/>
              </a:rPr>
              <a:t>Chitta</a:t>
            </a:r>
          </a:p>
        </p:txBody>
      </p:sp>
      <p:sp>
        <p:nvSpPr>
          <p:cNvPr id="24" name="Rectangle 23"/>
          <p:cNvSpPr/>
          <p:nvPr/>
        </p:nvSpPr>
        <p:spPr>
          <a:xfrm>
            <a:off x="2212848" y="2761487"/>
            <a:ext cx="31089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95728" y="2761487"/>
            <a:ext cx="2834640" cy="457200"/>
          </a:xfrm>
          <a:prstGeom prst="rect">
            <a:avLst/>
          </a:prstGeom>
          <a:noFill/>
        </p:spPr>
        <p:txBody>
          <a:bodyPr wrap="square" anchor="ctr" lIns="0" tIns="0" rIns="0" bIns="0">
            <a:spAutoFit/>
          </a:bodyPr>
          <a:lstStyle/>
          <a:p>
            <a:pPr algn="l"/>
            <a:r>
              <a:rPr sz="1150" b="0" i="0">
                <a:solidFill>
                  <a:srgbClr val="5A6377"/>
                </a:solidFill>
                <a:latin typeface="Calibri"/>
              </a:rPr>
              <a:t>Contemplation (chintan)</a:t>
            </a:r>
          </a:p>
        </p:txBody>
      </p:sp>
      <p:sp>
        <p:nvSpPr>
          <p:cNvPr id="26" name="Rectangle 25"/>
          <p:cNvSpPr/>
          <p:nvPr/>
        </p:nvSpPr>
        <p:spPr>
          <a:xfrm>
            <a:off x="5321808" y="2761487"/>
            <a:ext cx="3182112"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04688" y="2761487"/>
            <a:ext cx="2889504" cy="457200"/>
          </a:xfrm>
          <a:prstGeom prst="rect">
            <a:avLst/>
          </a:prstGeom>
          <a:noFill/>
        </p:spPr>
        <p:txBody>
          <a:bodyPr wrap="square" anchor="ctr" lIns="0" tIns="0" rIns="0" bIns="0">
            <a:spAutoFit/>
          </a:bodyPr>
          <a:lstStyle/>
          <a:p>
            <a:pPr algn="l"/>
            <a:r>
              <a:rPr sz="1150" b="0" i="0">
                <a:solidFill>
                  <a:srgbClr val="5A6377"/>
                </a:solidFill>
                <a:latin typeface="Calibri"/>
              </a:rPr>
              <a:t>Imaging (chitran)</a:t>
            </a:r>
          </a:p>
        </p:txBody>
      </p:sp>
      <p:sp>
        <p:nvSpPr>
          <p:cNvPr id="28" name="Rectangle 27"/>
          <p:cNvSpPr/>
          <p:nvPr/>
        </p:nvSpPr>
        <p:spPr>
          <a:xfrm>
            <a:off x="640080" y="3282695"/>
            <a:ext cx="1572768"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282695"/>
            <a:ext cx="1371600" cy="457200"/>
          </a:xfrm>
          <a:prstGeom prst="rect">
            <a:avLst/>
          </a:prstGeom>
          <a:noFill/>
        </p:spPr>
        <p:txBody>
          <a:bodyPr wrap="square" anchor="ctr" lIns="0" tIns="0" rIns="0" bIns="0">
            <a:spAutoFit/>
          </a:bodyPr>
          <a:lstStyle/>
          <a:p>
            <a:pPr algn="l"/>
            <a:r>
              <a:rPr sz="1300" b="1" i="0">
                <a:solidFill>
                  <a:srgbClr val="FFFFFF"/>
                </a:solidFill>
                <a:latin typeface="Cambria"/>
              </a:rPr>
              <a:t>Vritti</a:t>
            </a:r>
          </a:p>
        </p:txBody>
      </p:sp>
      <p:sp>
        <p:nvSpPr>
          <p:cNvPr id="30" name="Rectangle 29"/>
          <p:cNvSpPr/>
          <p:nvPr/>
        </p:nvSpPr>
        <p:spPr>
          <a:xfrm>
            <a:off x="2212848" y="3282695"/>
            <a:ext cx="31089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95728" y="3282695"/>
            <a:ext cx="2834640" cy="457200"/>
          </a:xfrm>
          <a:prstGeom prst="rect">
            <a:avLst/>
          </a:prstGeom>
          <a:noFill/>
        </p:spPr>
        <p:txBody>
          <a:bodyPr wrap="square" anchor="ctr" lIns="0" tIns="0" rIns="0" bIns="0">
            <a:spAutoFit/>
          </a:bodyPr>
          <a:lstStyle/>
          <a:p>
            <a:pPr algn="l"/>
            <a:r>
              <a:rPr sz="1150" b="0" i="0">
                <a:solidFill>
                  <a:srgbClr val="5A6377"/>
                </a:solidFill>
                <a:latin typeface="Calibri"/>
              </a:rPr>
              <a:t>Comparison (tulana)</a:t>
            </a:r>
          </a:p>
        </p:txBody>
      </p:sp>
      <p:sp>
        <p:nvSpPr>
          <p:cNvPr id="32" name="Rectangle 31"/>
          <p:cNvSpPr/>
          <p:nvPr/>
        </p:nvSpPr>
        <p:spPr>
          <a:xfrm>
            <a:off x="5321808" y="3282695"/>
            <a:ext cx="3182112"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04688" y="3282695"/>
            <a:ext cx="2889504" cy="457200"/>
          </a:xfrm>
          <a:prstGeom prst="rect">
            <a:avLst/>
          </a:prstGeom>
          <a:noFill/>
        </p:spPr>
        <p:txBody>
          <a:bodyPr wrap="square" anchor="ctr" lIns="0" tIns="0" rIns="0" bIns="0">
            <a:spAutoFit/>
          </a:bodyPr>
          <a:lstStyle/>
          <a:p>
            <a:pPr algn="l"/>
            <a:r>
              <a:rPr sz="1150" b="0" i="0">
                <a:solidFill>
                  <a:srgbClr val="5A6377"/>
                </a:solidFill>
                <a:latin typeface="Calibri"/>
              </a:rPr>
              <a:t>Analysis (vishleshan)</a:t>
            </a:r>
          </a:p>
        </p:txBody>
      </p:sp>
      <p:sp>
        <p:nvSpPr>
          <p:cNvPr id="34" name="Rectangle 33"/>
          <p:cNvSpPr/>
          <p:nvPr/>
        </p:nvSpPr>
        <p:spPr>
          <a:xfrm>
            <a:off x="640080" y="3803903"/>
            <a:ext cx="1572768"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3803903"/>
            <a:ext cx="1371600" cy="457200"/>
          </a:xfrm>
          <a:prstGeom prst="rect">
            <a:avLst/>
          </a:prstGeom>
          <a:noFill/>
        </p:spPr>
        <p:txBody>
          <a:bodyPr wrap="square" anchor="ctr" lIns="0" tIns="0" rIns="0" bIns="0">
            <a:spAutoFit/>
          </a:bodyPr>
          <a:lstStyle/>
          <a:p>
            <a:pPr algn="l"/>
            <a:r>
              <a:rPr sz="1300" b="1" i="0">
                <a:solidFill>
                  <a:srgbClr val="FFFFFF"/>
                </a:solidFill>
                <a:latin typeface="Cambria"/>
              </a:rPr>
              <a:t>Mun</a:t>
            </a:r>
          </a:p>
        </p:txBody>
      </p:sp>
      <p:sp>
        <p:nvSpPr>
          <p:cNvPr id="36" name="Rectangle 35"/>
          <p:cNvSpPr/>
          <p:nvPr/>
        </p:nvSpPr>
        <p:spPr>
          <a:xfrm>
            <a:off x="2212848" y="3803903"/>
            <a:ext cx="31089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95728" y="3803903"/>
            <a:ext cx="2834640" cy="457200"/>
          </a:xfrm>
          <a:prstGeom prst="rect">
            <a:avLst/>
          </a:prstGeom>
          <a:noFill/>
        </p:spPr>
        <p:txBody>
          <a:bodyPr wrap="square" anchor="ctr" lIns="0" tIns="0" rIns="0" bIns="0">
            <a:spAutoFit/>
          </a:bodyPr>
          <a:lstStyle/>
          <a:p>
            <a:pPr algn="l"/>
            <a:r>
              <a:rPr sz="1150" b="0" i="0">
                <a:solidFill>
                  <a:srgbClr val="5A6377"/>
                </a:solidFill>
                <a:latin typeface="Calibri"/>
              </a:rPr>
              <a:t>Tasting (asvadan)</a:t>
            </a:r>
          </a:p>
        </p:txBody>
      </p:sp>
      <p:sp>
        <p:nvSpPr>
          <p:cNvPr id="38" name="Rectangle 37"/>
          <p:cNvSpPr/>
          <p:nvPr/>
        </p:nvSpPr>
        <p:spPr>
          <a:xfrm>
            <a:off x="5321808" y="3803903"/>
            <a:ext cx="3182112"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04688" y="3803903"/>
            <a:ext cx="2889504" cy="457200"/>
          </a:xfrm>
          <a:prstGeom prst="rect">
            <a:avLst/>
          </a:prstGeom>
          <a:noFill/>
        </p:spPr>
        <p:txBody>
          <a:bodyPr wrap="square" anchor="ctr" lIns="0" tIns="0" rIns="0" bIns="0">
            <a:spAutoFit/>
          </a:bodyPr>
          <a:lstStyle/>
          <a:p>
            <a:pPr algn="l"/>
            <a:r>
              <a:rPr sz="1150" b="0" i="0">
                <a:solidFill>
                  <a:srgbClr val="5A6377"/>
                </a:solidFill>
                <a:latin typeface="Calibri"/>
              </a:rPr>
              <a:t>Selection (chayan)</a:t>
            </a:r>
          </a:p>
        </p:txBody>
      </p:sp>
      <p:sp>
        <p:nvSpPr>
          <p:cNvPr id="40" name="TextBox 39"/>
          <p:cNvSpPr txBox="1"/>
          <p:nvPr/>
        </p:nvSpPr>
        <p:spPr>
          <a:xfrm>
            <a:off x="640080" y="4389120"/>
            <a:ext cx="7955279" cy="274320"/>
          </a:xfrm>
          <a:prstGeom prst="rect">
            <a:avLst/>
          </a:prstGeom>
          <a:noFill/>
        </p:spPr>
        <p:txBody>
          <a:bodyPr wrap="square" anchor="ctr" lIns="0" tIns="0" rIns="0" bIns="0">
            <a:spAutoFit/>
          </a:bodyPr>
          <a:lstStyle/>
          <a:p>
            <a:pPr algn="l"/>
            <a:r>
              <a:rPr sz="1050" b="0" i="1">
                <a:solidFill>
                  <a:srgbClr val="5A6377"/>
                </a:solidFill>
                <a:latin typeface="Calibri"/>
              </a:rPr>
              <a:t>61 detailed pairs, 122 activities: atma 1, buddhi 2, chitta 8, vritti 18, mun 32.</a:t>
            </a:r>
          </a:p>
        </p:txBody>
      </p:sp>
      <p:sp>
        <p:nvSpPr>
          <p:cNvPr id="41" name="TextBox 40"/>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pp.78,323  ·  AVD pp.91–94  ·  AnalyticMadhyasthDarshan.org  ·  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THREE  ·  BHRAM</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Delusion and Developing Understanding</a:t>
            </a:r>
          </a:p>
        </p:txBody>
      </p:sp>
      <p:sp>
        <p:nvSpPr>
          <p:cNvPr id="7" name="Oval 6"/>
          <p:cNvSpPr/>
          <p:nvPr/>
        </p:nvSpPr>
        <p:spPr>
          <a:xfrm>
            <a:off x="640080" y="1348739"/>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280160"/>
            <a:ext cx="7406640" cy="502920"/>
          </a:xfrm>
          <a:prstGeom prst="rect">
            <a:avLst/>
          </a:prstGeom>
          <a:noFill/>
        </p:spPr>
        <p:txBody>
          <a:bodyPr wrap="square" anchor="ctr" lIns="0" tIns="0" rIns="0" bIns="0">
            <a:spAutoFit/>
          </a:bodyPr>
          <a:lstStyle/>
          <a:p>
            <a:pPr algn="l"/>
            <a:r>
              <a:rPr sz="1300" b="1" i="0">
                <a:solidFill>
                  <a:srgbClr val="1E2447"/>
                </a:solidFill>
                <a:latin typeface="Calibri"/>
              </a:rPr>
              <a:t>The body is taken as the self</a:t>
            </a:r>
            <a:r>
              <a:rPr sz="1300" b="0" i="0">
                <a:solidFill>
                  <a:srgbClr val="5A6377"/>
                </a:solidFill>
                <a:latin typeface="Calibri"/>
              </a:rPr>
              <a:t>  —  comparison is organised from sensory input</a:t>
            </a:r>
          </a:p>
        </p:txBody>
      </p:sp>
      <p:sp>
        <p:nvSpPr>
          <p:cNvPr id="9" name="Oval 8"/>
          <p:cNvSpPr/>
          <p:nvPr/>
        </p:nvSpPr>
        <p:spPr>
          <a:xfrm>
            <a:off x="640080" y="1970532"/>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901952"/>
            <a:ext cx="7406640" cy="502920"/>
          </a:xfrm>
          <a:prstGeom prst="rect">
            <a:avLst/>
          </a:prstGeom>
          <a:noFill/>
        </p:spPr>
        <p:txBody>
          <a:bodyPr wrap="square" anchor="ctr" lIns="0" tIns="0" rIns="0" bIns="0">
            <a:spAutoFit/>
          </a:bodyPr>
          <a:lstStyle/>
          <a:p>
            <a:pPr algn="l"/>
            <a:r>
              <a:rPr sz="1300" b="1" i="0">
                <a:solidFill>
                  <a:srgbClr val="1E2447"/>
                </a:solidFill>
                <a:latin typeface="Calibri"/>
              </a:rPr>
              <a:t>Effective: selection, tasting, analysis, imaging</a:t>
            </a:r>
            <a:r>
              <a:rPr sz="1300" b="0" i="0">
                <a:solidFill>
                  <a:srgbClr val="5A6377"/>
                </a:solidFill>
                <a:latin typeface="Calibri"/>
              </a:rPr>
              <a:t>  —  and only half of comparison</a:t>
            </a:r>
          </a:p>
        </p:txBody>
      </p:sp>
      <p:sp>
        <p:nvSpPr>
          <p:cNvPr id="11" name="Oval 10"/>
          <p:cNvSpPr/>
          <p:nvPr/>
        </p:nvSpPr>
        <p:spPr>
          <a:xfrm>
            <a:off x="640080" y="2592324"/>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523744"/>
            <a:ext cx="7406640" cy="502920"/>
          </a:xfrm>
          <a:prstGeom prst="rect">
            <a:avLst/>
          </a:prstGeom>
          <a:noFill/>
        </p:spPr>
        <p:txBody>
          <a:bodyPr wrap="square" anchor="ctr" lIns="0" tIns="0" rIns="0" bIns="0">
            <a:spAutoFit/>
          </a:bodyPr>
          <a:lstStyle/>
          <a:p>
            <a:pPr algn="l"/>
            <a:r>
              <a:rPr sz="1300" b="1" i="0">
                <a:solidFill>
                  <a:srgbClr val="1E2447"/>
                </a:solidFill>
                <a:latin typeface="Calibri"/>
              </a:rPr>
              <a:t>Priya–hita–labh decide</a:t>
            </a:r>
            <a:r>
              <a:rPr sz="1300" b="0" i="0">
                <a:solidFill>
                  <a:srgbClr val="5A6377"/>
                </a:solidFill>
                <a:latin typeface="Calibri"/>
              </a:rPr>
              <a:t>  —  the pleasant, the healthy, the profitable</a:t>
            </a:r>
          </a:p>
        </p:txBody>
      </p:sp>
      <p:sp>
        <p:nvSpPr>
          <p:cNvPr id="13" name="Oval 12"/>
          <p:cNvSpPr/>
          <p:nvPr/>
        </p:nvSpPr>
        <p:spPr>
          <a:xfrm>
            <a:off x="640080" y="3214116"/>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145536"/>
            <a:ext cx="7406640" cy="502920"/>
          </a:xfrm>
          <a:prstGeom prst="rect">
            <a:avLst/>
          </a:prstGeom>
          <a:noFill/>
        </p:spPr>
        <p:txBody>
          <a:bodyPr wrap="square" anchor="ctr" lIns="0" tIns="0" rIns="0" bIns="0">
            <a:spAutoFit/>
          </a:bodyPr>
          <a:lstStyle/>
          <a:p>
            <a:pPr algn="l"/>
            <a:r>
              <a:rPr sz="1300" b="1" i="0">
                <a:solidFill>
                  <a:srgbClr val="1E2447"/>
                </a:solidFill>
                <a:latin typeface="Calibri"/>
              </a:rPr>
              <a:t>Human dharma remains happiness</a:t>
            </a:r>
            <a:r>
              <a:rPr sz="1300" b="0" i="0">
                <a:solidFill>
                  <a:srgbClr val="5A6377"/>
                </a:solidFill>
                <a:latin typeface="Calibri"/>
              </a:rPr>
              <a:t>  —  the error is in what is accepted as its fulfilment</a:t>
            </a:r>
          </a:p>
        </p:txBody>
      </p:sp>
      <p:sp>
        <p:nvSpPr>
          <p:cNvPr id="15" name="Oval 14"/>
          <p:cNvSpPr/>
          <p:nvPr/>
        </p:nvSpPr>
        <p:spPr>
          <a:xfrm>
            <a:off x="640080" y="3835908"/>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767328"/>
            <a:ext cx="7406640" cy="502920"/>
          </a:xfrm>
          <a:prstGeom prst="rect">
            <a:avLst/>
          </a:prstGeom>
          <a:noFill/>
        </p:spPr>
        <p:txBody>
          <a:bodyPr wrap="square" anchor="ctr" lIns="0" tIns="0" rIns="0" bIns="0">
            <a:spAutoFit/>
          </a:bodyPr>
          <a:lstStyle/>
          <a:p>
            <a:pPr algn="l"/>
            <a:r>
              <a:rPr sz="1300" b="1" i="0">
                <a:solidFill>
                  <a:srgbClr val="1E2447"/>
                </a:solidFill>
                <a:latin typeface="Calibri"/>
              </a:rPr>
              <a:t>Genuine partial care is possible.</a:t>
            </a:r>
            <a:r>
              <a:rPr sz="1300" b="0" i="0">
                <a:solidFill>
                  <a:srgbClr val="5A6377"/>
                </a:solidFill>
                <a:latin typeface="Calibri"/>
              </a:rPr>
              <a:t> Its fulfilment can be understood and made dependable.</a:t>
            </a:r>
          </a:p>
        </p:txBody>
      </p:sp>
      <p:sp>
        <p:nvSpPr>
          <p:cNvPr id="17" name="Rectangle 16"/>
          <p:cNvSpPr/>
          <p:nvPr/>
        </p:nvSpPr>
        <p:spPr>
          <a:xfrm>
            <a:off x="640080" y="4434840"/>
            <a:ext cx="7863840" cy="3200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434840"/>
            <a:ext cx="7406640" cy="320040"/>
          </a:xfrm>
          <a:prstGeom prst="rect">
            <a:avLst/>
          </a:prstGeom>
          <a:noFill/>
        </p:spPr>
        <p:txBody>
          <a:bodyPr wrap="square" anchor="ctr" lIns="0" tIns="0" rIns="0" bIns="0">
            <a:spAutoFit/>
          </a:bodyPr>
          <a:lstStyle/>
          <a:p>
            <a:pPr algn="l"/>
            <a:r>
              <a:rPr sz="1050" b="0" i="0">
                <a:solidFill>
                  <a:srgbClr val="5A6377"/>
                </a:solidFill>
                <a:latin typeface="Calibri"/>
              </a:rPr>
              <a:t>Tasting can concern sensory preference, relationship value or comprehensive human goals. Awakening gives them their appropriate direction.</a:t>
            </a:r>
          </a:p>
        </p:txBody>
      </p:sp>
      <p:sp>
        <p:nvSpPr>
          <p:cNvPr id="19" name="TextBox 18"/>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JV printed pp.72–74  ·  MSM printed p.49  ·  PS printed pp.40–41  ·  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THREE  ·  UNFOLDING</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Study, Awakening, and Projection</a:t>
            </a:r>
          </a:p>
        </p:txBody>
      </p:sp>
      <p:sp>
        <p:nvSpPr>
          <p:cNvPr id="7" name="TextBox 6"/>
          <p:cNvSpPr txBox="1"/>
          <p:nvPr/>
        </p:nvSpPr>
        <p:spPr>
          <a:xfrm>
            <a:off x="640080" y="1170432"/>
            <a:ext cx="7955279" cy="457200"/>
          </a:xfrm>
          <a:prstGeom prst="rect">
            <a:avLst/>
          </a:prstGeom>
          <a:noFill/>
        </p:spPr>
        <p:txBody>
          <a:bodyPr wrap="square" anchor="ctr" lIns="0" tIns="0" rIns="0" bIns="0">
            <a:spAutoFit/>
          </a:bodyPr>
          <a:lstStyle/>
          <a:p>
            <a:pPr algn="l"/>
            <a:r>
              <a:rPr sz="1200" b="0" i="0">
                <a:solidFill>
                  <a:srgbClr val="5A6377"/>
                </a:solidFill>
                <a:latin typeface="Calibri"/>
              </a:rPr>
              <a:t>Study can mature into direct recognition, enlightenment, and realisation; realised content then projects outward through the same faculties.</a:t>
            </a:r>
          </a:p>
        </p:txBody>
      </p:sp>
      <p:sp>
        <p:nvSpPr>
          <p:cNvPr id="8" name="TextBox 7"/>
          <p:cNvSpPr txBox="1"/>
          <p:nvPr/>
        </p:nvSpPr>
        <p:spPr>
          <a:xfrm>
            <a:off x="640080" y="1783080"/>
            <a:ext cx="7863840" cy="256032"/>
          </a:xfrm>
          <a:prstGeom prst="rect">
            <a:avLst/>
          </a:prstGeom>
          <a:noFill/>
        </p:spPr>
        <p:txBody>
          <a:bodyPr wrap="square" anchor="ctr" lIns="0" tIns="0" rIns="0" bIns="0">
            <a:spAutoFit/>
          </a:bodyPr>
          <a:lstStyle/>
          <a:p>
            <a:pPr algn="l"/>
            <a:r>
              <a:rPr sz="950" b="1" i="0">
                <a:solidFill>
                  <a:srgbClr val="9A6414"/>
                </a:solidFill>
                <a:latin typeface="Calibri"/>
              </a:rPr>
              <a:t>INWARD — THE WAY OF STUDY</a:t>
            </a:r>
          </a:p>
        </p:txBody>
      </p:sp>
      <p:sp>
        <p:nvSpPr>
          <p:cNvPr id="9" name="Rectangle 8"/>
          <p:cNvSpPr/>
          <p:nvPr/>
        </p:nvSpPr>
        <p:spPr>
          <a:xfrm>
            <a:off x="640080" y="2057400"/>
            <a:ext cx="1691640" cy="50292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57400"/>
            <a:ext cx="1691640" cy="502920"/>
          </a:xfrm>
          <a:prstGeom prst="rect">
            <a:avLst/>
          </a:prstGeom>
          <a:noFill/>
        </p:spPr>
        <p:txBody>
          <a:bodyPr wrap="square" anchor="ctr" lIns="0" tIns="0" rIns="0" bIns="0">
            <a:spAutoFit/>
          </a:bodyPr>
          <a:lstStyle/>
          <a:p>
            <a:pPr algn="ctr"/>
            <a:r>
              <a:rPr sz="1150" b="1" i="0">
                <a:solidFill>
                  <a:srgbClr val="FFFFFF"/>
                </a:solidFill>
                <a:latin typeface="Calibri"/>
              </a:rPr>
              <a:t>Study</a:t>
            </a:r>
          </a:p>
        </p:txBody>
      </p:sp>
      <p:sp>
        <p:nvSpPr>
          <p:cNvPr id="11" name="TextBox 10"/>
          <p:cNvSpPr txBox="1"/>
          <p:nvPr/>
        </p:nvSpPr>
        <p:spPr>
          <a:xfrm>
            <a:off x="2331720" y="205740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2" name="Rectangle 11"/>
          <p:cNvSpPr/>
          <p:nvPr/>
        </p:nvSpPr>
        <p:spPr>
          <a:xfrm>
            <a:off x="2651760" y="2057400"/>
            <a:ext cx="1783080" cy="50292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2057400"/>
            <a:ext cx="1783080" cy="502920"/>
          </a:xfrm>
          <a:prstGeom prst="rect">
            <a:avLst/>
          </a:prstGeom>
          <a:noFill/>
        </p:spPr>
        <p:txBody>
          <a:bodyPr wrap="square" anchor="ctr" lIns="0" tIns="0" rIns="0" bIns="0">
            <a:spAutoFit/>
          </a:bodyPr>
          <a:lstStyle/>
          <a:p>
            <a:pPr algn="ctr"/>
            <a:r>
              <a:rPr sz="1150" b="1" i="0">
                <a:solidFill>
                  <a:srgbClr val="FFFFFF"/>
                </a:solidFill>
                <a:latin typeface="Calibri"/>
              </a:rPr>
              <a:t>Sakshatkar in chitta</a:t>
            </a:r>
          </a:p>
        </p:txBody>
      </p:sp>
      <p:sp>
        <p:nvSpPr>
          <p:cNvPr id="14" name="TextBox 13"/>
          <p:cNvSpPr txBox="1"/>
          <p:nvPr/>
        </p:nvSpPr>
        <p:spPr>
          <a:xfrm>
            <a:off x="4434840" y="205740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5" name="Rectangle 14"/>
          <p:cNvSpPr/>
          <p:nvPr/>
        </p:nvSpPr>
        <p:spPr>
          <a:xfrm>
            <a:off x="4754880" y="2057400"/>
            <a:ext cx="1691640" cy="50292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057400"/>
            <a:ext cx="1691640" cy="502920"/>
          </a:xfrm>
          <a:prstGeom prst="rect">
            <a:avLst/>
          </a:prstGeom>
          <a:noFill/>
        </p:spPr>
        <p:txBody>
          <a:bodyPr wrap="square" anchor="ctr" lIns="0" tIns="0" rIns="0" bIns="0">
            <a:spAutoFit/>
          </a:bodyPr>
          <a:lstStyle/>
          <a:p>
            <a:pPr algn="ctr"/>
            <a:r>
              <a:rPr sz="1150" b="1" i="0">
                <a:solidFill>
                  <a:srgbClr val="FFFFFF"/>
                </a:solidFill>
                <a:latin typeface="Calibri"/>
              </a:rPr>
              <a:t>Bodh in buddhi</a:t>
            </a:r>
          </a:p>
        </p:txBody>
      </p:sp>
      <p:sp>
        <p:nvSpPr>
          <p:cNvPr id="17" name="TextBox 16"/>
          <p:cNvSpPr txBox="1"/>
          <p:nvPr/>
        </p:nvSpPr>
        <p:spPr>
          <a:xfrm>
            <a:off x="6446520" y="205740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8" name="Rectangle 17"/>
          <p:cNvSpPr/>
          <p:nvPr/>
        </p:nvSpPr>
        <p:spPr>
          <a:xfrm>
            <a:off x="6766560" y="2057400"/>
            <a:ext cx="1691640" cy="50292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2057400"/>
            <a:ext cx="1691640" cy="502920"/>
          </a:xfrm>
          <a:prstGeom prst="rect">
            <a:avLst/>
          </a:prstGeom>
          <a:noFill/>
        </p:spPr>
        <p:txBody>
          <a:bodyPr wrap="square" anchor="ctr" lIns="0" tIns="0" rIns="0" bIns="0">
            <a:spAutoFit/>
          </a:bodyPr>
          <a:lstStyle/>
          <a:p>
            <a:pPr algn="ctr"/>
            <a:r>
              <a:rPr sz="1150" b="1" i="0">
                <a:solidFill>
                  <a:srgbClr val="FFFFFF"/>
                </a:solidFill>
                <a:latin typeface="Calibri"/>
              </a:rPr>
              <a:t>Anubhav in atma</a:t>
            </a:r>
          </a:p>
        </p:txBody>
      </p:sp>
      <p:sp>
        <p:nvSpPr>
          <p:cNvPr id="20" name="TextBox 19"/>
          <p:cNvSpPr txBox="1"/>
          <p:nvPr/>
        </p:nvSpPr>
        <p:spPr>
          <a:xfrm>
            <a:off x="640080" y="2743200"/>
            <a:ext cx="7863840" cy="256032"/>
          </a:xfrm>
          <a:prstGeom prst="rect">
            <a:avLst/>
          </a:prstGeom>
          <a:noFill/>
        </p:spPr>
        <p:txBody>
          <a:bodyPr wrap="square" anchor="ctr" lIns="0" tIns="0" rIns="0" bIns="0">
            <a:spAutoFit/>
          </a:bodyPr>
          <a:lstStyle/>
          <a:p>
            <a:pPr algn="l"/>
            <a:r>
              <a:rPr sz="950" b="1" i="0">
                <a:solidFill>
                  <a:srgbClr val="9A6414"/>
                </a:solidFill>
                <a:latin typeface="Calibri"/>
              </a:rPr>
              <a:t>OUTWARD — REALISED CONTENT GOVERNS LIVING</a:t>
            </a:r>
          </a:p>
        </p:txBody>
      </p:sp>
      <p:sp>
        <p:nvSpPr>
          <p:cNvPr id="21" name="Rectangle 20"/>
          <p:cNvSpPr/>
          <p:nvPr/>
        </p:nvSpPr>
        <p:spPr>
          <a:xfrm>
            <a:off x="640080" y="3017520"/>
            <a:ext cx="1417320" cy="502920"/>
          </a:xfrm>
          <a:prstGeom prst="rect">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017520"/>
            <a:ext cx="1417320" cy="502920"/>
          </a:xfrm>
          <a:prstGeom prst="rect">
            <a:avLst/>
          </a:prstGeom>
          <a:noFill/>
        </p:spPr>
        <p:txBody>
          <a:bodyPr wrap="square" anchor="ctr" lIns="0" tIns="0" rIns="0" bIns="0">
            <a:spAutoFit/>
          </a:bodyPr>
          <a:lstStyle/>
          <a:p>
            <a:pPr algn="ctr"/>
            <a:r>
              <a:rPr sz="1150" b="1" i="0">
                <a:solidFill>
                  <a:srgbClr val="FFFFFF"/>
                </a:solidFill>
                <a:latin typeface="Calibri"/>
              </a:rPr>
              <a:t>Resolve</a:t>
            </a:r>
          </a:p>
        </p:txBody>
      </p:sp>
      <p:sp>
        <p:nvSpPr>
          <p:cNvPr id="23" name="TextBox 22"/>
          <p:cNvSpPr txBox="1"/>
          <p:nvPr/>
        </p:nvSpPr>
        <p:spPr>
          <a:xfrm>
            <a:off x="2057400" y="301752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24" name="Rectangle 23"/>
          <p:cNvSpPr/>
          <p:nvPr/>
        </p:nvSpPr>
        <p:spPr>
          <a:xfrm>
            <a:off x="2377440" y="3017520"/>
            <a:ext cx="1417320" cy="502920"/>
          </a:xfrm>
          <a:prstGeom prst="rect">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77440" y="3017520"/>
            <a:ext cx="1417320" cy="502920"/>
          </a:xfrm>
          <a:prstGeom prst="rect">
            <a:avLst/>
          </a:prstGeom>
          <a:noFill/>
        </p:spPr>
        <p:txBody>
          <a:bodyPr wrap="square" anchor="ctr" lIns="0" tIns="0" rIns="0" bIns="0">
            <a:spAutoFit/>
          </a:bodyPr>
          <a:lstStyle/>
          <a:p>
            <a:pPr algn="ctr"/>
            <a:r>
              <a:rPr sz="1150" b="1" i="0">
                <a:solidFill>
                  <a:srgbClr val="FFFFFF"/>
                </a:solidFill>
                <a:latin typeface="Calibri"/>
              </a:rPr>
              <a:t>Imaging</a:t>
            </a:r>
          </a:p>
        </p:txBody>
      </p:sp>
      <p:sp>
        <p:nvSpPr>
          <p:cNvPr id="26" name="TextBox 25"/>
          <p:cNvSpPr txBox="1"/>
          <p:nvPr/>
        </p:nvSpPr>
        <p:spPr>
          <a:xfrm>
            <a:off x="3794760" y="301752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27" name="Rectangle 26"/>
          <p:cNvSpPr/>
          <p:nvPr/>
        </p:nvSpPr>
        <p:spPr>
          <a:xfrm>
            <a:off x="4114800" y="3017520"/>
            <a:ext cx="1417320" cy="502920"/>
          </a:xfrm>
          <a:prstGeom prst="rect">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0" y="3017520"/>
            <a:ext cx="1417320" cy="502920"/>
          </a:xfrm>
          <a:prstGeom prst="rect">
            <a:avLst/>
          </a:prstGeom>
          <a:noFill/>
        </p:spPr>
        <p:txBody>
          <a:bodyPr wrap="square" anchor="ctr" lIns="0" tIns="0" rIns="0" bIns="0">
            <a:spAutoFit/>
          </a:bodyPr>
          <a:lstStyle/>
          <a:p>
            <a:pPr algn="ctr"/>
            <a:r>
              <a:rPr sz="1150" b="1" i="0">
                <a:solidFill>
                  <a:srgbClr val="FFFFFF"/>
                </a:solidFill>
                <a:latin typeface="Calibri"/>
              </a:rPr>
              <a:t>Analysis</a:t>
            </a:r>
          </a:p>
        </p:txBody>
      </p:sp>
      <p:sp>
        <p:nvSpPr>
          <p:cNvPr id="29" name="TextBox 28"/>
          <p:cNvSpPr txBox="1"/>
          <p:nvPr/>
        </p:nvSpPr>
        <p:spPr>
          <a:xfrm>
            <a:off x="5532120" y="301752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30" name="Rectangle 29"/>
          <p:cNvSpPr/>
          <p:nvPr/>
        </p:nvSpPr>
        <p:spPr>
          <a:xfrm>
            <a:off x="5852160" y="3017520"/>
            <a:ext cx="1417320" cy="502920"/>
          </a:xfrm>
          <a:prstGeom prst="rect">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2160" y="3017520"/>
            <a:ext cx="1417320" cy="502920"/>
          </a:xfrm>
          <a:prstGeom prst="rect">
            <a:avLst/>
          </a:prstGeom>
          <a:noFill/>
        </p:spPr>
        <p:txBody>
          <a:bodyPr wrap="square" anchor="ctr" lIns="0" tIns="0" rIns="0" bIns="0">
            <a:spAutoFit/>
          </a:bodyPr>
          <a:lstStyle/>
          <a:p>
            <a:pPr algn="ctr"/>
            <a:r>
              <a:rPr sz="1150" b="1" i="0">
                <a:solidFill>
                  <a:srgbClr val="FFFFFF"/>
                </a:solidFill>
                <a:latin typeface="Calibri"/>
              </a:rPr>
              <a:t>Selection</a:t>
            </a:r>
          </a:p>
        </p:txBody>
      </p:sp>
      <p:sp>
        <p:nvSpPr>
          <p:cNvPr id="32" name="TextBox 31"/>
          <p:cNvSpPr txBox="1"/>
          <p:nvPr/>
        </p:nvSpPr>
        <p:spPr>
          <a:xfrm>
            <a:off x="7269480" y="3017520"/>
            <a:ext cx="320040" cy="50292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33" name="Rectangle 32"/>
          <p:cNvSpPr/>
          <p:nvPr/>
        </p:nvSpPr>
        <p:spPr>
          <a:xfrm>
            <a:off x="7589520" y="3017520"/>
            <a:ext cx="914400" cy="502920"/>
          </a:xfrm>
          <a:prstGeom prst="rect">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0" y="3017520"/>
            <a:ext cx="914400" cy="502920"/>
          </a:xfrm>
          <a:prstGeom prst="rect">
            <a:avLst/>
          </a:prstGeom>
          <a:noFill/>
        </p:spPr>
        <p:txBody>
          <a:bodyPr wrap="square" anchor="ctr" lIns="0" tIns="0" rIns="0" bIns="0">
            <a:spAutoFit/>
          </a:bodyPr>
          <a:lstStyle/>
          <a:p>
            <a:pPr algn="ctr"/>
            <a:r>
              <a:rPr sz="1150" b="1" i="0">
                <a:solidFill>
                  <a:srgbClr val="FFFFFF"/>
                </a:solidFill>
                <a:latin typeface="Calibri"/>
              </a:rPr>
              <a:t>Conduct</a:t>
            </a:r>
          </a:p>
        </p:txBody>
      </p:sp>
      <p:sp>
        <p:nvSpPr>
          <p:cNvPr id="35" name="Rectangle 34"/>
          <p:cNvSpPr/>
          <p:nvPr/>
        </p:nvSpPr>
        <p:spPr>
          <a:xfrm>
            <a:off x="640080" y="3840480"/>
            <a:ext cx="7863840" cy="7772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3840480"/>
            <a:ext cx="7406640" cy="777240"/>
          </a:xfrm>
          <a:prstGeom prst="rect">
            <a:avLst/>
          </a:prstGeom>
          <a:noFill/>
        </p:spPr>
        <p:txBody>
          <a:bodyPr wrap="square" anchor="ctr" lIns="0" tIns="0" rIns="0" bIns="0">
            <a:spAutoFit/>
          </a:bodyPr>
          <a:lstStyle/>
          <a:p>
            <a:pPr algn="l"/>
            <a:r>
              <a:rPr sz="1080" b="0" i="0">
                <a:solidFill>
                  <a:srgbClr val="5A6377"/>
                </a:solidFill>
                <a:latin typeface="Calibri"/>
              </a:rPr>
              <a:t>Higher-conformance carries realised understanding into tasting and selection. Inquiry, practice and evaluation develop the learner’s own understanding.</a:t>
            </a:r>
          </a:p>
        </p:txBody>
      </p:sp>
      <p:sp>
        <p:nvSpPr>
          <p:cNvPr id="37" name="TextBox 36"/>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pp.126,155–156,208  ·  JV printed p.61  ·  AnalyticMadhyasthDarshan.org  ·  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THREE  ·  GYAN</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Complete Knowledge: Three Contents</a:t>
            </a:r>
          </a:p>
        </p:txBody>
      </p:sp>
      <p:sp>
        <p:nvSpPr>
          <p:cNvPr id="7" name="Rectangle 6"/>
          <p:cNvSpPr/>
          <p:nvPr/>
        </p:nvSpPr>
        <p:spPr>
          <a:xfrm>
            <a:off x="640080" y="1280160"/>
            <a:ext cx="2624328" cy="1783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Coexistence</a:t>
            </a:r>
          </a:p>
        </p:txBody>
      </p:sp>
      <p:sp>
        <p:nvSpPr>
          <p:cNvPr id="9" name="TextBox 8"/>
          <p:cNvSpPr txBox="1"/>
          <p:nvPr/>
        </p:nvSpPr>
        <p:spPr>
          <a:xfrm>
            <a:off x="841247" y="1737360"/>
            <a:ext cx="2221992" cy="1207007"/>
          </a:xfrm>
          <a:prstGeom prst="rect">
            <a:avLst/>
          </a:prstGeom>
          <a:noFill/>
        </p:spPr>
        <p:txBody>
          <a:bodyPr wrap="square" anchor="t" lIns="0" tIns="0" rIns="0" bIns="0">
            <a:spAutoFit/>
          </a:bodyPr>
          <a:lstStyle/>
          <a:p>
            <a:pPr algn="l"/>
            <a:r>
              <a:rPr sz="1050" b="0" i="0">
                <a:solidFill>
                  <a:srgbClr val="5A6377"/>
                </a:solidFill>
                <a:latin typeface="Calibri"/>
              </a:rPr>
              <a:t>Existence as satta with saturated nature — realised as truth in atma.</a:t>
            </a:r>
          </a:p>
        </p:txBody>
      </p:sp>
      <p:sp>
        <p:nvSpPr>
          <p:cNvPr id="10" name="Rectangle 9"/>
          <p:cNvSpPr/>
          <p:nvPr/>
        </p:nvSpPr>
        <p:spPr>
          <a:xfrm>
            <a:off x="3401568" y="1280160"/>
            <a:ext cx="2624328" cy="1783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Jeevan</a:t>
            </a:r>
          </a:p>
        </p:txBody>
      </p:sp>
      <p:sp>
        <p:nvSpPr>
          <p:cNvPr id="12" name="TextBox 11"/>
          <p:cNvSpPr txBox="1"/>
          <p:nvPr/>
        </p:nvSpPr>
        <p:spPr>
          <a:xfrm>
            <a:off x="3602736" y="1737360"/>
            <a:ext cx="2221992" cy="1207007"/>
          </a:xfrm>
          <a:prstGeom prst="rect">
            <a:avLst/>
          </a:prstGeom>
          <a:noFill/>
        </p:spPr>
        <p:txBody>
          <a:bodyPr wrap="square" anchor="t" lIns="0" tIns="0" rIns="0" bIns="0">
            <a:spAutoFit/>
          </a:bodyPr>
          <a:lstStyle/>
          <a:p>
            <a:pPr algn="l"/>
            <a:r>
              <a:rPr sz="1050" b="0" i="0">
                <a:solidFill>
                  <a:srgbClr val="5A6377"/>
                </a:solidFill>
                <a:latin typeface="Calibri"/>
              </a:rPr>
              <a:t>The knower itself: its constitution, faculties, activities, and values.</a:t>
            </a:r>
          </a:p>
        </p:txBody>
      </p:sp>
      <p:sp>
        <p:nvSpPr>
          <p:cNvPr id="13" name="Rectangle 12"/>
          <p:cNvSpPr/>
          <p:nvPr/>
        </p:nvSpPr>
        <p:spPr>
          <a:xfrm>
            <a:off x="6163056" y="1280160"/>
            <a:ext cx="2624328" cy="1783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Humane conduct</a:t>
            </a:r>
          </a:p>
        </p:txBody>
      </p:sp>
      <p:sp>
        <p:nvSpPr>
          <p:cNvPr id="15" name="TextBox 14"/>
          <p:cNvSpPr txBox="1"/>
          <p:nvPr/>
        </p:nvSpPr>
        <p:spPr>
          <a:xfrm>
            <a:off x="6364224" y="1737360"/>
            <a:ext cx="2221992" cy="1207007"/>
          </a:xfrm>
          <a:prstGeom prst="rect">
            <a:avLst/>
          </a:prstGeom>
          <a:noFill/>
        </p:spPr>
        <p:txBody>
          <a:bodyPr wrap="square" anchor="t" lIns="0" tIns="0" rIns="0" bIns="0">
            <a:spAutoFit/>
          </a:bodyPr>
          <a:lstStyle/>
          <a:p>
            <a:pPr algn="l"/>
            <a:r>
              <a:rPr sz="1050" b="0" i="0">
                <a:solidFill>
                  <a:srgbClr val="5A6377"/>
                </a:solidFill>
                <a:latin typeface="Calibri"/>
              </a:rPr>
              <a:t>Values, character and ethics understood and evidenced in practised living.</a:t>
            </a:r>
          </a:p>
        </p:txBody>
      </p:sp>
      <p:sp>
        <p:nvSpPr>
          <p:cNvPr id="16" name="Rectangle 15"/>
          <p:cNvSpPr/>
          <p:nvPr/>
        </p:nvSpPr>
        <p:spPr>
          <a:xfrm>
            <a:off x="640080" y="3291840"/>
            <a:ext cx="7863840" cy="86868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91840"/>
            <a:ext cx="7406640" cy="868680"/>
          </a:xfrm>
          <a:prstGeom prst="rect">
            <a:avLst/>
          </a:prstGeom>
          <a:noFill/>
        </p:spPr>
        <p:txBody>
          <a:bodyPr wrap="square" anchor="ctr" lIns="0" tIns="0" rIns="0" bIns="0">
            <a:spAutoFit/>
          </a:bodyPr>
          <a:lstStyle/>
          <a:p>
            <a:pPr algn="l"/>
            <a:r>
              <a:rPr sz="1080" b="0" i="0">
                <a:solidFill>
                  <a:srgbClr val="5A6377"/>
                </a:solidFill>
                <a:latin typeface="Calibri"/>
              </a:rPr>
              <a:t>Knowing, believing, recognising and fulfilling are assessed distinctly. Understanding a principle, recognising its application and fulfilling the responsibility can develop unevenly.</a:t>
            </a:r>
          </a:p>
        </p:txBody>
      </p:sp>
      <p:sp>
        <p:nvSpPr>
          <p:cNvPr id="18" name="TextBox 17"/>
          <p:cNvSpPr txBox="1"/>
          <p:nvPr/>
        </p:nvSpPr>
        <p:spPr>
          <a:xfrm>
            <a:off x="640080" y="4343400"/>
            <a:ext cx="7955279" cy="274320"/>
          </a:xfrm>
          <a:prstGeom prst="rect">
            <a:avLst/>
          </a:prstGeom>
          <a:noFill/>
        </p:spPr>
        <p:txBody>
          <a:bodyPr wrap="square" anchor="ctr" lIns="0" tIns="0" rIns="0" bIns="0">
            <a:spAutoFit/>
          </a:bodyPr>
          <a:lstStyle/>
          <a:p>
            <a:pPr algn="l"/>
            <a:r>
              <a:rPr sz="1050" b="0" i="1">
                <a:solidFill>
                  <a:srgbClr val="5A6377"/>
                </a:solidFill>
                <a:latin typeface="Calibri"/>
              </a:rPr>
              <a:t>Knowledge is present throughout coexistence; its unfolding happens through awakened human beings.</a:t>
            </a:r>
          </a:p>
        </p:txBody>
      </p:sp>
      <p:sp>
        <p:nvSpPr>
          <p:cNvPr id="19" name="TextBox 18"/>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 13, 260, 300  ·  JV pp. 69–70  ·  KD §3.17  ·  AnalyticMadhyasthDarshan.org  ·  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THREE  ·  HUMANE CONDUCT</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Values, Character, and Ethics</a:t>
            </a:r>
          </a:p>
        </p:txBody>
      </p:sp>
      <p:sp>
        <p:nvSpPr>
          <p:cNvPr id="7" name="Rectangle 6"/>
          <p:cNvSpPr/>
          <p:nvPr/>
        </p:nvSpPr>
        <p:spPr>
          <a:xfrm>
            <a:off x="640080" y="1280160"/>
            <a:ext cx="2624328" cy="1874519"/>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Values</a:t>
            </a:r>
          </a:p>
        </p:txBody>
      </p:sp>
      <p:sp>
        <p:nvSpPr>
          <p:cNvPr id="9" name="TextBox 8"/>
          <p:cNvSpPr txBox="1"/>
          <p:nvPr/>
        </p:nvSpPr>
        <p:spPr>
          <a:xfrm>
            <a:off x="841247" y="1737360"/>
            <a:ext cx="2221992" cy="1298447"/>
          </a:xfrm>
          <a:prstGeom prst="rect">
            <a:avLst/>
          </a:prstGeom>
          <a:noFill/>
        </p:spPr>
        <p:txBody>
          <a:bodyPr wrap="square" anchor="t" lIns="0" tIns="0" rIns="0" bIns="0">
            <a:spAutoFit/>
          </a:bodyPr>
          <a:lstStyle/>
          <a:p>
            <a:pPr algn="l"/>
            <a:r>
              <a:rPr sz="1050" b="0" i="0">
                <a:solidFill>
                  <a:srgbClr val="5A6377"/>
                </a:solidFill>
                <a:latin typeface="Calibri"/>
              </a:rPr>
              <a:t>Thirty positions: four jeevan, six human, nine established, nine expressed, and two object values.</a:t>
            </a:r>
          </a:p>
        </p:txBody>
      </p:sp>
      <p:sp>
        <p:nvSpPr>
          <p:cNvPr id="10" name="Rectangle 9"/>
          <p:cNvSpPr/>
          <p:nvPr/>
        </p:nvSpPr>
        <p:spPr>
          <a:xfrm>
            <a:off x="3401568" y="1280160"/>
            <a:ext cx="2624328" cy="1874519"/>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Character</a:t>
            </a:r>
          </a:p>
        </p:txBody>
      </p:sp>
      <p:sp>
        <p:nvSpPr>
          <p:cNvPr id="12" name="TextBox 11"/>
          <p:cNvSpPr txBox="1"/>
          <p:nvPr/>
        </p:nvSpPr>
        <p:spPr>
          <a:xfrm>
            <a:off x="3602736" y="1737360"/>
            <a:ext cx="2221992" cy="1298447"/>
          </a:xfrm>
          <a:prstGeom prst="rect">
            <a:avLst/>
          </a:prstGeom>
          <a:noFill/>
        </p:spPr>
        <p:txBody>
          <a:bodyPr wrap="square" anchor="t" lIns="0" tIns="0" rIns="0" bIns="0">
            <a:spAutoFit/>
          </a:bodyPr>
          <a:lstStyle/>
          <a:p>
            <a:pPr algn="l"/>
            <a:r>
              <a:rPr sz="1050" b="0" i="0">
                <a:solidFill>
                  <a:srgbClr val="5A6377"/>
                </a:solidFill>
                <a:latin typeface="Calibri"/>
              </a:rPr>
              <a:t>Evidenced as rightfully owned wealth, marital faithfulness, and kindness in work and behaviour.</a:t>
            </a:r>
          </a:p>
        </p:txBody>
      </p:sp>
      <p:sp>
        <p:nvSpPr>
          <p:cNvPr id="13" name="Rectangle 12"/>
          <p:cNvSpPr/>
          <p:nvPr/>
        </p:nvSpPr>
        <p:spPr>
          <a:xfrm>
            <a:off x="6163056" y="1280160"/>
            <a:ext cx="2624328" cy="1874519"/>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399031"/>
            <a:ext cx="2221992" cy="292608"/>
          </a:xfrm>
          <a:prstGeom prst="rect">
            <a:avLst/>
          </a:prstGeom>
          <a:noFill/>
        </p:spPr>
        <p:txBody>
          <a:bodyPr wrap="square" anchor="ctr" lIns="0" tIns="0" rIns="0" bIns="0">
            <a:spAutoFit/>
          </a:bodyPr>
          <a:lstStyle/>
          <a:p>
            <a:pPr algn="l"/>
            <a:r>
              <a:rPr sz="1250" b="1" i="0">
                <a:solidFill>
                  <a:srgbClr val="1E2447"/>
                </a:solidFill>
                <a:latin typeface="Cambria"/>
              </a:rPr>
              <a:t>Ethics</a:t>
            </a:r>
          </a:p>
        </p:txBody>
      </p:sp>
      <p:sp>
        <p:nvSpPr>
          <p:cNvPr id="15" name="TextBox 14"/>
          <p:cNvSpPr txBox="1"/>
          <p:nvPr/>
        </p:nvSpPr>
        <p:spPr>
          <a:xfrm>
            <a:off x="6364224" y="1737360"/>
            <a:ext cx="2221992" cy="1298447"/>
          </a:xfrm>
          <a:prstGeom prst="rect">
            <a:avLst/>
          </a:prstGeom>
          <a:noFill/>
        </p:spPr>
        <p:txBody>
          <a:bodyPr wrap="square" anchor="t" lIns="0" tIns="0" rIns="0" bIns="0">
            <a:spAutoFit/>
          </a:bodyPr>
          <a:lstStyle/>
          <a:p>
            <a:pPr algn="l"/>
            <a:r>
              <a:rPr sz="1050" b="0" i="0">
                <a:solidFill>
                  <a:srgbClr val="5A6377"/>
                </a:solidFill>
                <a:latin typeface="Calibri"/>
              </a:rPr>
              <a:t>Body, mind, and wealth directed to right-use, protection, and regeneration.</a:t>
            </a:r>
          </a:p>
        </p:txBody>
      </p:sp>
      <p:sp>
        <p:nvSpPr>
          <p:cNvPr id="16" name="Rectangle 15"/>
          <p:cNvSpPr/>
          <p:nvPr/>
        </p:nvSpPr>
        <p:spPr>
          <a:xfrm>
            <a:off x="640080" y="3383280"/>
            <a:ext cx="7863840" cy="64008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383280"/>
            <a:ext cx="7406640" cy="640080"/>
          </a:xfrm>
          <a:prstGeom prst="rect">
            <a:avLst/>
          </a:prstGeom>
          <a:noFill/>
        </p:spPr>
        <p:txBody>
          <a:bodyPr wrap="square" anchor="ctr" lIns="0" tIns="0" rIns="0" bIns="0">
            <a:spAutoFit/>
          </a:bodyPr>
          <a:lstStyle/>
          <a:p>
            <a:pPr algn="l"/>
            <a:r>
              <a:rPr sz="1080" b="0" i="1">
                <a:solidFill>
                  <a:srgbClr val="5A6377"/>
                </a:solidFill>
                <a:latin typeface="Calibri"/>
              </a:rPr>
              <a:t>Realisation, thought, behaviour and work express these values in lived participation.</a:t>
            </a:r>
          </a:p>
        </p:txBody>
      </p:sp>
      <p:sp>
        <p:nvSpPr>
          <p:cNvPr id="18" name="TextBox 17"/>
          <p:cNvSpPr txBox="1"/>
          <p:nvPr/>
        </p:nvSpPr>
        <p:spPr>
          <a:xfrm>
            <a:off x="640080" y="4251960"/>
            <a:ext cx="7955279" cy="274320"/>
          </a:xfrm>
          <a:prstGeom prst="rect">
            <a:avLst/>
          </a:prstGeom>
          <a:noFill/>
        </p:spPr>
        <p:txBody>
          <a:bodyPr wrap="square" anchor="ctr" lIns="0" tIns="0" rIns="0" bIns="0">
            <a:spAutoFit/>
          </a:bodyPr>
          <a:lstStyle/>
          <a:p>
            <a:pPr algn="l"/>
            <a:r>
              <a:rPr sz="1050" b="0" i="1">
                <a:solidFill>
                  <a:srgbClr val="5A6377"/>
                </a:solidFill>
                <a:latin typeface="Calibri"/>
              </a:rPr>
              <a:t>Care can be genuinely fulfilled during learning. Its recognition, actual fulfilment and evaluation give practice concrete content.</a:t>
            </a:r>
          </a:p>
        </p:txBody>
      </p:sp>
      <p:sp>
        <p:nvSpPr>
          <p:cNvPr id="19" name="TextBox 18"/>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PS printed pp.149,151,154  ·  MSM printed p.49  ·  KD pp.63,67  ·  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THREE  ·  ACTION AND EVIDENCE</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A Garden: Learning and Evaluation</a:t>
            </a:r>
          </a:p>
        </p:txBody>
      </p:sp>
      <p:sp>
        <p:nvSpPr>
          <p:cNvPr id="7" name="TextBox 6"/>
          <p:cNvSpPr txBox="1"/>
          <p:nvPr/>
        </p:nvSpPr>
        <p:spPr>
          <a:xfrm>
            <a:off x="640080" y="1170432"/>
            <a:ext cx="7955279" cy="502920"/>
          </a:xfrm>
          <a:prstGeom prst="rect">
            <a:avLst/>
          </a:prstGeom>
          <a:noFill/>
        </p:spPr>
        <p:txBody>
          <a:bodyPr wrap="square" anchor="ctr" lIns="0" tIns="0" rIns="0" bIns="0">
            <a:spAutoFit/>
          </a:bodyPr>
          <a:lstStyle/>
          <a:p>
            <a:pPr algn="l"/>
            <a:r>
              <a:rPr sz="1200" b="0" i="0">
                <a:solidFill>
                  <a:srgbClr val="5A6377"/>
                </a:solidFill>
                <a:latin typeface="Calibri"/>
              </a:rPr>
              <a:t>A teacher, learners and caregivers grow food together. Their participation has internal, bodily, relational and natural consequences.</a:t>
            </a:r>
          </a:p>
        </p:txBody>
      </p:sp>
      <p:sp>
        <p:nvSpPr>
          <p:cNvPr id="8" name="Rectangle 7"/>
          <p:cNvSpPr/>
          <p:nvPr/>
        </p:nvSpPr>
        <p:spPr>
          <a:xfrm>
            <a:off x="640080" y="1828800"/>
            <a:ext cx="2624328" cy="19659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947672"/>
            <a:ext cx="2221992" cy="292608"/>
          </a:xfrm>
          <a:prstGeom prst="rect">
            <a:avLst/>
          </a:prstGeom>
          <a:noFill/>
        </p:spPr>
        <p:txBody>
          <a:bodyPr wrap="square" anchor="ctr" lIns="0" tIns="0" rIns="0" bIns="0">
            <a:spAutoFit/>
          </a:bodyPr>
          <a:lstStyle/>
          <a:p>
            <a:pPr algn="l"/>
            <a:r>
              <a:rPr sz="1250" b="1" i="0">
                <a:solidFill>
                  <a:srgbClr val="1E2447"/>
                </a:solidFill>
                <a:latin typeface="Cambria"/>
              </a:rPr>
              <a:t>Partial care</a:t>
            </a:r>
          </a:p>
        </p:txBody>
      </p:sp>
      <p:sp>
        <p:nvSpPr>
          <p:cNvPr id="10" name="TextBox 9"/>
          <p:cNvSpPr txBox="1"/>
          <p:nvPr/>
        </p:nvSpPr>
        <p:spPr>
          <a:xfrm>
            <a:off x="841247" y="2285999"/>
            <a:ext cx="2221992" cy="1389887"/>
          </a:xfrm>
          <a:prstGeom prst="rect">
            <a:avLst/>
          </a:prstGeom>
          <a:noFill/>
        </p:spPr>
        <p:txBody>
          <a:bodyPr wrap="square" anchor="t" lIns="0" tIns="0" rIns="0" bIns="0">
            <a:spAutoFit/>
          </a:bodyPr>
          <a:lstStyle/>
          <a:p>
            <a:pPr algn="l"/>
            <a:r>
              <a:rPr sz="1050" b="0" i="0">
                <a:solidFill>
                  <a:srgbClr val="5A6377"/>
                </a:solidFill>
                <a:latin typeface="Calibri"/>
              </a:rPr>
              <a:t>A caregiver recognises a tired learner’s need and provides nourishment. The caring contribution is real.</a:t>
            </a:r>
          </a:p>
        </p:txBody>
      </p:sp>
      <p:sp>
        <p:nvSpPr>
          <p:cNvPr id="11" name="Rectangle 10"/>
          <p:cNvSpPr/>
          <p:nvPr/>
        </p:nvSpPr>
        <p:spPr>
          <a:xfrm>
            <a:off x="3401568" y="1828800"/>
            <a:ext cx="2624328" cy="19659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2736" y="1947672"/>
            <a:ext cx="2221992" cy="292608"/>
          </a:xfrm>
          <a:prstGeom prst="rect">
            <a:avLst/>
          </a:prstGeom>
          <a:noFill/>
        </p:spPr>
        <p:txBody>
          <a:bodyPr wrap="square" anchor="ctr" lIns="0" tIns="0" rIns="0" bIns="0">
            <a:spAutoFit/>
          </a:bodyPr>
          <a:lstStyle/>
          <a:p>
            <a:pPr algn="l"/>
            <a:r>
              <a:rPr sz="1250" b="1" i="0">
                <a:solidFill>
                  <a:srgbClr val="1E2447"/>
                </a:solidFill>
                <a:latin typeface="Cambria"/>
              </a:rPr>
              <a:t>Understanding and means</a:t>
            </a:r>
          </a:p>
        </p:txBody>
      </p:sp>
      <p:sp>
        <p:nvSpPr>
          <p:cNvPr id="13" name="TextBox 12"/>
          <p:cNvSpPr txBox="1"/>
          <p:nvPr/>
        </p:nvSpPr>
        <p:spPr>
          <a:xfrm>
            <a:off x="3602736" y="2285999"/>
            <a:ext cx="2221992" cy="1389887"/>
          </a:xfrm>
          <a:prstGeom prst="rect">
            <a:avLst/>
          </a:prstGeom>
          <a:noFill/>
        </p:spPr>
        <p:txBody>
          <a:bodyPr wrap="square" anchor="t" lIns="0" tIns="0" rIns="0" bIns="0">
            <a:spAutoFit/>
          </a:bodyPr>
          <a:lstStyle/>
          <a:p>
            <a:pPr algn="l"/>
            <a:r>
              <a:rPr sz="1050" b="0" i="0">
                <a:solidFill>
                  <a:srgbClr val="5A6377"/>
                </a:solidFill>
                <a:latin typeface="Calibri"/>
              </a:rPr>
              <a:t>A copied task may precede understanding. Missing water, tools or assistance requires practical provision.</a:t>
            </a:r>
          </a:p>
        </p:txBody>
      </p:sp>
      <p:sp>
        <p:nvSpPr>
          <p:cNvPr id="14" name="Rectangle 13"/>
          <p:cNvSpPr/>
          <p:nvPr/>
        </p:nvSpPr>
        <p:spPr>
          <a:xfrm>
            <a:off x="6163056" y="1828800"/>
            <a:ext cx="2624328" cy="196596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947672"/>
            <a:ext cx="2221992" cy="292608"/>
          </a:xfrm>
          <a:prstGeom prst="rect">
            <a:avLst/>
          </a:prstGeom>
          <a:noFill/>
        </p:spPr>
        <p:txBody>
          <a:bodyPr wrap="square" anchor="ctr" lIns="0" tIns="0" rIns="0" bIns="0">
            <a:spAutoFit/>
          </a:bodyPr>
          <a:lstStyle/>
          <a:p>
            <a:pPr algn="l"/>
            <a:r>
              <a:rPr sz="1250" b="1" i="0">
                <a:solidFill>
                  <a:srgbClr val="9A6414"/>
                </a:solidFill>
                <a:latin typeface="Cambria"/>
              </a:rPr>
              <a:t>Correction and continuity</a:t>
            </a:r>
          </a:p>
        </p:txBody>
      </p:sp>
      <p:sp>
        <p:nvSpPr>
          <p:cNvPr id="16" name="TextBox 15"/>
          <p:cNvSpPr txBox="1"/>
          <p:nvPr/>
        </p:nvSpPr>
        <p:spPr>
          <a:xfrm>
            <a:off x="6364224" y="2285999"/>
            <a:ext cx="2221992" cy="1389887"/>
          </a:xfrm>
          <a:prstGeom prst="rect">
            <a:avLst/>
          </a:prstGeom>
          <a:noFill/>
        </p:spPr>
        <p:txBody>
          <a:bodyPr wrap="square" anchor="t" lIns="0" tIns="0" rIns="0" bIns="0">
            <a:spAutoFit/>
          </a:bodyPr>
          <a:lstStyle/>
          <a:p>
            <a:pPr algn="l"/>
            <a:r>
              <a:rPr sz="1050" b="0" i="0">
                <a:solidFill>
                  <a:srgbClr val="5A6377"/>
                </a:solidFill>
                <a:latin typeface="Calibri"/>
              </a:rPr>
              <a:t>Participants examine learning, responsibilities, access to food and soil health, then revise the undertaking.</a:t>
            </a:r>
          </a:p>
        </p:txBody>
      </p:sp>
      <p:sp>
        <p:nvSpPr>
          <p:cNvPr id="17" name="TextBox 16"/>
          <p:cNvSpPr txBox="1"/>
          <p:nvPr/>
        </p:nvSpPr>
        <p:spPr>
          <a:xfrm>
            <a:off x="640080" y="4023360"/>
            <a:ext cx="7955279" cy="457200"/>
          </a:xfrm>
          <a:prstGeom prst="rect">
            <a:avLst/>
          </a:prstGeom>
          <a:noFill/>
        </p:spPr>
        <p:txBody>
          <a:bodyPr wrap="square" anchor="ctr" lIns="0" tIns="0" rIns="0" bIns="0">
            <a:spAutoFit/>
          </a:bodyPr>
          <a:lstStyle/>
          <a:p>
            <a:pPr algn="l"/>
            <a:r>
              <a:rPr sz="1100" b="0" i="1">
                <a:solidFill>
                  <a:srgbClr val="5A6377"/>
                </a:solidFill>
                <a:latin typeface="Calibri"/>
              </a:rPr>
              <a:t>A fulfilled act evidences a particular contribution. Continued participation across situations supports the assessment of wider understanding and conduct.</a:t>
            </a:r>
          </a:p>
        </p:txBody>
      </p:sp>
      <p:sp>
        <p:nvSpPr>
          <p:cNvPr id="18" name="TextBox 17"/>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KD pp. 1–3, 63, 65  ·  Study §§8.2–8.5  ·  AnalyticMadhyasthDarshan.org  ·  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68312" y="2039112"/>
            <a:ext cx="859536" cy="859536"/>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797296" y="3968496"/>
            <a:ext cx="283464" cy="28346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4297680"/>
            <a:ext cx="192024" cy="192024"/>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anchor="ctr" lIns="0" tIns="0" rIns="0" bIns="0">
            <a:spAutoFit/>
          </a:bodyPr>
          <a:lstStyle/>
          <a:p>
            <a:pPr algn="l"/>
            <a:r>
              <a:rPr sz="1200" b="1" i="0">
                <a:solidFill>
                  <a:srgbClr val="C9821E"/>
                </a:solidFill>
                <a:latin typeface="Calibri"/>
              </a:rPr>
              <a:t>MOVEMENT FOUR  ·  STUDY §§9–11</a:t>
            </a:r>
          </a:p>
        </p:txBody>
      </p:sp>
      <p:sp>
        <p:nvSpPr>
          <p:cNvPr id="12" name="TextBox 11"/>
          <p:cNvSpPr txBox="1"/>
          <p:nvPr/>
        </p:nvSpPr>
        <p:spPr>
          <a:xfrm>
            <a:off x="640080" y="1572768"/>
            <a:ext cx="5577840" cy="1371600"/>
          </a:xfrm>
          <a:prstGeom prst="rect">
            <a:avLst/>
          </a:prstGeom>
          <a:noFill/>
        </p:spPr>
        <p:txBody>
          <a:bodyPr wrap="square" anchor="ctr" lIns="0" tIns="0" rIns="0" bIns="0">
            <a:spAutoFit/>
          </a:bodyPr>
          <a:lstStyle/>
          <a:p>
            <a:pPr algn="l"/>
            <a:r>
              <a:rPr sz="4400" b="1" i="0">
                <a:solidFill>
                  <a:srgbClr val="FFFFFF"/>
                </a:solidFill>
                <a:latin typeface="Cambria"/>
              </a:rPr>
              <a:t>Fulfilment and Awakened Tradition</a:t>
            </a:r>
          </a:p>
        </p:txBody>
      </p:sp>
      <p:sp>
        <p:nvSpPr>
          <p:cNvPr id="13" name="TextBox 12"/>
          <p:cNvSpPr txBox="1"/>
          <p:nvPr/>
        </p:nvSpPr>
        <p:spPr>
          <a:xfrm>
            <a:off x="640080" y="2926080"/>
            <a:ext cx="4846320" cy="960120"/>
          </a:xfrm>
          <a:prstGeom prst="rect">
            <a:avLst/>
          </a:prstGeom>
          <a:noFill/>
        </p:spPr>
        <p:txBody>
          <a:bodyPr wrap="square" anchor="ctr" lIns="0" tIns="0" rIns="0" bIns="0">
            <a:spAutoFit/>
          </a:bodyPr>
          <a:lstStyle/>
          <a:p>
            <a:pPr algn="l"/>
            <a:r>
              <a:rPr sz="1500" b="0" i="1">
                <a:solidFill>
                  <a:srgbClr val="C9D4EF"/>
                </a:solidFill>
                <a:latin typeface="Calibri"/>
              </a:rPr>
              <a:t>Realised coexistence gives direction to just relationships, useful work and the continuity of humane participation.</a:t>
            </a:r>
          </a:p>
        </p:txBody>
      </p:sp>
      <p:sp>
        <p:nvSpPr>
          <p:cNvPr id="14" name="TextBox 13"/>
          <p:cNvSpPr txBox="1"/>
          <p:nvPr/>
        </p:nvSpPr>
        <p:spPr>
          <a:xfrm>
            <a:off x="640080" y="416052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Answers  ·  What must humans establish?  ·  How is it verified?</a:t>
            </a:r>
          </a:p>
        </p:txBody>
      </p:sp>
      <p:sp>
        <p:nvSpPr>
          <p:cNvPr id="15" name="TextBox 14"/>
          <p:cNvSpPr txBox="1"/>
          <p:nvPr/>
        </p:nvSpPr>
        <p:spPr>
          <a:xfrm>
            <a:off x="640080" y="4434840"/>
            <a:ext cx="5303520" cy="274320"/>
          </a:xfrm>
          <a:prstGeom prst="rect">
            <a:avLst/>
          </a:prstGeom>
          <a:noFill/>
        </p:spPr>
        <p:txBody>
          <a:bodyPr wrap="square" anchor="ctr" lIns="0" tIns="0" rIns="0" bIns="0">
            <a:spAutoFit/>
          </a:bodyPr>
          <a:lstStyle/>
          <a:p>
            <a:pPr algn="l"/>
            <a:r>
              <a:rPr sz="1150" b="0" i="0">
                <a:solidFill>
                  <a:srgbClr val="8E9BC4"/>
                </a:solidFill>
                <a:latin typeface="Calibri"/>
              </a:rPr>
              <a:t>AnalyticMadhyasthDarshan.org  ·  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THE LAYERED PICTURE</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One Process Across Four Orders</a:t>
            </a:r>
          </a:p>
        </p:txBody>
      </p:sp>
      <p:sp>
        <p:nvSpPr>
          <p:cNvPr id="7" name="Rectangle 6"/>
          <p:cNvSpPr/>
          <p:nvPr/>
        </p:nvSpPr>
        <p:spPr>
          <a:xfrm>
            <a:off x="640080" y="1280160"/>
            <a:ext cx="1920240" cy="77724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280160"/>
            <a:ext cx="1691640" cy="777240"/>
          </a:xfrm>
          <a:prstGeom prst="rect">
            <a:avLst/>
          </a:prstGeom>
          <a:noFill/>
        </p:spPr>
        <p:txBody>
          <a:bodyPr wrap="square" anchor="ctr" lIns="0" tIns="0" rIns="0" bIns="0">
            <a:spAutoFit/>
          </a:bodyPr>
          <a:lstStyle/>
          <a:p>
            <a:pPr algn="l"/>
            <a:r>
              <a:rPr sz="1250" b="1" i="0">
                <a:solidFill>
                  <a:srgbClr val="FFFFFF"/>
                </a:solidFill>
                <a:latin typeface="Cambria"/>
              </a:rPr>
              <a:t>Standing ground</a:t>
            </a:r>
          </a:p>
        </p:txBody>
      </p:sp>
      <p:sp>
        <p:nvSpPr>
          <p:cNvPr id="9" name="Rectangle 8"/>
          <p:cNvSpPr/>
          <p:nvPr/>
        </p:nvSpPr>
        <p:spPr>
          <a:xfrm>
            <a:off x="2560320" y="1280160"/>
            <a:ext cx="5943600" cy="7772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1280160"/>
            <a:ext cx="5577840" cy="777240"/>
          </a:xfrm>
          <a:prstGeom prst="rect">
            <a:avLst/>
          </a:prstGeom>
          <a:noFill/>
        </p:spPr>
        <p:txBody>
          <a:bodyPr wrap="square" anchor="ctr" lIns="0" tIns="0" rIns="0" bIns="0">
            <a:spAutoFit/>
          </a:bodyPr>
          <a:lstStyle/>
          <a:p>
            <a:pPr algn="l"/>
            <a:r>
              <a:rPr sz="1100" b="0" i="0">
                <a:solidFill>
                  <a:srgbClr val="5A6377"/>
                </a:solidFill>
                <a:latin typeface="Calibri"/>
              </a:rPr>
              <a:t>Every unit remains saturated, responsive and active. Development has its definite order of manifestation.</a:t>
            </a:r>
          </a:p>
        </p:txBody>
      </p:sp>
      <p:sp>
        <p:nvSpPr>
          <p:cNvPr id="11" name="Rectangle 10"/>
          <p:cNvSpPr/>
          <p:nvPr/>
        </p:nvSpPr>
        <p:spPr>
          <a:xfrm>
            <a:off x="640080" y="2148839"/>
            <a:ext cx="1920240" cy="77724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48839"/>
            <a:ext cx="1691640" cy="777240"/>
          </a:xfrm>
          <a:prstGeom prst="rect">
            <a:avLst/>
          </a:prstGeom>
          <a:noFill/>
        </p:spPr>
        <p:txBody>
          <a:bodyPr wrap="square" anchor="ctr" lIns="0" tIns="0" rIns="0" bIns="0">
            <a:spAutoFit/>
          </a:bodyPr>
          <a:lstStyle/>
          <a:p>
            <a:pPr algn="l"/>
            <a:r>
              <a:rPr sz="1250" b="1" i="0">
                <a:solidFill>
                  <a:srgbClr val="FFFFFF"/>
                </a:solidFill>
                <a:latin typeface="Cambria"/>
              </a:rPr>
              <a:t>Every occurrence</a:t>
            </a:r>
          </a:p>
        </p:txBody>
      </p:sp>
      <p:sp>
        <p:nvSpPr>
          <p:cNvPr id="13" name="Rectangle 12"/>
          <p:cNvSpPr/>
          <p:nvPr/>
        </p:nvSpPr>
        <p:spPr>
          <a:xfrm>
            <a:off x="2560320" y="2148839"/>
            <a:ext cx="5943600" cy="7772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148839"/>
            <a:ext cx="5577840" cy="777240"/>
          </a:xfrm>
          <a:prstGeom prst="rect">
            <a:avLst/>
          </a:prstGeom>
          <a:noFill/>
        </p:spPr>
        <p:txBody>
          <a:bodyPr wrap="square" anchor="ctr" lIns="0" tIns="0" rIns="0" bIns="0">
            <a:spAutoFit/>
          </a:bodyPr>
          <a:lstStyle/>
          <a:p>
            <a:pPr algn="l"/>
            <a:r>
              <a:rPr sz="1100" b="0" i="0">
                <a:solidFill>
                  <a:srgbClr val="5A6377"/>
                </a:solidFill>
                <a:latin typeface="Calibri"/>
              </a:rPr>
              <a:t>Actual mutuality conditions complete effort, motion and result. Each outcome becomes part of further participation.</a:t>
            </a:r>
          </a:p>
        </p:txBody>
      </p:sp>
      <p:sp>
        <p:nvSpPr>
          <p:cNvPr id="15" name="Rectangle 14"/>
          <p:cNvSpPr/>
          <p:nvPr/>
        </p:nvSpPr>
        <p:spPr>
          <a:xfrm>
            <a:off x="640080" y="3017520"/>
            <a:ext cx="1920240" cy="77724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17520"/>
            <a:ext cx="1691640" cy="777240"/>
          </a:xfrm>
          <a:prstGeom prst="rect">
            <a:avLst/>
          </a:prstGeom>
          <a:noFill/>
        </p:spPr>
        <p:txBody>
          <a:bodyPr wrap="square" anchor="ctr" lIns="0" tIns="0" rIns="0" bIns="0">
            <a:spAutoFit/>
          </a:bodyPr>
          <a:lstStyle/>
          <a:p>
            <a:pPr algn="l"/>
            <a:r>
              <a:rPr sz="1250" b="1" i="0">
                <a:solidFill>
                  <a:srgbClr val="FFFFFF"/>
                </a:solidFill>
                <a:latin typeface="Cambria"/>
              </a:rPr>
              <a:t>Human participation</a:t>
            </a:r>
          </a:p>
        </p:txBody>
      </p:sp>
      <p:sp>
        <p:nvSpPr>
          <p:cNvPr id="17" name="Rectangle 16"/>
          <p:cNvSpPr/>
          <p:nvPr/>
        </p:nvSpPr>
        <p:spPr>
          <a:xfrm>
            <a:off x="2560320" y="3017520"/>
            <a:ext cx="5943600" cy="7772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 y="3017520"/>
            <a:ext cx="5577840" cy="777240"/>
          </a:xfrm>
          <a:prstGeom prst="rect">
            <a:avLst/>
          </a:prstGeom>
          <a:noFill/>
        </p:spPr>
        <p:txBody>
          <a:bodyPr wrap="square" anchor="ctr" lIns="0" tIns="0" rIns="0" bIns="0">
            <a:spAutoFit/>
          </a:bodyPr>
          <a:lstStyle/>
          <a:p>
            <a:pPr algn="l"/>
            <a:r>
              <a:rPr sz="1100" b="0" i="0">
                <a:solidFill>
                  <a:srgbClr val="5A6377"/>
                </a:solidFill>
                <a:latin typeface="Calibri"/>
              </a:rPr>
              <a:t>Realised knowledge can orient the same occurrence through the faculties; consequence returns as evidence for later evaluation.</a:t>
            </a:r>
          </a:p>
        </p:txBody>
      </p:sp>
      <p:sp>
        <p:nvSpPr>
          <p:cNvPr id="19" name="Rectangle 18"/>
          <p:cNvSpPr/>
          <p:nvPr/>
        </p:nvSpPr>
        <p:spPr>
          <a:xfrm>
            <a:off x="640080" y="3977639"/>
            <a:ext cx="7863840" cy="64008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977639"/>
            <a:ext cx="7406640" cy="640080"/>
          </a:xfrm>
          <a:prstGeom prst="rect">
            <a:avLst/>
          </a:prstGeom>
          <a:noFill/>
        </p:spPr>
        <p:txBody>
          <a:bodyPr wrap="square" anchor="ctr" lIns="0" tIns="0" rIns="0" bIns="0">
            <a:spAutoFit/>
          </a:bodyPr>
          <a:lstStyle/>
          <a:p>
            <a:pPr algn="l"/>
            <a:r>
              <a:rPr sz="1080" b="0" i="0">
                <a:solidFill>
                  <a:srgbClr val="5A6377"/>
                </a:solidFill>
                <a:latin typeface="Calibri"/>
              </a:rPr>
              <a:t>Imagination and freedom make inquiry, purposeful creation and correction possible. Awakening fulfils this capacity through comprehensive understanding.</a:t>
            </a:r>
          </a:p>
        </p:txBody>
      </p:sp>
      <p:sp>
        <p:nvSpPr>
          <p:cNvPr id="21" name="TextBox 20"/>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Study §9  ·  SB pp. 231–236  ·  AnalyticMadhyasthDarshan.org  ·  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SIX TERMS, TWO TRIADS</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The Sixfold Governing Grammar</a:t>
            </a:r>
          </a:p>
        </p:txBody>
      </p:sp>
      <p:sp>
        <p:nvSpPr>
          <p:cNvPr id="7" name="Rectangle 6"/>
          <p:cNvSpPr/>
          <p:nvPr/>
        </p:nvSpPr>
        <p:spPr>
          <a:xfrm>
            <a:off x="640080" y="1280160"/>
            <a:ext cx="3794760" cy="1691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3392424" cy="292608"/>
          </a:xfrm>
          <a:prstGeom prst="rect">
            <a:avLst/>
          </a:prstGeom>
          <a:noFill/>
        </p:spPr>
        <p:txBody>
          <a:bodyPr wrap="square" anchor="ctr" lIns="0" tIns="0" rIns="0" bIns="0">
            <a:spAutoFit/>
          </a:bodyPr>
          <a:lstStyle/>
          <a:p>
            <a:pPr algn="l"/>
            <a:r>
              <a:rPr sz="1250" b="1" i="0">
                <a:solidFill>
                  <a:srgbClr val="1E2447"/>
                </a:solidFill>
                <a:latin typeface="Cambria"/>
              </a:rPr>
              <a:t>Niyam · Niyantran · Santulan</a:t>
            </a:r>
          </a:p>
        </p:txBody>
      </p:sp>
      <p:sp>
        <p:nvSpPr>
          <p:cNvPr id="9" name="TextBox 8"/>
          <p:cNvSpPr txBox="1"/>
          <p:nvPr/>
        </p:nvSpPr>
        <p:spPr>
          <a:xfrm>
            <a:off x="841247" y="1737360"/>
            <a:ext cx="3392424" cy="1115568"/>
          </a:xfrm>
          <a:prstGeom prst="rect">
            <a:avLst/>
          </a:prstGeom>
          <a:noFill/>
        </p:spPr>
        <p:txBody>
          <a:bodyPr wrap="square" anchor="t" lIns="0" tIns="0" rIns="0" bIns="0">
            <a:spAutoFit/>
          </a:bodyPr>
          <a:lstStyle/>
          <a:p>
            <a:pPr algn="l"/>
            <a:r>
              <a:rPr sz="1080" b="0" i="0">
                <a:solidFill>
                  <a:srgbClr val="5A6377"/>
                </a:solidFill>
                <a:latin typeface="Calibri"/>
              </a:rPr>
              <a:t>Lawfulness, regulation, and balance — manifest in nature; in work and arrangements, humans must understand and establish them.</a:t>
            </a:r>
          </a:p>
        </p:txBody>
      </p:sp>
      <p:sp>
        <p:nvSpPr>
          <p:cNvPr id="10" name="Rectangle 9"/>
          <p:cNvSpPr/>
          <p:nvPr/>
        </p:nvSpPr>
        <p:spPr>
          <a:xfrm>
            <a:off x="4709160" y="1280160"/>
            <a:ext cx="3794760" cy="16916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99031"/>
            <a:ext cx="3392424" cy="292608"/>
          </a:xfrm>
          <a:prstGeom prst="rect">
            <a:avLst/>
          </a:prstGeom>
          <a:noFill/>
        </p:spPr>
        <p:txBody>
          <a:bodyPr wrap="square" anchor="ctr" lIns="0" tIns="0" rIns="0" bIns="0">
            <a:spAutoFit/>
          </a:bodyPr>
          <a:lstStyle/>
          <a:p>
            <a:pPr algn="l"/>
            <a:r>
              <a:rPr sz="1250" b="1" i="0">
                <a:solidFill>
                  <a:srgbClr val="9A6414"/>
                </a:solidFill>
                <a:latin typeface="Cambria"/>
              </a:rPr>
              <a:t>Nyaya · Dharma · Satya</a:t>
            </a:r>
          </a:p>
        </p:txBody>
      </p:sp>
      <p:sp>
        <p:nvSpPr>
          <p:cNvPr id="12" name="TextBox 11"/>
          <p:cNvSpPr txBox="1"/>
          <p:nvPr/>
        </p:nvSpPr>
        <p:spPr>
          <a:xfrm>
            <a:off x="4910328" y="1737360"/>
            <a:ext cx="3392424" cy="1115568"/>
          </a:xfrm>
          <a:prstGeom prst="rect">
            <a:avLst/>
          </a:prstGeom>
          <a:noFill/>
        </p:spPr>
        <p:txBody>
          <a:bodyPr wrap="square" anchor="t" lIns="0" tIns="0" rIns="0" bIns="0">
            <a:spAutoFit/>
          </a:bodyPr>
          <a:lstStyle/>
          <a:p>
            <a:pPr algn="l"/>
            <a:r>
              <a:rPr sz="1080" b="0" i="0">
                <a:solidFill>
                  <a:srgbClr val="5A6377"/>
                </a:solidFill>
                <a:latin typeface="Calibri"/>
              </a:rPr>
              <a:t>Justice in behaviour, dharma in thought and participation, truth in realisation — the human activity that establishes the first triad.</a:t>
            </a:r>
          </a:p>
        </p:txBody>
      </p:sp>
      <p:sp>
        <p:nvSpPr>
          <p:cNvPr id="13" name="Rectangle 12"/>
          <p:cNvSpPr/>
          <p:nvPr/>
        </p:nvSpPr>
        <p:spPr>
          <a:xfrm>
            <a:off x="640080" y="3200400"/>
            <a:ext cx="2514600"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00400"/>
            <a:ext cx="2514600" cy="457200"/>
          </a:xfrm>
          <a:prstGeom prst="rect">
            <a:avLst/>
          </a:prstGeom>
          <a:noFill/>
        </p:spPr>
        <p:txBody>
          <a:bodyPr wrap="square" anchor="ctr" lIns="0" tIns="0" rIns="0" bIns="0">
            <a:spAutoFit/>
          </a:bodyPr>
          <a:lstStyle/>
          <a:p>
            <a:pPr algn="ctr"/>
            <a:r>
              <a:rPr sz="1150" b="1" i="0">
                <a:solidFill>
                  <a:srgbClr val="FFFFFF"/>
                </a:solidFill>
                <a:latin typeface="Calibri"/>
              </a:rPr>
              <a:t>Niyam ↔ Nyaya</a:t>
            </a:r>
          </a:p>
        </p:txBody>
      </p:sp>
      <p:sp>
        <p:nvSpPr>
          <p:cNvPr id="15" name="Rectangle 14"/>
          <p:cNvSpPr/>
          <p:nvPr/>
        </p:nvSpPr>
        <p:spPr>
          <a:xfrm>
            <a:off x="3291840" y="3200400"/>
            <a:ext cx="2651760"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3200400"/>
            <a:ext cx="2651760" cy="457200"/>
          </a:xfrm>
          <a:prstGeom prst="rect">
            <a:avLst/>
          </a:prstGeom>
          <a:noFill/>
        </p:spPr>
        <p:txBody>
          <a:bodyPr wrap="square" anchor="ctr" lIns="0" tIns="0" rIns="0" bIns="0">
            <a:spAutoFit/>
          </a:bodyPr>
          <a:lstStyle/>
          <a:p>
            <a:pPr algn="ctr"/>
            <a:r>
              <a:rPr sz="1150" b="1" i="0">
                <a:solidFill>
                  <a:srgbClr val="FFFFFF"/>
                </a:solidFill>
                <a:latin typeface="Calibri"/>
              </a:rPr>
              <a:t>Niyantran ↔ Dharma</a:t>
            </a:r>
          </a:p>
        </p:txBody>
      </p:sp>
      <p:sp>
        <p:nvSpPr>
          <p:cNvPr id="17" name="Rectangle 16"/>
          <p:cNvSpPr/>
          <p:nvPr/>
        </p:nvSpPr>
        <p:spPr>
          <a:xfrm>
            <a:off x="6080760" y="3200400"/>
            <a:ext cx="2423160" cy="45720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3200400"/>
            <a:ext cx="2423160" cy="457200"/>
          </a:xfrm>
          <a:prstGeom prst="rect">
            <a:avLst/>
          </a:prstGeom>
          <a:noFill/>
        </p:spPr>
        <p:txBody>
          <a:bodyPr wrap="square" anchor="ctr" lIns="0" tIns="0" rIns="0" bIns="0">
            <a:spAutoFit/>
          </a:bodyPr>
          <a:lstStyle/>
          <a:p>
            <a:pPr algn="ctr"/>
            <a:r>
              <a:rPr sz="1150" b="1" i="0">
                <a:solidFill>
                  <a:srgbClr val="FFFFFF"/>
                </a:solidFill>
                <a:latin typeface="Calibri"/>
              </a:rPr>
              <a:t>Santulan ↔ Satya</a:t>
            </a:r>
          </a:p>
        </p:txBody>
      </p:sp>
      <p:sp>
        <p:nvSpPr>
          <p:cNvPr id="19" name="Rectangle 18"/>
          <p:cNvSpPr/>
          <p:nvPr/>
        </p:nvSpPr>
        <p:spPr>
          <a:xfrm>
            <a:off x="640080" y="3931920"/>
            <a:ext cx="7863840" cy="64008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931920"/>
            <a:ext cx="7406640" cy="640080"/>
          </a:xfrm>
          <a:prstGeom prst="rect">
            <a:avLst/>
          </a:prstGeom>
          <a:noFill/>
        </p:spPr>
        <p:txBody>
          <a:bodyPr wrap="square" anchor="ctr" lIns="0" tIns="0" rIns="0" bIns="0">
            <a:spAutoFit/>
          </a:bodyPr>
          <a:lstStyle/>
          <a:p>
            <a:pPr algn="l"/>
            <a:r>
              <a:rPr sz="1080" b="0" i="0">
                <a:solidFill>
                  <a:srgbClr val="5A6377"/>
                </a:solidFill>
                <a:latin typeface="Calibri"/>
              </a:rPr>
              <a:t>These pairings guide questions about conduct, regulation and balance. Justice, dharma and truth govern deliberation together.</a:t>
            </a:r>
          </a:p>
        </p:txBody>
      </p:sp>
      <p:sp>
        <p:nvSpPr>
          <p:cNvPr id="21" name="TextBox 20"/>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 32, 137, 174  ·  SB pp. 231–236  ·  AnalyticMadhyasthDarshan.org  ·  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NESTED HARMONY</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The Four Jeevan Values</a:t>
            </a:r>
          </a:p>
        </p:txBody>
      </p:sp>
      <p:sp>
        <p:nvSpPr>
          <p:cNvPr id="7" name="Rectangle 6"/>
          <p:cNvSpPr/>
          <p:nvPr/>
        </p:nvSpPr>
        <p:spPr>
          <a:xfrm>
            <a:off x="640080" y="1280160"/>
            <a:ext cx="37947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1463039"/>
            <a:ext cx="310896" cy="31089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6968" y="1527048"/>
            <a:ext cx="182880" cy="18288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41832" y="1581912"/>
            <a:ext cx="82296" cy="8229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1872" y="1389888"/>
            <a:ext cx="3017520" cy="274320"/>
          </a:xfrm>
          <a:prstGeom prst="rect">
            <a:avLst/>
          </a:prstGeom>
          <a:noFill/>
        </p:spPr>
        <p:txBody>
          <a:bodyPr wrap="square" anchor="ctr" lIns="0" tIns="0" rIns="0" bIns="0">
            <a:spAutoFit/>
          </a:bodyPr>
          <a:lstStyle/>
          <a:p>
            <a:pPr algn="l"/>
            <a:r>
              <a:rPr sz="1300" b="1" i="0">
                <a:solidFill>
                  <a:srgbClr val="1E2447"/>
                </a:solidFill>
                <a:latin typeface="Cambria"/>
              </a:rPr>
              <a:t>Happiness (sukh)</a:t>
            </a:r>
          </a:p>
        </p:txBody>
      </p:sp>
      <p:sp>
        <p:nvSpPr>
          <p:cNvPr id="12" name="TextBox 11"/>
          <p:cNvSpPr txBox="1"/>
          <p:nvPr/>
        </p:nvSpPr>
        <p:spPr>
          <a:xfrm>
            <a:off x="1261872" y="1682495"/>
            <a:ext cx="3063240" cy="731520"/>
          </a:xfrm>
          <a:prstGeom prst="rect">
            <a:avLst/>
          </a:prstGeom>
          <a:noFill/>
        </p:spPr>
        <p:txBody>
          <a:bodyPr wrap="square" anchor="t" lIns="0" tIns="0" rIns="0" bIns="0">
            <a:spAutoFit/>
          </a:bodyPr>
          <a:lstStyle/>
          <a:p>
            <a:pPr algn="l"/>
            <a:r>
              <a:rPr sz="1030" b="0" i="0">
                <a:solidFill>
                  <a:srgbClr val="5A6377"/>
                </a:solidFill>
                <a:latin typeface="Calibri"/>
              </a:rPr>
              <a:t>Mun with vritti: resolution and behaviour free of wrongdoing.</a:t>
            </a:r>
          </a:p>
        </p:txBody>
      </p:sp>
      <p:sp>
        <p:nvSpPr>
          <p:cNvPr id="13" name="Rectangle 12"/>
          <p:cNvSpPr/>
          <p:nvPr/>
        </p:nvSpPr>
        <p:spPr>
          <a:xfrm>
            <a:off x="4709160" y="1280160"/>
            <a:ext cx="37947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92040" y="1463039"/>
            <a:ext cx="310896" cy="31089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956048" y="1527048"/>
            <a:ext cx="182880" cy="18288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10912" y="1581912"/>
            <a:ext cx="82296" cy="8229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2" y="1389888"/>
            <a:ext cx="3017520" cy="274320"/>
          </a:xfrm>
          <a:prstGeom prst="rect">
            <a:avLst/>
          </a:prstGeom>
          <a:noFill/>
        </p:spPr>
        <p:txBody>
          <a:bodyPr wrap="square" anchor="ctr" lIns="0" tIns="0" rIns="0" bIns="0">
            <a:spAutoFit/>
          </a:bodyPr>
          <a:lstStyle/>
          <a:p>
            <a:pPr algn="l"/>
            <a:r>
              <a:rPr sz="1300" b="1" i="0">
                <a:solidFill>
                  <a:srgbClr val="1E2447"/>
                </a:solidFill>
                <a:latin typeface="Cambria"/>
              </a:rPr>
              <a:t>Peace (shanti)</a:t>
            </a:r>
          </a:p>
        </p:txBody>
      </p:sp>
      <p:sp>
        <p:nvSpPr>
          <p:cNvPr id="18" name="TextBox 17"/>
          <p:cNvSpPr txBox="1"/>
          <p:nvPr/>
        </p:nvSpPr>
        <p:spPr>
          <a:xfrm>
            <a:off x="5330952" y="1682495"/>
            <a:ext cx="3063240" cy="731520"/>
          </a:xfrm>
          <a:prstGeom prst="rect">
            <a:avLst/>
          </a:prstGeom>
          <a:noFill/>
        </p:spPr>
        <p:txBody>
          <a:bodyPr wrap="square" anchor="t" lIns="0" tIns="0" rIns="0" bIns="0">
            <a:spAutoFit/>
          </a:bodyPr>
          <a:lstStyle/>
          <a:p>
            <a:pPr algn="l"/>
            <a:r>
              <a:rPr sz="1030" b="0" i="0">
                <a:solidFill>
                  <a:srgbClr val="5A6377"/>
                </a:solidFill>
                <a:latin typeface="Calibri"/>
              </a:rPr>
              <a:t>Vritti with chitta: thought free of injustice.</a:t>
            </a:r>
          </a:p>
        </p:txBody>
      </p:sp>
      <p:sp>
        <p:nvSpPr>
          <p:cNvPr id="19" name="Rectangle 18"/>
          <p:cNvSpPr/>
          <p:nvPr/>
        </p:nvSpPr>
        <p:spPr>
          <a:xfrm>
            <a:off x="640080" y="2606040"/>
            <a:ext cx="37947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2788920"/>
            <a:ext cx="310896" cy="31089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86968" y="2852928"/>
            <a:ext cx="182880" cy="18288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1832" y="2907792"/>
            <a:ext cx="82296" cy="8229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1872" y="2715768"/>
            <a:ext cx="3017520" cy="274320"/>
          </a:xfrm>
          <a:prstGeom prst="rect">
            <a:avLst/>
          </a:prstGeom>
          <a:noFill/>
        </p:spPr>
        <p:txBody>
          <a:bodyPr wrap="square" anchor="ctr" lIns="0" tIns="0" rIns="0" bIns="0">
            <a:spAutoFit/>
          </a:bodyPr>
          <a:lstStyle/>
          <a:p>
            <a:pPr algn="l"/>
            <a:r>
              <a:rPr sz="1300" b="1" i="0">
                <a:solidFill>
                  <a:srgbClr val="1E2447"/>
                </a:solidFill>
                <a:latin typeface="Cambria"/>
              </a:rPr>
              <a:t>Contentment (santosh)</a:t>
            </a:r>
          </a:p>
        </p:txBody>
      </p:sp>
      <p:sp>
        <p:nvSpPr>
          <p:cNvPr id="24" name="TextBox 23"/>
          <p:cNvSpPr txBox="1"/>
          <p:nvPr/>
        </p:nvSpPr>
        <p:spPr>
          <a:xfrm>
            <a:off x="1261872" y="3008376"/>
            <a:ext cx="3063240" cy="731520"/>
          </a:xfrm>
          <a:prstGeom prst="rect">
            <a:avLst/>
          </a:prstGeom>
          <a:noFill/>
        </p:spPr>
        <p:txBody>
          <a:bodyPr wrap="square" anchor="t" lIns="0" tIns="0" rIns="0" bIns="0">
            <a:spAutoFit/>
          </a:bodyPr>
          <a:lstStyle/>
          <a:p>
            <a:pPr algn="l"/>
            <a:r>
              <a:rPr sz="1030" b="0" i="0">
                <a:solidFill>
                  <a:srgbClr val="5A6377"/>
                </a:solidFill>
                <a:latin typeface="Calibri"/>
              </a:rPr>
              <a:t>Chitta with buddhi: desire free of attachment.</a:t>
            </a:r>
          </a:p>
        </p:txBody>
      </p:sp>
      <p:sp>
        <p:nvSpPr>
          <p:cNvPr id="25" name="Rectangle 24"/>
          <p:cNvSpPr/>
          <p:nvPr/>
        </p:nvSpPr>
        <p:spPr>
          <a:xfrm>
            <a:off x="4709160" y="2606040"/>
            <a:ext cx="3794760" cy="11887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892040" y="2788920"/>
            <a:ext cx="310896" cy="31089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956048" y="2852928"/>
            <a:ext cx="182880" cy="18288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010912" y="2907792"/>
            <a:ext cx="82296" cy="8229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30952" y="2715768"/>
            <a:ext cx="3017520" cy="274320"/>
          </a:xfrm>
          <a:prstGeom prst="rect">
            <a:avLst/>
          </a:prstGeom>
          <a:noFill/>
        </p:spPr>
        <p:txBody>
          <a:bodyPr wrap="square" anchor="ctr" lIns="0" tIns="0" rIns="0" bIns="0">
            <a:spAutoFit/>
          </a:bodyPr>
          <a:lstStyle/>
          <a:p>
            <a:pPr algn="l"/>
            <a:r>
              <a:rPr sz="1300" b="1" i="0">
                <a:solidFill>
                  <a:srgbClr val="1E2447"/>
                </a:solidFill>
                <a:latin typeface="Cambria"/>
              </a:rPr>
              <a:t>Bliss (anand)</a:t>
            </a:r>
          </a:p>
        </p:txBody>
      </p:sp>
      <p:sp>
        <p:nvSpPr>
          <p:cNvPr id="30" name="TextBox 29"/>
          <p:cNvSpPr txBox="1"/>
          <p:nvPr/>
        </p:nvSpPr>
        <p:spPr>
          <a:xfrm>
            <a:off x="5330952" y="3008376"/>
            <a:ext cx="3063240" cy="731520"/>
          </a:xfrm>
          <a:prstGeom prst="rect">
            <a:avLst/>
          </a:prstGeom>
          <a:noFill/>
        </p:spPr>
        <p:txBody>
          <a:bodyPr wrap="square" anchor="t" lIns="0" tIns="0" rIns="0" bIns="0">
            <a:spAutoFit/>
          </a:bodyPr>
          <a:lstStyle/>
          <a:p>
            <a:pPr algn="l"/>
            <a:r>
              <a:rPr sz="1030" b="0" i="0">
                <a:solidFill>
                  <a:srgbClr val="5A6377"/>
                </a:solidFill>
                <a:latin typeface="Calibri"/>
              </a:rPr>
              <a:t>Buddhi with atma: understanding free of ignorance.</a:t>
            </a:r>
          </a:p>
        </p:txBody>
      </p:sp>
      <p:sp>
        <p:nvSpPr>
          <p:cNvPr id="31" name="Rectangle 30"/>
          <p:cNvSpPr/>
          <p:nvPr/>
        </p:nvSpPr>
        <p:spPr>
          <a:xfrm>
            <a:off x="640080" y="3977639"/>
            <a:ext cx="7863840" cy="64008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3977639"/>
            <a:ext cx="7406640" cy="640080"/>
          </a:xfrm>
          <a:prstGeom prst="rect">
            <a:avLst/>
          </a:prstGeom>
          <a:noFill/>
        </p:spPr>
        <p:txBody>
          <a:bodyPr wrap="square" anchor="ctr" lIns="0" tIns="0" rIns="0" bIns="0">
            <a:spAutoFit/>
          </a:bodyPr>
          <a:lstStyle/>
          <a:p>
            <a:pPr algn="l"/>
            <a:r>
              <a:rPr sz="1080" b="0" i="0">
                <a:solidFill>
                  <a:srgbClr val="5A6377"/>
                </a:solidFill>
                <a:latin typeface="Calibri"/>
              </a:rPr>
              <a:t>Paramanand is the highest human fulfilment: realisation of coexistence in continuity.</a:t>
            </a:r>
          </a:p>
        </p:txBody>
      </p:sp>
      <p:sp>
        <p:nvSpPr>
          <p:cNvPr id="33" name="TextBox 32"/>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pp.101,327  ·  MAD reader pp.47,51  ·  KD printed p.112  ·  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THE DESTINATION</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Restful Effort, Humane Conduct</a:t>
            </a:r>
          </a:p>
        </p:txBody>
      </p:sp>
      <p:sp>
        <p:nvSpPr>
          <p:cNvPr id="7" name="Rectangle 6"/>
          <p:cNvSpPr/>
          <p:nvPr/>
        </p:nvSpPr>
        <p:spPr>
          <a:xfrm>
            <a:off x="640080" y="1280160"/>
            <a:ext cx="3794760" cy="21488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3392424" cy="292608"/>
          </a:xfrm>
          <a:prstGeom prst="rect">
            <a:avLst/>
          </a:prstGeom>
          <a:noFill/>
        </p:spPr>
        <p:txBody>
          <a:bodyPr wrap="square" anchor="ctr" lIns="0" tIns="0" rIns="0" bIns="0">
            <a:spAutoFit/>
          </a:bodyPr>
          <a:lstStyle/>
          <a:p>
            <a:pPr algn="l"/>
            <a:r>
              <a:rPr sz="1250" b="1" i="0">
                <a:solidFill>
                  <a:srgbClr val="1E2447"/>
                </a:solidFill>
                <a:latin typeface="Cambria"/>
              </a:rPr>
              <a:t>Activity completeness (kriyapurnata)</a:t>
            </a:r>
          </a:p>
        </p:txBody>
      </p:sp>
      <p:sp>
        <p:nvSpPr>
          <p:cNvPr id="9" name="TextBox 8"/>
          <p:cNvSpPr txBox="1"/>
          <p:nvPr/>
        </p:nvSpPr>
        <p:spPr>
          <a:xfrm>
            <a:off x="841247" y="1737360"/>
            <a:ext cx="3392424" cy="1572768"/>
          </a:xfrm>
          <a:prstGeom prst="rect">
            <a:avLst/>
          </a:prstGeom>
          <a:noFill/>
        </p:spPr>
        <p:txBody>
          <a:bodyPr wrap="square" anchor="t" lIns="0" tIns="0" rIns="0" bIns="0">
            <a:spAutoFit/>
          </a:bodyPr>
          <a:lstStyle/>
          <a:p>
            <a:pPr algn="l"/>
            <a:r>
              <a:rPr sz="1080" b="0" i="0">
                <a:solidFill>
                  <a:srgbClr val="5A6377"/>
                </a:solidFill>
                <a:latin typeface="Calibri"/>
              </a:rPr>
              <a:t>Restfulness in realised activity: coexistence realised in atma, complete knowledge enlightened in buddhi, and all ten activities effective in practised harmony.</a:t>
            </a:r>
          </a:p>
        </p:txBody>
      </p:sp>
      <p:sp>
        <p:nvSpPr>
          <p:cNvPr id="10" name="Rectangle 9"/>
          <p:cNvSpPr/>
          <p:nvPr/>
        </p:nvSpPr>
        <p:spPr>
          <a:xfrm>
            <a:off x="4709160" y="1280160"/>
            <a:ext cx="3794760" cy="21488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99031"/>
            <a:ext cx="3392424" cy="292608"/>
          </a:xfrm>
          <a:prstGeom prst="rect">
            <a:avLst/>
          </a:prstGeom>
          <a:noFill/>
        </p:spPr>
        <p:txBody>
          <a:bodyPr wrap="square" anchor="ctr" lIns="0" tIns="0" rIns="0" bIns="0">
            <a:spAutoFit/>
          </a:bodyPr>
          <a:lstStyle/>
          <a:p>
            <a:pPr algn="l"/>
            <a:r>
              <a:rPr sz="1250" b="1" i="0">
                <a:solidFill>
                  <a:srgbClr val="9A6414"/>
                </a:solidFill>
                <a:latin typeface="Cambria"/>
              </a:rPr>
              <a:t>Conduct completeness (acharanpurnata)</a:t>
            </a:r>
          </a:p>
        </p:txBody>
      </p:sp>
      <p:sp>
        <p:nvSpPr>
          <p:cNvPr id="12" name="TextBox 11"/>
          <p:cNvSpPr txBox="1"/>
          <p:nvPr/>
        </p:nvSpPr>
        <p:spPr>
          <a:xfrm>
            <a:off x="4910328" y="1737360"/>
            <a:ext cx="3392424" cy="1572768"/>
          </a:xfrm>
          <a:prstGeom prst="rect">
            <a:avLst/>
          </a:prstGeom>
          <a:noFill/>
        </p:spPr>
        <p:txBody>
          <a:bodyPr wrap="square" anchor="t" lIns="0" tIns="0" rIns="0" bIns="0">
            <a:spAutoFit/>
          </a:bodyPr>
          <a:lstStyle/>
          <a:p>
            <a:pPr algn="l"/>
            <a:r>
              <a:rPr sz="1080" b="0" i="0">
                <a:solidFill>
                  <a:srgbClr val="5A6377"/>
                </a:solidFill>
                <a:latin typeface="Calibri"/>
              </a:rPr>
              <a:t>Continuing humane conduct through values, character and ethics across changing relationships and work.</a:t>
            </a:r>
          </a:p>
        </p:txBody>
      </p:sp>
      <p:sp>
        <p:nvSpPr>
          <p:cNvPr id="13" name="Rectangle 12"/>
          <p:cNvSpPr/>
          <p:nvPr/>
        </p:nvSpPr>
        <p:spPr>
          <a:xfrm>
            <a:off x="640080" y="3657600"/>
            <a:ext cx="7863840" cy="59436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57600"/>
            <a:ext cx="7406640" cy="594360"/>
          </a:xfrm>
          <a:prstGeom prst="rect">
            <a:avLst/>
          </a:prstGeom>
          <a:noFill/>
        </p:spPr>
        <p:txBody>
          <a:bodyPr wrap="square" anchor="ctr" lIns="0" tIns="0" rIns="0" bIns="0">
            <a:spAutoFit/>
          </a:bodyPr>
          <a:lstStyle/>
          <a:p>
            <a:pPr algn="l"/>
            <a:r>
              <a:rPr sz="1080" b="0" i="0">
                <a:solidFill>
                  <a:srgbClr val="5A6377"/>
                </a:solidFill>
                <a:latin typeface="Calibri"/>
              </a:rPr>
              <a:t>Particular fulfilment, realised activity and continuing humane conduct each call for evidence appropriate to their scope.</a:t>
            </a:r>
          </a:p>
        </p:txBody>
      </p:sp>
      <p:sp>
        <p:nvSpPr>
          <p:cNvPr id="15" name="TextBox 14"/>
          <p:cNvSpPr txBox="1"/>
          <p:nvPr/>
        </p:nvSpPr>
        <p:spPr>
          <a:xfrm>
            <a:off x="640080" y="4389120"/>
            <a:ext cx="7955279" cy="274320"/>
          </a:xfrm>
          <a:prstGeom prst="rect">
            <a:avLst/>
          </a:prstGeom>
          <a:noFill/>
        </p:spPr>
        <p:txBody>
          <a:bodyPr wrap="square" anchor="ctr" lIns="0" tIns="0" rIns="0" bIns="0">
            <a:spAutoFit/>
          </a:bodyPr>
          <a:lstStyle/>
          <a:p>
            <a:pPr algn="l"/>
            <a:r>
              <a:rPr sz="1050" b="0" i="1">
                <a:solidFill>
                  <a:srgbClr val="5A6377"/>
                </a:solidFill>
                <a:latin typeface="Calibri"/>
              </a:rPr>
              <a:t>Resolved jeevan continues purposeful activity and helps understanding become available to others.</a:t>
            </a:r>
          </a:p>
        </p:txBody>
      </p:sp>
      <p:sp>
        <p:nvSpPr>
          <p:cNvPr id="16" name="TextBox 15"/>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 102–104  ·  SB p. 58  ·  KD p. 65  ·  AnalyticMadhyasthDarshan.org  ·  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EVIDENCE</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Six Questions for Any Arrangement</a:t>
            </a:r>
          </a:p>
        </p:txBody>
      </p:sp>
      <p:sp>
        <p:nvSpPr>
          <p:cNvPr id="7" name="TextBox 6"/>
          <p:cNvSpPr txBox="1"/>
          <p:nvPr/>
        </p:nvSpPr>
        <p:spPr>
          <a:xfrm>
            <a:off x="640080" y="1170432"/>
            <a:ext cx="7955279" cy="438912"/>
          </a:xfrm>
          <a:prstGeom prst="rect">
            <a:avLst/>
          </a:prstGeom>
          <a:noFill/>
        </p:spPr>
        <p:txBody>
          <a:bodyPr wrap="square" anchor="ctr" lIns="0" tIns="0" rIns="0" bIns="0">
            <a:spAutoFit/>
          </a:bodyPr>
          <a:lstStyle/>
          <a:p>
            <a:pPr algn="l"/>
            <a:r>
              <a:rPr sz="1200" b="0" i="0">
                <a:solidFill>
                  <a:srgbClr val="5A6377"/>
                </a:solidFill>
                <a:latin typeface="Calibri"/>
              </a:rPr>
              <a:t>For a relationship, family, work process, or organisation — asked by its participants; no single score replaces the six answers.</a:t>
            </a:r>
          </a:p>
        </p:txBody>
      </p:sp>
      <p:sp>
        <p:nvSpPr>
          <p:cNvPr id="8" name="Rectangle 7"/>
          <p:cNvSpPr/>
          <p:nvPr/>
        </p:nvSpPr>
        <p:spPr>
          <a:xfrm>
            <a:off x="640080" y="1719072"/>
            <a:ext cx="1572768" cy="402336"/>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19072"/>
            <a:ext cx="1371600" cy="402336"/>
          </a:xfrm>
          <a:prstGeom prst="rect">
            <a:avLst/>
          </a:prstGeom>
          <a:noFill/>
        </p:spPr>
        <p:txBody>
          <a:bodyPr wrap="square" anchor="ctr" lIns="0" tIns="0" rIns="0" bIns="0">
            <a:spAutoFit/>
          </a:bodyPr>
          <a:lstStyle/>
          <a:p>
            <a:pPr algn="l"/>
            <a:r>
              <a:rPr sz="1200" b="1" i="0">
                <a:solidFill>
                  <a:srgbClr val="FFFFFF"/>
                </a:solidFill>
                <a:latin typeface="Cambria"/>
              </a:rPr>
              <a:t>Niyam</a:t>
            </a:r>
          </a:p>
        </p:txBody>
      </p:sp>
      <p:sp>
        <p:nvSpPr>
          <p:cNvPr id="10" name="TextBox 9"/>
          <p:cNvSpPr txBox="1"/>
          <p:nvPr/>
        </p:nvSpPr>
        <p:spPr>
          <a:xfrm>
            <a:off x="2395728" y="1719072"/>
            <a:ext cx="6126480" cy="402336"/>
          </a:xfrm>
          <a:prstGeom prst="rect">
            <a:avLst/>
          </a:prstGeom>
          <a:noFill/>
        </p:spPr>
        <p:txBody>
          <a:bodyPr wrap="square" anchor="ctr" lIns="0" tIns="0" rIns="0" bIns="0">
            <a:spAutoFit/>
          </a:bodyPr>
          <a:lstStyle/>
          <a:p>
            <a:pPr algn="l"/>
            <a:r>
              <a:rPr sz="1150" b="0" i="0">
                <a:solidFill>
                  <a:srgbClr val="5A6377"/>
                </a:solidFill>
                <a:latin typeface="Calibri"/>
              </a:rPr>
              <a:t>is the activity, its rightful purpose, and its limits correctly identified?</a:t>
            </a:r>
          </a:p>
        </p:txBody>
      </p:sp>
      <p:sp>
        <p:nvSpPr>
          <p:cNvPr id="11" name="Rectangle 10"/>
          <p:cNvSpPr/>
          <p:nvPr/>
        </p:nvSpPr>
        <p:spPr>
          <a:xfrm>
            <a:off x="640080" y="2194560"/>
            <a:ext cx="1572768" cy="402336"/>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194560"/>
            <a:ext cx="1371600" cy="402336"/>
          </a:xfrm>
          <a:prstGeom prst="rect">
            <a:avLst/>
          </a:prstGeom>
          <a:noFill/>
        </p:spPr>
        <p:txBody>
          <a:bodyPr wrap="square" anchor="ctr" lIns="0" tIns="0" rIns="0" bIns="0">
            <a:spAutoFit/>
          </a:bodyPr>
          <a:lstStyle/>
          <a:p>
            <a:pPr algn="l"/>
            <a:r>
              <a:rPr sz="1200" b="1" i="0">
                <a:solidFill>
                  <a:srgbClr val="FFFFFF"/>
                </a:solidFill>
                <a:latin typeface="Cambria"/>
              </a:rPr>
              <a:t>Niyantran</a:t>
            </a:r>
          </a:p>
        </p:txBody>
      </p:sp>
      <p:sp>
        <p:nvSpPr>
          <p:cNvPr id="13" name="TextBox 12"/>
          <p:cNvSpPr txBox="1"/>
          <p:nvPr/>
        </p:nvSpPr>
        <p:spPr>
          <a:xfrm>
            <a:off x="2395728" y="2194560"/>
            <a:ext cx="6126480" cy="402336"/>
          </a:xfrm>
          <a:prstGeom prst="rect">
            <a:avLst/>
          </a:prstGeom>
          <a:noFill/>
        </p:spPr>
        <p:txBody>
          <a:bodyPr wrap="square" anchor="ctr" lIns="0" tIns="0" rIns="0" bIns="0">
            <a:spAutoFit/>
          </a:bodyPr>
          <a:lstStyle/>
          <a:p>
            <a:pPr algn="l"/>
            <a:r>
              <a:rPr sz="1150" b="0" i="0">
                <a:solidFill>
                  <a:srgbClr val="5A6377"/>
                </a:solidFill>
                <a:latin typeface="Calibri"/>
              </a:rPr>
              <a:t>does operation stay aligned with that law, with feedback and correction?</a:t>
            </a:r>
          </a:p>
        </p:txBody>
      </p:sp>
      <p:sp>
        <p:nvSpPr>
          <p:cNvPr id="14" name="Rectangle 13"/>
          <p:cNvSpPr/>
          <p:nvPr/>
        </p:nvSpPr>
        <p:spPr>
          <a:xfrm>
            <a:off x="640080" y="2670048"/>
            <a:ext cx="1572768" cy="402336"/>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670048"/>
            <a:ext cx="1371600" cy="402336"/>
          </a:xfrm>
          <a:prstGeom prst="rect">
            <a:avLst/>
          </a:prstGeom>
          <a:noFill/>
        </p:spPr>
        <p:txBody>
          <a:bodyPr wrap="square" anchor="ctr" lIns="0" tIns="0" rIns="0" bIns="0">
            <a:spAutoFit/>
          </a:bodyPr>
          <a:lstStyle/>
          <a:p>
            <a:pPr algn="l"/>
            <a:r>
              <a:rPr sz="1200" b="1" i="0">
                <a:solidFill>
                  <a:srgbClr val="FFFFFF"/>
                </a:solidFill>
                <a:latin typeface="Cambria"/>
              </a:rPr>
              <a:t>Santulan</a:t>
            </a:r>
          </a:p>
        </p:txBody>
      </p:sp>
      <p:sp>
        <p:nvSpPr>
          <p:cNvPr id="16" name="TextBox 15"/>
          <p:cNvSpPr txBox="1"/>
          <p:nvPr/>
        </p:nvSpPr>
        <p:spPr>
          <a:xfrm>
            <a:off x="2395728" y="2670048"/>
            <a:ext cx="6126480" cy="402336"/>
          </a:xfrm>
          <a:prstGeom prst="rect">
            <a:avLst/>
          </a:prstGeom>
          <a:noFill/>
        </p:spPr>
        <p:txBody>
          <a:bodyPr wrap="square" anchor="ctr" lIns="0" tIns="0" rIns="0" bIns="0">
            <a:spAutoFit/>
          </a:bodyPr>
          <a:lstStyle/>
          <a:p>
            <a:pPr algn="l"/>
            <a:r>
              <a:rPr sz="1150" b="0" i="0">
                <a:solidFill>
                  <a:srgbClr val="5A6377"/>
                </a:solidFill>
                <a:latin typeface="Calibri"/>
              </a:rPr>
              <a:t>do persons, functions, and nature remain mutually sustaining?</a:t>
            </a:r>
          </a:p>
        </p:txBody>
      </p:sp>
      <p:sp>
        <p:nvSpPr>
          <p:cNvPr id="17" name="Rectangle 16"/>
          <p:cNvSpPr/>
          <p:nvPr/>
        </p:nvSpPr>
        <p:spPr>
          <a:xfrm>
            <a:off x="640080" y="3145536"/>
            <a:ext cx="1572768" cy="402336"/>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145536"/>
            <a:ext cx="1371600" cy="402336"/>
          </a:xfrm>
          <a:prstGeom prst="rect">
            <a:avLst/>
          </a:prstGeom>
          <a:noFill/>
        </p:spPr>
        <p:txBody>
          <a:bodyPr wrap="square" anchor="ctr" lIns="0" tIns="0" rIns="0" bIns="0">
            <a:spAutoFit/>
          </a:bodyPr>
          <a:lstStyle/>
          <a:p>
            <a:pPr algn="l"/>
            <a:r>
              <a:rPr sz="1200" b="1" i="0">
                <a:solidFill>
                  <a:srgbClr val="FFFFFF"/>
                </a:solidFill>
                <a:latin typeface="Cambria"/>
              </a:rPr>
              <a:t>Nyaya</a:t>
            </a:r>
          </a:p>
        </p:txBody>
      </p:sp>
      <p:sp>
        <p:nvSpPr>
          <p:cNvPr id="19" name="TextBox 18"/>
          <p:cNvSpPr txBox="1"/>
          <p:nvPr/>
        </p:nvSpPr>
        <p:spPr>
          <a:xfrm>
            <a:off x="2395728" y="3145536"/>
            <a:ext cx="6126480" cy="402336"/>
          </a:xfrm>
          <a:prstGeom prst="rect">
            <a:avLst/>
          </a:prstGeom>
          <a:noFill/>
        </p:spPr>
        <p:txBody>
          <a:bodyPr wrap="square" anchor="ctr" lIns="0" tIns="0" rIns="0" bIns="0">
            <a:spAutoFit/>
          </a:bodyPr>
          <a:lstStyle/>
          <a:p>
            <a:pPr algn="l"/>
            <a:r>
              <a:rPr sz="1150" b="0" i="0">
                <a:solidFill>
                  <a:srgbClr val="5A6377"/>
                </a:solidFill>
                <a:latin typeface="Calibri"/>
              </a:rPr>
              <a:t>are relationships recognised, values fulfilled, correctly evaluated and mutually satisfying?</a:t>
            </a:r>
          </a:p>
        </p:txBody>
      </p:sp>
      <p:sp>
        <p:nvSpPr>
          <p:cNvPr id="20" name="Rectangle 19"/>
          <p:cNvSpPr/>
          <p:nvPr/>
        </p:nvSpPr>
        <p:spPr>
          <a:xfrm>
            <a:off x="640080" y="3621024"/>
            <a:ext cx="1572768" cy="402336"/>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3621024"/>
            <a:ext cx="1371600" cy="402336"/>
          </a:xfrm>
          <a:prstGeom prst="rect">
            <a:avLst/>
          </a:prstGeom>
          <a:noFill/>
        </p:spPr>
        <p:txBody>
          <a:bodyPr wrap="square" anchor="ctr" lIns="0" tIns="0" rIns="0" bIns="0">
            <a:spAutoFit/>
          </a:bodyPr>
          <a:lstStyle/>
          <a:p>
            <a:pPr algn="l"/>
            <a:r>
              <a:rPr sz="1200" b="1" i="0">
                <a:solidFill>
                  <a:srgbClr val="FFFFFF"/>
                </a:solidFill>
                <a:latin typeface="Cambria"/>
              </a:rPr>
              <a:t>Dharma</a:t>
            </a:r>
          </a:p>
        </p:txBody>
      </p:sp>
      <p:sp>
        <p:nvSpPr>
          <p:cNvPr id="22" name="TextBox 21"/>
          <p:cNvSpPr txBox="1"/>
          <p:nvPr/>
        </p:nvSpPr>
        <p:spPr>
          <a:xfrm>
            <a:off x="2395728" y="3621024"/>
            <a:ext cx="6126480" cy="402336"/>
          </a:xfrm>
          <a:prstGeom prst="rect">
            <a:avLst/>
          </a:prstGeom>
          <a:noFill/>
        </p:spPr>
        <p:txBody>
          <a:bodyPr wrap="square" anchor="ctr" lIns="0" tIns="0" rIns="0" bIns="0">
            <a:spAutoFit/>
          </a:bodyPr>
          <a:lstStyle/>
          <a:p>
            <a:pPr algn="l"/>
            <a:r>
              <a:rPr sz="1150" b="0" i="0">
                <a:solidFill>
                  <a:srgbClr val="5A6377"/>
                </a:solidFill>
                <a:latin typeface="Calibri"/>
              </a:rPr>
              <a:t>do purpose and participation sustain resolution and wider orderliness?</a:t>
            </a:r>
          </a:p>
        </p:txBody>
      </p:sp>
      <p:sp>
        <p:nvSpPr>
          <p:cNvPr id="23" name="Rectangle 22"/>
          <p:cNvSpPr/>
          <p:nvPr/>
        </p:nvSpPr>
        <p:spPr>
          <a:xfrm>
            <a:off x="640080" y="4096512"/>
            <a:ext cx="1572768" cy="402336"/>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096512"/>
            <a:ext cx="1371600" cy="402336"/>
          </a:xfrm>
          <a:prstGeom prst="rect">
            <a:avLst/>
          </a:prstGeom>
          <a:noFill/>
        </p:spPr>
        <p:txBody>
          <a:bodyPr wrap="square" anchor="ctr" lIns="0" tIns="0" rIns="0" bIns="0">
            <a:spAutoFit/>
          </a:bodyPr>
          <a:lstStyle/>
          <a:p>
            <a:pPr algn="l"/>
            <a:r>
              <a:rPr sz="1200" b="1" i="0">
                <a:solidFill>
                  <a:srgbClr val="FFFFFF"/>
                </a:solidFill>
                <a:latin typeface="Cambria"/>
              </a:rPr>
              <a:t>Satya</a:t>
            </a:r>
          </a:p>
        </p:txBody>
      </p:sp>
      <p:sp>
        <p:nvSpPr>
          <p:cNvPr id="25" name="TextBox 24"/>
          <p:cNvSpPr txBox="1"/>
          <p:nvPr/>
        </p:nvSpPr>
        <p:spPr>
          <a:xfrm>
            <a:off x="2395728" y="4096512"/>
            <a:ext cx="6126480" cy="402336"/>
          </a:xfrm>
          <a:prstGeom prst="rect">
            <a:avLst/>
          </a:prstGeom>
          <a:noFill/>
        </p:spPr>
        <p:txBody>
          <a:bodyPr wrap="square" anchor="ctr" lIns="0" tIns="0" rIns="0" bIns="0">
            <a:spAutoFit/>
          </a:bodyPr>
          <a:lstStyle/>
          <a:p>
            <a:pPr algn="l"/>
            <a:r>
              <a:rPr sz="1150" b="0" i="0">
                <a:solidFill>
                  <a:srgbClr val="5A6377"/>
                </a:solidFill>
                <a:latin typeface="Calibri"/>
              </a:rPr>
              <a:t>does the complete account accord with coexistence and disclosed consequence?</a:t>
            </a:r>
          </a:p>
        </p:txBody>
      </p:sp>
      <p:sp>
        <p:nvSpPr>
          <p:cNvPr id="26" name="TextBox 25"/>
          <p:cNvSpPr txBox="1"/>
          <p:nvPr/>
        </p:nvSpPr>
        <p:spPr>
          <a:xfrm>
            <a:off x="640080" y="4572000"/>
            <a:ext cx="7955279" cy="237744"/>
          </a:xfrm>
          <a:prstGeom prst="rect">
            <a:avLst/>
          </a:prstGeom>
          <a:noFill/>
        </p:spPr>
        <p:txBody>
          <a:bodyPr wrap="square" anchor="ctr" lIns="0" tIns="0" rIns="0" bIns="0">
            <a:spAutoFit/>
          </a:bodyPr>
          <a:lstStyle/>
          <a:p>
            <a:pPr algn="l"/>
            <a:r>
              <a:rPr sz="1050" b="0" i="1">
                <a:solidFill>
                  <a:srgbClr val="5A6377"/>
                </a:solidFill>
                <a:latin typeface="Calibri"/>
              </a:rPr>
              <a:t>Participants understand and evaluate. Shared records preserve responsibilities, contributions, decisions and correction.</a:t>
            </a:r>
          </a:p>
        </p:txBody>
      </p:sp>
      <p:sp>
        <p:nvSpPr>
          <p:cNvPr id="27" name="TextBox 26"/>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Study §11.2  ·  MVD pp. 287–288  ·  JV pp. 97–98, 137–139  ·  AnalyticMadhyasthDarshan.org  ·  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THE HUMAN GOALS</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Human Goals and Social Functions</a:t>
            </a:r>
          </a:p>
        </p:txBody>
      </p:sp>
      <p:sp>
        <p:nvSpPr>
          <p:cNvPr id="7" name="Rectangle 6"/>
          <p:cNvSpPr/>
          <p:nvPr/>
        </p:nvSpPr>
        <p:spPr>
          <a:xfrm>
            <a:off x="640080" y="1600200"/>
            <a:ext cx="1737360" cy="59436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1737360" cy="594360"/>
          </a:xfrm>
          <a:prstGeom prst="rect">
            <a:avLst/>
          </a:prstGeom>
          <a:noFill/>
        </p:spPr>
        <p:txBody>
          <a:bodyPr wrap="square" anchor="ctr" lIns="0" tIns="0" rIns="0" bIns="0">
            <a:spAutoFit/>
          </a:bodyPr>
          <a:lstStyle/>
          <a:p>
            <a:pPr algn="ctr"/>
            <a:r>
              <a:rPr sz="1150" b="1" i="0">
                <a:solidFill>
                  <a:srgbClr val="FFFFFF"/>
                </a:solidFill>
                <a:latin typeface="Calibri"/>
              </a:rPr>
              <a:t>Resolved individual</a:t>
            </a:r>
          </a:p>
        </p:txBody>
      </p:sp>
      <p:sp>
        <p:nvSpPr>
          <p:cNvPr id="9" name="TextBox 8"/>
          <p:cNvSpPr txBox="1"/>
          <p:nvPr/>
        </p:nvSpPr>
        <p:spPr>
          <a:xfrm>
            <a:off x="2377440" y="1600200"/>
            <a:ext cx="320040" cy="59436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0" name="Rectangle 9"/>
          <p:cNvSpPr/>
          <p:nvPr/>
        </p:nvSpPr>
        <p:spPr>
          <a:xfrm>
            <a:off x="2697480" y="1600200"/>
            <a:ext cx="1737360" cy="59436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1600200"/>
            <a:ext cx="1737360" cy="594360"/>
          </a:xfrm>
          <a:prstGeom prst="rect">
            <a:avLst/>
          </a:prstGeom>
          <a:noFill/>
        </p:spPr>
        <p:txBody>
          <a:bodyPr wrap="square" anchor="ctr" lIns="0" tIns="0" rIns="0" bIns="0">
            <a:spAutoFit/>
          </a:bodyPr>
          <a:lstStyle/>
          <a:p>
            <a:pPr algn="ctr"/>
            <a:r>
              <a:rPr sz="1150" b="1" i="0">
                <a:solidFill>
                  <a:srgbClr val="FFFFFF"/>
                </a:solidFill>
                <a:latin typeface="Calibri"/>
              </a:rPr>
              <a:t>Prosperous family</a:t>
            </a:r>
          </a:p>
        </p:txBody>
      </p:sp>
      <p:sp>
        <p:nvSpPr>
          <p:cNvPr id="12" name="TextBox 11"/>
          <p:cNvSpPr txBox="1"/>
          <p:nvPr/>
        </p:nvSpPr>
        <p:spPr>
          <a:xfrm>
            <a:off x="4434840" y="1600200"/>
            <a:ext cx="320040" cy="59436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3" name="Rectangle 12"/>
          <p:cNvSpPr/>
          <p:nvPr/>
        </p:nvSpPr>
        <p:spPr>
          <a:xfrm>
            <a:off x="4754880" y="1600200"/>
            <a:ext cx="1737360" cy="59436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600200"/>
            <a:ext cx="1737360" cy="594360"/>
          </a:xfrm>
          <a:prstGeom prst="rect">
            <a:avLst/>
          </a:prstGeom>
          <a:noFill/>
        </p:spPr>
        <p:txBody>
          <a:bodyPr wrap="square" anchor="ctr" lIns="0" tIns="0" rIns="0" bIns="0">
            <a:spAutoFit/>
          </a:bodyPr>
          <a:lstStyle/>
          <a:p>
            <a:pPr algn="ctr"/>
            <a:r>
              <a:rPr sz="1150" b="1" i="0">
                <a:solidFill>
                  <a:srgbClr val="FFFFFF"/>
                </a:solidFill>
                <a:latin typeface="Calibri"/>
              </a:rPr>
              <a:t>Fearless society</a:t>
            </a:r>
          </a:p>
        </p:txBody>
      </p:sp>
      <p:sp>
        <p:nvSpPr>
          <p:cNvPr id="15" name="TextBox 14"/>
          <p:cNvSpPr txBox="1"/>
          <p:nvPr/>
        </p:nvSpPr>
        <p:spPr>
          <a:xfrm>
            <a:off x="6492240" y="1600200"/>
            <a:ext cx="320040" cy="594360"/>
          </a:xfrm>
          <a:prstGeom prst="rect">
            <a:avLst/>
          </a:prstGeom>
          <a:noFill/>
        </p:spPr>
        <p:txBody>
          <a:bodyPr wrap="square" anchor="ctr" lIns="0" tIns="0" rIns="0" bIns="0">
            <a:spAutoFit/>
          </a:bodyPr>
          <a:lstStyle/>
          <a:p>
            <a:pPr algn="ctr"/>
            <a:r>
              <a:rPr sz="1600" b="1" i="0">
                <a:solidFill>
                  <a:srgbClr val="C9821E"/>
                </a:solidFill>
                <a:latin typeface="Calibri"/>
              </a:rPr>
              <a:t>→</a:t>
            </a:r>
          </a:p>
        </p:txBody>
      </p:sp>
      <p:sp>
        <p:nvSpPr>
          <p:cNvPr id="16" name="Rectangle 15"/>
          <p:cNvSpPr/>
          <p:nvPr/>
        </p:nvSpPr>
        <p:spPr>
          <a:xfrm>
            <a:off x="6812280" y="1600200"/>
            <a:ext cx="1737360" cy="594360"/>
          </a:xfrm>
          <a:prstGeom prst="rect">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1600200"/>
            <a:ext cx="1737360" cy="594360"/>
          </a:xfrm>
          <a:prstGeom prst="rect">
            <a:avLst/>
          </a:prstGeom>
          <a:noFill/>
        </p:spPr>
        <p:txBody>
          <a:bodyPr wrap="square" anchor="ctr" lIns="0" tIns="0" rIns="0" bIns="0">
            <a:spAutoFit/>
          </a:bodyPr>
          <a:lstStyle/>
          <a:p>
            <a:pPr algn="ctr"/>
            <a:r>
              <a:rPr sz="1150" b="1" i="0">
                <a:solidFill>
                  <a:srgbClr val="FFFFFF"/>
                </a:solidFill>
                <a:latin typeface="Calibri"/>
              </a:rPr>
              <a:t>Universal coexistence</a:t>
            </a:r>
          </a:p>
        </p:txBody>
      </p:sp>
      <p:sp>
        <p:nvSpPr>
          <p:cNvPr id="18" name="TextBox 17"/>
          <p:cNvSpPr txBox="1"/>
          <p:nvPr/>
        </p:nvSpPr>
        <p:spPr>
          <a:xfrm>
            <a:off x="640080" y="2468880"/>
            <a:ext cx="7955279" cy="274320"/>
          </a:xfrm>
          <a:prstGeom prst="rect">
            <a:avLst/>
          </a:prstGeom>
          <a:noFill/>
        </p:spPr>
        <p:txBody>
          <a:bodyPr wrap="square" anchor="ctr" lIns="0" tIns="0" rIns="0" bIns="0">
            <a:spAutoFit/>
          </a:bodyPr>
          <a:lstStyle/>
          <a:p>
            <a:pPr algn="l"/>
            <a:r>
              <a:rPr sz="1150" b="0" i="1">
                <a:solidFill>
                  <a:srgbClr val="5A6377"/>
                </a:solidFill>
                <a:latin typeface="Calibri"/>
              </a:rPr>
              <a:t>Five functions sustain these goals: education–sanskar, justice–security, health–restraint, production–work, and exchange–storage.</a:t>
            </a:r>
          </a:p>
        </p:txBody>
      </p:sp>
      <p:sp>
        <p:nvSpPr>
          <p:cNvPr id="19" name="Rectangle 18"/>
          <p:cNvSpPr/>
          <p:nvPr/>
        </p:nvSpPr>
        <p:spPr>
          <a:xfrm>
            <a:off x="640080" y="3154680"/>
            <a:ext cx="7863840" cy="7772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154680"/>
            <a:ext cx="7406640" cy="777240"/>
          </a:xfrm>
          <a:prstGeom prst="rect">
            <a:avLst/>
          </a:prstGeom>
          <a:noFill/>
        </p:spPr>
        <p:txBody>
          <a:bodyPr wrap="square" anchor="ctr" lIns="0" tIns="0" rIns="0" bIns="0">
            <a:spAutoFit/>
          </a:bodyPr>
          <a:lstStyle/>
          <a:p>
            <a:pPr algn="l"/>
            <a:r>
              <a:rPr sz="1080" b="0" i="0">
                <a:solidFill>
                  <a:srgbClr val="5A6377"/>
                </a:solidFill>
                <a:latin typeface="Calibri"/>
              </a:rPr>
              <a:t>Each function needs capable participants, appropriate means and fulfilled responsibilities. Together they sustain learning, provision and just participation.</a:t>
            </a:r>
          </a:p>
        </p:txBody>
      </p:sp>
      <p:sp>
        <p:nvSpPr>
          <p:cNvPr id="21" name="TextBox 20"/>
          <p:cNvSpPr txBox="1"/>
          <p:nvPr/>
        </p:nvSpPr>
        <p:spPr>
          <a:xfrm>
            <a:off x="640080" y="4160520"/>
            <a:ext cx="7955279" cy="274320"/>
          </a:xfrm>
          <a:prstGeom prst="rect">
            <a:avLst/>
          </a:prstGeom>
          <a:noFill/>
        </p:spPr>
        <p:txBody>
          <a:bodyPr wrap="square" anchor="ctr" lIns="0" tIns="0" rIns="0" bIns="0">
            <a:spAutoFit/>
          </a:bodyPr>
          <a:lstStyle/>
          <a:p>
            <a:pPr algn="l"/>
            <a:r>
              <a:rPr sz="1050" b="0" i="1">
                <a:solidFill>
                  <a:srgbClr val="5A6377"/>
                </a:solidFill>
                <a:latin typeface="Calibri"/>
              </a:rPr>
              <a:t>The garden connects teaching, care, cultivation, distribution and correction. Learners prepare to carry these responsibilities forward.</a:t>
            </a:r>
          </a:p>
        </p:txBody>
      </p:sp>
      <p:sp>
        <p:nvSpPr>
          <p:cNvPr id="22" name="TextBox 21"/>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JV printed pp.60–61,109–110,140  ·  MSM printed pp.64–65  ·  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MOVEMENT FOUR  ·  SHARED RESPONSIBILITY</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Family and Wider Coordination</a:t>
            </a:r>
          </a:p>
        </p:txBody>
      </p:sp>
      <p:sp>
        <p:nvSpPr>
          <p:cNvPr id="7" name="Rectangle 6"/>
          <p:cNvSpPr/>
          <p:nvPr/>
        </p:nvSpPr>
        <p:spPr>
          <a:xfrm>
            <a:off x="640080" y="128016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399031"/>
            <a:ext cx="3392424" cy="292608"/>
          </a:xfrm>
          <a:prstGeom prst="rect">
            <a:avLst/>
          </a:prstGeom>
          <a:noFill/>
        </p:spPr>
        <p:txBody>
          <a:bodyPr wrap="square" anchor="ctr" lIns="0" tIns="0" rIns="0" bIns="0">
            <a:spAutoFit/>
          </a:bodyPr>
          <a:lstStyle/>
          <a:p>
            <a:pPr algn="l"/>
            <a:r>
              <a:rPr sz="1250" b="1" i="0">
                <a:solidFill>
                  <a:srgbClr val="1E2447"/>
                </a:solidFill>
                <a:latin typeface="Cambria"/>
              </a:rPr>
              <a:t>Family participation</a:t>
            </a:r>
          </a:p>
        </p:txBody>
      </p:sp>
      <p:sp>
        <p:nvSpPr>
          <p:cNvPr id="9" name="TextBox 8"/>
          <p:cNvSpPr txBox="1"/>
          <p:nvPr/>
        </p:nvSpPr>
        <p:spPr>
          <a:xfrm>
            <a:off x="841247" y="1737360"/>
            <a:ext cx="3392424" cy="704087"/>
          </a:xfrm>
          <a:prstGeom prst="rect">
            <a:avLst/>
          </a:prstGeom>
          <a:noFill/>
        </p:spPr>
        <p:txBody>
          <a:bodyPr wrap="square" anchor="t" lIns="0" tIns="0" rIns="0" bIns="0">
            <a:spAutoFit/>
          </a:bodyPr>
          <a:lstStyle/>
          <a:p>
            <a:pPr algn="l"/>
            <a:r>
              <a:rPr sz="1050" b="0" i="0">
                <a:solidFill>
                  <a:srgbClr val="5A6377"/>
                </a:solidFill>
                <a:latin typeface="Calibri"/>
              </a:rPr>
              <a:t>Recognised needs and responsibilities guide useful work, care and sufficient provision.</a:t>
            </a:r>
          </a:p>
        </p:txBody>
      </p:sp>
      <p:sp>
        <p:nvSpPr>
          <p:cNvPr id="10" name="Rectangle 9"/>
          <p:cNvSpPr/>
          <p:nvPr/>
        </p:nvSpPr>
        <p:spPr>
          <a:xfrm>
            <a:off x="4709160" y="128016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399031"/>
            <a:ext cx="3392424" cy="292608"/>
          </a:xfrm>
          <a:prstGeom prst="rect">
            <a:avLst/>
          </a:prstGeom>
          <a:noFill/>
        </p:spPr>
        <p:txBody>
          <a:bodyPr wrap="square" anchor="ctr" lIns="0" tIns="0" rIns="0" bIns="0">
            <a:spAutoFit/>
          </a:bodyPr>
          <a:lstStyle/>
          <a:p>
            <a:pPr algn="l"/>
            <a:r>
              <a:rPr sz="1250" b="1" i="0">
                <a:solidFill>
                  <a:srgbClr val="1E2447"/>
                </a:solidFill>
                <a:latin typeface="Cambria"/>
              </a:rPr>
              <a:t>Council and dialogue</a:t>
            </a:r>
          </a:p>
        </p:txBody>
      </p:sp>
      <p:sp>
        <p:nvSpPr>
          <p:cNvPr id="12" name="TextBox 11"/>
          <p:cNvSpPr txBox="1"/>
          <p:nvPr/>
        </p:nvSpPr>
        <p:spPr>
          <a:xfrm>
            <a:off x="4910328" y="1737360"/>
            <a:ext cx="3392424" cy="704087"/>
          </a:xfrm>
          <a:prstGeom prst="rect">
            <a:avLst/>
          </a:prstGeom>
          <a:noFill/>
        </p:spPr>
        <p:txBody>
          <a:bodyPr wrap="square" anchor="t" lIns="0" tIns="0" rIns="0" bIns="0">
            <a:spAutoFit/>
          </a:bodyPr>
          <a:lstStyle/>
          <a:p>
            <a:pPr algn="l"/>
            <a:r>
              <a:rPr sz="1050" b="0" i="0">
                <a:solidFill>
                  <a:srgbClr val="5A6377"/>
                </a:solidFill>
                <a:latin typeface="Calibri"/>
              </a:rPr>
              <a:t>Participants deliberate, seek agreement, assign responsibilities and examine fulfilment.</a:t>
            </a:r>
          </a:p>
        </p:txBody>
      </p:sp>
      <p:sp>
        <p:nvSpPr>
          <p:cNvPr id="13" name="Rectangle 12"/>
          <p:cNvSpPr/>
          <p:nvPr/>
        </p:nvSpPr>
        <p:spPr>
          <a:xfrm>
            <a:off x="640080" y="269748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2816352"/>
            <a:ext cx="3392424" cy="292608"/>
          </a:xfrm>
          <a:prstGeom prst="rect">
            <a:avLst/>
          </a:prstGeom>
          <a:noFill/>
        </p:spPr>
        <p:txBody>
          <a:bodyPr wrap="square" anchor="ctr" lIns="0" tIns="0" rIns="0" bIns="0">
            <a:spAutoFit/>
          </a:bodyPr>
          <a:lstStyle/>
          <a:p>
            <a:pPr algn="l"/>
            <a:r>
              <a:rPr sz="1250" b="1" i="0">
                <a:solidFill>
                  <a:srgbClr val="1E2447"/>
                </a:solidFill>
                <a:latin typeface="Cambria"/>
              </a:rPr>
              <a:t>Ten-tier coordination</a:t>
            </a:r>
          </a:p>
        </p:txBody>
      </p:sp>
      <p:sp>
        <p:nvSpPr>
          <p:cNvPr id="15" name="TextBox 14"/>
          <p:cNvSpPr txBox="1"/>
          <p:nvPr/>
        </p:nvSpPr>
        <p:spPr>
          <a:xfrm>
            <a:off x="841247" y="3154679"/>
            <a:ext cx="3392424" cy="704087"/>
          </a:xfrm>
          <a:prstGeom prst="rect">
            <a:avLst/>
          </a:prstGeom>
          <a:noFill/>
        </p:spPr>
        <p:txBody>
          <a:bodyPr wrap="square" anchor="t" lIns="0" tIns="0" rIns="0" bIns="0">
            <a:spAutoFit/>
          </a:bodyPr>
          <a:lstStyle/>
          <a:p>
            <a:pPr algn="l"/>
            <a:r>
              <a:rPr sz="1050" b="0" i="0">
                <a:solidFill>
                  <a:srgbClr val="5A6377"/>
                </a:solidFill>
                <a:latin typeface="Calibri"/>
              </a:rPr>
              <a:t>Family councils connect through wider councils toward the world family.</a:t>
            </a:r>
          </a:p>
        </p:txBody>
      </p:sp>
      <p:sp>
        <p:nvSpPr>
          <p:cNvPr id="16" name="Rectangle 15"/>
          <p:cNvSpPr/>
          <p:nvPr/>
        </p:nvSpPr>
        <p:spPr>
          <a:xfrm>
            <a:off x="4709160" y="2697480"/>
            <a:ext cx="3794760" cy="128016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0328" y="2816352"/>
            <a:ext cx="3392424" cy="292608"/>
          </a:xfrm>
          <a:prstGeom prst="rect">
            <a:avLst/>
          </a:prstGeom>
          <a:noFill/>
        </p:spPr>
        <p:txBody>
          <a:bodyPr wrap="square" anchor="ctr" lIns="0" tIns="0" rIns="0" bIns="0">
            <a:spAutoFit/>
          </a:bodyPr>
          <a:lstStyle/>
          <a:p>
            <a:pPr algn="l"/>
            <a:r>
              <a:rPr sz="1250" b="1" i="0">
                <a:solidFill>
                  <a:srgbClr val="1E2447"/>
                </a:solidFill>
                <a:latin typeface="Cambria"/>
              </a:rPr>
              <a:t>Humane constitution</a:t>
            </a:r>
          </a:p>
        </p:txBody>
      </p:sp>
      <p:sp>
        <p:nvSpPr>
          <p:cNvPr id="18" name="TextBox 17"/>
          <p:cNvSpPr txBox="1"/>
          <p:nvPr/>
        </p:nvSpPr>
        <p:spPr>
          <a:xfrm>
            <a:off x="4910328" y="3154679"/>
            <a:ext cx="3392424" cy="704087"/>
          </a:xfrm>
          <a:prstGeom prst="rect">
            <a:avLst/>
          </a:prstGeom>
          <a:noFill/>
        </p:spPr>
        <p:txBody>
          <a:bodyPr wrap="square" anchor="t" lIns="0" tIns="0" rIns="0" bIns="0">
            <a:spAutoFit/>
          </a:bodyPr>
          <a:lstStyle/>
          <a:p>
            <a:pPr algn="l"/>
            <a:r>
              <a:rPr sz="1050" b="0" i="0">
                <a:solidFill>
                  <a:srgbClr val="5A6377"/>
                </a:solidFill>
                <a:latin typeface="Calibri"/>
              </a:rPr>
              <a:t>Shared values, character and ethics guide education, responsibilities and maintained arrangements.</a:t>
            </a:r>
          </a:p>
        </p:txBody>
      </p:sp>
      <p:sp>
        <p:nvSpPr>
          <p:cNvPr id="19" name="Rectangle 18"/>
          <p:cNvSpPr/>
          <p:nvPr/>
        </p:nvSpPr>
        <p:spPr>
          <a:xfrm>
            <a:off x="640080" y="4114800"/>
            <a:ext cx="7863840" cy="548640"/>
          </a:xfrm>
          <a:prstGeom prst="rect">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114800"/>
            <a:ext cx="7406640" cy="548640"/>
          </a:xfrm>
          <a:prstGeom prst="rect">
            <a:avLst/>
          </a:prstGeom>
          <a:noFill/>
        </p:spPr>
        <p:txBody>
          <a:bodyPr wrap="square" anchor="ctr" lIns="0" tIns="0" rIns="0" bIns="0">
            <a:spAutoFit/>
          </a:bodyPr>
          <a:lstStyle/>
          <a:p>
            <a:pPr algn="l"/>
            <a:r>
              <a:rPr sz="1080" b="0" i="0">
                <a:solidFill>
                  <a:srgbClr val="5A6377"/>
                </a:solidFill>
                <a:latin typeface="Calibri"/>
              </a:rPr>
              <a:t>Samvidhan gives humane conduct a shared social form. Families and councils carry it into continuing participation.</a:t>
            </a:r>
          </a:p>
        </p:txBody>
      </p:sp>
      <p:sp>
        <p:nvSpPr>
          <p:cNvPr id="21" name="TextBox 20"/>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MVD pp.18–19,161,253  ·  JVD PDF pp.175,179–225  ·  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anchor="ctr" lIns="0" tIns="0" rIns="0" bIns="0">
            <a:spAutoFit/>
          </a:bodyPr>
          <a:lstStyle/>
          <a:p>
            <a:pPr algn="l"/>
            <a:r>
              <a:rPr sz="1050" b="1" i="0">
                <a:solidFill>
                  <a:srgbClr val="9A6414"/>
                </a:solidFill>
                <a:latin typeface="Calibri"/>
              </a:rPr>
              <a:t>CLOSE  ·  AWAKENED TRADITION</a:t>
            </a:r>
          </a:p>
        </p:txBody>
      </p:sp>
      <p:sp>
        <p:nvSpPr>
          <p:cNvPr id="6" name="TextBox 5"/>
          <p:cNvSpPr txBox="1"/>
          <p:nvPr/>
        </p:nvSpPr>
        <p:spPr>
          <a:xfrm>
            <a:off x="960120" y="457200"/>
            <a:ext cx="7726679" cy="566928"/>
          </a:xfrm>
          <a:prstGeom prst="rect">
            <a:avLst/>
          </a:prstGeom>
          <a:noFill/>
        </p:spPr>
        <p:txBody>
          <a:bodyPr wrap="square" anchor="ctr" lIns="0" tIns="0" rIns="0" bIns="0">
            <a:spAutoFit/>
          </a:bodyPr>
          <a:lstStyle/>
          <a:p>
            <a:pPr algn="l"/>
            <a:r>
              <a:rPr sz="3000" b="1" i="0">
                <a:solidFill>
                  <a:srgbClr val="1E2447"/>
                </a:solidFill>
                <a:latin typeface="Cambria"/>
              </a:rPr>
              <a:t>Continuity of Awakened Living</a:t>
            </a:r>
          </a:p>
        </p:txBody>
      </p:sp>
      <p:sp>
        <p:nvSpPr>
          <p:cNvPr id="7" name="Oval 6"/>
          <p:cNvSpPr/>
          <p:nvPr/>
        </p:nvSpPr>
        <p:spPr>
          <a:xfrm>
            <a:off x="640080" y="130302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03020"/>
            <a:ext cx="365760" cy="365760"/>
          </a:xfrm>
          <a:prstGeom prst="rect">
            <a:avLst/>
          </a:prstGeom>
          <a:noFill/>
        </p:spPr>
        <p:txBody>
          <a:bodyPr wrap="square" anchor="ctr" lIns="0" tIns="0" rIns="0" bIns="0">
            <a:spAutoFit/>
          </a:bodyPr>
          <a:lstStyle/>
          <a:p>
            <a:pPr algn="ctr"/>
            <a:r>
              <a:rPr sz="1300" b="1" i="0">
                <a:solidFill>
                  <a:srgbClr val="FFFFFF"/>
                </a:solidFill>
                <a:latin typeface="Calibri"/>
              </a:rPr>
              <a:t>1</a:t>
            </a:r>
          </a:p>
        </p:txBody>
      </p:sp>
      <p:sp>
        <p:nvSpPr>
          <p:cNvPr id="9" name="TextBox 8"/>
          <p:cNvSpPr txBox="1"/>
          <p:nvPr/>
        </p:nvSpPr>
        <p:spPr>
          <a:xfrm>
            <a:off x="1188720" y="1234440"/>
            <a:ext cx="7406640" cy="502920"/>
          </a:xfrm>
          <a:prstGeom prst="rect">
            <a:avLst/>
          </a:prstGeom>
          <a:noFill/>
        </p:spPr>
        <p:txBody>
          <a:bodyPr wrap="square" anchor="ctr" lIns="0" tIns="0" rIns="0" bIns="0">
            <a:spAutoFit/>
          </a:bodyPr>
          <a:lstStyle/>
          <a:p>
            <a:pPr algn="l"/>
            <a:r>
              <a:rPr sz="1300" b="1" i="0">
                <a:solidFill>
                  <a:srgbClr val="1E2447"/>
                </a:solidFill>
                <a:latin typeface="Calibri"/>
              </a:rPr>
              <a:t>Realised coexistence fulfils jeevan as paramanand</a:t>
            </a:r>
          </a:p>
        </p:txBody>
      </p:sp>
      <p:sp>
        <p:nvSpPr>
          <p:cNvPr id="10" name="Oval 9"/>
          <p:cNvSpPr/>
          <p:nvPr/>
        </p:nvSpPr>
        <p:spPr>
          <a:xfrm>
            <a:off x="640080" y="185166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51660"/>
            <a:ext cx="365760" cy="365760"/>
          </a:xfrm>
          <a:prstGeom prst="rect">
            <a:avLst/>
          </a:prstGeom>
          <a:noFill/>
        </p:spPr>
        <p:txBody>
          <a:bodyPr wrap="square" anchor="ctr" lIns="0" tIns="0" rIns="0" bIns="0">
            <a:spAutoFit/>
          </a:bodyPr>
          <a:lstStyle/>
          <a:p>
            <a:pPr algn="ctr"/>
            <a:r>
              <a:rPr sz="1300" b="1" i="0">
                <a:solidFill>
                  <a:srgbClr val="FFFFFF"/>
                </a:solidFill>
                <a:latin typeface="Calibri"/>
              </a:rPr>
              <a:t>2</a:t>
            </a:r>
          </a:p>
        </p:txBody>
      </p:sp>
      <p:sp>
        <p:nvSpPr>
          <p:cNvPr id="12" name="TextBox 11"/>
          <p:cNvSpPr txBox="1"/>
          <p:nvPr/>
        </p:nvSpPr>
        <p:spPr>
          <a:xfrm>
            <a:off x="1188720" y="1783080"/>
            <a:ext cx="7406640" cy="502920"/>
          </a:xfrm>
          <a:prstGeom prst="rect">
            <a:avLst/>
          </a:prstGeom>
          <a:noFill/>
        </p:spPr>
        <p:txBody>
          <a:bodyPr wrap="square" anchor="ctr" lIns="0" tIns="0" rIns="0" bIns="0">
            <a:spAutoFit/>
          </a:bodyPr>
          <a:lstStyle/>
          <a:p>
            <a:pPr algn="l"/>
            <a:r>
              <a:rPr sz="1300" b="1" i="0">
                <a:solidFill>
                  <a:srgbClr val="1E2447"/>
                </a:solidFill>
                <a:latin typeface="Calibri"/>
              </a:rPr>
              <a:t>Humane conduct expresses understanding:</a:t>
            </a:r>
            <a:r>
              <a:rPr sz="1300" b="0" i="0">
                <a:solidFill>
                  <a:srgbClr val="5A6377"/>
                </a:solidFill>
                <a:latin typeface="Calibri"/>
              </a:rPr>
              <a:t> values, character and ethics in living.</a:t>
            </a:r>
          </a:p>
        </p:txBody>
      </p:sp>
      <p:sp>
        <p:nvSpPr>
          <p:cNvPr id="13" name="Oval 12"/>
          <p:cNvSpPr/>
          <p:nvPr/>
        </p:nvSpPr>
        <p:spPr>
          <a:xfrm>
            <a:off x="640080" y="240030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400300"/>
            <a:ext cx="365760" cy="365760"/>
          </a:xfrm>
          <a:prstGeom prst="rect">
            <a:avLst/>
          </a:prstGeom>
          <a:noFill/>
        </p:spPr>
        <p:txBody>
          <a:bodyPr wrap="square" anchor="ctr" lIns="0" tIns="0" rIns="0" bIns="0">
            <a:spAutoFit/>
          </a:bodyPr>
          <a:lstStyle/>
          <a:p>
            <a:pPr algn="ctr"/>
            <a:r>
              <a:rPr sz="1300" b="1" i="0">
                <a:solidFill>
                  <a:srgbClr val="FFFFFF"/>
                </a:solidFill>
                <a:latin typeface="Calibri"/>
              </a:rPr>
              <a:t>3</a:t>
            </a:r>
          </a:p>
        </p:txBody>
      </p:sp>
      <p:sp>
        <p:nvSpPr>
          <p:cNvPr id="15" name="TextBox 14"/>
          <p:cNvSpPr txBox="1"/>
          <p:nvPr/>
        </p:nvSpPr>
        <p:spPr>
          <a:xfrm>
            <a:off x="1188720" y="2331720"/>
            <a:ext cx="7406640" cy="502920"/>
          </a:xfrm>
          <a:prstGeom prst="rect">
            <a:avLst/>
          </a:prstGeom>
          <a:noFill/>
        </p:spPr>
        <p:txBody>
          <a:bodyPr wrap="square" anchor="ctr" lIns="0" tIns="0" rIns="0" bIns="0">
            <a:spAutoFit/>
          </a:bodyPr>
          <a:lstStyle/>
          <a:p>
            <a:pPr algn="l"/>
            <a:r>
              <a:rPr sz="1300" b="1" i="0">
                <a:solidFill>
                  <a:srgbClr val="1E2447"/>
                </a:solidFill>
                <a:latin typeface="Calibri"/>
              </a:rPr>
              <a:t>Five functions sustain provision and mutual fulfilment</a:t>
            </a:r>
          </a:p>
        </p:txBody>
      </p:sp>
      <p:sp>
        <p:nvSpPr>
          <p:cNvPr id="16" name="Oval 15"/>
          <p:cNvSpPr/>
          <p:nvPr/>
        </p:nvSpPr>
        <p:spPr>
          <a:xfrm>
            <a:off x="640080" y="294894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948940"/>
            <a:ext cx="365760" cy="365760"/>
          </a:xfrm>
          <a:prstGeom prst="rect">
            <a:avLst/>
          </a:prstGeom>
          <a:noFill/>
        </p:spPr>
        <p:txBody>
          <a:bodyPr wrap="square" anchor="ctr" lIns="0" tIns="0" rIns="0" bIns="0">
            <a:spAutoFit/>
          </a:bodyPr>
          <a:lstStyle/>
          <a:p>
            <a:pPr algn="ctr"/>
            <a:r>
              <a:rPr sz="1300" b="1" i="0">
                <a:solidFill>
                  <a:srgbClr val="FFFFFF"/>
                </a:solidFill>
                <a:latin typeface="Calibri"/>
              </a:rPr>
              <a:t>4</a:t>
            </a:r>
          </a:p>
        </p:txBody>
      </p:sp>
      <p:sp>
        <p:nvSpPr>
          <p:cNvPr id="18" name="TextBox 17"/>
          <p:cNvSpPr txBox="1"/>
          <p:nvPr/>
        </p:nvSpPr>
        <p:spPr>
          <a:xfrm>
            <a:off x="1188720" y="2880360"/>
            <a:ext cx="7406640" cy="502920"/>
          </a:xfrm>
          <a:prstGeom prst="rect">
            <a:avLst/>
          </a:prstGeom>
          <a:noFill/>
        </p:spPr>
        <p:txBody>
          <a:bodyPr wrap="square" anchor="ctr" lIns="0" tIns="0" rIns="0" bIns="0">
            <a:spAutoFit/>
          </a:bodyPr>
          <a:lstStyle/>
          <a:p>
            <a:pPr algn="l"/>
            <a:r>
              <a:rPr sz="1300" b="1" i="0">
                <a:solidFill>
                  <a:srgbClr val="1E2447"/>
                </a:solidFill>
                <a:latin typeface="Calibri"/>
              </a:rPr>
              <a:t>Humane constitution guides shared responsibilities.</a:t>
            </a:r>
            <a:r>
              <a:rPr sz="1300" b="0" i="0">
                <a:solidFill>
                  <a:srgbClr val="5A6377"/>
                </a:solidFill>
                <a:latin typeface="Calibri"/>
              </a:rPr>
              <a:t> Councils coordinate toward the world family.</a:t>
            </a:r>
          </a:p>
        </p:txBody>
      </p:sp>
      <p:sp>
        <p:nvSpPr>
          <p:cNvPr id="19" name="Oval 18"/>
          <p:cNvSpPr/>
          <p:nvPr/>
        </p:nvSpPr>
        <p:spPr>
          <a:xfrm>
            <a:off x="640080" y="349758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497580"/>
            <a:ext cx="365760" cy="365760"/>
          </a:xfrm>
          <a:prstGeom prst="rect">
            <a:avLst/>
          </a:prstGeom>
          <a:noFill/>
        </p:spPr>
        <p:txBody>
          <a:bodyPr wrap="square" anchor="ctr" lIns="0" tIns="0" rIns="0" bIns="0">
            <a:spAutoFit/>
          </a:bodyPr>
          <a:lstStyle/>
          <a:p>
            <a:pPr algn="ctr"/>
            <a:r>
              <a:rPr sz="1300" b="1" i="0">
                <a:solidFill>
                  <a:srgbClr val="FFFFFF"/>
                </a:solidFill>
                <a:latin typeface="Calibri"/>
              </a:rPr>
              <a:t>5</a:t>
            </a:r>
          </a:p>
        </p:txBody>
      </p:sp>
      <p:sp>
        <p:nvSpPr>
          <p:cNvPr id="21" name="TextBox 20"/>
          <p:cNvSpPr txBox="1"/>
          <p:nvPr/>
        </p:nvSpPr>
        <p:spPr>
          <a:xfrm>
            <a:off x="1188720" y="3429000"/>
            <a:ext cx="7406640" cy="502920"/>
          </a:xfrm>
          <a:prstGeom prst="rect">
            <a:avLst/>
          </a:prstGeom>
          <a:noFill/>
        </p:spPr>
        <p:txBody>
          <a:bodyPr wrap="square" anchor="ctr" lIns="0" tIns="0" rIns="0" bIns="0">
            <a:spAutoFit/>
          </a:bodyPr>
          <a:lstStyle/>
          <a:p>
            <a:pPr algn="l"/>
            <a:r>
              <a:rPr sz="1300" b="1" i="0">
                <a:solidFill>
                  <a:srgbClr val="1E2447"/>
                </a:solidFill>
                <a:latin typeface="Calibri"/>
              </a:rPr>
              <a:t>Education prepares later participants.</a:t>
            </a:r>
            <a:r>
              <a:rPr sz="1300" b="0" i="0">
                <a:solidFill>
                  <a:srgbClr val="5A6377"/>
                </a:solidFill>
                <a:latin typeface="Calibri"/>
              </a:rPr>
              <a:t> Inquiry and practice develop independent responsibility.</a:t>
            </a:r>
          </a:p>
        </p:txBody>
      </p:sp>
      <p:sp>
        <p:nvSpPr>
          <p:cNvPr id="22" name="Oval 21"/>
          <p:cNvSpPr/>
          <p:nvPr/>
        </p:nvSpPr>
        <p:spPr>
          <a:xfrm>
            <a:off x="640080" y="4046220"/>
            <a:ext cx="365760" cy="365760"/>
          </a:xfrm>
          <a:prstGeom prst="ellipse">
            <a:avLst/>
          </a:prstGeom>
          <a:solidFill>
            <a:srgbClr val="3B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46220"/>
            <a:ext cx="365760" cy="365760"/>
          </a:xfrm>
          <a:prstGeom prst="rect">
            <a:avLst/>
          </a:prstGeom>
          <a:noFill/>
        </p:spPr>
        <p:txBody>
          <a:bodyPr wrap="square" anchor="ctr" lIns="0" tIns="0" rIns="0" bIns="0">
            <a:spAutoFit/>
          </a:bodyPr>
          <a:lstStyle/>
          <a:p>
            <a:pPr algn="ctr"/>
            <a:r>
              <a:rPr sz="1300" b="1" i="0">
                <a:solidFill>
                  <a:srgbClr val="FFFFFF"/>
                </a:solidFill>
                <a:latin typeface="Calibri"/>
              </a:rPr>
              <a:t>6</a:t>
            </a:r>
          </a:p>
        </p:txBody>
      </p:sp>
      <p:sp>
        <p:nvSpPr>
          <p:cNvPr id="24" name="TextBox 23"/>
          <p:cNvSpPr txBox="1"/>
          <p:nvPr/>
        </p:nvSpPr>
        <p:spPr>
          <a:xfrm>
            <a:off x="1188720" y="3977640"/>
            <a:ext cx="7406640" cy="502920"/>
          </a:xfrm>
          <a:prstGeom prst="rect">
            <a:avLst/>
          </a:prstGeom>
          <a:noFill/>
        </p:spPr>
        <p:txBody>
          <a:bodyPr wrap="square" anchor="ctr" lIns="0" tIns="0" rIns="0" bIns="0">
            <a:spAutoFit/>
          </a:bodyPr>
          <a:lstStyle/>
          <a:p>
            <a:pPr algn="l"/>
            <a:r>
              <a:rPr sz="1300" b="1" i="0">
                <a:solidFill>
                  <a:srgbClr val="1E2447"/>
                </a:solidFill>
                <a:latin typeface="Calibri"/>
              </a:rPr>
              <a:t>Awakened tradition continues across generations:</a:t>
            </a:r>
            <a:r>
              <a:rPr sz="1300" b="0" i="0">
                <a:solidFill>
                  <a:srgbClr val="5A6377"/>
                </a:solidFill>
                <a:latin typeface="Calibri"/>
              </a:rPr>
              <a:t> undivided society and universal orderliness.</a:t>
            </a:r>
          </a:p>
        </p:txBody>
      </p:sp>
      <p:sp>
        <p:nvSpPr>
          <p:cNvPr id="25" name="TextBox 24"/>
          <p:cNvSpPr txBox="1"/>
          <p:nvPr/>
        </p:nvSpPr>
        <p:spPr>
          <a:xfrm>
            <a:off x="502920" y="4828032"/>
            <a:ext cx="8138160" cy="256032"/>
          </a:xfrm>
          <a:prstGeom prst="rect">
            <a:avLst/>
          </a:prstGeom>
          <a:noFill/>
        </p:spPr>
        <p:txBody>
          <a:bodyPr wrap="square" anchor="ctr" lIns="0" tIns="0" rIns="0" bIns="0">
            <a:spAutoFit/>
          </a:bodyPr>
          <a:lstStyle/>
          <a:p>
            <a:pPr algn="l"/>
            <a:r>
              <a:rPr sz="950" b="0" i="0">
                <a:solidFill>
                  <a:srgbClr val="5A6377"/>
                </a:solidFill>
                <a:latin typeface="Calibri"/>
              </a:rPr>
              <a:t>Read the full study — A State-Dynamic Model of Coexistence  ·  AnalyticMadhyasthDarshan.org  ·  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