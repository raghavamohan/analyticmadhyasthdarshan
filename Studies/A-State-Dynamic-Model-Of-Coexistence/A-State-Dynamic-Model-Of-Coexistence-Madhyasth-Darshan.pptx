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walks through the study “From Unit Activity to Human Orderliness: A State-Dynamic Reconstruction of Coexistence.” The study retells, in one connected sequence, what the primary texts say about existence: how every unit is already active, how structures form, where jeevan comes from, what changes at the human threshold, and what humans must understand and establish. The study also contains a formal appendix; we will not touch that mathematics today. Everything in this deck is the prose story, told for practitioners of Madhyasth Darshan — with the page references kept on every slide so you can return to the texts themselves.</a:t>
            </a:r>
          </a:p>
          <a:p/>
          <a:p>
            <a:r>
              <a:t>[Sources]</a:t>
            </a:r>
          </a:p>
          <a:p>
            <a:r>
              <a:t>- A State-Dynamic Model of Coexistence — opening summary and §§1–11</a:t>
            </a:r>
          </a:p>
          <a:p>
            <a:r>
              <a:t>- MVD; SB; JV; KD (tr. Rakesh Gupta; KD working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asks six questions in a fixed order, and each answer becomes the ground for the next. First, why activity needs no starter — saturation. Second, how structures hold — closure. Third, where jeevan comes from — constitutional completeness in one atomic line. Fourth, how a living being works — the body–jeevan joint form. Fifth, the human threshold — what nature does not settle for us. Sixth, evidence — how understanding is tested in relationship, work, and society. Keep this ladder in mind; every slide belongs to one of these six steps.</a:t>
            </a:r>
          </a:p>
          <a:p/>
          <a:p>
            <a:r>
              <a:t>[Sources]</a:t>
            </a:r>
          </a:p>
          <a:p>
            <a:r>
              <a:t>- A State-Dynamic Model of Coexistence — opening summary</a:t>
            </a:r>
          </a:p>
          <a:p>
            <a:r>
              <a:t>- Study §§1–11 (the six-part main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One lays the ground. Before we can talk about cells, animals, or human conduct, the darshan settles two things: what exists, and why it is active. The answer is coexistence — satta and units, never apart — and saturation, which makes every unit energised without anything pushing it. We will also meet the claim that a unit simply is its activity: effort, motion, and result together, readable as form, property, essential nature, and dharma.</a:t>
            </a:r>
          </a:p>
          <a:p/>
          <a:p>
            <a:r>
              <a:t>[Sources]</a:t>
            </a:r>
          </a:p>
          <a:p>
            <a:r>
              <a:t>- Study §§1–3</a:t>
            </a:r>
          </a:p>
          <a:p>
            <a:r>
              <a:t>- MVD pp. 26, 34–48; SB pp. 48–62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Existence is neither a heap of dead matter nor a formless field. It is coexistence: satta — unbounded, uniform, actionless Omnipresence — and countless discrete units present in it. The units are state-dynamic: state and motion are never separated in them. Saturation is the key word: each unit is soaked, submerged, and surrounded in satta, and that is why it is energised and forceful. Notice what is denied: satta never pushes, never transfers energy from a store, and no unit can be drained of what it is never separated from. The perpetual activity of atoms is the standing evidence.</a:t>
            </a:r>
          </a:p>
          <a:p/>
          <a:p>
            <a:r>
              <a:t>[Sources]</a:t>
            </a:r>
          </a:p>
          <a:p>
            <a:r>
              <a:t>- Study §§1–1.1</a:t>
            </a:r>
          </a:p>
          <a:p>
            <a:r>
              <a:t>- MVD pp. 26, 34–46; SB pp. 48–57; JV p. 149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study’s central re-orientation. We usually imagine a thing that then acts. The texts say instead: every physical-chemical activity is an inseparable presence of effort, motion, and result. Effort is strength borne in state; motion is power operating; result is the realised form. There is no inert carrier underneath waiting to be moved. So the study speaks of a unit as a ‘closed activity’ — an activity that holds a boundary and persists. And there are no pauses: the result of one complete occurrence is already the force-bearing state facing the next.</a:t>
            </a:r>
          </a:p>
          <a:p/>
          <a:p>
            <a:r>
              <a:t>[Sources]</a:t>
            </a:r>
          </a:p>
          <a:p>
            <a:r>
              <a:t>- Study §§1.2, 1.4, 2</a:t>
            </a:r>
          </a:p>
          <a:p>
            <a:r>
              <a:t>- SB pp. 58–62; KD §3.8 p. 84, §3.11 pp. 102–109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aspects — form, property, essential nature, and dharma — are familiar to every student of the darshan. The study’s point is that they are not four possessions of an underlying thing: they are the same single activity read aspectually. And the two readings align: effort or strength is present as dharma with svabhav; motion or power as svabhav with guna; result as roop. Dharma deserves special care. It is innateness — existence for material units, growth added for pranic, hope to live for animal, happiness for human. It is a criterion of fulfilment, not a force that pushes, and not information stored inside the unit.</a:t>
            </a:r>
          </a:p>
          <a:p/>
          <a:p>
            <a:r>
              <a:t>[Sources]</a:t>
            </a:r>
          </a:p>
          <a:p>
            <a:r>
              <a:t>- Study §§1.3, 3.1–3.4</a:t>
            </a:r>
          </a:p>
          <a:p>
            <a:r>
              <a:t>- MVD p. 47; SB pp. 60–62; KD §§3.9–3.10 pp. 98–102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unit is met in isolation. In every order, units recognise and fulfil according to what they are — an atomic particle recognises other particles and holds a definite distance; this is definite responsiveness, not conscious perception. Complementarity shows itself in offering, acceptance, nourishment, and fulfilment. Among the three tendencies of property, the mediative one regulates the generative and degenerative and maintains balance. This is where lawfulness, regulation, and balance — niyam, niyantran, santulan — are grounded: not decreed by an acting God, but evident in how saturated units meet. And because every result becomes part of the next situation, the whole is a running system, not a list.</a:t>
            </a:r>
          </a:p>
          <a:p/>
          <a:p>
            <a:r>
              <a:t>[Sources]</a:t>
            </a:r>
          </a:p>
          <a:p>
            <a:r>
              <a:t>- Study §§1.5, 2.3</a:t>
            </a:r>
          </a:p>
          <a:p>
            <a:r>
              <a:t>- JV pp. 69–70; SB pp. 99, 143–144, 249–251; MVD pp. 25–26, 48, 154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Two builds the world we see. Two different processes must not be confused. Closure is how many activities come to run as one — molecules, compounds, cells, bodies. Development is what happens inside one atom on a different line, ending in constitutional completeness — jeevan. The four orders — material, pranic, animal, knowledge — organise both. Keeping the two lines separate is what prevents the mistake of treating the human as a later animal, or jeevan as a product of the body.</a:t>
            </a:r>
          </a:p>
          <a:p/>
          <a:p>
            <a:r>
              <a:t>[Sources]</a:t>
            </a:r>
          </a:p>
          <a:p>
            <a:r>
              <a:t>- Study §§3.5–6</a:t>
            </a:r>
          </a:p>
          <a:p>
            <a:r>
              <a:t>- KD §§3.1–3.3; MVD pp. 8, 13, 42, 91; SB pp. 55, 75–76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orders in one view. Material units bear existence and show lawfulness through constitution- and result-conformance. Pranic units add growth and show regulation through seed-conformance. The animal order — an animal body joined with jeevan — adds the hope to live and shows balance through species-conformance. The knowledge order — the human — adds happiness, and here conformance is to sanskar: nothing fixes human conduct automatically, so law, regulation, and balance must be consciously understood and established. Note that animal and human bodies are themselves pranic; the animal and knowledge orders become manifest through association with jeevan.</a:t>
            </a:r>
          </a:p>
          <a:p/>
          <a:p>
            <a:r>
              <a:t>[Sources]</a:t>
            </a:r>
          </a:p>
          <a:p>
            <a:r>
              <a:t>- Study §§3.4–3.5</a:t>
            </a:r>
          </a:p>
          <a:p>
            <a:r>
              <a:t>- MVD pp. 50, 115; SB pp. 179, 231–236; JV p. 47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a structure, if a unit is an activity? The compound-versus-mixture contrast answers it. In a mixture nothing closes: each component keeps showing its own conduct. In a compound, complementary activities close a new motion-path — from then on there is one activity, with its own form, property, essential nature, and dharma, and the constituents keep running inside it under conditions the whole now sets. Three consequences repeat at every level: the closure is a genuinely new unit; its constituents persist; and when it disintegrates, nothing is annihilated, because there never was an extra substance — only a motion-path that no longer holds as one.</a:t>
            </a:r>
          </a:p>
          <a:p/>
          <a:p>
            <a:r>
              <a:t>[Sources]</a:t>
            </a:r>
          </a:p>
          <a:p>
            <a:r>
              <a:t>- Study §§4.2, 5.4</a:t>
            </a:r>
          </a:p>
          <a:p>
            <a:r>
              <a:t>- MVD p. 42; SB p. 260; KD §§3.1–3.2 pp. 56–60, §3.11 pp. 103–104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lines, never one ladder. On the compositional line, closures build upward: atoms into molecules, molecules into compounds and minerals, chemical activity into pranic cells, cells into plant, animal, and human bodies. Everything on this line remains of the order of what composes it. On the atomic line, one developing atom completes its own constitution and becomes jeevan — a change of kind, not a joining. The two lines meet when a body operates with a constitutionally complete jeevan: the animal and human joint forms. That is why the human is not a later animal composition, and why no amount of bodily complexity produces sentience by itself.</a:t>
            </a:r>
          </a:p>
          <a:p/>
          <a:p>
            <a:r>
              <a:t>[Sources]</a:t>
            </a:r>
          </a:p>
          <a:p>
            <a:r>
              <a:t>- Study §§4.3–4.4, 6</a:t>
            </a:r>
          </a:p>
          <a:p>
            <a:r>
              <a:t>- KD §§3.2–3.3 pp. 58–62; SB pp. 75–76; MVD pp. 8, 13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Constitutional completeness is the threshold between the insentient and the sentient. When a developing atom achieves complete particle balance, its hunger for particles drops to zero — irreversibly. It becomes free of the two structural bondages, molecular and weight, and its strength and power are described as inexhaustible: the immortality of result. In their place stands one new bondage — hope-bondage. Jeevan is not released into indifference: in the animal order that orientation is evidenced as the hope to live; in the human order the dharma-profile is happiness. This is a change in one atom, on its own line — not a composition, and never repeated or reversed.</a:t>
            </a:r>
          </a:p>
          <a:p/>
          <a:p>
            <a:r>
              <a:t>[Sources]</a:t>
            </a:r>
          </a:p>
          <a:p>
            <a:r>
              <a:t>- Study §§6–6.1</a:t>
            </a:r>
          </a:p>
          <a:p>
            <a:r>
              <a:t>- MVD pp. 77, 91; SB pp. 55, 61, 92, 144–145; KD §3.3 pp. 60–62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 and human orders are joint forms: a pranic body and a constitutionally complete jeevan in association. In the animal, jeevan expresses the hope to live through species-conformance — recognition, friendliness and opposition, tasting, selection — with no knowing-and-believing circuit. In the human, the developed body is a richer medium: sensitivity presents through the five senses, and cognisance — jeevan’s knowing-and-accepting capacity — can govern it. The crucial grammar: association, not fusion. Body stays pranic; jeevan stays jeevan. And the association persists in delusion and awakening alike — so a deluded person is not less of a joint form, and awakening does not create the association, it fulfils it.</a:t>
            </a:r>
          </a:p>
          <a:p/>
          <a:p>
            <a:r>
              <a:t>[Sources]</a:t>
            </a:r>
          </a:p>
          <a:p>
            <a:r>
              <a:t>- Study §§6.2–6.4, 7.2</a:t>
            </a:r>
          </a:p>
          <a:p>
            <a:r>
              <a:t>- SB pp. 55, 63–64; JV pp. 47–49, 59; KD §3.10 p. 102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does the most practical work in the study. Three different things get called ‘wholes’. A structural closure — molecule, cell, body — holds by configuration; nobody has to recognise anything. A joint association — an animal or a human — holds as a typed association of body and jeevan. A maintained relational order — a marriage, a family, a work process, an organisation — holds only through human recognition, value-fulfilment, regulation, and evaluation. Treating a family like a compound, or an institution like a being with its own jeevan, is a category mistake. And note the consoling side: your misrecognition does not erase an actual relationship — what fails is its just fulfilment, which can be corrected.</a:t>
            </a:r>
          </a:p>
          <a:p/>
          <a:p>
            <a:r>
              <a:t>[Sources]</a:t>
            </a:r>
          </a:p>
          <a:p>
            <a:r>
              <a:t>- Study §§3.6, 9.3, 11.1</a:t>
            </a:r>
          </a:p>
          <a:p>
            <a:r>
              <a:t>- MVD p. 42; JV pp. 97–98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Three goes inside. The human joint form carries the whole architecture of jeevan: five faculties, ten activities, and the vocabulary they work over. Here the darshan explains delusion — why sincere people err — and awakening: what study, direct recognition, enlightenment, and realisation actually change. Nothing new is added to jeevan by awakening; what changes is which activities are effective and from which direction they are governed.</a:t>
            </a:r>
          </a:p>
          <a:p/>
          <a:p>
            <a:r>
              <a:t>[Sources]</a:t>
            </a:r>
          </a:p>
          <a:p>
            <a:r>
              <a:t>- Study §§7–8</a:t>
            </a:r>
          </a:p>
          <a:p>
            <a:r>
              <a:t>- MVD pp. 66–67, 78, 126; JV pp. 73–74, 92–94; KD §3.6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Jeevan’s inner architecture. Five faculties, each with a paired activity: one borne in state as strength, one expressed in motion as power. Mun tastes and selects; vritti compares and analyses; chitta contemplates and images; buddhi is enlightened and resolves; atma realises and evidences. Notice the same state-and-motion grammar we met in the atom — jeevan is a unit, not an exception. In finer grain the texts enumerate sixty-one bal–shakti positions, one hundred and twenty-two named activities, distributed one, two, eight, eighteen, and thirty-two across the faculties: the vocabulary over which these ten work. The values we will meet later — trust, respect, happiness, peace — are named positions in that vocabulary.</a:t>
            </a:r>
          </a:p>
          <a:p/>
          <a:p>
            <a:r>
              <a:t>[Sources]</a:t>
            </a:r>
          </a:p>
          <a:p>
            <a:r>
              <a:t>- Study §7.3</a:t>
            </a:r>
          </a:p>
          <a:p>
            <a:r>
              <a:t>- KD §3.6 pp. 71–72; JV pp. 92–94; MVD pp. 78, 323, 328–348; AVD pp. 91–94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Delusion, bhram, is a precise diagnosis, not an insult. When jeevan identifies itself with the body, the upper activities remain unevidenced and comparison is organised from below. Of the ten activities, four and a half are then effective: selection, tasting, analysis, imaging, and half of comparison. The prevailing references become priya, hita, labh — the pleasant, the healthy, the profitable. Human dharma remains happiness even in delusion; what goes wrong is what is accepted as its fulfilment. And note the encouraging structure: the inventory of activities is intact. Awakening does not install new parts — it changes the direction from which tasting and selection are governed.</a:t>
            </a:r>
          </a:p>
          <a:p/>
          <a:p>
            <a:r>
              <a:t>[Sources]</a:t>
            </a:r>
          </a:p>
          <a:p>
            <a:r>
              <a:t>- Study §7.5</a:t>
            </a:r>
          </a:p>
          <a:p>
            <a:r>
              <a:t>- JV pp. 73–74; MVD pp. 58, 66–67, 78, 80–81; SB pp. 91–92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does delusion end? Through study that matures. The texts give the sequence: acceptance in mun, qualitative analysis in vritti, direct recognition — sakshatkar — in chitta, enlightenment — bodh — in buddhi, and then realisation — anubhav — in atma, whose object is truth as coexistence. Once realised, the same content projects outward: resolve, imaging, analysis, selection, conduct. This outward direction is higher-conformance — mun governed from the upper faculties, so tasting and selection become justice-natural, and cognisance governs sensitivity. Two cautions: these are functional dependencies, not a clocked pipeline; and nothing is automatic — study does not force sakshatkar, and dissatisfaction does not force inquiry.</a:t>
            </a:r>
          </a:p>
          <a:p/>
          <a:p>
            <a:r>
              <a:t>[Sources]</a:t>
            </a:r>
          </a:p>
          <a:p>
            <a:r>
              <a:t>- Study §§7.2–7.4, 8.4</a:t>
            </a:r>
          </a:p>
          <a:p>
            <a:r>
              <a:t>- MVD pp. 97–100, 126, 155–156, 208; JV p. 62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Knowledge — gyan — has three contents: coexistence, jeevan, and humane conduct. All three are enlightened together in buddhi; realisation in atma is of truth as coexistence; and humane conduct additionally demands practised evidence — it cannot stay verbal. The study insists on separating four achievements we usually blur: knowing, believing, recognising, and fulfilling. Each can fail independently. That is why a well-read person can still fail a relationship, and why recognition — not information — is the hinge of justice. Knowledge is never transmitted like a substance: teachers and texts present content, but unfolding happens in the learner’s own jeevan.</a:t>
            </a:r>
          </a:p>
          <a:p/>
          <a:p>
            <a:r>
              <a:t>[Sources]</a:t>
            </a:r>
          </a:p>
          <a:p>
            <a:r>
              <a:t>- Study §§7.1, 7.4, 7.6</a:t>
            </a:r>
          </a:p>
          <a:p>
            <a:r>
              <a:t>- MVD pp. 13, 260, 300; JV pp. 69–70; KD §3.17 pp. 145–148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Humane conduct is the third content of knowledge, and it has three limbs. Values are recognised and fulfilled in relationship — the texts organise them in five families: object values in things, jeevan values as inner harmonies, human values as essential nature, established values inherent in relationships, and civic values as their expression. Character is evidenced concretely: rightfully owned wealth, marital faithfulness, kindness in work and behaviour. Ethics directs body, mind, and wealth toward right-use, protection, and regeneration. The quoted sentence carries the practical weight: values can be tasted only when relationships are accepted and recognised. Without recognition, mun tastes the pleasant, the healthy, or the profitable instead — and calls it living.</a:t>
            </a:r>
          </a:p>
          <a:p/>
          <a:p>
            <a:r>
              <a:t>[Sources]</a:t>
            </a:r>
          </a:p>
          <a:p>
            <a:r>
              <a:t>- Study §§7.7, 10.3</a:t>
            </a:r>
          </a:p>
          <a:p>
            <a:r>
              <a:t>- JV pp. 54–55; MVD p. 305; KD pp. 63, 67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action is karma: activity together with aspiration — never bare motion. Its result is broader than a changed configuration: something changes inside, in the body, in the relationship, and in nature. A later activity of the same jeevan can take that consequence as its object — that is evaluation, and it is what links one act to the next. The study distils three recurring shapes. Deluded evaluation: the relationship is recognised, but the pleasant, healthy, or profitable decides, and the value goes unfulfilled. Missing recognition: sincere intention with no recognised relationship — here more effort does not help; study does. Fulfilled practice: recognition, karma with aspiration, tasted value, mutual satisfaction — sustained across contexts.</a:t>
            </a:r>
          </a:p>
          <a:p/>
          <a:p>
            <a:r>
              <a:t>[Sources]</a:t>
            </a:r>
          </a:p>
          <a:p>
            <a:r>
              <a:t>- Study §§8.1–8.5</a:t>
            </a:r>
          </a:p>
          <a:p>
            <a:r>
              <a:t>- KD pp. 1–3, 63, 65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Four puts the pieces back together. The four orders are one process, not four mechanisms — and the human addition is answerability, not a new engine. We will read the sixfold grammar — niyam, niyantran, santulan, nyaya, dharma, satya — as two coupled triads; place the four jeevan values as nested harmonies; define the two completenesses; and end where the darshan ends: evidence in relationship, work, and society.</a:t>
            </a:r>
          </a:p>
          <a:p/>
          <a:p>
            <a:r>
              <a:t>[Sources]</a:t>
            </a:r>
          </a:p>
          <a:p>
            <a:r>
              <a:t>- Study §§9–11</a:t>
            </a:r>
          </a:p>
          <a:p>
            <a:r>
              <a:t>- MVD pp. 32, 174; SB pp. 231–236; JV pp. 60–61, 97–98, 137–139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Seen whole, the model is one process in three layers. The ground is standing: saturation, order-relative responsiveness, and niyati-kram never take turns — they are always in force. Within every occurrence, actual mutuality and conformance make a relation available; the unit expresses one complete effort–motion–result; fulfilment evidences complementarity; mediative activity regulates; and the result joins the next situation. In the human joint form, a third layer opens: realised knowledge can govern the same occurrence through the faculties, and consequence returns as evidence. Two things — and only two — are new at the human threshold: recognition can fail, and essential nature can be refined.</a:t>
            </a:r>
          </a:p>
          <a:p/>
          <a:p>
            <a:r>
              <a:t>[Sources]</a:t>
            </a:r>
          </a:p>
          <a:p>
            <a:r>
              <a:t>- Study §§9.1–9.2</a:t>
            </a:r>
          </a:p>
          <a:p>
            <a:r>
              <a:t>- SB pp. 231–236; MVD pp. 48, 154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terms govern the whole account, and they come as two triads. Niyam, niyantran, santulan — lawfulness, regulation, balance — are manifest in nature: material activity distinctly shows law, pranic shows regulation, animal shows balance. Nyaya, dharma, satya — justice, dharma, truth — are human activities: justice regulates behaviour, dharma disciplines thought, and realisation takes place only through truth. The second triad is how humans understand and establish the first in work and arrangements. The pairings on the chips are diagnostic questions — does conduct follow the law of the relationship? does thought keep operation regulated? does the complete picture stay balanced in truth? — not assignments of ownership.</a:t>
            </a:r>
          </a:p>
          <a:p/>
          <a:p>
            <a:r>
              <a:t>[Sources]</a:t>
            </a:r>
          </a:p>
          <a:p>
            <a:r>
              <a:t>- Study §§7.3, 8.3, 11.2</a:t>
            </a:r>
          </a:p>
          <a:p>
            <a:r>
              <a:t>- MVD pp. 32, 137, 174; SB pp. 231–236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does the sought happiness actually live? The four jeevan values are harmonies between adjacent faculties. Happiness is harmony of mun with vritti — the texts define it simply as resolution. Peace is harmony of vritti with chitta; contentment of chitta with buddhi; bliss of buddhi with atma; and paramanand — ultimate bliss — is realisation in coexistence at atma. The ladder is nested, not cumulative: each harmony is borne in the outer faculty of its pair, conditioned on concurrence with the inner one. That is why sustained dissatisfaction is real evidence about the whole ladder — and why no object, purchase, or achievement can supply what only concurrence within jeevan establishes.</a:t>
            </a:r>
          </a:p>
          <a:p/>
          <a:p>
            <a:r>
              <a:t>[Sources]</a:t>
            </a:r>
          </a:p>
          <a:p>
            <a:r>
              <a:t>- Study §§10.1, 8.4</a:t>
            </a:r>
          </a:p>
          <a:p>
            <a:r>
              <a:t>- MVD pp. 100–101; JV pp. 137–138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destination has two names. Activity completeness — kriyapurnata — is the restfulness of effort: coexistence realised as truth in atma, the three contents of knowledge enlightened in buddhi, all ten activities effective, and the full nested harmony sustained. Understand restfulness carefully: it is resolution, not stillness — jeevan continues in effort, motion, and result like every unit; what has ceased is the unresolved striving that dissatisfaction sustained. Conduct completeness — acharanpurnata — is that same attainment made public: stable humane conduct, in values, character, and ethics, across the diversity of one’s relationships and work. Neither is certified by a single good act; practice across contexts is the test.</a:t>
            </a:r>
          </a:p>
          <a:p/>
          <a:p>
            <a:r>
              <a:t>[Sources]</a:t>
            </a:r>
          </a:p>
          <a:p>
            <a:r>
              <a:t>- Study §§10.2–10.3</a:t>
            </a:r>
          </a:p>
          <a:p>
            <a:r>
              <a:t>- MVD pp. 102–104; SB p. 58; KD p. 65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is orderliness verified in an actual arrangement — a family practice, a work process, an organisation? The study turns the sixfold grammar into six questions, each with its own evidence. Is the law of the activity — its rightful purpose and limits — correctly identified? Is operation actually regulated toward it, with feedback and correction? Are persons, functions, and nature mutually sustaining? Are relationships recognised and fulfilled to mutual satisfaction? Do purpose and participation sustain resolution? Does the complete account stand in truth? The six are not averaged: a just relationship can coexist with ecological imbalance, and a well-regulated process can pursue a wrong law. And no arrangement is a jeevan — only its participants understand and evaluate.</a:t>
            </a:r>
          </a:p>
          <a:p/>
          <a:p>
            <a:r>
              <a:t>[Sources]</a:t>
            </a:r>
          </a:p>
          <a:p>
            <a:r>
              <a:t>- Study §§8.3, 11.2</a:t>
            </a:r>
          </a:p>
          <a:p>
            <a:r>
              <a:t>- MVD pp. 287–288; JV pp. 97–98, 137–139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goals form one linked sequence: resolved individual, prosperous family, fearless society, universal coexistence. Resolution is lived as happiness; prosperity supports peace in the family; fearlessness supports contentment in society; and understanding is evidenced as bliss in participation. These four are the public face of the same order whose inner face is the nested jeevan values. The study is careful here: the chain is a stated direction of evidence, not a theorem — it does not pretend to derive society from individual traces. Each scale has to be maintained the way every relational order is maintained: recognition, value-fulfilment, regulated work, evaluation.</a:t>
            </a:r>
          </a:p>
          <a:p/>
          <a:p>
            <a:r>
              <a:t>[Sources]</a:t>
            </a:r>
          </a:p>
          <a:p>
            <a:r>
              <a:t>- Study §§11.3, 12.7</a:t>
            </a:r>
          </a:p>
          <a:p>
            <a:r>
              <a:t>- JV pp. 60–61; SB pp. 246–247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source-faithful reconstruction also says what it cannot show. Four limits matter most. There is no accepted physical identification of constitutional completeness — no instrument picks out the jeevan atom. The body–jeevan interface is stated functionally, not mechanistically. The whole account is qualitative: no common numerical scale spans strength, harmony, and value. And the social chain — individual to family to society — is a direction of evidence, not a derived theorem. Treat these as standing questions the tradition can work on honestly. Claiming more than the texts and evidence carry does not strengthen the darshan; it weakens the trust its evidence-first stance earns.</a:t>
            </a:r>
          </a:p>
          <a:p/>
          <a:p>
            <a:r>
              <a:t>[Sources]</a:t>
            </a:r>
          </a:p>
          <a:p>
            <a:r>
              <a:t>- Study §12 (open problems)</a:t>
            </a:r>
          </a:p>
          <a:p>
            <a:r>
              <a:t>- Study Appendix C (proposed criteria, kept separate)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in six steps. Actionless, state-complete satta coexists with saturated units. Every unit is one effort–motion–result, readable as form, property, essential nature, and dharma. In actual mutuality, recognition and fulfilment evidence complementarity, and mediative activity keeps balance — natural orderliness. Closures build molecules, cells, and bodies, while one atomic line yields jeevan, and their meeting manifests animal and human orders. At the human threshold, recognition and fulfilment become consciously answerable — and therefore failable. And realised knowledge, projected through the faculties, makes truth, dharma, and justice effective in thought, relationship, work, and maintained arrangements. Read the study for the full argument, the citations, and the open problems — at AnalyticMadhyasthDarshan.org.</a:t>
            </a:r>
          </a:p>
          <a:p/>
          <a:p>
            <a:r>
              <a:t>[Sources]</a:t>
            </a:r>
          </a:p>
          <a:p>
            <a:r>
              <a:t>- A State-Dynamic Model of Coexistence — Conclusion</a:t>
            </a:r>
          </a:p>
          <a:p>
            <a:r>
              <a:t>- MVD; SB; JV; KD — pages as cited on each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anchor="ctr" lIns="0" tIns="0" rIns="0" bIns="0">
            <a:spAutoFit/>
          </a:bodyPr>
          <a:lstStyle/>
          <a:p>
            <a:pPr algn="l"/>
            <a:r>
              <a:rPr sz="1200" b="1" i="0">
                <a:solidFill>
                  <a:srgbClr val="C9821E"/>
                </a:solidFill>
                <a:latin typeface="Calibri"/>
              </a:rPr>
              <a:t>MADHYASTH DARSHAN  ·  CO-EXISTENTIALISM</a:t>
            </a:r>
          </a:p>
        </p:txBody>
      </p:sp>
      <p:sp>
        <p:nvSpPr>
          <p:cNvPr id="12" name="TextBox 11"/>
          <p:cNvSpPr txBox="1"/>
          <p:nvPr/>
        </p:nvSpPr>
        <p:spPr>
          <a:xfrm>
            <a:off x="640080" y="1572768"/>
            <a:ext cx="5577840" cy="1371600"/>
          </a:xfrm>
          <a:prstGeom prst="rect">
            <a:avLst/>
          </a:prstGeom>
          <a:noFill/>
        </p:spPr>
        <p:txBody>
          <a:bodyPr wrap="square" anchor="ctr" lIns="0" tIns="0" rIns="0" bIns="0">
            <a:spAutoFit/>
          </a:bodyPr>
          <a:lstStyle/>
          <a:p>
            <a:pPr algn="l"/>
            <a:r>
              <a:rPr sz="4400" b="1" i="0">
                <a:solidFill>
                  <a:srgbClr val="FFFFFF"/>
                </a:solidFill>
                <a:latin typeface="Cambria"/>
              </a:rPr>
              <a:t>From Unit Activity to Human Orderliness</a:t>
            </a:r>
          </a:p>
        </p:txBody>
      </p:sp>
      <p:sp>
        <p:nvSpPr>
          <p:cNvPr id="13" name="TextBox 12"/>
          <p:cNvSpPr txBox="1"/>
          <p:nvPr/>
        </p:nvSpPr>
        <p:spPr>
          <a:xfrm>
            <a:off x="640080" y="3035808"/>
            <a:ext cx="4846320" cy="822960"/>
          </a:xfrm>
          <a:prstGeom prst="rect">
            <a:avLst/>
          </a:prstGeom>
          <a:noFill/>
        </p:spPr>
        <p:txBody>
          <a:bodyPr wrap="square" anchor="ctr" lIns="0" tIns="0" rIns="0" bIns="0">
            <a:spAutoFit/>
          </a:bodyPr>
          <a:lstStyle/>
          <a:p>
            <a:pPr algn="l"/>
            <a:r>
              <a:rPr sz="1500" b="0" i="1">
                <a:solidFill>
                  <a:srgbClr val="C9D4EF"/>
                </a:solidFill>
                <a:latin typeface="Calibri"/>
              </a:rPr>
              <a:t>One process of coexistence — from the saturated atom to humane conduct and undivided society</a:t>
            </a:r>
          </a:p>
        </p:txBody>
      </p:sp>
      <p:sp>
        <p:nvSpPr>
          <p:cNvPr id="14" name="TextBox 13"/>
          <p:cNvSpPr txBox="1"/>
          <p:nvPr/>
        </p:nvSpPr>
        <p:spPr>
          <a:xfrm>
            <a:off x="640080" y="4160520"/>
            <a:ext cx="5303520" cy="274320"/>
          </a:xfrm>
          <a:prstGeom prst="rect">
            <a:avLst/>
          </a:prstGeom>
          <a:noFill/>
        </p:spPr>
        <p:txBody>
          <a:bodyPr wrap="square" anchor="ctr" lIns="0" tIns="0" rIns="0" bIns="0">
            <a:spAutoFit/>
          </a:bodyPr>
          <a:lstStyle/>
          <a:p>
            <a:pPr algn="l"/>
            <a:r>
              <a:rPr sz="1150" b="0" i="0">
                <a:solidFill>
                  <a:srgbClr val="8E9BC4"/>
                </a:solidFill>
                <a:latin typeface="Calibri"/>
              </a:rPr>
              <a:t>Based on the study at AnalyticMadhyasthDarshan.org</a:t>
            </a:r>
          </a:p>
        </p:txBody>
      </p:sp>
      <p:sp>
        <p:nvSpPr>
          <p:cNvPr id="15" name="TextBox 14"/>
          <p:cNvSpPr txBox="1"/>
          <p:nvPr/>
        </p:nvSpPr>
        <p:spPr>
          <a:xfrm>
            <a:off x="640080" y="4434840"/>
            <a:ext cx="5303520" cy="274320"/>
          </a:xfrm>
          <a:prstGeom prst="rect">
            <a:avLst/>
          </a:prstGeom>
          <a:noFill/>
        </p:spPr>
        <p:txBody>
          <a:bodyPr wrap="square" anchor="ctr" lIns="0" tIns="0" rIns="0" bIns="0">
            <a:spAutoFit/>
          </a:bodyPr>
          <a:lstStyle/>
          <a:p>
            <a:pPr algn="l"/>
            <a:r>
              <a:rPr sz="1150" b="0" i="0">
                <a:solidFill>
                  <a:srgbClr val="8E9BC4"/>
                </a:solidFill>
                <a:latin typeface="Calibri"/>
              </a:rPr>
              <a:t>Primary texts of Shri A. Nagraj — MVD · SB · JV · KD  ·  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FRAMING</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One Story, Told in Order</a:t>
            </a:r>
          </a:p>
        </p:txBody>
      </p:sp>
      <p:sp>
        <p:nvSpPr>
          <p:cNvPr id="7" name="Oval 6"/>
          <p:cNvSpPr/>
          <p:nvPr/>
        </p:nvSpPr>
        <p:spPr>
          <a:xfrm>
            <a:off x="640080" y="125730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57300"/>
            <a:ext cx="365760" cy="365760"/>
          </a:xfrm>
          <a:prstGeom prst="rect">
            <a:avLst/>
          </a:prstGeom>
          <a:noFill/>
        </p:spPr>
        <p:txBody>
          <a:bodyPr wrap="square" anchor="ctr" lIns="0" tIns="0" rIns="0" bIns="0">
            <a:spAutoFit/>
          </a:bodyPr>
          <a:lstStyle/>
          <a:p>
            <a:pPr algn="ctr"/>
            <a:r>
              <a:rPr sz="1300" b="1" i="0">
                <a:solidFill>
                  <a:srgbClr val="FFFFFF"/>
                </a:solidFill>
                <a:latin typeface="Calibri"/>
              </a:rPr>
              <a:t>1</a:t>
            </a:r>
          </a:p>
        </p:txBody>
      </p:sp>
      <p:sp>
        <p:nvSpPr>
          <p:cNvPr id="9" name="TextBox 8"/>
          <p:cNvSpPr txBox="1"/>
          <p:nvPr/>
        </p:nvSpPr>
        <p:spPr>
          <a:xfrm>
            <a:off x="1188720" y="1188720"/>
            <a:ext cx="7406640" cy="502920"/>
          </a:xfrm>
          <a:prstGeom prst="rect">
            <a:avLst/>
          </a:prstGeom>
          <a:noFill/>
        </p:spPr>
        <p:txBody>
          <a:bodyPr wrap="square" anchor="ctr" lIns="0" tIns="0" rIns="0" bIns="0">
            <a:spAutoFit/>
          </a:bodyPr>
          <a:lstStyle/>
          <a:p>
            <a:pPr algn="l"/>
            <a:r>
              <a:rPr sz="1300" b="1" i="0">
                <a:solidFill>
                  <a:srgbClr val="1E2447"/>
                </a:solidFill>
                <a:latin typeface="Calibri"/>
              </a:rPr>
              <a:t>Why is every unit active without being pushed?</a:t>
            </a:r>
            <a:r>
              <a:rPr sz="1300" b="0" i="0">
                <a:solidFill>
                  <a:srgbClr val="5A6377"/>
                </a:solidFill>
                <a:latin typeface="Calibri"/>
              </a:rPr>
              <a:t>  —  saturation in Omnipresence (satta)</a:t>
            </a:r>
          </a:p>
        </p:txBody>
      </p:sp>
      <p:sp>
        <p:nvSpPr>
          <p:cNvPr id="10" name="Oval 9"/>
          <p:cNvSpPr/>
          <p:nvPr/>
        </p:nvSpPr>
        <p:spPr>
          <a:xfrm>
            <a:off x="640080" y="1824228"/>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24228"/>
            <a:ext cx="365760" cy="365760"/>
          </a:xfrm>
          <a:prstGeom prst="rect">
            <a:avLst/>
          </a:prstGeom>
          <a:noFill/>
        </p:spPr>
        <p:txBody>
          <a:bodyPr wrap="square" anchor="ctr" lIns="0" tIns="0" rIns="0" bIns="0">
            <a:spAutoFit/>
          </a:bodyPr>
          <a:lstStyle/>
          <a:p>
            <a:pPr algn="ctr"/>
            <a:r>
              <a:rPr sz="1300" b="1" i="0">
                <a:solidFill>
                  <a:srgbClr val="FFFFFF"/>
                </a:solidFill>
                <a:latin typeface="Calibri"/>
              </a:rPr>
              <a:t>2</a:t>
            </a:r>
          </a:p>
        </p:txBody>
      </p:sp>
      <p:sp>
        <p:nvSpPr>
          <p:cNvPr id="12" name="TextBox 11"/>
          <p:cNvSpPr txBox="1"/>
          <p:nvPr/>
        </p:nvSpPr>
        <p:spPr>
          <a:xfrm>
            <a:off x="1188720" y="1755648"/>
            <a:ext cx="7406640" cy="502920"/>
          </a:xfrm>
          <a:prstGeom prst="rect">
            <a:avLst/>
          </a:prstGeom>
          <a:noFill/>
        </p:spPr>
        <p:txBody>
          <a:bodyPr wrap="square" anchor="ctr" lIns="0" tIns="0" rIns="0" bIns="0">
            <a:spAutoFit/>
          </a:bodyPr>
          <a:lstStyle/>
          <a:p>
            <a:pPr algn="l"/>
            <a:r>
              <a:rPr sz="1300" b="1" i="0">
                <a:solidFill>
                  <a:srgbClr val="1E2447"/>
                </a:solidFill>
                <a:latin typeface="Calibri"/>
              </a:rPr>
              <a:t>What holds a molecule, a cell, a body together?</a:t>
            </a:r>
            <a:r>
              <a:rPr sz="1300" b="0" i="0">
                <a:solidFill>
                  <a:srgbClr val="5A6377"/>
                </a:solidFill>
                <a:latin typeface="Calibri"/>
              </a:rPr>
              <a:t>  —  closure: many activities running as one</a:t>
            </a:r>
          </a:p>
        </p:txBody>
      </p:sp>
      <p:sp>
        <p:nvSpPr>
          <p:cNvPr id="13" name="Oval 12"/>
          <p:cNvSpPr/>
          <p:nvPr/>
        </p:nvSpPr>
        <p:spPr>
          <a:xfrm>
            <a:off x="640080" y="2391156"/>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91156"/>
            <a:ext cx="365760" cy="365760"/>
          </a:xfrm>
          <a:prstGeom prst="rect">
            <a:avLst/>
          </a:prstGeom>
          <a:noFill/>
        </p:spPr>
        <p:txBody>
          <a:bodyPr wrap="square" anchor="ctr" lIns="0" tIns="0" rIns="0" bIns="0">
            <a:spAutoFit/>
          </a:bodyPr>
          <a:lstStyle/>
          <a:p>
            <a:pPr algn="ctr"/>
            <a:r>
              <a:rPr sz="1300" b="1" i="0">
                <a:solidFill>
                  <a:srgbClr val="FFFFFF"/>
                </a:solidFill>
                <a:latin typeface="Calibri"/>
              </a:rPr>
              <a:t>3</a:t>
            </a:r>
          </a:p>
        </p:txBody>
      </p:sp>
      <p:sp>
        <p:nvSpPr>
          <p:cNvPr id="15" name="TextBox 14"/>
          <p:cNvSpPr txBox="1"/>
          <p:nvPr/>
        </p:nvSpPr>
        <p:spPr>
          <a:xfrm>
            <a:off x="1188720" y="2322576"/>
            <a:ext cx="7406640" cy="502920"/>
          </a:xfrm>
          <a:prstGeom prst="rect">
            <a:avLst/>
          </a:prstGeom>
          <a:noFill/>
        </p:spPr>
        <p:txBody>
          <a:bodyPr wrap="square" anchor="ctr" lIns="0" tIns="0" rIns="0" bIns="0">
            <a:spAutoFit/>
          </a:bodyPr>
          <a:lstStyle/>
          <a:p>
            <a:pPr algn="l"/>
            <a:r>
              <a:rPr sz="1300" b="1" i="0">
                <a:solidFill>
                  <a:srgbClr val="1E2447"/>
                </a:solidFill>
                <a:latin typeface="Calibri"/>
              </a:rPr>
              <a:t>What changes for ever in one developing atom?</a:t>
            </a:r>
            <a:r>
              <a:rPr sz="1300" b="0" i="0">
                <a:solidFill>
                  <a:srgbClr val="5A6377"/>
                </a:solidFill>
                <a:latin typeface="Calibri"/>
              </a:rPr>
              <a:t>  —  constitutional completeness: jeevan</a:t>
            </a:r>
          </a:p>
        </p:txBody>
      </p:sp>
      <p:sp>
        <p:nvSpPr>
          <p:cNvPr id="16" name="Oval 15"/>
          <p:cNvSpPr/>
          <p:nvPr/>
        </p:nvSpPr>
        <p:spPr>
          <a:xfrm>
            <a:off x="640080" y="2958084"/>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958084"/>
            <a:ext cx="365760" cy="365760"/>
          </a:xfrm>
          <a:prstGeom prst="rect">
            <a:avLst/>
          </a:prstGeom>
          <a:noFill/>
        </p:spPr>
        <p:txBody>
          <a:bodyPr wrap="square" anchor="ctr" lIns="0" tIns="0" rIns="0" bIns="0">
            <a:spAutoFit/>
          </a:bodyPr>
          <a:lstStyle/>
          <a:p>
            <a:pPr algn="ctr"/>
            <a:r>
              <a:rPr sz="1300" b="1" i="0">
                <a:solidFill>
                  <a:srgbClr val="FFFFFF"/>
                </a:solidFill>
                <a:latin typeface="Calibri"/>
              </a:rPr>
              <a:t>4</a:t>
            </a:r>
          </a:p>
        </p:txBody>
      </p:sp>
      <p:sp>
        <p:nvSpPr>
          <p:cNvPr id="18" name="TextBox 17"/>
          <p:cNvSpPr txBox="1"/>
          <p:nvPr/>
        </p:nvSpPr>
        <p:spPr>
          <a:xfrm>
            <a:off x="1188720" y="2889504"/>
            <a:ext cx="7406640" cy="502920"/>
          </a:xfrm>
          <a:prstGeom prst="rect">
            <a:avLst/>
          </a:prstGeom>
          <a:noFill/>
        </p:spPr>
        <p:txBody>
          <a:bodyPr wrap="square" anchor="ctr" lIns="0" tIns="0" rIns="0" bIns="0">
            <a:spAutoFit/>
          </a:bodyPr>
          <a:lstStyle/>
          <a:p>
            <a:pPr algn="l"/>
            <a:r>
              <a:rPr sz="1300" b="1" i="0">
                <a:solidFill>
                  <a:srgbClr val="1E2447"/>
                </a:solidFill>
                <a:latin typeface="Calibri"/>
              </a:rPr>
              <a:t>How do body and jeevan act as one being?</a:t>
            </a:r>
            <a:r>
              <a:rPr sz="1300" b="0" i="0">
                <a:solidFill>
                  <a:srgbClr val="5A6377"/>
                </a:solidFill>
                <a:latin typeface="Calibri"/>
              </a:rPr>
              <a:t>  —  the joint form: association, not fusion</a:t>
            </a:r>
          </a:p>
        </p:txBody>
      </p:sp>
      <p:sp>
        <p:nvSpPr>
          <p:cNvPr id="19" name="Oval 18"/>
          <p:cNvSpPr/>
          <p:nvPr/>
        </p:nvSpPr>
        <p:spPr>
          <a:xfrm>
            <a:off x="640080" y="3525012"/>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525012"/>
            <a:ext cx="365760" cy="365760"/>
          </a:xfrm>
          <a:prstGeom prst="rect">
            <a:avLst/>
          </a:prstGeom>
          <a:noFill/>
        </p:spPr>
        <p:txBody>
          <a:bodyPr wrap="square" anchor="ctr" lIns="0" tIns="0" rIns="0" bIns="0">
            <a:spAutoFit/>
          </a:bodyPr>
          <a:lstStyle/>
          <a:p>
            <a:pPr algn="ctr"/>
            <a:r>
              <a:rPr sz="1300" b="1" i="0">
                <a:solidFill>
                  <a:srgbClr val="FFFFFF"/>
                </a:solidFill>
                <a:latin typeface="Calibri"/>
              </a:rPr>
              <a:t>5</a:t>
            </a:r>
          </a:p>
        </p:txBody>
      </p:sp>
      <p:sp>
        <p:nvSpPr>
          <p:cNvPr id="21" name="TextBox 20"/>
          <p:cNvSpPr txBox="1"/>
          <p:nvPr/>
        </p:nvSpPr>
        <p:spPr>
          <a:xfrm>
            <a:off x="1188720" y="3456432"/>
            <a:ext cx="7406640" cy="502920"/>
          </a:xfrm>
          <a:prstGeom prst="rect">
            <a:avLst/>
          </a:prstGeom>
          <a:noFill/>
        </p:spPr>
        <p:txBody>
          <a:bodyPr wrap="square" anchor="ctr" lIns="0" tIns="0" rIns="0" bIns="0">
            <a:spAutoFit/>
          </a:bodyPr>
          <a:lstStyle/>
          <a:p>
            <a:pPr algn="l"/>
            <a:r>
              <a:rPr sz="1300" b="1" i="0">
                <a:solidFill>
                  <a:srgbClr val="1E2447"/>
                </a:solidFill>
                <a:latin typeface="Calibri"/>
              </a:rPr>
              <a:t>What must humans do that nature does not do for them?</a:t>
            </a:r>
            <a:r>
              <a:rPr sz="1300" b="0" i="0">
                <a:solidFill>
                  <a:srgbClr val="5A6377"/>
                </a:solidFill>
                <a:latin typeface="Calibri"/>
              </a:rPr>
              <a:t>  —  understand and establish order</a:t>
            </a:r>
          </a:p>
        </p:txBody>
      </p:sp>
      <p:sp>
        <p:nvSpPr>
          <p:cNvPr id="22" name="Oval 21"/>
          <p:cNvSpPr/>
          <p:nvPr/>
        </p:nvSpPr>
        <p:spPr>
          <a:xfrm>
            <a:off x="640080" y="409194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091940"/>
            <a:ext cx="365760" cy="365760"/>
          </a:xfrm>
          <a:prstGeom prst="rect">
            <a:avLst/>
          </a:prstGeom>
          <a:noFill/>
        </p:spPr>
        <p:txBody>
          <a:bodyPr wrap="square" anchor="ctr" lIns="0" tIns="0" rIns="0" bIns="0">
            <a:spAutoFit/>
          </a:bodyPr>
          <a:lstStyle/>
          <a:p>
            <a:pPr algn="ctr"/>
            <a:r>
              <a:rPr sz="1300" b="1" i="0">
                <a:solidFill>
                  <a:srgbClr val="FFFFFF"/>
                </a:solidFill>
                <a:latin typeface="Calibri"/>
              </a:rPr>
              <a:t>6</a:t>
            </a:r>
          </a:p>
        </p:txBody>
      </p:sp>
      <p:sp>
        <p:nvSpPr>
          <p:cNvPr id="24" name="TextBox 23"/>
          <p:cNvSpPr txBox="1"/>
          <p:nvPr/>
        </p:nvSpPr>
        <p:spPr>
          <a:xfrm>
            <a:off x="1188720" y="4023360"/>
            <a:ext cx="7406640" cy="502920"/>
          </a:xfrm>
          <a:prstGeom prst="rect">
            <a:avLst/>
          </a:prstGeom>
          <a:noFill/>
        </p:spPr>
        <p:txBody>
          <a:bodyPr wrap="square" anchor="ctr" lIns="0" tIns="0" rIns="0" bIns="0">
            <a:spAutoFit/>
          </a:bodyPr>
          <a:lstStyle/>
          <a:p>
            <a:pPr algn="l"/>
            <a:r>
              <a:rPr sz="1300" b="1" i="0">
                <a:solidFill>
                  <a:srgbClr val="1E2447"/>
                </a:solidFill>
                <a:latin typeface="Calibri"/>
              </a:rPr>
              <a:t>How is understanding tested?</a:t>
            </a:r>
            <a:r>
              <a:rPr sz="1300" b="0" i="0">
                <a:solidFill>
                  <a:srgbClr val="5A6377"/>
                </a:solidFill>
                <a:latin typeface="Calibri"/>
              </a:rPr>
              <a:t>  —  in relationship, work, and society</a:t>
            </a:r>
          </a:p>
        </p:txBody>
      </p:sp>
      <p:sp>
        <p:nvSpPr>
          <p:cNvPr id="25" name="TextBox 24"/>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The study’s main line, without its formal notation  ·  AnalyticMadhyasthDarshan.org  ·  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anchor="ctr" lIns="0" tIns="0" rIns="0" bIns="0">
            <a:spAutoFit/>
          </a:bodyPr>
          <a:lstStyle/>
          <a:p>
            <a:pPr algn="l"/>
            <a:r>
              <a:rPr sz="1200" b="1" i="0">
                <a:solidFill>
                  <a:srgbClr val="C9821E"/>
                </a:solidFill>
                <a:latin typeface="Calibri"/>
              </a:rPr>
              <a:t>MOVEMENT ONE  ·  STUDY §§1–3</a:t>
            </a:r>
          </a:p>
        </p:txBody>
      </p:sp>
      <p:sp>
        <p:nvSpPr>
          <p:cNvPr id="12" name="TextBox 11"/>
          <p:cNvSpPr txBox="1"/>
          <p:nvPr/>
        </p:nvSpPr>
        <p:spPr>
          <a:xfrm>
            <a:off x="640080" y="1572768"/>
            <a:ext cx="5577840" cy="1371600"/>
          </a:xfrm>
          <a:prstGeom prst="rect">
            <a:avLst/>
          </a:prstGeom>
          <a:noFill/>
        </p:spPr>
        <p:txBody>
          <a:bodyPr wrap="square" anchor="ctr" lIns="0" tIns="0" rIns="0" bIns="0">
            <a:spAutoFit/>
          </a:bodyPr>
          <a:lstStyle/>
          <a:p>
            <a:pPr algn="l"/>
            <a:r>
              <a:rPr sz="4400" b="1" i="0">
                <a:solidFill>
                  <a:srgbClr val="FFFFFF"/>
                </a:solidFill>
                <a:latin typeface="Cambria"/>
              </a:rPr>
              <a:t>The Ground: Saturated Units</a:t>
            </a:r>
          </a:p>
        </p:txBody>
      </p:sp>
      <p:sp>
        <p:nvSpPr>
          <p:cNvPr id="13" name="TextBox 12"/>
          <p:cNvSpPr txBox="1"/>
          <p:nvPr/>
        </p:nvSpPr>
        <p:spPr>
          <a:xfrm>
            <a:off x="640080" y="2926080"/>
            <a:ext cx="4846320" cy="960120"/>
          </a:xfrm>
          <a:prstGeom prst="rect">
            <a:avLst/>
          </a:prstGeom>
          <a:noFill/>
        </p:spPr>
        <p:txBody>
          <a:bodyPr wrap="square" anchor="ctr" lIns="0" tIns="0" rIns="0" bIns="0">
            <a:spAutoFit/>
          </a:bodyPr>
          <a:lstStyle/>
          <a:p>
            <a:pPr algn="l"/>
            <a:r>
              <a:rPr sz="1500" b="0" i="1">
                <a:solidFill>
                  <a:srgbClr val="C9D4EF"/>
                </a:solidFill>
                <a:latin typeface="Calibri"/>
              </a:rPr>
              <a:t>Nothing in existence has to be started. Every unit is soaked in Omnipresence and is already one complete activity.</a:t>
            </a:r>
          </a:p>
        </p:txBody>
      </p:sp>
      <p:sp>
        <p:nvSpPr>
          <p:cNvPr id="14" name="TextBox 13"/>
          <p:cNvSpPr txBox="1"/>
          <p:nvPr/>
        </p:nvSpPr>
        <p:spPr>
          <a:xfrm>
            <a:off x="640080" y="416052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Answers  ·  Why is everything active?  ·  What is a unit?</a:t>
            </a:r>
          </a:p>
        </p:txBody>
      </p:sp>
      <p:sp>
        <p:nvSpPr>
          <p:cNvPr id="15" name="TextBox 14"/>
          <p:cNvSpPr txBox="1"/>
          <p:nvPr/>
        </p:nvSpPr>
        <p:spPr>
          <a:xfrm>
            <a:off x="640080" y="443484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AnalyticMadhyasthDarshan.org  ·  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ONE  ·  COEXISTENCE</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Two Inseparable Presences</a:t>
            </a:r>
          </a:p>
        </p:txBody>
      </p:sp>
      <p:sp>
        <p:nvSpPr>
          <p:cNvPr id="7" name="TextBox 6"/>
          <p:cNvSpPr txBox="1"/>
          <p:nvPr/>
        </p:nvSpPr>
        <p:spPr>
          <a:xfrm>
            <a:off x="640080" y="1207008"/>
            <a:ext cx="7955279" cy="502920"/>
          </a:xfrm>
          <a:prstGeom prst="rect">
            <a:avLst/>
          </a:prstGeom>
          <a:noFill/>
        </p:spPr>
        <p:txBody>
          <a:bodyPr wrap="square" anchor="ctr" lIns="0" tIns="0" rIns="0" bIns="0">
            <a:spAutoFit/>
          </a:bodyPr>
          <a:lstStyle/>
          <a:p>
            <a:pPr algn="l"/>
            <a:r>
              <a:rPr sz="1250" b="0" i="0">
                <a:solidFill>
                  <a:srgbClr val="5A6377"/>
                </a:solidFill>
                <a:latin typeface="Calibri"/>
              </a:rPr>
              <a:t>Existence is coexistence (saha-astitva): Omnipresence and countlessly many active units — never apart, never merging.</a:t>
            </a:r>
          </a:p>
        </p:txBody>
      </p:sp>
      <p:sp>
        <p:nvSpPr>
          <p:cNvPr id="8" name="Rectangle 7"/>
          <p:cNvSpPr/>
          <p:nvPr/>
        </p:nvSpPr>
        <p:spPr>
          <a:xfrm>
            <a:off x="640080" y="182880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947672"/>
            <a:ext cx="3392424" cy="292608"/>
          </a:xfrm>
          <a:prstGeom prst="rect">
            <a:avLst/>
          </a:prstGeom>
          <a:noFill/>
        </p:spPr>
        <p:txBody>
          <a:bodyPr wrap="square" anchor="ctr" lIns="0" tIns="0" rIns="0" bIns="0">
            <a:spAutoFit/>
          </a:bodyPr>
          <a:lstStyle/>
          <a:p>
            <a:pPr algn="l"/>
            <a:r>
              <a:rPr sz="1250" b="1" i="0">
                <a:solidFill>
                  <a:srgbClr val="1E2447"/>
                </a:solidFill>
                <a:latin typeface="Cambria"/>
              </a:rPr>
              <a:t>Omnipresence (satta) — state-complete</a:t>
            </a:r>
          </a:p>
        </p:txBody>
      </p:sp>
      <p:sp>
        <p:nvSpPr>
          <p:cNvPr id="10" name="TextBox 9"/>
          <p:cNvSpPr txBox="1"/>
          <p:nvPr/>
        </p:nvSpPr>
        <p:spPr>
          <a:xfrm>
            <a:off x="841247" y="2285999"/>
            <a:ext cx="3392424" cy="704087"/>
          </a:xfrm>
          <a:prstGeom prst="rect">
            <a:avLst/>
          </a:prstGeom>
          <a:noFill/>
        </p:spPr>
        <p:txBody>
          <a:bodyPr wrap="square" anchor="t" lIns="0" tIns="0" rIns="0" bIns="0">
            <a:spAutoFit/>
          </a:bodyPr>
          <a:lstStyle/>
          <a:p>
            <a:pPr algn="l"/>
            <a:r>
              <a:rPr sz="1050" b="0" i="0">
                <a:solidFill>
                  <a:srgbClr val="5A6377"/>
                </a:solidFill>
                <a:latin typeface="Calibri"/>
              </a:rPr>
              <a:t>Unbounded, everywhere uniform, actionless: free of motion, pressure, and change. Also named Knowledge and Space.</a:t>
            </a:r>
          </a:p>
        </p:txBody>
      </p:sp>
      <p:sp>
        <p:nvSpPr>
          <p:cNvPr id="11" name="Rectangle 10"/>
          <p:cNvSpPr/>
          <p:nvPr/>
        </p:nvSpPr>
        <p:spPr>
          <a:xfrm>
            <a:off x="4709160" y="182880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10328" y="1947672"/>
            <a:ext cx="3392424" cy="292608"/>
          </a:xfrm>
          <a:prstGeom prst="rect">
            <a:avLst/>
          </a:prstGeom>
          <a:noFill/>
        </p:spPr>
        <p:txBody>
          <a:bodyPr wrap="square" anchor="ctr" lIns="0" tIns="0" rIns="0" bIns="0">
            <a:spAutoFit/>
          </a:bodyPr>
          <a:lstStyle/>
          <a:p>
            <a:pPr algn="l"/>
            <a:r>
              <a:rPr sz="1250" b="1" i="0">
                <a:solidFill>
                  <a:srgbClr val="1E2447"/>
                </a:solidFill>
                <a:latin typeface="Cambria"/>
              </a:rPr>
              <a:t>Nature — state-dynamic</a:t>
            </a:r>
          </a:p>
        </p:txBody>
      </p:sp>
      <p:sp>
        <p:nvSpPr>
          <p:cNvPr id="13" name="TextBox 12"/>
          <p:cNvSpPr txBox="1"/>
          <p:nvPr/>
        </p:nvSpPr>
        <p:spPr>
          <a:xfrm>
            <a:off x="4910328" y="2285999"/>
            <a:ext cx="3392424" cy="704087"/>
          </a:xfrm>
          <a:prstGeom prst="rect">
            <a:avLst/>
          </a:prstGeom>
          <a:noFill/>
        </p:spPr>
        <p:txBody>
          <a:bodyPr wrap="square" anchor="t" lIns="0" tIns="0" rIns="0" bIns="0">
            <a:spAutoFit/>
          </a:bodyPr>
          <a:lstStyle/>
          <a:p>
            <a:pPr algn="l"/>
            <a:r>
              <a:rPr sz="1050" b="0" i="0">
                <a:solidFill>
                  <a:srgbClr val="5A6377"/>
                </a:solidFill>
                <a:latin typeface="Calibri"/>
              </a:rPr>
              <a:t>Countlessly many bounded units (ikai), each inseparably present in state and motion within the state-complete.</a:t>
            </a:r>
          </a:p>
        </p:txBody>
      </p:sp>
      <p:sp>
        <p:nvSpPr>
          <p:cNvPr id="14" name="Rectangle 13"/>
          <p:cNvSpPr/>
          <p:nvPr/>
        </p:nvSpPr>
        <p:spPr>
          <a:xfrm>
            <a:off x="640080" y="324612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7" y="3364991"/>
            <a:ext cx="3392424" cy="292608"/>
          </a:xfrm>
          <a:prstGeom prst="rect">
            <a:avLst/>
          </a:prstGeom>
          <a:noFill/>
        </p:spPr>
        <p:txBody>
          <a:bodyPr wrap="square" anchor="ctr" lIns="0" tIns="0" rIns="0" bIns="0">
            <a:spAutoFit/>
          </a:bodyPr>
          <a:lstStyle/>
          <a:p>
            <a:pPr algn="l"/>
            <a:r>
              <a:rPr sz="1250" b="1" i="0">
                <a:solidFill>
                  <a:srgbClr val="1E2447"/>
                </a:solidFill>
                <a:latin typeface="Cambria"/>
              </a:rPr>
              <a:t>Saturation (samprikt)</a:t>
            </a:r>
          </a:p>
        </p:txBody>
      </p:sp>
      <p:sp>
        <p:nvSpPr>
          <p:cNvPr id="16" name="TextBox 15"/>
          <p:cNvSpPr txBox="1"/>
          <p:nvPr/>
        </p:nvSpPr>
        <p:spPr>
          <a:xfrm>
            <a:off x="841247" y="3703320"/>
            <a:ext cx="3392424" cy="704087"/>
          </a:xfrm>
          <a:prstGeom prst="rect">
            <a:avLst/>
          </a:prstGeom>
          <a:noFill/>
        </p:spPr>
        <p:txBody>
          <a:bodyPr wrap="square" anchor="t" lIns="0" tIns="0" rIns="0" bIns="0">
            <a:spAutoFit/>
          </a:bodyPr>
          <a:lstStyle/>
          <a:p>
            <a:pPr algn="l"/>
            <a:r>
              <a:rPr sz="1050" b="0" i="0">
                <a:solidFill>
                  <a:srgbClr val="5A6377"/>
                </a:solidFill>
                <a:latin typeface="Calibri"/>
              </a:rPr>
              <a:t>Every unit is soaked, submerged, and surrounded in satta — therefore energised, forceful, and perpetually active.</a:t>
            </a:r>
          </a:p>
        </p:txBody>
      </p:sp>
      <p:sp>
        <p:nvSpPr>
          <p:cNvPr id="17" name="Rectangle 16"/>
          <p:cNvSpPr/>
          <p:nvPr/>
        </p:nvSpPr>
        <p:spPr>
          <a:xfrm>
            <a:off x="4709160" y="324612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10328" y="3364991"/>
            <a:ext cx="3392424" cy="292608"/>
          </a:xfrm>
          <a:prstGeom prst="rect">
            <a:avLst/>
          </a:prstGeom>
          <a:noFill/>
        </p:spPr>
        <p:txBody>
          <a:bodyPr wrap="square" anchor="ctr" lIns="0" tIns="0" rIns="0" bIns="0">
            <a:spAutoFit/>
          </a:bodyPr>
          <a:lstStyle/>
          <a:p>
            <a:pPr algn="l"/>
            <a:r>
              <a:rPr sz="1250" b="1" i="0">
                <a:solidFill>
                  <a:srgbClr val="1E2447"/>
                </a:solidFill>
                <a:latin typeface="Cambria"/>
              </a:rPr>
              <a:t>No push, no transfer</a:t>
            </a:r>
          </a:p>
        </p:txBody>
      </p:sp>
      <p:sp>
        <p:nvSpPr>
          <p:cNvPr id="19" name="TextBox 18"/>
          <p:cNvSpPr txBox="1"/>
          <p:nvPr/>
        </p:nvSpPr>
        <p:spPr>
          <a:xfrm>
            <a:off x="4910328" y="3703320"/>
            <a:ext cx="3392424" cy="704087"/>
          </a:xfrm>
          <a:prstGeom prst="rect">
            <a:avLst/>
          </a:prstGeom>
          <a:noFill/>
        </p:spPr>
        <p:txBody>
          <a:bodyPr wrap="square" anchor="t" lIns="0" tIns="0" rIns="0" bIns="0">
            <a:spAutoFit/>
          </a:bodyPr>
          <a:lstStyle/>
          <a:p>
            <a:pPr algn="l"/>
            <a:r>
              <a:rPr sz="1050" b="0" i="0">
                <a:solidFill>
                  <a:srgbClr val="5A6377"/>
                </a:solidFill>
                <a:latin typeface="Calibri"/>
              </a:rPr>
              <a:t>Satta does not act on units. The strength at work in any change belongs to the saturated unit itself.</a:t>
            </a:r>
          </a:p>
        </p:txBody>
      </p:sp>
      <p:sp>
        <p:nvSpPr>
          <p:cNvPr id="20" name="TextBox 19"/>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26, 34–46  ·  SB pp. 48–57  ·  JV p. 149  ·  AnalyticMadhyasthDarshan.org  ·  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ONE  ·  EFFORT–MOTION–RESULT</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A Unit Is One Activity</a:t>
            </a:r>
          </a:p>
        </p:txBody>
      </p:sp>
      <p:sp>
        <p:nvSpPr>
          <p:cNvPr id="7" name="TextBox 6"/>
          <p:cNvSpPr txBox="1"/>
          <p:nvPr/>
        </p:nvSpPr>
        <p:spPr>
          <a:xfrm>
            <a:off x="640080" y="1207008"/>
            <a:ext cx="7955279" cy="502920"/>
          </a:xfrm>
          <a:prstGeom prst="rect">
            <a:avLst/>
          </a:prstGeom>
          <a:noFill/>
        </p:spPr>
        <p:txBody>
          <a:bodyPr wrap="square" anchor="ctr" lIns="0" tIns="0" rIns="0" bIns="0">
            <a:spAutoFit/>
          </a:bodyPr>
          <a:lstStyle/>
          <a:p>
            <a:pPr algn="l"/>
            <a:r>
              <a:rPr sz="1250" b="0" i="0">
                <a:solidFill>
                  <a:srgbClr val="5A6377"/>
                </a:solidFill>
                <a:latin typeface="Calibri"/>
              </a:rPr>
              <a:t>A unit is not a thing that also happens to act. It is a bounded activity that persists — an atom, a molecule, a cell, a body.</a:t>
            </a:r>
          </a:p>
        </p:txBody>
      </p:sp>
      <p:sp>
        <p:nvSpPr>
          <p:cNvPr id="8" name="Rectangle 7"/>
          <p:cNvSpPr/>
          <p:nvPr/>
        </p:nvSpPr>
        <p:spPr>
          <a:xfrm>
            <a:off x="640080" y="1920240"/>
            <a:ext cx="2331720" cy="5486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920240"/>
            <a:ext cx="2331720" cy="548640"/>
          </a:xfrm>
          <a:prstGeom prst="rect">
            <a:avLst/>
          </a:prstGeom>
          <a:noFill/>
        </p:spPr>
        <p:txBody>
          <a:bodyPr wrap="square" anchor="ctr" lIns="0" tIns="0" rIns="0" bIns="0">
            <a:spAutoFit/>
          </a:bodyPr>
          <a:lstStyle/>
          <a:p>
            <a:pPr algn="ctr"/>
            <a:r>
              <a:rPr sz="1150" b="1" i="0">
                <a:solidFill>
                  <a:srgbClr val="FFFFFF"/>
                </a:solidFill>
                <a:latin typeface="Calibri"/>
              </a:rPr>
              <a:t>Effort (shram) — strength in state</a:t>
            </a:r>
          </a:p>
        </p:txBody>
      </p:sp>
      <p:sp>
        <p:nvSpPr>
          <p:cNvPr id="10" name="TextBox 9"/>
          <p:cNvSpPr txBox="1"/>
          <p:nvPr/>
        </p:nvSpPr>
        <p:spPr>
          <a:xfrm>
            <a:off x="2971800" y="1920240"/>
            <a:ext cx="320040" cy="54864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1" name="Rectangle 10"/>
          <p:cNvSpPr/>
          <p:nvPr/>
        </p:nvSpPr>
        <p:spPr>
          <a:xfrm>
            <a:off x="3291840" y="1920240"/>
            <a:ext cx="2331720" cy="5486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1920240"/>
            <a:ext cx="2331720" cy="548640"/>
          </a:xfrm>
          <a:prstGeom prst="rect">
            <a:avLst/>
          </a:prstGeom>
          <a:noFill/>
        </p:spPr>
        <p:txBody>
          <a:bodyPr wrap="square" anchor="ctr" lIns="0" tIns="0" rIns="0" bIns="0">
            <a:spAutoFit/>
          </a:bodyPr>
          <a:lstStyle/>
          <a:p>
            <a:pPr algn="ctr"/>
            <a:r>
              <a:rPr sz="1150" b="1" i="0">
                <a:solidFill>
                  <a:srgbClr val="FFFFFF"/>
                </a:solidFill>
                <a:latin typeface="Calibri"/>
              </a:rPr>
              <a:t>Motion (gati) — power operating</a:t>
            </a:r>
          </a:p>
        </p:txBody>
      </p:sp>
      <p:sp>
        <p:nvSpPr>
          <p:cNvPr id="13" name="TextBox 12"/>
          <p:cNvSpPr txBox="1"/>
          <p:nvPr/>
        </p:nvSpPr>
        <p:spPr>
          <a:xfrm>
            <a:off x="5623560" y="1920240"/>
            <a:ext cx="320040" cy="54864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4" name="Rectangle 13"/>
          <p:cNvSpPr/>
          <p:nvPr/>
        </p:nvSpPr>
        <p:spPr>
          <a:xfrm>
            <a:off x="5943600" y="1920240"/>
            <a:ext cx="2331720" cy="5486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0" y="1920240"/>
            <a:ext cx="2331720" cy="548640"/>
          </a:xfrm>
          <a:prstGeom prst="rect">
            <a:avLst/>
          </a:prstGeom>
          <a:noFill/>
        </p:spPr>
        <p:txBody>
          <a:bodyPr wrap="square" anchor="ctr" lIns="0" tIns="0" rIns="0" bIns="0">
            <a:spAutoFit/>
          </a:bodyPr>
          <a:lstStyle/>
          <a:p>
            <a:pPr algn="ctr"/>
            <a:r>
              <a:rPr sz="1150" b="1" i="0">
                <a:solidFill>
                  <a:srgbClr val="FFFFFF"/>
                </a:solidFill>
                <a:latin typeface="Calibri"/>
              </a:rPr>
              <a:t>Result (parinam) — realised form</a:t>
            </a:r>
          </a:p>
        </p:txBody>
      </p:sp>
      <p:sp>
        <p:nvSpPr>
          <p:cNvPr id="16" name="TextBox 15"/>
          <p:cNvSpPr txBox="1"/>
          <p:nvPr/>
        </p:nvSpPr>
        <p:spPr>
          <a:xfrm>
            <a:off x="640080" y="2651760"/>
            <a:ext cx="7955279" cy="274320"/>
          </a:xfrm>
          <a:prstGeom prst="rect">
            <a:avLst/>
          </a:prstGeom>
          <a:noFill/>
        </p:spPr>
        <p:txBody>
          <a:bodyPr wrap="square" anchor="ctr" lIns="0" tIns="0" rIns="0" bIns="0">
            <a:spAutoFit/>
          </a:bodyPr>
          <a:lstStyle/>
          <a:p>
            <a:pPr algn="l"/>
            <a:r>
              <a:rPr sz="1150" b="0" i="1">
                <a:solidFill>
                  <a:srgbClr val="5A6377"/>
                </a:solidFill>
                <a:latin typeface="Calibri"/>
              </a:rPr>
              <a:t>The three are co-present aspects of one activity — not three stages with pauses between them.</a:t>
            </a:r>
          </a:p>
        </p:txBody>
      </p:sp>
      <p:sp>
        <p:nvSpPr>
          <p:cNvPr id="17" name="Rectangle 16"/>
          <p:cNvSpPr/>
          <p:nvPr/>
        </p:nvSpPr>
        <p:spPr>
          <a:xfrm>
            <a:off x="640080" y="3108960"/>
            <a:ext cx="7863840" cy="6400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08960"/>
            <a:ext cx="7406640" cy="640080"/>
          </a:xfrm>
          <a:prstGeom prst="rect">
            <a:avLst/>
          </a:prstGeom>
          <a:noFill/>
        </p:spPr>
        <p:txBody>
          <a:bodyPr wrap="square" anchor="ctr" lIns="0" tIns="0" rIns="0" bIns="0">
            <a:spAutoFit/>
          </a:bodyPr>
          <a:lstStyle/>
          <a:p>
            <a:pPr algn="l"/>
            <a:r>
              <a:rPr sz="1080" b="0" i="1">
                <a:solidFill>
                  <a:srgbClr val="5A6377"/>
                </a:solidFill>
                <a:latin typeface="Calibri"/>
              </a:rPr>
              <a:t>“Every physical-chemical activity is an inseparable presence of effort, motion and result.”  — SB, p. 58</a:t>
            </a:r>
          </a:p>
        </p:txBody>
      </p:sp>
      <p:sp>
        <p:nvSpPr>
          <p:cNvPr id="19" name="TextBox 18"/>
          <p:cNvSpPr txBox="1"/>
          <p:nvPr/>
        </p:nvSpPr>
        <p:spPr>
          <a:xfrm>
            <a:off x="640080" y="3931920"/>
            <a:ext cx="7955279" cy="502920"/>
          </a:xfrm>
          <a:prstGeom prst="rect">
            <a:avLst/>
          </a:prstGeom>
          <a:noFill/>
        </p:spPr>
        <p:txBody>
          <a:bodyPr wrap="square" anchor="ctr" lIns="0" tIns="0" rIns="0" bIns="0">
            <a:spAutoFit/>
          </a:bodyPr>
          <a:lstStyle/>
          <a:p>
            <a:pPr algn="l"/>
            <a:r>
              <a:rPr sz="1150" b="0" i="1">
                <a:solidFill>
                  <a:srgbClr val="5A6377"/>
                </a:solidFill>
                <a:latin typeface="Calibri"/>
              </a:rPr>
              <a:t>No leftover carrier underneath: once effort, motion, and result are named, nothing remains to be moved. The result of one occurrence is already the state of the next.</a:t>
            </a:r>
          </a:p>
        </p:txBody>
      </p:sp>
      <p:sp>
        <p:nvSpPr>
          <p:cNvPr id="20" name="TextBox 19"/>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SB pp. 58–62  ·  KD §§3.8, 3.11  ·  AnalyticMadhyasthDarshan.org  ·  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ONE  ·  ROOP · GUNA · SVABHAV · DHARMA</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The Same Activity, Read Two Ways</a:t>
            </a:r>
          </a:p>
        </p:txBody>
      </p:sp>
      <p:sp>
        <p:nvSpPr>
          <p:cNvPr id="7" name="Rectangle 6"/>
          <p:cNvSpPr/>
          <p:nvPr/>
        </p:nvSpPr>
        <p:spPr>
          <a:xfrm>
            <a:off x="640080" y="1234440"/>
            <a:ext cx="3794760" cy="1207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53312"/>
            <a:ext cx="3392424" cy="292608"/>
          </a:xfrm>
          <a:prstGeom prst="rect">
            <a:avLst/>
          </a:prstGeom>
          <a:noFill/>
        </p:spPr>
        <p:txBody>
          <a:bodyPr wrap="square" anchor="ctr" lIns="0" tIns="0" rIns="0" bIns="0">
            <a:spAutoFit/>
          </a:bodyPr>
          <a:lstStyle/>
          <a:p>
            <a:pPr algn="l"/>
            <a:r>
              <a:rPr sz="1250" b="1" i="0">
                <a:solidFill>
                  <a:srgbClr val="1E2447"/>
                </a:solidFill>
                <a:latin typeface="Cambria"/>
              </a:rPr>
              <a:t>Form (roop)</a:t>
            </a:r>
          </a:p>
        </p:txBody>
      </p:sp>
      <p:sp>
        <p:nvSpPr>
          <p:cNvPr id="9" name="TextBox 8"/>
          <p:cNvSpPr txBox="1"/>
          <p:nvPr/>
        </p:nvSpPr>
        <p:spPr>
          <a:xfrm>
            <a:off x="841247" y="1691640"/>
            <a:ext cx="3392424" cy="630936"/>
          </a:xfrm>
          <a:prstGeom prst="rect">
            <a:avLst/>
          </a:prstGeom>
          <a:noFill/>
        </p:spPr>
        <p:txBody>
          <a:bodyPr wrap="square" anchor="t" lIns="0" tIns="0" rIns="0" bIns="0">
            <a:spAutoFit/>
          </a:bodyPr>
          <a:lstStyle/>
          <a:p>
            <a:pPr algn="l"/>
            <a:r>
              <a:rPr sz="1050" b="0" i="0">
                <a:solidFill>
                  <a:srgbClr val="5A6377"/>
                </a:solidFill>
                <a:latin typeface="Calibri"/>
              </a:rPr>
              <a:t>The bounded configuration — shape, volume, density. The result side of the activity, reflected and met in mutuality.</a:t>
            </a:r>
          </a:p>
        </p:txBody>
      </p:sp>
      <p:sp>
        <p:nvSpPr>
          <p:cNvPr id="10" name="Rectangle 9"/>
          <p:cNvSpPr/>
          <p:nvPr/>
        </p:nvSpPr>
        <p:spPr>
          <a:xfrm>
            <a:off x="4709160" y="1234440"/>
            <a:ext cx="3794760" cy="1207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53312"/>
            <a:ext cx="3392424" cy="292608"/>
          </a:xfrm>
          <a:prstGeom prst="rect">
            <a:avLst/>
          </a:prstGeom>
          <a:noFill/>
        </p:spPr>
        <p:txBody>
          <a:bodyPr wrap="square" anchor="ctr" lIns="0" tIns="0" rIns="0" bIns="0">
            <a:spAutoFit/>
          </a:bodyPr>
          <a:lstStyle/>
          <a:p>
            <a:pPr algn="l"/>
            <a:r>
              <a:rPr sz="1250" b="1" i="0">
                <a:solidFill>
                  <a:srgbClr val="1E2447"/>
                </a:solidFill>
                <a:latin typeface="Cambria"/>
              </a:rPr>
              <a:t>Property (guna)</a:t>
            </a:r>
          </a:p>
        </p:txBody>
      </p:sp>
      <p:sp>
        <p:nvSpPr>
          <p:cNvPr id="12" name="TextBox 11"/>
          <p:cNvSpPr txBox="1"/>
          <p:nvPr/>
        </p:nvSpPr>
        <p:spPr>
          <a:xfrm>
            <a:off x="4910328" y="1691640"/>
            <a:ext cx="3392424" cy="630936"/>
          </a:xfrm>
          <a:prstGeom prst="rect">
            <a:avLst/>
          </a:prstGeom>
          <a:noFill/>
        </p:spPr>
        <p:txBody>
          <a:bodyPr wrap="square" anchor="t" lIns="0" tIns="0" rIns="0" bIns="0">
            <a:spAutoFit/>
          </a:bodyPr>
          <a:lstStyle/>
          <a:p>
            <a:pPr algn="l"/>
            <a:r>
              <a:rPr sz="1050" b="0" i="0">
                <a:solidFill>
                  <a:srgbClr val="5A6377"/>
                </a:solidFill>
                <a:latin typeface="Calibri"/>
              </a:rPr>
              <a:t>Relative power evident in mutuality — generative (sam), degenerative (visam), and mediative (madhyastha) tendencies.</a:t>
            </a:r>
          </a:p>
        </p:txBody>
      </p:sp>
      <p:sp>
        <p:nvSpPr>
          <p:cNvPr id="13" name="Rectangle 12"/>
          <p:cNvSpPr/>
          <p:nvPr/>
        </p:nvSpPr>
        <p:spPr>
          <a:xfrm>
            <a:off x="640080" y="2578608"/>
            <a:ext cx="3794760" cy="1207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2697479"/>
            <a:ext cx="3392424" cy="292608"/>
          </a:xfrm>
          <a:prstGeom prst="rect">
            <a:avLst/>
          </a:prstGeom>
          <a:noFill/>
        </p:spPr>
        <p:txBody>
          <a:bodyPr wrap="square" anchor="ctr" lIns="0" tIns="0" rIns="0" bIns="0">
            <a:spAutoFit/>
          </a:bodyPr>
          <a:lstStyle/>
          <a:p>
            <a:pPr algn="l"/>
            <a:r>
              <a:rPr sz="1250" b="1" i="0">
                <a:solidFill>
                  <a:srgbClr val="1E2447"/>
                </a:solidFill>
                <a:latin typeface="Cambria"/>
              </a:rPr>
              <a:t>Essential nature (svabhav)</a:t>
            </a:r>
          </a:p>
        </p:txBody>
      </p:sp>
      <p:sp>
        <p:nvSpPr>
          <p:cNvPr id="15" name="TextBox 14"/>
          <p:cNvSpPr txBox="1"/>
          <p:nvPr/>
        </p:nvSpPr>
        <p:spPr>
          <a:xfrm>
            <a:off x="841247" y="3035807"/>
            <a:ext cx="3392424" cy="630936"/>
          </a:xfrm>
          <a:prstGeom prst="rect">
            <a:avLst/>
          </a:prstGeom>
          <a:noFill/>
        </p:spPr>
        <p:txBody>
          <a:bodyPr wrap="square" anchor="t" lIns="0" tIns="0" rIns="0" bIns="0">
            <a:spAutoFit/>
          </a:bodyPr>
          <a:lstStyle/>
          <a:p>
            <a:pPr algn="l"/>
            <a:r>
              <a:rPr sz="1050" b="0" i="0">
                <a:solidFill>
                  <a:srgbClr val="5A6377"/>
                </a:solidFill>
                <a:latin typeface="Calibri"/>
              </a:rPr>
              <a:t>The order-specific way strength and power function — integrating, vitalising, cruel or non-cruel, humane or opposing.</a:t>
            </a:r>
          </a:p>
        </p:txBody>
      </p:sp>
      <p:sp>
        <p:nvSpPr>
          <p:cNvPr id="16" name="Rectangle 15"/>
          <p:cNvSpPr/>
          <p:nvPr/>
        </p:nvSpPr>
        <p:spPr>
          <a:xfrm>
            <a:off x="4709160" y="2578608"/>
            <a:ext cx="3794760" cy="1207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10328" y="2697479"/>
            <a:ext cx="3392424" cy="292608"/>
          </a:xfrm>
          <a:prstGeom prst="rect">
            <a:avLst/>
          </a:prstGeom>
          <a:noFill/>
        </p:spPr>
        <p:txBody>
          <a:bodyPr wrap="square" anchor="ctr" lIns="0" tIns="0" rIns="0" bIns="0">
            <a:spAutoFit/>
          </a:bodyPr>
          <a:lstStyle/>
          <a:p>
            <a:pPr algn="l"/>
            <a:r>
              <a:rPr sz="1250" b="1" i="0">
                <a:solidFill>
                  <a:srgbClr val="1E2447"/>
                </a:solidFill>
                <a:latin typeface="Cambria"/>
              </a:rPr>
              <a:t>Dharma</a:t>
            </a:r>
          </a:p>
        </p:txBody>
      </p:sp>
      <p:sp>
        <p:nvSpPr>
          <p:cNvPr id="18" name="TextBox 17"/>
          <p:cNvSpPr txBox="1"/>
          <p:nvPr/>
        </p:nvSpPr>
        <p:spPr>
          <a:xfrm>
            <a:off x="4910328" y="3035807"/>
            <a:ext cx="3392424" cy="630936"/>
          </a:xfrm>
          <a:prstGeom prst="rect">
            <a:avLst/>
          </a:prstGeom>
          <a:noFill/>
        </p:spPr>
        <p:txBody>
          <a:bodyPr wrap="square" anchor="t" lIns="0" tIns="0" rIns="0" bIns="0">
            <a:spAutoFit/>
          </a:bodyPr>
          <a:lstStyle/>
          <a:p>
            <a:pPr algn="l"/>
            <a:r>
              <a:rPr sz="1050" b="0" i="0">
                <a:solidFill>
                  <a:srgbClr val="5A6377"/>
                </a:solidFill>
                <a:latin typeface="Calibri"/>
              </a:rPr>
              <a:t>Innateness (dharana): what cannot be separated from a unit of that order — what its fulfilment means. Not an added force.</a:t>
            </a:r>
          </a:p>
        </p:txBody>
      </p:sp>
      <p:sp>
        <p:nvSpPr>
          <p:cNvPr id="19" name="Rectangle 18"/>
          <p:cNvSpPr/>
          <p:nvPr/>
        </p:nvSpPr>
        <p:spPr>
          <a:xfrm>
            <a:off x="640080" y="3931920"/>
            <a:ext cx="7863840" cy="68580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931920"/>
            <a:ext cx="7406640" cy="685800"/>
          </a:xfrm>
          <a:prstGeom prst="rect">
            <a:avLst/>
          </a:prstGeom>
          <a:noFill/>
        </p:spPr>
        <p:txBody>
          <a:bodyPr wrap="square" anchor="ctr" lIns="0" tIns="0" rIns="0" bIns="0">
            <a:spAutoFit/>
          </a:bodyPr>
          <a:lstStyle/>
          <a:p>
            <a:pPr algn="l"/>
            <a:r>
              <a:rPr sz="1080" b="0" i="0">
                <a:solidFill>
                  <a:srgbClr val="5A6377"/>
                </a:solidFill>
                <a:latin typeface="Calibri"/>
              </a:rPr>
              <a:t>Effort is borne as dharma–svabhav, motion as svabhav–guna, result as roop (SB pp. 60–62). The triad says how the activity runs; the tetrad says what it is an activity of.</a:t>
            </a:r>
          </a:p>
        </p:txBody>
      </p:sp>
      <p:sp>
        <p:nvSpPr>
          <p:cNvPr id="21" name="TextBox 20"/>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 47  ·  SB pp. 60–62  ·  KD §§3.9–3.10  ·  AnalyticMadhyasthDarshan.org  ·  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ONE  ·  MUTUALITY AND BALANCE</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Nothing Acts Alone</a:t>
            </a:r>
          </a:p>
        </p:txBody>
      </p:sp>
      <p:sp>
        <p:nvSpPr>
          <p:cNvPr id="7" name="Oval 6"/>
          <p:cNvSpPr/>
          <p:nvPr/>
        </p:nvSpPr>
        <p:spPr>
          <a:xfrm>
            <a:off x="640080" y="1348739"/>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1280160"/>
            <a:ext cx="7406640" cy="502920"/>
          </a:xfrm>
          <a:prstGeom prst="rect">
            <a:avLst/>
          </a:prstGeom>
          <a:noFill/>
        </p:spPr>
        <p:txBody>
          <a:bodyPr wrap="square" anchor="ctr" lIns="0" tIns="0" rIns="0" bIns="0">
            <a:spAutoFit/>
          </a:bodyPr>
          <a:lstStyle/>
          <a:p>
            <a:pPr algn="l"/>
            <a:r>
              <a:rPr sz="1300" b="1" i="0">
                <a:solidFill>
                  <a:srgbClr val="1E2447"/>
                </a:solidFill>
                <a:latin typeface="Calibri"/>
              </a:rPr>
              <a:t>Recognising and fulfilling are inherent in every entity of nature</a:t>
            </a:r>
            <a:r>
              <a:rPr sz="1300" b="0" i="0">
                <a:solidFill>
                  <a:srgbClr val="5A6377"/>
                </a:solidFill>
                <a:latin typeface="Calibri"/>
              </a:rPr>
              <a:t>  —  even an atomic particle</a:t>
            </a:r>
          </a:p>
        </p:txBody>
      </p:sp>
      <p:sp>
        <p:nvSpPr>
          <p:cNvPr id="9" name="Oval 8"/>
          <p:cNvSpPr/>
          <p:nvPr/>
        </p:nvSpPr>
        <p:spPr>
          <a:xfrm>
            <a:off x="640080" y="1970532"/>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1901952"/>
            <a:ext cx="7406640" cy="502920"/>
          </a:xfrm>
          <a:prstGeom prst="rect">
            <a:avLst/>
          </a:prstGeom>
          <a:noFill/>
        </p:spPr>
        <p:txBody>
          <a:bodyPr wrap="square" anchor="ctr" lIns="0" tIns="0" rIns="0" bIns="0">
            <a:spAutoFit/>
          </a:bodyPr>
          <a:lstStyle/>
          <a:p>
            <a:pPr algn="l"/>
            <a:r>
              <a:rPr sz="1300" b="1" i="0">
                <a:solidFill>
                  <a:srgbClr val="1E2447"/>
                </a:solidFill>
                <a:latin typeface="Calibri"/>
              </a:rPr>
              <a:t>Complementarity is evidenced in offering, acceptance, and fulfilment</a:t>
            </a:r>
            <a:r>
              <a:rPr sz="1300" b="0" i="0">
                <a:solidFill>
                  <a:srgbClr val="5A6377"/>
                </a:solidFill>
                <a:latin typeface="Calibri"/>
              </a:rPr>
              <a:t>  —  not in conflict</a:t>
            </a:r>
          </a:p>
        </p:txBody>
      </p:sp>
      <p:sp>
        <p:nvSpPr>
          <p:cNvPr id="11" name="Oval 10"/>
          <p:cNvSpPr/>
          <p:nvPr/>
        </p:nvSpPr>
        <p:spPr>
          <a:xfrm>
            <a:off x="640080" y="2592324"/>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2523744"/>
            <a:ext cx="7406640" cy="502920"/>
          </a:xfrm>
          <a:prstGeom prst="rect">
            <a:avLst/>
          </a:prstGeom>
          <a:noFill/>
        </p:spPr>
        <p:txBody>
          <a:bodyPr wrap="square" anchor="ctr" lIns="0" tIns="0" rIns="0" bIns="0">
            <a:spAutoFit/>
          </a:bodyPr>
          <a:lstStyle/>
          <a:p>
            <a:pPr algn="l"/>
            <a:r>
              <a:rPr sz="1300" b="1" i="0">
                <a:solidFill>
                  <a:srgbClr val="1E2447"/>
                </a:solidFill>
                <a:latin typeface="Calibri"/>
              </a:rPr>
              <a:t>Mediative activity regulates the generative and the degenerative</a:t>
            </a:r>
            <a:r>
              <a:rPr sz="1300" b="0" i="0">
                <a:solidFill>
                  <a:srgbClr val="5A6377"/>
                </a:solidFill>
                <a:latin typeface="Calibri"/>
              </a:rPr>
              <a:t>  —  and maintains balance</a:t>
            </a:r>
          </a:p>
        </p:txBody>
      </p:sp>
      <p:sp>
        <p:nvSpPr>
          <p:cNvPr id="13" name="Oval 12"/>
          <p:cNvSpPr/>
          <p:nvPr/>
        </p:nvSpPr>
        <p:spPr>
          <a:xfrm>
            <a:off x="640080" y="3214116"/>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3145536"/>
            <a:ext cx="7406640" cy="502920"/>
          </a:xfrm>
          <a:prstGeom prst="rect">
            <a:avLst/>
          </a:prstGeom>
          <a:noFill/>
        </p:spPr>
        <p:txBody>
          <a:bodyPr wrap="square" anchor="ctr" lIns="0" tIns="0" rIns="0" bIns="0">
            <a:spAutoFit/>
          </a:bodyPr>
          <a:lstStyle/>
          <a:p>
            <a:pPr algn="l"/>
            <a:r>
              <a:rPr sz="1300" b="1" i="0">
                <a:solidFill>
                  <a:srgbClr val="1E2447"/>
                </a:solidFill>
                <a:latin typeface="Calibri"/>
              </a:rPr>
              <a:t>Each realised result is written into the situation neighbours face next</a:t>
            </a:r>
            <a:r>
              <a:rPr sz="1300" b="0" i="0">
                <a:solidFill>
                  <a:srgbClr val="5A6377"/>
                </a:solidFill>
                <a:latin typeface="Calibri"/>
              </a:rPr>
              <a:t>  —  a running loop</a:t>
            </a:r>
          </a:p>
        </p:txBody>
      </p:sp>
      <p:sp>
        <p:nvSpPr>
          <p:cNvPr id="15" name="Oval 14"/>
          <p:cNvSpPr/>
          <p:nvPr/>
        </p:nvSpPr>
        <p:spPr>
          <a:xfrm>
            <a:off x="640080" y="3835908"/>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3767328"/>
            <a:ext cx="7406640" cy="502920"/>
          </a:xfrm>
          <a:prstGeom prst="rect">
            <a:avLst/>
          </a:prstGeom>
          <a:noFill/>
        </p:spPr>
        <p:txBody>
          <a:bodyPr wrap="square" anchor="ctr" lIns="0" tIns="0" rIns="0" bIns="0">
            <a:spAutoFit/>
          </a:bodyPr>
          <a:lstStyle/>
          <a:p>
            <a:pPr algn="l"/>
            <a:r>
              <a:rPr sz="1300" b="1" i="0">
                <a:solidFill>
                  <a:srgbClr val="1E2447"/>
                </a:solidFill>
                <a:latin typeface="Calibri"/>
              </a:rPr>
              <a:t>Law, regulation, and balance are grounded here</a:t>
            </a:r>
            <a:r>
              <a:rPr sz="1300" b="0" i="0">
                <a:solidFill>
                  <a:srgbClr val="5A6377"/>
                </a:solidFill>
                <a:latin typeface="Calibri"/>
              </a:rPr>
              <a:t>  —  niyam–niyantran–santulan, not decrees</a:t>
            </a:r>
          </a:p>
        </p:txBody>
      </p:sp>
      <p:sp>
        <p:nvSpPr>
          <p:cNvPr id="17" name="Rectangle 16"/>
          <p:cNvSpPr/>
          <p:nvPr/>
        </p:nvSpPr>
        <p:spPr>
          <a:xfrm>
            <a:off x="640080" y="4434840"/>
            <a:ext cx="7863840" cy="3200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434840"/>
            <a:ext cx="7406640" cy="320040"/>
          </a:xfrm>
          <a:prstGeom prst="rect">
            <a:avLst/>
          </a:prstGeom>
          <a:noFill/>
        </p:spPr>
        <p:txBody>
          <a:bodyPr wrap="square" anchor="ctr" lIns="0" tIns="0" rIns="0" bIns="0">
            <a:spAutoFit/>
          </a:bodyPr>
          <a:lstStyle/>
          <a:p>
            <a:pPr algn="l"/>
            <a:r>
              <a:rPr sz="1050" b="0" i="0">
                <a:solidFill>
                  <a:srgbClr val="5A6377"/>
                </a:solidFill>
                <a:latin typeface="Calibri"/>
              </a:rPr>
              <a:t>Satta stays actionless throughout: saturated units themselves recognise, fulfil, regulate, and balance in mutuality.</a:t>
            </a:r>
          </a:p>
        </p:txBody>
      </p:sp>
      <p:sp>
        <p:nvSpPr>
          <p:cNvPr id="19" name="TextBox 18"/>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JV pp. 69–70  ·  SB pp. 143–144, 249–251  ·  MVD pp. 25–26, 48  ·  AnalyticMadhyasthDarshan.org  ·  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anchor="ctr" lIns="0" tIns="0" rIns="0" bIns="0">
            <a:spAutoFit/>
          </a:bodyPr>
          <a:lstStyle/>
          <a:p>
            <a:pPr algn="l"/>
            <a:r>
              <a:rPr sz="1200" b="1" i="0">
                <a:solidFill>
                  <a:srgbClr val="C9821E"/>
                </a:solidFill>
                <a:latin typeface="Calibri"/>
              </a:rPr>
              <a:t>MOVEMENT TWO  ·  STUDY §§3.5–6</a:t>
            </a:r>
          </a:p>
        </p:txBody>
      </p:sp>
      <p:sp>
        <p:nvSpPr>
          <p:cNvPr id="12" name="TextBox 11"/>
          <p:cNvSpPr txBox="1"/>
          <p:nvPr/>
        </p:nvSpPr>
        <p:spPr>
          <a:xfrm>
            <a:off x="640080" y="1572768"/>
            <a:ext cx="5577840" cy="1371600"/>
          </a:xfrm>
          <a:prstGeom prst="rect">
            <a:avLst/>
          </a:prstGeom>
          <a:noFill/>
        </p:spPr>
        <p:txBody>
          <a:bodyPr wrap="square" anchor="ctr" lIns="0" tIns="0" rIns="0" bIns="0">
            <a:spAutoFit/>
          </a:bodyPr>
          <a:lstStyle/>
          <a:p>
            <a:pPr algn="l"/>
            <a:r>
              <a:rPr sz="4400" b="1" i="0">
                <a:solidFill>
                  <a:srgbClr val="FFFFFF"/>
                </a:solidFill>
                <a:latin typeface="Cambria"/>
              </a:rPr>
              <a:t>Four Orders, Two Lines</a:t>
            </a:r>
          </a:p>
        </p:txBody>
      </p:sp>
      <p:sp>
        <p:nvSpPr>
          <p:cNvPr id="13" name="TextBox 12"/>
          <p:cNvSpPr txBox="1"/>
          <p:nvPr/>
        </p:nvSpPr>
        <p:spPr>
          <a:xfrm>
            <a:off x="640080" y="2926080"/>
            <a:ext cx="4846320" cy="960120"/>
          </a:xfrm>
          <a:prstGeom prst="rect">
            <a:avLst/>
          </a:prstGeom>
          <a:noFill/>
        </p:spPr>
        <p:txBody>
          <a:bodyPr wrap="square" anchor="ctr" lIns="0" tIns="0" rIns="0" bIns="0">
            <a:spAutoFit/>
          </a:bodyPr>
          <a:lstStyle/>
          <a:p>
            <a:pPr algn="l"/>
            <a:r>
              <a:rPr sz="1500" b="0" i="1">
                <a:solidFill>
                  <a:srgbClr val="C9D4EF"/>
                </a:solidFill>
                <a:latin typeface="Calibri"/>
              </a:rPr>
              <a:t>How closures build molecules, cells, and bodies — and how one distinct atomic line yields jeevan.</a:t>
            </a:r>
          </a:p>
        </p:txBody>
      </p:sp>
      <p:sp>
        <p:nvSpPr>
          <p:cNvPr id="14" name="TextBox 13"/>
          <p:cNvSpPr txBox="1"/>
          <p:nvPr/>
        </p:nvSpPr>
        <p:spPr>
          <a:xfrm>
            <a:off x="640080" y="416052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Answers  ·  What holds together?  ·  Where does jeevan come from?</a:t>
            </a:r>
          </a:p>
        </p:txBody>
      </p:sp>
      <p:sp>
        <p:nvSpPr>
          <p:cNvPr id="15" name="TextBox 14"/>
          <p:cNvSpPr txBox="1"/>
          <p:nvPr/>
        </p:nvSpPr>
        <p:spPr>
          <a:xfrm>
            <a:off x="640080" y="443484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AnalyticMadhyasthDarshan.org  ·  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THE FOUR ORDERS</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Four Orders at a Glance</a:t>
            </a:r>
          </a:p>
        </p:txBody>
      </p:sp>
      <p:sp>
        <p:nvSpPr>
          <p:cNvPr id="7" name="TextBox 6"/>
          <p:cNvSpPr txBox="1"/>
          <p:nvPr/>
        </p:nvSpPr>
        <p:spPr>
          <a:xfrm>
            <a:off x="640080" y="1188720"/>
            <a:ext cx="7955279" cy="457200"/>
          </a:xfrm>
          <a:prstGeom prst="rect">
            <a:avLst/>
          </a:prstGeom>
          <a:noFill/>
        </p:spPr>
        <p:txBody>
          <a:bodyPr wrap="square" anchor="ctr" lIns="0" tIns="0" rIns="0" bIns="0">
            <a:spAutoFit/>
          </a:bodyPr>
          <a:lstStyle/>
          <a:p>
            <a:pPr algn="l"/>
            <a:r>
              <a:rPr sz="1200" b="0" i="0">
                <a:solidFill>
                  <a:srgbClr val="5A6377"/>
                </a:solidFill>
                <a:latin typeface="Calibri"/>
              </a:rPr>
              <a:t>The four dharma-profiles are cumulative — each later order keeps the earlier contents — and all of nature stays lawful, regulated, and balanced.</a:t>
            </a:r>
          </a:p>
        </p:txBody>
      </p:sp>
      <p:sp>
        <p:nvSpPr>
          <p:cNvPr id="8" name="Rectangle 7"/>
          <p:cNvSpPr/>
          <p:nvPr/>
        </p:nvSpPr>
        <p:spPr>
          <a:xfrm>
            <a:off x="640080" y="1755648"/>
            <a:ext cx="1572768" cy="65836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10512"/>
            <a:ext cx="1371600" cy="274320"/>
          </a:xfrm>
          <a:prstGeom prst="rect">
            <a:avLst/>
          </a:prstGeom>
          <a:noFill/>
        </p:spPr>
        <p:txBody>
          <a:bodyPr wrap="square" anchor="ctr" lIns="0" tIns="0" rIns="0" bIns="0">
            <a:spAutoFit/>
          </a:bodyPr>
          <a:lstStyle/>
          <a:p>
            <a:pPr algn="l"/>
            <a:r>
              <a:rPr sz="1300" b="1" i="0">
                <a:solidFill>
                  <a:srgbClr val="FFFFFF"/>
                </a:solidFill>
                <a:latin typeface="Cambria"/>
              </a:rPr>
              <a:t>Material</a:t>
            </a:r>
          </a:p>
        </p:txBody>
      </p:sp>
      <p:sp>
        <p:nvSpPr>
          <p:cNvPr id="10" name="TextBox 9"/>
          <p:cNvSpPr txBox="1"/>
          <p:nvPr/>
        </p:nvSpPr>
        <p:spPr>
          <a:xfrm>
            <a:off x="749808" y="2093976"/>
            <a:ext cx="1371600" cy="274320"/>
          </a:xfrm>
          <a:prstGeom prst="rect">
            <a:avLst/>
          </a:prstGeom>
          <a:noFill/>
        </p:spPr>
        <p:txBody>
          <a:bodyPr wrap="square" anchor="ctr" lIns="0" tIns="0" rIns="0" bIns="0">
            <a:spAutoFit/>
          </a:bodyPr>
          <a:lstStyle/>
          <a:p>
            <a:pPr algn="l"/>
            <a:r>
              <a:rPr sz="800" b="0" i="0">
                <a:solidFill>
                  <a:srgbClr val="C9D4EF"/>
                </a:solidFill>
                <a:latin typeface="Calibri"/>
              </a:rPr>
              <a:t>soil, stone, atom, molecule, compound</a:t>
            </a:r>
          </a:p>
        </p:txBody>
      </p:sp>
      <p:sp>
        <p:nvSpPr>
          <p:cNvPr id="11" name="Rectangle 10"/>
          <p:cNvSpPr/>
          <p:nvPr/>
        </p:nvSpPr>
        <p:spPr>
          <a:xfrm>
            <a:off x="2212848" y="1755648"/>
            <a:ext cx="6291072" cy="65836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95728" y="1755648"/>
            <a:ext cx="5943600" cy="658368"/>
          </a:xfrm>
          <a:prstGeom prst="rect">
            <a:avLst/>
          </a:prstGeom>
          <a:noFill/>
        </p:spPr>
        <p:txBody>
          <a:bodyPr wrap="square" anchor="ctr" lIns="0" tIns="0" rIns="0" bIns="0">
            <a:spAutoFit/>
          </a:bodyPr>
          <a:lstStyle/>
          <a:p>
            <a:pPr algn="l"/>
            <a:r>
              <a:rPr sz="1080" b="0" i="0">
                <a:solidFill>
                  <a:srgbClr val="5A6377"/>
                </a:solidFill>
                <a:latin typeface="Calibri"/>
              </a:rPr>
              <a:t>Dharma: existence  ·  constitution- and result-conformance  ·  distinctly evidences law (niyam)</a:t>
            </a:r>
          </a:p>
        </p:txBody>
      </p:sp>
      <p:sp>
        <p:nvSpPr>
          <p:cNvPr id="13" name="Rectangle 12"/>
          <p:cNvSpPr/>
          <p:nvPr/>
        </p:nvSpPr>
        <p:spPr>
          <a:xfrm>
            <a:off x="640080" y="2487168"/>
            <a:ext cx="1572768" cy="65836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42032"/>
            <a:ext cx="1371600" cy="274320"/>
          </a:xfrm>
          <a:prstGeom prst="rect">
            <a:avLst/>
          </a:prstGeom>
          <a:noFill/>
        </p:spPr>
        <p:txBody>
          <a:bodyPr wrap="square" anchor="ctr" lIns="0" tIns="0" rIns="0" bIns="0">
            <a:spAutoFit/>
          </a:bodyPr>
          <a:lstStyle/>
          <a:p>
            <a:pPr algn="l"/>
            <a:r>
              <a:rPr sz="1300" b="1" i="0">
                <a:solidFill>
                  <a:srgbClr val="FFFFFF"/>
                </a:solidFill>
                <a:latin typeface="Cambria"/>
              </a:rPr>
              <a:t>Pranic</a:t>
            </a:r>
          </a:p>
        </p:txBody>
      </p:sp>
      <p:sp>
        <p:nvSpPr>
          <p:cNvPr id="15" name="TextBox 14"/>
          <p:cNvSpPr txBox="1"/>
          <p:nvPr/>
        </p:nvSpPr>
        <p:spPr>
          <a:xfrm>
            <a:off x="749808" y="2825496"/>
            <a:ext cx="1371600" cy="274320"/>
          </a:xfrm>
          <a:prstGeom prst="rect">
            <a:avLst/>
          </a:prstGeom>
          <a:noFill/>
        </p:spPr>
        <p:txBody>
          <a:bodyPr wrap="square" anchor="ctr" lIns="0" tIns="0" rIns="0" bIns="0">
            <a:spAutoFit/>
          </a:bodyPr>
          <a:lstStyle/>
          <a:p>
            <a:pPr algn="l"/>
            <a:r>
              <a:rPr sz="800" b="0" i="0">
                <a:solidFill>
                  <a:srgbClr val="C9D4EF"/>
                </a:solidFill>
                <a:latin typeface="Calibri"/>
              </a:rPr>
              <a:t>cell, plant, every living body</a:t>
            </a:r>
          </a:p>
        </p:txBody>
      </p:sp>
      <p:sp>
        <p:nvSpPr>
          <p:cNvPr id="16" name="Rectangle 15"/>
          <p:cNvSpPr/>
          <p:nvPr/>
        </p:nvSpPr>
        <p:spPr>
          <a:xfrm>
            <a:off x="2212848" y="2487168"/>
            <a:ext cx="6291072" cy="65836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95728" y="2487168"/>
            <a:ext cx="5943600" cy="658368"/>
          </a:xfrm>
          <a:prstGeom prst="rect">
            <a:avLst/>
          </a:prstGeom>
          <a:noFill/>
        </p:spPr>
        <p:txBody>
          <a:bodyPr wrap="square" anchor="ctr" lIns="0" tIns="0" rIns="0" bIns="0">
            <a:spAutoFit/>
          </a:bodyPr>
          <a:lstStyle/>
          <a:p>
            <a:pPr algn="l"/>
            <a:r>
              <a:rPr sz="1080" b="0" i="0">
                <a:solidFill>
                  <a:srgbClr val="5A6377"/>
                </a:solidFill>
                <a:latin typeface="Calibri"/>
              </a:rPr>
              <a:t>Dharma: + growth  ·  seed-conformance  ·  distinctly evidences regulation (niyantran)</a:t>
            </a:r>
          </a:p>
        </p:txBody>
      </p:sp>
      <p:sp>
        <p:nvSpPr>
          <p:cNvPr id="18" name="Rectangle 17"/>
          <p:cNvSpPr/>
          <p:nvPr/>
        </p:nvSpPr>
        <p:spPr>
          <a:xfrm>
            <a:off x="640080" y="3218687"/>
            <a:ext cx="1572768" cy="65836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3273551"/>
            <a:ext cx="1371600" cy="274320"/>
          </a:xfrm>
          <a:prstGeom prst="rect">
            <a:avLst/>
          </a:prstGeom>
          <a:noFill/>
        </p:spPr>
        <p:txBody>
          <a:bodyPr wrap="square" anchor="ctr" lIns="0" tIns="0" rIns="0" bIns="0">
            <a:spAutoFit/>
          </a:bodyPr>
          <a:lstStyle/>
          <a:p>
            <a:pPr algn="l"/>
            <a:r>
              <a:rPr sz="1300" b="1" i="0">
                <a:solidFill>
                  <a:srgbClr val="FFFFFF"/>
                </a:solidFill>
                <a:latin typeface="Cambria"/>
              </a:rPr>
              <a:t>Animal</a:t>
            </a:r>
          </a:p>
        </p:txBody>
      </p:sp>
      <p:sp>
        <p:nvSpPr>
          <p:cNvPr id="20" name="TextBox 19"/>
          <p:cNvSpPr txBox="1"/>
          <p:nvPr/>
        </p:nvSpPr>
        <p:spPr>
          <a:xfrm>
            <a:off x="749808" y="3557015"/>
            <a:ext cx="1371600" cy="274320"/>
          </a:xfrm>
          <a:prstGeom prst="rect">
            <a:avLst/>
          </a:prstGeom>
          <a:noFill/>
        </p:spPr>
        <p:txBody>
          <a:bodyPr wrap="square" anchor="ctr" lIns="0" tIns="0" rIns="0" bIns="0">
            <a:spAutoFit/>
          </a:bodyPr>
          <a:lstStyle/>
          <a:p>
            <a:pPr algn="l"/>
            <a:r>
              <a:rPr sz="800" b="0" i="0">
                <a:solidFill>
                  <a:srgbClr val="C9D4EF"/>
                </a:solidFill>
                <a:latin typeface="Calibri"/>
              </a:rPr>
              <a:t>animal body joined with jeevan</a:t>
            </a:r>
          </a:p>
        </p:txBody>
      </p:sp>
      <p:sp>
        <p:nvSpPr>
          <p:cNvPr id="21" name="Rectangle 20"/>
          <p:cNvSpPr/>
          <p:nvPr/>
        </p:nvSpPr>
        <p:spPr>
          <a:xfrm>
            <a:off x="2212848" y="3218687"/>
            <a:ext cx="6291072" cy="65836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95728" y="3218687"/>
            <a:ext cx="5943600" cy="658368"/>
          </a:xfrm>
          <a:prstGeom prst="rect">
            <a:avLst/>
          </a:prstGeom>
          <a:noFill/>
        </p:spPr>
        <p:txBody>
          <a:bodyPr wrap="square" anchor="ctr" lIns="0" tIns="0" rIns="0" bIns="0">
            <a:spAutoFit/>
          </a:bodyPr>
          <a:lstStyle/>
          <a:p>
            <a:pPr algn="l"/>
            <a:r>
              <a:rPr sz="1080" b="0" i="0">
                <a:solidFill>
                  <a:srgbClr val="5A6377"/>
                </a:solidFill>
                <a:latin typeface="Calibri"/>
              </a:rPr>
              <a:t>Dharma: + hope to live  ·  species-conformance  ·  distinctly evidences balance (santulan)</a:t>
            </a:r>
          </a:p>
        </p:txBody>
      </p:sp>
      <p:sp>
        <p:nvSpPr>
          <p:cNvPr id="23" name="Rectangle 22"/>
          <p:cNvSpPr/>
          <p:nvPr/>
        </p:nvSpPr>
        <p:spPr>
          <a:xfrm>
            <a:off x="640080" y="3950207"/>
            <a:ext cx="1572768" cy="65836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 y="4005071"/>
            <a:ext cx="1371600" cy="274320"/>
          </a:xfrm>
          <a:prstGeom prst="rect">
            <a:avLst/>
          </a:prstGeom>
          <a:noFill/>
        </p:spPr>
        <p:txBody>
          <a:bodyPr wrap="square" anchor="ctr" lIns="0" tIns="0" rIns="0" bIns="0">
            <a:spAutoFit/>
          </a:bodyPr>
          <a:lstStyle/>
          <a:p>
            <a:pPr algn="l"/>
            <a:r>
              <a:rPr sz="1300" b="1" i="0">
                <a:solidFill>
                  <a:srgbClr val="FFFFFF"/>
                </a:solidFill>
                <a:latin typeface="Cambria"/>
              </a:rPr>
              <a:t>Knowledge</a:t>
            </a:r>
          </a:p>
        </p:txBody>
      </p:sp>
      <p:sp>
        <p:nvSpPr>
          <p:cNvPr id="25" name="TextBox 24"/>
          <p:cNvSpPr txBox="1"/>
          <p:nvPr/>
        </p:nvSpPr>
        <p:spPr>
          <a:xfrm>
            <a:off x="749808" y="4288536"/>
            <a:ext cx="1371600" cy="274320"/>
          </a:xfrm>
          <a:prstGeom prst="rect">
            <a:avLst/>
          </a:prstGeom>
          <a:noFill/>
        </p:spPr>
        <p:txBody>
          <a:bodyPr wrap="square" anchor="ctr" lIns="0" tIns="0" rIns="0" bIns="0">
            <a:spAutoFit/>
          </a:bodyPr>
          <a:lstStyle/>
          <a:p>
            <a:pPr algn="l"/>
            <a:r>
              <a:rPr sz="800" b="0" i="0">
                <a:solidFill>
                  <a:srgbClr val="C9D4EF"/>
                </a:solidFill>
                <a:latin typeface="Calibri"/>
              </a:rPr>
              <a:t>human body joined with jeevan</a:t>
            </a:r>
          </a:p>
        </p:txBody>
      </p:sp>
      <p:sp>
        <p:nvSpPr>
          <p:cNvPr id="26" name="Rectangle 25"/>
          <p:cNvSpPr/>
          <p:nvPr/>
        </p:nvSpPr>
        <p:spPr>
          <a:xfrm>
            <a:off x="2212848" y="3950207"/>
            <a:ext cx="6291072" cy="65836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395728" y="3950207"/>
            <a:ext cx="5943600" cy="658368"/>
          </a:xfrm>
          <a:prstGeom prst="rect">
            <a:avLst/>
          </a:prstGeom>
          <a:noFill/>
        </p:spPr>
        <p:txBody>
          <a:bodyPr wrap="square" anchor="ctr" lIns="0" tIns="0" rIns="0" bIns="0">
            <a:spAutoFit/>
          </a:bodyPr>
          <a:lstStyle/>
          <a:p>
            <a:pPr algn="l"/>
            <a:r>
              <a:rPr sz="1080" b="0" i="0">
                <a:solidFill>
                  <a:srgbClr val="5A6377"/>
                </a:solidFill>
                <a:latin typeface="Calibri"/>
              </a:rPr>
              <a:t>Dharma: + happiness  ·  sanskar-conformance  ·  must consciously establish law, regulation, balance</a:t>
            </a:r>
          </a:p>
        </p:txBody>
      </p:sp>
      <p:sp>
        <p:nvSpPr>
          <p:cNvPr id="28" name="TextBox 27"/>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50, 115  ·  SB pp. 179, 231–236  ·  JV p. 47  ·  AnalyticMadhyasthDarshan.org  ·  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STRUCTURE AS ACTIVITY</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When Activities Run as One</a:t>
            </a:r>
          </a:p>
        </p:txBody>
      </p:sp>
      <p:sp>
        <p:nvSpPr>
          <p:cNvPr id="7" name="Rectangle 6"/>
          <p:cNvSpPr/>
          <p:nvPr/>
        </p:nvSpPr>
        <p:spPr>
          <a:xfrm>
            <a:off x="640080" y="1234440"/>
            <a:ext cx="3794760" cy="12344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53312"/>
            <a:ext cx="3392424" cy="292608"/>
          </a:xfrm>
          <a:prstGeom prst="rect">
            <a:avLst/>
          </a:prstGeom>
          <a:noFill/>
        </p:spPr>
        <p:txBody>
          <a:bodyPr wrap="square" anchor="ctr" lIns="0" tIns="0" rIns="0" bIns="0">
            <a:spAutoFit/>
          </a:bodyPr>
          <a:lstStyle/>
          <a:p>
            <a:pPr algn="l"/>
            <a:r>
              <a:rPr sz="1300" b="1" i="0">
                <a:solidFill>
                  <a:srgbClr val="1E2447"/>
                </a:solidFill>
                <a:latin typeface="Cambria"/>
              </a:rPr>
              <a:t>Mixture</a:t>
            </a:r>
          </a:p>
        </p:txBody>
      </p:sp>
      <p:sp>
        <p:nvSpPr>
          <p:cNvPr id="9" name="TextBox 8"/>
          <p:cNvSpPr txBox="1"/>
          <p:nvPr/>
        </p:nvSpPr>
        <p:spPr>
          <a:xfrm>
            <a:off x="841247" y="1691640"/>
            <a:ext cx="3392424" cy="658368"/>
          </a:xfrm>
          <a:prstGeom prst="rect">
            <a:avLst/>
          </a:prstGeom>
          <a:noFill/>
        </p:spPr>
        <p:txBody>
          <a:bodyPr wrap="square" anchor="t" lIns="0" tIns="0" rIns="0" bIns="0">
            <a:spAutoFit/>
          </a:bodyPr>
          <a:lstStyle/>
          <a:p>
            <a:pPr algn="l"/>
            <a:r>
              <a:rPr sz="1050" b="0" i="0">
                <a:solidFill>
                  <a:srgbClr val="5A6377"/>
                </a:solidFill>
                <a:latin typeface="Calibri"/>
              </a:rPr>
              <a:t>No motion-path closes. Each component keeps exhibiting its own public conduct — sand and sugar stirred together.</a:t>
            </a:r>
          </a:p>
        </p:txBody>
      </p:sp>
      <p:sp>
        <p:nvSpPr>
          <p:cNvPr id="10" name="Rectangle 9"/>
          <p:cNvSpPr/>
          <p:nvPr/>
        </p:nvSpPr>
        <p:spPr>
          <a:xfrm>
            <a:off x="4709160" y="1234440"/>
            <a:ext cx="3794760" cy="12344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53312"/>
            <a:ext cx="3392424" cy="292608"/>
          </a:xfrm>
          <a:prstGeom prst="rect">
            <a:avLst/>
          </a:prstGeom>
          <a:noFill/>
        </p:spPr>
        <p:txBody>
          <a:bodyPr wrap="square" anchor="ctr" lIns="0" tIns="0" rIns="0" bIns="0">
            <a:spAutoFit/>
          </a:bodyPr>
          <a:lstStyle/>
          <a:p>
            <a:pPr algn="l"/>
            <a:r>
              <a:rPr sz="1300" b="1" i="0">
                <a:solidFill>
                  <a:srgbClr val="9A6414"/>
                </a:solidFill>
                <a:latin typeface="Cambria"/>
              </a:rPr>
              <a:t>Compound — a closure</a:t>
            </a:r>
          </a:p>
        </p:txBody>
      </p:sp>
      <p:sp>
        <p:nvSpPr>
          <p:cNvPr id="12" name="TextBox 11"/>
          <p:cNvSpPr txBox="1"/>
          <p:nvPr/>
        </p:nvSpPr>
        <p:spPr>
          <a:xfrm>
            <a:off x="4910328" y="1691640"/>
            <a:ext cx="3392424" cy="658368"/>
          </a:xfrm>
          <a:prstGeom prst="rect">
            <a:avLst/>
          </a:prstGeom>
          <a:noFill/>
        </p:spPr>
        <p:txBody>
          <a:bodyPr wrap="square" anchor="t" lIns="0" tIns="0" rIns="0" bIns="0">
            <a:spAutoFit/>
          </a:bodyPr>
          <a:lstStyle/>
          <a:p>
            <a:pPr algn="l"/>
            <a:r>
              <a:rPr sz="1050" b="0" i="0">
                <a:solidFill>
                  <a:srgbClr val="5A6377"/>
                </a:solidFill>
                <a:latin typeface="Calibri"/>
              </a:rPr>
              <a:t>Complementary activities close a new motion-path. The whole shows its own conduct and four aspects; the constituents continue within it.</a:t>
            </a:r>
          </a:p>
        </p:txBody>
      </p:sp>
      <p:sp>
        <p:nvSpPr>
          <p:cNvPr id="13" name="Oval 12"/>
          <p:cNvSpPr/>
          <p:nvPr/>
        </p:nvSpPr>
        <p:spPr>
          <a:xfrm>
            <a:off x="640080" y="276606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2697480"/>
            <a:ext cx="7406640" cy="502920"/>
          </a:xfrm>
          <a:prstGeom prst="rect">
            <a:avLst/>
          </a:prstGeom>
          <a:noFill/>
        </p:spPr>
        <p:txBody>
          <a:bodyPr wrap="square" anchor="ctr" lIns="0" tIns="0" rIns="0" bIns="0">
            <a:spAutoFit/>
          </a:bodyPr>
          <a:lstStyle/>
          <a:p>
            <a:pPr algn="l"/>
            <a:r>
              <a:rPr sz="1300" b="1" i="0">
                <a:solidFill>
                  <a:srgbClr val="1E2447"/>
                </a:solidFill>
                <a:latin typeface="Calibri"/>
              </a:rPr>
              <a:t>A closure is a new unit</a:t>
            </a:r>
            <a:r>
              <a:rPr sz="1300" b="0" i="0">
                <a:solidFill>
                  <a:srgbClr val="5A6377"/>
                </a:solidFill>
                <a:latin typeface="Calibri"/>
              </a:rPr>
              <a:t>  —  molecule, compound, cell, body — each a new closed activity</a:t>
            </a:r>
          </a:p>
        </p:txBody>
      </p:sp>
      <p:sp>
        <p:nvSpPr>
          <p:cNvPr id="15" name="Oval 14"/>
          <p:cNvSpPr/>
          <p:nvPr/>
        </p:nvSpPr>
        <p:spPr>
          <a:xfrm>
            <a:off x="640080" y="3387852"/>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3319272"/>
            <a:ext cx="7406640" cy="502920"/>
          </a:xfrm>
          <a:prstGeom prst="rect">
            <a:avLst/>
          </a:prstGeom>
          <a:noFill/>
        </p:spPr>
        <p:txBody>
          <a:bodyPr wrap="square" anchor="ctr" lIns="0" tIns="0" rIns="0" bIns="0">
            <a:spAutoFit/>
          </a:bodyPr>
          <a:lstStyle/>
          <a:p>
            <a:pPr algn="l"/>
            <a:r>
              <a:rPr sz="1300" b="1" i="0">
                <a:solidFill>
                  <a:srgbClr val="1E2447"/>
                </a:solidFill>
                <a:latin typeface="Calibri"/>
              </a:rPr>
              <a:t>Constituents persist</a:t>
            </a:r>
            <a:r>
              <a:rPr sz="1300" b="0" i="0">
                <a:solidFill>
                  <a:srgbClr val="5A6377"/>
                </a:solidFill>
                <a:latin typeface="Calibri"/>
              </a:rPr>
              <a:t>  —  they are never melted into homogeneous stuff</a:t>
            </a:r>
          </a:p>
        </p:txBody>
      </p:sp>
      <p:sp>
        <p:nvSpPr>
          <p:cNvPr id="17" name="Oval 16"/>
          <p:cNvSpPr/>
          <p:nvPr/>
        </p:nvSpPr>
        <p:spPr>
          <a:xfrm>
            <a:off x="640080" y="4009644"/>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3941064"/>
            <a:ext cx="7406640" cy="502920"/>
          </a:xfrm>
          <a:prstGeom prst="rect">
            <a:avLst/>
          </a:prstGeom>
          <a:noFill/>
        </p:spPr>
        <p:txBody>
          <a:bodyPr wrap="square" anchor="ctr" lIns="0" tIns="0" rIns="0" bIns="0">
            <a:spAutoFit/>
          </a:bodyPr>
          <a:lstStyle/>
          <a:p>
            <a:pPr algn="l"/>
            <a:r>
              <a:rPr sz="1300" b="1" i="0">
                <a:solidFill>
                  <a:srgbClr val="1E2447"/>
                </a:solidFill>
                <a:latin typeface="Calibri"/>
              </a:rPr>
              <a:t>Disintegration removes only the closure</a:t>
            </a:r>
            <a:r>
              <a:rPr sz="1300" b="0" i="0">
                <a:solidFill>
                  <a:srgbClr val="5A6377"/>
                </a:solidFill>
                <a:latin typeface="Calibri"/>
              </a:rPr>
              <a:t>  —  nothing is annihilated — there was no extra substance</a:t>
            </a:r>
          </a:p>
        </p:txBody>
      </p:sp>
      <p:sp>
        <p:nvSpPr>
          <p:cNvPr id="19" name="TextBox 18"/>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 42  ·  SB p. 260  ·  KD §§3.1–3.2, 3.11  ·  AnalyticMadhyasthDarshan.org  ·  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NIYATI-KRAM</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Two Lines of Development</a:t>
            </a:r>
          </a:p>
        </p:txBody>
      </p:sp>
      <p:sp>
        <p:nvSpPr>
          <p:cNvPr id="7" name="Rectangle 6"/>
          <p:cNvSpPr/>
          <p:nvPr/>
        </p:nvSpPr>
        <p:spPr>
          <a:xfrm>
            <a:off x="640080" y="1280160"/>
            <a:ext cx="3794760" cy="21031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3392424" cy="292608"/>
          </a:xfrm>
          <a:prstGeom prst="rect">
            <a:avLst/>
          </a:prstGeom>
          <a:noFill/>
        </p:spPr>
        <p:txBody>
          <a:bodyPr wrap="square" anchor="ctr" lIns="0" tIns="0" rIns="0" bIns="0">
            <a:spAutoFit/>
          </a:bodyPr>
          <a:lstStyle/>
          <a:p>
            <a:pPr algn="l"/>
            <a:r>
              <a:rPr sz="1300" b="1" i="0">
                <a:solidFill>
                  <a:srgbClr val="1E2447"/>
                </a:solidFill>
                <a:latin typeface="Cambria"/>
              </a:rPr>
              <a:t>The compositional line — closures</a:t>
            </a:r>
          </a:p>
        </p:txBody>
      </p:sp>
      <p:sp>
        <p:nvSpPr>
          <p:cNvPr id="9" name="TextBox 8"/>
          <p:cNvSpPr txBox="1"/>
          <p:nvPr/>
        </p:nvSpPr>
        <p:spPr>
          <a:xfrm>
            <a:off x="841247" y="1737360"/>
            <a:ext cx="3392424" cy="1527047"/>
          </a:xfrm>
          <a:prstGeom prst="rect">
            <a:avLst/>
          </a:prstGeom>
          <a:noFill/>
        </p:spPr>
        <p:txBody>
          <a:bodyPr wrap="square" anchor="t" lIns="0" tIns="0" rIns="0" bIns="0">
            <a:spAutoFit/>
          </a:bodyPr>
          <a:lstStyle/>
          <a:p>
            <a:pPr algn="l"/>
            <a:r>
              <a:rPr sz="1080" b="0" i="0">
                <a:solidFill>
                  <a:srgbClr val="5A6377"/>
                </a:solidFill>
                <a:latin typeface="Calibri"/>
              </a:rPr>
              <a:t>Atom → molecule → compound and mineral → pranic cell → plant, animal, and human bodies.
Each step is a new containing activity. A body remains of the order of what composes it — a plant body is pranic, not jeevan.</a:t>
            </a:r>
          </a:p>
        </p:txBody>
      </p:sp>
      <p:sp>
        <p:nvSpPr>
          <p:cNvPr id="10" name="Rectangle 9"/>
          <p:cNvSpPr/>
          <p:nvPr/>
        </p:nvSpPr>
        <p:spPr>
          <a:xfrm>
            <a:off x="4709160" y="1280160"/>
            <a:ext cx="3794760" cy="210312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99031"/>
            <a:ext cx="3392424" cy="292608"/>
          </a:xfrm>
          <a:prstGeom prst="rect">
            <a:avLst/>
          </a:prstGeom>
          <a:noFill/>
        </p:spPr>
        <p:txBody>
          <a:bodyPr wrap="square" anchor="ctr" lIns="0" tIns="0" rIns="0" bIns="0">
            <a:spAutoFit/>
          </a:bodyPr>
          <a:lstStyle/>
          <a:p>
            <a:pPr algn="l"/>
            <a:r>
              <a:rPr sz="1300" b="1" i="0">
                <a:solidFill>
                  <a:srgbClr val="9A6414"/>
                </a:solidFill>
                <a:latin typeface="Cambria"/>
              </a:rPr>
              <a:t>The atomic line — development</a:t>
            </a:r>
          </a:p>
        </p:txBody>
      </p:sp>
      <p:sp>
        <p:nvSpPr>
          <p:cNvPr id="12" name="TextBox 11"/>
          <p:cNvSpPr txBox="1"/>
          <p:nvPr/>
        </p:nvSpPr>
        <p:spPr>
          <a:xfrm>
            <a:off x="4910328" y="1737360"/>
            <a:ext cx="3392424" cy="1527047"/>
          </a:xfrm>
          <a:prstGeom prst="rect">
            <a:avLst/>
          </a:prstGeom>
          <a:noFill/>
        </p:spPr>
        <p:txBody>
          <a:bodyPr wrap="square" anchor="t" lIns="0" tIns="0" rIns="0" bIns="0">
            <a:spAutoFit/>
          </a:bodyPr>
          <a:lstStyle/>
          <a:p>
            <a:pPr algn="l"/>
            <a:r>
              <a:rPr sz="1080" b="0" i="0">
                <a:solidFill>
                  <a:srgbClr val="5A6377"/>
                </a:solidFill>
                <a:latin typeface="Calibri"/>
              </a:rPr>
              <a:t>A developing atom completes its own particle constitution (gathanpurnata).
Nothing joins anything: the same unit changes kind, irreversibly, and is then jeevan — the sentient unit.</a:t>
            </a:r>
          </a:p>
        </p:txBody>
      </p:sp>
      <p:sp>
        <p:nvSpPr>
          <p:cNvPr id="13" name="Rectangle 12"/>
          <p:cNvSpPr/>
          <p:nvPr/>
        </p:nvSpPr>
        <p:spPr>
          <a:xfrm>
            <a:off x="640080" y="3611880"/>
            <a:ext cx="7863840" cy="59436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594360"/>
          </a:xfrm>
          <a:prstGeom prst="rect">
            <a:avLst/>
          </a:prstGeom>
          <a:noFill/>
        </p:spPr>
        <p:txBody>
          <a:bodyPr wrap="square" anchor="ctr" lIns="0" tIns="0" rIns="0" bIns="0">
            <a:spAutoFit/>
          </a:bodyPr>
          <a:lstStyle/>
          <a:p>
            <a:pPr algn="l"/>
            <a:r>
              <a:rPr sz="1080" b="0" i="0">
                <a:solidFill>
                  <a:srgbClr val="5A6377"/>
                </a:solidFill>
                <a:latin typeface="Calibri"/>
              </a:rPr>
              <a:t>The lines meet in animal and human joint forms. The human is not the next animal — the two joint forms stand side by side, not on one ladder.</a:t>
            </a:r>
          </a:p>
        </p:txBody>
      </p:sp>
      <p:sp>
        <p:nvSpPr>
          <p:cNvPr id="15" name="TextBox 14"/>
          <p:cNvSpPr txBox="1"/>
          <p:nvPr/>
        </p:nvSpPr>
        <p:spPr>
          <a:xfrm>
            <a:off x="640080" y="4343400"/>
            <a:ext cx="7955279" cy="274320"/>
          </a:xfrm>
          <a:prstGeom prst="rect">
            <a:avLst/>
          </a:prstGeom>
          <a:noFill/>
        </p:spPr>
        <p:txBody>
          <a:bodyPr wrap="square" anchor="ctr" lIns="0" tIns="0" rIns="0" bIns="0">
            <a:spAutoFit/>
          </a:bodyPr>
          <a:lstStyle/>
          <a:p>
            <a:pPr algn="l"/>
            <a:r>
              <a:rPr sz="1050" b="0" i="1">
                <a:solidFill>
                  <a:srgbClr val="5A6377"/>
                </a:solidFill>
                <a:latin typeface="Calibri"/>
              </a:rPr>
              <a:t>Niyati-kram: material, pranic, animal, and knowledge orders become manifest in that definite sequence under conducive conditions.</a:t>
            </a:r>
          </a:p>
        </p:txBody>
      </p:sp>
      <p:sp>
        <p:nvSpPr>
          <p:cNvPr id="16" name="TextBox 15"/>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KD §§3.2–3.3  ·  SB pp. 75–76  ·  MVD pp. 8, 13  ·  AnalyticMadhyasthDarshan.org  ·  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GATHANPURNATA</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The Atom That Becomes Jeevan</a:t>
            </a:r>
          </a:p>
        </p:txBody>
      </p:sp>
      <p:sp>
        <p:nvSpPr>
          <p:cNvPr id="7" name="Oval 6"/>
          <p:cNvSpPr/>
          <p:nvPr/>
        </p:nvSpPr>
        <p:spPr>
          <a:xfrm>
            <a:off x="640080" y="130302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1234440"/>
            <a:ext cx="7406640" cy="502920"/>
          </a:xfrm>
          <a:prstGeom prst="rect">
            <a:avLst/>
          </a:prstGeom>
          <a:noFill/>
        </p:spPr>
        <p:txBody>
          <a:bodyPr wrap="square" anchor="ctr" lIns="0" tIns="0" rIns="0" bIns="0">
            <a:spAutoFit/>
          </a:bodyPr>
          <a:lstStyle/>
          <a:p>
            <a:pPr algn="l"/>
            <a:r>
              <a:rPr sz="1300" b="1" i="0">
                <a:solidFill>
                  <a:srgbClr val="1E2447"/>
                </a:solidFill>
                <a:latin typeface="Calibri"/>
              </a:rPr>
              <a:t>Complete particle balance in nucleus and orbits</a:t>
            </a:r>
            <a:r>
              <a:rPr sz="1300" b="0" i="0">
                <a:solidFill>
                  <a:srgbClr val="5A6377"/>
                </a:solidFill>
                <a:latin typeface="Calibri"/>
              </a:rPr>
              <a:t>  —  particle hunger ends, for ever</a:t>
            </a:r>
          </a:p>
        </p:txBody>
      </p:sp>
      <p:sp>
        <p:nvSpPr>
          <p:cNvPr id="9" name="Oval 8"/>
          <p:cNvSpPr/>
          <p:nvPr/>
        </p:nvSpPr>
        <p:spPr>
          <a:xfrm>
            <a:off x="640080" y="1888236"/>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1819656"/>
            <a:ext cx="7406640" cy="502920"/>
          </a:xfrm>
          <a:prstGeom prst="rect">
            <a:avLst/>
          </a:prstGeom>
          <a:noFill/>
        </p:spPr>
        <p:txBody>
          <a:bodyPr wrap="square" anchor="ctr" lIns="0" tIns="0" rIns="0" bIns="0">
            <a:spAutoFit/>
          </a:bodyPr>
          <a:lstStyle/>
          <a:p>
            <a:pPr algn="l"/>
            <a:r>
              <a:rPr sz="1300" b="1" i="0">
                <a:solidFill>
                  <a:srgbClr val="1E2447"/>
                </a:solidFill>
                <a:latin typeface="Calibri"/>
              </a:rPr>
              <a:t>Free of molecular-bondage and weight-bondage</a:t>
            </a:r>
            <a:r>
              <a:rPr sz="1300" b="0" i="0">
                <a:solidFill>
                  <a:srgbClr val="5A6377"/>
                </a:solidFill>
                <a:latin typeface="Calibri"/>
              </a:rPr>
              <a:t>  —  no group holds it, no weight binds it</a:t>
            </a:r>
          </a:p>
        </p:txBody>
      </p:sp>
      <p:sp>
        <p:nvSpPr>
          <p:cNvPr id="11" name="Oval 10"/>
          <p:cNvSpPr/>
          <p:nvPr/>
        </p:nvSpPr>
        <p:spPr>
          <a:xfrm>
            <a:off x="640080" y="2473452"/>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2404872"/>
            <a:ext cx="7406640" cy="502920"/>
          </a:xfrm>
          <a:prstGeom prst="rect">
            <a:avLst/>
          </a:prstGeom>
          <a:noFill/>
        </p:spPr>
        <p:txBody>
          <a:bodyPr wrap="square" anchor="ctr" lIns="0" tIns="0" rIns="0" bIns="0">
            <a:spAutoFit/>
          </a:bodyPr>
          <a:lstStyle/>
          <a:p>
            <a:pPr algn="l"/>
            <a:r>
              <a:rPr sz="1300" b="1" i="0">
                <a:solidFill>
                  <a:srgbClr val="1E2447"/>
                </a:solidFill>
                <a:latin typeface="Calibri"/>
              </a:rPr>
              <a:t>Strength and power become inexhaustible</a:t>
            </a:r>
            <a:r>
              <a:rPr sz="1300" b="0" i="0">
                <a:solidFill>
                  <a:srgbClr val="5A6377"/>
                </a:solidFill>
                <a:latin typeface="Calibri"/>
              </a:rPr>
              <a:t>  —  “the immortality of result”</a:t>
            </a:r>
          </a:p>
        </p:txBody>
      </p:sp>
      <p:sp>
        <p:nvSpPr>
          <p:cNvPr id="13" name="Oval 12"/>
          <p:cNvSpPr/>
          <p:nvPr/>
        </p:nvSpPr>
        <p:spPr>
          <a:xfrm>
            <a:off x="640080" y="3058668"/>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2990088"/>
            <a:ext cx="7406640" cy="502920"/>
          </a:xfrm>
          <a:prstGeom prst="rect">
            <a:avLst/>
          </a:prstGeom>
          <a:noFill/>
        </p:spPr>
        <p:txBody>
          <a:bodyPr wrap="square" anchor="ctr" lIns="0" tIns="0" rIns="0" bIns="0">
            <a:spAutoFit/>
          </a:bodyPr>
          <a:lstStyle/>
          <a:p>
            <a:pPr algn="l"/>
            <a:r>
              <a:rPr sz="1300" b="1" i="0">
                <a:solidFill>
                  <a:srgbClr val="1E2447"/>
                </a:solidFill>
                <a:latin typeface="Calibri"/>
              </a:rPr>
              <a:t>One new bondage appears: hope-bondage (asha-bandhan)</a:t>
            </a:r>
            <a:r>
              <a:rPr sz="1300" b="0" i="0">
                <a:solidFill>
                  <a:srgbClr val="5A6377"/>
                </a:solidFill>
                <a:latin typeface="Calibri"/>
              </a:rPr>
              <a:t>  —  jeevan is never indifferent</a:t>
            </a:r>
          </a:p>
        </p:txBody>
      </p:sp>
      <p:sp>
        <p:nvSpPr>
          <p:cNvPr id="15" name="Rectangle 14"/>
          <p:cNvSpPr/>
          <p:nvPr/>
        </p:nvSpPr>
        <p:spPr>
          <a:xfrm>
            <a:off x="640080" y="3703320"/>
            <a:ext cx="7863840" cy="73152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703320"/>
            <a:ext cx="7406640" cy="731520"/>
          </a:xfrm>
          <a:prstGeom prst="rect">
            <a:avLst/>
          </a:prstGeom>
          <a:noFill/>
        </p:spPr>
        <p:txBody>
          <a:bodyPr wrap="square" anchor="ctr" lIns="0" tIns="0" rIns="0" bIns="0">
            <a:spAutoFit/>
          </a:bodyPr>
          <a:lstStyle/>
          <a:p>
            <a:pPr algn="l"/>
            <a:r>
              <a:rPr sz="1080" b="0" i="1">
                <a:solidFill>
                  <a:srgbClr val="5A6377"/>
                </a:solidFill>
                <a:latin typeface="Calibri"/>
              </a:rPr>
              <a:t>“The evidence of constitutional completeness is the jeevan atom’s liberation from molecular-bondage and weight-bondage, and its having the hope-bondage.”  — MVD, p. 91</a:t>
            </a:r>
          </a:p>
        </p:txBody>
      </p:sp>
      <p:sp>
        <p:nvSpPr>
          <p:cNvPr id="17" name="TextBox 16"/>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 91  ·  SB pp. 55, 61, 92  ·  KD §3.3  ·  AnalyticMadhyasthDarshan.org  ·  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ANIMAL AND KNOWLEDGE ORDERS</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Body and Jeevan: Joint Forms</a:t>
            </a:r>
          </a:p>
        </p:txBody>
      </p:sp>
      <p:sp>
        <p:nvSpPr>
          <p:cNvPr id="7" name="Rectangle 6"/>
          <p:cNvSpPr/>
          <p:nvPr/>
        </p:nvSpPr>
        <p:spPr>
          <a:xfrm>
            <a:off x="640080" y="1280160"/>
            <a:ext cx="3794760" cy="19659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3392424" cy="292608"/>
          </a:xfrm>
          <a:prstGeom prst="rect">
            <a:avLst/>
          </a:prstGeom>
          <a:noFill/>
        </p:spPr>
        <p:txBody>
          <a:bodyPr wrap="square" anchor="ctr" lIns="0" tIns="0" rIns="0" bIns="0">
            <a:spAutoFit/>
          </a:bodyPr>
          <a:lstStyle/>
          <a:p>
            <a:pPr algn="l"/>
            <a:r>
              <a:rPr sz="1300" b="1" i="0">
                <a:solidFill>
                  <a:srgbClr val="1E2447"/>
                </a:solidFill>
                <a:latin typeface="Cambria"/>
              </a:rPr>
              <a:t>Animal joint form</a:t>
            </a:r>
          </a:p>
        </p:txBody>
      </p:sp>
      <p:sp>
        <p:nvSpPr>
          <p:cNvPr id="9" name="TextBox 8"/>
          <p:cNvSpPr txBox="1"/>
          <p:nvPr/>
        </p:nvSpPr>
        <p:spPr>
          <a:xfrm>
            <a:off x="841247" y="1737360"/>
            <a:ext cx="3392424" cy="1389887"/>
          </a:xfrm>
          <a:prstGeom prst="rect">
            <a:avLst/>
          </a:prstGeom>
          <a:noFill/>
        </p:spPr>
        <p:txBody>
          <a:bodyPr wrap="square" anchor="t" lIns="0" tIns="0" rIns="0" bIns="0">
            <a:spAutoFit/>
          </a:bodyPr>
          <a:lstStyle/>
          <a:p>
            <a:pPr algn="l"/>
            <a:r>
              <a:rPr sz="1080" b="0" i="0">
                <a:solidFill>
                  <a:srgbClr val="5A6377"/>
                </a:solidFill>
                <a:latin typeface="Calibri"/>
              </a:rPr>
              <a:t>Jeevan expresses the hope to live through a species-conformant body: recognition of friendliness and opposition, tasting, selection — without the knowing-and-believing circuit.</a:t>
            </a:r>
          </a:p>
        </p:txBody>
      </p:sp>
      <p:sp>
        <p:nvSpPr>
          <p:cNvPr id="10" name="Rectangle 9"/>
          <p:cNvSpPr/>
          <p:nvPr/>
        </p:nvSpPr>
        <p:spPr>
          <a:xfrm>
            <a:off x="4709160" y="1280160"/>
            <a:ext cx="3794760" cy="196596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99031"/>
            <a:ext cx="3392424" cy="292608"/>
          </a:xfrm>
          <a:prstGeom prst="rect">
            <a:avLst/>
          </a:prstGeom>
          <a:noFill/>
        </p:spPr>
        <p:txBody>
          <a:bodyPr wrap="square" anchor="ctr" lIns="0" tIns="0" rIns="0" bIns="0">
            <a:spAutoFit/>
          </a:bodyPr>
          <a:lstStyle/>
          <a:p>
            <a:pPr algn="l"/>
            <a:r>
              <a:rPr sz="1300" b="1" i="0">
                <a:solidFill>
                  <a:srgbClr val="9A6414"/>
                </a:solidFill>
                <a:latin typeface="Cambria"/>
              </a:rPr>
              <a:t>Human joint form</a:t>
            </a:r>
          </a:p>
        </p:txBody>
      </p:sp>
      <p:sp>
        <p:nvSpPr>
          <p:cNvPr id="12" name="TextBox 11"/>
          <p:cNvSpPr txBox="1"/>
          <p:nvPr/>
        </p:nvSpPr>
        <p:spPr>
          <a:xfrm>
            <a:off x="4910328" y="1737360"/>
            <a:ext cx="3392424" cy="1389887"/>
          </a:xfrm>
          <a:prstGeom prst="rect">
            <a:avLst/>
          </a:prstGeom>
          <a:noFill/>
        </p:spPr>
        <p:txBody>
          <a:bodyPr wrap="square" anchor="t" lIns="0" tIns="0" rIns="0" bIns="0">
            <a:spAutoFit/>
          </a:bodyPr>
          <a:lstStyle/>
          <a:p>
            <a:pPr algn="l"/>
            <a:r>
              <a:rPr sz="1080" b="0" i="0">
                <a:solidFill>
                  <a:srgbClr val="5A6377"/>
                </a:solidFill>
                <a:latin typeface="Calibri"/>
              </a:rPr>
              <a:t>A developed bodily medium through which cognisance can govern sensitivity. Recognition can now fail — and can be studied, corrected, and refined.</a:t>
            </a:r>
          </a:p>
        </p:txBody>
      </p:sp>
      <p:sp>
        <p:nvSpPr>
          <p:cNvPr id="13" name="Rectangle 12"/>
          <p:cNvSpPr/>
          <p:nvPr/>
        </p:nvSpPr>
        <p:spPr>
          <a:xfrm>
            <a:off x="640080" y="3474720"/>
            <a:ext cx="7863840" cy="73152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474720"/>
            <a:ext cx="7406640" cy="731520"/>
          </a:xfrm>
          <a:prstGeom prst="rect">
            <a:avLst/>
          </a:prstGeom>
          <a:noFill/>
        </p:spPr>
        <p:txBody>
          <a:bodyPr wrap="square" anchor="ctr" lIns="0" tIns="0" rIns="0" bIns="0">
            <a:spAutoFit/>
          </a:bodyPr>
          <a:lstStyle/>
          <a:p>
            <a:pPr algn="l"/>
            <a:r>
              <a:rPr sz="1080" b="0" i="0">
                <a:solidFill>
                  <a:srgbClr val="5A6377"/>
                </a:solidFill>
                <a:latin typeface="Calibri"/>
              </a:rPr>
              <a:t>Association, not fusion: the body remains pranic, jeevan remains jeevan. Delusion does not dissolve the association — realised values are not what hold body and jeevan together.</a:t>
            </a:r>
          </a:p>
        </p:txBody>
      </p:sp>
      <p:sp>
        <p:nvSpPr>
          <p:cNvPr id="15" name="TextBox 14"/>
          <p:cNvSpPr txBox="1"/>
          <p:nvPr/>
        </p:nvSpPr>
        <p:spPr>
          <a:xfrm>
            <a:off x="640080" y="4389120"/>
            <a:ext cx="7955279" cy="274320"/>
          </a:xfrm>
          <a:prstGeom prst="rect">
            <a:avLst/>
          </a:prstGeom>
          <a:noFill/>
        </p:spPr>
        <p:txBody>
          <a:bodyPr wrap="square" anchor="ctr" lIns="0" tIns="0" rIns="0" bIns="0">
            <a:spAutoFit/>
          </a:bodyPr>
          <a:lstStyle/>
          <a:p>
            <a:pPr algn="l"/>
            <a:r>
              <a:rPr sz="1050" b="0" i="1">
                <a:solidFill>
                  <a:srgbClr val="5A6377"/>
                </a:solidFill>
                <a:latin typeface="Calibri"/>
              </a:rPr>
              <a:t>The body presents through the five senses; jeevan cognises, selects, resolves, and expresses back through the body.</a:t>
            </a:r>
          </a:p>
        </p:txBody>
      </p:sp>
      <p:sp>
        <p:nvSpPr>
          <p:cNvPr id="16" name="TextBox 15"/>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SB pp. 55, 63–64  ·  JV pp. 47–49, 59  ·  KD §3.10  ·  AnalyticMadhyasthDarshan.org  ·  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TWO  ·  A DECISIVE DISTINCTION</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Three Ways Things Hold Together</a:t>
            </a:r>
          </a:p>
        </p:txBody>
      </p:sp>
      <p:sp>
        <p:nvSpPr>
          <p:cNvPr id="7" name="Rectangle 6"/>
          <p:cNvSpPr/>
          <p:nvPr/>
        </p:nvSpPr>
        <p:spPr>
          <a:xfrm>
            <a:off x="640080" y="1280160"/>
            <a:ext cx="2624328" cy="20574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Structural closure</a:t>
            </a:r>
          </a:p>
        </p:txBody>
      </p:sp>
      <p:sp>
        <p:nvSpPr>
          <p:cNvPr id="9" name="TextBox 8"/>
          <p:cNvSpPr txBox="1"/>
          <p:nvPr/>
        </p:nvSpPr>
        <p:spPr>
          <a:xfrm>
            <a:off x="841247" y="1737360"/>
            <a:ext cx="2221992" cy="1481328"/>
          </a:xfrm>
          <a:prstGeom prst="rect">
            <a:avLst/>
          </a:prstGeom>
          <a:noFill/>
        </p:spPr>
        <p:txBody>
          <a:bodyPr wrap="square" anchor="t" lIns="0" tIns="0" rIns="0" bIns="0">
            <a:spAutoFit/>
          </a:bodyPr>
          <a:lstStyle/>
          <a:p>
            <a:pPr algn="l"/>
            <a:r>
              <a:rPr sz="1050" b="0" i="0">
                <a:solidFill>
                  <a:srgbClr val="5A6377"/>
                </a:solidFill>
                <a:latin typeface="Calibri"/>
              </a:rPr>
              <a:t>Molecule, compound, cell, body: a configuration holds by itself. No recognition is asked of anyone.</a:t>
            </a:r>
          </a:p>
        </p:txBody>
      </p:sp>
      <p:sp>
        <p:nvSpPr>
          <p:cNvPr id="10" name="Rectangle 9"/>
          <p:cNvSpPr/>
          <p:nvPr/>
        </p:nvSpPr>
        <p:spPr>
          <a:xfrm>
            <a:off x="3401568" y="1280160"/>
            <a:ext cx="2624328" cy="20574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2736"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Joint association</a:t>
            </a:r>
          </a:p>
        </p:txBody>
      </p:sp>
      <p:sp>
        <p:nvSpPr>
          <p:cNvPr id="12" name="TextBox 11"/>
          <p:cNvSpPr txBox="1"/>
          <p:nvPr/>
        </p:nvSpPr>
        <p:spPr>
          <a:xfrm>
            <a:off x="3602736" y="1737360"/>
            <a:ext cx="2221992" cy="1481328"/>
          </a:xfrm>
          <a:prstGeom prst="rect">
            <a:avLst/>
          </a:prstGeom>
          <a:noFill/>
        </p:spPr>
        <p:txBody>
          <a:bodyPr wrap="square" anchor="t" lIns="0" tIns="0" rIns="0" bIns="0">
            <a:spAutoFit/>
          </a:bodyPr>
          <a:lstStyle/>
          <a:p>
            <a:pPr algn="l"/>
            <a:r>
              <a:rPr sz="1050" b="0" i="0">
                <a:solidFill>
                  <a:srgbClr val="5A6377"/>
                </a:solidFill>
                <a:latin typeface="Calibri"/>
              </a:rPr>
              <a:t>Animal or human being: body and jeevan operate as one public activity while remaining two units.</a:t>
            </a:r>
          </a:p>
        </p:txBody>
      </p:sp>
      <p:sp>
        <p:nvSpPr>
          <p:cNvPr id="13" name="Rectangle 12"/>
          <p:cNvSpPr/>
          <p:nvPr/>
        </p:nvSpPr>
        <p:spPr>
          <a:xfrm>
            <a:off x="6163056" y="1280160"/>
            <a:ext cx="2624328" cy="205740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1399031"/>
            <a:ext cx="2221992" cy="292608"/>
          </a:xfrm>
          <a:prstGeom prst="rect">
            <a:avLst/>
          </a:prstGeom>
          <a:noFill/>
        </p:spPr>
        <p:txBody>
          <a:bodyPr wrap="square" anchor="ctr" lIns="0" tIns="0" rIns="0" bIns="0">
            <a:spAutoFit/>
          </a:bodyPr>
          <a:lstStyle/>
          <a:p>
            <a:pPr algn="l"/>
            <a:r>
              <a:rPr sz="1250" b="1" i="0">
                <a:solidFill>
                  <a:srgbClr val="9A6414"/>
                </a:solidFill>
                <a:latin typeface="Cambria"/>
              </a:rPr>
              <a:t>Maintained relational order</a:t>
            </a:r>
          </a:p>
        </p:txBody>
      </p:sp>
      <p:sp>
        <p:nvSpPr>
          <p:cNvPr id="15" name="TextBox 14"/>
          <p:cNvSpPr txBox="1"/>
          <p:nvPr/>
        </p:nvSpPr>
        <p:spPr>
          <a:xfrm>
            <a:off x="6364224" y="1737360"/>
            <a:ext cx="2221992" cy="1481328"/>
          </a:xfrm>
          <a:prstGeom prst="rect">
            <a:avLst/>
          </a:prstGeom>
          <a:noFill/>
        </p:spPr>
        <p:txBody>
          <a:bodyPr wrap="square" anchor="t" lIns="0" tIns="0" rIns="0" bIns="0">
            <a:spAutoFit/>
          </a:bodyPr>
          <a:lstStyle/>
          <a:p>
            <a:pPr algn="l"/>
            <a:r>
              <a:rPr sz="1050" b="0" i="0">
                <a:solidFill>
                  <a:srgbClr val="5A6377"/>
                </a:solidFill>
                <a:latin typeface="Calibri"/>
              </a:rPr>
              <a:t>Relationship, family, work, organisation: held only through human recognition, value-fulfilment, regulation, and evaluation.</a:t>
            </a:r>
          </a:p>
        </p:txBody>
      </p:sp>
      <p:sp>
        <p:nvSpPr>
          <p:cNvPr id="16" name="Rectangle 15"/>
          <p:cNvSpPr/>
          <p:nvPr/>
        </p:nvSpPr>
        <p:spPr>
          <a:xfrm>
            <a:off x="640080" y="3566160"/>
            <a:ext cx="7863840" cy="73152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566160"/>
            <a:ext cx="7406640" cy="731520"/>
          </a:xfrm>
          <a:prstGeom prst="rect">
            <a:avLst/>
          </a:prstGeom>
          <a:noFill/>
        </p:spPr>
        <p:txBody>
          <a:bodyPr wrap="square" anchor="ctr" lIns="0" tIns="0" rIns="0" bIns="0">
            <a:spAutoFit/>
          </a:bodyPr>
          <a:lstStyle/>
          <a:p>
            <a:pPr algn="l"/>
            <a:r>
              <a:rPr sz="1080" b="0" i="0">
                <a:solidFill>
                  <a:srgbClr val="5A6377"/>
                </a:solidFill>
                <a:latin typeface="Calibri"/>
              </a:rPr>
              <a:t>A family is not a compound, and an organisation has no jeevan of its own. Misrecognition does not erase a relationship — it damages its just fulfilment.</a:t>
            </a:r>
          </a:p>
        </p:txBody>
      </p:sp>
      <p:sp>
        <p:nvSpPr>
          <p:cNvPr id="18" name="TextBox 17"/>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Study §§3.6, 9.3  ·  MVD p. 42  ·  JV pp. 97–98  ·  AnalyticMadhyasthDarshan.org  ·  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anchor="ctr" lIns="0" tIns="0" rIns="0" bIns="0">
            <a:spAutoFit/>
          </a:bodyPr>
          <a:lstStyle/>
          <a:p>
            <a:pPr algn="l"/>
            <a:r>
              <a:rPr sz="1200" b="1" i="0">
                <a:solidFill>
                  <a:srgbClr val="C9821E"/>
                </a:solidFill>
                <a:latin typeface="Calibri"/>
              </a:rPr>
              <a:t>MOVEMENT THREE  ·  STUDY §§7–8</a:t>
            </a:r>
          </a:p>
        </p:txBody>
      </p:sp>
      <p:sp>
        <p:nvSpPr>
          <p:cNvPr id="12" name="TextBox 11"/>
          <p:cNvSpPr txBox="1"/>
          <p:nvPr/>
        </p:nvSpPr>
        <p:spPr>
          <a:xfrm>
            <a:off x="640080" y="1572768"/>
            <a:ext cx="5577840" cy="1371600"/>
          </a:xfrm>
          <a:prstGeom prst="rect">
            <a:avLst/>
          </a:prstGeom>
          <a:noFill/>
        </p:spPr>
        <p:txBody>
          <a:bodyPr wrap="square" anchor="ctr" lIns="0" tIns="0" rIns="0" bIns="0">
            <a:spAutoFit/>
          </a:bodyPr>
          <a:lstStyle/>
          <a:p>
            <a:pPr algn="l"/>
            <a:r>
              <a:rPr sz="4400" b="1" i="0">
                <a:solidFill>
                  <a:srgbClr val="FFFFFF"/>
                </a:solidFill>
                <a:latin typeface="Cambria"/>
              </a:rPr>
              <a:t>The Human Threshold</a:t>
            </a:r>
          </a:p>
        </p:txBody>
      </p:sp>
      <p:sp>
        <p:nvSpPr>
          <p:cNvPr id="13" name="TextBox 12"/>
          <p:cNvSpPr txBox="1"/>
          <p:nvPr/>
        </p:nvSpPr>
        <p:spPr>
          <a:xfrm>
            <a:off x="640080" y="2926080"/>
            <a:ext cx="4846320" cy="960120"/>
          </a:xfrm>
          <a:prstGeom prst="rect">
            <a:avLst/>
          </a:prstGeom>
          <a:noFill/>
        </p:spPr>
        <p:txBody>
          <a:bodyPr wrap="square" anchor="ctr" lIns="0" tIns="0" rIns="0" bIns="0">
            <a:spAutoFit/>
          </a:bodyPr>
          <a:lstStyle/>
          <a:p>
            <a:pPr algn="l"/>
            <a:r>
              <a:rPr sz="1500" b="0" i="1">
                <a:solidFill>
                  <a:srgbClr val="C9D4EF"/>
                </a:solidFill>
                <a:latin typeface="Calibri"/>
              </a:rPr>
              <a:t>The same jeevan can live from four and a half activities in delusion, or from all ten in awakening.</a:t>
            </a:r>
          </a:p>
        </p:txBody>
      </p:sp>
      <p:sp>
        <p:nvSpPr>
          <p:cNvPr id="14" name="TextBox 13"/>
          <p:cNvSpPr txBox="1"/>
          <p:nvPr/>
        </p:nvSpPr>
        <p:spPr>
          <a:xfrm>
            <a:off x="640080" y="416052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Answers  ·  What understands?  ·  Why do we err?  ·  What changes with study?</a:t>
            </a:r>
          </a:p>
        </p:txBody>
      </p:sp>
      <p:sp>
        <p:nvSpPr>
          <p:cNvPr id="15" name="TextBox 14"/>
          <p:cNvSpPr txBox="1"/>
          <p:nvPr/>
        </p:nvSpPr>
        <p:spPr>
          <a:xfrm>
            <a:off x="640080" y="443484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AnalyticMadhyasthDarshan.org  ·  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JEEVAN WITHIN</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Five Faculties, Ten Activities</a:t>
            </a:r>
          </a:p>
        </p:txBody>
      </p:sp>
      <p:sp>
        <p:nvSpPr>
          <p:cNvPr id="7" name="TextBox 6"/>
          <p:cNvSpPr txBox="1"/>
          <p:nvPr/>
        </p:nvSpPr>
        <p:spPr>
          <a:xfrm>
            <a:off x="640080" y="1170432"/>
            <a:ext cx="7955279" cy="438912"/>
          </a:xfrm>
          <a:prstGeom prst="rect">
            <a:avLst/>
          </a:prstGeom>
          <a:noFill/>
        </p:spPr>
        <p:txBody>
          <a:bodyPr wrap="square" anchor="ctr" lIns="0" tIns="0" rIns="0" bIns="0">
            <a:spAutoFit/>
          </a:bodyPr>
          <a:lstStyle/>
          <a:p>
            <a:pPr algn="l"/>
            <a:r>
              <a:rPr sz="1200" b="0" i="0">
                <a:solidFill>
                  <a:srgbClr val="5A6377"/>
                </a:solidFill>
                <a:latin typeface="Calibri"/>
              </a:rPr>
              <a:t>Each faculty bears one activity in state (bal — strength) and one in motion (shakti — power): the same pairing every unit shows.</a:t>
            </a:r>
          </a:p>
        </p:txBody>
      </p:sp>
      <p:sp>
        <p:nvSpPr>
          <p:cNvPr id="8" name="TextBox 7"/>
          <p:cNvSpPr txBox="1"/>
          <p:nvPr/>
        </p:nvSpPr>
        <p:spPr>
          <a:xfrm>
            <a:off x="2395728" y="1463039"/>
            <a:ext cx="2926080" cy="237744"/>
          </a:xfrm>
          <a:prstGeom prst="rect">
            <a:avLst/>
          </a:prstGeom>
          <a:noFill/>
        </p:spPr>
        <p:txBody>
          <a:bodyPr wrap="square" anchor="ctr" lIns="0" tIns="0" rIns="0" bIns="0">
            <a:spAutoFit/>
          </a:bodyPr>
          <a:lstStyle/>
          <a:p>
            <a:pPr algn="l"/>
            <a:r>
              <a:rPr sz="950" b="1" i="0">
                <a:solidFill>
                  <a:srgbClr val="9A6414"/>
                </a:solidFill>
                <a:latin typeface="Calibri"/>
              </a:rPr>
              <a:t>IN STATE — STRENGTH</a:t>
            </a:r>
          </a:p>
        </p:txBody>
      </p:sp>
      <p:sp>
        <p:nvSpPr>
          <p:cNvPr id="9" name="TextBox 8"/>
          <p:cNvSpPr txBox="1"/>
          <p:nvPr/>
        </p:nvSpPr>
        <p:spPr>
          <a:xfrm>
            <a:off x="5596128" y="1463039"/>
            <a:ext cx="2926080" cy="237744"/>
          </a:xfrm>
          <a:prstGeom prst="rect">
            <a:avLst/>
          </a:prstGeom>
          <a:noFill/>
        </p:spPr>
        <p:txBody>
          <a:bodyPr wrap="square" anchor="ctr" lIns="0" tIns="0" rIns="0" bIns="0">
            <a:spAutoFit/>
          </a:bodyPr>
          <a:lstStyle/>
          <a:p>
            <a:pPr algn="l"/>
            <a:r>
              <a:rPr sz="950" b="1" i="0">
                <a:solidFill>
                  <a:srgbClr val="9A6414"/>
                </a:solidFill>
                <a:latin typeface="Calibri"/>
              </a:rPr>
              <a:t>IN MOTION — POWER</a:t>
            </a:r>
          </a:p>
        </p:txBody>
      </p:sp>
      <p:sp>
        <p:nvSpPr>
          <p:cNvPr id="10" name="Rectangle 9"/>
          <p:cNvSpPr/>
          <p:nvPr/>
        </p:nvSpPr>
        <p:spPr>
          <a:xfrm>
            <a:off x="640080" y="1719072"/>
            <a:ext cx="1572768"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1719072"/>
            <a:ext cx="1371600" cy="457200"/>
          </a:xfrm>
          <a:prstGeom prst="rect">
            <a:avLst/>
          </a:prstGeom>
          <a:noFill/>
        </p:spPr>
        <p:txBody>
          <a:bodyPr wrap="square" anchor="ctr" lIns="0" tIns="0" rIns="0" bIns="0">
            <a:spAutoFit/>
          </a:bodyPr>
          <a:lstStyle/>
          <a:p>
            <a:pPr algn="l"/>
            <a:r>
              <a:rPr sz="1300" b="1" i="0">
                <a:solidFill>
                  <a:srgbClr val="FFFFFF"/>
                </a:solidFill>
                <a:latin typeface="Cambria"/>
              </a:rPr>
              <a:t>Atma</a:t>
            </a:r>
          </a:p>
        </p:txBody>
      </p:sp>
      <p:sp>
        <p:nvSpPr>
          <p:cNvPr id="12" name="Rectangle 11"/>
          <p:cNvSpPr/>
          <p:nvPr/>
        </p:nvSpPr>
        <p:spPr>
          <a:xfrm>
            <a:off x="2212848" y="1719072"/>
            <a:ext cx="310896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95728" y="1719072"/>
            <a:ext cx="2834640" cy="457200"/>
          </a:xfrm>
          <a:prstGeom prst="rect">
            <a:avLst/>
          </a:prstGeom>
          <a:noFill/>
        </p:spPr>
        <p:txBody>
          <a:bodyPr wrap="square" anchor="ctr" lIns="0" tIns="0" rIns="0" bIns="0">
            <a:spAutoFit/>
          </a:bodyPr>
          <a:lstStyle/>
          <a:p>
            <a:pPr algn="l"/>
            <a:r>
              <a:rPr sz="1150" b="0" i="0">
                <a:solidFill>
                  <a:srgbClr val="5A6377"/>
                </a:solidFill>
                <a:latin typeface="Calibri"/>
              </a:rPr>
              <a:t>Realisation (anubhav)</a:t>
            </a:r>
          </a:p>
        </p:txBody>
      </p:sp>
      <p:sp>
        <p:nvSpPr>
          <p:cNvPr id="14" name="Rectangle 13"/>
          <p:cNvSpPr/>
          <p:nvPr/>
        </p:nvSpPr>
        <p:spPr>
          <a:xfrm>
            <a:off x="5321808" y="1719072"/>
            <a:ext cx="3182112"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4688" y="1719072"/>
            <a:ext cx="2889504" cy="457200"/>
          </a:xfrm>
          <a:prstGeom prst="rect">
            <a:avLst/>
          </a:prstGeom>
          <a:noFill/>
        </p:spPr>
        <p:txBody>
          <a:bodyPr wrap="square" anchor="ctr" lIns="0" tIns="0" rIns="0" bIns="0">
            <a:spAutoFit/>
          </a:bodyPr>
          <a:lstStyle/>
          <a:p>
            <a:pPr algn="l"/>
            <a:r>
              <a:rPr sz="1150" b="0" i="0">
                <a:solidFill>
                  <a:srgbClr val="5A6377"/>
                </a:solidFill>
                <a:latin typeface="Calibri"/>
              </a:rPr>
              <a:t>Evidence (pramanikta)</a:t>
            </a:r>
          </a:p>
        </p:txBody>
      </p:sp>
      <p:sp>
        <p:nvSpPr>
          <p:cNvPr id="16" name="Rectangle 15"/>
          <p:cNvSpPr/>
          <p:nvPr/>
        </p:nvSpPr>
        <p:spPr>
          <a:xfrm>
            <a:off x="640080" y="2240279"/>
            <a:ext cx="1572768"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2240279"/>
            <a:ext cx="1371600" cy="457200"/>
          </a:xfrm>
          <a:prstGeom prst="rect">
            <a:avLst/>
          </a:prstGeom>
          <a:noFill/>
        </p:spPr>
        <p:txBody>
          <a:bodyPr wrap="square" anchor="ctr" lIns="0" tIns="0" rIns="0" bIns="0">
            <a:spAutoFit/>
          </a:bodyPr>
          <a:lstStyle/>
          <a:p>
            <a:pPr algn="l"/>
            <a:r>
              <a:rPr sz="1300" b="1" i="0">
                <a:solidFill>
                  <a:srgbClr val="FFFFFF"/>
                </a:solidFill>
                <a:latin typeface="Cambria"/>
              </a:rPr>
              <a:t>Buddhi</a:t>
            </a:r>
          </a:p>
        </p:txBody>
      </p:sp>
      <p:sp>
        <p:nvSpPr>
          <p:cNvPr id="18" name="Rectangle 17"/>
          <p:cNvSpPr/>
          <p:nvPr/>
        </p:nvSpPr>
        <p:spPr>
          <a:xfrm>
            <a:off x="2212848" y="2240279"/>
            <a:ext cx="310896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95728" y="2240279"/>
            <a:ext cx="2834640" cy="457200"/>
          </a:xfrm>
          <a:prstGeom prst="rect">
            <a:avLst/>
          </a:prstGeom>
          <a:noFill/>
        </p:spPr>
        <p:txBody>
          <a:bodyPr wrap="square" anchor="ctr" lIns="0" tIns="0" rIns="0" bIns="0">
            <a:spAutoFit/>
          </a:bodyPr>
          <a:lstStyle/>
          <a:p>
            <a:pPr algn="l"/>
            <a:r>
              <a:rPr sz="1150" b="0" i="0">
                <a:solidFill>
                  <a:srgbClr val="5A6377"/>
                </a:solidFill>
                <a:latin typeface="Calibri"/>
              </a:rPr>
              <a:t>Enlightenment (bodh)</a:t>
            </a:r>
          </a:p>
        </p:txBody>
      </p:sp>
      <p:sp>
        <p:nvSpPr>
          <p:cNvPr id="20" name="Rectangle 19"/>
          <p:cNvSpPr/>
          <p:nvPr/>
        </p:nvSpPr>
        <p:spPr>
          <a:xfrm>
            <a:off x="5321808" y="2240279"/>
            <a:ext cx="3182112"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04688" y="2240279"/>
            <a:ext cx="2889504" cy="457200"/>
          </a:xfrm>
          <a:prstGeom prst="rect">
            <a:avLst/>
          </a:prstGeom>
          <a:noFill/>
        </p:spPr>
        <p:txBody>
          <a:bodyPr wrap="square" anchor="ctr" lIns="0" tIns="0" rIns="0" bIns="0">
            <a:spAutoFit/>
          </a:bodyPr>
          <a:lstStyle/>
          <a:p>
            <a:pPr algn="l"/>
            <a:r>
              <a:rPr sz="1150" b="0" i="0">
                <a:solidFill>
                  <a:srgbClr val="5A6377"/>
                </a:solidFill>
                <a:latin typeface="Calibri"/>
              </a:rPr>
              <a:t>Resolve (sankalp)</a:t>
            </a:r>
          </a:p>
        </p:txBody>
      </p:sp>
      <p:sp>
        <p:nvSpPr>
          <p:cNvPr id="22" name="Rectangle 21"/>
          <p:cNvSpPr/>
          <p:nvPr/>
        </p:nvSpPr>
        <p:spPr>
          <a:xfrm>
            <a:off x="640080" y="2761487"/>
            <a:ext cx="1572768"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2761487"/>
            <a:ext cx="1371600" cy="457200"/>
          </a:xfrm>
          <a:prstGeom prst="rect">
            <a:avLst/>
          </a:prstGeom>
          <a:noFill/>
        </p:spPr>
        <p:txBody>
          <a:bodyPr wrap="square" anchor="ctr" lIns="0" tIns="0" rIns="0" bIns="0">
            <a:spAutoFit/>
          </a:bodyPr>
          <a:lstStyle/>
          <a:p>
            <a:pPr algn="l"/>
            <a:r>
              <a:rPr sz="1300" b="1" i="0">
                <a:solidFill>
                  <a:srgbClr val="FFFFFF"/>
                </a:solidFill>
                <a:latin typeface="Cambria"/>
              </a:rPr>
              <a:t>Chitta</a:t>
            </a:r>
          </a:p>
        </p:txBody>
      </p:sp>
      <p:sp>
        <p:nvSpPr>
          <p:cNvPr id="24" name="Rectangle 23"/>
          <p:cNvSpPr/>
          <p:nvPr/>
        </p:nvSpPr>
        <p:spPr>
          <a:xfrm>
            <a:off x="2212848" y="2761487"/>
            <a:ext cx="310896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395728" y="2761487"/>
            <a:ext cx="2834640" cy="457200"/>
          </a:xfrm>
          <a:prstGeom prst="rect">
            <a:avLst/>
          </a:prstGeom>
          <a:noFill/>
        </p:spPr>
        <p:txBody>
          <a:bodyPr wrap="square" anchor="ctr" lIns="0" tIns="0" rIns="0" bIns="0">
            <a:spAutoFit/>
          </a:bodyPr>
          <a:lstStyle/>
          <a:p>
            <a:pPr algn="l"/>
            <a:r>
              <a:rPr sz="1150" b="0" i="0">
                <a:solidFill>
                  <a:srgbClr val="5A6377"/>
                </a:solidFill>
                <a:latin typeface="Calibri"/>
              </a:rPr>
              <a:t>Contemplation (chintan)</a:t>
            </a:r>
          </a:p>
        </p:txBody>
      </p:sp>
      <p:sp>
        <p:nvSpPr>
          <p:cNvPr id="26" name="Rectangle 25"/>
          <p:cNvSpPr/>
          <p:nvPr/>
        </p:nvSpPr>
        <p:spPr>
          <a:xfrm>
            <a:off x="5321808" y="2761487"/>
            <a:ext cx="3182112"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504688" y="2761487"/>
            <a:ext cx="2889504" cy="457200"/>
          </a:xfrm>
          <a:prstGeom prst="rect">
            <a:avLst/>
          </a:prstGeom>
          <a:noFill/>
        </p:spPr>
        <p:txBody>
          <a:bodyPr wrap="square" anchor="ctr" lIns="0" tIns="0" rIns="0" bIns="0">
            <a:spAutoFit/>
          </a:bodyPr>
          <a:lstStyle/>
          <a:p>
            <a:pPr algn="l"/>
            <a:r>
              <a:rPr sz="1150" b="0" i="0">
                <a:solidFill>
                  <a:srgbClr val="5A6377"/>
                </a:solidFill>
                <a:latin typeface="Calibri"/>
              </a:rPr>
              <a:t>Imaging (chitran)</a:t>
            </a:r>
          </a:p>
        </p:txBody>
      </p:sp>
      <p:sp>
        <p:nvSpPr>
          <p:cNvPr id="28" name="Rectangle 27"/>
          <p:cNvSpPr/>
          <p:nvPr/>
        </p:nvSpPr>
        <p:spPr>
          <a:xfrm>
            <a:off x="640080" y="3282695"/>
            <a:ext cx="1572768"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8" y="3282695"/>
            <a:ext cx="1371600" cy="457200"/>
          </a:xfrm>
          <a:prstGeom prst="rect">
            <a:avLst/>
          </a:prstGeom>
          <a:noFill/>
        </p:spPr>
        <p:txBody>
          <a:bodyPr wrap="square" anchor="ctr" lIns="0" tIns="0" rIns="0" bIns="0">
            <a:spAutoFit/>
          </a:bodyPr>
          <a:lstStyle/>
          <a:p>
            <a:pPr algn="l"/>
            <a:r>
              <a:rPr sz="1300" b="1" i="0">
                <a:solidFill>
                  <a:srgbClr val="FFFFFF"/>
                </a:solidFill>
                <a:latin typeface="Cambria"/>
              </a:rPr>
              <a:t>Vritti</a:t>
            </a:r>
          </a:p>
        </p:txBody>
      </p:sp>
      <p:sp>
        <p:nvSpPr>
          <p:cNvPr id="30" name="Rectangle 29"/>
          <p:cNvSpPr/>
          <p:nvPr/>
        </p:nvSpPr>
        <p:spPr>
          <a:xfrm>
            <a:off x="2212848" y="3282695"/>
            <a:ext cx="310896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95728" y="3282695"/>
            <a:ext cx="2834640" cy="457200"/>
          </a:xfrm>
          <a:prstGeom prst="rect">
            <a:avLst/>
          </a:prstGeom>
          <a:noFill/>
        </p:spPr>
        <p:txBody>
          <a:bodyPr wrap="square" anchor="ctr" lIns="0" tIns="0" rIns="0" bIns="0">
            <a:spAutoFit/>
          </a:bodyPr>
          <a:lstStyle/>
          <a:p>
            <a:pPr algn="l"/>
            <a:r>
              <a:rPr sz="1150" b="0" i="0">
                <a:solidFill>
                  <a:srgbClr val="5A6377"/>
                </a:solidFill>
                <a:latin typeface="Calibri"/>
              </a:rPr>
              <a:t>Comparison (tulana)</a:t>
            </a:r>
          </a:p>
        </p:txBody>
      </p:sp>
      <p:sp>
        <p:nvSpPr>
          <p:cNvPr id="32" name="Rectangle 31"/>
          <p:cNvSpPr/>
          <p:nvPr/>
        </p:nvSpPr>
        <p:spPr>
          <a:xfrm>
            <a:off x="5321808" y="3282695"/>
            <a:ext cx="3182112"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04688" y="3282695"/>
            <a:ext cx="2889504" cy="457200"/>
          </a:xfrm>
          <a:prstGeom prst="rect">
            <a:avLst/>
          </a:prstGeom>
          <a:noFill/>
        </p:spPr>
        <p:txBody>
          <a:bodyPr wrap="square" anchor="ctr" lIns="0" tIns="0" rIns="0" bIns="0">
            <a:spAutoFit/>
          </a:bodyPr>
          <a:lstStyle/>
          <a:p>
            <a:pPr algn="l"/>
            <a:r>
              <a:rPr sz="1150" b="0" i="0">
                <a:solidFill>
                  <a:srgbClr val="5A6377"/>
                </a:solidFill>
                <a:latin typeface="Calibri"/>
              </a:rPr>
              <a:t>Analysis (vishleshan)</a:t>
            </a:r>
          </a:p>
        </p:txBody>
      </p:sp>
      <p:sp>
        <p:nvSpPr>
          <p:cNvPr id="34" name="Rectangle 33"/>
          <p:cNvSpPr/>
          <p:nvPr/>
        </p:nvSpPr>
        <p:spPr>
          <a:xfrm>
            <a:off x="640080" y="3803903"/>
            <a:ext cx="1572768"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808" y="3803903"/>
            <a:ext cx="1371600" cy="457200"/>
          </a:xfrm>
          <a:prstGeom prst="rect">
            <a:avLst/>
          </a:prstGeom>
          <a:noFill/>
        </p:spPr>
        <p:txBody>
          <a:bodyPr wrap="square" anchor="ctr" lIns="0" tIns="0" rIns="0" bIns="0">
            <a:spAutoFit/>
          </a:bodyPr>
          <a:lstStyle/>
          <a:p>
            <a:pPr algn="l"/>
            <a:r>
              <a:rPr sz="1300" b="1" i="0">
                <a:solidFill>
                  <a:srgbClr val="FFFFFF"/>
                </a:solidFill>
                <a:latin typeface="Cambria"/>
              </a:rPr>
              <a:t>Mun</a:t>
            </a:r>
          </a:p>
        </p:txBody>
      </p:sp>
      <p:sp>
        <p:nvSpPr>
          <p:cNvPr id="36" name="Rectangle 35"/>
          <p:cNvSpPr/>
          <p:nvPr/>
        </p:nvSpPr>
        <p:spPr>
          <a:xfrm>
            <a:off x="2212848" y="3803903"/>
            <a:ext cx="310896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95728" y="3803903"/>
            <a:ext cx="2834640" cy="457200"/>
          </a:xfrm>
          <a:prstGeom prst="rect">
            <a:avLst/>
          </a:prstGeom>
          <a:noFill/>
        </p:spPr>
        <p:txBody>
          <a:bodyPr wrap="square" anchor="ctr" lIns="0" tIns="0" rIns="0" bIns="0">
            <a:spAutoFit/>
          </a:bodyPr>
          <a:lstStyle/>
          <a:p>
            <a:pPr algn="l"/>
            <a:r>
              <a:rPr sz="1150" b="0" i="0">
                <a:solidFill>
                  <a:srgbClr val="5A6377"/>
                </a:solidFill>
                <a:latin typeface="Calibri"/>
              </a:rPr>
              <a:t>Tasting (asvadan)</a:t>
            </a:r>
          </a:p>
        </p:txBody>
      </p:sp>
      <p:sp>
        <p:nvSpPr>
          <p:cNvPr id="38" name="Rectangle 37"/>
          <p:cNvSpPr/>
          <p:nvPr/>
        </p:nvSpPr>
        <p:spPr>
          <a:xfrm>
            <a:off x="5321808" y="3803903"/>
            <a:ext cx="3182112"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04688" y="3803903"/>
            <a:ext cx="2889504" cy="457200"/>
          </a:xfrm>
          <a:prstGeom prst="rect">
            <a:avLst/>
          </a:prstGeom>
          <a:noFill/>
        </p:spPr>
        <p:txBody>
          <a:bodyPr wrap="square" anchor="ctr" lIns="0" tIns="0" rIns="0" bIns="0">
            <a:spAutoFit/>
          </a:bodyPr>
          <a:lstStyle/>
          <a:p>
            <a:pPr algn="l"/>
            <a:r>
              <a:rPr sz="1150" b="0" i="0">
                <a:solidFill>
                  <a:srgbClr val="5A6377"/>
                </a:solidFill>
                <a:latin typeface="Calibri"/>
              </a:rPr>
              <a:t>Selection (chayan)</a:t>
            </a:r>
          </a:p>
        </p:txBody>
      </p:sp>
      <p:sp>
        <p:nvSpPr>
          <p:cNvPr id="40" name="TextBox 39"/>
          <p:cNvSpPr txBox="1"/>
          <p:nvPr/>
        </p:nvSpPr>
        <p:spPr>
          <a:xfrm>
            <a:off x="640080" y="4389120"/>
            <a:ext cx="7955279" cy="274320"/>
          </a:xfrm>
          <a:prstGeom prst="rect">
            <a:avLst/>
          </a:prstGeom>
          <a:noFill/>
        </p:spPr>
        <p:txBody>
          <a:bodyPr wrap="square" anchor="ctr" lIns="0" tIns="0" rIns="0" bIns="0">
            <a:spAutoFit/>
          </a:bodyPr>
          <a:lstStyle/>
          <a:p>
            <a:pPr algn="l"/>
            <a:r>
              <a:rPr sz="1050" b="0" i="1">
                <a:solidFill>
                  <a:srgbClr val="5A6377"/>
                </a:solidFill>
                <a:latin typeface="Calibri"/>
              </a:rPr>
              <a:t>In finer grain the texts name 61 bal–shakti positions — 122 activities — as the vocabulary these ten work over.</a:t>
            </a:r>
          </a:p>
        </p:txBody>
      </p:sp>
      <p:sp>
        <p:nvSpPr>
          <p:cNvPr id="41" name="TextBox 40"/>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KD §3.6  ·  JV pp. 92–94  ·  MVD pp. 78, 323  ·  AnalyticMadhyasthDarshan.org  ·  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BHRAM</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Living on Four and a Half</a:t>
            </a:r>
          </a:p>
        </p:txBody>
      </p:sp>
      <p:sp>
        <p:nvSpPr>
          <p:cNvPr id="7" name="Oval 6"/>
          <p:cNvSpPr/>
          <p:nvPr/>
        </p:nvSpPr>
        <p:spPr>
          <a:xfrm>
            <a:off x="640080" y="1348739"/>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1280160"/>
            <a:ext cx="7406640" cy="502920"/>
          </a:xfrm>
          <a:prstGeom prst="rect">
            <a:avLst/>
          </a:prstGeom>
          <a:noFill/>
        </p:spPr>
        <p:txBody>
          <a:bodyPr wrap="square" anchor="ctr" lIns="0" tIns="0" rIns="0" bIns="0">
            <a:spAutoFit/>
          </a:bodyPr>
          <a:lstStyle/>
          <a:p>
            <a:pPr algn="l"/>
            <a:r>
              <a:rPr sz="1300" b="1" i="0">
                <a:solidFill>
                  <a:srgbClr val="1E2447"/>
                </a:solidFill>
                <a:latin typeface="Calibri"/>
              </a:rPr>
              <a:t>The body is taken as the self</a:t>
            </a:r>
            <a:r>
              <a:rPr sz="1300" b="0" i="0">
                <a:solidFill>
                  <a:srgbClr val="5A6377"/>
                </a:solidFill>
                <a:latin typeface="Calibri"/>
              </a:rPr>
              <a:t>  —  comparison is organised from sensory input</a:t>
            </a:r>
          </a:p>
        </p:txBody>
      </p:sp>
      <p:sp>
        <p:nvSpPr>
          <p:cNvPr id="9" name="Oval 8"/>
          <p:cNvSpPr/>
          <p:nvPr/>
        </p:nvSpPr>
        <p:spPr>
          <a:xfrm>
            <a:off x="640080" y="1970532"/>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1901952"/>
            <a:ext cx="7406640" cy="502920"/>
          </a:xfrm>
          <a:prstGeom prst="rect">
            <a:avLst/>
          </a:prstGeom>
          <a:noFill/>
        </p:spPr>
        <p:txBody>
          <a:bodyPr wrap="square" anchor="ctr" lIns="0" tIns="0" rIns="0" bIns="0">
            <a:spAutoFit/>
          </a:bodyPr>
          <a:lstStyle/>
          <a:p>
            <a:pPr algn="l"/>
            <a:r>
              <a:rPr sz="1300" b="1" i="0">
                <a:solidFill>
                  <a:srgbClr val="1E2447"/>
                </a:solidFill>
                <a:latin typeface="Calibri"/>
              </a:rPr>
              <a:t>Effective: selection, tasting, analysis, imaging</a:t>
            </a:r>
            <a:r>
              <a:rPr sz="1300" b="0" i="0">
                <a:solidFill>
                  <a:srgbClr val="5A6377"/>
                </a:solidFill>
                <a:latin typeface="Calibri"/>
              </a:rPr>
              <a:t>  —  and only half of comparison</a:t>
            </a:r>
          </a:p>
        </p:txBody>
      </p:sp>
      <p:sp>
        <p:nvSpPr>
          <p:cNvPr id="11" name="Oval 10"/>
          <p:cNvSpPr/>
          <p:nvPr/>
        </p:nvSpPr>
        <p:spPr>
          <a:xfrm>
            <a:off x="640080" y="2592324"/>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2523744"/>
            <a:ext cx="7406640" cy="502920"/>
          </a:xfrm>
          <a:prstGeom prst="rect">
            <a:avLst/>
          </a:prstGeom>
          <a:noFill/>
        </p:spPr>
        <p:txBody>
          <a:bodyPr wrap="square" anchor="ctr" lIns="0" tIns="0" rIns="0" bIns="0">
            <a:spAutoFit/>
          </a:bodyPr>
          <a:lstStyle/>
          <a:p>
            <a:pPr algn="l"/>
            <a:r>
              <a:rPr sz="1300" b="1" i="0">
                <a:solidFill>
                  <a:srgbClr val="1E2447"/>
                </a:solidFill>
                <a:latin typeface="Calibri"/>
              </a:rPr>
              <a:t>Priya–hita–labh decide</a:t>
            </a:r>
            <a:r>
              <a:rPr sz="1300" b="0" i="0">
                <a:solidFill>
                  <a:srgbClr val="5A6377"/>
                </a:solidFill>
                <a:latin typeface="Calibri"/>
              </a:rPr>
              <a:t>  —  the pleasant, the healthy, the profitable</a:t>
            </a:r>
          </a:p>
        </p:txBody>
      </p:sp>
      <p:sp>
        <p:nvSpPr>
          <p:cNvPr id="13" name="Oval 12"/>
          <p:cNvSpPr/>
          <p:nvPr/>
        </p:nvSpPr>
        <p:spPr>
          <a:xfrm>
            <a:off x="640080" y="3214116"/>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3145536"/>
            <a:ext cx="7406640" cy="502920"/>
          </a:xfrm>
          <a:prstGeom prst="rect">
            <a:avLst/>
          </a:prstGeom>
          <a:noFill/>
        </p:spPr>
        <p:txBody>
          <a:bodyPr wrap="square" anchor="ctr" lIns="0" tIns="0" rIns="0" bIns="0">
            <a:spAutoFit/>
          </a:bodyPr>
          <a:lstStyle/>
          <a:p>
            <a:pPr algn="l"/>
            <a:r>
              <a:rPr sz="1300" b="1" i="0">
                <a:solidFill>
                  <a:srgbClr val="1E2447"/>
                </a:solidFill>
                <a:latin typeface="Calibri"/>
              </a:rPr>
              <a:t>Human dharma remains happiness</a:t>
            </a:r>
            <a:r>
              <a:rPr sz="1300" b="0" i="0">
                <a:solidFill>
                  <a:srgbClr val="5A6377"/>
                </a:solidFill>
                <a:latin typeface="Calibri"/>
              </a:rPr>
              <a:t>  —  the error is in what is accepted as its fulfilment</a:t>
            </a:r>
          </a:p>
        </p:txBody>
      </p:sp>
      <p:sp>
        <p:nvSpPr>
          <p:cNvPr id="15" name="Oval 14"/>
          <p:cNvSpPr/>
          <p:nvPr/>
        </p:nvSpPr>
        <p:spPr>
          <a:xfrm>
            <a:off x="640080" y="3835908"/>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3767328"/>
            <a:ext cx="7406640" cy="502920"/>
          </a:xfrm>
          <a:prstGeom prst="rect">
            <a:avLst/>
          </a:prstGeom>
          <a:noFill/>
        </p:spPr>
        <p:txBody>
          <a:bodyPr wrap="square" anchor="ctr" lIns="0" tIns="0" rIns="0" bIns="0">
            <a:spAutoFit/>
          </a:bodyPr>
          <a:lstStyle/>
          <a:p>
            <a:pPr algn="l"/>
            <a:r>
              <a:rPr sz="1300" b="1" i="0">
                <a:solidFill>
                  <a:srgbClr val="1E2447"/>
                </a:solidFill>
                <a:latin typeface="Calibri"/>
              </a:rPr>
              <a:t>The inventory is intact</a:t>
            </a:r>
            <a:r>
              <a:rPr sz="1300" b="0" i="0">
                <a:solidFill>
                  <a:srgbClr val="5A6377"/>
                </a:solidFill>
                <a:latin typeface="Calibri"/>
              </a:rPr>
              <a:t>  —  awakening changes governance, not the parts list</a:t>
            </a:r>
          </a:p>
        </p:txBody>
      </p:sp>
      <p:sp>
        <p:nvSpPr>
          <p:cNvPr id="17" name="Rectangle 16"/>
          <p:cNvSpPr/>
          <p:nvPr/>
        </p:nvSpPr>
        <p:spPr>
          <a:xfrm>
            <a:off x="640080" y="4434840"/>
            <a:ext cx="7863840" cy="3200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434840"/>
            <a:ext cx="7406640" cy="320040"/>
          </a:xfrm>
          <a:prstGeom prst="rect">
            <a:avLst/>
          </a:prstGeom>
          <a:noFill/>
        </p:spPr>
        <p:txBody>
          <a:bodyPr wrap="square" anchor="ctr" lIns="0" tIns="0" rIns="0" bIns="0">
            <a:spAutoFit/>
          </a:bodyPr>
          <a:lstStyle/>
          <a:p>
            <a:pPr algn="l"/>
            <a:r>
              <a:rPr sz="1050" b="0" i="0">
                <a:solidFill>
                  <a:srgbClr val="5A6377"/>
                </a:solidFill>
                <a:latin typeface="Calibri"/>
              </a:rPr>
              <a:t>Pleasure, health, and gain stay relevant information — they simply cannot authorise an act that fails justice, dharma, or truth.</a:t>
            </a:r>
          </a:p>
        </p:txBody>
      </p:sp>
      <p:sp>
        <p:nvSpPr>
          <p:cNvPr id="19" name="TextBox 18"/>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JV pp. 73–74  ·  MVD pp. 66–67, 78  ·  SB pp. 91–92  ·  AnalyticMadhyasthDarshan.org  ·  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UNFOLDING</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Study, Awakening, and Projection</a:t>
            </a:r>
          </a:p>
        </p:txBody>
      </p:sp>
      <p:sp>
        <p:nvSpPr>
          <p:cNvPr id="7" name="TextBox 6"/>
          <p:cNvSpPr txBox="1"/>
          <p:nvPr/>
        </p:nvSpPr>
        <p:spPr>
          <a:xfrm>
            <a:off x="640080" y="1170432"/>
            <a:ext cx="7955279" cy="457200"/>
          </a:xfrm>
          <a:prstGeom prst="rect">
            <a:avLst/>
          </a:prstGeom>
          <a:noFill/>
        </p:spPr>
        <p:txBody>
          <a:bodyPr wrap="square" anchor="ctr" lIns="0" tIns="0" rIns="0" bIns="0">
            <a:spAutoFit/>
          </a:bodyPr>
          <a:lstStyle/>
          <a:p>
            <a:pPr algn="l"/>
            <a:r>
              <a:rPr sz="1200" b="0" i="0">
                <a:solidFill>
                  <a:srgbClr val="5A6377"/>
                </a:solidFill>
                <a:latin typeface="Calibri"/>
              </a:rPr>
              <a:t>Study can mature into direct recognition, enlightenment, and realisation; realised content then projects outward through the same faculties.</a:t>
            </a:r>
          </a:p>
        </p:txBody>
      </p:sp>
      <p:sp>
        <p:nvSpPr>
          <p:cNvPr id="8" name="TextBox 7"/>
          <p:cNvSpPr txBox="1"/>
          <p:nvPr/>
        </p:nvSpPr>
        <p:spPr>
          <a:xfrm>
            <a:off x="640080" y="1783080"/>
            <a:ext cx="7863840" cy="256032"/>
          </a:xfrm>
          <a:prstGeom prst="rect">
            <a:avLst/>
          </a:prstGeom>
          <a:noFill/>
        </p:spPr>
        <p:txBody>
          <a:bodyPr wrap="square" anchor="ctr" lIns="0" tIns="0" rIns="0" bIns="0">
            <a:spAutoFit/>
          </a:bodyPr>
          <a:lstStyle/>
          <a:p>
            <a:pPr algn="l"/>
            <a:r>
              <a:rPr sz="950" b="1" i="0">
                <a:solidFill>
                  <a:srgbClr val="9A6414"/>
                </a:solidFill>
                <a:latin typeface="Calibri"/>
              </a:rPr>
              <a:t>INWARD — THE WAY OF STUDY</a:t>
            </a:r>
          </a:p>
        </p:txBody>
      </p:sp>
      <p:sp>
        <p:nvSpPr>
          <p:cNvPr id="9" name="Rectangle 8"/>
          <p:cNvSpPr/>
          <p:nvPr/>
        </p:nvSpPr>
        <p:spPr>
          <a:xfrm>
            <a:off x="640080" y="2057400"/>
            <a:ext cx="1691640" cy="50292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57400"/>
            <a:ext cx="1691640" cy="502920"/>
          </a:xfrm>
          <a:prstGeom prst="rect">
            <a:avLst/>
          </a:prstGeom>
          <a:noFill/>
        </p:spPr>
        <p:txBody>
          <a:bodyPr wrap="square" anchor="ctr" lIns="0" tIns="0" rIns="0" bIns="0">
            <a:spAutoFit/>
          </a:bodyPr>
          <a:lstStyle/>
          <a:p>
            <a:pPr algn="ctr"/>
            <a:r>
              <a:rPr sz="1150" b="1" i="0">
                <a:solidFill>
                  <a:srgbClr val="FFFFFF"/>
                </a:solidFill>
                <a:latin typeface="Calibri"/>
              </a:rPr>
              <a:t>Study</a:t>
            </a:r>
          </a:p>
        </p:txBody>
      </p:sp>
      <p:sp>
        <p:nvSpPr>
          <p:cNvPr id="11" name="TextBox 10"/>
          <p:cNvSpPr txBox="1"/>
          <p:nvPr/>
        </p:nvSpPr>
        <p:spPr>
          <a:xfrm>
            <a:off x="2331720" y="205740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2" name="Rectangle 11"/>
          <p:cNvSpPr/>
          <p:nvPr/>
        </p:nvSpPr>
        <p:spPr>
          <a:xfrm>
            <a:off x="2651760" y="2057400"/>
            <a:ext cx="1783080" cy="50292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51760" y="2057400"/>
            <a:ext cx="1783080" cy="502920"/>
          </a:xfrm>
          <a:prstGeom prst="rect">
            <a:avLst/>
          </a:prstGeom>
          <a:noFill/>
        </p:spPr>
        <p:txBody>
          <a:bodyPr wrap="square" anchor="ctr" lIns="0" tIns="0" rIns="0" bIns="0">
            <a:spAutoFit/>
          </a:bodyPr>
          <a:lstStyle/>
          <a:p>
            <a:pPr algn="ctr"/>
            <a:r>
              <a:rPr sz="1150" b="1" i="0">
                <a:solidFill>
                  <a:srgbClr val="FFFFFF"/>
                </a:solidFill>
                <a:latin typeface="Calibri"/>
              </a:rPr>
              <a:t>Sakshatkar in chitta</a:t>
            </a:r>
          </a:p>
        </p:txBody>
      </p:sp>
      <p:sp>
        <p:nvSpPr>
          <p:cNvPr id="14" name="TextBox 13"/>
          <p:cNvSpPr txBox="1"/>
          <p:nvPr/>
        </p:nvSpPr>
        <p:spPr>
          <a:xfrm>
            <a:off x="4434840" y="205740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5" name="Rectangle 14"/>
          <p:cNvSpPr/>
          <p:nvPr/>
        </p:nvSpPr>
        <p:spPr>
          <a:xfrm>
            <a:off x="4754880" y="2057400"/>
            <a:ext cx="1691640" cy="50292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057400"/>
            <a:ext cx="1691640" cy="502920"/>
          </a:xfrm>
          <a:prstGeom prst="rect">
            <a:avLst/>
          </a:prstGeom>
          <a:noFill/>
        </p:spPr>
        <p:txBody>
          <a:bodyPr wrap="square" anchor="ctr" lIns="0" tIns="0" rIns="0" bIns="0">
            <a:spAutoFit/>
          </a:bodyPr>
          <a:lstStyle/>
          <a:p>
            <a:pPr algn="ctr"/>
            <a:r>
              <a:rPr sz="1150" b="1" i="0">
                <a:solidFill>
                  <a:srgbClr val="FFFFFF"/>
                </a:solidFill>
                <a:latin typeface="Calibri"/>
              </a:rPr>
              <a:t>Bodh in buddhi</a:t>
            </a:r>
          </a:p>
        </p:txBody>
      </p:sp>
      <p:sp>
        <p:nvSpPr>
          <p:cNvPr id="17" name="TextBox 16"/>
          <p:cNvSpPr txBox="1"/>
          <p:nvPr/>
        </p:nvSpPr>
        <p:spPr>
          <a:xfrm>
            <a:off x="6446520" y="205740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8" name="Rectangle 17"/>
          <p:cNvSpPr/>
          <p:nvPr/>
        </p:nvSpPr>
        <p:spPr>
          <a:xfrm>
            <a:off x="6766560" y="2057400"/>
            <a:ext cx="1691640" cy="50292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0" y="2057400"/>
            <a:ext cx="1691640" cy="502920"/>
          </a:xfrm>
          <a:prstGeom prst="rect">
            <a:avLst/>
          </a:prstGeom>
          <a:noFill/>
        </p:spPr>
        <p:txBody>
          <a:bodyPr wrap="square" anchor="ctr" lIns="0" tIns="0" rIns="0" bIns="0">
            <a:spAutoFit/>
          </a:bodyPr>
          <a:lstStyle/>
          <a:p>
            <a:pPr algn="ctr"/>
            <a:r>
              <a:rPr sz="1150" b="1" i="0">
                <a:solidFill>
                  <a:srgbClr val="FFFFFF"/>
                </a:solidFill>
                <a:latin typeface="Calibri"/>
              </a:rPr>
              <a:t>Anubhav in atma</a:t>
            </a:r>
          </a:p>
        </p:txBody>
      </p:sp>
      <p:sp>
        <p:nvSpPr>
          <p:cNvPr id="20" name="TextBox 19"/>
          <p:cNvSpPr txBox="1"/>
          <p:nvPr/>
        </p:nvSpPr>
        <p:spPr>
          <a:xfrm>
            <a:off x="640080" y="2743200"/>
            <a:ext cx="7863840" cy="256032"/>
          </a:xfrm>
          <a:prstGeom prst="rect">
            <a:avLst/>
          </a:prstGeom>
          <a:noFill/>
        </p:spPr>
        <p:txBody>
          <a:bodyPr wrap="square" anchor="ctr" lIns="0" tIns="0" rIns="0" bIns="0">
            <a:spAutoFit/>
          </a:bodyPr>
          <a:lstStyle/>
          <a:p>
            <a:pPr algn="l"/>
            <a:r>
              <a:rPr sz="950" b="1" i="0">
                <a:solidFill>
                  <a:srgbClr val="9A6414"/>
                </a:solidFill>
                <a:latin typeface="Calibri"/>
              </a:rPr>
              <a:t>OUTWARD — REALISED CONTENT GOVERNS LIVING</a:t>
            </a:r>
          </a:p>
        </p:txBody>
      </p:sp>
      <p:sp>
        <p:nvSpPr>
          <p:cNvPr id="21" name="Rectangle 20"/>
          <p:cNvSpPr/>
          <p:nvPr/>
        </p:nvSpPr>
        <p:spPr>
          <a:xfrm>
            <a:off x="640080" y="3017520"/>
            <a:ext cx="1417320" cy="502920"/>
          </a:xfrm>
          <a:prstGeom prst="rect">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017520"/>
            <a:ext cx="1417320" cy="502920"/>
          </a:xfrm>
          <a:prstGeom prst="rect">
            <a:avLst/>
          </a:prstGeom>
          <a:noFill/>
        </p:spPr>
        <p:txBody>
          <a:bodyPr wrap="square" anchor="ctr" lIns="0" tIns="0" rIns="0" bIns="0">
            <a:spAutoFit/>
          </a:bodyPr>
          <a:lstStyle/>
          <a:p>
            <a:pPr algn="ctr"/>
            <a:r>
              <a:rPr sz="1150" b="1" i="0">
                <a:solidFill>
                  <a:srgbClr val="FFFFFF"/>
                </a:solidFill>
                <a:latin typeface="Calibri"/>
              </a:rPr>
              <a:t>Resolve</a:t>
            </a:r>
          </a:p>
        </p:txBody>
      </p:sp>
      <p:sp>
        <p:nvSpPr>
          <p:cNvPr id="23" name="TextBox 22"/>
          <p:cNvSpPr txBox="1"/>
          <p:nvPr/>
        </p:nvSpPr>
        <p:spPr>
          <a:xfrm>
            <a:off x="2057400" y="301752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24" name="Rectangle 23"/>
          <p:cNvSpPr/>
          <p:nvPr/>
        </p:nvSpPr>
        <p:spPr>
          <a:xfrm>
            <a:off x="2377440" y="3017520"/>
            <a:ext cx="1417320" cy="502920"/>
          </a:xfrm>
          <a:prstGeom prst="rect">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377440" y="3017520"/>
            <a:ext cx="1417320" cy="502920"/>
          </a:xfrm>
          <a:prstGeom prst="rect">
            <a:avLst/>
          </a:prstGeom>
          <a:noFill/>
        </p:spPr>
        <p:txBody>
          <a:bodyPr wrap="square" anchor="ctr" lIns="0" tIns="0" rIns="0" bIns="0">
            <a:spAutoFit/>
          </a:bodyPr>
          <a:lstStyle/>
          <a:p>
            <a:pPr algn="ctr"/>
            <a:r>
              <a:rPr sz="1150" b="1" i="0">
                <a:solidFill>
                  <a:srgbClr val="FFFFFF"/>
                </a:solidFill>
                <a:latin typeface="Calibri"/>
              </a:rPr>
              <a:t>Imaging</a:t>
            </a:r>
          </a:p>
        </p:txBody>
      </p:sp>
      <p:sp>
        <p:nvSpPr>
          <p:cNvPr id="26" name="TextBox 25"/>
          <p:cNvSpPr txBox="1"/>
          <p:nvPr/>
        </p:nvSpPr>
        <p:spPr>
          <a:xfrm>
            <a:off x="3794760" y="301752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27" name="Rectangle 26"/>
          <p:cNvSpPr/>
          <p:nvPr/>
        </p:nvSpPr>
        <p:spPr>
          <a:xfrm>
            <a:off x="4114800" y="3017520"/>
            <a:ext cx="1417320" cy="502920"/>
          </a:xfrm>
          <a:prstGeom prst="rect">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0" y="3017520"/>
            <a:ext cx="1417320" cy="502920"/>
          </a:xfrm>
          <a:prstGeom prst="rect">
            <a:avLst/>
          </a:prstGeom>
          <a:noFill/>
        </p:spPr>
        <p:txBody>
          <a:bodyPr wrap="square" anchor="ctr" lIns="0" tIns="0" rIns="0" bIns="0">
            <a:spAutoFit/>
          </a:bodyPr>
          <a:lstStyle/>
          <a:p>
            <a:pPr algn="ctr"/>
            <a:r>
              <a:rPr sz="1150" b="1" i="0">
                <a:solidFill>
                  <a:srgbClr val="FFFFFF"/>
                </a:solidFill>
                <a:latin typeface="Calibri"/>
              </a:rPr>
              <a:t>Analysis</a:t>
            </a:r>
          </a:p>
        </p:txBody>
      </p:sp>
      <p:sp>
        <p:nvSpPr>
          <p:cNvPr id="29" name="TextBox 28"/>
          <p:cNvSpPr txBox="1"/>
          <p:nvPr/>
        </p:nvSpPr>
        <p:spPr>
          <a:xfrm>
            <a:off x="5532120" y="301752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30" name="Rectangle 29"/>
          <p:cNvSpPr/>
          <p:nvPr/>
        </p:nvSpPr>
        <p:spPr>
          <a:xfrm>
            <a:off x="5852160" y="3017520"/>
            <a:ext cx="1417320" cy="502920"/>
          </a:xfrm>
          <a:prstGeom prst="rect">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0" y="3017520"/>
            <a:ext cx="1417320" cy="502920"/>
          </a:xfrm>
          <a:prstGeom prst="rect">
            <a:avLst/>
          </a:prstGeom>
          <a:noFill/>
        </p:spPr>
        <p:txBody>
          <a:bodyPr wrap="square" anchor="ctr" lIns="0" tIns="0" rIns="0" bIns="0">
            <a:spAutoFit/>
          </a:bodyPr>
          <a:lstStyle/>
          <a:p>
            <a:pPr algn="ctr"/>
            <a:r>
              <a:rPr sz="1150" b="1" i="0">
                <a:solidFill>
                  <a:srgbClr val="FFFFFF"/>
                </a:solidFill>
                <a:latin typeface="Calibri"/>
              </a:rPr>
              <a:t>Selection</a:t>
            </a:r>
          </a:p>
        </p:txBody>
      </p:sp>
      <p:sp>
        <p:nvSpPr>
          <p:cNvPr id="32" name="TextBox 31"/>
          <p:cNvSpPr txBox="1"/>
          <p:nvPr/>
        </p:nvSpPr>
        <p:spPr>
          <a:xfrm>
            <a:off x="7269480" y="3017520"/>
            <a:ext cx="320040" cy="50292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33" name="Rectangle 32"/>
          <p:cNvSpPr/>
          <p:nvPr/>
        </p:nvSpPr>
        <p:spPr>
          <a:xfrm>
            <a:off x="7589520" y="3017520"/>
            <a:ext cx="914400" cy="502920"/>
          </a:xfrm>
          <a:prstGeom prst="rect">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3017520"/>
            <a:ext cx="914400" cy="502920"/>
          </a:xfrm>
          <a:prstGeom prst="rect">
            <a:avLst/>
          </a:prstGeom>
          <a:noFill/>
        </p:spPr>
        <p:txBody>
          <a:bodyPr wrap="square" anchor="ctr" lIns="0" tIns="0" rIns="0" bIns="0">
            <a:spAutoFit/>
          </a:bodyPr>
          <a:lstStyle/>
          <a:p>
            <a:pPr algn="ctr"/>
            <a:r>
              <a:rPr sz="1150" b="1" i="0">
                <a:solidFill>
                  <a:srgbClr val="FFFFFF"/>
                </a:solidFill>
                <a:latin typeface="Calibri"/>
              </a:rPr>
              <a:t>Conduct</a:t>
            </a:r>
          </a:p>
        </p:txBody>
      </p:sp>
      <p:sp>
        <p:nvSpPr>
          <p:cNvPr id="35" name="Rectangle 34"/>
          <p:cNvSpPr/>
          <p:nvPr/>
        </p:nvSpPr>
        <p:spPr>
          <a:xfrm>
            <a:off x="640080" y="3840480"/>
            <a:ext cx="7863840" cy="7772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8680" y="3840480"/>
            <a:ext cx="7406640" cy="777240"/>
          </a:xfrm>
          <a:prstGeom prst="rect">
            <a:avLst/>
          </a:prstGeom>
          <a:noFill/>
        </p:spPr>
        <p:txBody>
          <a:bodyPr wrap="square" anchor="ctr" lIns="0" tIns="0" rIns="0" bIns="0">
            <a:spAutoFit/>
          </a:bodyPr>
          <a:lstStyle/>
          <a:p>
            <a:pPr algn="l"/>
            <a:r>
              <a:rPr sz="1080" b="0" i="0">
                <a:solidFill>
                  <a:srgbClr val="5A6377"/>
                </a:solidFill>
                <a:latin typeface="Calibri"/>
              </a:rPr>
              <a:t>Higher-conformance: mun governed from above — tasting and selection become justice-natural, and cognisance governs sensitivity. No automation: study does not force realisation, and freedom remains.</a:t>
            </a:r>
          </a:p>
        </p:txBody>
      </p:sp>
      <p:sp>
        <p:nvSpPr>
          <p:cNvPr id="37" name="TextBox 36"/>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126, 155–156, 208  ·  JV p. 62  ·  AnalyticMadhyasthDarshan.org  ·  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GYAN</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Complete Knowledge: Three Contents</a:t>
            </a:r>
          </a:p>
        </p:txBody>
      </p:sp>
      <p:sp>
        <p:nvSpPr>
          <p:cNvPr id="7" name="Rectangle 6"/>
          <p:cNvSpPr/>
          <p:nvPr/>
        </p:nvSpPr>
        <p:spPr>
          <a:xfrm>
            <a:off x="640080" y="1280160"/>
            <a:ext cx="2624328" cy="1783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Coexistence</a:t>
            </a:r>
          </a:p>
        </p:txBody>
      </p:sp>
      <p:sp>
        <p:nvSpPr>
          <p:cNvPr id="9" name="TextBox 8"/>
          <p:cNvSpPr txBox="1"/>
          <p:nvPr/>
        </p:nvSpPr>
        <p:spPr>
          <a:xfrm>
            <a:off x="841247" y="1737360"/>
            <a:ext cx="2221992" cy="1207007"/>
          </a:xfrm>
          <a:prstGeom prst="rect">
            <a:avLst/>
          </a:prstGeom>
          <a:noFill/>
        </p:spPr>
        <p:txBody>
          <a:bodyPr wrap="square" anchor="t" lIns="0" tIns="0" rIns="0" bIns="0">
            <a:spAutoFit/>
          </a:bodyPr>
          <a:lstStyle/>
          <a:p>
            <a:pPr algn="l"/>
            <a:r>
              <a:rPr sz="1050" b="0" i="0">
                <a:solidFill>
                  <a:srgbClr val="5A6377"/>
                </a:solidFill>
                <a:latin typeface="Calibri"/>
              </a:rPr>
              <a:t>Existence as satta with saturated nature — realised as truth in atma.</a:t>
            </a:r>
          </a:p>
        </p:txBody>
      </p:sp>
      <p:sp>
        <p:nvSpPr>
          <p:cNvPr id="10" name="Rectangle 9"/>
          <p:cNvSpPr/>
          <p:nvPr/>
        </p:nvSpPr>
        <p:spPr>
          <a:xfrm>
            <a:off x="3401568" y="1280160"/>
            <a:ext cx="2624328" cy="1783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2736"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Jeevan</a:t>
            </a:r>
          </a:p>
        </p:txBody>
      </p:sp>
      <p:sp>
        <p:nvSpPr>
          <p:cNvPr id="12" name="TextBox 11"/>
          <p:cNvSpPr txBox="1"/>
          <p:nvPr/>
        </p:nvSpPr>
        <p:spPr>
          <a:xfrm>
            <a:off x="3602736" y="1737360"/>
            <a:ext cx="2221992" cy="1207007"/>
          </a:xfrm>
          <a:prstGeom prst="rect">
            <a:avLst/>
          </a:prstGeom>
          <a:noFill/>
        </p:spPr>
        <p:txBody>
          <a:bodyPr wrap="square" anchor="t" lIns="0" tIns="0" rIns="0" bIns="0">
            <a:spAutoFit/>
          </a:bodyPr>
          <a:lstStyle/>
          <a:p>
            <a:pPr algn="l"/>
            <a:r>
              <a:rPr sz="1050" b="0" i="0">
                <a:solidFill>
                  <a:srgbClr val="5A6377"/>
                </a:solidFill>
                <a:latin typeface="Calibri"/>
              </a:rPr>
              <a:t>The knower itself: its constitution, faculties, activities, and values.</a:t>
            </a:r>
          </a:p>
        </p:txBody>
      </p:sp>
      <p:sp>
        <p:nvSpPr>
          <p:cNvPr id="13" name="Rectangle 12"/>
          <p:cNvSpPr/>
          <p:nvPr/>
        </p:nvSpPr>
        <p:spPr>
          <a:xfrm>
            <a:off x="6163056" y="1280160"/>
            <a:ext cx="2624328" cy="1783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Humane conduct</a:t>
            </a:r>
          </a:p>
        </p:txBody>
      </p:sp>
      <p:sp>
        <p:nvSpPr>
          <p:cNvPr id="15" name="TextBox 14"/>
          <p:cNvSpPr txBox="1"/>
          <p:nvPr/>
        </p:nvSpPr>
        <p:spPr>
          <a:xfrm>
            <a:off x="6364224" y="1737360"/>
            <a:ext cx="2221992" cy="1207007"/>
          </a:xfrm>
          <a:prstGeom prst="rect">
            <a:avLst/>
          </a:prstGeom>
          <a:noFill/>
        </p:spPr>
        <p:txBody>
          <a:bodyPr wrap="square" anchor="t" lIns="0" tIns="0" rIns="0" bIns="0">
            <a:spAutoFit/>
          </a:bodyPr>
          <a:lstStyle/>
          <a:p>
            <a:pPr algn="l"/>
            <a:r>
              <a:rPr sz="1050" b="0" i="0">
                <a:solidFill>
                  <a:srgbClr val="5A6377"/>
                </a:solidFill>
                <a:latin typeface="Calibri"/>
              </a:rPr>
              <a:t>Values, character, and ethics — content that must be practised, not only stated.</a:t>
            </a:r>
          </a:p>
        </p:txBody>
      </p:sp>
      <p:sp>
        <p:nvSpPr>
          <p:cNvPr id="16" name="Rectangle 15"/>
          <p:cNvSpPr/>
          <p:nvPr/>
        </p:nvSpPr>
        <p:spPr>
          <a:xfrm>
            <a:off x="640080" y="3291840"/>
            <a:ext cx="7863840" cy="8686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291840"/>
            <a:ext cx="7406640" cy="868680"/>
          </a:xfrm>
          <a:prstGeom prst="rect">
            <a:avLst/>
          </a:prstGeom>
          <a:noFill/>
        </p:spPr>
        <p:txBody>
          <a:bodyPr wrap="square" anchor="ctr" lIns="0" tIns="0" rIns="0" bIns="0">
            <a:spAutoFit/>
          </a:bodyPr>
          <a:lstStyle/>
          <a:p>
            <a:pPr algn="l"/>
            <a:r>
              <a:rPr sz="1080" b="0" i="0">
                <a:solidFill>
                  <a:srgbClr val="5A6377"/>
                </a:solidFill>
                <a:latin typeface="Calibri"/>
              </a:rPr>
              <a:t>Knowing, believing, recognising, and fulfilling are four different achievements. A person may know a proposition and still not recognise the relationship in front of them — knowledge is not possession of information.</a:t>
            </a:r>
          </a:p>
        </p:txBody>
      </p:sp>
      <p:sp>
        <p:nvSpPr>
          <p:cNvPr id="18" name="TextBox 17"/>
          <p:cNvSpPr txBox="1"/>
          <p:nvPr/>
        </p:nvSpPr>
        <p:spPr>
          <a:xfrm>
            <a:off x="640080" y="4343400"/>
            <a:ext cx="7955279" cy="274320"/>
          </a:xfrm>
          <a:prstGeom prst="rect">
            <a:avLst/>
          </a:prstGeom>
          <a:noFill/>
        </p:spPr>
        <p:txBody>
          <a:bodyPr wrap="square" anchor="ctr" lIns="0" tIns="0" rIns="0" bIns="0">
            <a:spAutoFit/>
          </a:bodyPr>
          <a:lstStyle/>
          <a:p>
            <a:pPr algn="l"/>
            <a:r>
              <a:rPr sz="1050" b="0" i="1">
                <a:solidFill>
                  <a:srgbClr val="5A6377"/>
                </a:solidFill>
                <a:latin typeface="Calibri"/>
              </a:rPr>
              <a:t>Knowledge is present throughout coexistence; its unfolding happens through awakened human beings.</a:t>
            </a:r>
          </a:p>
        </p:txBody>
      </p:sp>
      <p:sp>
        <p:nvSpPr>
          <p:cNvPr id="19" name="TextBox 18"/>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13, 260, 300  ·  JV pp. 69–70  ·  KD §3.17  ·  AnalyticMadhyasthDarshan.org  ·  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HUMANE CONDUCT</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Values, Character, and Ethics</a:t>
            </a:r>
          </a:p>
        </p:txBody>
      </p:sp>
      <p:sp>
        <p:nvSpPr>
          <p:cNvPr id="7" name="Rectangle 6"/>
          <p:cNvSpPr/>
          <p:nvPr/>
        </p:nvSpPr>
        <p:spPr>
          <a:xfrm>
            <a:off x="640080" y="1280160"/>
            <a:ext cx="2624328" cy="1874519"/>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Values</a:t>
            </a:r>
          </a:p>
        </p:txBody>
      </p:sp>
      <p:sp>
        <p:nvSpPr>
          <p:cNvPr id="9" name="TextBox 8"/>
          <p:cNvSpPr txBox="1"/>
          <p:nvPr/>
        </p:nvSpPr>
        <p:spPr>
          <a:xfrm>
            <a:off x="841247" y="1737360"/>
            <a:ext cx="2221992" cy="1298447"/>
          </a:xfrm>
          <a:prstGeom prst="rect">
            <a:avLst/>
          </a:prstGeom>
          <a:noFill/>
        </p:spPr>
        <p:txBody>
          <a:bodyPr wrap="square" anchor="t" lIns="0" tIns="0" rIns="0" bIns="0">
            <a:spAutoFit/>
          </a:bodyPr>
          <a:lstStyle/>
          <a:p>
            <a:pPr algn="l"/>
            <a:r>
              <a:rPr sz="1050" b="0" i="0">
                <a:solidFill>
                  <a:srgbClr val="5A6377"/>
                </a:solidFill>
                <a:latin typeface="Calibri"/>
              </a:rPr>
              <a:t>Recognised and fulfilled in relationship — five families: object, jeevan, human, established, and civic values.</a:t>
            </a:r>
          </a:p>
        </p:txBody>
      </p:sp>
      <p:sp>
        <p:nvSpPr>
          <p:cNvPr id="10" name="Rectangle 9"/>
          <p:cNvSpPr/>
          <p:nvPr/>
        </p:nvSpPr>
        <p:spPr>
          <a:xfrm>
            <a:off x="3401568" y="1280160"/>
            <a:ext cx="2624328" cy="1874519"/>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2736"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Character</a:t>
            </a:r>
          </a:p>
        </p:txBody>
      </p:sp>
      <p:sp>
        <p:nvSpPr>
          <p:cNvPr id="12" name="TextBox 11"/>
          <p:cNvSpPr txBox="1"/>
          <p:nvPr/>
        </p:nvSpPr>
        <p:spPr>
          <a:xfrm>
            <a:off x="3602736" y="1737360"/>
            <a:ext cx="2221992" cy="1298447"/>
          </a:xfrm>
          <a:prstGeom prst="rect">
            <a:avLst/>
          </a:prstGeom>
          <a:noFill/>
        </p:spPr>
        <p:txBody>
          <a:bodyPr wrap="square" anchor="t" lIns="0" tIns="0" rIns="0" bIns="0">
            <a:spAutoFit/>
          </a:bodyPr>
          <a:lstStyle/>
          <a:p>
            <a:pPr algn="l"/>
            <a:r>
              <a:rPr sz="1050" b="0" i="0">
                <a:solidFill>
                  <a:srgbClr val="5A6377"/>
                </a:solidFill>
                <a:latin typeface="Calibri"/>
              </a:rPr>
              <a:t>Evidenced as rightfully owned wealth, marital faithfulness, and kindness in work and behaviour.</a:t>
            </a:r>
          </a:p>
        </p:txBody>
      </p:sp>
      <p:sp>
        <p:nvSpPr>
          <p:cNvPr id="13" name="Rectangle 12"/>
          <p:cNvSpPr/>
          <p:nvPr/>
        </p:nvSpPr>
        <p:spPr>
          <a:xfrm>
            <a:off x="6163056" y="1280160"/>
            <a:ext cx="2624328" cy="1874519"/>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1399031"/>
            <a:ext cx="2221992" cy="292608"/>
          </a:xfrm>
          <a:prstGeom prst="rect">
            <a:avLst/>
          </a:prstGeom>
          <a:noFill/>
        </p:spPr>
        <p:txBody>
          <a:bodyPr wrap="square" anchor="ctr" lIns="0" tIns="0" rIns="0" bIns="0">
            <a:spAutoFit/>
          </a:bodyPr>
          <a:lstStyle/>
          <a:p>
            <a:pPr algn="l"/>
            <a:r>
              <a:rPr sz="1250" b="1" i="0">
                <a:solidFill>
                  <a:srgbClr val="1E2447"/>
                </a:solidFill>
                <a:latin typeface="Cambria"/>
              </a:rPr>
              <a:t>Ethics</a:t>
            </a:r>
          </a:p>
        </p:txBody>
      </p:sp>
      <p:sp>
        <p:nvSpPr>
          <p:cNvPr id="15" name="TextBox 14"/>
          <p:cNvSpPr txBox="1"/>
          <p:nvPr/>
        </p:nvSpPr>
        <p:spPr>
          <a:xfrm>
            <a:off x="6364224" y="1737360"/>
            <a:ext cx="2221992" cy="1298447"/>
          </a:xfrm>
          <a:prstGeom prst="rect">
            <a:avLst/>
          </a:prstGeom>
          <a:noFill/>
        </p:spPr>
        <p:txBody>
          <a:bodyPr wrap="square" anchor="t" lIns="0" tIns="0" rIns="0" bIns="0">
            <a:spAutoFit/>
          </a:bodyPr>
          <a:lstStyle/>
          <a:p>
            <a:pPr algn="l"/>
            <a:r>
              <a:rPr sz="1050" b="0" i="0">
                <a:solidFill>
                  <a:srgbClr val="5A6377"/>
                </a:solidFill>
                <a:latin typeface="Calibri"/>
              </a:rPr>
              <a:t>Body, mind, and wealth directed to right-use, protection, and regeneration.</a:t>
            </a:r>
          </a:p>
        </p:txBody>
      </p:sp>
      <p:sp>
        <p:nvSpPr>
          <p:cNvPr id="16" name="Rectangle 15"/>
          <p:cNvSpPr/>
          <p:nvPr/>
        </p:nvSpPr>
        <p:spPr>
          <a:xfrm>
            <a:off x="640080" y="3383280"/>
            <a:ext cx="7863840" cy="6400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383280"/>
            <a:ext cx="7406640" cy="640080"/>
          </a:xfrm>
          <a:prstGeom prst="rect">
            <a:avLst/>
          </a:prstGeom>
          <a:noFill/>
        </p:spPr>
        <p:txBody>
          <a:bodyPr wrap="square" anchor="ctr" lIns="0" tIns="0" rIns="0" bIns="0">
            <a:spAutoFit/>
          </a:bodyPr>
          <a:lstStyle/>
          <a:p>
            <a:pPr algn="l"/>
            <a:r>
              <a:rPr sz="1080" b="0" i="1">
                <a:solidFill>
                  <a:srgbClr val="5A6377"/>
                </a:solidFill>
                <a:latin typeface="Calibri"/>
              </a:rPr>
              <a:t>“Values can be tasted in work and behaviour only when relationships are accepted and recognised.”  — KD, p. 63</a:t>
            </a:r>
          </a:p>
        </p:txBody>
      </p:sp>
      <p:sp>
        <p:nvSpPr>
          <p:cNvPr id="18" name="TextBox 17"/>
          <p:cNvSpPr txBox="1"/>
          <p:nvPr/>
        </p:nvSpPr>
        <p:spPr>
          <a:xfrm>
            <a:off x="640080" y="4251960"/>
            <a:ext cx="7955279" cy="274320"/>
          </a:xfrm>
          <a:prstGeom prst="rect">
            <a:avLst/>
          </a:prstGeom>
          <a:noFill/>
        </p:spPr>
        <p:txBody>
          <a:bodyPr wrap="square" anchor="ctr" lIns="0" tIns="0" rIns="0" bIns="0">
            <a:spAutoFit/>
          </a:bodyPr>
          <a:lstStyle/>
          <a:p>
            <a:pPr algn="l"/>
            <a:r>
              <a:rPr sz="1050" b="0" i="1">
                <a:solidFill>
                  <a:srgbClr val="5A6377"/>
                </a:solidFill>
                <a:latin typeface="Calibri"/>
              </a:rPr>
              <a:t>Where relationships are not recognised, values do not flow — mun tastes priya, hita, or labh instead.</a:t>
            </a:r>
          </a:p>
        </p:txBody>
      </p:sp>
      <p:sp>
        <p:nvSpPr>
          <p:cNvPr id="19" name="TextBox 18"/>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JV pp. 54–55  ·  MVD p. 305  ·  KD pp. 63, 67  ·  AnalyticMadhyasthDarshan.org  ·  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THREE  ·  ACTION AND EVIDENCE</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Karma, Consequence, Evaluation</a:t>
            </a:r>
          </a:p>
        </p:txBody>
      </p:sp>
      <p:sp>
        <p:nvSpPr>
          <p:cNvPr id="7" name="TextBox 6"/>
          <p:cNvSpPr txBox="1"/>
          <p:nvPr/>
        </p:nvSpPr>
        <p:spPr>
          <a:xfrm>
            <a:off x="640080" y="1170432"/>
            <a:ext cx="7955279" cy="502920"/>
          </a:xfrm>
          <a:prstGeom prst="rect">
            <a:avLst/>
          </a:prstGeom>
          <a:noFill/>
        </p:spPr>
        <p:txBody>
          <a:bodyPr wrap="square" anchor="ctr" lIns="0" tIns="0" rIns="0" bIns="0">
            <a:spAutoFit/>
          </a:bodyPr>
          <a:lstStyle/>
          <a:p>
            <a:pPr algn="l"/>
            <a:r>
              <a:rPr sz="1200" b="0" i="0">
                <a:solidFill>
                  <a:srgbClr val="5A6377"/>
                </a:solidFill>
                <a:latin typeface="Calibri"/>
              </a:rPr>
              <a:t>Karma is activity together with aspiration. Every act leaves internal, bodily, relational, and natural consequences — and a later activity can evaluate them.</a:t>
            </a:r>
          </a:p>
        </p:txBody>
      </p:sp>
      <p:sp>
        <p:nvSpPr>
          <p:cNvPr id="8" name="Rectangle 7"/>
          <p:cNvSpPr/>
          <p:nvPr/>
        </p:nvSpPr>
        <p:spPr>
          <a:xfrm>
            <a:off x="640080" y="1828800"/>
            <a:ext cx="2624328" cy="19659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947672"/>
            <a:ext cx="2221992" cy="292608"/>
          </a:xfrm>
          <a:prstGeom prst="rect">
            <a:avLst/>
          </a:prstGeom>
          <a:noFill/>
        </p:spPr>
        <p:txBody>
          <a:bodyPr wrap="square" anchor="ctr" lIns="0" tIns="0" rIns="0" bIns="0">
            <a:spAutoFit/>
          </a:bodyPr>
          <a:lstStyle/>
          <a:p>
            <a:pPr algn="l"/>
            <a:r>
              <a:rPr sz="1250" b="1" i="0">
                <a:solidFill>
                  <a:srgbClr val="1E2447"/>
                </a:solidFill>
                <a:latin typeface="Cambria"/>
              </a:rPr>
              <a:t>Deluded evaluation</a:t>
            </a:r>
          </a:p>
        </p:txBody>
      </p:sp>
      <p:sp>
        <p:nvSpPr>
          <p:cNvPr id="10" name="TextBox 9"/>
          <p:cNvSpPr txBox="1"/>
          <p:nvPr/>
        </p:nvSpPr>
        <p:spPr>
          <a:xfrm>
            <a:off x="841247" y="2285999"/>
            <a:ext cx="2221992" cy="1389887"/>
          </a:xfrm>
          <a:prstGeom prst="rect">
            <a:avLst/>
          </a:prstGeom>
          <a:noFill/>
        </p:spPr>
        <p:txBody>
          <a:bodyPr wrap="square" anchor="t" lIns="0" tIns="0" rIns="0" bIns="0">
            <a:spAutoFit/>
          </a:bodyPr>
          <a:lstStyle/>
          <a:p>
            <a:pPr algn="l"/>
            <a:r>
              <a:rPr sz="1050" b="0" i="0">
                <a:solidFill>
                  <a:srgbClr val="5A6377"/>
                </a:solidFill>
                <a:latin typeface="Calibri"/>
              </a:rPr>
              <a:t>The relationship is recognised, but priya–hita–labh decide. The value goes unfulfilled; contradiction and mistrust follow.</a:t>
            </a:r>
          </a:p>
        </p:txBody>
      </p:sp>
      <p:sp>
        <p:nvSpPr>
          <p:cNvPr id="11" name="Rectangle 10"/>
          <p:cNvSpPr/>
          <p:nvPr/>
        </p:nvSpPr>
        <p:spPr>
          <a:xfrm>
            <a:off x="3401568" y="1828800"/>
            <a:ext cx="2624328" cy="19659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2736" y="1947672"/>
            <a:ext cx="2221992" cy="292608"/>
          </a:xfrm>
          <a:prstGeom prst="rect">
            <a:avLst/>
          </a:prstGeom>
          <a:noFill/>
        </p:spPr>
        <p:txBody>
          <a:bodyPr wrap="square" anchor="ctr" lIns="0" tIns="0" rIns="0" bIns="0">
            <a:spAutoFit/>
          </a:bodyPr>
          <a:lstStyle/>
          <a:p>
            <a:pPr algn="l"/>
            <a:r>
              <a:rPr sz="1250" b="1" i="0">
                <a:solidFill>
                  <a:srgbClr val="1E2447"/>
                </a:solidFill>
                <a:latin typeface="Cambria"/>
              </a:rPr>
              <a:t>Missing recognition</a:t>
            </a:r>
          </a:p>
        </p:txBody>
      </p:sp>
      <p:sp>
        <p:nvSpPr>
          <p:cNvPr id="13" name="TextBox 12"/>
          <p:cNvSpPr txBox="1"/>
          <p:nvPr/>
        </p:nvSpPr>
        <p:spPr>
          <a:xfrm>
            <a:off x="3602736" y="2285999"/>
            <a:ext cx="2221992" cy="1389887"/>
          </a:xfrm>
          <a:prstGeom prst="rect">
            <a:avLst/>
          </a:prstGeom>
          <a:noFill/>
        </p:spPr>
        <p:txBody>
          <a:bodyPr wrap="square" anchor="t" lIns="0" tIns="0" rIns="0" bIns="0">
            <a:spAutoFit/>
          </a:bodyPr>
          <a:lstStyle/>
          <a:p>
            <a:pPr algn="l"/>
            <a:r>
              <a:rPr sz="1050" b="0" i="0">
                <a:solidFill>
                  <a:srgbClr val="5A6377"/>
                </a:solidFill>
                <a:latin typeface="Calibri"/>
              </a:rPr>
              <a:t>Good intention without a recognised relationship: mun has no relationship-value to taste. The remedy is study, not repetition.</a:t>
            </a:r>
          </a:p>
        </p:txBody>
      </p:sp>
      <p:sp>
        <p:nvSpPr>
          <p:cNvPr id="14" name="Rectangle 13"/>
          <p:cNvSpPr/>
          <p:nvPr/>
        </p:nvSpPr>
        <p:spPr>
          <a:xfrm>
            <a:off x="6163056" y="1828800"/>
            <a:ext cx="2624328" cy="196596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1947672"/>
            <a:ext cx="2221992" cy="292608"/>
          </a:xfrm>
          <a:prstGeom prst="rect">
            <a:avLst/>
          </a:prstGeom>
          <a:noFill/>
        </p:spPr>
        <p:txBody>
          <a:bodyPr wrap="square" anchor="ctr" lIns="0" tIns="0" rIns="0" bIns="0">
            <a:spAutoFit/>
          </a:bodyPr>
          <a:lstStyle/>
          <a:p>
            <a:pPr algn="l"/>
            <a:r>
              <a:rPr sz="1250" b="1" i="0">
                <a:solidFill>
                  <a:srgbClr val="9A6414"/>
                </a:solidFill>
                <a:latin typeface="Cambria"/>
              </a:rPr>
              <a:t>Fulfilled practice</a:t>
            </a:r>
          </a:p>
        </p:txBody>
      </p:sp>
      <p:sp>
        <p:nvSpPr>
          <p:cNvPr id="16" name="TextBox 15"/>
          <p:cNvSpPr txBox="1"/>
          <p:nvPr/>
        </p:nvSpPr>
        <p:spPr>
          <a:xfrm>
            <a:off x="6364224" y="2285999"/>
            <a:ext cx="2221992" cy="1389887"/>
          </a:xfrm>
          <a:prstGeom prst="rect">
            <a:avLst/>
          </a:prstGeom>
          <a:noFill/>
        </p:spPr>
        <p:txBody>
          <a:bodyPr wrap="square" anchor="t" lIns="0" tIns="0" rIns="0" bIns="0">
            <a:spAutoFit/>
          </a:bodyPr>
          <a:lstStyle/>
          <a:p>
            <a:pPr algn="l"/>
            <a:r>
              <a:rPr sz="1050" b="0" i="0">
                <a:solidFill>
                  <a:srgbClr val="5A6377"/>
                </a:solidFill>
                <a:latin typeface="Calibri"/>
              </a:rPr>
              <a:t>Recognised relationship, karma with aspiration, value tasted, mutual satisfaction — repeated across contexts.</a:t>
            </a:r>
          </a:p>
        </p:txBody>
      </p:sp>
      <p:sp>
        <p:nvSpPr>
          <p:cNvPr id="17" name="TextBox 16"/>
          <p:cNvSpPr txBox="1"/>
          <p:nvPr/>
        </p:nvSpPr>
        <p:spPr>
          <a:xfrm>
            <a:off x="640080" y="4023360"/>
            <a:ext cx="7955279" cy="457200"/>
          </a:xfrm>
          <a:prstGeom prst="rect">
            <a:avLst/>
          </a:prstGeom>
          <a:noFill/>
        </p:spPr>
        <p:txBody>
          <a:bodyPr wrap="square" anchor="ctr" lIns="0" tIns="0" rIns="0" bIns="0">
            <a:spAutoFit/>
          </a:bodyPr>
          <a:lstStyle/>
          <a:p>
            <a:pPr algn="l"/>
            <a:r>
              <a:rPr sz="1100" b="0" i="1">
                <a:solidFill>
                  <a:srgbClr val="5A6377"/>
                </a:solidFill>
                <a:latin typeface="Calibri"/>
              </a:rPr>
              <a:t>One act — fulfilled or failed — settles nothing by itself: evaluation links successive activities, and practice across contexts is the test.</a:t>
            </a:r>
          </a:p>
        </p:txBody>
      </p:sp>
      <p:sp>
        <p:nvSpPr>
          <p:cNvPr id="18" name="TextBox 17"/>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KD pp. 1–3, 63, 65  ·  Study §§8.2–8.5  ·  AnalyticMadhyasthDarshan.org  ·  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anchor="ctr" lIns="0" tIns="0" rIns="0" bIns="0">
            <a:spAutoFit/>
          </a:bodyPr>
          <a:lstStyle/>
          <a:p>
            <a:pPr algn="l"/>
            <a:r>
              <a:rPr sz="1200" b="1" i="0">
                <a:solidFill>
                  <a:srgbClr val="C9821E"/>
                </a:solidFill>
                <a:latin typeface="Calibri"/>
              </a:rPr>
              <a:t>MOVEMENT FOUR  ·  STUDY §§9–11</a:t>
            </a:r>
          </a:p>
        </p:txBody>
      </p:sp>
      <p:sp>
        <p:nvSpPr>
          <p:cNvPr id="12" name="TextBox 11"/>
          <p:cNvSpPr txBox="1"/>
          <p:nvPr/>
        </p:nvSpPr>
        <p:spPr>
          <a:xfrm>
            <a:off x="640080" y="1572768"/>
            <a:ext cx="5577840" cy="1371600"/>
          </a:xfrm>
          <a:prstGeom prst="rect">
            <a:avLst/>
          </a:prstGeom>
          <a:noFill/>
        </p:spPr>
        <p:txBody>
          <a:bodyPr wrap="square" anchor="ctr" lIns="0" tIns="0" rIns="0" bIns="0">
            <a:spAutoFit/>
          </a:bodyPr>
          <a:lstStyle/>
          <a:p>
            <a:pPr algn="l"/>
            <a:r>
              <a:rPr sz="4400" b="1" i="0">
                <a:solidFill>
                  <a:srgbClr val="FFFFFF"/>
                </a:solidFill>
                <a:latin typeface="Cambria"/>
              </a:rPr>
              <a:t>One Process, Lived Evidence</a:t>
            </a:r>
          </a:p>
        </p:txBody>
      </p:sp>
      <p:sp>
        <p:nvSpPr>
          <p:cNvPr id="13" name="TextBox 12"/>
          <p:cNvSpPr txBox="1"/>
          <p:nvPr/>
        </p:nvSpPr>
        <p:spPr>
          <a:xfrm>
            <a:off x="640080" y="2926080"/>
            <a:ext cx="4846320" cy="960120"/>
          </a:xfrm>
          <a:prstGeom prst="rect">
            <a:avLst/>
          </a:prstGeom>
          <a:noFill/>
        </p:spPr>
        <p:txBody>
          <a:bodyPr wrap="square" anchor="ctr" lIns="0" tIns="0" rIns="0" bIns="0">
            <a:spAutoFit/>
          </a:bodyPr>
          <a:lstStyle/>
          <a:p>
            <a:pPr algn="l"/>
            <a:r>
              <a:rPr sz="1500" b="0" i="1">
                <a:solidFill>
                  <a:srgbClr val="C9D4EF"/>
                </a:solidFill>
                <a:latin typeface="Calibri"/>
              </a:rPr>
              <a:t>Natural orderliness and conscious establishment meet in the sixfold grammar — and are tested in living.</a:t>
            </a:r>
          </a:p>
        </p:txBody>
      </p:sp>
      <p:sp>
        <p:nvSpPr>
          <p:cNvPr id="14" name="TextBox 13"/>
          <p:cNvSpPr txBox="1"/>
          <p:nvPr/>
        </p:nvSpPr>
        <p:spPr>
          <a:xfrm>
            <a:off x="640080" y="416052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Answers  ·  What must humans establish?  ·  How is it verified?</a:t>
            </a:r>
          </a:p>
        </p:txBody>
      </p:sp>
      <p:sp>
        <p:nvSpPr>
          <p:cNvPr id="15" name="TextBox 14"/>
          <p:cNvSpPr txBox="1"/>
          <p:nvPr/>
        </p:nvSpPr>
        <p:spPr>
          <a:xfrm>
            <a:off x="640080" y="4434840"/>
            <a:ext cx="5303520" cy="274320"/>
          </a:xfrm>
          <a:prstGeom prst="rect">
            <a:avLst/>
          </a:prstGeom>
          <a:noFill/>
        </p:spPr>
        <p:txBody>
          <a:bodyPr wrap="square" anchor="ctr" lIns="0" tIns="0" rIns="0" bIns="0">
            <a:spAutoFit/>
          </a:bodyPr>
          <a:lstStyle/>
          <a:p>
            <a:pPr algn="l"/>
            <a:r>
              <a:rPr sz="1150" b="0" i="0">
                <a:solidFill>
                  <a:srgbClr val="8E9BC4"/>
                </a:solidFill>
                <a:latin typeface="Calibri"/>
              </a:rPr>
              <a:t>AnalyticMadhyasthDarshan.org  ·  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THE LAYERED PICTURE</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One Process Across Four Orders</a:t>
            </a:r>
          </a:p>
        </p:txBody>
      </p:sp>
      <p:sp>
        <p:nvSpPr>
          <p:cNvPr id="7" name="Rectangle 6"/>
          <p:cNvSpPr/>
          <p:nvPr/>
        </p:nvSpPr>
        <p:spPr>
          <a:xfrm>
            <a:off x="640080" y="1280160"/>
            <a:ext cx="1920240" cy="7772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280160"/>
            <a:ext cx="1691640" cy="777240"/>
          </a:xfrm>
          <a:prstGeom prst="rect">
            <a:avLst/>
          </a:prstGeom>
          <a:noFill/>
        </p:spPr>
        <p:txBody>
          <a:bodyPr wrap="square" anchor="ctr" lIns="0" tIns="0" rIns="0" bIns="0">
            <a:spAutoFit/>
          </a:bodyPr>
          <a:lstStyle/>
          <a:p>
            <a:pPr algn="l"/>
            <a:r>
              <a:rPr sz="1250" b="1" i="0">
                <a:solidFill>
                  <a:srgbClr val="FFFFFF"/>
                </a:solidFill>
                <a:latin typeface="Cambria"/>
              </a:rPr>
              <a:t>Standing ground</a:t>
            </a:r>
          </a:p>
        </p:txBody>
      </p:sp>
      <p:sp>
        <p:nvSpPr>
          <p:cNvPr id="9" name="Rectangle 8"/>
          <p:cNvSpPr/>
          <p:nvPr/>
        </p:nvSpPr>
        <p:spPr>
          <a:xfrm>
            <a:off x="2560320" y="1280160"/>
            <a:ext cx="5943600" cy="7772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0" y="1280160"/>
            <a:ext cx="5577840" cy="777240"/>
          </a:xfrm>
          <a:prstGeom prst="rect">
            <a:avLst/>
          </a:prstGeom>
          <a:noFill/>
        </p:spPr>
        <p:txBody>
          <a:bodyPr wrap="square" anchor="ctr" lIns="0" tIns="0" rIns="0" bIns="0">
            <a:spAutoFit/>
          </a:bodyPr>
          <a:lstStyle/>
          <a:p>
            <a:pPr algn="l"/>
            <a:r>
              <a:rPr sz="1100" b="0" i="0">
                <a:solidFill>
                  <a:srgbClr val="5A6377"/>
                </a:solidFill>
                <a:latin typeface="Calibri"/>
              </a:rPr>
              <a:t>Every unit saturated, responsive according to its order, always active. Niyati-kram fixes which orders can become manifest.</a:t>
            </a:r>
          </a:p>
        </p:txBody>
      </p:sp>
      <p:sp>
        <p:nvSpPr>
          <p:cNvPr id="11" name="Rectangle 10"/>
          <p:cNvSpPr/>
          <p:nvPr/>
        </p:nvSpPr>
        <p:spPr>
          <a:xfrm>
            <a:off x="640080" y="2148839"/>
            <a:ext cx="1920240" cy="7772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148839"/>
            <a:ext cx="1691640" cy="777240"/>
          </a:xfrm>
          <a:prstGeom prst="rect">
            <a:avLst/>
          </a:prstGeom>
          <a:noFill/>
        </p:spPr>
        <p:txBody>
          <a:bodyPr wrap="square" anchor="ctr" lIns="0" tIns="0" rIns="0" bIns="0">
            <a:spAutoFit/>
          </a:bodyPr>
          <a:lstStyle/>
          <a:p>
            <a:pPr algn="l"/>
            <a:r>
              <a:rPr sz="1250" b="1" i="0">
                <a:solidFill>
                  <a:srgbClr val="FFFFFF"/>
                </a:solidFill>
                <a:latin typeface="Cambria"/>
              </a:rPr>
              <a:t>Every occurrence</a:t>
            </a:r>
          </a:p>
        </p:txBody>
      </p:sp>
      <p:sp>
        <p:nvSpPr>
          <p:cNvPr id="13" name="Rectangle 12"/>
          <p:cNvSpPr/>
          <p:nvPr/>
        </p:nvSpPr>
        <p:spPr>
          <a:xfrm>
            <a:off x="2560320" y="2148839"/>
            <a:ext cx="5943600" cy="7772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0" y="2148839"/>
            <a:ext cx="5577840" cy="777240"/>
          </a:xfrm>
          <a:prstGeom prst="rect">
            <a:avLst/>
          </a:prstGeom>
          <a:noFill/>
        </p:spPr>
        <p:txBody>
          <a:bodyPr wrap="square" anchor="ctr" lIns="0" tIns="0" rIns="0" bIns="0">
            <a:spAutoFit/>
          </a:bodyPr>
          <a:lstStyle/>
          <a:p>
            <a:pPr algn="l"/>
            <a:r>
              <a:rPr sz="1100" b="0" i="0">
                <a:solidFill>
                  <a:srgbClr val="5A6377"/>
                </a:solidFill>
                <a:latin typeface="Calibri"/>
              </a:rPr>
              <a:t>Actual mutuality → recognition by conformance → one effort–motion–result → the realised result becomes the next situation.</a:t>
            </a:r>
          </a:p>
        </p:txBody>
      </p:sp>
      <p:sp>
        <p:nvSpPr>
          <p:cNvPr id="15" name="Rectangle 14"/>
          <p:cNvSpPr/>
          <p:nvPr/>
        </p:nvSpPr>
        <p:spPr>
          <a:xfrm>
            <a:off x="640080" y="3017520"/>
            <a:ext cx="1920240" cy="77724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017520"/>
            <a:ext cx="1691640" cy="777240"/>
          </a:xfrm>
          <a:prstGeom prst="rect">
            <a:avLst/>
          </a:prstGeom>
          <a:noFill/>
        </p:spPr>
        <p:txBody>
          <a:bodyPr wrap="square" anchor="ctr" lIns="0" tIns="0" rIns="0" bIns="0">
            <a:spAutoFit/>
          </a:bodyPr>
          <a:lstStyle/>
          <a:p>
            <a:pPr algn="l"/>
            <a:r>
              <a:rPr sz="1250" b="1" i="0">
                <a:solidFill>
                  <a:srgbClr val="FFFFFF"/>
                </a:solidFill>
                <a:latin typeface="Cambria"/>
              </a:rPr>
              <a:t>Human participation</a:t>
            </a:r>
          </a:p>
        </p:txBody>
      </p:sp>
      <p:sp>
        <p:nvSpPr>
          <p:cNvPr id="17" name="Rectangle 16"/>
          <p:cNvSpPr/>
          <p:nvPr/>
        </p:nvSpPr>
        <p:spPr>
          <a:xfrm>
            <a:off x="2560320" y="3017520"/>
            <a:ext cx="5943600" cy="7772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3017520"/>
            <a:ext cx="5577840" cy="777240"/>
          </a:xfrm>
          <a:prstGeom prst="rect">
            <a:avLst/>
          </a:prstGeom>
          <a:noFill/>
        </p:spPr>
        <p:txBody>
          <a:bodyPr wrap="square" anchor="ctr" lIns="0" tIns="0" rIns="0" bIns="0">
            <a:spAutoFit/>
          </a:bodyPr>
          <a:lstStyle/>
          <a:p>
            <a:pPr algn="l"/>
            <a:r>
              <a:rPr sz="1100" b="0" i="0">
                <a:solidFill>
                  <a:srgbClr val="5A6377"/>
                </a:solidFill>
                <a:latin typeface="Calibri"/>
              </a:rPr>
              <a:t>Realised knowledge can orient the same occurrence through the faculties; consequence returns as evidence for later evaluation.</a:t>
            </a:r>
          </a:p>
        </p:txBody>
      </p:sp>
      <p:sp>
        <p:nvSpPr>
          <p:cNvPr id="19" name="Rectangle 18"/>
          <p:cNvSpPr/>
          <p:nvPr/>
        </p:nvSpPr>
        <p:spPr>
          <a:xfrm>
            <a:off x="640080" y="3977639"/>
            <a:ext cx="7863840" cy="6400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977639"/>
            <a:ext cx="7406640" cy="640080"/>
          </a:xfrm>
          <a:prstGeom prst="rect">
            <a:avLst/>
          </a:prstGeom>
          <a:noFill/>
        </p:spPr>
        <p:txBody>
          <a:bodyPr wrap="square" anchor="ctr" lIns="0" tIns="0" rIns="0" bIns="0">
            <a:spAutoFit/>
          </a:bodyPr>
          <a:lstStyle/>
          <a:p>
            <a:pPr algn="l"/>
            <a:r>
              <a:rPr sz="1080" b="0" i="0">
                <a:solidFill>
                  <a:srgbClr val="5A6377"/>
                </a:solidFill>
                <a:latin typeface="Calibri"/>
              </a:rPr>
              <a:t>The human step adds no new engine. Recognition becomes failable, essential nature becomes refinable — answerability is what is new.</a:t>
            </a:r>
          </a:p>
        </p:txBody>
      </p:sp>
      <p:sp>
        <p:nvSpPr>
          <p:cNvPr id="21" name="TextBox 20"/>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Study §9  ·  SB pp. 231–236  ·  AnalyticMadhyasthDarshan.org  ·  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SIX TERMS, TWO TRIADS</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The Sixfold Governing Grammar</a:t>
            </a:r>
          </a:p>
        </p:txBody>
      </p:sp>
      <p:sp>
        <p:nvSpPr>
          <p:cNvPr id="7" name="Rectangle 6"/>
          <p:cNvSpPr/>
          <p:nvPr/>
        </p:nvSpPr>
        <p:spPr>
          <a:xfrm>
            <a:off x="640080" y="1280160"/>
            <a:ext cx="3794760" cy="16916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3392424" cy="292608"/>
          </a:xfrm>
          <a:prstGeom prst="rect">
            <a:avLst/>
          </a:prstGeom>
          <a:noFill/>
        </p:spPr>
        <p:txBody>
          <a:bodyPr wrap="square" anchor="ctr" lIns="0" tIns="0" rIns="0" bIns="0">
            <a:spAutoFit/>
          </a:bodyPr>
          <a:lstStyle/>
          <a:p>
            <a:pPr algn="l"/>
            <a:r>
              <a:rPr sz="1250" b="1" i="0">
                <a:solidFill>
                  <a:srgbClr val="1E2447"/>
                </a:solidFill>
                <a:latin typeface="Cambria"/>
              </a:rPr>
              <a:t>Niyam · Niyantran · Santulan</a:t>
            </a:r>
          </a:p>
        </p:txBody>
      </p:sp>
      <p:sp>
        <p:nvSpPr>
          <p:cNvPr id="9" name="TextBox 8"/>
          <p:cNvSpPr txBox="1"/>
          <p:nvPr/>
        </p:nvSpPr>
        <p:spPr>
          <a:xfrm>
            <a:off x="841247" y="1737360"/>
            <a:ext cx="3392424" cy="1115568"/>
          </a:xfrm>
          <a:prstGeom prst="rect">
            <a:avLst/>
          </a:prstGeom>
          <a:noFill/>
        </p:spPr>
        <p:txBody>
          <a:bodyPr wrap="square" anchor="t" lIns="0" tIns="0" rIns="0" bIns="0">
            <a:spAutoFit/>
          </a:bodyPr>
          <a:lstStyle/>
          <a:p>
            <a:pPr algn="l"/>
            <a:r>
              <a:rPr sz="1080" b="0" i="0">
                <a:solidFill>
                  <a:srgbClr val="5A6377"/>
                </a:solidFill>
                <a:latin typeface="Calibri"/>
              </a:rPr>
              <a:t>Lawfulness, regulation, and balance — manifest in nature; in work and arrangements, humans must understand and establish them.</a:t>
            </a:r>
          </a:p>
        </p:txBody>
      </p:sp>
      <p:sp>
        <p:nvSpPr>
          <p:cNvPr id="10" name="Rectangle 9"/>
          <p:cNvSpPr/>
          <p:nvPr/>
        </p:nvSpPr>
        <p:spPr>
          <a:xfrm>
            <a:off x="4709160" y="1280160"/>
            <a:ext cx="3794760" cy="16916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99031"/>
            <a:ext cx="3392424" cy="292608"/>
          </a:xfrm>
          <a:prstGeom prst="rect">
            <a:avLst/>
          </a:prstGeom>
          <a:noFill/>
        </p:spPr>
        <p:txBody>
          <a:bodyPr wrap="square" anchor="ctr" lIns="0" tIns="0" rIns="0" bIns="0">
            <a:spAutoFit/>
          </a:bodyPr>
          <a:lstStyle/>
          <a:p>
            <a:pPr algn="l"/>
            <a:r>
              <a:rPr sz="1250" b="1" i="0">
                <a:solidFill>
                  <a:srgbClr val="9A6414"/>
                </a:solidFill>
                <a:latin typeface="Cambria"/>
              </a:rPr>
              <a:t>Nyaya · Dharma · Satya</a:t>
            </a:r>
          </a:p>
        </p:txBody>
      </p:sp>
      <p:sp>
        <p:nvSpPr>
          <p:cNvPr id="12" name="TextBox 11"/>
          <p:cNvSpPr txBox="1"/>
          <p:nvPr/>
        </p:nvSpPr>
        <p:spPr>
          <a:xfrm>
            <a:off x="4910328" y="1737360"/>
            <a:ext cx="3392424" cy="1115568"/>
          </a:xfrm>
          <a:prstGeom prst="rect">
            <a:avLst/>
          </a:prstGeom>
          <a:noFill/>
        </p:spPr>
        <p:txBody>
          <a:bodyPr wrap="square" anchor="t" lIns="0" tIns="0" rIns="0" bIns="0">
            <a:spAutoFit/>
          </a:bodyPr>
          <a:lstStyle/>
          <a:p>
            <a:pPr algn="l"/>
            <a:r>
              <a:rPr sz="1080" b="0" i="0">
                <a:solidFill>
                  <a:srgbClr val="5A6377"/>
                </a:solidFill>
                <a:latin typeface="Calibri"/>
              </a:rPr>
              <a:t>Justice in behaviour, dharma in thought and participation, truth in realisation — the human activity that establishes the first triad.</a:t>
            </a:r>
          </a:p>
        </p:txBody>
      </p:sp>
      <p:sp>
        <p:nvSpPr>
          <p:cNvPr id="13" name="Rectangle 12"/>
          <p:cNvSpPr/>
          <p:nvPr/>
        </p:nvSpPr>
        <p:spPr>
          <a:xfrm>
            <a:off x="640080" y="3200400"/>
            <a:ext cx="2514600"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200400"/>
            <a:ext cx="2514600" cy="457200"/>
          </a:xfrm>
          <a:prstGeom prst="rect">
            <a:avLst/>
          </a:prstGeom>
          <a:noFill/>
        </p:spPr>
        <p:txBody>
          <a:bodyPr wrap="square" anchor="ctr" lIns="0" tIns="0" rIns="0" bIns="0">
            <a:spAutoFit/>
          </a:bodyPr>
          <a:lstStyle/>
          <a:p>
            <a:pPr algn="ctr"/>
            <a:r>
              <a:rPr sz="1150" b="1" i="0">
                <a:solidFill>
                  <a:srgbClr val="FFFFFF"/>
                </a:solidFill>
                <a:latin typeface="Calibri"/>
              </a:rPr>
              <a:t>Niyam ↔ Nyaya</a:t>
            </a:r>
          </a:p>
        </p:txBody>
      </p:sp>
      <p:sp>
        <p:nvSpPr>
          <p:cNvPr id="15" name="Rectangle 14"/>
          <p:cNvSpPr/>
          <p:nvPr/>
        </p:nvSpPr>
        <p:spPr>
          <a:xfrm>
            <a:off x="3291840" y="3200400"/>
            <a:ext cx="2651760"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91840" y="3200400"/>
            <a:ext cx="2651760" cy="457200"/>
          </a:xfrm>
          <a:prstGeom prst="rect">
            <a:avLst/>
          </a:prstGeom>
          <a:noFill/>
        </p:spPr>
        <p:txBody>
          <a:bodyPr wrap="square" anchor="ctr" lIns="0" tIns="0" rIns="0" bIns="0">
            <a:spAutoFit/>
          </a:bodyPr>
          <a:lstStyle/>
          <a:p>
            <a:pPr algn="ctr"/>
            <a:r>
              <a:rPr sz="1150" b="1" i="0">
                <a:solidFill>
                  <a:srgbClr val="FFFFFF"/>
                </a:solidFill>
                <a:latin typeface="Calibri"/>
              </a:rPr>
              <a:t>Niyantran ↔ Dharma</a:t>
            </a:r>
          </a:p>
        </p:txBody>
      </p:sp>
      <p:sp>
        <p:nvSpPr>
          <p:cNvPr id="17" name="Rectangle 16"/>
          <p:cNvSpPr/>
          <p:nvPr/>
        </p:nvSpPr>
        <p:spPr>
          <a:xfrm>
            <a:off x="6080760" y="3200400"/>
            <a:ext cx="2423160" cy="45720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3200400"/>
            <a:ext cx="2423160" cy="457200"/>
          </a:xfrm>
          <a:prstGeom prst="rect">
            <a:avLst/>
          </a:prstGeom>
          <a:noFill/>
        </p:spPr>
        <p:txBody>
          <a:bodyPr wrap="square" anchor="ctr" lIns="0" tIns="0" rIns="0" bIns="0">
            <a:spAutoFit/>
          </a:bodyPr>
          <a:lstStyle/>
          <a:p>
            <a:pPr algn="ctr"/>
            <a:r>
              <a:rPr sz="1150" b="1" i="0">
                <a:solidFill>
                  <a:srgbClr val="FFFFFF"/>
                </a:solidFill>
                <a:latin typeface="Calibri"/>
              </a:rPr>
              <a:t>Santulan ↔ Satya</a:t>
            </a:r>
          </a:p>
        </p:txBody>
      </p:sp>
      <p:sp>
        <p:nvSpPr>
          <p:cNvPr id="19" name="Rectangle 18"/>
          <p:cNvSpPr/>
          <p:nvPr/>
        </p:nvSpPr>
        <p:spPr>
          <a:xfrm>
            <a:off x="640080" y="3931920"/>
            <a:ext cx="7863840" cy="6400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931920"/>
            <a:ext cx="7406640" cy="640080"/>
          </a:xfrm>
          <a:prstGeom prst="rect">
            <a:avLst/>
          </a:prstGeom>
          <a:noFill/>
        </p:spPr>
        <p:txBody>
          <a:bodyPr wrap="square" anchor="ctr" lIns="0" tIns="0" rIns="0" bIns="0">
            <a:spAutoFit/>
          </a:bodyPr>
          <a:lstStyle/>
          <a:p>
            <a:pPr algn="l"/>
            <a:r>
              <a:rPr sz="1080" b="0" i="0">
                <a:solidFill>
                  <a:srgbClr val="5A6377"/>
                </a:solidFill>
                <a:latin typeface="Calibri"/>
              </a:rPr>
              <a:t>Diagnostic pairings — questions to ask, not faculty ownership: justice, dharma, and truth work together in every comparison.</a:t>
            </a:r>
          </a:p>
        </p:txBody>
      </p:sp>
      <p:sp>
        <p:nvSpPr>
          <p:cNvPr id="21" name="TextBox 20"/>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32, 137, 174  ·  SB pp. 231–236  ·  AnalyticMadhyasthDarshan.org  ·  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NESTED HARMONY</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The Four Jeevan Values</a:t>
            </a:r>
          </a:p>
        </p:txBody>
      </p:sp>
      <p:sp>
        <p:nvSpPr>
          <p:cNvPr id="7" name="Rectangle 6"/>
          <p:cNvSpPr/>
          <p:nvPr/>
        </p:nvSpPr>
        <p:spPr>
          <a:xfrm>
            <a:off x="640080" y="1280160"/>
            <a:ext cx="3794760" cy="11887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59" y="1463039"/>
            <a:ext cx="310896" cy="31089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86968" y="1527048"/>
            <a:ext cx="182880" cy="18288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1581912"/>
            <a:ext cx="82296" cy="8229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61872" y="1389888"/>
            <a:ext cx="3017520" cy="274320"/>
          </a:xfrm>
          <a:prstGeom prst="rect">
            <a:avLst/>
          </a:prstGeom>
          <a:noFill/>
        </p:spPr>
        <p:txBody>
          <a:bodyPr wrap="square" anchor="ctr" lIns="0" tIns="0" rIns="0" bIns="0">
            <a:spAutoFit/>
          </a:bodyPr>
          <a:lstStyle/>
          <a:p>
            <a:pPr algn="l"/>
            <a:r>
              <a:rPr sz="1300" b="1" i="0">
                <a:solidFill>
                  <a:srgbClr val="1E2447"/>
                </a:solidFill>
                <a:latin typeface="Cambria"/>
              </a:rPr>
              <a:t>Happiness (sukh)</a:t>
            </a:r>
          </a:p>
        </p:txBody>
      </p:sp>
      <p:sp>
        <p:nvSpPr>
          <p:cNvPr id="12" name="TextBox 11"/>
          <p:cNvSpPr txBox="1"/>
          <p:nvPr/>
        </p:nvSpPr>
        <p:spPr>
          <a:xfrm>
            <a:off x="1261872" y="1682495"/>
            <a:ext cx="3063240" cy="731520"/>
          </a:xfrm>
          <a:prstGeom prst="rect">
            <a:avLst/>
          </a:prstGeom>
          <a:noFill/>
        </p:spPr>
        <p:txBody>
          <a:bodyPr wrap="square" anchor="t" lIns="0" tIns="0" rIns="0" bIns="0">
            <a:spAutoFit/>
          </a:bodyPr>
          <a:lstStyle/>
          <a:p>
            <a:pPr algn="l"/>
            <a:r>
              <a:rPr sz="1030" b="0" i="0">
                <a:solidFill>
                  <a:srgbClr val="5A6377"/>
                </a:solidFill>
                <a:latin typeface="Calibri"/>
              </a:rPr>
              <a:t>Harmony of mun with vritti: selection no longer contradicts the understood purpose — happiness is resolution.</a:t>
            </a:r>
          </a:p>
        </p:txBody>
      </p:sp>
      <p:sp>
        <p:nvSpPr>
          <p:cNvPr id="13" name="Rectangle 12"/>
          <p:cNvSpPr/>
          <p:nvPr/>
        </p:nvSpPr>
        <p:spPr>
          <a:xfrm>
            <a:off x="4709160" y="1280160"/>
            <a:ext cx="3794760" cy="11887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892040" y="1463039"/>
            <a:ext cx="310896" cy="31089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956048" y="1527048"/>
            <a:ext cx="182880" cy="18288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10912" y="1581912"/>
            <a:ext cx="82296" cy="8229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30952" y="1389888"/>
            <a:ext cx="3017520" cy="274320"/>
          </a:xfrm>
          <a:prstGeom prst="rect">
            <a:avLst/>
          </a:prstGeom>
          <a:noFill/>
        </p:spPr>
        <p:txBody>
          <a:bodyPr wrap="square" anchor="ctr" lIns="0" tIns="0" rIns="0" bIns="0">
            <a:spAutoFit/>
          </a:bodyPr>
          <a:lstStyle/>
          <a:p>
            <a:pPr algn="l"/>
            <a:r>
              <a:rPr sz="1300" b="1" i="0">
                <a:solidFill>
                  <a:srgbClr val="1E2447"/>
                </a:solidFill>
                <a:latin typeface="Cambria"/>
              </a:rPr>
              <a:t>Peace (shanti)</a:t>
            </a:r>
          </a:p>
        </p:txBody>
      </p:sp>
      <p:sp>
        <p:nvSpPr>
          <p:cNvPr id="18" name="TextBox 17"/>
          <p:cNvSpPr txBox="1"/>
          <p:nvPr/>
        </p:nvSpPr>
        <p:spPr>
          <a:xfrm>
            <a:off x="5330952" y="1682495"/>
            <a:ext cx="3063240" cy="731520"/>
          </a:xfrm>
          <a:prstGeom prst="rect">
            <a:avLst/>
          </a:prstGeom>
          <a:noFill/>
        </p:spPr>
        <p:txBody>
          <a:bodyPr wrap="square" anchor="t" lIns="0" tIns="0" rIns="0" bIns="0">
            <a:spAutoFit/>
          </a:bodyPr>
          <a:lstStyle/>
          <a:p>
            <a:pPr algn="l"/>
            <a:r>
              <a:rPr sz="1030" b="0" i="0">
                <a:solidFill>
                  <a:srgbClr val="5A6377"/>
                </a:solidFill>
                <a:latin typeface="Calibri"/>
              </a:rPr>
              <a:t>Harmony of vritti with chitta: comparison and contemplated meaning are coherent.</a:t>
            </a:r>
          </a:p>
        </p:txBody>
      </p:sp>
      <p:sp>
        <p:nvSpPr>
          <p:cNvPr id="19" name="Rectangle 18"/>
          <p:cNvSpPr/>
          <p:nvPr/>
        </p:nvSpPr>
        <p:spPr>
          <a:xfrm>
            <a:off x="640080" y="2606040"/>
            <a:ext cx="3794760" cy="11887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2959" y="2788920"/>
            <a:ext cx="310896" cy="31089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86968" y="2852928"/>
            <a:ext cx="182880" cy="18288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41832" y="2907792"/>
            <a:ext cx="82296" cy="8229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1872" y="2715768"/>
            <a:ext cx="3017520" cy="274320"/>
          </a:xfrm>
          <a:prstGeom prst="rect">
            <a:avLst/>
          </a:prstGeom>
          <a:noFill/>
        </p:spPr>
        <p:txBody>
          <a:bodyPr wrap="square" anchor="ctr" lIns="0" tIns="0" rIns="0" bIns="0">
            <a:spAutoFit/>
          </a:bodyPr>
          <a:lstStyle/>
          <a:p>
            <a:pPr algn="l"/>
            <a:r>
              <a:rPr sz="1300" b="1" i="0">
                <a:solidFill>
                  <a:srgbClr val="1E2447"/>
                </a:solidFill>
                <a:latin typeface="Cambria"/>
              </a:rPr>
              <a:t>Contentment (santosh)</a:t>
            </a:r>
          </a:p>
        </p:txBody>
      </p:sp>
      <p:sp>
        <p:nvSpPr>
          <p:cNvPr id="24" name="TextBox 23"/>
          <p:cNvSpPr txBox="1"/>
          <p:nvPr/>
        </p:nvSpPr>
        <p:spPr>
          <a:xfrm>
            <a:off x="1261872" y="3008376"/>
            <a:ext cx="3063240" cy="731520"/>
          </a:xfrm>
          <a:prstGeom prst="rect">
            <a:avLst/>
          </a:prstGeom>
          <a:noFill/>
        </p:spPr>
        <p:txBody>
          <a:bodyPr wrap="square" anchor="t" lIns="0" tIns="0" rIns="0" bIns="0">
            <a:spAutoFit/>
          </a:bodyPr>
          <a:lstStyle/>
          <a:p>
            <a:pPr algn="l"/>
            <a:r>
              <a:rPr sz="1030" b="0" i="0">
                <a:solidFill>
                  <a:srgbClr val="5A6377"/>
                </a:solidFill>
                <a:latin typeface="Calibri"/>
              </a:rPr>
              <a:t>Harmony of chitta with buddhi: imaging and enlightened resolve agree.</a:t>
            </a:r>
          </a:p>
        </p:txBody>
      </p:sp>
      <p:sp>
        <p:nvSpPr>
          <p:cNvPr id="25" name="Rectangle 24"/>
          <p:cNvSpPr/>
          <p:nvPr/>
        </p:nvSpPr>
        <p:spPr>
          <a:xfrm>
            <a:off x="4709160" y="2606040"/>
            <a:ext cx="3794760" cy="11887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892040" y="2788920"/>
            <a:ext cx="310896" cy="31089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956048" y="2852928"/>
            <a:ext cx="182880" cy="18288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010912" y="2907792"/>
            <a:ext cx="82296" cy="8229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30952" y="2715768"/>
            <a:ext cx="3017520" cy="274320"/>
          </a:xfrm>
          <a:prstGeom prst="rect">
            <a:avLst/>
          </a:prstGeom>
          <a:noFill/>
        </p:spPr>
        <p:txBody>
          <a:bodyPr wrap="square" anchor="ctr" lIns="0" tIns="0" rIns="0" bIns="0">
            <a:spAutoFit/>
          </a:bodyPr>
          <a:lstStyle/>
          <a:p>
            <a:pPr algn="l"/>
            <a:r>
              <a:rPr sz="1300" b="1" i="0">
                <a:solidFill>
                  <a:srgbClr val="1E2447"/>
                </a:solidFill>
                <a:latin typeface="Cambria"/>
              </a:rPr>
              <a:t>Bliss (anand)</a:t>
            </a:r>
          </a:p>
        </p:txBody>
      </p:sp>
      <p:sp>
        <p:nvSpPr>
          <p:cNvPr id="30" name="TextBox 29"/>
          <p:cNvSpPr txBox="1"/>
          <p:nvPr/>
        </p:nvSpPr>
        <p:spPr>
          <a:xfrm>
            <a:off x="5330952" y="3008376"/>
            <a:ext cx="3063240" cy="731520"/>
          </a:xfrm>
          <a:prstGeom prst="rect">
            <a:avLst/>
          </a:prstGeom>
          <a:noFill/>
        </p:spPr>
        <p:txBody>
          <a:bodyPr wrap="square" anchor="t" lIns="0" tIns="0" rIns="0" bIns="0">
            <a:spAutoFit/>
          </a:bodyPr>
          <a:lstStyle/>
          <a:p>
            <a:pPr algn="l"/>
            <a:r>
              <a:rPr sz="1030" b="0" i="0">
                <a:solidFill>
                  <a:srgbClr val="5A6377"/>
                </a:solidFill>
                <a:latin typeface="Calibri"/>
              </a:rPr>
              <a:t>Harmony of buddhi with atma: resolve rests on realisation — and paramanand is realisation in coexistence itself.</a:t>
            </a:r>
          </a:p>
        </p:txBody>
      </p:sp>
      <p:sp>
        <p:nvSpPr>
          <p:cNvPr id="31" name="Rectangle 30"/>
          <p:cNvSpPr/>
          <p:nvPr/>
        </p:nvSpPr>
        <p:spPr>
          <a:xfrm>
            <a:off x="640080" y="3977639"/>
            <a:ext cx="7863840" cy="64008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977639"/>
            <a:ext cx="7406640" cy="640080"/>
          </a:xfrm>
          <a:prstGeom prst="rect">
            <a:avLst/>
          </a:prstGeom>
          <a:noFill/>
        </p:spPr>
        <p:txBody>
          <a:bodyPr wrap="square" anchor="ctr" lIns="0" tIns="0" rIns="0" bIns="0">
            <a:spAutoFit/>
          </a:bodyPr>
          <a:lstStyle/>
          <a:p>
            <a:pPr algn="l"/>
            <a:r>
              <a:rPr sz="1080" b="0" i="0">
                <a:solidFill>
                  <a:srgbClr val="5A6377"/>
                </a:solidFill>
                <a:latin typeface="Calibri"/>
              </a:rPr>
              <a:t>Nested, not purchasable: a shortfall of happiness is a failure of concurrence within jeevan, not a shortage that objects or achievements can supply.</a:t>
            </a:r>
          </a:p>
        </p:txBody>
      </p:sp>
      <p:sp>
        <p:nvSpPr>
          <p:cNvPr id="33" name="TextBox 32"/>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100–101  ·  JV pp. 137–138  ·  AnalyticMadhyasthDarshan.org  ·  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THE DESTINATION</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Restful Effort, Humane Conduct</a:t>
            </a:r>
          </a:p>
        </p:txBody>
      </p:sp>
      <p:sp>
        <p:nvSpPr>
          <p:cNvPr id="7" name="Rectangle 6"/>
          <p:cNvSpPr/>
          <p:nvPr/>
        </p:nvSpPr>
        <p:spPr>
          <a:xfrm>
            <a:off x="640080" y="1280160"/>
            <a:ext cx="3794760" cy="21488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3392424" cy="292608"/>
          </a:xfrm>
          <a:prstGeom prst="rect">
            <a:avLst/>
          </a:prstGeom>
          <a:noFill/>
        </p:spPr>
        <p:txBody>
          <a:bodyPr wrap="square" anchor="ctr" lIns="0" tIns="0" rIns="0" bIns="0">
            <a:spAutoFit/>
          </a:bodyPr>
          <a:lstStyle/>
          <a:p>
            <a:pPr algn="l"/>
            <a:r>
              <a:rPr sz="1250" b="1" i="0">
                <a:solidFill>
                  <a:srgbClr val="1E2447"/>
                </a:solidFill>
                <a:latin typeface="Cambria"/>
              </a:rPr>
              <a:t>Activity completeness (kriyapurnata)</a:t>
            </a:r>
          </a:p>
        </p:txBody>
      </p:sp>
      <p:sp>
        <p:nvSpPr>
          <p:cNvPr id="9" name="TextBox 8"/>
          <p:cNvSpPr txBox="1"/>
          <p:nvPr/>
        </p:nvSpPr>
        <p:spPr>
          <a:xfrm>
            <a:off x="841247" y="1737360"/>
            <a:ext cx="3392424" cy="1572768"/>
          </a:xfrm>
          <a:prstGeom prst="rect">
            <a:avLst/>
          </a:prstGeom>
          <a:noFill/>
        </p:spPr>
        <p:txBody>
          <a:bodyPr wrap="square" anchor="t" lIns="0" tIns="0" rIns="0" bIns="0">
            <a:spAutoFit/>
          </a:bodyPr>
          <a:lstStyle/>
          <a:p>
            <a:pPr algn="l"/>
            <a:r>
              <a:rPr sz="1080" b="0" i="0">
                <a:solidFill>
                  <a:srgbClr val="5A6377"/>
                </a:solidFill>
                <a:latin typeface="Calibri"/>
              </a:rPr>
              <a:t>The restfulness of effort: coexistence realised in atma, all three contents enlightened in buddhi, all ten activities effective, full internal harmony.
A resolution — not a cessation of activity.</a:t>
            </a:r>
          </a:p>
        </p:txBody>
      </p:sp>
      <p:sp>
        <p:nvSpPr>
          <p:cNvPr id="10" name="Rectangle 9"/>
          <p:cNvSpPr/>
          <p:nvPr/>
        </p:nvSpPr>
        <p:spPr>
          <a:xfrm>
            <a:off x="4709160" y="1280160"/>
            <a:ext cx="3794760" cy="21488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99031"/>
            <a:ext cx="3392424" cy="292608"/>
          </a:xfrm>
          <a:prstGeom prst="rect">
            <a:avLst/>
          </a:prstGeom>
          <a:noFill/>
        </p:spPr>
        <p:txBody>
          <a:bodyPr wrap="square" anchor="ctr" lIns="0" tIns="0" rIns="0" bIns="0">
            <a:spAutoFit/>
          </a:bodyPr>
          <a:lstStyle/>
          <a:p>
            <a:pPr algn="l"/>
            <a:r>
              <a:rPr sz="1250" b="1" i="0">
                <a:solidFill>
                  <a:srgbClr val="9A6414"/>
                </a:solidFill>
                <a:latin typeface="Cambria"/>
              </a:rPr>
              <a:t>Conduct completeness (acharanpurnata)</a:t>
            </a:r>
          </a:p>
        </p:txBody>
      </p:sp>
      <p:sp>
        <p:nvSpPr>
          <p:cNvPr id="12" name="TextBox 11"/>
          <p:cNvSpPr txBox="1"/>
          <p:nvPr/>
        </p:nvSpPr>
        <p:spPr>
          <a:xfrm>
            <a:off x="4910328" y="1737360"/>
            <a:ext cx="3392424" cy="1572768"/>
          </a:xfrm>
          <a:prstGeom prst="rect">
            <a:avLst/>
          </a:prstGeom>
          <a:noFill/>
        </p:spPr>
        <p:txBody>
          <a:bodyPr wrap="square" anchor="t" lIns="0" tIns="0" rIns="0" bIns="0">
            <a:spAutoFit/>
          </a:bodyPr>
          <a:lstStyle/>
          <a:p>
            <a:pPr algn="l"/>
            <a:r>
              <a:rPr sz="1080" b="0" i="0">
                <a:solidFill>
                  <a:srgbClr val="5A6377"/>
                </a:solidFill>
                <a:latin typeface="Calibri"/>
              </a:rPr>
              <a:t>The destination of motion: activity completeness evidenced as stable humane conduct — values, character, ethics — across relationships and work.
Lived, repeatable, public.</a:t>
            </a:r>
          </a:p>
        </p:txBody>
      </p:sp>
      <p:sp>
        <p:nvSpPr>
          <p:cNvPr id="13" name="Rectangle 12"/>
          <p:cNvSpPr/>
          <p:nvPr/>
        </p:nvSpPr>
        <p:spPr>
          <a:xfrm>
            <a:off x="640080" y="3657600"/>
            <a:ext cx="7863840" cy="59436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57600"/>
            <a:ext cx="7406640" cy="594360"/>
          </a:xfrm>
          <a:prstGeom prst="rect">
            <a:avLst/>
          </a:prstGeom>
          <a:noFill/>
        </p:spPr>
        <p:txBody>
          <a:bodyPr wrap="square" anchor="ctr" lIns="0" tIns="0" rIns="0" bIns="0">
            <a:spAutoFit/>
          </a:bodyPr>
          <a:lstStyle/>
          <a:p>
            <a:pPr algn="l"/>
            <a:r>
              <a:rPr sz="1080" b="0" i="0">
                <a:solidFill>
                  <a:srgbClr val="5A6377"/>
                </a:solidFill>
                <a:latin typeface="Calibri"/>
              </a:rPr>
              <a:t>One fulfilled act does not establish completeness; practice across the relevant relationships and work is the operational test.</a:t>
            </a:r>
          </a:p>
        </p:txBody>
      </p:sp>
      <p:sp>
        <p:nvSpPr>
          <p:cNvPr id="15" name="TextBox 14"/>
          <p:cNvSpPr txBox="1"/>
          <p:nvPr/>
        </p:nvSpPr>
        <p:spPr>
          <a:xfrm>
            <a:off x="640080" y="4389120"/>
            <a:ext cx="7955279" cy="274320"/>
          </a:xfrm>
          <a:prstGeom prst="rect">
            <a:avLst/>
          </a:prstGeom>
          <a:noFill/>
        </p:spPr>
        <p:txBody>
          <a:bodyPr wrap="square" anchor="ctr" lIns="0" tIns="0" rIns="0" bIns="0">
            <a:spAutoFit/>
          </a:bodyPr>
          <a:lstStyle/>
          <a:p>
            <a:pPr algn="l"/>
            <a:r>
              <a:rPr sz="1050" b="0" i="1">
                <a:solidFill>
                  <a:srgbClr val="5A6377"/>
                </a:solidFill>
                <a:latin typeface="Calibri"/>
              </a:rPr>
              <a:t>The jeevan whose effort has come to rest continues in effort–motion–result like every unit — what ends is unresolved striving.</a:t>
            </a:r>
          </a:p>
        </p:txBody>
      </p:sp>
      <p:sp>
        <p:nvSpPr>
          <p:cNvPr id="16" name="TextBox 15"/>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MVD pp. 102–104  ·  SB p. 58  ·  KD p. 65  ·  AnalyticMadhyasthDarshan.org  ·  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EVIDENCE</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Six Questions for Any Arrangement</a:t>
            </a:r>
          </a:p>
        </p:txBody>
      </p:sp>
      <p:sp>
        <p:nvSpPr>
          <p:cNvPr id="7" name="TextBox 6"/>
          <p:cNvSpPr txBox="1"/>
          <p:nvPr/>
        </p:nvSpPr>
        <p:spPr>
          <a:xfrm>
            <a:off x="640080" y="1170432"/>
            <a:ext cx="7955279" cy="438912"/>
          </a:xfrm>
          <a:prstGeom prst="rect">
            <a:avLst/>
          </a:prstGeom>
          <a:noFill/>
        </p:spPr>
        <p:txBody>
          <a:bodyPr wrap="square" anchor="ctr" lIns="0" tIns="0" rIns="0" bIns="0">
            <a:spAutoFit/>
          </a:bodyPr>
          <a:lstStyle/>
          <a:p>
            <a:pPr algn="l"/>
            <a:r>
              <a:rPr sz="1200" b="0" i="0">
                <a:solidFill>
                  <a:srgbClr val="5A6377"/>
                </a:solidFill>
                <a:latin typeface="Calibri"/>
              </a:rPr>
              <a:t>For a relationship, family, work process, or organisation — asked by its participants; no single score replaces the six answers.</a:t>
            </a:r>
          </a:p>
        </p:txBody>
      </p:sp>
      <p:sp>
        <p:nvSpPr>
          <p:cNvPr id="8" name="Rectangle 7"/>
          <p:cNvSpPr/>
          <p:nvPr/>
        </p:nvSpPr>
        <p:spPr>
          <a:xfrm>
            <a:off x="640080" y="1719072"/>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719072"/>
            <a:ext cx="1371600" cy="402336"/>
          </a:xfrm>
          <a:prstGeom prst="rect">
            <a:avLst/>
          </a:prstGeom>
          <a:noFill/>
        </p:spPr>
        <p:txBody>
          <a:bodyPr wrap="square" anchor="ctr" lIns="0" tIns="0" rIns="0" bIns="0">
            <a:spAutoFit/>
          </a:bodyPr>
          <a:lstStyle/>
          <a:p>
            <a:pPr algn="l"/>
            <a:r>
              <a:rPr sz="1200" b="1" i="0">
                <a:solidFill>
                  <a:srgbClr val="FFFFFF"/>
                </a:solidFill>
                <a:latin typeface="Cambria"/>
              </a:rPr>
              <a:t>Niyam</a:t>
            </a:r>
          </a:p>
        </p:txBody>
      </p:sp>
      <p:sp>
        <p:nvSpPr>
          <p:cNvPr id="10" name="TextBox 9"/>
          <p:cNvSpPr txBox="1"/>
          <p:nvPr/>
        </p:nvSpPr>
        <p:spPr>
          <a:xfrm>
            <a:off x="2395728" y="1719072"/>
            <a:ext cx="6126480" cy="402336"/>
          </a:xfrm>
          <a:prstGeom prst="rect">
            <a:avLst/>
          </a:prstGeom>
          <a:noFill/>
        </p:spPr>
        <p:txBody>
          <a:bodyPr wrap="square" anchor="ctr" lIns="0" tIns="0" rIns="0" bIns="0">
            <a:spAutoFit/>
          </a:bodyPr>
          <a:lstStyle/>
          <a:p>
            <a:pPr algn="l"/>
            <a:r>
              <a:rPr sz="1150" b="0" i="0">
                <a:solidFill>
                  <a:srgbClr val="5A6377"/>
                </a:solidFill>
                <a:latin typeface="Calibri"/>
              </a:rPr>
              <a:t>is the activity, its rightful purpose, and its limits correctly identified?</a:t>
            </a:r>
          </a:p>
        </p:txBody>
      </p:sp>
      <p:sp>
        <p:nvSpPr>
          <p:cNvPr id="11" name="Rectangle 10"/>
          <p:cNvSpPr/>
          <p:nvPr/>
        </p:nvSpPr>
        <p:spPr>
          <a:xfrm>
            <a:off x="640080" y="2194560"/>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194560"/>
            <a:ext cx="1371600" cy="402336"/>
          </a:xfrm>
          <a:prstGeom prst="rect">
            <a:avLst/>
          </a:prstGeom>
          <a:noFill/>
        </p:spPr>
        <p:txBody>
          <a:bodyPr wrap="square" anchor="ctr" lIns="0" tIns="0" rIns="0" bIns="0">
            <a:spAutoFit/>
          </a:bodyPr>
          <a:lstStyle/>
          <a:p>
            <a:pPr algn="l"/>
            <a:r>
              <a:rPr sz="1200" b="1" i="0">
                <a:solidFill>
                  <a:srgbClr val="FFFFFF"/>
                </a:solidFill>
                <a:latin typeface="Cambria"/>
              </a:rPr>
              <a:t>Niyantran</a:t>
            </a:r>
          </a:p>
        </p:txBody>
      </p:sp>
      <p:sp>
        <p:nvSpPr>
          <p:cNvPr id="13" name="TextBox 12"/>
          <p:cNvSpPr txBox="1"/>
          <p:nvPr/>
        </p:nvSpPr>
        <p:spPr>
          <a:xfrm>
            <a:off x="2395728" y="2194560"/>
            <a:ext cx="6126480" cy="402336"/>
          </a:xfrm>
          <a:prstGeom prst="rect">
            <a:avLst/>
          </a:prstGeom>
          <a:noFill/>
        </p:spPr>
        <p:txBody>
          <a:bodyPr wrap="square" anchor="ctr" lIns="0" tIns="0" rIns="0" bIns="0">
            <a:spAutoFit/>
          </a:bodyPr>
          <a:lstStyle/>
          <a:p>
            <a:pPr algn="l"/>
            <a:r>
              <a:rPr sz="1150" b="0" i="0">
                <a:solidFill>
                  <a:srgbClr val="5A6377"/>
                </a:solidFill>
                <a:latin typeface="Calibri"/>
              </a:rPr>
              <a:t>does operation stay aligned with that law, with feedback and correction?</a:t>
            </a:r>
          </a:p>
        </p:txBody>
      </p:sp>
      <p:sp>
        <p:nvSpPr>
          <p:cNvPr id="14" name="Rectangle 13"/>
          <p:cNvSpPr/>
          <p:nvPr/>
        </p:nvSpPr>
        <p:spPr>
          <a:xfrm>
            <a:off x="640080" y="2670048"/>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670048"/>
            <a:ext cx="1371600" cy="402336"/>
          </a:xfrm>
          <a:prstGeom prst="rect">
            <a:avLst/>
          </a:prstGeom>
          <a:noFill/>
        </p:spPr>
        <p:txBody>
          <a:bodyPr wrap="square" anchor="ctr" lIns="0" tIns="0" rIns="0" bIns="0">
            <a:spAutoFit/>
          </a:bodyPr>
          <a:lstStyle/>
          <a:p>
            <a:pPr algn="l"/>
            <a:r>
              <a:rPr sz="1200" b="1" i="0">
                <a:solidFill>
                  <a:srgbClr val="FFFFFF"/>
                </a:solidFill>
                <a:latin typeface="Cambria"/>
              </a:rPr>
              <a:t>Santulan</a:t>
            </a:r>
          </a:p>
        </p:txBody>
      </p:sp>
      <p:sp>
        <p:nvSpPr>
          <p:cNvPr id="16" name="TextBox 15"/>
          <p:cNvSpPr txBox="1"/>
          <p:nvPr/>
        </p:nvSpPr>
        <p:spPr>
          <a:xfrm>
            <a:off x="2395728" y="2670048"/>
            <a:ext cx="6126480" cy="402336"/>
          </a:xfrm>
          <a:prstGeom prst="rect">
            <a:avLst/>
          </a:prstGeom>
          <a:noFill/>
        </p:spPr>
        <p:txBody>
          <a:bodyPr wrap="square" anchor="ctr" lIns="0" tIns="0" rIns="0" bIns="0">
            <a:spAutoFit/>
          </a:bodyPr>
          <a:lstStyle/>
          <a:p>
            <a:pPr algn="l"/>
            <a:r>
              <a:rPr sz="1150" b="0" i="0">
                <a:solidFill>
                  <a:srgbClr val="5A6377"/>
                </a:solidFill>
                <a:latin typeface="Calibri"/>
              </a:rPr>
              <a:t>do persons, functions, and nature remain mutually sustaining?</a:t>
            </a:r>
          </a:p>
        </p:txBody>
      </p:sp>
      <p:sp>
        <p:nvSpPr>
          <p:cNvPr id="17" name="Rectangle 16"/>
          <p:cNvSpPr/>
          <p:nvPr/>
        </p:nvSpPr>
        <p:spPr>
          <a:xfrm>
            <a:off x="640080" y="3145536"/>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3145536"/>
            <a:ext cx="1371600" cy="402336"/>
          </a:xfrm>
          <a:prstGeom prst="rect">
            <a:avLst/>
          </a:prstGeom>
          <a:noFill/>
        </p:spPr>
        <p:txBody>
          <a:bodyPr wrap="square" anchor="ctr" lIns="0" tIns="0" rIns="0" bIns="0">
            <a:spAutoFit/>
          </a:bodyPr>
          <a:lstStyle/>
          <a:p>
            <a:pPr algn="l"/>
            <a:r>
              <a:rPr sz="1200" b="1" i="0">
                <a:solidFill>
                  <a:srgbClr val="FFFFFF"/>
                </a:solidFill>
                <a:latin typeface="Cambria"/>
              </a:rPr>
              <a:t>Nyaya</a:t>
            </a:r>
          </a:p>
        </p:txBody>
      </p:sp>
      <p:sp>
        <p:nvSpPr>
          <p:cNvPr id="19" name="TextBox 18"/>
          <p:cNvSpPr txBox="1"/>
          <p:nvPr/>
        </p:nvSpPr>
        <p:spPr>
          <a:xfrm>
            <a:off x="2395728" y="3145536"/>
            <a:ext cx="6126480" cy="402336"/>
          </a:xfrm>
          <a:prstGeom prst="rect">
            <a:avLst/>
          </a:prstGeom>
          <a:noFill/>
        </p:spPr>
        <p:txBody>
          <a:bodyPr wrap="square" anchor="ctr" lIns="0" tIns="0" rIns="0" bIns="0">
            <a:spAutoFit/>
          </a:bodyPr>
          <a:lstStyle/>
          <a:p>
            <a:pPr algn="l"/>
            <a:r>
              <a:rPr sz="1150" b="0" i="0">
                <a:solidFill>
                  <a:srgbClr val="5A6377"/>
                </a:solidFill>
                <a:latin typeface="Calibri"/>
              </a:rPr>
              <a:t>are relationships recognised, values fulfilled, mutual satisfaction reached?</a:t>
            </a:r>
          </a:p>
        </p:txBody>
      </p:sp>
      <p:sp>
        <p:nvSpPr>
          <p:cNvPr id="20" name="Rectangle 19"/>
          <p:cNvSpPr/>
          <p:nvPr/>
        </p:nvSpPr>
        <p:spPr>
          <a:xfrm>
            <a:off x="640080" y="3621024"/>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3621024"/>
            <a:ext cx="1371600" cy="402336"/>
          </a:xfrm>
          <a:prstGeom prst="rect">
            <a:avLst/>
          </a:prstGeom>
          <a:noFill/>
        </p:spPr>
        <p:txBody>
          <a:bodyPr wrap="square" anchor="ctr" lIns="0" tIns="0" rIns="0" bIns="0">
            <a:spAutoFit/>
          </a:bodyPr>
          <a:lstStyle/>
          <a:p>
            <a:pPr algn="l"/>
            <a:r>
              <a:rPr sz="1200" b="1" i="0">
                <a:solidFill>
                  <a:srgbClr val="FFFFFF"/>
                </a:solidFill>
                <a:latin typeface="Cambria"/>
              </a:rPr>
              <a:t>Dharma</a:t>
            </a:r>
          </a:p>
        </p:txBody>
      </p:sp>
      <p:sp>
        <p:nvSpPr>
          <p:cNvPr id="22" name="TextBox 21"/>
          <p:cNvSpPr txBox="1"/>
          <p:nvPr/>
        </p:nvSpPr>
        <p:spPr>
          <a:xfrm>
            <a:off x="2395728" y="3621024"/>
            <a:ext cx="6126480" cy="402336"/>
          </a:xfrm>
          <a:prstGeom prst="rect">
            <a:avLst/>
          </a:prstGeom>
          <a:noFill/>
        </p:spPr>
        <p:txBody>
          <a:bodyPr wrap="square" anchor="ctr" lIns="0" tIns="0" rIns="0" bIns="0">
            <a:spAutoFit/>
          </a:bodyPr>
          <a:lstStyle/>
          <a:p>
            <a:pPr algn="l"/>
            <a:r>
              <a:rPr sz="1150" b="0" i="0">
                <a:solidFill>
                  <a:srgbClr val="5A6377"/>
                </a:solidFill>
                <a:latin typeface="Calibri"/>
              </a:rPr>
              <a:t>do purpose and participation sustain resolution and wider orderliness?</a:t>
            </a:r>
          </a:p>
        </p:txBody>
      </p:sp>
      <p:sp>
        <p:nvSpPr>
          <p:cNvPr id="23" name="Rectangle 22"/>
          <p:cNvSpPr/>
          <p:nvPr/>
        </p:nvSpPr>
        <p:spPr>
          <a:xfrm>
            <a:off x="640080" y="4096512"/>
            <a:ext cx="1572768" cy="402336"/>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 y="4096512"/>
            <a:ext cx="1371600" cy="402336"/>
          </a:xfrm>
          <a:prstGeom prst="rect">
            <a:avLst/>
          </a:prstGeom>
          <a:noFill/>
        </p:spPr>
        <p:txBody>
          <a:bodyPr wrap="square" anchor="ctr" lIns="0" tIns="0" rIns="0" bIns="0">
            <a:spAutoFit/>
          </a:bodyPr>
          <a:lstStyle/>
          <a:p>
            <a:pPr algn="l"/>
            <a:r>
              <a:rPr sz="1200" b="1" i="0">
                <a:solidFill>
                  <a:srgbClr val="FFFFFF"/>
                </a:solidFill>
                <a:latin typeface="Cambria"/>
              </a:rPr>
              <a:t>Satya</a:t>
            </a:r>
          </a:p>
        </p:txBody>
      </p:sp>
      <p:sp>
        <p:nvSpPr>
          <p:cNvPr id="25" name="TextBox 24"/>
          <p:cNvSpPr txBox="1"/>
          <p:nvPr/>
        </p:nvSpPr>
        <p:spPr>
          <a:xfrm>
            <a:off x="2395728" y="4096512"/>
            <a:ext cx="6126480" cy="402336"/>
          </a:xfrm>
          <a:prstGeom prst="rect">
            <a:avLst/>
          </a:prstGeom>
          <a:noFill/>
        </p:spPr>
        <p:txBody>
          <a:bodyPr wrap="square" anchor="ctr" lIns="0" tIns="0" rIns="0" bIns="0">
            <a:spAutoFit/>
          </a:bodyPr>
          <a:lstStyle/>
          <a:p>
            <a:pPr algn="l"/>
            <a:r>
              <a:rPr sz="1150" b="0" i="0">
                <a:solidFill>
                  <a:srgbClr val="5A6377"/>
                </a:solidFill>
                <a:latin typeface="Calibri"/>
              </a:rPr>
              <a:t>does the complete account accord with coexistence and disclosed consequence?</a:t>
            </a:r>
          </a:p>
        </p:txBody>
      </p:sp>
      <p:sp>
        <p:nvSpPr>
          <p:cNvPr id="26" name="TextBox 25"/>
          <p:cNvSpPr txBox="1"/>
          <p:nvPr/>
        </p:nvSpPr>
        <p:spPr>
          <a:xfrm>
            <a:off x="640080" y="4572000"/>
            <a:ext cx="7955279" cy="237744"/>
          </a:xfrm>
          <a:prstGeom prst="rect">
            <a:avLst/>
          </a:prstGeom>
          <a:noFill/>
        </p:spPr>
        <p:txBody>
          <a:bodyPr wrap="square" anchor="ctr" lIns="0" tIns="0" rIns="0" bIns="0">
            <a:spAutoFit/>
          </a:bodyPr>
          <a:lstStyle/>
          <a:p>
            <a:pPr algn="l"/>
            <a:r>
              <a:rPr sz="1050" b="0" i="1">
                <a:solidFill>
                  <a:srgbClr val="5A6377"/>
                </a:solidFill>
                <a:latin typeface="Calibri"/>
              </a:rPr>
              <a:t>An organisation has no jeevan: records and procedures help, but only participating humans understand, evaluate, and establish.</a:t>
            </a:r>
          </a:p>
        </p:txBody>
      </p:sp>
      <p:sp>
        <p:nvSpPr>
          <p:cNvPr id="27" name="TextBox 26"/>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Study §11.2  ·  MVD pp. 287–288  ·  JV pp. 97–98, 137–139  ·  AnalyticMadhyasthDarshan.org  ·  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THE HUMAN GOALS</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Toward Undivided Society</a:t>
            </a:r>
          </a:p>
        </p:txBody>
      </p:sp>
      <p:sp>
        <p:nvSpPr>
          <p:cNvPr id="7" name="Rectangle 6"/>
          <p:cNvSpPr/>
          <p:nvPr/>
        </p:nvSpPr>
        <p:spPr>
          <a:xfrm>
            <a:off x="640080" y="1600200"/>
            <a:ext cx="1737360" cy="59436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00200"/>
            <a:ext cx="1737360" cy="594360"/>
          </a:xfrm>
          <a:prstGeom prst="rect">
            <a:avLst/>
          </a:prstGeom>
          <a:noFill/>
        </p:spPr>
        <p:txBody>
          <a:bodyPr wrap="square" anchor="ctr" lIns="0" tIns="0" rIns="0" bIns="0">
            <a:spAutoFit/>
          </a:bodyPr>
          <a:lstStyle/>
          <a:p>
            <a:pPr algn="ctr"/>
            <a:r>
              <a:rPr sz="1150" b="1" i="0">
                <a:solidFill>
                  <a:srgbClr val="FFFFFF"/>
                </a:solidFill>
                <a:latin typeface="Calibri"/>
              </a:rPr>
              <a:t>Resolved individual</a:t>
            </a:r>
          </a:p>
        </p:txBody>
      </p:sp>
      <p:sp>
        <p:nvSpPr>
          <p:cNvPr id="9" name="TextBox 8"/>
          <p:cNvSpPr txBox="1"/>
          <p:nvPr/>
        </p:nvSpPr>
        <p:spPr>
          <a:xfrm>
            <a:off x="2377440" y="1600200"/>
            <a:ext cx="320040" cy="59436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0" name="Rectangle 9"/>
          <p:cNvSpPr/>
          <p:nvPr/>
        </p:nvSpPr>
        <p:spPr>
          <a:xfrm>
            <a:off x="2697480" y="1600200"/>
            <a:ext cx="1737360" cy="59436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80" y="1600200"/>
            <a:ext cx="1737360" cy="594360"/>
          </a:xfrm>
          <a:prstGeom prst="rect">
            <a:avLst/>
          </a:prstGeom>
          <a:noFill/>
        </p:spPr>
        <p:txBody>
          <a:bodyPr wrap="square" anchor="ctr" lIns="0" tIns="0" rIns="0" bIns="0">
            <a:spAutoFit/>
          </a:bodyPr>
          <a:lstStyle/>
          <a:p>
            <a:pPr algn="ctr"/>
            <a:r>
              <a:rPr sz="1150" b="1" i="0">
                <a:solidFill>
                  <a:srgbClr val="FFFFFF"/>
                </a:solidFill>
                <a:latin typeface="Calibri"/>
              </a:rPr>
              <a:t>Prosperous family</a:t>
            </a:r>
          </a:p>
        </p:txBody>
      </p:sp>
      <p:sp>
        <p:nvSpPr>
          <p:cNvPr id="12" name="TextBox 11"/>
          <p:cNvSpPr txBox="1"/>
          <p:nvPr/>
        </p:nvSpPr>
        <p:spPr>
          <a:xfrm>
            <a:off x="4434840" y="1600200"/>
            <a:ext cx="320040" cy="59436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3" name="Rectangle 12"/>
          <p:cNvSpPr/>
          <p:nvPr/>
        </p:nvSpPr>
        <p:spPr>
          <a:xfrm>
            <a:off x="4754880" y="1600200"/>
            <a:ext cx="1737360" cy="59436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600200"/>
            <a:ext cx="1737360" cy="594360"/>
          </a:xfrm>
          <a:prstGeom prst="rect">
            <a:avLst/>
          </a:prstGeom>
          <a:noFill/>
        </p:spPr>
        <p:txBody>
          <a:bodyPr wrap="square" anchor="ctr" lIns="0" tIns="0" rIns="0" bIns="0">
            <a:spAutoFit/>
          </a:bodyPr>
          <a:lstStyle/>
          <a:p>
            <a:pPr algn="ctr"/>
            <a:r>
              <a:rPr sz="1150" b="1" i="0">
                <a:solidFill>
                  <a:srgbClr val="FFFFFF"/>
                </a:solidFill>
                <a:latin typeface="Calibri"/>
              </a:rPr>
              <a:t>Fearless society</a:t>
            </a:r>
          </a:p>
        </p:txBody>
      </p:sp>
      <p:sp>
        <p:nvSpPr>
          <p:cNvPr id="15" name="TextBox 14"/>
          <p:cNvSpPr txBox="1"/>
          <p:nvPr/>
        </p:nvSpPr>
        <p:spPr>
          <a:xfrm>
            <a:off x="6492240" y="1600200"/>
            <a:ext cx="320040" cy="594360"/>
          </a:xfrm>
          <a:prstGeom prst="rect">
            <a:avLst/>
          </a:prstGeom>
          <a:noFill/>
        </p:spPr>
        <p:txBody>
          <a:bodyPr wrap="square" anchor="ctr" lIns="0" tIns="0" rIns="0" bIns="0">
            <a:spAutoFit/>
          </a:bodyPr>
          <a:lstStyle/>
          <a:p>
            <a:pPr algn="ctr"/>
            <a:r>
              <a:rPr sz="1600" b="1" i="0">
                <a:solidFill>
                  <a:srgbClr val="C9821E"/>
                </a:solidFill>
                <a:latin typeface="Calibri"/>
              </a:rPr>
              <a:t>→</a:t>
            </a:r>
          </a:p>
        </p:txBody>
      </p:sp>
      <p:sp>
        <p:nvSpPr>
          <p:cNvPr id="16" name="Rectangle 15"/>
          <p:cNvSpPr/>
          <p:nvPr/>
        </p:nvSpPr>
        <p:spPr>
          <a:xfrm>
            <a:off x="6812280" y="1600200"/>
            <a:ext cx="1737360" cy="594360"/>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12280" y="1600200"/>
            <a:ext cx="1737360" cy="594360"/>
          </a:xfrm>
          <a:prstGeom prst="rect">
            <a:avLst/>
          </a:prstGeom>
          <a:noFill/>
        </p:spPr>
        <p:txBody>
          <a:bodyPr wrap="square" anchor="ctr" lIns="0" tIns="0" rIns="0" bIns="0">
            <a:spAutoFit/>
          </a:bodyPr>
          <a:lstStyle/>
          <a:p>
            <a:pPr algn="ctr"/>
            <a:r>
              <a:rPr sz="1150" b="1" i="0">
                <a:solidFill>
                  <a:srgbClr val="FFFFFF"/>
                </a:solidFill>
                <a:latin typeface="Calibri"/>
              </a:rPr>
              <a:t>Universal coexistence</a:t>
            </a:r>
          </a:p>
        </p:txBody>
      </p:sp>
      <p:sp>
        <p:nvSpPr>
          <p:cNvPr id="18" name="TextBox 17"/>
          <p:cNvSpPr txBox="1"/>
          <p:nvPr/>
        </p:nvSpPr>
        <p:spPr>
          <a:xfrm>
            <a:off x="640080" y="2468880"/>
            <a:ext cx="7955279" cy="274320"/>
          </a:xfrm>
          <a:prstGeom prst="rect">
            <a:avLst/>
          </a:prstGeom>
          <a:noFill/>
        </p:spPr>
        <p:txBody>
          <a:bodyPr wrap="square" anchor="ctr" lIns="0" tIns="0" rIns="0" bIns="0">
            <a:spAutoFit/>
          </a:bodyPr>
          <a:lstStyle/>
          <a:p>
            <a:pPr algn="l"/>
            <a:r>
              <a:rPr sz="1150" b="0" i="1">
                <a:solidFill>
                  <a:srgbClr val="5A6377"/>
                </a:solidFill>
                <a:latin typeface="Calibri"/>
              </a:rPr>
              <a:t>Lived inwardly as happiness, peace, contentment, and bliss — the four goals are the public side of the same order.</a:t>
            </a:r>
          </a:p>
        </p:txBody>
      </p:sp>
      <p:sp>
        <p:nvSpPr>
          <p:cNvPr id="19" name="Rectangle 18"/>
          <p:cNvSpPr/>
          <p:nvPr/>
        </p:nvSpPr>
        <p:spPr>
          <a:xfrm>
            <a:off x="640080" y="3154680"/>
            <a:ext cx="7863840" cy="7772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154680"/>
            <a:ext cx="7406640" cy="777240"/>
          </a:xfrm>
          <a:prstGeom prst="rect">
            <a:avLst/>
          </a:prstGeom>
          <a:noFill/>
        </p:spPr>
        <p:txBody>
          <a:bodyPr wrap="square" anchor="ctr" lIns="0" tIns="0" rIns="0" bIns="0">
            <a:spAutoFit/>
          </a:bodyPr>
          <a:lstStyle/>
          <a:p>
            <a:pPr algn="l"/>
            <a:r>
              <a:rPr sz="1080" b="0" i="0">
                <a:solidFill>
                  <a:srgbClr val="5A6377"/>
                </a:solidFill>
                <a:latin typeface="Calibri"/>
              </a:rPr>
              <a:t>The chain is a stated direction of evidence, not an automatic result: each scale must be maintained through recognition, value-fulfilment, regulated work, and evaluation by the humans in it.</a:t>
            </a:r>
          </a:p>
        </p:txBody>
      </p:sp>
      <p:sp>
        <p:nvSpPr>
          <p:cNvPr id="21" name="TextBox 20"/>
          <p:cNvSpPr txBox="1"/>
          <p:nvPr/>
        </p:nvSpPr>
        <p:spPr>
          <a:xfrm>
            <a:off x="640080" y="4160520"/>
            <a:ext cx="7955279" cy="274320"/>
          </a:xfrm>
          <a:prstGeom prst="rect">
            <a:avLst/>
          </a:prstGeom>
          <a:noFill/>
        </p:spPr>
        <p:txBody>
          <a:bodyPr wrap="square" anchor="ctr" lIns="0" tIns="0" rIns="0" bIns="0">
            <a:spAutoFit/>
          </a:bodyPr>
          <a:lstStyle/>
          <a:p>
            <a:pPr algn="l"/>
            <a:r>
              <a:rPr sz="1050" b="0" i="1">
                <a:solidFill>
                  <a:srgbClr val="5A6377"/>
                </a:solidFill>
                <a:latin typeface="Calibri"/>
              </a:rPr>
              <a:t>The study stops at individual and relational evidence; deriving the social chain needs family, resource, and institutional detail (§12.7).</a:t>
            </a:r>
          </a:p>
        </p:txBody>
      </p:sp>
      <p:sp>
        <p:nvSpPr>
          <p:cNvPr id="22" name="TextBox 21"/>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JV pp. 60–61  ·  SB pp. 246–247  ·  AnalyticMadhyasthDarshan.org  ·  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MOVEMENT FOUR  ·  LIMITS AS RIGOUR</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What the Study Leaves Open</a:t>
            </a:r>
          </a:p>
        </p:txBody>
      </p:sp>
      <p:sp>
        <p:nvSpPr>
          <p:cNvPr id="7" name="Rectangle 6"/>
          <p:cNvSpPr/>
          <p:nvPr/>
        </p:nvSpPr>
        <p:spPr>
          <a:xfrm>
            <a:off x="640080" y="128016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399031"/>
            <a:ext cx="3392424" cy="292608"/>
          </a:xfrm>
          <a:prstGeom prst="rect">
            <a:avLst/>
          </a:prstGeom>
          <a:noFill/>
        </p:spPr>
        <p:txBody>
          <a:bodyPr wrap="square" anchor="ctr" lIns="0" tIns="0" rIns="0" bIns="0">
            <a:spAutoFit/>
          </a:bodyPr>
          <a:lstStyle/>
          <a:p>
            <a:pPr algn="l"/>
            <a:r>
              <a:rPr sz="1250" b="1" i="0">
                <a:solidFill>
                  <a:srgbClr val="1E2447"/>
                </a:solidFill>
                <a:latin typeface="Cambria"/>
              </a:rPr>
              <a:t>Identifying jeevan physically</a:t>
            </a:r>
          </a:p>
        </p:txBody>
      </p:sp>
      <p:sp>
        <p:nvSpPr>
          <p:cNvPr id="9" name="TextBox 8"/>
          <p:cNvSpPr txBox="1"/>
          <p:nvPr/>
        </p:nvSpPr>
        <p:spPr>
          <a:xfrm>
            <a:off x="841247" y="1737360"/>
            <a:ext cx="3392424" cy="704087"/>
          </a:xfrm>
          <a:prstGeom prst="rect">
            <a:avLst/>
          </a:prstGeom>
          <a:noFill/>
        </p:spPr>
        <p:txBody>
          <a:bodyPr wrap="square" anchor="t" lIns="0" tIns="0" rIns="0" bIns="0">
            <a:spAutoFit/>
          </a:bodyPr>
          <a:lstStyle/>
          <a:p>
            <a:pPr algn="l"/>
            <a:r>
              <a:rPr sz="1050" b="0" i="0">
                <a:solidFill>
                  <a:srgbClr val="5A6377"/>
                </a:solidFill>
                <a:latin typeface="Calibri"/>
              </a:rPr>
              <a:t>No laboratory condition yet identifies constitutional completeness; the postconditions are textual.</a:t>
            </a:r>
          </a:p>
        </p:txBody>
      </p:sp>
      <p:sp>
        <p:nvSpPr>
          <p:cNvPr id="10" name="Rectangle 9"/>
          <p:cNvSpPr/>
          <p:nvPr/>
        </p:nvSpPr>
        <p:spPr>
          <a:xfrm>
            <a:off x="4709160" y="128016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399031"/>
            <a:ext cx="3392424" cy="292608"/>
          </a:xfrm>
          <a:prstGeom prst="rect">
            <a:avLst/>
          </a:prstGeom>
          <a:noFill/>
        </p:spPr>
        <p:txBody>
          <a:bodyPr wrap="square" anchor="ctr" lIns="0" tIns="0" rIns="0" bIns="0">
            <a:spAutoFit/>
          </a:bodyPr>
          <a:lstStyle/>
          <a:p>
            <a:pPr algn="l"/>
            <a:r>
              <a:rPr sz="1250" b="1" i="0">
                <a:solidFill>
                  <a:srgbClr val="1E2447"/>
                </a:solidFill>
                <a:latin typeface="Cambria"/>
              </a:rPr>
              <a:t>The body–jeevan interface</a:t>
            </a:r>
          </a:p>
        </p:txBody>
      </p:sp>
      <p:sp>
        <p:nvSpPr>
          <p:cNvPr id="12" name="TextBox 11"/>
          <p:cNvSpPr txBox="1"/>
          <p:nvPr/>
        </p:nvSpPr>
        <p:spPr>
          <a:xfrm>
            <a:off x="4910328" y="1737360"/>
            <a:ext cx="3392424" cy="704087"/>
          </a:xfrm>
          <a:prstGeom prst="rect">
            <a:avLst/>
          </a:prstGeom>
          <a:noFill/>
        </p:spPr>
        <p:txBody>
          <a:bodyPr wrap="square" anchor="t" lIns="0" tIns="0" rIns="0" bIns="0">
            <a:spAutoFit/>
          </a:bodyPr>
          <a:lstStyle/>
          <a:p>
            <a:pPr algn="l"/>
            <a:r>
              <a:rPr sz="1050" b="0" i="0">
                <a:solidFill>
                  <a:srgbClr val="5A6377"/>
                </a:solidFill>
                <a:latin typeface="Calibri"/>
              </a:rPr>
              <a:t>The association and the faculties are stated; a physical transfer mechanism is not.</a:t>
            </a:r>
          </a:p>
        </p:txBody>
      </p:sp>
      <p:sp>
        <p:nvSpPr>
          <p:cNvPr id="13" name="Rectangle 12"/>
          <p:cNvSpPr/>
          <p:nvPr/>
        </p:nvSpPr>
        <p:spPr>
          <a:xfrm>
            <a:off x="640080" y="269748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2816352"/>
            <a:ext cx="3392424" cy="292608"/>
          </a:xfrm>
          <a:prstGeom prst="rect">
            <a:avLst/>
          </a:prstGeom>
          <a:noFill/>
        </p:spPr>
        <p:txBody>
          <a:bodyPr wrap="square" anchor="ctr" lIns="0" tIns="0" rIns="0" bIns="0">
            <a:spAutoFit/>
          </a:bodyPr>
          <a:lstStyle/>
          <a:p>
            <a:pPr algn="l"/>
            <a:r>
              <a:rPr sz="1250" b="1" i="0">
                <a:solidFill>
                  <a:srgbClr val="1E2447"/>
                </a:solidFill>
                <a:latin typeface="Cambria"/>
              </a:rPr>
              <a:t>No numbers</a:t>
            </a:r>
          </a:p>
        </p:txBody>
      </p:sp>
      <p:sp>
        <p:nvSpPr>
          <p:cNvPr id="15" name="TextBox 14"/>
          <p:cNvSpPr txBox="1"/>
          <p:nvPr/>
        </p:nvSpPr>
        <p:spPr>
          <a:xfrm>
            <a:off x="841247" y="3154679"/>
            <a:ext cx="3392424" cy="704087"/>
          </a:xfrm>
          <a:prstGeom prst="rect">
            <a:avLst/>
          </a:prstGeom>
          <a:noFill/>
        </p:spPr>
        <p:txBody>
          <a:bodyPr wrap="square" anchor="t" lIns="0" tIns="0" rIns="0" bIns="0">
            <a:spAutoFit/>
          </a:bodyPr>
          <a:lstStyle/>
          <a:p>
            <a:pPr algn="l"/>
            <a:r>
              <a:rPr sz="1050" b="0" i="0">
                <a:solidFill>
                  <a:srgbClr val="5A6377"/>
                </a:solidFill>
                <a:latin typeface="Calibri"/>
              </a:rPr>
              <a:t>Strength, harmony, and value stay qualitative — no common scale spans atoms, bodies, and realisation.</a:t>
            </a:r>
          </a:p>
        </p:txBody>
      </p:sp>
      <p:sp>
        <p:nvSpPr>
          <p:cNvPr id="16" name="Rectangle 15"/>
          <p:cNvSpPr/>
          <p:nvPr/>
        </p:nvSpPr>
        <p:spPr>
          <a:xfrm>
            <a:off x="4709160" y="2697480"/>
            <a:ext cx="3794760" cy="128016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10328" y="2816352"/>
            <a:ext cx="3392424" cy="292608"/>
          </a:xfrm>
          <a:prstGeom prst="rect">
            <a:avLst/>
          </a:prstGeom>
          <a:noFill/>
        </p:spPr>
        <p:txBody>
          <a:bodyPr wrap="square" anchor="ctr" lIns="0" tIns="0" rIns="0" bIns="0">
            <a:spAutoFit/>
          </a:bodyPr>
          <a:lstStyle/>
          <a:p>
            <a:pPr algn="l"/>
            <a:r>
              <a:rPr sz="1250" b="1" i="0">
                <a:solidFill>
                  <a:srgbClr val="1E2447"/>
                </a:solidFill>
                <a:latin typeface="Cambria"/>
              </a:rPr>
              <a:t>Social-scale dynamics</a:t>
            </a:r>
          </a:p>
        </p:txBody>
      </p:sp>
      <p:sp>
        <p:nvSpPr>
          <p:cNvPr id="18" name="TextBox 17"/>
          <p:cNvSpPr txBox="1"/>
          <p:nvPr/>
        </p:nvSpPr>
        <p:spPr>
          <a:xfrm>
            <a:off x="4910328" y="3154679"/>
            <a:ext cx="3392424" cy="704087"/>
          </a:xfrm>
          <a:prstGeom prst="rect">
            <a:avLst/>
          </a:prstGeom>
          <a:noFill/>
        </p:spPr>
        <p:txBody>
          <a:bodyPr wrap="square" anchor="t" lIns="0" tIns="0" rIns="0" bIns="0">
            <a:spAutoFit/>
          </a:bodyPr>
          <a:lstStyle/>
          <a:p>
            <a:pPr algn="l"/>
            <a:r>
              <a:rPr sz="1050" b="0" i="0">
                <a:solidFill>
                  <a:srgbClr val="5A6377"/>
                </a:solidFill>
                <a:latin typeface="Calibri"/>
              </a:rPr>
              <a:t>The path from family to undivided society is a stated direction, not a derived result.</a:t>
            </a:r>
          </a:p>
        </p:txBody>
      </p:sp>
      <p:sp>
        <p:nvSpPr>
          <p:cNvPr id="19" name="Rectangle 18"/>
          <p:cNvSpPr/>
          <p:nvPr/>
        </p:nvSpPr>
        <p:spPr>
          <a:xfrm>
            <a:off x="640080" y="4114800"/>
            <a:ext cx="7863840" cy="548640"/>
          </a:xfrm>
          <a:prstGeom prst="rect">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114800"/>
            <a:ext cx="7406640" cy="548640"/>
          </a:xfrm>
          <a:prstGeom prst="rect">
            <a:avLst/>
          </a:prstGeom>
          <a:noFill/>
        </p:spPr>
        <p:txBody>
          <a:bodyPr wrap="square" anchor="ctr" lIns="0" tIns="0" rIns="0" bIns="0">
            <a:spAutoFit/>
          </a:bodyPr>
          <a:lstStyle/>
          <a:p>
            <a:pPr algn="l"/>
            <a:r>
              <a:rPr sz="1080" b="0" i="0">
                <a:solidFill>
                  <a:srgbClr val="5A6377"/>
                </a:solidFill>
                <a:latin typeface="Calibri"/>
              </a:rPr>
              <a:t>Stating these limits is part of the study’s method: practitioners should not claim more than the texts and the evidence carry.</a:t>
            </a:r>
          </a:p>
        </p:txBody>
      </p:sp>
      <p:sp>
        <p:nvSpPr>
          <p:cNvPr id="21" name="TextBox 20"/>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Study §12  ·  AnalyticMadhyasthDarshan.org  ·  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anchor="ctr" lIns="0" tIns="0" rIns="0" bIns="0">
            <a:spAutoFit/>
          </a:bodyPr>
          <a:lstStyle/>
          <a:p>
            <a:pPr algn="l"/>
            <a:r>
              <a:rPr sz="1050" b="1" i="0">
                <a:solidFill>
                  <a:srgbClr val="9A6414"/>
                </a:solidFill>
                <a:latin typeface="Calibri"/>
              </a:rPr>
              <a:t>CLOSE  ·  THE WHOLE IN SIX STEPS</a:t>
            </a:r>
          </a:p>
        </p:txBody>
      </p:sp>
      <p:sp>
        <p:nvSpPr>
          <p:cNvPr id="6" name="TextBox 5"/>
          <p:cNvSpPr txBox="1"/>
          <p:nvPr/>
        </p:nvSpPr>
        <p:spPr>
          <a:xfrm>
            <a:off x="960120" y="457200"/>
            <a:ext cx="7726679" cy="566928"/>
          </a:xfrm>
          <a:prstGeom prst="rect">
            <a:avLst/>
          </a:prstGeom>
          <a:noFill/>
        </p:spPr>
        <p:txBody>
          <a:bodyPr wrap="square" anchor="ctr" lIns="0" tIns="0" rIns="0" bIns="0">
            <a:spAutoFit/>
          </a:bodyPr>
          <a:lstStyle/>
          <a:p>
            <a:pPr algn="l"/>
            <a:r>
              <a:rPr sz="3000" b="1" i="0">
                <a:solidFill>
                  <a:srgbClr val="1E2447"/>
                </a:solidFill>
                <a:latin typeface="Cambria"/>
              </a:rPr>
              <a:t>The One Governing Story</a:t>
            </a:r>
          </a:p>
        </p:txBody>
      </p:sp>
      <p:sp>
        <p:nvSpPr>
          <p:cNvPr id="7" name="Oval 6"/>
          <p:cNvSpPr/>
          <p:nvPr/>
        </p:nvSpPr>
        <p:spPr>
          <a:xfrm>
            <a:off x="640080" y="130302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303020"/>
            <a:ext cx="365760" cy="365760"/>
          </a:xfrm>
          <a:prstGeom prst="rect">
            <a:avLst/>
          </a:prstGeom>
          <a:noFill/>
        </p:spPr>
        <p:txBody>
          <a:bodyPr wrap="square" anchor="ctr" lIns="0" tIns="0" rIns="0" bIns="0">
            <a:spAutoFit/>
          </a:bodyPr>
          <a:lstStyle/>
          <a:p>
            <a:pPr algn="ctr"/>
            <a:r>
              <a:rPr sz="1300" b="1" i="0">
                <a:solidFill>
                  <a:srgbClr val="FFFFFF"/>
                </a:solidFill>
                <a:latin typeface="Calibri"/>
              </a:rPr>
              <a:t>1</a:t>
            </a:r>
          </a:p>
        </p:txBody>
      </p:sp>
      <p:sp>
        <p:nvSpPr>
          <p:cNvPr id="9" name="TextBox 8"/>
          <p:cNvSpPr txBox="1"/>
          <p:nvPr/>
        </p:nvSpPr>
        <p:spPr>
          <a:xfrm>
            <a:off x="1188720" y="1234440"/>
            <a:ext cx="7406640" cy="502920"/>
          </a:xfrm>
          <a:prstGeom prst="rect">
            <a:avLst/>
          </a:prstGeom>
          <a:noFill/>
        </p:spPr>
        <p:txBody>
          <a:bodyPr wrap="square" anchor="ctr" lIns="0" tIns="0" rIns="0" bIns="0">
            <a:spAutoFit/>
          </a:bodyPr>
          <a:lstStyle/>
          <a:p>
            <a:pPr algn="l"/>
            <a:r>
              <a:rPr sz="1300" b="1" i="0">
                <a:solidFill>
                  <a:srgbClr val="1E2447"/>
                </a:solidFill>
                <a:latin typeface="Calibri"/>
              </a:rPr>
              <a:t>State-complete satta coexists with saturated, state-dynamic units</a:t>
            </a:r>
          </a:p>
        </p:txBody>
      </p:sp>
      <p:sp>
        <p:nvSpPr>
          <p:cNvPr id="10" name="Oval 9"/>
          <p:cNvSpPr/>
          <p:nvPr/>
        </p:nvSpPr>
        <p:spPr>
          <a:xfrm>
            <a:off x="640080" y="185166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51660"/>
            <a:ext cx="365760" cy="365760"/>
          </a:xfrm>
          <a:prstGeom prst="rect">
            <a:avLst/>
          </a:prstGeom>
          <a:noFill/>
        </p:spPr>
        <p:txBody>
          <a:bodyPr wrap="square" anchor="ctr" lIns="0" tIns="0" rIns="0" bIns="0">
            <a:spAutoFit/>
          </a:bodyPr>
          <a:lstStyle/>
          <a:p>
            <a:pPr algn="ctr"/>
            <a:r>
              <a:rPr sz="1300" b="1" i="0">
                <a:solidFill>
                  <a:srgbClr val="FFFFFF"/>
                </a:solidFill>
                <a:latin typeface="Calibri"/>
              </a:rPr>
              <a:t>2</a:t>
            </a:r>
          </a:p>
        </p:txBody>
      </p:sp>
      <p:sp>
        <p:nvSpPr>
          <p:cNvPr id="12" name="TextBox 11"/>
          <p:cNvSpPr txBox="1"/>
          <p:nvPr/>
        </p:nvSpPr>
        <p:spPr>
          <a:xfrm>
            <a:off x="1188720" y="1783080"/>
            <a:ext cx="7406640" cy="502920"/>
          </a:xfrm>
          <a:prstGeom prst="rect">
            <a:avLst/>
          </a:prstGeom>
          <a:noFill/>
        </p:spPr>
        <p:txBody>
          <a:bodyPr wrap="square" anchor="ctr" lIns="0" tIns="0" rIns="0" bIns="0">
            <a:spAutoFit/>
          </a:bodyPr>
          <a:lstStyle/>
          <a:p>
            <a:pPr algn="l"/>
            <a:r>
              <a:rPr sz="1300" b="1" i="0">
                <a:solidFill>
                  <a:srgbClr val="1E2447"/>
                </a:solidFill>
                <a:latin typeface="Calibri"/>
              </a:rPr>
              <a:t>Each unit is one effort–motion–result</a:t>
            </a:r>
            <a:r>
              <a:rPr sz="1300" b="0" i="0">
                <a:solidFill>
                  <a:srgbClr val="5A6377"/>
                </a:solidFill>
                <a:latin typeface="Calibri"/>
              </a:rPr>
              <a:t>  —  read as form, property, essential nature, dharma</a:t>
            </a:r>
          </a:p>
        </p:txBody>
      </p:sp>
      <p:sp>
        <p:nvSpPr>
          <p:cNvPr id="13" name="Oval 12"/>
          <p:cNvSpPr/>
          <p:nvPr/>
        </p:nvSpPr>
        <p:spPr>
          <a:xfrm>
            <a:off x="640080" y="240030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400300"/>
            <a:ext cx="365760" cy="365760"/>
          </a:xfrm>
          <a:prstGeom prst="rect">
            <a:avLst/>
          </a:prstGeom>
          <a:noFill/>
        </p:spPr>
        <p:txBody>
          <a:bodyPr wrap="square" anchor="ctr" lIns="0" tIns="0" rIns="0" bIns="0">
            <a:spAutoFit/>
          </a:bodyPr>
          <a:lstStyle/>
          <a:p>
            <a:pPr algn="ctr"/>
            <a:r>
              <a:rPr sz="1300" b="1" i="0">
                <a:solidFill>
                  <a:srgbClr val="FFFFFF"/>
                </a:solidFill>
                <a:latin typeface="Calibri"/>
              </a:rPr>
              <a:t>3</a:t>
            </a:r>
          </a:p>
        </p:txBody>
      </p:sp>
      <p:sp>
        <p:nvSpPr>
          <p:cNvPr id="15" name="TextBox 14"/>
          <p:cNvSpPr txBox="1"/>
          <p:nvPr/>
        </p:nvSpPr>
        <p:spPr>
          <a:xfrm>
            <a:off x="1188720" y="2331720"/>
            <a:ext cx="7406640" cy="502920"/>
          </a:xfrm>
          <a:prstGeom prst="rect">
            <a:avLst/>
          </a:prstGeom>
          <a:noFill/>
        </p:spPr>
        <p:txBody>
          <a:bodyPr wrap="square" anchor="ctr" lIns="0" tIns="0" rIns="0" bIns="0">
            <a:spAutoFit/>
          </a:bodyPr>
          <a:lstStyle/>
          <a:p>
            <a:pPr algn="l"/>
            <a:r>
              <a:rPr sz="1300" b="1" i="0">
                <a:solidFill>
                  <a:srgbClr val="1E2447"/>
                </a:solidFill>
                <a:latin typeface="Calibri"/>
              </a:rPr>
              <a:t>Mutuality and mediative activity make natural orderliness evident</a:t>
            </a:r>
          </a:p>
        </p:txBody>
      </p:sp>
      <p:sp>
        <p:nvSpPr>
          <p:cNvPr id="16" name="Oval 15"/>
          <p:cNvSpPr/>
          <p:nvPr/>
        </p:nvSpPr>
        <p:spPr>
          <a:xfrm>
            <a:off x="640080" y="294894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948940"/>
            <a:ext cx="365760" cy="365760"/>
          </a:xfrm>
          <a:prstGeom prst="rect">
            <a:avLst/>
          </a:prstGeom>
          <a:noFill/>
        </p:spPr>
        <p:txBody>
          <a:bodyPr wrap="square" anchor="ctr" lIns="0" tIns="0" rIns="0" bIns="0">
            <a:spAutoFit/>
          </a:bodyPr>
          <a:lstStyle/>
          <a:p>
            <a:pPr algn="ctr"/>
            <a:r>
              <a:rPr sz="1300" b="1" i="0">
                <a:solidFill>
                  <a:srgbClr val="FFFFFF"/>
                </a:solidFill>
                <a:latin typeface="Calibri"/>
              </a:rPr>
              <a:t>4</a:t>
            </a:r>
          </a:p>
        </p:txBody>
      </p:sp>
      <p:sp>
        <p:nvSpPr>
          <p:cNvPr id="18" name="TextBox 17"/>
          <p:cNvSpPr txBox="1"/>
          <p:nvPr/>
        </p:nvSpPr>
        <p:spPr>
          <a:xfrm>
            <a:off x="1188720" y="2880360"/>
            <a:ext cx="7406640" cy="502920"/>
          </a:xfrm>
          <a:prstGeom prst="rect">
            <a:avLst/>
          </a:prstGeom>
          <a:noFill/>
        </p:spPr>
        <p:txBody>
          <a:bodyPr wrap="square" anchor="ctr" lIns="0" tIns="0" rIns="0" bIns="0">
            <a:spAutoFit/>
          </a:bodyPr>
          <a:lstStyle/>
          <a:p>
            <a:pPr algn="l"/>
            <a:r>
              <a:rPr sz="1300" b="1" i="0">
                <a:solidFill>
                  <a:srgbClr val="1E2447"/>
                </a:solidFill>
                <a:latin typeface="Calibri"/>
              </a:rPr>
              <a:t>Closures build bodies; one atomic line yields jeevan</a:t>
            </a:r>
            <a:r>
              <a:rPr sz="1300" b="0" i="0">
                <a:solidFill>
                  <a:srgbClr val="5A6377"/>
                </a:solidFill>
                <a:latin typeface="Calibri"/>
              </a:rPr>
              <a:t>  —  joint forms manifest animal and human orders</a:t>
            </a:r>
          </a:p>
        </p:txBody>
      </p:sp>
      <p:sp>
        <p:nvSpPr>
          <p:cNvPr id="19" name="Oval 18"/>
          <p:cNvSpPr/>
          <p:nvPr/>
        </p:nvSpPr>
        <p:spPr>
          <a:xfrm>
            <a:off x="640080" y="349758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497580"/>
            <a:ext cx="365760" cy="365760"/>
          </a:xfrm>
          <a:prstGeom prst="rect">
            <a:avLst/>
          </a:prstGeom>
          <a:noFill/>
        </p:spPr>
        <p:txBody>
          <a:bodyPr wrap="square" anchor="ctr" lIns="0" tIns="0" rIns="0" bIns="0">
            <a:spAutoFit/>
          </a:bodyPr>
          <a:lstStyle/>
          <a:p>
            <a:pPr algn="ctr"/>
            <a:r>
              <a:rPr sz="1300" b="1" i="0">
                <a:solidFill>
                  <a:srgbClr val="FFFFFF"/>
                </a:solidFill>
                <a:latin typeface="Calibri"/>
              </a:rPr>
              <a:t>5</a:t>
            </a:r>
          </a:p>
        </p:txBody>
      </p:sp>
      <p:sp>
        <p:nvSpPr>
          <p:cNvPr id="21" name="TextBox 20"/>
          <p:cNvSpPr txBox="1"/>
          <p:nvPr/>
        </p:nvSpPr>
        <p:spPr>
          <a:xfrm>
            <a:off x="1188720" y="3429000"/>
            <a:ext cx="7406640" cy="502920"/>
          </a:xfrm>
          <a:prstGeom prst="rect">
            <a:avLst/>
          </a:prstGeom>
          <a:noFill/>
        </p:spPr>
        <p:txBody>
          <a:bodyPr wrap="square" anchor="ctr" lIns="0" tIns="0" rIns="0" bIns="0">
            <a:spAutoFit/>
          </a:bodyPr>
          <a:lstStyle/>
          <a:p>
            <a:pPr algn="l"/>
            <a:r>
              <a:rPr sz="1300" b="1" i="0">
                <a:solidFill>
                  <a:srgbClr val="1E2447"/>
                </a:solidFill>
                <a:latin typeface="Calibri"/>
              </a:rPr>
              <a:t>The human threshold makes recognition and fulfilment answerable</a:t>
            </a:r>
            <a:r>
              <a:rPr sz="1300" b="0" i="0">
                <a:solidFill>
                  <a:srgbClr val="5A6377"/>
                </a:solidFill>
                <a:latin typeface="Calibri"/>
              </a:rPr>
              <a:t>  —  and failable</a:t>
            </a:r>
          </a:p>
        </p:txBody>
      </p:sp>
      <p:sp>
        <p:nvSpPr>
          <p:cNvPr id="22" name="Oval 21"/>
          <p:cNvSpPr/>
          <p:nvPr/>
        </p:nvSpPr>
        <p:spPr>
          <a:xfrm>
            <a:off x="640080" y="4046220"/>
            <a:ext cx="365760" cy="365760"/>
          </a:xfrm>
          <a:prstGeom prst="ellipse">
            <a:avLst/>
          </a:prstGeom>
          <a:solidFill>
            <a:srgbClr val="3B4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046220"/>
            <a:ext cx="365760" cy="365760"/>
          </a:xfrm>
          <a:prstGeom prst="rect">
            <a:avLst/>
          </a:prstGeom>
          <a:noFill/>
        </p:spPr>
        <p:txBody>
          <a:bodyPr wrap="square" anchor="ctr" lIns="0" tIns="0" rIns="0" bIns="0">
            <a:spAutoFit/>
          </a:bodyPr>
          <a:lstStyle/>
          <a:p>
            <a:pPr algn="ctr"/>
            <a:r>
              <a:rPr sz="1300" b="1" i="0">
                <a:solidFill>
                  <a:srgbClr val="FFFFFF"/>
                </a:solidFill>
                <a:latin typeface="Calibri"/>
              </a:rPr>
              <a:t>6</a:t>
            </a:r>
          </a:p>
        </p:txBody>
      </p:sp>
      <p:sp>
        <p:nvSpPr>
          <p:cNvPr id="24" name="TextBox 23"/>
          <p:cNvSpPr txBox="1"/>
          <p:nvPr/>
        </p:nvSpPr>
        <p:spPr>
          <a:xfrm>
            <a:off x="1188720" y="3977640"/>
            <a:ext cx="7406640" cy="502920"/>
          </a:xfrm>
          <a:prstGeom prst="rect">
            <a:avLst/>
          </a:prstGeom>
          <a:noFill/>
        </p:spPr>
        <p:txBody>
          <a:bodyPr wrap="square" anchor="ctr" lIns="0" tIns="0" rIns="0" bIns="0">
            <a:spAutoFit/>
          </a:bodyPr>
          <a:lstStyle/>
          <a:p>
            <a:pPr algn="l"/>
            <a:r>
              <a:rPr sz="1300" b="1" i="0">
                <a:solidFill>
                  <a:srgbClr val="1E2447"/>
                </a:solidFill>
                <a:latin typeface="Calibri"/>
              </a:rPr>
              <a:t>Realised knowledge makes satya–dharma–nyaya effective</a:t>
            </a:r>
            <a:r>
              <a:rPr sz="1300" b="0" i="0">
                <a:solidFill>
                  <a:srgbClr val="5A6377"/>
                </a:solidFill>
                <a:latin typeface="Calibri"/>
              </a:rPr>
              <a:t>  —  in thought, relationship, work, society</a:t>
            </a:r>
          </a:p>
        </p:txBody>
      </p:sp>
      <p:sp>
        <p:nvSpPr>
          <p:cNvPr id="25" name="TextBox 24"/>
          <p:cNvSpPr txBox="1"/>
          <p:nvPr/>
        </p:nvSpPr>
        <p:spPr>
          <a:xfrm>
            <a:off x="502920" y="4828032"/>
            <a:ext cx="8138160" cy="256032"/>
          </a:xfrm>
          <a:prstGeom prst="rect">
            <a:avLst/>
          </a:prstGeom>
          <a:noFill/>
        </p:spPr>
        <p:txBody>
          <a:bodyPr wrap="square" anchor="ctr" lIns="0" tIns="0" rIns="0" bIns="0">
            <a:spAutoFit/>
          </a:bodyPr>
          <a:lstStyle/>
          <a:p>
            <a:pPr algn="l"/>
            <a:r>
              <a:rPr sz="950" b="0" i="0">
                <a:solidFill>
                  <a:srgbClr val="5A6377"/>
                </a:solidFill>
                <a:latin typeface="Calibri"/>
              </a:rPr>
              <a:t>Read the full study — A State-Dynamic Model of Coexistence  ·  AnalyticMadhyasthDarshan.org  ·  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